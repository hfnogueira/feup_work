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19"/>
    <p:sldId id="257" r:id="rId3"/>
    <p:sldId id="258" r:id="rId4"/>
    <p:sldId id="259" r:id="rId5"/>
    <p:sldId id="269" r:id="rId20"/>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2.xml"/><Relationship Id="rId20"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Weighted MAE (mhl)</c:v>
                </c:pt>
              </c:strCache>
            </c:strRef>
          </c:tx>
          <c:spPr>
            <a:solidFill>
              <a:srgbClr val="6B2737"/>
            </a:solidFill>
            <a:effectLst/>
          </c:spPr>
          <c:invertIfNegative val="0"/>
          <c:dLbls>
            <c:numFmt formatCode="#,##0" sourceLinked="0"/>
            <c:txPr>
              <a:bodyPr/>
              <a:lstStyle/>
              <a:p>
                <a:pPr>
                  <a:defRPr b="0" i="0" strike="noStrike" sz="900" u="none">
                    <a:solidFill>
                      <a:srgbClr val="1C1214"/>
                    </a:solidFill>
                    <a:latin typeface="Arial"/>
                  </a:defRPr>
                </a:pPr>
              </a:p>
            </c:txPr>
            <c:showLegendKey val="0"/>
            <c:showVal val="1"/>
            <c:showCatName val="0"/>
            <c:showSerName val="0"/>
            <c:showPercent val="0"/>
            <c:showBubbleSize val="0"/>
            <c:showLeaderLines val="0"/>
          </c:dLbls>
          <c:dPt>
            <c:idx val="0"/>
            <c:invertIfNegative val="0"/>
            <c:bubble3D val="0"/>
            <c:spPr>
              <a:solidFill>
                <a:srgbClr val="6B2737"/>
              </a:solidFill>
              <a:effectLst/>
            </c:spPr>
          </c:dPt>
          <c:dPt>
            <c:idx val="1"/>
            <c:invertIfNegative val="0"/>
            <c:bubble3D val="0"/>
            <c:spPr>
              <a:solidFill>
                <a:srgbClr val="9A8E8B"/>
              </a:solidFill>
              <a:effectLst/>
            </c:spPr>
          </c:dPt>
          <c:dPt>
            <c:idx val="2"/>
            <c:invertIfNegative val="0"/>
            <c:bubble3D val="0"/>
            <c:spPr>
              <a:solidFill>
                <a:srgbClr val="9A8E8B"/>
              </a:solidFill>
              <a:effectLst/>
            </c:spPr>
          </c:dPt>
          <c:dPt>
            <c:idx val="3"/>
            <c:invertIfNegative val="0"/>
            <c:bubble3D val="0"/>
            <c:spPr>
              <a:solidFill>
                <a:srgbClr val="9A8E8B"/>
              </a:solidFill>
              <a:effectLst/>
            </c:spPr>
          </c:dPt>
          <c:dPt>
            <c:idx val="4"/>
            <c:invertIfNegative val="0"/>
            <c:bubble3D val="0"/>
            <c:spPr>
              <a:solidFill>
                <a:srgbClr val="9A8E8B"/>
              </a:solidFill>
              <a:effectLst/>
            </c:spPr>
          </c:dPt>
          <c:dPt>
            <c:idx val="5"/>
            <c:invertIfNegative val="0"/>
            <c:bubble3D val="0"/>
            <c:spPr>
              <a:solidFill>
                <a:srgbClr val="B74A4A"/>
              </a:solidFill>
              <a:effectLst/>
            </c:spPr>
          </c:dPt>
          <c:dPt>
            <c:idx val="6"/>
            <c:invertIfNegative val="0"/>
            <c:bubble3D val="0"/>
            <c:spPr>
              <a:solidFill>
                <a:srgbClr val="B74A4A"/>
              </a:solidFill>
              <a:effectLst/>
            </c:spPr>
          </c:dPt>
          <c:cat>
            <c:multiLvlStrRef>
              <c:f>Sheet1!$A$2:$A$8</c:f>
              <c:multiLvlStrCache>
                <c:ptCount val="7"/>
                <c:lvl>
                  <c:pt idx="0">
                    <c:v>Naive_Median</c:v>
                  </c:pt>
                  <c:pt idx="1">
                    <c:v>CarenR_Eta2</c:v>
                  </c:pt>
                  <c:pt idx="2">
                    <c:v>CarenR_FS</c:v>
                  </c:pt>
                  <c:pt idx="3">
                    <c:v>Naive_MA</c:v>
                  </c:pt>
                  <c:pt idx="4">
                    <c:v>M5Rules</c:v>
                  </c:pt>
                  <c:pt idx="5">
                    <c:v>Decision Tree</c:v>
                  </c:pt>
                  <c:pt idx="6">
                    <c:v>RIPPER</c:v>
                  </c:pt>
                </c:lvl>
              </c:multiLvlStrCache>
            </c:multiLvlStrRef>
          </c:cat>
          <c:val>
            <c:numRef>
              <c:f>Sheet1!$B$2:$B$8</c:f>
              <c:numCache>
                <c:formatCode>General</c:formatCode>
                <c:ptCount val="7"/>
                <c:pt idx="0">
                  <c:v>184</c:v>
                </c:pt>
                <c:pt idx="1">
                  <c:v>189.2</c:v>
                </c:pt>
                <c:pt idx="2">
                  <c:v>193.5</c:v>
                </c:pt>
                <c:pt idx="3">
                  <c:v>194.6</c:v>
                </c:pt>
                <c:pt idx="4">
                  <c:v>200</c:v>
                </c:pt>
                <c:pt idx="5">
                  <c:v>249.7</c:v>
                </c:pt>
                <c:pt idx="6">
                  <c:v>279.4</c:v>
                </c:pt>
              </c:numCache>
            </c:numRef>
          </c:val>
        </c:ser>
        <c:dLbls>
          <c:numFmt formatCode="#,##0" sourceLinked="0"/>
          <c:txPr>
            <a:bodyPr/>
            <a:lstStyle/>
            <a:p>
              <a:pPr>
                <a:defRPr b="0" i="0" strike="noStrike" sz="900" u="none">
                  <a:solidFill>
                    <a:srgbClr val="1C121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C1214"/>
                </a:solidFill>
                <a:latin typeface="Arial"/>
              </a:defRPr>
            </a:pPr>
            <a:endParaRPr lang="en-US"/>
          </a:p>
        </c:txPr>
        <c:crossAx val="2094734552"/>
        <c:crosses val="autoZero"/>
        <c:auto val="1"/>
        <c:lblAlgn val="ctr"/>
        <c:noMultiLvlLbl val="1"/>
      </c:catAx>
      <c:valAx>
        <c:axId val="2094734552"/>
        <c:scaling>
          <c:orientation val="minMax"/>
          <c:min val="160"/>
        </c:scaling>
        <c:delete val="0"/>
        <c:axPos val="b"/>
        <c:majorGridlines>
          <c:spPr>
            <a:ln w="6350" cap="flat">
              <a:solidFill>
                <a:srgbClr val="D4CAC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404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2E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Weighted MAE (mhl)</c:v>
                </c:pt>
              </c:strCache>
            </c:strRef>
          </c:tx>
          <c:spPr>
            <a:solidFill>
              <a:srgbClr val="2A7F7F"/>
            </a:solidFill>
            <a:effectLst/>
          </c:spPr>
          <c:invertIfNegative val="0"/>
          <c:dLbls>
            <c:numFmt formatCode="#,##0" sourceLinked="0"/>
            <c:txPr>
              <a:bodyPr/>
              <a:lstStyle/>
              <a:p>
                <a:pPr>
                  <a:defRPr b="0" i="0" strike="noStrike" sz="900" u="none">
                    <a:solidFill>
                      <a:srgbClr val="1C1214"/>
                    </a:solidFill>
                    <a:latin typeface="Arial"/>
                  </a:defRPr>
                </a:pPr>
              </a:p>
            </c:txPr>
            <c:showLegendKey val="0"/>
            <c:showVal val="1"/>
            <c:showCatName val="0"/>
            <c:showSerName val="0"/>
            <c:showPercent val="0"/>
            <c:showBubbleSize val="0"/>
            <c:showLeaderLines val="0"/>
          </c:dLbls>
          <c:dPt>
            <c:idx val="0"/>
            <c:invertIfNegative val="0"/>
            <c:bubble3D val="0"/>
            <c:spPr>
              <a:solidFill>
                <a:srgbClr val="2A7F7F"/>
              </a:solidFill>
              <a:effectLst/>
            </c:spPr>
          </c:dPt>
          <c:dPt>
            <c:idx val="1"/>
            <c:invertIfNegative val="0"/>
            <c:bubble3D val="0"/>
            <c:spPr>
              <a:solidFill>
                <a:srgbClr val="9A8E8B"/>
              </a:solidFill>
              <a:effectLst/>
            </c:spPr>
          </c:dPt>
          <c:dPt>
            <c:idx val="2"/>
            <c:invertIfNegative val="0"/>
            <c:bubble3D val="0"/>
            <c:spPr>
              <a:solidFill>
                <a:srgbClr val="9A8E8B"/>
              </a:solidFill>
              <a:effectLst/>
            </c:spPr>
          </c:dPt>
          <c:dPt>
            <c:idx val="3"/>
            <c:invertIfNegative val="0"/>
            <c:bubble3D val="0"/>
            <c:spPr>
              <a:solidFill>
                <a:srgbClr val="9A8E8B"/>
              </a:solidFill>
              <a:effectLst/>
            </c:spPr>
          </c:dPt>
          <c:dPt>
            <c:idx val="4"/>
            <c:invertIfNegative val="0"/>
            <c:bubble3D val="0"/>
            <c:spPr>
              <a:solidFill>
                <a:srgbClr val="9A8E8B"/>
              </a:solidFill>
              <a:effectLst/>
            </c:spPr>
          </c:dPt>
          <c:dPt>
            <c:idx val="5"/>
            <c:invertIfNegative val="0"/>
            <c:bubble3D val="0"/>
            <c:spPr>
              <a:solidFill>
                <a:srgbClr val="B74A4A"/>
              </a:solidFill>
              <a:effectLst/>
            </c:spPr>
          </c:dPt>
          <c:dPt>
            <c:idx val="6"/>
            <c:invertIfNegative val="0"/>
            <c:bubble3D val="0"/>
            <c:spPr>
              <a:solidFill>
                <a:srgbClr val="B74A4A"/>
              </a:solidFill>
              <a:effectLst/>
            </c:spPr>
          </c:dPt>
          <c:cat>
            <c:multiLvlStrRef>
              <c:f>Sheet1!$A$2:$A$8</c:f>
              <c:multiLvlStrCache>
                <c:ptCount val="7"/>
                <c:lvl>
                  <c:pt idx="0">
                    <c:v>Naive_Median</c:v>
                  </c:pt>
                  <c:pt idx="1">
                    <c:v>Naive</c:v>
                  </c:pt>
                  <c:pt idx="2">
                    <c:v>Naive_MA</c:v>
                  </c:pt>
                  <c:pt idx="3">
                    <c:v>CarenR_Sup_FS</c:v>
                  </c:pt>
                  <c:pt idx="4">
                    <c:v>M5Rules</c:v>
                  </c:pt>
                  <c:pt idx="5">
                    <c:v>Decision Tree</c:v>
                  </c:pt>
                  <c:pt idx="6">
                    <c:v>RIPPER</c:v>
                  </c:pt>
                </c:lvl>
              </c:multiLvlStrCache>
            </c:multiLvlStrRef>
          </c:cat>
          <c:val>
            <c:numRef>
              <c:f>Sheet1!$B$2:$B$8</c:f>
              <c:numCache>
                <c:formatCode>General</c:formatCode>
                <c:ptCount val="7"/>
                <c:pt idx="0">
                  <c:v>140.4</c:v>
                </c:pt>
                <c:pt idx="1">
                  <c:v>143.8</c:v>
                </c:pt>
                <c:pt idx="2">
                  <c:v>170.5</c:v>
                </c:pt>
                <c:pt idx="3">
                  <c:v>171.6</c:v>
                </c:pt>
                <c:pt idx="4">
                  <c:v>267.5</c:v>
                </c:pt>
                <c:pt idx="5">
                  <c:v>479.3</c:v>
                </c:pt>
                <c:pt idx="6">
                  <c:v>508.2</c:v>
                </c:pt>
              </c:numCache>
            </c:numRef>
          </c:val>
        </c:ser>
        <c:dLbls>
          <c:numFmt formatCode="#,##0" sourceLinked="0"/>
          <c:txPr>
            <a:bodyPr/>
            <a:lstStyle/>
            <a:p>
              <a:pPr>
                <a:defRPr b="0" i="0" strike="noStrike" sz="900" u="none">
                  <a:solidFill>
                    <a:srgbClr val="1C121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C1214"/>
                </a:solidFill>
                <a:latin typeface="Arial"/>
              </a:defRPr>
            </a:pPr>
            <a:endParaRPr lang="en-US"/>
          </a:p>
        </c:txPr>
        <c:crossAx val="2094734552"/>
        <c:crosses val="autoZero"/>
        <c:auto val="1"/>
        <c:lblAlgn val="ctr"/>
        <c:noMultiLvlLbl val="1"/>
      </c:catAx>
      <c:valAx>
        <c:axId val="2094734552"/>
        <c:scaling>
          <c:orientation val="minMax"/>
          <c:min val="100"/>
        </c:scaling>
        <c:delete val="0"/>
        <c:axPos val="b"/>
        <c:majorGridlines>
          <c:spPr>
            <a:ln w="6350" cap="flat">
              <a:solidFill>
                <a:srgbClr val="D4CAC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404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2E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Naive_Median</c:v>
                </c:pt>
              </c:strCache>
            </c:strRef>
          </c:tx>
          <c:spPr>
            <a:solidFill>
              <a:srgbClr val="6B2737"/>
            </a:solidFill>
            <a:ln w="25400" cap="flat">
              <a:solidFill>
                <a:srgbClr val="6B2737"/>
              </a:solidFill>
              <a:prstDash val="solid"/>
              <a:round/>
            </a:ln>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B2737"/>
              </a:solidFill>
              <a:ln w="9525" cap="flat">
                <a:solidFill>
                  <a:srgbClr val="6B2737"/>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Sheet1!$B$2:$B$19</c:f>
              <c:numCache>
                <c:formatCode>General</c:formatCode>
                <c:ptCount val="18"/>
                <c:pt idx="0">
                  <c:v>183.5</c:v>
                </c:pt>
                <c:pt idx="1">
                  <c:v>199.7</c:v>
                </c:pt>
                <c:pt idx="2">
                  <c:v>223.3</c:v>
                </c:pt>
                <c:pt idx="3">
                  <c:v>203.9</c:v>
                </c:pt>
                <c:pt idx="4">
                  <c:v>184.3</c:v>
                </c:pt>
                <c:pt idx="5">
                  <c:v>174.4</c:v>
                </c:pt>
                <c:pt idx="6">
                  <c:v>186.5</c:v>
                </c:pt>
                <c:pt idx="7">
                  <c:v>174.9</c:v>
                </c:pt>
                <c:pt idx="8">
                  <c:v>164</c:v>
                </c:pt>
                <c:pt idx="9">
                  <c:v>170.5</c:v>
                </c:pt>
                <c:pt idx="10">
                  <c:v>165.4</c:v>
                </c:pt>
                <c:pt idx="11">
                  <c:v>186.7</c:v>
                </c:pt>
                <c:pt idx="12">
                  <c:v>170.1</c:v>
                </c:pt>
                <c:pt idx="13">
                  <c:v>176.3</c:v>
                </c:pt>
                <c:pt idx="14">
                  <c:v>157.6</c:v>
                </c:pt>
                <c:pt idx="15">
                  <c:v>158.1</c:v>
                </c:pt>
                <c:pt idx="16">
                  <c:v>86.7</c:v>
                </c:pt>
                <c:pt idx="17">
                  <c:v>143.9</c:v>
                </c:pt>
              </c:numCache>
            </c:numRef>
          </c:val>
          <c:smooth val="1"/>
        </c:ser>
        <c:ser>
          <c:idx val="1"/>
          <c:order val="1"/>
          <c:tx>
            <c:strRef>
              <c:f>Sheet1!$C$1</c:f>
              <c:strCache>
                <c:ptCount val="1"/>
                <c:pt idx="0">
                  <c:v>CarenR_Eta2</c:v>
                </c:pt>
              </c:strCache>
            </c:strRef>
          </c:tx>
          <c:spPr>
            <a:solidFill>
              <a:srgbClr val="C4964A"/>
            </a:solidFill>
            <a:ln w="25400" cap="flat">
              <a:solidFill>
                <a:srgbClr val="C4964A"/>
              </a:solidFill>
              <a:prstDash val="solid"/>
              <a:round/>
            </a:ln>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4964A"/>
              </a:solidFill>
              <a:ln w="9525" cap="flat">
                <a:solidFill>
                  <a:srgbClr val="C4964A"/>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Sheet1!$C$2:$C$19</c:f>
              <c:numCache>
                <c:formatCode>General</c:formatCode>
                <c:ptCount val="18"/>
                <c:pt idx="0">
                  <c:v>199.5</c:v>
                </c:pt>
                <c:pt idx="1">
                  <c:v>204.8</c:v>
                </c:pt>
                <c:pt idx="2">
                  <c:v>216</c:v>
                </c:pt>
                <c:pt idx="3">
                  <c:v>203.7</c:v>
                </c:pt>
                <c:pt idx="4">
                  <c:v>209.5</c:v>
                </c:pt>
                <c:pt idx="5">
                  <c:v>201.4</c:v>
                </c:pt>
                <c:pt idx="6">
                  <c:v>214.4</c:v>
                </c:pt>
                <c:pt idx="7">
                  <c:v>190.5</c:v>
                </c:pt>
                <c:pt idx="8">
                  <c:v>172.7</c:v>
                </c:pt>
                <c:pt idx="9">
                  <c:v>140.5</c:v>
                </c:pt>
                <c:pt idx="10">
                  <c:v>148.3</c:v>
                </c:pt>
                <c:pt idx="11">
                  <c:v>158.9</c:v>
                </c:pt>
                <c:pt idx="12">
                  <c:v>138.6</c:v>
                </c:pt>
                <c:pt idx="13">
                  <c:v>145</c:v>
                </c:pt>
                <c:pt idx="14">
                  <c:v>177</c:v>
                </c:pt>
                <c:pt idx="15">
                  <c:v>180.1</c:v>
                </c:pt>
                <c:pt idx="16">
                  <c:v>120.2</c:v>
                </c:pt>
                <c:pt idx="17">
                  <c:v>208.7</c:v>
                </c:pt>
              </c:numCache>
            </c:numRef>
          </c:val>
          <c:smooth val="1"/>
        </c:ser>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C121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4CAC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404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8F2E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My name is Hugo Nogueira and this is my master's thesis in Informatics and Computing Engineering at FEUP.</a:t>
            </a:r>
          </a:p>
          <a:p/>
          <a:p>
            <a:r>
              <a:t>The title captures the two main ideas: we use rule-based machine learning — specifically an algorithm called CarenR — and we apply it to a distributional subgroup discovery problem: finding climate conditions that explain unusually high or low wine production years in two Portuguese regions, Douro and Vinho Verde.</a:t>
            </a:r>
          </a:p>
          <a:p/>
          <a:p>
            <a:r>
              <a:t>The two statistics on the right give you a sense of the scale of what we're trying to explain: an 80% production increase in Douro over the study period, and a 65% decline in Vinho Verde. These are not noise — they reflect structural changes that interact with year-to-year climate variation.</a:t>
            </a:r>
          </a:p>
          <a:p/>
          <a:p>
            <a:r>
              <a:t>I'll walk you through the problem, the approach, the main results, and why I believe the most important finding is not the headline accuracy number but the structural diagnosis that came out of the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makes this precise. The gap is interpretability: even when production can be predicted, it can't be explained.</a:t>
            </a:r>
          </a:p>
          <a:p/>
          <a:p>
            <a:r>
              <a:t>The example rule on the right is what CarenR produces. It tells you: in years where soil water at harvest was between 74 and 101 mm AND wet days after flowering were 3.3 or fewer, production was 192 mhl above trend — in 21% of years, with a KS p-value of 0.010.</a:t>
            </a:r>
          </a:p>
          <a:p/>
          <a:p>
            <a:r>
              <a:t>An agronomist can read that, challenge it, and decide whether it matches their knowledge of vine physiology. No prior work has applied this kind of distributional rule induction to multi-decade regional production records.</a:t>
            </a:r>
          </a:p>
          <a:p/>
          <a:p>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p>
            <a:r>
              <a:t>Goal 1 — rule discovery — was achieved. CarenR found 48 rules for Douro and 20 for Vinho Verde, answering RQ1 and RQ2: which climate variables matter, and are they genuine signals or artefacts of era-level structural change?</a:t>
            </a:r>
          </a:p>
          <a:p/>
          <a:p>
            <a:r>
              <a:t>Goal 2 — predictive validation — was not achieved in aggregate. Across all walk-forward scenarios, no model reliably beats the naive baseline. But — and this is the key point — there is a conditional finding in Douro that I'll explain in slides 11 and 12.</a:t>
            </a:r>
          </a:p>
          <a:p/>
          <a:p>
            <a:r>
              <a:t>RQ3 asks whether three independent algorithms converge on the same features. They do, and that convergence is the strongest evidence that the discovered patterns are real. RQ4 asks whether prediction improves — the answer is nuanced.</a:t>
            </a:r>
          </a:p>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design is built around two parallel pipelines: the same 59 agroclimatic features, the same three algorithms, the same walk-forward protocol — applied independently to Douro (89 observations, 1934–2022) and Vinho Verde (80 observations, 1942–2021).</a:t>
            </a:r>
          </a:p>
          <a:p/>
          <a:p>
            <a:r>
              <a:t>The 59 features span temperature, rainfall, soil water, LAI, heat and frost day counts, and prior-year lags. All are anchored on phenological dates — budburst, flowering, maturity, harvest — so they reflect what the vine actually experiences, not just calendar months.</a:t>
            </a:r>
          </a:p>
          <a:p/>
          <a:p>
            <a:r>
              <a:t>The walk-forward diagram shows the validation structure: in each scenario, the training set expands by one year, we re-run all preprocessing including feature selection and detrending inside the fold, then predict the next year. 18 scenarios for RDD, 16 for RVV.</a:t>
            </a:r>
          </a:p>
          <a:p/>
          <a:p>
            <a:r>
              <a:t>The Naive_Median baseline predicts the median training residual — typically close to zero. It minimises MAE among all constant predictors and is the correct benchmark when we've already removed the trend.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framework is the core conceptual contribution of the thesis. It decomposes prediction error into two independent decisions.</a:t>
            </a:r>
          </a:p>
          <a:p/>
          <a:p>
            <a:r>
              <a:t>Decision 1 is trend quality: how well does the training trend extrapolate to the test year? We measure this by Naive_Median MAE — the floor below which no rule-based model can go without adding climate signal.</a:t>
            </a:r>
          </a:p>
          <a:p/>
          <a:p>
            <a:r>
              <a:t>Decision 2 is climate signal: can a rule model beat the trend prediction? We measure this by the gap between model MAE and Naive_Median MAE. A negative gap means the model adds value.</a:t>
            </a:r>
          </a:p>
          <a:p/>
          <a:p>
            <a:r>
              <a:t>The tension in the middle is critical: a more flexible detrending method — like LOESS — lowers Decision 1 error by tracking era-level structure more accurately. But it removes the very signal that rule induction depends on.</a:t>
            </a:r>
          </a:p>
          <a:p/>
          <a:p>
            <a:r>
              <a:t>The Vinho Verde LOESS example shows this concretely: LOESS improves Naive_Median from 140 to 90 mhl. But after LOESS detrending, zero rules fire in any of the 16 validation scenarios. The signal disappeared.</a:t>
            </a:r>
          </a:p>
          <a:p/>
          <a:p>
            <a:r>
              <a:t>This framework lets us say precisely where and why each approach fails — which is more useful than a single aggregate accuracy number.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shows the top 5 rules per region.</a:t>
            </a:r>
          </a:p>
          <a:p/>
          <a:p>
            <a:r>
              <a:t>In Douro — the teal rules are above-trend, the darker red are below-trend. Notice that wet days after flowering and low heat days appear repeatedly. Soil water at harvest at 74–101 mm drives the highest-impact rule: +192 mhl. These are conditions that agronomists recognise as favourable — sufficient soil moisture without heat stress during critical phenological windows.</a:t>
            </a:r>
          </a:p>
          <a:p/>
          <a:p>
            <a:r>
              <a:t>In Vinho Verde — the pattern is different. LAI at harvest and soil water dominate, and the most striking rule is the +311 mhl above-trend rule, which is the largest absolute deviation in either region. But notice that most RVV rules are below-trend — reflecting the structural decline in production since EU quota imposition in the 1980s.</a:t>
            </a:r>
          </a:p>
          <a:p/>
          <a:p>
            <a:r>
              <a:t>The LOESS validation at the bottom is the key robustness check. Douro's top features retain 90–125% of their correlation after aggressive LOESS detrending — they are genuine within-era signals. Vinho Verde's features collapse to 15–16% — they are largely era-membership artefacts. This is why RDD rules are trustworthy for prediction and RVV rules are not.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strongest slides in the thesis.</a:t>
            </a:r>
          </a:p>
          <a:p/>
          <a:p>
            <a:r>
              <a:t>Three algorithms with completely different optimisation criteria — KS test, FOIL gain, MSE minimisation — independently select the same feature families.</a:t>
            </a:r>
          </a:p>
          <a:p/>
          <a:p>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a:p>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a:p>
            <a:r>
              <a:t>This convergence is not a statistical artefact. Three independent optimisation criteria would only agree if the features are genuinely load-bearing in the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shows the headline numbers — and they're honest.</a:t>
            </a:r>
          </a:p>
          <a:p/>
          <a:p>
            <a:r>
              <a:t>In Douro: the best CarenR variant achieves a weighted MAE of 189 mhl versus Naive_Median's 184 mhl. That's a 3% degradation. Wilcoxon p = 0.468 — not significant. In aggregate, CarenR does not beat the naive baseline in Douro.</a:t>
            </a:r>
          </a:p>
          <a:p/>
          <a:p>
            <a:r>
              <a:t>In Vinho Verde: Best CarenR at 172 mhl versus Naive at 140 mhl. That's a 22% degradation, with p = 0.004 — the rules actively harm prediction.</a:t>
            </a:r>
          </a:p>
          <a:p/>
          <a:p>
            <a:r>
              <a:t>These are uncomfortable numbers but they're the right numbers. The question is: why? And the answer is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most important diagnostic slide in the thesis.</a:t>
            </a:r>
          </a:p>
          <a:p/>
          <a:p>
            <a:r>
              <a:t>When I split the RDD scenarios by the proportion of post-1990 observations in the test set, a clear pattern emerges. In scenarios 1 through 9 — where the test set is drawn heavily from pre-1990 observations — CarenR loses in 7 out of 9 scenarios. The rules were learned on post-1990 features but are being tested on pre-1990 production structure.</a:t>
            </a:r>
          </a:p>
          <a:p/>
          <a:p>
            <a:r>
              <a:t>In scenarios 10 through 14 — where the era composition is roughly balanced at 29% modern-era — CarenR wins all 5 scenarios, with margins of 17 to 32 mhl. Binomial p = 0.031.</a:t>
            </a:r>
          </a:p>
          <a:p/>
          <a:p>
            <a:r>
              <a:t>I want to be transparent about the status of this finding: it is post-hoc and exploratory. The threshold was identified after observing the pattern, and 5 scenarios is underpowered. But the mechanism is clearly identifiable, the effect is consistent, and it motivates a specific prospective validation study.</a:t>
            </a:r>
          </a:p>
          <a:p/>
          <a:p>
            <a:r>
              <a:t>In Vinho Verde: 0 wins out of 16 scenarios. Adding modern-era data makes things worse, not better — because the structural regime shift after EU quota imposition in 1986 is so severe that no feature set generalises across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contrast between Douro and Vinho Verde was by design, not by accident.</a:t>
            </a:r>
          </a:p>
          <a:p/>
          <a:p>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a:p>
            <a:r>
              <a:t>In Douro: genuine within-era signal survives LOESS detrending, three algorithms converge, and era-balanced scenarios show conditional improvement.</a:t>
            </a:r>
          </a:p>
          <a:p/>
          <a:p>
            <a:r>
              <a:t>In Vinho Verde: features are largely era-membership proxies, LOESS detrending removes all signal, and rules cannot generalise across the 1986 structural break.</a:t>
            </a:r>
          </a:p>
          <a:p/>
          <a:p>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summarise the five scientific contributions.</a:t>
            </a:r>
          </a:p>
          <a:p/>
          <a:p>
            <a:r>
              <a:t>First, the Two-Decision Decomposition Framework — a diagnostic tool for separating trend quality from climate signal extraction. This is transferable to any agroclimatic problem with structural non-stationarity.</a:t>
            </a:r>
          </a:p>
          <a:p/>
          <a:p>
            <a:r>
              <a:t>Second, the first systematic walk-forward evaluation in this domain: 17 models, 18 and 16 scenarios, all preprocessing inside each fold, confirmatory versus exploratory findings explicitly classified.</a:t>
            </a:r>
          </a:p>
          <a:p/>
          <a:p>
            <a:r>
              <a:t>Third, a structured 11-variant sensitivity analysis showing that optimal feature selection is problem-specific. η² works for Douro; conservative support-based selection works for Vinho Verde.</a:t>
            </a:r>
          </a:p>
          <a:p/>
          <a:p>
            <a:r>
              <a:t>Fourth, the era-composition analysis: not just whether rule-based prediction works, but under what data conditions — with a specific quantitative threshold.</a:t>
            </a:r>
          </a:p>
          <a:p/>
          <a:p>
            <a:r>
              <a:t>Fifth, cross-algorithm validation: RIPPER and M5Rules independently confirm CarenR's feature selections. Three-algorithm agreement provides strong evidence of genuine data structure.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close.</a:t>
            </a:r>
          </a:p>
          <a:p/>
          <a:p>
            <a:r>
              <a:t>The headline finding is honest: rule-based machine learning cannot yet reliably forecast Portuguese wine production. Aggregate performance does not beat the naive baseline.</a:t>
            </a:r>
          </a:p>
          <a:p/>
          <a:p>
            <a:r>
              <a:t>But the thesis demonstrates that it can explain production — with validated, auditable, agronomically meaningful rules that three independent algorithms agree on.</a:t>
            </a:r>
          </a:p>
          <a:p/>
          <a:p>
            <a:r>
              <a:t>The three main limitations are: detrending uses time as sole covariate and conflates climate with structural industry changes; the walk-forward sample is small; and the era-balanced finding is post-hoc.</a:t>
            </a:r>
          </a:p>
          <a:p/>
          <a:p>
            <a:r>
              <a:t>Future work is concrete: add structural covariates to detrending — planted area, quota levels, number of certified producers. Pre-register and prospectively validate the 29% era-balanced threshold. Extend to sub-regional granularity in Douro.</a:t>
            </a:r>
          </a:p>
          <a:p/>
          <a:p>
            <a:r>
              <a:t>The core message: understanding why forecasting fails has proven as scientifically valuable as forecasting itself would have been.</a:t>
            </a:r>
          </a:p>
          <a:p/>
          <a:p>
            <a:r>
              <a:t>Thank you. I'm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problem matters.</a:t>
            </a:r>
          </a:p>
          <a:p/>
          <a:p>
            <a:r>
              <a:t>Portugal produces around 6 million hectolitres of wine per year, with year-on-year volatility of about 30%. That's not a rounding error — it directly affects harvest logistics, storage contracts, insurance premiums, and EU Common Agricultural Policy payments.</a:t>
            </a:r>
          </a:p>
          <a:p/>
          <a:p>
            <a:r>
              <a:t>The four stakeholder groups on the left — cooperatives, regulatory bodies like IVDP and CVRVV, the insurance sector, and EU policy bodies — all have forecasting needs. But they have different needs: they want numbers they can audit and challenge, not just predictions from a neural network.</a:t>
            </a:r>
          </a:p>
          <a:p/>
          <a:p>
            <a:r>
              <a:t>The right side is the key point: existing approaches each fail on one axis. Statistical regression is interpretable but can't capture non-linear climate interactions. Modern ML is accurate but black-box — a cooperative can't use a random forest model in a meeting with a board. Expert agronomist rules are readable but aren't statistically validated.</a:t>
            </a:r>
          </a:p>
          <a:p/>
          <a:p>
            <a:r>
              <a:t>CarenR is designed to satisfy all three: the rules are readable, statistically grounded, and derived from decades of data. That's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algorithms address structurally different questions.</a:t>
            </a:r>
          </a:p>
          <a:p/>
          <a:p>
            <a:r>
              <a:t>CarenR asks: when does the shape of the production distribution shift? It uses the Kolmogorov–Smirnov two-sample test, which is non-parametric — no normality assumption, no need to discretise the target. Output is a rule with a distributional shift in mhl.</a:t>
            </a:r>
          </a:p>
          <a:p/>
          <a:p>
            <a:r>
              <a:t>RIPPER asks: which production class does a year belong to? It requires discretising the target into tertiles — Low, Medium, High — and uses FOIL information gain. Well-established baseline, but the discretisation loses information.</a:t>
            </a:r>
          </a:p>
          <a:p/>
          <a:p>
            <a:r>
              <a:t>M5Rules asks: what's the exact production level? It minimises MSE to build piecewise linear regression rules. The problem is that on datasets smaller than 89 observations, it collapses to a single global model with no meaningful splits.</a:t>
            </a:r>
          </a:p>
          <a:p/>
          <a:p>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737"/>
        </a:solidFill>
      </p:bgPr>
    </p:bg>
    <p:spTree>
      <p:nvGrpSpPr>
        <p:cNvPr id="1" name=""/>
        <p:cNvGrpSpPr/>
        <p:nvPr/>
      </p:nvGrpSpPr>
      <p:grpSpPr>
        <a:xfrm>
          <a:off x="0" y="0"/>
          <a:ext cx="0" cy="0"/>
          <a:chOff x="0" y="0"/>
          <a:chExt cx="0" cy="0"/>
        </a:xfrm>
      </p:grpSpPr>
      <p:sp>
        <p:nvSpPr>
          <p:cNvPr id="2" name="Text 0"/>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1 / 12</a:t>
            </a:r>
            <a:endParaRPr lang="en-US" sz="900" dirty="0"/>
          </a:p>
        </p:txBody>
      </p:sp>
      <p:sp>
        <p:nvSpPr>
          <p:cNvPr id="3" name="Shape 1"/>
          <p:cNvSpPr/>
          <p:nvPr/>
        </p:nvSpPr>
        <p:spPr>
          <a:xfrm>
            <a:off x="6949440" y="-822960"/>
            <a:ext cx="3474720" cy="3474720"/>
          </a:xfrm>
          <a:prstGeom prst="ellipse">
            <a:avLst/>
          </a:prstGeom>
          <a:solidFill>
            <a:srgbClr val="C4964A">
              <a:alpha val="15000"/>
            </a:srgbClr>
          </a:solidFill>
          <a:ln w="12700">
            <a:solidFill>
              <a:srgbClr val="C4964A">
                <a:alpha val="15000"/>
              </a:srgbClr>
            </a:solidFill>
            <a:prstDash val="solid"/>
          </a:ln>
        </p:spPr>
      </p:sp>
      <p:sp>
        <p:nvSpPr>
          <p:cNvPr id="4" name="Shape 2"/>
          <p:cNvSpPr/>
          <p:nvPr/>
        </p:nvSpPr>
        <p:spPr>
          <a:xfrm>
            <a:off x="-548640" y="3108960"/>
            <a:ext cx="2560320" cy="2560320"/>
          </a:xfrm>
          <a:prstGeom prst="ellipse">
            <a:avLst/>
          </a:prstGeom>
          <a:solidFill>
            <a:srgbClr val="C4964A">
              <a:alpha val="10000"/>
            </a:srgbClr>
          </a:solidFill>
          <a:ln w="12700">
            <a:solidFill>
              <a:srgbClr val="C4964A">
                <a:alpha val="10000"/>
              </a:srgbClr>
            </a:solidFill>
            <a:prstDash val="solid"/>
          </a:ln>
        </p:spPr>
      </p:sp>
      <p:sp>
        <p:nvSpPr>
          <p:cNvPr id="5" name="Shape 3"/>
          <p:cNvSpPr/>
          <p:nvPr/>
        </p:nvSpPr>
        <p:spPr>
          <a:xfrm>
            <a:off x="0" y="0"/>
            <a:ext cx="9144000" cy="73152"/>
          </a:xfrm>
          <a:prstGeom prst="rect">
            <a:avLst/>
          </a:prstGeom>
          <a:solidFill>
            <a:srgbClr val="C4964A"/>
          </a:solidFill>
          <a:ln w="12700">
            <a:solidFill>
              <a:srgbClr val="C4964A"/>
            </a:solidFill>
            <a:prstDash val="solid"/>
          </a:ln>
        </p:spPr>
      </p:sp>
      <p:sp>
        <p:nvSpPr>
          <p:cNvPr id="6" name="Text 4"/>
          <p:cNvSpPr/>
          <p:nvPr/>
        </p:nvSpPr>
        <p:spPr>
          <a:xfrm>
            <a:off x="548640" y="777240"/>
            <a:ext cx="5669280" cy="1417320"/>
          </a:xfrm>
          <a:prstGeom prst="rect">
            <a:avLst/>
          </a:prstGeom>
          <a:noFill/>
          <a:ln/>
        </p:spPr>
        <p:txBody>
          <a:bodyPr wrap="square" lIns="0" tIns="0" rIns="0" bIns="0" rtlCol="0" anchor="t"/>
          <a:lstStyle/>
          <a:p>
            <a:pPr algn="l" indent="0" marL="0">
              <a:buNone/>
            </a:pPr>
            <a:r>
              <a:rPr lang="en-US" sz="3200" b="1" dirty="0">
                <a:solidFill>
                  <a:srgbClr val="FFFFFF"/>
                </a:solidFill>
                <a:latin typeface="Georgia" pitchFamily="34" charset="0"/>
                <a:ea typeface="Georgia" pitchFamily="34" charset="-122"/>
                <a:cs typeface="Georgia" pitchFamily="34" charset="-120"/>
              </a:rPr>
              <a:t>Wine Production Forecasting</a:t>
            </a:r>
            <a:endParaRPr lang="en-US" sz="3200" dirty="0"/>
          </a:p>
          <a:p>
            <a:pPr algn="l" indent="0" marL="0">
              <a:buNone/>
            </a:pPr>
            <a:r>
              <a:rPr lang="en-US" sz="2200" dirty="0">
                <a:solidFill>
                  <a:srgbClr val="C4964A"/>
                </a:solidFill>
                <a:latin typeface="Georgia" pitchFamily="34" charset="0"/>
                <a:ea typeface="Georgia" pitchFamily="34" charset="-122"/>
                <a:cs typeface="Georgia" pitchFamily="34" charset="-120"/>
              </a:rPr>
              <a:t>Using Rule-Based Machine Learning</a:t>
            </a:r>
            <a:endParaRPr lang="en-US" sz="3200" dirty="0"/>
          </a:p>
        </p:txBody>
      </p:sp>
      <p:sp>
        <p:nvSpPr>
          <p:cNvPr id="7" name="Shape 5"/>
          <p:cNvSpPr/>
          <p:nvPr/>
        </p:nvSpPr>
        <p:spPr>
          <a:xfrm>
            <a:off x="548640" y="2286000"/>
            <a:ext cx="5029200" cy="27432"/>
          </a:xfrm>
          <a:prstGeom prst="rect">
            <a:avLst/>
          </a:prstGeom>
          <a:solidFill>
            <a:srgbClr val="C4964A">
              <a:alpha val="60000"/>
            </a:srgbClr>
          </a:solidFill>
          <a:ln w="12700">
            <a:solidFill>
              <a:srgbClr val="C4964A">
                <a:alpha val="60000"/>
              </a:srgbClr>
            </a:solidFill>
            <a:prstDash val="solid"/>
          </a:ln>
        </p:spPr>
      </p:sp>
      <p:sp>
        <p:nvSpPr>
          <p:cNvPr id="8" name="Text 6"/>
          <p:cNvSpPr/>
          <p:nvPr/>
        </p:nvSpPr>
        <p:spPr>
          <a:xfrm>
            <a:off x="548640" y="2340864"/>
            <a:ext cx="5669280" cy="347472"/>
          </a:xfrm>
          <a:prstGeom prst="rect">
            <a:avLst/>
          </a:prstGeom>
          <a:noFill/>
          <a:ln/>
        </p:spPr>
        <p:txBody>
          <a:bodyPr wrap="square" lIns="0" tIns="0" rIns="0" bIns="0" rtlCol="0" anchor="ctr"/>
          <a:lstStyle/>
          <a:p>
            <a:pPr algn="l" indent="0" marL="0">
              <a:buNone/>
            </a:pPr>
            <a:r>
              <a:rPr lang="en-US" sz="1300" i="1" dirty="0">
                <a:solidFill>
                  <a:srgbClr val="D4CACA"/>
                </a:solidFill>
                <a:latin typeface="Calibri" pitchFamily="34" charset="0"/>
                <a:ea typeface="Calibri" pitchFamily="34" charset="-122"/>
                <a:cs typeface="Calibri" pitchFamily="34" charset="-120"/>
              </a:rPr>
              <a:t>A Distributional Subgroup Discovery Approach for Portuguese Wine Regions</a:t>
            </a:r>
            <a:endParaRPr lang="en-US" sz="1300" dirty="0"/>
          </a:p>
        </p:txBody>
      </p:sp>
      <p:sp>
        <p:nvSpPr>
          <p:cNvPr id="9" name="Text 7"/>
          <p:cNvSpPr/>
          <p:nvPr/>
        </p:nvSpPr>
        <p:spPr>
          <a:xfrm>
            <a:off x="548640" y="3017520"/>
            <a:ext cx="5669280" cy="3200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Hugo Filipe Queiróz Nogueira</a:t>
            </a:r>
            <a:pPr algn="l" indent="0" marL="0">
              <a:buNone/>
            </a:pPr>
            <a:r>
              <a:rPr lang="en-US" sz="1300" dirty="0">
                <a:solidFill>
                  <a:srgbClr val="FFFFFF"/>
                </a:solidFill>
                <a:latin typeface="Calibri" pitchFamily="34" charset="0"/>
                <a:ea typeface="Calibri" pitchFamily="34" charset="-122"/>
                <a:cs typeface="Calibri" pitchFamily="34" charset="-120"/>
              </a:rPr>
              <a:t>  ·  </a:t>
            </a:r>
            <a:pPr algn="l" indent="0" marL="0">
              <a:buNone/>
            </a:pPr>
            <a:r>
              <a:rPr lang="en-US" sz="1300" dirty="0">
                <a:solidFill>
                  <a:srgbClr val="FFFFFF"/>
                </a:solidFill>
                <a:latin typeface="Calibri" pitchFamily="34" charset="0"/>
                <a:ea typeface="Calibri" pitchFamily="34" charset="-122"/>
                <a:cs typeface="Calibri" pitchFamily="34" charset="-120"/>
              </a:rPr>
              <a:t>MECD, FEUP</a:t>
            </a:r>
            <a:endParaRPr lang="en-US" sz="1300" dirty="0"/>
          </a:p>
        </p:txBody>
      </p:sp>
      <p:sp>
        <p:nvSpPr>
          <p:cNvPr id="10" name="Text 8"/>
          <p:cNvSpPr/>
          <p:nvPr/>
        </p:nvSpPr>
        <p:spPr>
          <a:xfrm>
            <a:off x="548640" y="3337560"/>
            <a:ext cx="5669280" cy="256032"/>
          </a:xfrm>
          <a:prstGeom prst="rect">
            <a:avLst/>
          </a:prstGeom>
          <a:noFill/>
          <a:ln/>
        </p:spPr>
        <p:txBody>
          <a:bodyPr wrap="square" lIns="0" tIns="0" rIns="0" bIns="0" rtlCol="0" anchor="ctr"/>
          <a:lstStyle/>
          <a:p>
            <a:pPr algn="l" indent="0" marL="0">
              <a:buNone/>
            </a:pPr>
            <a:r>
              <a:rPr lang="en-US" sz="1100" b="1" dirty="0">
                <a:solidFill>
                  <a:srgbClr val="D4CACA"/>
                </a:solidFill>
                <a:latin typeface="Calibri" pitchFamily="34" charset="0"/>
                <a:ea typeface="Calibri" pitchFamily="34" charset="-122"/>
                <a:cs typeface="Calibri" pitchFamily="34" charset="-120"/>
              </a:rPr>
              <a:t>Supervisors: </a:t>
            </a:r>
            <a:pPr algn="l" indent="0" marL="0">
              <a:buNone/>
            </a:pPr>
            <a:r>
              <a:rPr lang="en-US" sz="1100" dirty="0">
                <a:solidFill>
                  <a:srgbClr val="D4CACA"/>
                </a:solidFill>
                <a:latin typeface="Calibri" pitchFamily="34" charset="0"/>
                <a:ea typeface="Calibri" pitchFamily="34" charset="-122"/>
                <a:cs typeface="Calibri" pitchFamily="34" charset="-120"/>
              </a:rPr>
              <a:t>Prof. João Paulo Moreira (FEUP)  ·  Prof. Mário Campos Cunha (FCUP)</a:t>
            </a:r>
            <a:endParaRPr lang="en-US" sz="1100" dirty="0"/>
          </a:p>
        </p:txBody>
      </p:sp>
      <p:sp>
        <p:nvSpPr>
          <p:cNvPr id="11" name="Text 9"/>
          <p:cNvSpPr/>
          <p:nvPr/>
        </p:nvSpPr>
        <p:spPr>
          <a:xfrm>
            <a:off x="548640" y="3657600"/>
            <a:ext cx="2743200" cy="256032"/>
          </a:xfrm>
          <a:prstGeom prst="rect">
            <a:avLst/>
          </a:prstGeom>
          <a:noFill/>
          <a:ln/>
        </p:spPr>
        <p:txBody>
          <a:bodyPr wrap="square" lIns="0" tIns="0" rIns="0" bIns="0" rtlCol="0" anchor="ctr"/>
          <a:lstStyle/>
          <a:p>
            <a:pPr algn="l" indent="0" marL="0">
              <a:buNone/>
            </a:pPr>
            <a:r>
              <a:rPr lang="en-US" sz="1100" dirty="0">
                <a:solidFill>
                  <a:srgbClr val="C4964A"/>
                </a:solidFill>
                <a:latin typeface="Calibri" pitchFamily="34" charset="0"/>
                <a:ea typeface="Calibri" pitchFamily="34" charset="-122"/>
                <a:cs typeface="Calibri" pitchFamily="34" charset="-120"/>
              </a:rPr>
              <a:t>June 2026</a:t>
            </a:r>
            <a:endParaRPr lang="en-US" sz="1100" dirty="0"/>
          </a:p>
        </p:txBody>
      </p:sp>
      <p:sp>
        <p:nvSpPr>
          <p:cNvPr id="12" name="Shape 10"/>
          <p:cNvSpPr/>
          <p:nvPr/>
        </p:nvSpPr>
        <p:spPr>
          <a:xfrm>
            <a:off x="6400800" y="1005840"/>
            <a:ext cx="2377440" cy="1005840"/>
          </a:xfrm>
          <a:prstGeom prst="rect">
            <a:avLst/>
          </a:prstGeom>
          <a:solidFill>
            <a:srgbClr val="1C1416"/>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3" name="Shape 11"/>
          <p:cNvSpPr/>
          <p:nvPr/>
        </p:nvSpPr>
        <p:spPr>
          <a:xfrm>
            <a:off x="6400800" y="1005840"/>
            <a:ext cx="54864" cy="1005840"/>
          </a:xfrm>
          <a:prstGeom prst="rect">
            <a:avLst/>
          </a:prstGeom>
          <a:solidFill>
            <a:srgbClr val="3A7A50"/>
          </a:solidFill>
          <a:ln w="12700">
            <a:solidFill>
              <a:srgbClr val="3A7A50"/>
            </a:solidFill>
            <a:prstDash val="solid"/>
          </a:ln>
        </p:spPr>
      </p:sp>
      <p:sp>
        <p:nvSpPr>
          <p:cNvPr id="14" name="Text 12"/>
          <p:cNvSpPr/>
          <p:nvPr/>
        </p:nvSpPr>
        <p:spPr>
          <a:xfrm>
            <a:off x="6537960" y="1060704"/>
            <a:ext cx="2194560" cy="475488"/>
          </a:xfrm>
          <a:prstGeom prst="rect">
            <a:avLst/>
          </a:prstGeom>
          <a:noFill/>
          <a:ln/>
        </p:spPr>
        <p:txBody>
          <a:bodyPr wrap="square" lIns="0" tIns="0" rIns="0" bIns="0" rtlCol="0" anchor="ctr"/>
          <a:lstStyle/>
          <a:p>
            <a:pPr indent="0" marL="0">
              <a:buNone/>
            </a:pPr>
            <a:r>
              <a:rPr lang="en-US" sz="2600" b="1" dirty="0">
                <a:solidFill>
                  <a:srgbClr val="3A7A50"/>
                </a:solidFill>
                <a:latin typeface="Georgia" pitchFamily="34" charset="0"/>
                <a:ea typeface="Georgia" pitchFamily="34" charset="-122"/>
                <a:cs typeface="Georgia" pitchFamily="34" charset="-120"/>
              </a:rPr>
              <a:t>+80%</a:t>
            </a:r>
            <a:endParaRPr lang="en-US" sz="2600" dirty="0"/>
          </a:p>
        </p:txBody>
      </p:sp>
      <p:sp>
        <p:nvSpPr>
          <p:cNvPr id="15" name="Text 13"/>
          <p:cNvSpPr/>
          <p:nvPr/>
        </p:nvSpPr>
        <p:spPr>
          <a:xfrm>
            <a:off x="6537960" y="1499616"/>
            <a:ext cx="219456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Douro (RDD)</a:t>
            </a:r>
            <a:endParaRPr lang="en-US" sz="1000" dirty="0"/>
          </a:p>
        </p:txBody>
      </p:sp>
      <p:sp>
        <p:nvSpPr>
          <p:cNvPr id="16" name="Text 14"/>
          <p:cNvSpPr/>
          <p:nvPr/>
        </p:nvSpPr>
        <p:spPr>
          <a:xfrm>
            <a:off x="6537960" y="1709928"/>
            <a:ext cx="2194560" cy="201168"/>
          </a:xfrm>
          <a:prstGeom prst="rect">
            <a:avLst/>
          </a:prstGeom>
          <a:noFill/>
          <a:ln/>
        </p:spPr>
        <p:txBody>
          <a:bodyPr wrap="square" lIns="0" tIns="0" rIns="0" bIns="0" rtlCol="0" anchor="ctr"/>
          <a:lstStyle/>
          <a:p>
            <a:pPr indent="0" marL="0">
              <a:buNone/>
            </a:pPr>
            <a:r>
              <a:rPr lang="en-US" sz="900" i="1" dirty="0">
                <a:solidFill>
                  <a:srgbClr val="9A8E8B"/>
                </a:solidFill>
                <a:latin typeface="Calibri" pitchFamily="34" charset="0"/>
                <a:ea typeface="Calibri" pitchFamily="34" charset="-122"/>
                <a:cs typeface="Calibri" pitchFamily="34" charset="-120"/>
              </a:rPr>
              <a:t>production increase</a:t>
            </a:r>
            <a:endParaRPr lang="en-US" sz="900" dirty="0"/>
          </a:p>
        </p:txBody>
      </p:sp>
      <p:sp>
        <p:nvSpPr>
          <p:cNvPr id="17" name="Shape 15"/>
          <p:cNvSpPr/>
          <p:nvPr/>
        </p:nvSpPr>
        <p:spPr>
          <a:xfrm>
            <a:off x="6400800" y="2194560"/>
            <a:ext cx="2377440" cy="1005840"/>
          </a:xfrm>
          <a:prstGeom prst="rect">
            <a:avLst/>
          </a:prstGeom>
          <a:solidFill>
            <a:srgbClr val="1C1416"/>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8" name="Shape 16"/>
          <p:cNvSpPr/>
          <p:nvPr/>
        </p:nvSpPr>
        <p:spPr>
          <a:xfrm>
            <a:off x="6400800" y="2194560"/>
            <a:ext cx="54864" cy="1005840"/>
          </a:xfrm>
          <a:prstGeom prst="rect">
            <a:avLst/>
          </a:prstGeom>
          <a:solidFill>
            <a:srgbClr val="B74A4A"/>
          </a:solidFill>
          <a:ln w="12700">
            <a:solidFill>
              <a:srgbClr val="B74A4A"/>
            </a:solidFill>
            <a:prstDash val="solid"/>
          </a:ln>
        </p:spPr>
      </p:sp>
      <p:sp>
        <p:nvSpPr>
          <p:cNvPr id="19" name="Text 17"/>
          <p:cNvSpPr/>
          <p:nvPr/>
        </p:nvSpPr>
        <p:spPr>
          <a:xfrm>
            <a:off x="6537960" y="2249424"/>
            <a:ext cx="2194560" cy="475488"/>
          </a:xfrm>
          <a:prstGeom prst="rect">
            <a:avLst/>
          </a:prstGeom>
          <a:noFill/>
          <a:ln/>
        </p:spPr>
        <p:txBody>
          <a:bodyPr wrap="square" lIns="0" tIns="0" rIns="0" bIns="0" rtlCol="0" anchor="ctr"/>
          <a:lstStyle/>
          <a:p>
            <a:pPr indent="0" marL="0">
              <a:buNone/>
            </a:pPr>
            <a:r>
              <a:rPr lang="en-US" sz="2600" b="1" dirty="0">
                <a:solidFill>
                  <a:srgbClr val="B74A4A"/>
                </a:solidFill>
                <a:latin typeface="Georgia" pitchFamily="34" charset="0"/>
                <a:ea typeface="Georgia" pitchFamily="34" charset="-122"/>
                <a:cs typeface="Georgia" pitchFamily="34" charset="-120"/>
              </a:rPr>
              <a:t>−65%</a:t>
            </a:r>
            <a:endParaRPr lang="en-US" sz="2600" dirty="0"/>
          </a:p>
        </p:txBody>
      </p:sp>
      <p:sp>
        <p:nvSpPr>
          <p:cNvPr id="20" name="Text 18"/>
          <p:cNvSpPr/>
          <p:nvPr/>
        </p:nvSpPr>
        <p:spPr>
          <a:xfrm>
            <a:off x="6537960" y="2688336"/>
            <a:ext cx="219456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Vinho Verde (RVV)</a:t>
            </a:r>
            <a:endParaRPr lang="en-US" sz="1000" dirty="0"/>
          </a:p>
        </p:txBody>
      </p:sp>
      <p:sp>
        <p:nvSpPr>
          <p:cNvPr id="21" name="Text 19"/>
          <p:cNvSpPr/>
          <p:nvPr/>
        </p:nvSpPr>
        <p:spPr>
          <a:xfrm>
            <a:off x="6537960" y="2898648"/>
            <a:ext cx="2194560" cy="201168"/>
          </a:xfrm>
          <a:prstGeom prst="rect">
            <a:avLst/>
          </a:prstGeom>
          <a:noFill/>
          <a:ln/>
        </p:spPr>
        <p:txBody>
          <a:bodyPr wrap="square" lIns="0" tIns="0" rIns="0" bIns="0" rtlCol="0" anchor="ctr"/>
          <a:lstStyle/>
          <a:p>
            <a:pPr indent="0" marL="0">
              <a:buNone/>
            </a:pPr>
            <a:r>
              <a:rPr lang="en-US" sz="900" i="1" dirty="0">
                <a:solidFill>
                  <a:srgbClr val="9A8E8B"/>
                </a:solidFill>
                <a:latin typeface="Calibri" pitchFamily="34" charset="0"/>
                <a:ea typeface="Calibri" pitchFamily="34" charset="-122"/>
                <a:cs typeface="Calibri" pitchFamily="34" charset="-120"/>
              </a:rPr>
              <a:t>production decline</a:t>
            </a:r>
            <a:endParaRPr lang="en-US" sz="900" dirty="0"/>
          </a:p>
        </p:txBody>
      </p:sp>
      <p:sp>
        <p:nvSpPr>
          <p:cNvPr id="22" name="Shape 20"/>
          <p:cNvSpPr/>
          <p:nvPr/>
        </p:nvSpPr>
        <p:spPr>
          <a:xfrm>
            <a:off x="6400800" y="3383280"/>
            <a:ext cx="2377440" cy="1005840"/>
          </a:xfrm>
          <a:prstGeom prst="rect">
            <a:avLst/>
          </a:prstGeom>
          <a:solidFill>
            <a:srgbClr val="1C1416"/>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23" name="Shape 21"/>
          <p:cNvSpPr/>
          <p:nvPr/>
        </p:nvSpPr>
        <p:spPr>
          <a:xfrm>
            <a:off x="6400800" y="3383280"/>
            <a:ext cx="54864" cy="1005840"/>
          </a:xfrm>
          <a:prstGeom prst="rect">
            <a:avLst/>
          </a:prstGeom>
          <a:solidFill>
            <a:srgbClr val="C4964A"/>
          </a:solidFill>
          <a:ln w="12700">
            <a:solidFill>
              <a:srgbClr val="C4964A"/>
            </a:solidFill>
            <a:prstDash val="solid"/>
          </a:ln>
        </p:spPr>
      </p:sp>
      <p:sp>
        <p:nvSpPr>
          <p:cNvPr id="24" name="Text 22"/>
          <p:cNvSpPr/>
          <p:nvPr/>
        </p:nvSpPr>
        <p:spPr>
          <a:xfrm>
            <a:off x="6537960" y="3438144"/>
            <a:ext cx="2194560" cy="475488"/>
          </a:xfrm>
          <a:prstGeom prst="rect">
            <a:avLst/>
          </a:prstGeom>
          <a:noFill/>
          <a:ln/>
        </p:spPr>
        <p:txBody>
          <a:bodyPr wrap="square" lIns="0" tIns="0" rIns="0" bIns="0" rtlCol="0" anchor="ctr"/>
          <a:lstStyle/>
          <a:p>
            <a:pPr indent="0" marL="0">
              <a:buNone/>
            </a:pPr>
            <a:r>
              <a:rPr lang="en-US" sz="2600" b="1" dirty="0">
                <a:solidFill>
                  <a:srgbClr val="C4964A"/>
                </a:solidFill>
                <a:latin typeface="Georgia" pitchFamily="34" charset="0"/>
                <a:ea typeface="Georgia" pitchFamily="34" charset="-122"/>
                <a:cs typeface="Georgia" pitchFamily="34" charset="-120"/>
              </a:rPr>
              <a:t>89 yrs</a:t>
            </a:r>
            <a:endParaRPr lang="en-US" sz="2600" dirty="0"/>
          </a:p>
        </p:txBody>
      </p:sp>
      <p:sp>
        <p:nvSpPr>
          <p:cNvPr id="25" name="Text 23"/>
          <p:cNvSpPr/>
          <p:nvPr/>
        </p:nvSpPr>
        <p:spPr>
          <a:xfrm>
            <a:off x="6537960" y="3877056"/>
            <a:ext cx="219456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Study period</a:t>
            </a:r>
            <a:endParaRPr lang="en-US" sz="1000" dirty="0"/>
          </a:p>
        </p:txBody>
      </p:sp>
      <p:sp>
        <p:nvSpPr>
          <p:cNvPr id="26" name="Text 24"/>
          <p:cNvSpPr/>
          <p:nvPr/>
        </p:nvSpPr>
        <p:spPr>
          <a:xfrm>
            <a:off x="6537960" y="4087368"/>
            <a:ext cx="2194560" cy="201168"/>
          </a:xfrm>
          <a:prstGeom prst="rect">
            <a:avLst/>
          </a:prstGeom>
          <a:noFill/>
          <a:ln/>
        </p:spPr>
        <p:txBody>
          <a:bodyPr wrap="square" lIns="0" tIns="0" rIns="0" bIns="0" rtlCol="0" anchor="ctr"/>
          <a:lstStyle/>
          <a:p>
            <a:pPr indent="0" marL="0">
              <a:buNone/>
            </a:pPr>
            <a:r>
              <a:rPr lang="en-US" sz="900" i="1" dirty="0">
                <a:solidFill>
                  <a:srgbClr val="9A8E8B"/>
                </a:solidFill>
                <a:latin typeface="Calibri" pitchFamily="34" charset="0"/>
                <a:ea typeface="Calibri" pitchFamily="34" charset="-122"/>
                <a:cs typeface="Calibri" pitchFamily="34" charset="-120"/>
              </a:rPr>
              <a:t>1934–2022</a:t>
            </a:r>
            <a:endParaRPr lang="en-US" sz="9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2EA"/>
        </a:solidFill>
        <a:effectLst/>
      </p:bgPr>
    </p:bg>
    <p:spTree>
      <p:nvGrpSpPr>
        <p:cNvPr id="1" name=""/>
        <p:cNvGrpSpPr/>
        <p:nvPr/>
      </p:nvGrpSpPr>
      <p:grpSpPr/>
      <p:sp>
        <p:nvSpPr>
          <p:cNvPr id="2" name="Rectangle 1"/>
          <p:cNvSpPr/>
          <p:nvPr/>
        </p:nvSpPr>
        <p:spPr>
          <a:xfrm>
            <a:off x="0" y="0"/>
            <a:ext cx="9144000" cy="50800"/>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14300"/>
            <a:ext cx="8229600" cy="381000"/>
          </a:xfrm>
          <a:prstGeom prst="rect">
            <a:avLst/>
          </a:prstGeom>
          <a:noFill/>
        </p:spPr>
        <p:txBody>
          <a:bodyPr wrap="square">
            <a:spAutoFit/>
          </a:bodyPr>
          <a:lstStyle/>
          <a:p>
            <a:pPr algn="l"/>
            <a:r>
              <a:rPr sz="2400" b="1" i="0">
                <a:solidFill>
                  <a:srgbClr val="6B2737"/>
                </a:solidFill>
                <a:latin typeface="Georgia"/>
              </a:rPr>
              <a:t>The Business Context</a:t>
            </a:r>
          </a:p>
        </p:txBody>
      </p:sp>
      <p:sp>
        <p:nvSpPr>
          <p:cNvPr id="4" name="TextBox 3"/>
          <p:cNvSpPr txBox="1"/>
          <p:nvPr/>
        </p:nvSpPr>
        <p:spPr>
          <a:xfrm>
            <a:off x="457200" y="533400"/>
            <a:ext cx="8229600" cy="177800"/>
          </a:xfrm>
          <a:prstGeom prst="rect">
            <a:avLst/>
          </a:prstGeom>
          <a:noFill/>
        </p:spPr>
        <p:txBody>
          <a:bodyPr wrap="square">
            <a:spAutoFit/>
          </a:bodyPr>
          <a:lstStyle/>
          <a:p>
            <a:pPr algn="l"/>
            <a:r>
              <a:rPr sz="1000" b="0" i="1">
                <a:solidFill>
                  <a:srgbClr val="5A4042"/>
                </a:solidFill>
                <a:latin typeface="Calibri"/>
              </a:rPr>
              <a:t>From industry challenge to research question</a:t>
            </a:r>
          </a:p>
        </p:txBody>
      </p:sp>
      <p:sp>
        <p:nvSpPr>
          <p:cNvPr id="5" name="Rectangle 4"/>
          <p:cNvSpPr/>
          <p:nvPr/>
        </p:nvSpPr>
        <p:spPr>
          <a:xfrm>
            <a:off x="457200" y="736600"/>
            <a:ext cx="8229600" cy="127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812800"/>
            <a:ext cx="4127500" cy="203200"/>
          </a:xfrm>
          <a:prstGeom prst="rect">
            <a:avLst/>
          </a:prstGeom>
          <a:noFill/>
        </p:spPr>
        <p:txBody>
          <a:bodyPr wrap="square">
            <a:spAutoFit/>
          </a:bodyPr>
          <a:lstStyle/>
          <a:p>
            <a:pPr algn="l"/>
            <a:r>
              <a:rPr sz="1100" b="1" i="0">
                <a:solidFill>
                  <a:srgbClr val="6B2737"/>
                </a:solidFill>
                <a:latin typeface="Georgia"/>
              </a:rPr>
              <a:t>The Agro-Economic Setting</a:t>
            </a:r>
          </a:p>
        </p:txBody>
      </p:sp>
      <p:sp>
        <p:nvSpPr>
          <p:cNvPr id="7" name="Rectangle 6"/>
          <p:cNvSpPr/>
          <p:nvPr/>
        </p:nvSpPr>
        <p:spPr>
          <a:xfrm>
            <a:off x="457200" y="1054100"/>
            <a:ext cx="1333500" cy="6985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66800"/>
            <a:ext cx="1333500" cy="279400"/>
          </a:xfrm>
          <a:prstGeom prst="rect">
            <a:avLst/>
          </a:prstGeom>
          <a:noFill/>
        </p:spPr>
        <p:txBody>
          <a:bodyPr wrap="square">
            <a:spAutoFit/>
          </a:bodyPr>
          <a:lstStyle/>
          <a:p>
            <a:pPr algn="ctr"/>
            <a:r>
              <a:rPr sz="1100" b="1" i="0">
                <a:solidFill>
                  <a:srgbClr val="C4964A"/>
                </a:solidFill>
                <a:latin typeface="Georgia"/>
              </a:rPr>
              <a:t>~6M hl/yr</a:t>
            </a:r>
          </a:p>
        </p:txBody>
      </p:sp>
      <p:sp>
        <p:nvSpPr>
          <p:cNvPr id="9" name="TextBox 8"/>
          <p:cNvSpPr txBox="1"/>
          <p:nvPr/>
        </p:nvSpPr>
        <p:spPr>
          <a:xfrm>
            <a:off x="457200" y="1333500"/>
            <a:ext cx="1333500" cy="406400"/>
          </a:xfrm>
          <a:prstGeom prst="rect">
            <a:avLst/>
          </a:prstGeom>
          <a:noFill/>
        </p:spPr>
        <p:txBody>
          <a:bodyPr wrap="square">
            <a:spAutoFit/>
          </a:bodyPr>
          <a:lstStyle/>
          <a:p>
            <a:pPr algn="ctr"/>
            <a:r>
              <a:rPr sz="700" b="0" i="0">
                <a:solidFill>
                  <a:srgbClr val="F8F2EA"/>
                </a:solidFill>
                <a:latin typeface="Calibri"/>
              </a:rPr>
              <a:t>Portuguese wine
production</a:t>
            </a:r>
          </a:p>
        </p:txBody>
      </p:sp>
      <p:sp>
        <p:nvSpPr>
          <p:cNvPr id="10" name="Rectangle 9"/>
          <p:cNvSpPr/>
          <p:nvPr/>
        </p:nvSpPr>
        <p:spPr>
          <a:xfrm>
            <a:off x="1841500" y="1054100"/>
            <a:ext cx="1333500" cy="6985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41500" y="1066800"/>
            <a:ext cx="1333500" cy="279400"/>
          </a:xfrm>
          <a:prstGeom prst="rect">
            <a:avLst/>
          </a:prstGeom>
          <a:noFill/>
        </p:spPr>
        <p:txBody>
          <a:bodyPr wrap="square">
            <a:spAutoFit/>
          </a:bodyPr>
          <a:lstStyle/>
          <a:p>
            <a:pPr algn="ctr"/>
            <a:r>
              <a:rPr sz="1100" b="1" i="0">
                <a:solidFill>
                  <a:srgbClr val="C4964A"/>
                </a:solidFill>
                <a:latin typeface="Georgia"/>
              </a:rPr>
              <a:t>89 yrs</a:t>
            </a:r>
          </a:p>
        </p:txBody>
      </p:sp>
      <p:sp>
        <p:nvSpPr>
          <p:cNvPr id="12" name="TextBox 11"/>
          <p:cNvSpPr txBox="1"/>
          <p:nvPr/>
        </p:nvSpPr>
        <p:spPr>
          <a:xfrm>
            <a:off x="1841500" y="1333500"/>
            <a:ext cx="1333500" cy="406400"/>
          </a:xfrm>
          <a:prstGeom prst="rect">
            <a:avLst/>
          </a:prstGeom>
          <a:noFill/>
        </p:spPr>
        <p:txBody>
          <a:bodyPr wrap="square">
            <a:spAutoFit/>
          </a:bodyPr>
          <a:lstStyle/>
          <a:p>
            <a:pPr algn="ctr"/>
            <a:r>
              <a:rPr sz="700" b="0" i="0">
                <a:solidFill>
                  <a:srgbClr val="F8F2EA"/>
                </a:solidFill>
                <a:latin typeface="Calibri"/>
              </a:rPr>
              <a:t>Historical records
Douro</a:t>
            </a:r>
          </a:p>
        </p:txBody>
      </p:sp>
      <p:sp>
        <p:nvSpPr>
          <p:cNvPr id="13" name="Rectangle 12"/>
          <p:cNvSpPr/>
          <p:nvPr/>
        </p:nvSpPr>
        <p:spPr>
          <a:xfrm>
            <a:off x="3225800" y="1054100"/>
            <a:ext cx="1333500" cy="6985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5800" y="1066800"/>
            <a:ext cx="1333500" cy="279400"/>
          </a:xfrm>
          <a:prstGeom prst="rect">
            <a:avLst/>
          </a:prstGeom>
          <a:noFill/>
        </p:spPr>
        <p:txBody>
          <a:bodyPr wrap="square">
            <a:spAutoFit/>
          </a:bodyPr>
          <a:lstStyle/>
          <a:p>
            <a:pPr algn="ctr"/>
            <a:r>
              <a:rPr sz="1100" b="1" i="0">
                <a:solidFill>
                  <a:srgbClr val="C4964A"/>
                </a:solidFill>
                <a:latin typeface="Georgia"/>
              </a:rPr>
              <a:t>±30%</a:t>
            </a:r>
          </a:p>
        </p:txBody>
      </p:sp>
      <p:sp>
        <p:nvSpPr>
          <p:cNvPr id="15" name="TextBox 14"/>
          <p:cNvSpPr txBox="1"/>
          <p:nvPr/>
        </p:nvSpPr>
        <p:spPr>
          <a:xfrm>
            <a:off x="3225800" y="1333500"/>
            <a:ext cx="1333500" cy="406400"/>
          </a:xfrm>
          <a:prstGeom prst="rect">
            <a:avLst/>
          </a:prstGeom>
          <a:noFill/>
        </p:spPr>
        <p:txBody>
          <a:bodyPr wrap="square">
            <a:spAutoFit/>
          </a:bodyPr>
          <a:lstStyle/>
          <a:p>
            <a:pPr algn="ctr"/>
            <a:r>
              <a:rPr sz="700" b="0" i="0">
                <a:solidFill>
                  <a:srgbClr val="F8F2EA"/>
                </a:solidFill>
                <a:latin typeface="Calibri"/>
              </a:rPr>
              <a:t>Year-on-year
volatility</a:t>
            </a:r>
          </a:p>
        </p:txBody>
      </p:sp>
      <p:sp>
        <p:nvSpPr>
          <p:cNvPr id="16" name="TextBox 15"/>
          <p:cNvSpPr txBox="1"/>
          <p:nvPr/>
        </p:nvSpPr>
        <p:spPr>
          <a:xfrm>
            <a:off x="457200" y="1841500"/>
            <a:ext cx="4127500" cy="177800"/>
          </a:xfrm>
          <a:prstGeom prst="rect">
            <a:avLst/>
          </a:prstGeom>
          <a:noFill/>
        </p:spPr>
        <p:txBody>
          <a:bodyPr wrap="square">
            <a:spAutoFit/>
          </a:bodyPr>
          <a:lstStyle/>
          <a:p>
            <a:pPr algn="l"/>
            <a:r>
              <a:rPr sz="1000" b="1" i="0">
                <a:solidFill>
                  <a:srgbClr val="2A7F7F"/>
                </a:solidFill>
                <a:latin typeface="Calibri"/>
              </a:rPr>
              <a:t>Who needs production forecasts?</a:t>
            </a:r>
          </a:p>
        </p:txBody>
      </p:sp>
      <p:sp>
        <p:nvSpPr>
          <p:cNvPr id="17" name="Rectangle 16"/>
          <p:cNvSpPr/>
          <p:nvPr/>
        </p:nvSpPr>
        <p:spPr>
          <a:xfrm>
            <a:off x="457200" y="2070100"/>
            <a:ext cx="38100" cy="431800"/>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6100" y="2082800"/>
            <a:ext cx="4000500" cy="177800"/>
          </a:xfrm>
          <a:prstGeom prst="rect">
            <a:avLst/>
          </a:prstGeom>
          <a:noFill/>
        </p:spPr>
        <p:txBody>
          <a:bodyPr wrap="square">
            <a:spAutoFit/>
          </a:bodyPr>
          <a:lstStyle/>
          <a:p>
            <a:pPr algn="l"/>
            <a:r>
              <a:rPr sz="900" b="1" i="0">
                <a:solidFill>
                  <a:srgbClr val="1C1214"/>
                </a:solidFill>
                <a:latin typeface="Calibri"/>
              </a:rPr>
              <a:t>Wine cooperatives &amp; bottlers</a:t>
            </a:r>
          </a:p>
        </p:txBody>
      </p:sp>
      <p:sp>
        <p:nvSpPr>
          <p:cNvPr id="19" name="TextBox 18"/>
          <p:cNvSpPr txBox="1"/>
          <p:nvPr/>
        </p:nvSpPr>
        <p:spPr>
          <a:xfrm>
            <a:off x="546100" y="2273300"/>
            <a:ext cx="4000500" cy="177800"/>
          </a:xfrm>
          <a:prstGeom prst="rect">
            <a:avLst/>
          </a:prstGeom>
          <a:noFill/>
        </p:spPr>
        <p:txBody>
          <a:bodyPr wrap="square">
            <a:spAutoFit/>
          </a:bodyPr>
          <a:lstStyle/>
          <a:p>
            <a:pPr algn="l"/>
            <a:r>
              <a:rPr sz="800" b="0" i="0">
                <a:solidFill>
                  <a:srgbClr val="9A8E8B"/>
                </a:solidFill>
                <a:latin typeface="Calibri"/>
              </a:rPr>
              <a:t>Harvest logistics, pricing, storage planning</a:t>
            </a:r>
          </a:p>
        </p:txBody>
      </p:sp>
      <p:sp>
        <p:nvSpPr>
          <p:cNvPr id="20" name="Rectangle 19"/>
          <p:cNvSpPr/>
          <p:nvPr/>
        </p:nvSpPr>
        <p:spPr>
          <a:xfrm>
            <a:off x="457200" y="2603500"/>
            <a:ext cx="38100" cy="431800"/>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6100" y="2616200"/>
            <a:ext cx="4000500" cy="177800"/>
          </a:xfrm>
          <a:prstGeom prst="rect">
            <a:avLst/>
          </a:prstGeom>
          <a:noFill/>
        </p:spPr>
        <p:txBody>
          <a:bodyPr wrap="square">
            <a:spAutoFit/>
          </a:bodyPr>
          <a:lstStyle/>
          <a:p>
            <a:pPr algn="l"/>
            <a:r>
              <a:rPr sz="900" b="1" i="0">
                <a:solidFill>
                  <a:srgbClr val="1C1214"/>
                </a:solidFill>
                <a:latin typeface="Calibri"/>
              </a:rPr>
              <a:t>IVDP / CVRVV regulatory bodies</a:t>
            </a:r>
          </a:p>
        </p:txBody>
      </p:sp>
      <p:sp>
        <p:nvSpPr>
          <p:cNvPr id="22" name="TextBox 21"/>
          <p:cNvSpPr txBox="1"/>
          <p:nvPr/>
        </p:nvSpPr>
        <p:spPr>
          <a:xfrm>
            <a:off x="546100" y="2806700"/>
            <a:ext cx="4000500" cy="177800"/>
          </a:xfrm>
          <a:prstGeom prst="rect">
            <a:avLst/>
          </a:prstGeom>
          <a:noFill/>
        </p:spPr>
        <p:txBody>
          <a:bodyPr wrap="square">
            <a:spAutoFit/>
          </a:bodyPr>
          <a:lstStyle/>
          <a:p>
            <a:pPr algn="l"/>
            <a:r>
              <a:rPr sz="800" b="0" i="0">
                <a:solidFill>
                  <a:srgbClr val="9A8E8B"/>
                </a:solidFill>
                <a:latin typeface="Calibri"/>
              </a:rPr>
              <a:t>EU quota compliance, certification volumes</a:t>
            </a:r>
          </a:p>
        </p:txBody>
      </p:sp>
      <p:sp>
        <p:nvSpPr>
          <p:cNvPr id="23" name="Rectangle 22"/>
          <p:cNvSpPr/>
          <p:nvPr/>
        </p:nvSpPr>
        <p:spPr>
          <a:xfrm>
            <a:off x="457200" y="3136900"/>
            <a:ext cx="38100" cy="431800"/>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6100" y="3149600"/>
            <a:ext cx="4000500" cy="177800"/>
          </a:xfrm>
          <a:prstGeom prst="rect">
            <a:avLst/>
          </a:prstGeom>
          <a:noFill/>
        </p:spPr>
        <p:txBody>
          <a:bodyPr wrap="square">
            <a:spAutoFit/>
          </a:bodyPr>
          <a:lstStyle/>
          <a:p>
            <a:pPr algn="l"/>
            <a:r>
              <a:rPr sz="900" b="1" i="0">
                <a:solidFill>
                  <a:srgbClr val="1C1214"/>
                </a:solidFill>
                <a:latin typeface="Calibri"/>
              </a:rPr>
              <a:t>Insurance &amp; financial sector</a:t>
            </a:r>
          </a:p>
        </p:txBody>
      </p:sp>
      <p:sp>
        <p:nvSpPr>
          <p:cNvPr id="25" name="TextBox 24"/>
          <p:cNvSpPr txBox="1"/>
          <p:nvPr/>
        </p:nvSpPr>
        <p:spPr>
          <a:xfrm>
            <a:off x="546100" y="3340100"/>
            <a:ext cx="4000500" cy="177800"/>
          </a:xfrm>
          <a:prstGeom prst="rect">
            <a:avLst/>
          </a:prstGeom>
          <a:noFill/>
        </p:spPr>
        <p:txBody>
          <a:bodyPr wrap="square">
            <a:spAutoFit/>
          </a:bodyPr>
          <a:lstStyle/>
          <a:p>
            <a:pPr algn="l"/>
            <a:r>
              <a:rPr sz="800" b="0" i="0">
                <a:solidFill>
                  <a:srgbClr val="9A8E8B"/>
                </a:solidFill>
                <a:latin typeface="Calibri"/>
              </a:rPr>
              <a:t>Crop risk modelling, yield derivatives</a:t>
            </a:r>
          </a:p>
        </p:txBody>
      </p:sp>
      <p:sp>
        <p:nvSpPr>
          <p:cNvPr id="26" name="Rectangle 25"/>
          <p:cNvSpPr/>
          <p:nvPr/>
        </p:nvSpPr>
        <p:spPr>
          <a:xfrm>
            <a:off x="457200" y="3670300"/>
            <a:ext cx="38100" cy="431800"/>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6100" y="3683000"/>
            <a:ext cx="4000500" cy="177800"/>
          </a:xfrm>
          <a:prstGeom prst="rect">
            <a:avLst/>
          </a:prstGeom>
          <a:noFill/>
        </p:spPr>
        <p:txBody>
          <a:bodyPr wrap="square">
            <a:spAutoFit/>
          </a:bodyPr>
          <a:lstStyle/>
          <a:p>
            <a:pPr algn="l"/>
            <a:r>
              <a:rPr sz="900" b="1" i="0">
                <a:solidFill>
                  <a:srgbClr val="1C1214"/>
                </a:solidFill>
                <a:latin typeface="Calibri"/>
              </a:rPr>
              <a:t>EU CAP policy bodies</a:t>
            </a:r>
          </a:p>
        </p:txBody>
      </p:sp>
      <p:sp>
        <p:nvSpPr>
          <p:cNvPr id="28" name="TextBox 27"/>
          <p:cNvSpPr txBox="1"/>
          <p:nvPr/>
        </p:nvSpPr>
        <p:spPr>
          <a:xfrm>
            <a:off x="546100" y="3873500"/>
            <a:ext cx="4000500" cy="177800"/>
          </a:xfrm>
          <a:prstGeom prst="rect">
            <a:avLst/>
          </a:prstGeom>
          <a:noFill/>
        </p:spPr>
        <p:txBody>
          <a:bodyPr wrap="square">
            <a:spAutoFit/>
          </a:bodyPr>
          <a:lstStyle/>
          <a:p>
            <a:pPr algn="l"/>
            <a:r>
              <a:rPr sz="800" b="0" i="0">
                <a:solidFill>
                  <a:srgbClr val="9A8E8B"/>
                </a:solidFill>
                <a:latin typeface="Calibri"/>
              </a:rPr>
              <a:t>Annual support payments, market interventions</a:t>
            </a:r>
          </a:p>
        </p:txBody>
      </p:sp>
      <p:sp>
        <p:nvSpPr>
          <p:cNvPr id="29" name="TextBox 28"/>
          <p:cNvSpPr txBox="1"/>
          <p:nvPr/>
        </p:nvSpPr>
        <p:spPr>
          <a:xfrm>
            <a:off x="4660900" y="812800"/>
            <a:ext cx="4025900" cy="203200"/>
          </a:xfrm>
          <a:prstGeom prst="rect">
            <a:avLst/>
          </a:prstGeom>
          <a:noFill/>
        </p:spPr>
        <p:txBody>
          <a:bodyPr wrap="square">
            <a:spAutoFit/>
          </a:bodyPr>
          <a:lstStyle/>
          <a:p>
            <a:pPr algn="l"/>
            <a:r>
              <a:rPr sz="1100" b="1" i="0">
                <a:solidFill>
                  <a:srgbClr val="6B2737"/>
                </a:solidFill>
                <a:latin typeface="Georgia"/>
              </a:rPr>
              <a:t>The Interpretability Gap</a:t>
            </a:r>
          </a:p>
        </p:txBody>
      </p:sp>
      <p:sp>
        <p:nvSpPr>
          <p:cNvPr id="30" name="Rectangle 29"/>
          <p:cNvSpPr/>
          <p:nvPr/>
        </p:nvSpPr>
        <p:spPr>
          <a:xfrm>
            <a:off x="4660900" y="1054100"/>
            <a:ext cx="4025900" cy="812800"/>
          </a:xfrm>
          <a:prstGeom prst="rect">
            <a:avLst/>
          </a:prstGeom>
          <a:solidFill>
            <a:srgbClr val="E8D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60900" y="1054100"/>
            <a:ext cx="38100"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62500" y="1104900"/>
            <a:ext cx="3873500" cy="177800"/>
          </a:xfrm>
          <a:prstGeom prst="rect">
            <a:avLst/>
          </a:prstGeom>
          <a:noFill/>
        </p:spPr>
        <p:txBody>
          <a:bodyPr wrap="square">
            <a:spAutoFit/>
          </a:bodyPr>
          <a:lstStyle/>
          <a:p>
            <a:pPr algn="l"/>
            <a:r>
              <a:rPr sz="900" b="1" i="0">
                <a:solidFill>
                  <a:srgbClr val="1C1214"/>
                </a:solidFill>
                <a:latin typeface="Calibri"/>
              </a:rPr>
              <a:t>Statistical regression</a:t>
            </a:r>
          </a:p>
        </p:txBody>
      </p:sp>
      <p:sp>
        <p:nvSpPr>
          <p:cNvPr id="33" name="TextBox 32"/>
          <p:cNvSpPr txBox="1"/>
          <p:nvPr/>
        </p:nvSpPr>
        <p:spPr>
          <a:xfrm>
            <a:off x="4762500" y="1308100"/>
            <a:ext cx="1879600" cy="508000"/>
          </a:xfrm>
          <a:prstGeom prst="rect">
            <a:avLst/>
          </a:prstGeom>
          <a:noFill/>
        </p:spPr>
        <p:txBody>
          <a:bodyPr wrap="square">
            <a:spAutoFit/>
          </a:bodyPr>
          <a:lstStyle/>
          <a:p>
            <a:pPr algn="l"/>
            <a:r>
              <a:rPr sz="800" b="0" i="0">
                <a:solidFill>
                  <a:srgbClr val="2A7F7F"/>
                </a:solidFill>
                <a:latin typeface="Calibri"/>
              </a:rPr>
              <a:t>✓ Interpretable</a:t>
            </a:r>
          </a:p>
        </p:txBody>
      </p:sp>
      <p:sp>
        <p:nvSpPr>
          <p:cNvPr id="34" name="TextBox 33"/>
          <p:cNvSpPr txBox="1"/>
          <p:nvPr/>
        </p:nvSpPr>
        <p:spPr>
          <a:xfrm>
            <a:off x="6642100" y="1308100"/>
            <a:ext cx="2006600" cy="508000"/>
          </a:xfrm>
          <a:prstGeom prst="rect">
            <a:avLst/>
          </a:prstGeom>
          <a:noFill/>
        </p:spPr>
        <p:txBody>
          <a:bodyPr wrap="square">
            <a:spAutoFit/>
          </a:bodyPr>
          <a:lstStyle/>
          <a:p>
            <a:pPr algn="l"/>
            <a:r>
              <a:rPr sz="800" b="0" i="0">
                <a:solidFill>
                  <a:srgbClr val="8B2F2F"/>
                </a:solidFill>
                <a:latin typeface="Calibri"/>
              </a:rPr>
              <a:t>✗ Cannot model non-linear
climate interactions</a:t>
            </a:r>
          </a:p>
        </p:txBody>
      </p:sp>
      <p:sp>
        <p:nvSpPr>
          <p:cNvPr id="35" name="Rectangle 34"/>
          <p:cNvSpPr/>
          <p:nvPr/>
        </p:nvSpPr>
        <p:spPr>
          <a:xfrm>
            <a:off x="4660900" y="1968500"/>
            <a:ext cx="4025900" cy="812800"/>
          </a:xfrm>
          <a:prstGeom prst="rect">
            <a:avLst/>
          </a:prstGeom>
          <a:solidFill>
            <a:srgbClr val="E8D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60900" y="1968500"/>
            <a:ext cx="38100"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62500" y="2019300"/>
            <a:ext cx="3873500" cy="177800"/>
          </a:xfrm>
          <a:prstGeom prst="rect">
            <a:avLst/>
          </a:prstGeom>
          <a:noFill/>
        </p:spPr>
        <p:txBody>
          <a:bodyPr wrap="square">
            <a:spAutoFit/>
          </a:bodyPr>
          <a:lstStyle/>
          <a:p>
            <a:pPr algn="l"/>
            <a:r>
              <a:rPr sz="900" b="1" i="0">
                <a:solidFill>
                  <a:srgbClr val="1C1214"/>
                </a:solidFill>
                <a:latin typeface="Calibri"/>
              </a:rPr>
              <a:t>Modern ML  (RF / LSTM)</a:t>
            </a:r>
          </a:p>
        </p:txBody>
      </p:sp>
      <p:sp>
        <p:nvSpPr>
          <p:cNvPr id="38" name="TextBox 37"/>
          <p:cNvSpPr txBox="1"/>
          <p:nvPr/>
        </p:nvSpPr>
        <p:spPr>
          <a:xfrm>
            <a:off x="4762500" y="2222500"/>
            <a:ext cx="1879600" cy="508000"/>
          </a:xfrm>
          <a:prstGeom prst="rect">
            <a:avLst/>
          </a:prstGeom>
          <a:noFill/>
        </p:spPr>
        <p:txBody>
          <a:bodyPr wrap="square">
            <a:spAutoFit/>
          </a:bodyPr>
          <a:lstStyle/>
          <a:p>
            <a:pPr algn="l"/>
            <a:r>
              <a:rPr sz="800" b="0" i="0">
                <a:solidFill>
                  <a:srgbClr val="2A7F7F"/>
                </a:solidFill>
                <a:latin typeface="Calibri"/>
              </a:rPr>
              <a:t>✓ Accurate</a:t>
            </a:r>
          </a:p>
        </p:txBody>
      </p:sp>
      <p:sp>
        <p:nvSpPr>
          <p:cNvPr id="39" name="TextBox 38"/>
          <p:cNvSpPr txBox="1"/>
          <p:nvPr/>
        </p:nvSpPr>
        <p:spPr>
          <a:xfrm>
            <a:off x="6642100" y="2222500"/>
            <a:ext cx="2006600" cy="508000"/>
          </a:xfrm>
          <a:prstGeom prst="rect">
            <a:avLst/>
          </a:prstGeom>
          <a:noFill/>
        </p:spPr>
        <p:txBody>
          <a:bodyPr wrap="square">
            <a:spAutoFit/>
          </a:bodyPr>
          <a:lstStyle/>
          <a:p>
            <a:pPr algn="l"/>
            <a:r>
              <a:rPr sz="800" b="0" i="0">
                <a:solidFill>
                  <a:srgbClr val="8B2F2F"/>
                </a:solidFill>
                <a:latin typeface="Calibri"/>
              </a:rPr>
              <a:t>✗ Black-box — cannot be
challenged by domain experts</a:t>
            </a:r>
          </a:p>
        </p:txBody>
      </p:sp>
      <p:sp>
        <p:nvSpPr>
          <p:cNvPr id="40" name="Rectangle 39"/>
          <p:cNvSpPr/>
          <p:nvPr/>
        </p:nvSpPr>
        <p:spPr>
          <a:xfrm>
            <a:off x="4660900" y="2882900"/>
            <a:ext cx="4025900" cy="812800"/>
          </a:xfrm>
          <a:prstGeom prst="rect">
            <a:avLst/>
          </a:prstGeom>
          <a:solidFill>
            <a:srgbClr val="E8D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660900" y="2882900"/>
            <a:ext cx="38100"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62500" y="2933700"/>
            <a:ext cx="3873500" cy="177800"/>
          </a:xfrm>
          <a:prstGeom prst="rect">
            <a:avLst/>
          </a:prstGeom>
          <a:noFill/>
        </p:spPr>
        <p:txBody>
          <a:bodyPr wrap="square">
            <a:spAutoFit/>
          </a:bodyPr>
          <a:lstStyle/>
          <a:p>
            <a:pPr algn="l"/>
            <a:r>
              <a:rPr sz="900" b="1" i="0">
                <a:solidFill>
                  <a:srgbClr val="1C1214"/>
                </a:solidFill>
                <a:latin typeface="Calibri"/>
              </a:rPr>
              <a:t>Expert agronomist rules</a:t>
            </a:r>
          </a:p>
        </p:txBody>
      </p:sp>
      <p:sp>
        <p:nvSpPr>
          <p:cNvPr id="43" name="TextBox 42"/>
          <p:cNvSpPr txBox="1"/>
          <p:nvPr/>
        </p:nvSpPr>
        <p:spPr>
          <a:xfrm>
            <a:off x="4762500" y="3136900"/>
            <a:ext cx="1879600" cy="508000"/>
          </a:xfrm>
          <a:prstGeom prst="rect">
            <a:avLst/>
          </a:prstGeom>
          <a:noFill/>
        </p:spPr>
        <p:txBody>
          <a:bodyPr wrap="square">
            <a:spAutoFit/>
          </a:bodyPr>
          <a:lstStyle/>
          <a:p>
            <a:pPr algn="l"/>
            <a:r>
              <a:rPr sz="800" b="0" i="0">
                <a:solidFill>
                  <a:srgbClr val="2A7F7F"/>
                </a:solidFill>
                <a:latin typeface="Calibri"/>
              </a:rPr>
              <a:t>✓ Readable</a:t>
            </a:r>
          </a:p>
        </p:txBody>
      </p:sp>
      <p:sp>
        <p:nvSpPr>
          <p:cNvPr id="44" name="TextBox 43"/>
          <p:cNvSpPr txBox="1"/>
          <p:nvPr/>
        </p:nvSpPr>
        <p:spPr>
          <a:xfrm>
            <a:off x="6642100" y="3136900"/>
            <a:ext cx="2006600" cy="508000"/>
          </a:xfrm>
          <a:prstGeom prst="rect">
            <a:avLst/>
          </a:prstGeom>
          <a:noFill/>
        </p:spPr>
        <p:txBody>
          <a:bodyPr wrap="square">
            <a:spAutoFit/>
          </a:bodyPr>
          <a:lstStyle/>
          <a:p>
            <a:pPr algn="l"/>
            <a:r>
              <a:rPr sz="800" b="0" i="0">
                <a:solidFill>
                  <a:srgbClr val="8B2F2F"/>
                </a:solidFill>
                <a:latin typeface="Calibri"/>
              </a:rPr>
              <a:t>✗ Not statistically validated;
poor out-of-sample performance</a:t>
            </a:r>
          </a:p>
        </p:txBody>
      </p:sp>
      <p:sp>
        <p:nvSpPr>
          <p:cNvPr id="45" name="Rectangle 44"/>
          <p:cNvSpPr/>
          <p:nvPr/>
        </p:nvSpPr>
        <p:spPr>
          <a:xfrm>
            <a:off x="457200" y="3873500"/>
            <a:ext cx="8229600" cy="7874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24300"/>
            <a:ext cx="8229600" cy="228600"/>
          </a:xfrm>
          <a:prstGeom prst="rect">
            <a:avLst/>
          </a:prstGeom>
          <a:noFill/>
        </p:spPr>
        <p:txBody>
          <a:bodyPr wrap="square">
            <a:spAutoFit/>
          </a:bodyPr>
          <a:lstStyle/>
          <a:p>
            <a:pPr algn="ctr"/>
            <a:r>
              <a:rPr sz="900" b="1" i="0">
                <a:solidFill>
                  <a:srgbClr val="C4964A"/>
                </a:solidFill>
                <a:latin typeface="Calibri"/>
              </a:rPr>
              <a:t>What the field needs: rules that are  statistically grounded  ·  readable by agronomists  ·  validated on decades of data</a:t>
            </a:r>
          </a:p>
        </p:txBody>
      </p:sp>
      <p:sp>
        <p:nvSpPr>
          <p:cNvPr id="47" name="TextBox 46"/>
          <p:cNvSpPr txBox="1"/>
          <p:nvPr/>
        </p:nvSpPr>
        <p:spPr>
          <a:xfrm>
            <a:off x="457200" y="4178300"/>
            <a:ext cx="8229600" cy="228600"/>
          </a:xfrm>
          <a:prstGeom prst="rect">
            <a:avLst/>
          </a:prstGeom>
          <a:noFill/>
        </p:spPr>
        <p:txBody>
          <a:bodyPr wrap="square">
            <a:spAutoFit/>
          </a:bodyPr>
          <a:lstStyle/>
          <a:p>
            <a:pPr algn="ctr"/>
            <a:r>
              <a:rPr sz="900" b="0" i="1">
                <a:solidFill>
                  <a:srgbClr val="F8F2EA"/>
                </a:solidFill>
                <a:latin typeface="Calibri"/>
              </a:rPr>
              <a:t>→  CarenR's distributional (KS-test) rule induction is the first method to satisfy all three requirements simultaneously</a:t>
            </a:r>
          </a:p>
        </p:txBody>
      </p:sp>
      <p:sp>
        <p:nvSpPr>
          <p:cNvPr id="48" name="TextBox 47"/>
          <p:cNvSpPr txBox="1"/>
          <p:nvPr/>
        </p:nvSpPr>
        <p:spPr>
          <a:xfrm>
            <a:off x="457200" y="4432300"/>
            <a:ext cx="8229600" cy="203200"/>
          </a:xfrm>
          <a:prstGeom prst="rect">
            <a:avLst/>
          </a:prstGeom>
          <a:noFill/>
        </p:spPr>
        <p:txBody>
          <a:bodyPr wrap="square">
            <a:spAutoFit/>
          </a:bodyPr>
          <a:lstStyle/>
          <a:p>
            <a:pPr algn="ctr"/>
            <a:r>
              <a:rPr sz="800" b="0" i="1">
                <a:solidFill>
                  <a:srgbClr val="FFDDAA"/>
                </a:solidFill>
                <a:latin typeface="Calibri"/>
              </a:rPr>
              <a:t>→  Applied here to 89 years of Douro and 80 years of Vinho Verde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2EA"/>
        </a:solidFill>
      </p:bgPr>
    </p:bg>
    <p:spTree>
      <p:nvGrpSpPr>
        <p:cNvPr id="1" name=""/>
        <p:cNvGrpSpPr/>
        <p:nvPr/>
      </p:nvGrpSpPr>
      <p:grpSpPr>
        <a:xfrm>
          <a:off x="0" y="0"/>
          <a:ext cx="0" cy="0"/>
          <a:chOff x="0" y="0"/>
          <a:chExt cx="0" cy="0"/>
        </a:xfrm>
      </p:grpSpPr>
      <p:sp>
        <p:nvSpPr>
          <p:cNvPr id="2" name="Shape 0"/>
          <p:cNvSpPr/>
          <p:nvPr/>
        </p:nvSpPr>
        <p:spPr>
          <a:xfrm>
            <a:off x="0" y="0"/>
            <a:ext cx="9144000" cy="59436"/>
          </a:xfrm>
          <a:prstGeom prst="rect">
            <a:avLst/>
          </a:prstGeom>
          <a:solidFill>
            <a:srgbClr val="C4964A"/>
          </a:solidFill>
          <a:ln w="12700">
            <a:solidFill>
              <a:srgbClr val="C4964A"/>
            </a:solidFill>
            <a:prstDash val="solid"/>
          </a:ln>
        </p:spPr>
      </p:sp>
      <p:sp>
        <p:nvSpPr>
          <p:cNvPr id="3" name="Text 1"/>
          <p:cNvSpPr/>
          <p:nvPr/>
        </p:nvSpPr>
        <p:spPr>
          <a:xfrm>
            <a:off x="411480" y="109728"/>
            <a:ext cx="8321040" cy="530352"/>
          </a:xfrm>
          <a:prstGeom prst="rect">
            <a:avLst/>
          </a:prstGeom>
          <a:noFill/>
          <a:ln/>
        </p:spPr>
        <p:txBody>
          <a:bodyPr wrap="square" lIns="0" tIns="0" rIns="0" bIns="0" rtlCol="0" anchor="ctr"/>
          <a:lstStyle/>
          <a:p>
            <a:pPr algn="l" indent="0" marL="0">
              <a:buNone/>
            </a:pPr>
            <a:r>
              <a:rPr lang="en-US" sz="2600" b="1" dirty="0">
                <a:solidFill>
                  <a:srgbClr val="6B2737"/>
                </a:solidFill>
                <a:latin typeface="Georgia" pitchFamily="34" charset="0"/>
                <a:ea typeface="Georgia" pitchFamily="34" charset="-122"/>
                <a:cs typeface="Georgia" pitchFamily="34" charset="-120"/>
              </a:rPr>
              <a:t>The Research Problem</a:t>
            </a:r>
            <a:endParaRPr lang="en-US" sz="2600" dirty="0"/>
          </a:p>
        </p:txBody>
      </p:sp>
      <p:sp>
        <p:nvSpPr>
          <p:cNvPr id="4" name="Text 2"/>
          <p:cNvSpPr/>
          <p:nvPr/>
        </p:nvSpPr>
        <p:spPr>
          <a:xfrm>
            <a:off x="411480" y="621792"/>
            <a:ext cx="8321040" cy="256032"/>
          </a:xfrm>
          <a:prstGeom prst="rect">
            <a:avLst/>
          </a:prstGeom>
          <a:noFill/>
          <a:ln/>
        </p:spPr>
        <p:txBody>
          <a:bodyPr wrap="square" lIns="0" tIns="0" rIns="0" bIns="0" rtlCol="0" anchor="ctr"/>
          <a:lstStyle/>
          <a:p>
            <a:pPr algn="l" indent="0" marL="0">
              <a:buNone/>
            </a:pPr>
            <a:r>
              <a:rPr lang="en-US" sz="1200" i="1" dirty="0">
                <a:solidFill>
                  <a:srgbClr val="5A4042"/>
                </a:solidFill>
                <a:latin typeface="Calibri" pitchFamily="34" charset="0"/>
                <a:ea typeface="Calibri" pitchFamily="34" charset="-122"/>
                <a:cs typeface="Calibri" pitchFamily="34" charset="-120"/>
              </a:rPr>
              <a:t>Why interpretable rules — not black-box models — matter here</a:t>
            </a:r>
            <a:endParaRPr lang="en-US" sz="1200" dirty="0"/>
          </a:p>
        </p:txBody>
      </p:sp>
      <p:sp>
        <p:nvSpPr>
          <p:cNvPr id="5" name="Shape 3"/>
          <p:cNvSpPr/>
          <p:nvPr/>
        </p:nvSpPr>
        <p:spPr>
          <a:xfrm>
            <a:off x="411480" y="877824"/>
            <a:ext cx="8321040" cy="0"/>
          </a:xfrm>
          <a:prstGeom prst="line">
            <a:avLst/>
          </a:prstGeom>
          <a:noFill/>
          <a:ln w="12700">
            <a:solidFill>
              <a:srgbClr val="D4CACA"/>
            </a:solidFill>
            <a:prstDash val="solid"/>
          </a:ln>
        </p:spPr>
      </p:sp>
      <p:sp>
        <p:nvSpPr>
          <p:cNvPr id="6" name="Text 4"/>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2 / 12</a:t>
            </a:r>
            <a:endParaRPr lang="en-US" sz="900" dirty="0"/>
          </a:p>
        </p:txBody>
      </p:sp>
      <p:sp>
        <p:nvSpPr>
          <p:cNvPr id="7" name="Shape 5"/>
          <p:cNvSpPr/>
          <p:nvPr/>
        </p:nvSpPr>
        <p:spPr>
          <a:xfrm>
            <a:off x="411480" y="1005840"/>
            <a:ext cx="4114800" cy="1371600"/>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11480" y="1005840"/>
            <a:ext cx="54864" cy="1371600"/>
          </a:xfrm>
          <a:prstGeom prst="rect">
            <a:avLst/>
          </a:prstGeom>
          <a:solidFill>
            <a:srgbClr val="6B2737"/>
          </a:solidFill>
          <a:ln w="12700">
            <a:solidFill>
              <a:srgbClr val="6B2737"/>
            </a:solidFill>
            <a:prstDash val="solid"/>
          </a:ln>
        </p:spPr>
      </p:sp>
      <p:sp>
        <p:nvSpPr>
          <p:cNvPr id="9" name="Text 7"/>
          <p:cNvSpPr/>
          <p:nvPr/>
        </p:nvSpPr>
        <p:spPr>
          <a:xfrm>
            <a:off x="566928" y="1042416"/>
            <a:ext cx="3840480" cy="274320"/>
          </a:xfrm>
          <a:prstGeom prst="rect">
            <a:avLst/>
          </a:prstGeom>
          <a:noFill/>
          <a:ln/>
        </p:spPr>
        <p:txBody>
          <a:bodyPr wrap="square" lIns="0" tIns="0" rIns="0" bIns="0" rtlCol="0" anchor="ctr"/>
          <a:lstStyle/>
          <a:p>
            <a:pPr indent="0" marL="0">
              <a:buNone/>
            </a:pPr>
            <a:r>
              <a:rPr lang="en-US" sz="1200" b="1" dirty="0">
                <a:solidFill>
                  <a:srgbClr val="6B2737"/>
                </a:solidFill>
                <a:latin typeface="Georgia" pitchFamily="34" charset="0"/>
                <a:ea typeface="Georgia" pitchFamily="34" charset="-122"/>
                <a:cs typeface="Georgia" pitchFamily="34" charset="-120"/>
              </a:rPr>
              <a:t>The gap</a:t>
            </a:r>
            <a:endParaRPr lang="en-US" sz="1200" dirty="0"/>
          </a:p>
        </p:txBody>
      </p:sp>
      <p:sp>
        <p:nvSpPr>
          <p:cNvPr id="10" name="Text 8"/>
          <p:cNvSpPr/>
          <p:nvPr/>
        </p:nvSpPr>
        <p:spPr>
          <a:xfrm>
            <a:off x="566928" y="1316736"/>
            <a:ext cx="3840480" cy="960120"/>
          </a:xfrm>
          <a:prstGeom prst="rect">
            <a:avLst/>
          </a:prstGeom>
          <a:noFill/>
          <a:ln/>
        </p:spPr>
        <p:txBody>
          <a:bodyPr wrap="square" lIns="0" tIns="0" rIns="0" bIns="0" rtlCol="0" anchor="ctr"/>
          <a:lstStyle/>
          <a:p>
            <a:pPr indent="0" marL="0">
              <a:buNone/>
            </a:pPr>
            <a:r>
              <a:rPr lang="en-US" sz="1200" dirty="0">
                <a:solidFill>
                  <a:srgbClr val="1C1214"/>
                </a:solidFill>
                <a:latin typeface="Calibri" pitchFamily="34" charset="0"/>
                <a:ea typeface="Calibri" pitchFamily="34" charset="-122"/>
                <a:cs typeface="Calibri" pitchFamily="34" charset="-120"/>
              </a:rPr>
              <a:t>Modern ML (RF, LSTM) predicts wine yield well — but cannot explain it. Agronomists, cooperatives, and policy bodies need readable, auditable rules.</a:t>
            </a:r>
            <a:endParaRPr lang="en-US" sz="1200" dirty="0"/>
          </a:p>
        </p:txBody>
      </p:sp>
      <p:sp>
        <p:nvSpPr>
          <p:cNvPr id="11" name="Shape 9"/>
          <p:cNvSpPr/>
          <p:nvPr/>
        </p:nvSpPr>
        <p:spPr>
          <a:xfrm>
            <a:off x="411480" y="2514600"/>
            <a:ext cx="4114800" cy="2331720"/>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2" name="Text 10"/>
          <p:cNvSpPr/>
          <p:nvPr/>
        </p:nvSpPr>
        <p:spPr>
          <a:xfrm>
            <a:off x="566928" y="2578608"/>
            <a:ext cx="3840480" cy="256032"/>
          </a:xfrm>
          <a:prstGeom prst="rect">
            <a:avLst/>
          </a:prstGeom>
          <a:noFill/>
          <a:ln/>
        </p:spPr>
        <p:txBody>
          <a:bodyPr wrap="square" lIns="0" tIns="0" rIns="0" bIns="0" rtlCol="0" anchor="ctr"/>
          <a:lstStyle/>
          <a:p>
            <a:pPr indent="0" marL="0">
              <a:buNone/>
            </a:pPr>
            <a:r>
              <a:rPr lang="en-US" sz="1100" b="1" dirty="0">
                <a:solidFill>
                  <a:srgbClr val="6B2737"/>
                </a:solidFill>
                <a:latin typeface="Calibri" pitchFamily="34" charset="0"/>
                <a:ea typeface="Calibri" pitchFamily="34" charset="-122"/>
                <a:cs typeface="Calibri" pitchFamily="34" charset="-120"/>
              </a:rPr>
              <a:t>No prior work combines all five properties:</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2852928"/>
          <a:ext cx="3840480" cy="914400"/>
        </p:xfrm>
        <a:graphic>
          <a:graphicData uri="http://schemas.openxmlformats.org/drawingml/2006/table">
            <a:tbl>
              <a:tblPr/>
              <a:tblGrid>
                <a:gridCol w="1737360"/>
                <a:gridCol w="685800"/>
                <a:gridCol w="685800"/>
                <a:gridCol w="731520"/>
              </a:tblGrid>
              <a:tr h="274320">
                <a:tc>
                  <a:txBody>
                    <a:bodyPr/>
                    <a:lstStyle/>
                    <a:p>
                      <a:pPr algn="l" indent="0" marL="0">
                        <a:buNone/>
                      </a:pPr>
                      <a:r>
                        <a:rPr lang="en-US" sz="900" b="1" dirty="0">
                          <a:solidFill>
                            <a:srgbClr val="6B2737"/>
                          </a:solidFill>
                        </a:rPr>
                        <a:t>Research stream</a:t>
                      </a:r>
                      <a:endParaRPr lang="en-US" sz="9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ctr" indent="0" marL="0">
                        <a:buNone/>
                      </a:pPr>
                      <a:r>
                        <a:rPr lang="en-US" sz="900" b="1" dirty="0">
                          <a:solidFill>
                            <a:srgbClr val="6B2737"/>
                          </a:solidFill>
                        </a:rPr>
                        <a:t>Interpretable</a:t>
                      </a:r>
                      <a:endParaRPr lang="en-US" sz="9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ctr" indent="0" marL="0">
                        <a:buNone/>
                      </a:pPr>
                      <a:r>
                        <a:rPr lang="en-US" sz="900" b="1" dirty="0">
                          <a:solidFill>
                            <a:srgbClr val="6B2737"/>
                          </a:solidFill>
                        </a:rPr>
                        <a:t>Long-term</a:t>
                      </a:r>
                      <a:endParaRPr lang="en-US" sz="9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ctr" indent="0" marL="0">
                        <a:buNone/>
                      </a:pPr>
                      <a:r>
                        <a:rPr lang="en-US" sz="900" b="1" dirty="0">
                          <a:solidFill>
                            <a:srgbClr val="6B2737"/>
                          </a:solidFill>
                        </a:rPr>
                        <a:t>Predictive val.</a:t>
                      </a:r>
                      <a:endParaRPr lang="en-US" sz="9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r>
              <a:tr h="274320">
                <a:tc>
                  <a:txBody>
                    <a:bodyPr/>
                    <a:lstStyle/>
                    <a:p>
                      <a:pPr algn="l" indent="0" marL="0">
                        <a:buNone/>
                      </a:pPr>
                      <a:r>
                        <a:rPr lang="en-US" sz="1000" dirty="0">
                          <a:solidFill>
                            <a:srgbClr val="1C1214"/>
                          </a:solidFill>
                        </a:rPr>
                        <a:t>Statistical regression</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algn="ctr" indent="0" marL="0">
                        <a:buNone/>
                      </a:pPr>
                      <a:r>
                        <a:rPr lang="en-US" sz="1000" dirty="0">
                          <a:solidFill>
                            <a:srgbClr val="1C1214"/>
                          </a:solidFill>
                        </a:rPr>
                        <a: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algn="ctr" indent="0" marL="0">
                        <a:buNone/>
                      </a:pPr>
                      <a:r>
                        <a:rPr lang="en-US" sz="1000" dirty="0">
                          <a:solidFill>
                            <a:srgbClr val="1C1214"/>
                          </a:solidFill>
                        </a:rPr>
                        <a: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algn="ctr" indent="0" marL="0">
                        <a:buNone/>
                      </a:pPr>
                      <a:r>
                        <a:rPr lang="en-US" sz="1000" dirty="0">
                          <a:solidFill>
                            <a:srgbClr val="1C1214"/>
                          </a:solidFill>
                        </a:rPr>
                        <a:t>Limited</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r>
              <a:tr h="274320">
                <a:tc>
                  <a:txBody>
                    <a:bodyPr/>
                    <a:lstStyle/>
                    <a:p>
                      <a:pPr algn="l" indent="0" marL="0">
                        <a:buNone/>
                      </a:pPr>
                      <a:r>
                        <a:rPr lang="en-US" sz="1000" dirty="0">
                          <a:solidFill>
                            <a:srgbClr val="1C1214"/>
                          </a:solidFill>
                        </a:rPr>
                        <a:t>Modern ML (RF/LSTM)</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algn="ctr" indent="0" marL="0">
                        <a:buNone/>
                      </a:pPr>
                      <a:r>
                        <a:rPr lang="en-US" sz="1000" dirty="0">
                          <a:solidFill>
                            <a:srgbClr val="1C1214"/>
                          </a:solidFill>
                        </a:rPr>
                        <a: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algn="ctr" indent="0" marL="0">
                        <a:buNone/>
                      </a:pPr>
                      <a:r>
                        <a:rPr lang="en-US" sz="1000" dirty="0">
                          <a:solidFill>
                            <a:srgbClr val="1C1214"/>
                          </a:solidFill>
                        </a:rPr>
                        <a:t>Partial</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algn="ctr" indent="0" marL="0">
                        <a:buNone/>
                      </a:pPr>
                      <a:r>
                        <a:rPr lang="en-US" sz="1000" dirty="0">
                          <a:solidFill>
                            <a:srgbClr val="1C1214"/>
                          </a:solidFill>
                        </a:rPr>
                        <a: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r>
              <a:tr h="274320">
                <a:tc>
                  <a:txBody>
                    <a:bodyPr/>
                    <a:lstStyle/>
                    <a:p>
                      <a:pPr algn="l" indent="0" marL="0">
                        <a:buNone/>
                      </a:pPr>
                      <a:r>
                        <a:rPr lang="en-US" sz="1000" dirty="0">
                          <a:solidFill>
                            <a:srgbClr val="1C1214"/>
                          </a:solidFill>
                        </a:rPr>
                        <a:t>Subgroup discovery</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algn="ctr" indent="0" marL="0">
                        <a:buNone/>
                      </a:pPr>
                      <a:r>
                        <a:rPr lang="en-US" sz="1000" dirty="0">
                          <a:solidFill>
                            <a:srgbClr val="1C1214"/>
                          </a:solidFill>
                        </a:rPr>
                        <a: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algn="ctr" indent="0" marL="0">
                        <a:buNone/>
                      </a:pPr>
                      <a:r>
                        <a:rPr lang="en-US" sz="1000" dirty="0">
                          <a:solidFill>
                            <a:srgbClr val="1C1214"/>
                          </a:solidFill>
                        </a:rPr>
                        <a: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algn="ctr" indent="0" marL="0">
                        <a:buNone/>
                      </a:pPr>
                      <a:r>
                        <a:rPr lang="en-US" sz="1000" dirty="0">
                          <a:solidFill>
                            <a:srgbClr val="1C1214"/>
                          </a:solidFill>
                        </a:rPr>
                        <a: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r>
              <a:tr h="274320">
                <a:tc>
                  <a:txBody>
                    <a:bodyPr/>
                    <a:lstStyle/>
                    <a:p>
                      <a:pPr algn="l" indent="0" marL="0">
                        <a:buNone/>
                      </a:pPr>
                      <a:r>
                        <a:rPr lang="en-US" sz="1000" b="1" dirty="0">
                          <a:solidFill>
                            <a:srgbClr val="FFFFFF"/>
                          </a:solidFill>
                        </a:rPr>
                        <a:t>This thesis (CarenR)</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algn="ctr" indent="0" marL="0">
                        <a:buNone/>
                      </a:pPr>
                      <a:r>
                        <a:rPr lang="en-US" sz="1000" b="1" dirty="0">
                          <a:solidFill>
                            <a:srgbClr val="FFFFFF"/>
                          </a:solidFill>
                        </a:rPr>
                        <a: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algn="ctr" indent="0" marL="0">
                        <a:buNone/>
                      </a:pPr>
                      <a:r>
                        <a:rPr lang="en-US" sz="1000" b="1" dirty="0">
                          <a:solidFill>
                            <a:srgbClr val="FFFFFF"/>
                          </a:solidFill>
                        </a:rPr>
                        <a: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algn="ctr" indent="0" marL="0">
                        <a:buNone/>
                      </a:pPr>
                      <a:r>
                        <a:rPr lang="en-US" sz="1000" b="1" dirty="0">
                          <a:solidFill>
                            <a:srgbClr val="FFFFFF"/>
                          </a:solidFill>
                        </a:rPr>
                        <a: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r>
            </a:tbl>
          </a:graphicData>
        </a:graphic>
      </p:graphicFrame>
      <p:sp>
        <p:nvSpPr>
          <p:cNvPr id="14" name="Shape 11"/>
          <p:cNvSpPr/>
          <p:nvPr/>
        </p:nvSpPr>
        <p:spPr>
          <a:xfrm>
            <a:off x="4754880" y="1005840"/>
            <a:ext cx="3977640" cy="1691640"/>
          </a:xfrm>
          <a:prstGeom prst="rect">
            <a:avLst/>
          </a:prstGeom>
          <a:solidFill>
            <a:srgbClr val="F2EBE9"/>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5" name="Shape 12"/>
          <p:cNvSpPr/>
          <p:nvPr/>
        </p:nvSpPr>
        <p:spPr>
          <a:xfrm>
            <a:off x="4754880" y="1005840"/>
            <a:ext cx="54864" cy="1691640"/>
          </a:xfrm>
          <a:prstGeom prst="rect">
            <a:avLst/>
          </a:prstGeom>
          <a:solidFill>
            <a:srgbClr val="C4964A"/>
          </a:solidFill>
          <a:ln w="12700">
            <a:solidFill>
              <a:srgbClr val="C4964A"/>
            </a:solidFill>
            <a:prstDash val="solid"/>
          </a:ln>
        </p:spPr>
      </p:sp>
      <p:sp>
        <p:nvSpPr>
          <p:cNvPr id="16" name="Text 13"/>
          <p:cNvSpPr/>
          <p:nvPr/>
        </p:nvSpPr>
        <p:spPr>
          <a:xfrm>
            <a:off x="4919472" y="1051560"/>
            <a:ext cx="3657600" cy="256032"/>
          </a:xfrm>
          <a:prstGeom prst="rect">
            <a:avLst/>
          </a:prstGeom>
          <a:noFill/>
          <a:ln/>
        </p:spPr>
        <p:txBody>
          <a:bodyPr wrap="square" lIns="0" tIns="0" rIns="0" bIns="0" rtlCol="0" anchor="ctr"/>
          <a:lstStyle/>
          <a:p>
            <a:pPr indent="0" marL="0">
              <a:buNone/>
            </a:pPr>
            <a:r>
              <a:rPr lang="en-US" sz="1100" b="1" dirty="0">
                <a:solidFill>
                  <a:srgbClr val="C4964A"/>
                </a:solidFill>
                <a:latin typeface="Calibri" pitchFamily="34" charset="0"/>
                <a:ea typeface="Calibri" pitchFamily="34" charset="-122"/>
                <a:cs typeface="Calibri" pitchFamily="34" charset="-120"/>
              </a:rPr>
              <a:t>What a rule looks like:</a:t>
            </a:r>
            <a:endParaRPr lang="en-US" sz="1100" dirty="0"/>
          </a:p>
        </p:txBody>
      </p:sp>
      <p:sp>
        <p:nvSpPr>
          <p:cNvPr id="17" name="Text 14"/>
          <p:cNvSpPr/>
          <p:nvPr/>
        </p:nvSpPr>
        <p:spPr>
          <a:xfrm>
            <a:off x="4919472" y="1335024"/>
            <a:ext cx="3657600" cy="1261872"/>
          </a:xfrm>
          <a:prstGeom prst="rect">
            <a:avLst/>
          </a:prstGeom>
          <a:noFill/>
          <a:ln/>
        </p:spPr>
        <p:txBody>
          <a:bodyPr wrap="square" lIns="0" tIns="0" rIns="0" bIns="0" rtlCol="0" anchor="ctr"/>
          <a:lstStyle/>
          <a:p>
            <a:pPr indent="0" marL="0">
              <a:buNone/>
            </a:pPr>
            <a:r>
              <a:rPr lang="en-US" sz="1100" i="1" dirty="0">
                <a:solidFill>
                  <a:srgbClr val="1C1214"/>
                </a:solidFill>
                <a:latin typeface="Calibri" pitchFamily="34" charset="0"/>
                <a:ea typeface="Calibri" pitchFamily="34" charset="-122"/>
                <a:cs typeface="Calibri" pitchFamily="34" charset="-120"/>
              </a:rPr>
              <a:t>"IF soil water at harvest ∈ [74–101 mm]</a:t>
            </a:r>
            <a:endParaRPr lang="en-US" sz="1100" dirty="0"/>
          </a:p>
          <a:p>
            <a:pPr indent="0" marL="0">
              <a:buNone/>
            </a:pPr>
            <a:r>
              <a:rPr lang="en-US" sz="1100" i="1" dirty="0">
                <a:solidFill>
                  <a:srgbClr val="1C1214"/>
                </a:solidFill>
                <a:latin typeface="Calibri" pitchFamily="34" charset="0"/>
                <a:ea typeface="Calibri" pitchFamily="34" charset="-122"/>
                <a:cs typeface="Calibri" pitchFamily="34" charset="-120"/>
              </a:rPr>
              <a:t>AND wet days post-flowering ≤ 3.3 d</a:t>
            </a:r>
            <a:endParaRPr lang="en-US" sz="1100" dirty="0"/>
          </a:p>
          <a:p>
            <a:pPr indent="0" marL="0">
              <a:buNone/>
            </a:pPr>
            <a:r>
              <a:rPr lang="en-US" sz="1100" i="1" dirty="0">
                <a:solidFill>
                  <a:srgbClr val="1C1214"/>
                </a:solidFill>
                <a:latin typeface="Calibri" pitchFamily="34" charset="0"/>
                <a:ea typeface="Calibri" pitchFamily="34" charset="-122"/>
                <a:cs typeface="Calibri" pitchFamily="34" charset="-120"/>
              </a:rPr>
              <a:t>THEN production is +192 mhl above trend</a:t>
            </a:r>
            <a:endParaRPr lang="en-US" sz="1100" dirty="0"/>
          </a:p>
          <a:p>
            <a:pPr indent="0" marL="0">
              <a:buNone/>
            </a:pPr>
            <a:r>
              <a:rPr lang="en-US" sz="1100" i="1" dirty="0">
                <a:solidFill>
                  <a:srgbClr val="1C1214"/>
                </a:solidFill>
                <a:latin typeface="Calibri" pitchFamily="34" charset="0"/>
                <a:ea typeface="Calibri" pitchFamily="34" charset="-122"/>
                <a:cs typeface="Calibri" pitchFamily="34" charset="-120"/>
              </a:rPr>
              <a:t>(support 21%, p = 0.010)"</a:t>
            </a:r>
            <a:endParaRPr lang="en-US" sz="1100" dirty="0"/>
          </a:p>
        </p:txBody>
      </p:sp>
      <p:sp>
        <p:nvSpPr>
          <p:cNvPr id="18" name="Shape 15"/>
          <p:cNvSpPr/>
          <p:nvPr/>
        </p:nvSpPr>
        <p:spPr>
          <a:xfrm>
            <a:off x="4754880" y="2834640"/>
            <a:ext cx="3977640" cy="1920240"/>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9" name="Shape 16"/>
          <p:cNvSpPr/>
          <p:nvPr/>
        </p:nvSpPr>
        <p:spPr>
          <a:xfrm>
            <a:off x="4754880" y="2834640"/>
            <a:ext cx="54864" cy="1920240"/>
          </a:xfrm>
          <a:prstGeom prst="rect">
            <a:avLst/>
          </a:prstGeom>
          <a:solidFill>
            <a:srgbClr val="2A7F7F"/>
          </a:solidFill>
          <a:ln w="12700">
            <a:solidFill>
              <a:srgbClr val="2A7F7F"/>
            </a:solidFill>
            <a:prstDash val="solid"/>
          </a:ln>
        </p:spPr>
      </p:sp>
      <p:sp>
        <p:nvSpPr>
          <p:cNvPr id="20" name="Text 17"/>
          <p:cNvSpPr/>
          <p:nvPr/>
        </p:nvSpPr>
        <p:spPr>
          <a:xfrm>
            <a:off x="4919472" y="2880360"/>
            <a:ext cx="3657600" cy="256032"/>
          </a:xfrm>
          <a:prstGeom prst="rect">
            <a:avLst/>
          </a:prstGeom>
          <a:noFill/>
          <a:ln/>
        </p:spPr>
        <p:txBody>
          <a:bodyPr wrap="square" lIns="0" tIns="0" rIns="0" bIns="0" rtlCol="0" anchor="ctr"/>
          <a:lstStyle/>
          <a:p>
            <a:pPr indent="0" marL="0">
              <a:buNone/>
            </a:pPr>
            <a:r>
              <a:rPr lang="en-US" sz="1100" b="1" dirty="0">
                <a:solidFill>
                  <a:srgbClr val="2A7F7F"/>
                </a:solidFill>
                <a:latin typeface="Calibri" pitchFamily="34" charset="0"/>
                <a:ea typeface="Calibri" pitchFamily="34" charset="-122"/>
                <a:cs typeface="Calibri" pitchFamily="34" charset="-120"/>
              </a:rPr>
              <a:t>Why interpretability matters:</a:t>
            </a:r>
            <a:endParaRPr lang="en-US" sz="1100" dirty="0"/>
          </a:p>
        </p:txBody>
      </p:sp>
      <p:sp>
        <p:nvSpPr>
          <p:cNvPr id="21" name="Text 18"/>
          <p:cNvSpPr/>
          <p:nvPr/>
        </p:nvSpPr>
        <p:spPr>
          <a:xfrm>
            <a:off x="4919472" y="3163824"/>
            <a:ext cx="3657600" cy="1481328"/>
          </a:xfrm>
          <a:prstGeom prst="rect">
            <a:avLst/>
          </a:prstGeom>
          <a:noFill/>
          <a:ln/>
        </p:spPr>
        <p:txBody>
          <a:bodyPr wrap="square" lIns="0" tIns="0" rIns="0" bIns="0" rtlCol="0" anchor="ctr"/>
          <a:lstStyle/>
          <a:p>
            <a:pPr marL="342900" indent="-342900">
              <a:buSzPct val="100000"/>
              <a:buChar char="•"/>
            </a:pPr>
            <a:r>
              <a:rPr lang="en-US" sz="1100" dirty="0">
                <a:solidFill>
                  <a:srgbClr val="1C1214"/>
                </a:solidFill>
                <a:latin typeface="Calibri" pitchFamily="34" charset="0"/>
                <a:ea typeface="Calibri" pitchFamily="34" charset="-122"/>
                <a:cs typeface="Calibri" pitchFamily="34" charset="-120"/>
              </a:rPr>
              <a:t>Readable by agronomists without ML knowledge</a:t>
            </a:r>
            <a:endParaRPr lang="en-US" sz="1100" dirty="0"/>
          </a:p>
          <a:p>
            <a:pPr marL="342900" indent="-342900">
              <a:buSzPct val="100000"/>
              <a:buChar char="•"/>
            </a:pPr>
            <a:r>
              <a:rPr lang="en-US" sz="1100" dirty="0">
                <a:solidFill>
                  <a:srgbClr val="1C1214"/>
                </a:solidFill>
                <a:latin typeface="Calibri" pitchFamily="34" charset="0"/>
                <a:ea typeface="Calibri" pitchFamily="34" charset="-122"/>
                <a:cs typeface="Calibri" pitchFamily="34" charset="-120"/>
              </a:rPr>
              <a:t>Each rule carries explicit support &amp; p-value</a:t>
            </a:r>
            <a:endParaRPr lang="en-US" sz="1100" dirty="0"/>
          </a:p>
          <a:p>
            <a:pPr marL="342900" indent="-342900">
              <a:buSzPct val="100000"/>
              <a:buChar char="•"/>
            </a:pPr>
            <a:r>
              <a:rPr lang="en-US" sz="1100" dirty="0">
                <a:solidFill>
                  <a:srgbClr val="1C1214"/>
                </a:solidFill>
                <a:latin typeface="Calibri" pitchFamily="34" charset="0"/>
                <a:ea typeface="Calibri" pitchFamily="34" charset="-122"/>
                <a:cs typeface="Calibri" pitchFamily="34" charset="-120"/>
              </a:rPr>
              <a:t>Can be challenged and domain-validated</a:t>
            </a:r>
            <a:endParaRPr lang="en-US" sz="1100" dirty="0"/>
          </a:p>
          <a:p>
            <a:pPr marL="342900" indent="-342900">
              <a:buSzPct val="100000"/>
              <a:buChar char="•"/>
            </a:pPr>
            <a:r>
              <a:rPr lang="en-US" sz="1100" dirty="0">
                <a:solidFill>
                  <a:srgbClr val="1C1214"/>
                </a:solidFill>
                <a:latin typeface="Calibri" pitchFamily="34" charset="0"/>
                <a:ea typeface="Calibri" pitchFamily="34" charset="-122"/>
                <a:cs typeface="Calibri" pitchFamily="34" charset="-120"/>
              </a:rPr>
              <a:t>Directly actionable for harvest planning</a:t>
            </a:r>
            <a:endParaRPr lang="en-US" sz="1100" dirty="0"/>
          </a:p>
        </p:txBody>
      </p:sp>
      <p:sp>
        <p:nvSpPr>
          <p:cNvPr id="22" name="Text 19"/>
          <p:cNvSpPr/>
          <p:nvPr/>
        </p:nvSpPr>
        <p:spPr>
          <a:xfrm>
            <a:off x="411480" y="4846320"/>
            <a:ext cx="8321040" cy="228600"/>
          </a:xfrm>
          <a:prstGeom prst="rect">
            <a:avLst/>
          </a:prstGeom>
          <a:noFill/>
          <a:ln/>
        </p:spPr>
        <p:txBody>
          <a:bodyPr wrap="square" lIns="0" tIns="0" rIns="0" bIns="0" rtlCol="0" anchor="ctr"/>
          <a:lstStyle/>
          <a:p>
            <a:pPr indent="0" marL="0">
              <a:buNone/>
            </a:pPr>
            <a:r>
              <a:rPr lang="en-US" sz="900" i="1" dirty="0">
                <a:solidFill>
                  <a:srgbClr val="9A8E8B"/>
                </a:solidFill>
                <a:latin typeface="Calibri" pitchFamily="34" charset="0"/>
                <a:ea typeface="Calibri" pitchFamily="34" charset="-122"/>
                <a:cs typeface="Calibri" pitchFamily="34" charset="-120"/>
              </a:rPr>
              <a:t>No published work has applied interpretable distributional rule discovery to multi-decade regional wine production records (cf. Table 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2EA"/>
        </a:solidFill>
      </p:bgPr>
    </p:bg>
    <p:spTree>
      <p:nvGrpSpPr>
        <p:cNvPr id="1" name=""/>
        <p:cNvGrpSpPr/>
        <p:nvPr/>
      </p:nvGrpSpPr>
      <p:grpSpPr>
        <a:xfrm>
          <a:off x="0" y="0"/>
          <a:ext cx="0" cy="0"/>
          <a:chOff x="0" y="0"/>
          <a:chExt cx="0" cy="0"/>
        </a:xfrm>
      </p:grpSpPr>
      <p:sp>
        <p:nvSpPr>
          <p:cNvPr id="2" name="Shape 0"/>
          <p:cNvSpPr/>
          <p:nvPr/>
        </p:nvSpPr>
        <p:spPr>
          <a:xfrm>
            <a:off x="0" y="0"/>
            <a:ext cx="9144000" cy="59436"/>
          </a:xfrm>
          <a:prstGeom prst="rect">
            <a:avLst/>
          </a:prstGeom>
          <a:solidFill>
            <a:srgbClr val="C4964A"/>
          </a:solidFill>
          <a:ln w="12700">
            <a:solidFill>
              <a:srgbClr val="C4964A"/>
            </a:solidFill>
            <a:prstDash val="solid"/>
          </a:ln>
        </p:spPr>
      </p:sp>
      <p:sp>
        <p:nvSpPr>
          <p:cNvPr id="3" name="Text 1"/>
          <p:cNvSpPr/>
          <p:nvPr/>
        </p:nvSpPr>
        <p:spPr>
          <a:xfrm>
            <a:off x="411480" y="109728"/>
            <a:ext cx="8321040" cy="530352"/>
          </a:xfrm>
          <a:prstGeom prst="rect">
            <a:avLst/>
          </a:prstGeom>
          <a:noFill/>
          <a:ln/>
        </p:spPr>
        <p:txBody>
          <a:bodyPr wrap="square" lIns="0" tIns="0" rIns="0" bIns="0" rtlCol="0" anchor="ctr"/>
          <a:lstStyle/>
          <a:p>
            <a:pPr algn="l" indent="0" marL="0">
              <a:buNone/>
            </a:pPr>
            <a:r>
              <a:rPr lang="en-US" sz="2600" b="1" dirty="0">
                <a:solidFill>
                  <a:srgbClr val="6B2737"/>
                </a:solidFill>
                <a:latin typeface="Georgia" pitchFamily="34" charset="0"/>
                <a:ea typeface="Georgia" pitchFamily="34" charset="-122"/>
                <a:cs typeface="Georgia" pitchFamily="34" charset="-120"/>
              </a:rPr>
              <a:t>Two Goals, Four Research Questions</a:t>
            </a:r>
            <a:endParaRPr lang="en-US" sz="2600" dirty="0"/>
          </a:p>
        </p:txBody>
      </p:sp>
      <p:sp>
        <p:nvSpPr>
          <p:cNvPr id="4" name="Shape 2"/>
          <p:cNvSpPr/>
          <p:nvPr/>
        </p:nvSpPr>
        <p:spPr>
          <a:xfrm>
            <a:off x="411480" y="877824"/>
            <a:ext cx="8321040" cy="0"/>
          </a:xfrm>
          <a:prstGeom prst="line">
            <a:avLst/>
          </a:prstGeom>
          <a:noFill/>
          <a:ln w="12700">
            <a:solidFill>
              <a:srgbClr val="D4CACA"/>
            </a:solidFill>
            <a:prstDash val="solid"/>
          </a:ln>
        </p:spPr>
      </p:sp>
      <p:sp>
        <p:nvSpPr>
          <p:cNvPr id="5" name="Text 3"/>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3 / 12</a:t>
            </a:r>
            <a:endParaRPr lang="en-US" sz="900" dirty="0"/>
          </a:p>
        </p:txBody>
      </p:sp>
      <p:sp>
        <p:nvSpPr>
          <p:cNvPr id="6" name="Shape 4"/>
          <p:cNvSpPr/>
          <p:nvPr/>
        </p:nvSpPr>
        <p:spPr>
          <a:xfrm>
            <a:off x="411480" y="1005840"/>
            <a:ext cx="4114800" cy="1920240"/>
          </a:xfrm>
          <a:prstGeom prst="rect">
            <a:avLst/>
          </a:prstGeom>
          <a:solidFill>
            <a:srgbClr val="E8F4ED"/>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411480" y="1005840"/>
            <a:ext cx="54864" cy="1920240"/>
          </a:xfrm>
          <a:prstGeom prst="rect">
            <a:avLst/>
          </a:prstGeom>
          <a:solidFill>
            <a:srgbClr val="3A7A50"/>
          </a:solidFill>
          <a:ln w="12700">
            <a:solidFill>
              <a:srgbClr val="3A7A50"/>
            </a:solidFill>
            <a:prstDash val="solid"/>
          </a:ln>
        </p:spPr>
      </p:sp>
      <p:sp>
        <p:nvSpPr>
          <p:cNvPr id="8" name="Text 6"/>
          <p:cNvSpPr/>
          <p:nvPr/>
        </p:nvSpPr>
        <p:spPr>
          <a:xfrm>
            <a:off x="566928" y="1051560"/>
            <a:ext cx="3840480" cy="310896"/>
          </a:xfrm>
          <a:prstGeom prst="rect">
            <a:avLst/>
          </a:prstGeom>
          <a:noFill/>
          <a:ln/>
        </p:spPr>
        <p:txBody>
          <a:bodyPr wrap="square" lIns="0" tIns="0" rIns="0" bIns="0" rtlCol="0" anchor="ctr"/>
          <a:lstStyle/>
          <a:p>
            <a:pPr indent="0" marL="0">
              <a:buNone/>
            </a:pPr>
            <a:r>
              <a:rPr lang="en-US" sz="1300" b="1" dirty="0">
                <a:solidFill>
                  <a:srgbClr val="3A7A50"/>
                </a:solidFill>
                <a:latin typeface="Georgia" pitchFamily="34" charset="0"/>
                <a:ea typeface="Georgia" pitchFamily="34" charset="-122"/>
                <a:cs typeface="Georgia" pitchFamily="34" charset="-120"/>
              </a:rPr>
              <a:t>✓  GOAL 1 — Rule Discovery</a:t>
            </a:r>
            <a:endParaRPr lang="en-US" sz="1300" dirty="0"/>
          </a:p>
        </p:txBody>
      </p:sp>
      <p:sp>
        <p:nvSpPr>
          <p:cNvPr id="9" name="Text 7"/>
          <p:cNvSpPr/>
          <p:nvPr/>
        </p:nvSpPr>
        <p:spPr>
          <a:xfrm>
            <a:off x="566928" y="1389888"/>
            <a:ext cx="3840480" cy="658368"/>
          </a:xfrm>
          <a:prstGeom prst="rect">
            <a:avLst/>
          </a:prstGeom>
          <a:noFill/>
          <a:ln/>
        </p:spPr>
        <p:txBody>
          <a:bodyPr wrap="square" lIns="0" tIns="0" rIns="0" bIns="0" rtlCol="0" anchor="ctr"/>
          <a:lstStyle/>
          <a:p>
            <a:pPr indent="0" marL="0">
              <a:buNone/>
            </a:pPr>
            <a:r>
              <a:rPr lang="en-US" sz="1200" dirty="0">
                <a:solidFill>
                  <a:srgbClr val="1C1214"/>
                </a:solidFill>
                <a:latin typeface="Calibri" pitchFamily="34" charset="0"/>
                <a:ea typeface="Calibri" pitchFamily="34" charset="-122"/>
                <a:cs typeface="Calibri" pitchFamily="34" charset="-120"/>
              </a:rPr>
              <a:t>Discover interpretable agroclimatic rules explaining above / below-trend production years in each region.</a:t>
            </a:r>
            <a:endParaRPr lang="en-US" sz="1200" dirty="0"/>
          </a:p>
        </p:txBody>
      </p:sp>
      <p:sp>
        <p:nvSpPr>
          <p:cNvPr id="10" name="Text 8"/>
          <p:cNvSpPr/>
          <p:nvPr/>
        </p:nvSpPr>
        <p:spPr>
          <a:xfrm>
            <a:off x="566928" y="2084832"/>
            <a:ext cx="3657600" cy="274320"/>
          </a:xfrm>
          <a:prstGeom prst="rect">
            <a:avLst/>
          </a:prstGeom>
          <a:noFill/>
          <a:ln/>
        </p:spPr>
        <p:txBody>
          <a:bodyPr wrap="square" lIns="0" tIns="0" rIns="0" bIns="0" rtlCol="0" anchor="ctr"/>
          <a:lstStyle/>
          <a:p>
            <a:pPr indent="0" marL="0">
              <a:buNone/>
            </a:pPr>
            <a:r>
              <a:rPr lang="en-US" sz="1200" b="1" dirty="0">
                <a:solidFill>
                  <a:srgbClr val="3A7A50"/>
                </a:solidFill>
                <a:latin typeface="Calibri" pitchFamily="34" charset="0"/>
                <a:ea typeface="Calibri" pitchFamily="34" charset="-122"/>
                <a:cs typeface="Calibri" pitchFamily="34" charset="-120"/>
              </a:rPr>
              <a:t>ACHIEVED ✓</a:t>
            </a:r>
            <a:endParaRPr lang="en-US" sz="1200" dirty="0"/>
          </a:p>
        </p:txBody>
      </p:sp>
      <p:sp>
        <p:nvSpPr>
          <p:cNvPr id="11" name="Text 9"/>
          <p:cNvSpPr/>
          <p:nvPr/>
        </p:nvSpPr>
        <p:spPr>
          <a:xfrm>
            <a:off x="566928" y="2340864"/>
            <a:ext cx="3657600" cy="256032"/>
          </a:xfrm>
          <a:prstGeom prst="rect">
            <a:avLst/>
          </a:prstGeom>
          <a:noFill/>
          <a:ln/>
        </p:spPr>
        <p:txBody>
          <a:bodyPr wrap="square" lIns="0" tIns="0" rIns="0" bIns="0" rtlCol="0" anchor="ctr"/>
          <a:lstStyle/>
          <a:p>
            <a:pPr indent="0" marL="0">
              <a:buNone/>
            </a:pPr>
            <a:r>
              <a:rPr lang="en-US" sz="1000" i="1" dirty="0">
                <a:solidFill>
                  <a:srgbClr val="5A4042"/>
                </a:solidFill>
                <a:latin typeface="Calibri" pitchFamily="34" charset="0"/>
                <a:ea typeface="Calibri" pitchFamily="34" charset="-122"/>
                <a:cs typeface="Calibri" pitchFamily="34" charset="-120"/>
              </a:rPr>
              <a:t>48 rules (RDD) · 20 rules (RVV)</a:t>
            </a:r>
            <a:endParaRPr lang="en-US" sz="1000" dirty="0"/>
          </a:p>
        </p:txBody>
      </p:sp>
      <p:sp>
        <p:nvSpPr>
          <p:cNvPr id="12" name="Shape 10"/>
          <p:cNvSpPr/>
          <p:nvPr/>
        </p:nvSpPr>
        <p:spPr>
          <a:xfrm>
            <a:off x="4617720" y="1005840"/>
            <a:ext cx="4114800" cy="1920240"/>
          </a:xfrm>
          <a:prstGeom prst="rect">
            <a:avLst/>
          </a:prstGeom>
          <a:solidFill>
            <a:srgbClr val="F9ECEC"/>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3" name="Shape 11"/>
          <p:cNvSpPr/>
          <p:nvPr/>
        </p:nvSpPr>
        <p:spPr>
          <a:xfrm>
            <a:off x="4617720" y="1005840"/>
            <a:ext cx="54864" cy="1920240"/>
          </a:xfrm>
          <a:prstGeom prst="rect">
            <a:avLst/>
          </a:prstGeom>
          <a:solidFill>
            <a:srgbClr val="B74A4A"/>
          </a:solidFill>
          <a:ln w="12700">
            <a:solidFill>
              <a:srgbClr val="B74A4A"/>
            </a:solidFill>
            <a:prstDash val="solid"/>
          </a:ln>
        </p:spPr>
      </p:sp>
      <p:sp>
        <p:nvSpPr>
          <p:cNvPr id="14" name="Text 12"/>
          <p:cNvSpPr/>
          <p:nvPr/>
        </p:nvSpPr>
        <p:spPr>
          <a:xfrm>
            <a:off x="4773168" y="1051560"/>
            <a:ext cx="3840480" cy="310896"/>
          </a:xfrm>
          <a:prstGeom prst="rect">
            <a:avLst/>
          </a:prstGeom>
          <a:noFill/>
          <a:ln/>
        </p:spPr>
        <p:txBody>
          <a:bodyPr wrap="square" lIns="0" tIns="0" rIns="0" bIns="0" rtlCol="0" anchor="ctr"/>
          <a:lstStyle/>
          <a:p>
            <a:pPr indent="0" marL="0">
              <a:buNone/>
            </a:pPr>
            <a:r>
              <a:rPr lang="en-US" sz="1300" b="1" dirty="0">
                <a:solidFill>
                  <a:srgbClr val="B74A4A"/>
                </a:solidFill>
                <a:latin typeface="Georgia" pitchFamily="34" charset="0"/>
                <a:ea typeface="Georgia" pitchFamily="34" charset="-122"/>
                <a:cs typeface="Georgia" pitchFamily="34" charset="-120"/>
              </a:rPr>
              <a:t>✗  GOAL 2 — Predictive Validation</a:t>
            </a:r>
            <a:endParaRPr lang="en-US" sz="1300" dirty="0"/>
          </a:p>
        </p:txBody>
      </p:sp>
      <p:sp>
        <p:nvSpPr>
          <p:cNvPr id="15" name="Text 13"/>
          <p:cNvSpPr/>
          <p:nvPr/>
        </p:nvSpPr>
        <p:spPr>
          <a:xfrm>
            <a:off x="4773168" y="1389888"/>
            <a:ext cx="3840480" cy="658368"/>
          </a:xfrm>
          <a:prstGeom prst="rect">
            <a:avLst/>
          </a:prstGeom>
          <a:noFill/>
          <a:ln/>
        </p:spPr>
        <p:txBody>
          <a:bodyPr wrap="square" lIns="0" tIns="0" rIns="0" bIns="0" rtlCol="0" anchor="ctr"/>
          <a:lstStyle/>
          <a:p>
            <a:pPr indent="0" marL="0">
              <a:buNone/>
            </a:pPr>
            <a:r>
              <a:rPr lang="en-US" sz="1200" dirty="0">
                <a:solidFill>
                  <a:srgbClr val="1C1214"/>
                </a:solidFill>
                <a:latin typeface="Calibri" pitchFamily="34" charset="0"/>
                <a:ea typeface="Calibri" pitchFamily="34" charset="-122"/>
                <a:cs typeface="Calibri" pitchFamily="34" charset="-120"/>
              </a:rPr>
              <a:t>Evaluate whether discovered rules beat a naive baseline in rigorous walk-forward (expanding window) validation.</a:t>
            </a:r>
            <a:endParaRPr lang="en-US" sz="1200" dirty="0"/>
          </a:p>
        </p:txBody>
      </p:sp>
      <p:sp>
        <p:nvSpPr>
          <p:cNvPr id="16" name="Text 14"/>
          <p:cNvSpPr/>
          <p:nvPr/>
        </p:nvSpPr>
        <p:spPr>
          <a:xfrm>
            <a:off x="4773168" y="2084832"/>
            <a:ext cx="3840480" cy="274320"/>
          </a:xfrm>
          <a:prstGeom prst="rect">
            <a:avLst/>
          </a:prstGeom>
          <a:noFill/>
          <a:ln/>
        </p:spPr>
        <p:txBody>
          <a:bodyPr wrap="square" lIns="0" tIns="0" rIns="0" bIns="0" rtlCol="0" anchor="ctr"/>
          <a:lstStyle/>
          <a:p>
            <a:pPr indent="0" marL="0">
              <a:buNone/>
            </a:pPr>
            <a:r>
              <a:rPr lang="en-US" sz="1200" b="1" dirty="0">
                <a:solidFill>
                  <a:srgbClr val="B74A4A"/>
                </a:solidFill>
                <a:latin typeface="Calibri" pitchFamily="34" charset="0"/>
                <a:ea typeface="Calibri" pitchFamily="34" charset="-122"/>
                <a:cs typeface="Calibri" pitchFamily="34" charset="-120"/>
              </a:rPr>
              <a:t>NOT ACHIEVED in aggregate</a:t>
            </a:r>
            <a:endParaRPr lang="en-US" sz="1200" dirty="0"/>
          </a:p>
        </p:txBody>
      </p:sp>
      <p:sp>
        <p:nvSpPr>
          <p:cNvPr id="17" name="Text 15"/>
          <p:cNvSpPr/>
          <p:nvPr/>
        </p:nvSpPr>
        <p:spPr>
          <a:xfrm>
            <a:off x="4773168" y="2340864"/>
            <a:ext cx="3840480" cy="256032"/>
          </a:xfrm>
          <a:prstGeom prst="rect">
            <a:avLst/>
          </a:prstGeom>
          <a:noFill/>
          <a:ln/>
        </p:spPr>
        <p:txBody>
          <a:bodyPr wrap="square" lIns="0" tIns="0" rIns="0" bIns="0" rtlCol="0" anchor="ctr"/>
          <a:lstStyle/>
          <a:p>
            <a:pPr indent="0" marL="0">
              <a:buNone/>
            </a:pPr>
            <a:r>
              <a:rPr lang="en-US" sz="1000" i="1" dirty="0">
                <a:solidFill>
                  <a:srgbClr val="5A4042"/>
                </a:solidFill>
                <a:latin typeface="Calibri" pitchFamily="34" charset="0"/>
                <a:ea typeface="Calibri" pitchFamily="34" charset="-122"/>
                <a:cs typeface="Calibri" pitchFamily="34" charset="-120"/>
              </a:rPr>
              <a:t>Conditional finding in Douro (exploratory)</a:t>
            </a:r>
            <a:endParaRPr lang="en-US" sz="1000" dirty="0"/>
          </a:p>
        </p:txBody>
      </p:sp>
      <p:sp>
        <p:nvSpPr>
          <p:cNvPr id="18" name="Shape 16"/>
          <p:cNvSpPr/>
          <p:nvPr/>
        </p:nvSpPr>
        <p:spPr>
          <a:xfrm>
            <a:off x="411480" y="3063240"/>
            <a:ext cx="8321040" cy="1783080"/>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9" name="Text 17"/>
          <p:cNvSpPr/>
          <p:nvPr/>
        </p:nvSpPr>
        <p:spPr>
          <a:xfrm>
            <a:off x="594360" y="3127248"/>
            <a:ext cx="7955280" cy="274320"/>
          </a:xfrm>
          <a:prstGeom prst="rect">
            <a:avLst/>
          </a:prstGeom>
          <a:noFill/>
          <a:ln/>
        </p:spPr>
        <p:txBody>
          <a:bodyPr wrap="square" lIns="0" tIns="0" rIns="0" bIns="0" rtlCol="0" anchor="ctr"/>
          <a:lstStyle/>
          <a:p>
            <a:pPr indent="0" marL="0">
              <a:buNone/>
            </a:pPr>
            <a:r>
              <a:rPr lang="en-US" sz="1200" b="1" dirty="0">
                <a:solidFill>
                  <a:srgbClr val="6B2737"/>
                </a:solidFill>
                <a:latin typeface="Georgia" pitchFamily="34" charset="0"/>
                <a:ea typeface="Georgia" pitchFamily="34" charset="-122"/>
                <a:cs typeface="Georgia" pitchFamily="34" charset="-120"/>
              </a:rPr>
              <a:t>Research Questions</a:t>
            </a:r>
            <a:endParaRPr lang="en-US" sz="1200" dirty="0"/>
          </a:p>
        </p:txBody>
      </p:sp>
      <p:sp>
        <p:nvSpPr>
          <p:cNvPr id="20" name="Text 18"/>
          <p:cNvSpPr/>
          <p:nvPr/>
        </p:nvSpPr>
        <p:spPr>
          <a:xfrm>
            <a:off x="594360" y="3456432"/>
            <a:ext cx="457200" cy="329184"/>
          </a:xfrm>
          <a:prstGeom prst="rect">
            <a:avLst/>
          </a:prstGeom>
          <a:noFill/>
          <a:ln/>
        </p:spPr>
        <p:txBody>
          <a:bodyPr wrap="square" lIns="0" tIns="0" rIns="0" bIns="0" rtlCol="0" anchor="ctr"/>
          <a:lstStyle/>
          <a:p>
            <a:pPr indent="0" marL="0">
              <a:buNone/>
            </a:pPr>
            <a:r>
              <a:rPr lang="en-US" sz="1000" b="1" dirty="0">
                <a:solidFill>
                  <a:srgbClr val="C4964A"/>
                </a:solidFill>
                <a:latin typeface="Calibri" pitchFamily="34" charset="0"/>
                <a:ea typeface="Calibri" pitchFamily="34" charset="-122"/>
                <a:cs typeface="Calibri" pitchFamily="34" charset="-120"/>
              </a:rPr>
              <a:t>RQ1  </a:t>
            </a:r>
            <a:endParaRPr lang="en-US" sz="1000" dirty="0"/>
          </a:p>
        </p:txBody>
      </p:sp>
      <p:sp>
        <p:nvSpPr>
          <p:cNvPr id="21" name="Text 19"/>
          <p:cNvSpPr/>
          <p:nvPr/>
        </p:nvSpPr>
        <p:spPr>
          <a:xfrm>
            <a:off x="1051560" y="3456432"/>
            <a:ext cx="3566160" cy="329184"/>
          </a:xfrm>
          <a:prstGeom prst="rect">
            <a:avLst/>
          </a:prstGeom>
          <a:noFill/>
          <a:ln/>
        </p:spPr>
        <p:txBody>
          <a:bodyPr wrap="square" lIns="0" tIns="0" rIns="0" bIns="0" rtlCol="0" anchor="ctr"/>
          <a:lstStyle/>
          <a:p>
            <a:pPr indent="0" marL="0">
              <a:buNone/>
            </a:pPr>
            <a:r>
              <a:rPr lang="en-US" sz="1000" dirty="0">
                <a:solidFill>
                  <a:srgbClr val="1C1214"/>
                </a:solidFill>
                <a:latin typeface="Calibri" pitchFamily="34" charset="0"/>
                <a:ea typeface="Calibri" pitchFamily="34" charset="-122"/>
                <a:cs typeface="Calibri" pitchFamily="34" charset="-120"/>
              </a:rPr>
              <a:t>Which climate variables most consistently distinguish above/below-trend years?</a:t>
            </a:r>
            <a:endParaRPr lang="en-US" sz="1000" dirty="0"/>
          </a:p>
        </p:txBody>
      </p:sp>
      <p:sp>
        <p:nvSpPr>
          <p:cNvPr id="22" name="Text 20"/>
          <p:cNvSpPr/>
          <p:nvPr/>
        </p:nvSpPr>
        <p:spPr>
          <a:xfrm>
            <a:off x="594360" y="3895344"/>
            <a:ext cx="457200" cy="329184"/>
          </a:xfrm>
          <a:prstGeom prst="rect">
            <a:avLst/>
          </a:prstGeom>
          <a:noFill/>
          <a:ln/>
        </p:spPr>
        <p:txBody>
          <a:bodyPr wrap="square" lIns="0" tIns="0" rIns="0" bIns="0" rtlCol="0" anchor="ctr"/>
          <a:lstStyle/>
          <a:p>
            <a:pPr indent="0" marL="0">
              <a:buNone/>
            </a:pPr>
            <a:r>
              <a:rPr lang="en-US" sz="1000" b="1" dirty="0">
                <a:solidFill>
                  <a:srgbClr val="C4964A"/>
                </a:solidFill>
                <a:latin typeface="Calibri" pitchFamily="34" charset="0"/>
                <a:ea typeface="Calibri" pitchFamily="34" charset="-122"/>
                <a:cs typeface="Calibri" pitchFamily="34" charset="-120"/>
              </a:rPr>
              <a:t>RQ2  </a:t>
            </a:r>
            <a:endParaRPr lang="en-US" sz="1000" dirty="0"/>
          </a:p>
        </p:txBody>
      </p:sp>
      <p:sp>
        <p:nvSpPr>
          <p:cNvPr id="23" name="Text 21"/>
          <p:cNvSpPr/>
          <p:nvPr/>
        </p:nvSpPr>
        <p:spPr>
          <a:xfrm>
            <a:off x="1051560" y="3895344"/>
            <a:ext cx="3566160" cy="329184"/>
          </a:xfrm>
          <a:prstGeom prst="rect">
            <a:avLst/>
          </a:prstGeom>
          <a:noFill/>
          <a:ln/>
        </p:spPr>
        <p:txBody>
          <a:bodyPr wrap="square" lIns="0" tIns="0" rIns="0" bIns="0" rtlCol="0" anchor="ctr"/>
          <a:lstStyle/>
          <a:p>
            <a:pPr indent="0" marL="0">
              <a:buNone/>
            </a:pPr>
            <a:r>
              <a:rPr lang="en-US" sz="1000" dirty="0">
                <a:solidFill>
                  <a:srgbClr val="1C1214"/>
                </a:solidFill>
                <a:latin typeface="Calibri" pitchFamily="34" charset="0"/>
                <a:ea typeface="Calibri" pitchFamily="34" charset="-122"/>
                <a:cs typeface="Calibri" pitchFamily="34" charset="-120"/>
              </a:rPr>
              <a:t>Are the identified variables genuine within-era signals or era-membership artefacts?</a:t>
            </a:r>
            <a:endParaRPr lang="en-US" sz="1000" dirty="0"/>
          </a:p>
        </p:txBody>
      </p:sp>
      <p:sp>
        <p:nvSpPr>
          <p:cNvPr id="24" name="Text 22"/>
          <p:cNvSpPr/>
          <p:nvPr/>
        </p:nvSpPr>
        <p:spPr>
          <a:xfrm>
            <a:off x="4663440" y="3456432"/>
            <a:ext cx="457200" cy="329184"/>
          </a:xfrm>
          <a:prstGeom prst="rect">
            <a:avLst/>
          </a:prstGeom>
          <a:noFill/>
          <a:ln/>
        </p:spPr>
        <p:txBody>
          <a:bodyPr wrap="square" lIns="0" tIns="0" rIns="0" bIns="0" rtlCol="0" anchor="ctr"/>
          <a:lstStyle/>
          <a:p>
            <a:pPr indent="0" marL="0">
              <a:buNone/>
            </a:pPr>
            <a:r>
              <a:rPr lang="en-US" sz="1000" b="1" dirty="0">
                <a:solidFill>
                  <a:srgbClr val="C4964A"/>
                </a:solidFill>
                <a:latin typeface="Calibri" pitchFamily="34" charset="0"/>
                <a:ea typeface="Calibri" pitchFamily="34" charset="-122"/>
                <a:cs typeface="Calibri" pitchFamily="34" charset="-120"/>
              </a:rPr>
              <a:t>RQ3  </a:t>
            </a:r>
            <a:endParaRPr lang="en-US" sz="1000" dirty="0"/>
          </a:p>
        </p:txBody>
      </p:sp>
      <p:sp>
        <p:nvSpPr>
          <p:cNvPr id="25" name="Text 23"/>
          <p:cNvSpPr/>
          <p:nvPr/>
        </p:nvSpPr>
        <p:spPr>
          <a:xfrm>
            <a:off x="5120640" y="3456432"/>
            <a:ext cx="3566160" cy="329184"/>
          </a:xfrm>
          <a:prstGeom prst="rect">
            <a:avLst/>
          </a:prstGeom>
          <a:noFill/>
          <a:ln/>
        </p:spPr>
        <p:txBody>
          <a:bodyPr wrap="square" lIns="0" tIns="0" rIns="0" bIns="0" rtlCol="0" anchor="ctr"/>
          <a:lstStyle/>
          <a:p>
            <a:pPr indent="0" marL="0">
              <a:buNone/>
            </a:pPr>
            <a:r>
              <a:rPr lang="en-US" sz="1000" dirty="0">
                <a:solidFill>
                  <a:srgbClr val="1C1214"/>
                </a:solidFill>
                <a:latin typeface="Calibri" pitchFamily="34" charset="0"/>
                <a:ea typeface="Calibri" pitchFamily="34" charset="-122"/>
                <a:cs typeface="Calibri" pitchFamily="34" charset="-120"/>
              </a:rPr>
              <a:t>Do three independent algorithms converge on the same features?</a:t>
            </a:r>
            <a:endParaRPr lang="en-US" sz="1000" dirty="0"/>
          </a:p>
        </p:txBody>
      </p:sp>
      <p:sp>
        <p:nvSpPr>
          <p:cNvPr id="26" name="Text 24"/>
          <p:cNvSpPr/>
          <p:nvPr/>
        </p:nvSpPr>
        <p:spPr>
          <a:xfrm>
            <a:off x="4663440" y="3895344"/>
            <a:ext cx="457200" cy="329184"/>
          </a:xfrm>
          <a:prstGeom prst="rect">
            <a:avLst/>
          </a:prstGeom>
          <a:noFill/>
          <a:ln/>
        </p:spPr>
        <p:txBody>
          <a:bodyPr wrap="square" lIns="0" tIns="0" rIns="0" bIns="0" rtlCol="0" anchor="ctr"/>
          <a:lstStyle/>
          <a:p>
            <a:pPr indent="0" marL="0">
              <a:buNone/>
            </a:pPr>
            <a:r>
              <a:rPr lang="en-US" sz="1000" b="1" dirty="0">
                <a:solidFill>
                  <a:srgbClr val="C4964A"/>
                </a:solidFill>
                <a:latin typeface="Calibri" pitchFamily="34" charset="0"/>
                <a:ea typeface="Calibri" pitchFamily="34" charset="-122"/>
                <a:cs typeface="Calibri" pitchFamily="34" charset="-120"/>
              </a:rPr>
              <a:t>RQ4  </a:t>
            </a:r>
            <a:endParaRPr lang="en-US" sz="1000" dirty="0"/>
          </a:p>
        </p:txBody>
      </p:sp>
      <p:sp>
        <p:nvSpPr>
          <p:cNvPr id="27" name="Text 25"/>
          <p:cNvSpPr/>
          <p:nvPr/>
        </p:nvSpPr>
        <p:spPr>
          <a:xfrm>
            <a:off x="5120640" y="3895344"/>
            <a:ext cx="3566160" cy="329184"/>
          </a:xfrm>
          <a:prstGeom prst="rect">
            <a:avLst/>
          </a:prstGeom>
          <a:noFill/>
          <a:ln/>
        </p:spPr>
        <p:txBody>
          <a:bodyPr wrap="square" lIns="0" tIns="0" rIns="0" bIns="0" rtlCol="0" anchor="ctr"/>
          <a:lstStyle/>
          <a:p>
            <a:pPr indent="0" marL="0">
              <a:buNone/>
            </a:pPr>
            <a:r>
              <a:rPr lang="en-US" sz="1000" dirty="0">
                <a:solidFill>
                  <a:srgbClr val="1C1214"/>
                </a:solidFill>
                <a:latin typeface="Calibri" pitchFamily="34" charset="0"/>
                <a:ea typeface="Calibri" pitchFamily="34" charset="-122"/>
                <a:cs typeface="Calibri" pitchFamily="34" charset="-120"/>
              </a:rPr>
              <a:t>Do discovered rules improve out-of-sample forecasts in walk-forward validation?</a:t>
            </a:r>
            <a:endParaRPr lang="en-US" sz="1000" dirty="0"/>
          </a:p>
        </p:txBody>
      </p:sp>
      <p:sp>
        <p:nvSpPr>
          <p:cNvPr id="28" name="Text 26"/>
          <p:cNvSpPr/>
          <p:nvPr/>
        </p:nvSpPr>
        <p:spPr>
          <a:xfrm>
            <a:off x="411480" y="4846320"/>
            <a:ext cx="8321040" cy="228600"/>
          </a:xfrm>
          <a:prstGeom prst="rect">
            <a:avLst/>
          </a:prstGeom>
          <a:noFill/>
          <a:ln/>
        </p:spPr>
        <p:txBody>
          <a:bodyPr wrap="square" lIns="0" tIns="0" rIns="0" bIns="0" rtlCol="0" anchor="ctr"/>
          <a:lstStyle/>
          <a:p>
            <a:pPr algn="ctr" indent="0" marL="0">
              <a:buNone/>
            </a:pPr>
            <a:r>
              <a:rPr lang="en-US" sz="1000" b="1" i="1" dirty="0">
                <a:solidFill>
                  <a:srgbClr val="6B2737"/>
                </a:solidFill>
                <a:latin typeface="Calibri" pitchFamily="34" charset="0"/>
                <a:ea typeface="Calibri" pitchFamily="34" charset="-122"/>
                <a:cs typeface="Calibri" pitchFamily="34" charset="-120"/>
              </a:rPr>
              <a:t>The most scientifically interesting finding was not that prediction failed — it was why it failed.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2EA"/>
        </a:solidFill>
      </p:bgPr>
    </p:bg>
    <p:spTree>
      <p:nvGrpSpPr>
        <p:cNvPr id="1" name=""/>
        <p:cNvGrpSpPr/>
        <p:nvPr/>
      </p:nvGrpSpPr>
      <p:grpSpPr>
        <a:xfrm>
          <a:off x="0" y="0"/>
          <a:ext cx="0" cy="0"/>
          <a:chOff x="0" y="0"/>
          <a:chExt cx="0" cy="0"/>
        </a:xfrm>
      </p:grpSpPr>
      <p:sp>
        <p:nvSpPr>
          <p:cNvPr id="2" name="Shape 0"/>
          <p:cNvSpPr/>
          <p:nvPr/>
        </p:nvSpPr>
        <p:spPr>
          <a:xfrm>
            <a:off x="0" y="0"/>
            <a:ext cx="9144000" cy="59436"/>
          </a:xfrm>
          <a:prstGeom prst="rect">
            <a:avLst/>
          </a:prstGeom>
          <a:solidFill>
            <a:srgbClr val="C4964A"/>
          </a:solidFill>
          <a:ln w="12700">
            <a:solidFill>
              <a:srgbClr val="C4964A"/>
            </a:solidFill>
            <a:prstDash val="solid"/>
          </a:ln>
        </p:spPr>
      </p:sp>
      <p:sp>
        <p:nvSpPr>
          <p:cNvPr id="3" name="Text 1"/>
          <p:cNvSpPr/>
          <p:nvPr/>
        </p:nvSpPr>
        <p:spPr>
          <a:xfrm>
            <a:off x="411480" y="109728"/>
            <a:ext cx="8321040" cy="530352"/>
          </a:xfrm>
          <a:prstGeom prst="rect">
            <a:avLst/>
          </a:prstGeom>
          <a:noFill/>
          <a:ln/>
        </p:spPr>
        <p:txBody>
          <a:bodyPr wrap="square" lIns="0" tIns="0" rIns="0" bIns="0" rtlCol="0" anchor="ctr"/>
          <a:lstStyle/>
          <a:p>
            <a:pPr algn="l" indent="0" marL="0">
              <a:buNone/>
            </a:pPr>
            <a:r>
              <a:rPr lang="en-US" sz="2600" b="1" dirty="0">
                <a:solidFill>
                  <a:srgbClr val="6B2737"/>
                </a:solidFill>
                <a:latin typeface="Georgia" pitchFamily="34" charset="0"/>
                <a:ea typeface="Georgia" pitchFamily="34" charset="-122"/>
                <a:cs typeface="Georgia" pitchFamily="34" charset="-120"/>
              </a:rPr>
              <a:t>Data &amp; Experimental Design</a:t>
            </a:r>
            <a:endParaRPr lang="en-US" sz="2600" dirty="0"/>
          </a:p>
        </p:txBody>
      </p:sp>
      <p:sp>
        <p:nvSpPr>
          <p:cNvPr id="4" name="Text 2"/>
          <p:cNvSpPr/>
          <p:nvPr/>
        </p:nvSpPr>
        <p:spPr>
          <a:xfrm>
            <a:off x="411480" y="621792"/>
            <a:ext cx="8321040" cy="256032"/>
          </a:xfrm>
          <a:prstGeom prst="rect">
            <a:avLst/>
          </a:prstGeom>
          <a:noFill/>
          <a:ln/>
        </p:spPr>
        <p:txBody>
          <a:bodyPr wrap="square" lIns="0" tIns="0" rIns="0" bIns="0" rtlCol="0" anchor="ctr"/>
          <a:lstStyle/>
          <a:p>
            <a:pPr algn="l" indent="0" marL="0">
              <a:buNone/>
            </a:pPr>
            <a:r>
              <a:rPr lang="en-US" sz="1200" i="1" dirty="0">
                <a:solidFill>
                  <a:srgbClr val="5A4042"/>
                </a:solidFill>
                <a:latin typeface="Calibri" pitchFamily="34" charset="0"/>
                <a:ea typeface="Calibri" pitchFamily="34" charset="-122"/>
                <a:cs typeface="Calibri" pitchFamily="34" charset="-120"/>
              </a:rPr>
              <a:t>Same pipeline · same algorithms · two structurally contrasting regions</a:t>
            </a:r>
            <a:endParaRPr lang="en-US" sz="1200" dirty="0"/>
          </a:p>
        </p:txBody>
      </p:sp>
      <p:sp>
        <p:nvSpPr>
          <p:cNvPr id="5" name="Shape 3"/>
          <p:cNvSpPr/>
          <p:nvPr/>
        </p:nvSpPr>
        <p:spPr>
          <a:xfrm>
            <a:off x="411480" y="877824"/>
            <a:ext cx="8321040" cy="0"/>
          </a:xfrm>
          <a:prstGeom prst="line">
            <a:avLst/>
          </a:prstGeom>
          <a:noFill/>
          <a:ln w="12700">
            <a:solidFill>
              <a:srgbClr val="D4CACA"/>
            </a:solidFill>
            <a:prstDash val="solid"/>
          </a:ln>
        </p:spPr>
      </p:sp>
      <p:sp>
        <p:nvSpPr>
          <p:cNvPr id="6" name="Text 4"/>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4 / 12</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4572000" cy="914400"/>
        </p:xfrm>
        <a:graphic>
          <a:graphicData uri="http://schemas.openxmlformats.org/drawingml/2006/table">
            <a:tbl>
              <a:tblPr/>
              <a:tblGrid>
                <a:gridCol w="2011680"/>
                <a:gridCol w="1280160"/>
                <a:gridCol w="1280160"/>
              </a:tblGrid>
              <a:tr h="347472">
                <a:tc>
                  <a:txBody>
                    <a:bodyPr/>
                    <a:lstStyle/>
                    <a:p>
                      <a:pPr algn="l" indent="0" marL="0">
                        <a:buNone/>
                      </a:pPr>
                      <a:r>
                        <a:rPr lang="en-US" sz="1000" b="1" dirty="0">
                          <a:solidFill>
                            <a:srgbClr val="FFFFFF"/>
                          </a:solidFill>
                        </a:rPr>
                        <a:t>Characteristic</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algn="ctr" indent="0" marL="0">
                        <a:buNone/>
                      </a:pPr>
                      <a:r>
                        <a:rPr lang="en-US" sz="1000" b="1" dirty="0">
                          <a:solidFill>
                            <a:srgbClr val="FFFFFF"/>
                          </a:solidFill>
                        </a:rPr>
                        <a:t>Douro (RDD)</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algn="ctr" indent="0" marL="0">
                        <a:buNone/>
                      </a:pPr>
                      <a:r>
                        <a:rPr lang="en-US" sz="1000" b="1" dirty="0">
                          <a:solidFill>
                            <a:srgbClr val="FFFFFF"/>
                          </a:solidFill>
                        </a:rPr>
                        <a:t>Vinho Verde (RVV)</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r>
              <a:tr h="347472">
                <a:tc>
                  <a:txBody>
                    <a:bodyPr/>
                    <a:lstStyle/>
                    <a:p>
                      <a:pPr algn="l" indent="0" marL="0">
                        <a:buNone/>
                      </a:pPr>
                      <a:r>
                        <a:rPr lang="en-US" sz="1100" dirty="0">
                          <a:solidFill>
                            <a:srgbClr val="5A4042"/>
                          </a:solidFill>
                        </a:rPr>
                        <a:t>Period</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214"/>
                          </a:solidFill>
                        </a:rPr>
                        <a:t>1934–2022</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214"/>
                          </a:solidFill>
                        </a:rPr>
                        <a:t>1942–2021</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5A4042"/>
                          </a:solidFill>
                        </a:rPr>
                        <a:t>Observations</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ctr" indent="0" marL="0">
                        <a:buNone/>
                      </a:pPr>
                      <a:r>
                        <a:rPr lang="en-US" sz="1100" dirty="0">
                          <a:solidFill>
                            <a:srgbClr val="1C1214"/>
                          </a:solidFill>
                        </a:rPr>
                        <a:t>89 years</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ctr" indent="0" marL="0">
                        <a:buNone/>
                      </a:pPr>
                      <a:r>
                        <a:rPr lang="en-US" sz="1100" dirty="0">
                          <a:solidFill>
                            <a:srgbClr val="1C1214"/>
                          </a:solidFill>
                        </a:rPr>
                        <a:t>80 years</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r>
              <a:tr h="347472">
                <a:tc>
                  <a:txBody>
                    <a:bodyPr/>
                    <a:lstStyle/>
                    <a:p>
                      <a:pPr algn="l" indent="0" marL="0">
                        <a:buNone/>
                      </a:pPr>
                      <a:r>
                        <a:rPr lang="en-US" sz="1100" dirty="0">
                          <a:solidFill>
                            <a:srgbClr val="5A4042"/>
                          </a:solidFill>
                        </a:rPr>
                        <a:t>Climate</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214"/>
                          </a:solidFill>
                        </a:rPr>
                        <a:t>Continental / semi-arid</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214"/>
                          </a:solidFill>
                        </a:rPr>
                        <a:t>Temperate Atlantic</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5A4042"/>
                          </a:solidFill>
                        </a:rPr>
                        <a:t>Production trend</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ctr" indent="0" marL="0">
                        <a:buNone/>
                      </a:pPr>
                      <a:r>
                        <a:rPr lang="en-US" sz="1100" dirty="0">
                          <a:solidFill>
                            <a:srgbClr val="1C1214"/>
                          </a:solidFill>
                        </a:rPr>
                        <a:t>+80% increase</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ctr" indent="0" marL="0">
                        <a:buNone/>
                      </a:pPr>
                      <a:r>
                        <a:rPr lang="en-US" sz="1100" dirty="0">
                          <a:solidFill>
                            <a:srgbClr val="1C1214"/>
                          </a:solidFill>
                        </a:rPr>
                        <a:t>−65% decline</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r>
              <a:tr h="347472">
                <a:tc>
                  <a:txBody>
                    <a:bodyPr/>
                    <a:lstStyle/>
                    <a:p>
                      <a:pPr algn="l" indent="0" marL="0">
                        <a:buNone/>
                      </a:pPr>
                      <a:r>
                        <a:rPr lang="en-US" sz="1100" dirty="0">
                          <a:solidFill>
                            <a:srgbClr val="5A4042"/>
                          </a:solidFill>
                        </a:rPr>
                        <a:t>Walk-forward scenarios</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214"/>
                          </a:solidFill>
                        </a:rPr>
                        <a:t>18</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1214"/>
                          </a:solidFill>
                        </a:rPr>
                        <a:t>16</a:t>
                      </a:r>
                      <a:endParaRPr lang="en-US" sz="11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r>
            </a:tbl>
          </a:graphicData>
        </a:graphic>
      </p:graphicFrame>
      <p:sp>
        <p:nvSpPr>
          <p:cNvPr id="8" name="Shape 5"/>
          <p:cNvSpPr/>
          <p:nvPr/>
        </p:nvSpPr>
        <p:spPr>
          <a:xfrm>
            <a:off x="5166360" y="1005840"/>
            <a:ext cx="3566160" cy="1261872"/>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9" name="Shape 6"/>
          <p:cNvSpPr/>
          <p:nvPr/>
        </p:nvSpPr>
        <p:spPr>
          <a:xfrm>
            <a:off x="5166360" y="1005840"/>
            <a:ext cx="54864" cy="1261872"/>
          </a:xfrm>
          <a:prstGeom prst="rect">
            <a:avLst/>
          </a:prstGeom>
          <a:solidFill>
            <a:srgbClr val="C4964A"/>
          </a:solidFill>
          <a:ln w="12700">
            <a:solidFill>
              <a:srgbClr val="C4964A"/>
            </a:solidFill>
            <a:prstDash val="solid"/>
          </a:ln>
        </p:spPr>
      </p:sp>
      <p:sp>
        <p:nvSpPr>
          <p:cNvPr id="10" name="Text 7"/>
          <p:cNvSpPr/>
          <p:nvPr/>
        </p:nvSpPr>
        <p:spPr>
          <a:xfrm>
            <a:off x="5349240" y="1051560"/>
            <a:ext cx="3291840" cy="274320"/>
          </a:xfrm>
          <a:prstGeom prst="rect">
            <a:avLst/>
          </a:prstGeom>
          <a:noFill/>
          <a:ln/>
        </p:spPr>
        <p:txBody>
          <a:bodyPr wrap="square" lIns="0" tIns="0" rIns="0" bIns="0" rtlCol="0" anchor="ctr"/>
          <a:lstStyle/>
          <a:p>
            <a:pPr indent="0" marL="0">
              <a:buNone/>
            </a:pPr>
            <a:r>
              <a:rPr lang="en-US" sz="1100" b="1" dirty="0">
                <a:solidFill>
                  <a:srgbClr val="6B2737"/>
                </a:solidFill>
                <a:latin typeface="Calibri" pitchFamily="34" charset="0"/>
                <a:ea typeface="Calibri" pitchFamily="34" charset="-122"/>
                <a:cs typeface="Calibri" pitchFamily="34" charset="-120"/>
              </a:rPr>
              <a:t>59 agroclimatic features / region</a:t>
            </a:r>
            <a:endParaRPr lang="en-US" sz="1100" dirty="0"/>
          </a:p>
        </p:txBody>
      </p:sp>
      <p:sp>
        <p:nvSpPr>
          <p:cNvPr id="11" name="Text 8"/>
          <p:cNvSpPr/>
          <p:nvPr/>
        </p:nvSpPr>
        <p:spPr>
          <a:xfrm>
            <a:off x="5349240" y="1335024"/>
            <a:ext cx="3291840" cy="822960"/>
          </a:xfrm>
          <a:prstGeom prst="rect">
            <a:avLst/>
          </a:prstGeom>
          <a:noFill/>
          <a:ln/>
        </p:spPr>
        <p:txBody>
          <a:bodyPr wrap="square" lIns="0" tIns="0" rIns="0" bIns="0" rtlCol="0" anchor="ctr"/>
          <a:lstStyle/>
          <a:p>
            <a:pPr indent="0" marL="0">
              <a:buNone/>
            </a:pPr>
            <a:r>
              <a:rPr lang="en-US" sz="1000" dirty="0">
                <a:solidFill>
                  <a:srgbClr val="1C1214"/>
                </a:solidFill>
                <a:latin typeface="Calibri" pitchFamily="34" charset="0"/>
                <a:ea typeface="Calibri" pitchFamily="34" charset="-122"/>
                <a:cs typeface="Calibri" pitchFamily="34" charset="-120"/>
              </a:rPr>
              <a:t>Temperature · Rainfall · Soil water</a:t>
            </a:r>
            <a:endParaRPr lang="en-US" sz="1000" dirty="0"/>
          </a:p>
          <a:p>
            <a:pPr indent="0" marL="0">
              <a:buNone/>
            </a:pPr>
            <a:r>
              <a:rPr lang="en-US" sz="1000" dirty="0">
                <a:solidFill>
                  <a:srgbClr val="1C1214"/>
                </a:solidFill>
                <a:latin typeface="Calibri" pitchFamily="34" charset="0"/>
                <a:ea typeface="Calibri" pitchFamily="34" charset="-122"/>
                <a:cs typeface="Calibri" pitchFamily="34" charset="-120"/>
              </a:rPr>
              <a:t>LAI · Heat/frost days · Prior-year lags</a:t>
            </a:r>
            <a:endParaRPr lang="en-US" sz="1000" dirty="0"/>
          </a:p>
          <a:p>
            <a:pPr indent="0" marL="0">
              <a:buNone/>
            </a:pPr>
            <a:r>
              <a:rPr lang="en-US" sz="1000" dirty="0">
                <a:solidFill>
                  <a:srgbClr val="1C1214"/>
                </a:solidFill>
                <a:latin typeface="Calibri" pitchFamily="34" charset="0"/>
                <a:ea typeface="Calibri" pitchFamily="34" charset="-122"/>
                <a:cs typeface="Calibri" pitchFamily="34" charset="-120"/>
              </a:rPr>
              <a:t>Anchored on vine phenological dates</a:t>
            </a:r>
            <a:endParaRPr lang="en-US" sz="1000" dirty="0"/>
          </a:p>
        </p:txBody>
      </p:sp>
      <p:sp>
        <p:nvSpPr>
          <p:cNvPr id="12" name="Shape 9"/>
          <p:cNvSpPr/>
          <p:nvPr/>
        </p:nvSpPr>
        <p:spPr>
          <a:xfrm>
            <a:off x="5166360" y="2395728"/>
            <a:ext cx="1115568" cy="896112"/>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3" name="Shape 10"/>
          <p:cNvSpPr/>
          <p:nvPr/>
        </p:nvSpPr>
        <p:spPr>
          <a:xfrm>
            <a:off x="5166360" y="2395728"/>
            <a:ext cx="54864" cy="896112"/>
          </a:xfrm>
          <a:prstGeom prst="rect">
            <a:avLst/>
          </a:prstGeom>
          <a:solidFill>
            <a:srgbClr val="6B2737"/>
          </a:solidFill>
          <a:ln w="12700">
            <a:solidFill>
              <a:srgbClr val="6B2737"/>
            </a:solidFill>
            <a:prstDash val="solid"/>
          </a:ln>
        </p:spPr>
      </p:sp>
      <p:sp>
        <p:nvSpPr>
          <p:cNvPr id="14" name="Text 11"/>
          <p:cNvSpPr/>
          <p:nvPr/>
        </p:nvSpPr>
        <p:spPr>
          <a:xfrm>
            <a:off x="5294376" y="2441448"/>
            <a:ext cx="914400" cy="256032"/>
          </a:xfrm>
          <a:prstGeom prst="rect">
            <a:avLst/>
          </a:prstGeom>
          <a:noFill/>
          <a:ln/>
        </p:spPr>
        <p:txBody>
          <a:bodyPr wrap="square" lIns="0" tIns="0" rIns="0" bIns="0" rtlCol="0" anchor="ctr"/>
          <a:lstStyle/>
          <a:p>
            <a:pPr indent="0" marL="0">
              <a:buNone/>
            </a:pPr>
            <a:r>
              <a:rPr lang="en-US" sz="1000" b="1" dirty="0">
                <a:solidFill>
                  <a:srgbClr val="6B2737"/>
                </a:solidFill>
                <a:latin typeface="Calibri" pitchFamily="34" charset="0"/>
                <a:ea typeface="Calibri" pitchFamily="34" charset="-122"/>
                <a:cs typeface="Calibri" pitchFamily="34" charset="-120"/>
              </a:rPr>
              <a:t>CarenR</a:t>
            </a:r>
            <a:endParaRPr lang="en-US" sz="1000" dirty="0"/>
          </a:p>
        </p:txBody>
      </p:sp>
      <p:sp>
        <p:nvSpPr>
          <p:cNvPr id="15" name="Text 12"/>
          <p:cNvSpPr/>
          <p:nvPr/>
        </p:nvSpPr>
        <p:spPr>
          <a:xfrm>
            <a:off x="5294376" y="2697480"/>
            <a:ext cx="914400" cy="548640"/>
          </a:xfrm>
          <a:prstGeom prst="rect">
            <a:avLst/>
          </a:prstGeom>
          <a:noFill/>
          <a:ln/>
        </p:spPr>
        <p:txBody>
          <a:bodyPr wrap="square" lIns="0" tIns="0" rIns="0" bIns="0" rtlCol="0" anchor="ctr"/>
          <a:lstStyle/>
          <a:p>
            <a:pPr indent="0" marL="0">
              <a:buNone/>
            </a:pPr>
            <a:r>
              <a:rPr lang="en-US" sz="900" dirty="0">
                <a:solidFill>
                  <a:srgbClr val="1C1214"/>
                </a:solidFill>
                <a:latin typeface="Calibri" pitchFamily="34" charset="0"/>
                <a:ea typeface="Calibri" pitchFamily="34" charset="-122"/>
                <a:cs typeface="Calibri" pitchFamily="34" charset="-120"/>
              </a:rPr>
              <a:t>Distributional rules</a:t>
            </a:r>
            <a:endParaRPr lang="en-US" sz="900" dirty="0"/>
          </a:p>
          <a:p>
            <a:pPr indent="0" marL="0">
              <a:buNone/>
            </a:pPr>
            <a:r>
              <a:rPr lang="en-US" sz="900" dirty="0">
                <a:solidFill>
                  <a:srgbClr val="1C1214"/>
                </a:solidFill>
                <a:latin typeface="Calibri" pitchFamily="34" charset="0"/>
                <a:ea typeface="Calibri" pitchFamily="34" charset="-122"/>
                <a:cs typeface="Calibri" pitchFamily="34" charset="-120"/>
              </a:rPr>
              <a:t>(KS test)</a:t>
            </a:r>
            <a:endParaRPr lang="en-US" sz="900" dirty="0"/>
          </a:p>
        </p:txBody>
      </p:sp>
      <p:sp>
        <p:nvSpPr>
          <p:cNvPr id="16" name="Shape 13"/>
          <p:cNvSpPr/>
          <p:nvPr/>
        </p:nvSpPr>
        <p:spPr>
          <a:xfrm>
            <a:off x="6355080" y="2395728"/>
            <a:ext cx="1115568" cy="896112"/>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7" name="Shape 14"/>
          <p:cNvSpPr/>
          <p:nvPr/>
        </p:nvSpPr>
        <p:spPr>
          <a:xfrm>
            <a:off x="6355080" y="2395728"/>
            <a:ext cx="54864" cy="896112"/>
          </a:xfrm>
          <a:prstGeom prst="rect">
            <a:avLst/>
          </a:prstGeom>
          <a:solidFill>
            <a:srgbClr val="2A7F7F"/>
          </a:solidFill>
          <a:ln w="12700">
            <a:solidFill>
              <a:srgbClr val="2A7F7F"/>
            </a:solidFill>
            <a:prstDash val="solid"/>
          </a:ln>
        </p:spPr>
      </p:sp>
      <p:sp>
        <p:nvSpPr>
          <p:cNvPr id="18" name="Text 15"/>
          <p:cNvSpPr/>
          <p:nvPr/>
        </p:nvSpPr>
        <p:spPr>
          <a:xfrm>
            <a:off x="6483096" y="2441448"/>
            <a:ext cx="914400" cy="256032"/>
          </a:xfrm>
          <a:prstGeom prst="rect">
            <a:avLst/>
          </a:prstGeom>
          <a:noFill/>
          <a:ln/>
        </p:spPr>
        <p:txBody>
          <a:bodyPr wrap="square" lIns="0" tIns="0" rIns="0" bIns="0" rtlCol="0" anchor="ctr"/>
          <a:lstStyle/>
          <a:p>
            <a:pPr indent="0" marL="0">
              <a:buNone/>
            </a:pPr>
            <a:r>
              <a:rPr lang="en-US" sz="1000" b="1" dirty="0">
                <a:solidFill>
                  <a:srgbClr val="2A7F7F"/>
                </a:solidFill>
                <a:latin typeface="Calibri" pitchFamily="34" charset="0"/>
                <a:ea typeface="Calibri" pitchFamily="34" charset="-122"/>
                <a:cs typeface="Calibri" pitchFamily="34" charset="-120"/>
              </a:rPr>
              <a:t>RIPPER</a:t>
            </a:r>
            <a:endParaRPr lang="en-US" sz="1000" dirty="0"/>
          </a:p>
        </p:txBody>
      </p:sp>
      <p:sp>
        <p:nvSpPr>
          <p:cNvPr id="19" name="Text 16"/>
          <p:cNvSpPr/>
          <p:nvPr/>
        </p:nvSpPr>
        <p:spPr>
          <a:xfrm>
            <a:off x="6483096" y="2697480"/>
            <a:ext cx="914400" cy="548640"/>
          </a:xfrm>
          <a:prstGeom prst="rect">
            <a:avLst/>
          </a:prstGeom>
          <a:noFill/>
          <a:ln/>
        </p:spPr>
        <p:txBody>
          <a:bodyPr wrap="square" lIns="0" tIns="0" rIns="0" bIns="0" rtlCol="0" anchor="ctr"/>
          <a:lstStyle/>
          <a:p>
            <a:pPr indent="0" marL="0">
              <a:buNone/>
            </a:pPr>
            <a:r>
              <a:rPr lang="en-US" sz="900" dirty="0">
                <a:solidFill>
                  <a:srgbClr val="1C1214"/>
                </a:solidFill>
                <a:latin typeface="Calibri" pitchFamily="34" charset="0"/>
                <a:ea typeface="Calibri" pitchFamily="34" charset="-122"/>
                <a:cs typeface="Calibri" pitchFamily="34" charset="-120"/>
              </a:rPr>
              <a:t>Classification rules</a:t>
            </a:r>
            <a:endParaRPr lang="en-US" sz="900" dirty="0"/>
          </a:p>
          <a:p>
            <a:pPr indent="0" marL="0">
              <a:buNone/>
            </a:pPr>
            <a:r>
              <a:rPr lang="en-US" sz="900" dirty="0">
                <a:solidFill>
                  <a:srgbClr val="1C1214"/>
                </a:solidFill>
                <a:latin typeface="Calibri" pitchFamily="34" charset="0"/>
                <a:ea typeface="Calibri" pitchFamily="34" charset="-122"/>
                <a:cs typeface="Calibri" pitchFamily="34" charset="-120"/>
              </a:rPr>
              <a:t>(FOIL gain)</a:t>
            </a:r>
            <a:endParaRPr lang="en-US" sz="900" dirty="0"/>
          </a:p>
        </p:txBody>
      </p:sp>
      <p:sp>
        <p:nvSpPr>
          <p:cNvPr id="20" name="Shape 17"/>
          <p:cNvSpPr/>
          <p:nvPr/>
        </p:nvSpPr>
        <p:spPr>
          <a:xfrm>
            <a:off x="7543800" y="2395728"/>
            <a:ext cx="1115568" cy="896112"/>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21" name="Shape 18"/>
          <p:cNvSpPr/>
          <p:nvPr/>
        </p:nvSpPr>
        <p:spPr>
          <a:xfrm>
            <a:off x="7543800" y="2395728"/>
            <a:ext cx="54864" cy="896112"/>
          </a:xfrm>
          <a:prstGeom prst="rect">
            <a:avLst/>
          </a:prstGeom>
          <a:solidFill>
            <a:srgbClr val="5A4042"/>
          </a:solidFill>
          <a:ln w="12700">
            <a:solidFill>
              <a:srgbClr val="5A4042"/>
            </a:solidFill>
            <a:prstDash val="solid"/>
          </a:ln>
        </p:spPr>
      </p:sp>
      <p:sp>
        <p:nvSpPr>
          <p:cNvPr id="22" name="Text 19"/>
          <p:cNvSpPr/>
          <p:nvPr/>
        </p:nvSpPr>
        <p:spPr>
          <a:xfrm>
            <a:off x="7671816" y="2441448"/>
            <a:ext cx="914400" cy="256032"/>
          </a:xfrm>
          <a:prstGeom prst="rect">
            <a:avLst/>
          </a:prstGeom>
          <a:noFill/>
          <a:ln/>
        </p:spPr>
        <p:txBody>
          <a:bodyPr wrap="square" lIns="0" tIns="0" rIns="0" bIns="0" rtlCol="0" anchor="ctr"/>
          <a:lstStyle/>
          <a:p>
            <a:pPr indent="0" marL="0">
              <a:buNone/>
            </a:pPr>
            <a:r>
              <a:rPr lang="en-US" sz="1000" b="1" dirty="0">
                <a:solidFill>
                  <a:srgbClr val="5A4042"/>
                </a:solidFill>
                <a:latin typeface="Calibri" pitchFamily="34" charset="0"/>
                <a:ea typeface="Calibri" pitchFamily="34" charset="-122"/>
                <a:cs typeface="Calibri" pitchFamily="34" charset="-120"/>
              </a:rPr>
              <a:t>M5Rules</a:t>
            </a:r>
            <a:endParaRPr lang="en-US" sz="1000" dirty="0"/>
          </a:p>
        </p:txBody>
      </p:sp>
      <p:sp>
        <p:nvSpPr>
          <p:cNvPr id="23" name="Text 20"/>
          <p:cNvSpPr/>
          <p:nvPr/>
        </p:nvSpPr>
        <p:spPr>
          <a:xfrm>
            <a:off x="7671816" y="2697480"/>
            <a:ext cx="914400" cy="548640"/>
          </a:xfrm>
          <a:prstGeom prst="rect">
            <a:avLst/>
          </a:prstGeom>
          <a:noFill/>
          <a:ln/>
        </p:spPr>
        <p:txBody>
          <a:bodyPr wrap="square" lIns="0" tIns="0" rIns="0" bIns="0" rtlCol="0" anchor="ctr"/>
          <a:lstStyle/>
          <a:p>
            <a:pPr indent="0" marL="0">
              <a:buNone/>
            </a:pPr>
            <a:r>
              <a:rPr lang="en-US" sz="900" dirty="0">
                <a:solidFill>
                  <a:srgbClr val="1C1214"/>
                </a:solidFill>
                <a:latin typeface="Calibri" pitchFamily="34" charset="0"/>
                <a:ea typeface="Calibri" pitchFamily="34" charset="-122"/>
                <a:cs typeface="Calibri" pitchFamily="34" charset="-120"/>
              </a:rPr>
              <a:t>Piecewise regression</a:t>
            </a:r>
            <a:endParaRPr lang="en-US" sz="900" dirty="0"/>
          </a:p>
          <a:p>
            <a:pPr indent="0" marL="0">
              <a:buNone/>
            </a:pPr>
            <a:r>
              <a:rPr lang="en-US" sz="900" dirty="0">
                <a:solidFill>
                  <a:srgbClr val="1C1214"/>
                </a:solidFill>
                <a:latin typeface="Calibri" pitchFamily="34" charset="0"/>
                <a:ea typeface="Calibri" pitchFamily="34" charset="-122"/>
                <a:cs typeface="Calibri" pitchFamily="34" charset="-120"/>
              </a:rPr>
              <a:t>(MSE min.)</a:t>
            </a:r>
            <a:endParaRPr lang="en-US" sz="900" dirty="0"/>
          </a:p>
        </p:txBody>
      </p:sp>
      <p:sp>
        <p:nvSpPr>
          <p:cNvPr id="24" name="Shape 21"/>
          <p:cNvSpPr/>
          <p:nvPr/>
        </p:nvSpPr>
        <p:spPr>
          <a:xfrm>
            <a:off x="411480" y="3310128"/>
            <a:ext cx="8321040" cy="1508760"/>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25" name="Text 22"/>
          <p:cNvSpPr/>
          <p:nvPr/>
        </p:nvSpPr>
        <p:spPr>
          <a:xfrm>
            <a:off x="594360" y="3364992"/>
            <a:ext cx="7955280" cy="256032"/>
          </a:xfrm>
          <a:prstGeom prst="rect">
            <a:avLst/>
          </a:prstGeom>
          <a:noFill/>
          <a:ln/>
        </p:spPr>
        <p:txBody>
          <a:bodyPr wrap="square" lIns="0" tIns="0" rIns="0" bIns="0" rtlCol="0" anchor="ctr"/>
          <a:lstStyle/>
          <a:p>
            <a:pPr algn="ctr" indent="0" marL="0">
              <a:buNone/>
            </a:pPr>
            <a:r>
              <a:rPr lang="en-US" sz="1100" b="1" dirty="0">
                <a:solidFill>
                  <a:srgbClr val="6B2737"/>
                </a:solidFill>
                <a:latin typeface="Calibri" pitchFamily="34" charset="0"/>
                <a:ea typeface="Calibri" pitchFamily="34" charset="-122"/>
                <a:cs typeface="Calibri" pitchFamily="34" charset="-120"/>
              </a:rPr>
              <a:t>Walk-forward expanding-window validation  —  all preprocessing inside each training fold</a:t>
            </a:r>
            <a:endParaRPr lang="en-US" sz="1100" dirty="0"/>
          </a:p>
        </p:txBody>
      </p:sp>
      <p:sp>
        <p:nvSpPr>
          <p:cNvPr id="26" name="Shape 23"/>
          <p:cNvSpPr/>
          <p:nvPr/>
        </p:nvSpPr>
        <p:spPr>
          <a:xfrm>
            <a:off x="594360" y="3703320"/>
            <a:ext cx="731520" cy="347472"/>
          </a:xfrm>
          <a:prstGeom prst="rect">
            <a:avLst/>
          </a:prstGeom>
          <a:solidFill>
            <a:srgbClr val="6B2737"/>
          </a:solidFill>
          <a:ln w="12700">
            <a:solidFill>
              <a:srgbClr val="6B2737"/>
            </a:solidFill>
            <a:prstDash val="solid"/>
          </a:ln>
        </p:spPr>
      </p:sp>
      <p:sp>
        <p:nvSpPr>
          <p:cNvPr id="27" name="Text 24"/>
          <p:cNvSpPr/>
          <p:nvPr/>
        </p:nvSpPr>
        <p:spPr>
          <a:xfrm>
            <a:off x="594360" y="3749040"/>
            <a:ext cx="731520"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TRAIN</a:t>
            </a:r>
            <a:endParaRPr lang="en-US" sz="800" dirty="0"/>
          </a:p>
        </p:txBody>
      </p:sp>
      <p:sp>
        <p:nvSpPr>
          <p:cNvPr id="28" name="Shape 25"/>
          <p:cNvSpPr/>
          <p:nvPr/>
        </p:nvSpPr>
        <p:spPr>
          <a:xfrm>
            <a:off x="1344168" y="3703320"/>
            <a:ext cx="502920" cy="347472"/>
          </a:xfrm>
          <a:prstGeom prst="rect">
            <a:avLst/>
          </a:prstGeom>
          <a:solidFill>
            <a:srgbClr val="C4964A"/>
          </a:solidFill>
          <a:ln w="12700">
            <a:solidFill>
              <a:srgbClr val="C4964A"/>
            </a:solidFill>
            <a:prstDash val="solid"/>
          </a:ln>
        </p:spPr>
      </p:sp>
      <p:sp>
        <p:nvSpPr>
          <p:cNvPr id="29" name="Text 26"/>
          <p:cNvSpPr/>
          <p:nvPr/>
        </p:nvSpPr>
        <p:spPr>
          <a:xfrm>
            <a:off x="1344168" y="3749040"/>
            <a:ext cx="502920" cy="256032"/>
          </a:xfrm>
          <a:prstGeom prst="rect">
            <a:avLst/>
          </a:prstGeom>
          <a:noFill/>
          <a:ln/>
        </p:spPr>
        <p:txBody>
          <a:bodyPr wrap="square" lIns="0" tIns="0" rIns="0" bIns="0" rtlCol="0" anchor="ctr"/>
          <a:lstStyle/>
          <a:p>
            <a:pPr algn="ctr" indent="0" marL="0">
              <a:buNone/>
            </a:pPr>
            <a:r>
              <a:rPr lang="en-US" sz="800" dirty="0">
                <a:solidFill>
                  <a:srgbClr val="1C1214"/>
                </a:solidFill>
                <a:latin typeface="Calibri" pitchFamily="34" charset="0"/>
                <a:ea typeface="Calibri" pitchFamily="34" charset="-122"/>
                <a:cs typeface="Calibri" pitchFamily="34" charset="-120"/>
              </a:rPr>
              <a:t>TEST</a:t>
            </a:r>
            <a:endParaRPr lang="en-US" sz="800" dirty="0"/>
          </a:p>
        </p:txBody>
      </p:sp>
      <p:sp>
        <p:nvSpPr>
          <p:cNvPr id="30" name="Text 27"/>
          <p:cNvSpPr/>
          <p:nvPr/>
        </p:nvSpPr>
        <p:spPr>
          <a:xfrm>
            <a:off x="594360" y="4096512"/>
            <a:ext cx="1234440" cy="182880"/>
          </a:xfrm>
          <a:prstGeom prst="rect">
            <a:avLst/>
          </a:prstGeom>
          <a:noFill/>
          <a:ln/>
        </p:spPr>
        <p:txBody>
          <a:bodyPr wrap="square" lIns="0" tIns="0" rIns="0" bIns="0" rtlCol="0" anchor="ctr"/>
          <a:lstStyle/>
          <a:p>
            <a:pPr algn="ctr" indent="0" marL="0">
              <a:buNone/>
            </a:pPr>
            <a:r>
              <a:rPr lang="en-US" sz="800" dirty="0">
                <a:solidFill>
                  <a:srgbClr val="9A8E8B"/>
                </a:solidFill>
                <a:latin typeface="Calibri" pitchFamily="34" charset="0"/>
                <a:ea typeface="Calibri" pitchFamily="34" charset="-122"/>
                <a:cs typeface="Calibri" pitchFamily="34" charset="-120"/>
              </a:rPr>
              <a:t>Sc.1</a:t>
            </a:r>
            <a:endParaRPr lang="en-US" sz="800" dirty="0"/>
          </a:p>
        </p:txBody>
      </p:sp>
      <p:sp>
        <p:nvSpPr>
          <p:cNvPr id="31" name="Shape 28"/>
          <p:cNvSpPr/>
          <p:nvPr/>
        </p:nvSpPr>
        <p:spPr>
          <a:xfrm>
            <a:off x="1828800" y="3703320"/>
            <a:ext cx="850392" cy="347472"/>
          </a:xfrm>
          <a:prstGeom prst="rect">
            <a:avLst/>
          </a:prstGeom>
          <a:solidFill>
            <a:srgbClr val="6B2737"/>
          </a:solidFill>
          <a:ln w="12700">
            <a:solidFill>
              <a:srgbClr val="6B2737"/>
            </a:solidFill>
            <a:prstDash val="solid"/>
          </a:ln>
        </p:spPr>
      </p:sp>
      <p:sp>
        <p:nvSpPr>
          <p:cNvPr id="32" name="Text 29"/>
          <p:cNvSpPr/>
          <p:nvPr/>
        </p:nvSpPr>
        <p:spPr>
          <a:xfrm>
            <a:off x="1828800" y="3749040"/>
            <a:ext cx="850392"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TRAIN</a:t>
            </a:r>
            <a:endParaRPr lang="en-US" sz="800" dirty="0"/>
          </a:p>
        </p:txBody>
      </p:sp>
      <p:sp>
        <p:nvSpPr>
          <p:cNvPr id="33" name="Shape 30"/>
          <p:cNvSpPr/>
          <p:nvPr/>
        </p:nvSpPr>
        <p:spPr>
          <a:xfrm>
            <a:off x="2697480" y="3703320"/>
            <a:ext cx="438912" cy="347472"/>
          </a:xfrm>
          <a:prstGeom prst="rect">
            <a:avLst/>
          </a:prstGeom>
          <a:solidFill>
            <a:srgbClr val="C4964A"/>
          </a:solidFill>
          <a:ln w="12700">
            <a:solidFill>
              <a:srgbClr val="C4964A"/>
            </a:solidFill>
            <a:prstDash val="solid"/>
          </a:ln>
        </p:spPr>
      </p:sp>
      <p:sp>
        <p:nvSpPr>
          <p:cNvPr id="34" name="Text 31"/>
          <p:cNvSpPr/>
          <p:nvPr/>
        </p:nvSpPr>
        <p:spPr>
          <a:xfrm>
            <a:off x="2697480" y="3749040"/>
            <a:ext cx="438912" cy="256032"/>
          </a:xfrm>
          <a:prstGeom prst="rect">
            <a:avLst/>
          </a:prstGeom>
          <a:noFill/>
          <a:ln/>
        </p:spPr>
        <p:txBody>
          <a:bodyPr wrap="square" lIns="0" tIns="0" rIns="0" bIns="0" rtlCol="0" anchor="ctr"/>
          <a:lstStyle/>
          <a:p>
            <a:pPr algn="ctr" indent="0" marL="0">
              <a:buNone/>
            </a:pPr>
            <a:r>
              <a:rPr lang="en-US" sz="800" dirty="0">
                <a:solidFill>
                  <a:srgbClr val="1C1214"/>
                </a:solidFill>
                <a:latin typeface="Calibri" pitchFamily="34" charset="0"/>
                <a:ea typeface="Calibri" pitchFamily="34" charset="-122"/>
                <a:cs typeface="Calibri" pitchFamily="34" charset="-120"/>
              </a:rPr>
              <a:t>TEST</a:t>
            </a:r>
            <a:endParaRPr lang="en-US" sz="800" dirty="0"/>
          </a:p>
        </p:txBody>
      </p:sp>
      <p:sp>
        <p:nvSpPr>
          <p:cNvPr id="35" name="Text 32"/>
          <p:cNvSpPr/>
          <p:nvPr/>
        </p:nvSpPr>
        <p:spPr>
          <a:xfrm>
            <a:off x="1828800" y="4096512"/>
            <a:ext cx="1234440" cy="182880"/>
          </a:xfrm>
          <a:prstGeom prst="rect">
            <a:avLst/>
          </a:prstGeom>
          <a:noFill/>
          <a:ln/>
        </p:spPr>
        <p:txBody>
          <a:bodyPr wrap="square" lIns="0" tIns="0" rIns="0" bIns="0" rtlCol="0" anchor="ctr"/>
          <a:lstStyle/>
          <a:p>
            <a:pPr algn="ctr" indent="0" marL="0">
              <a:buNone/>
            </a:pPr>
            <a:r>
              <a:rPr lang="en-US" sz="800" dirty="0">
                <a:solidFill>
                  <a:srgbClr val="9A8E8B"/>
                </a:solidFill>
                <a:latin typeface="Calibri" pitchFamily="34" charset="0"/>
                <a:ea typeface="Calibri" pitchFamily="34" charset="-122"/>
                <a:cs typeface="Calibri" pitchFamily="34" charset="-120"/>
              </a:rPr>
              <a:t>Sc.4</a:t>
            </a:r>
            <a:endParaRPr lang="en-US" sz="800" dirty="0"/>
          </a:p>
        </p:txBody>
      </p:sp>
      <p:sp>
        <p:nvSpPr>
          <p:cNvPr id="36" name="Shape 33"/>
          <p:cNvSpPr/>
          <p:nvPr/>
        </p:nvSpPr>
        <p:spPr>
          <a:xfrm>
            <a:off x="3063240" y="3703320"/>
            <a:ext cx="969264" cy="347472"/>
          </a:xfrm>
          <a:prstGeom prst="rect">
            <a:avLst/>
          </a:prstGeom>
          <a:solidFill>
            <a:srgbClr val="6B2737"/>
          </a:solidFill>
          <a:ln w="12700">
            <a:solidFill>
              <a:srgbClr val="6B2737"/>
            </a:solidFill>
            <a:prstDash val="solid"/>
          </a:ln>
        </p:spPr>
      </p:sp>
      <p:sp>
        <p:nvSpPr>
          <p:cNvPr id="37" name="Text 34"/>
          <p:cNvSpPr/>
          <p:nvPr/>
        </p:nvSpPr>
        <p:spPr>
          <a:xfrm>
            <a:off x="3063240" y="3749040"/>
            <a:ext cx="969264"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TRAIN</a:t>
            </a:r>
            <a:endParaRPr lang="en-US" sz="800" dirty="0"/>
          </a:p>
        </p:txBody>
      </p:sp>
      <p:sp>
        <p:nvSpPr>
          <p:cNvPr id="38" name="Shape 35"/>
          <p:cNvSpPr/>
          <p:nvPr/>
        </p:nvSpPr>
        <p:spPr>
          <a:xfrm>
            <a:off x="4050792" y="3703320"/>
            <a:ext cx="374904" cy="347472"/>
          </a:xfrm>
          <a:prstGeom prst="rect">
            <a:avLst/>
          </a:prstGeom>
          <a:solidFill>
            <a:srgbClr val="C4964A"/>
          </a:solidFill>
          <a:ln w="12700">
            <a:solidFill>
              <a:srgbClr val="C4964A"/>
            </a:solidFill>
            <a:prstDash val="solid"/>
          </a:ln>
        </p:spPr>
      </p:sp>
      <p:sp>
        <p:nvSpPr>
          <p:cNvPr id="39" name="Text 36"/>
          <p:cNvSpPr/>
          <p:nvPr/>
        </p:nvSpPr>
        <p:spPr>
          <a:xfrm>
            <a:off x="4050792" y="3749040"/>
            <a:ext cx="374904" cy="256032"/>
          </a:xfrm>
          <a:prstGeom prst="rect">
            <a:avLst/>
          </a:prstGeom>
          <a:noFill/>
          <a:ln/>
        </p:spPr>
        <p:txBody>
          <a:bodyPr wrap="square" lIns="0" tIns="0" rIns="0" bIns="0" rtlCol="0" anchor="ctr"/>
          <a:lstStyle/>
          <a:p>
            <a:pPr algn="ctr" indent="0" marL="0">
              <a:buNone/>
            </a:pPr>
            <a:r>
              <a:rPr lang="en-US" sz="800" dirty="0">
                <a:solidFill>
                  <a:srgbClr val="1C1214"/>
                </a:solidFill>
                <a:latin typeface="Calibri" pitchFamily="34" charset="0"/>
                <a:ea typeface="Calibri" pitchFamily="34" charset="-122"/>
                <a:cs typeface="Calibri" pitchFamily="34" charset="-120"/>
              </a:rPr>
              <a:t>TEST</a:t>
            </a:r>
            <a:endParaRPr lang="en-US" sz="800" dirty="0"/>
          </a:p>
        </p:txBody>
      </p:sp>
      <p:sp>
        <p:nvSpPr>
          <p:cNvPr id="40" name="Text 37"/>
          <p:cNvSpPr/>
          <p:nvPr/>
        </p:nvSpPr>
        <p:spPr>
          <a:xfrm>
            <a:off x="3063240" y="4096512"/>
            <a:ext cx="1234440" cy="182880"/>
          </a:xfrm>
          <a:prstGeom prst="rect">
            <a:avLst/>
          </a:prstGeom>
          <a:noFill/>
          <a:ln/>
        </p:spPr>
        <p:txBody>
          <a:bodyPr wrap="square" lIns="0" tIns="0" rIns="0" bIns="0" rtlCol="0" anchor="ctr"/>
          <a:lstStyle/>
          <a:p>
            <a:pPr algn="ctr" indent="0" marL="0">
              <a:buNone/>
            </a:pPr>
            <a:r>
              <a:rPr lang="en-US" sz="800" dirty="0">
                <a:solidFill>
                  <a:srgbClr val="9A8E8B"/>
                </a:solidFill>
                <a:latin typeface="Calibri" pitchFamily="34" charset="0"/>
                <a:ea typeface="Calibri" pitchFamily="34" charset="-122"/>
                <a:cs typeface="Calibri" pitchFamily="34" charset="-120"/>
              </a:rPr>
              <a:t>Sc.8</a:t>
            </a:r>
            <a:endParaRPr lang="en-US" sz="800" dirty="0"/>
          </a:p>
        </p:txBody>
      </p:sp>
      <p:sp>
        <p:nvSpPr>
          <p:cNvPr id="41" name="Shape 38"/>
          <p:cNvSpPr/>
          <p:nvPr/>
        </p:nvSpPr>
        <p:spPr>
          <a:xfrm>
            <a:off x="4297680" y="3703320"/>
            <a:ext cx="1088136" cy="347472"/>
          </a:xfrm>
          <a:prstGeom prst="rect">
            <a:avLst/>
          </a:prstGeom>
          <a:solidFill>
            <a:srgbClr val="6B2737"/>
          </a:solidFill>
          <a:ln w="12700">
            <a:solidFill>
              <a:srgbClr val="6B2737"/>
            </a:solidFill>
            <a:prstDash val="solid"/>
          </a:ln>
        </p:spPr>
      </p:sp>
      <p:sp>
        <p:nvSpPr>
          <p:cNvPr id="42" name="Text 39"/>
          <p:cNvSpPr/>
          <p:nvPr/>
        </p:nvSpPr>
        <p:spPr>
          <a:xfrm>
            <a:off x="4297680" y="3749040"/>
            <a:ext cx="1088136"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TRAIN</a:t>
            </a:r>
            <a:endParaRPr lang="en-US" sz="800" dirty="0"/>
          </a:p>
        </p:txBody>
      </p:sp>
      <p:sp>
        <p:nvSpPr>
          <p:cNvPr id="43" name="Shape 40"/>
          <p:cNvSpPr/>
          <p:nvPr/>
        </p:nvSpPr>
        <p:spPr>
          <a:xfrm>
            <a:off x="5404104" y="3703320"/>
            <a:ext cx="310896" cy="347472"/>
          </a:xfrm>
          <a:prstGeom prst="rect">
            <a:avLst/>
          </a:prstGeom>
          <a:solidFill>
            <a:srgbClr val="C4964A"/>
          </a:solidFill>
          <a:ln w="12700">
            <a:solidFill>
              <a:srgbClr val="C4964A"/>
            </a:solidFill>
            <a:prstDash val="solid"/>
          </a:ln>
        </p:spPr>
      </p:sp>
      <p:sp>
        <p:nvSpPr>
          <p:cNvPr id="44" name="Text 41"/>
          <p:cNvSpPr/>
          <p:nvPr/>
        </p:nvSpPr>
        <p:spPr>
          <a:xfrm>
            <a:off x="5404104" y="3749040"/>
            <a:ext cx="310896" cy="256032"/>
          </a:xfrm>
          <a:prstGeom prst="rect">
            <a:avLst/>
          </a:prstGeom>
          <a:noFill/>
          <a:ln/>
        </p:spPr>
        <p:txBody>
          <a:bodyPr wrap="square" lIns="0" tIns="0" rIns="0" bIns="0" rtlCol="0" anchor="ctr"/>
          <a:lstStyle/>
          <a:p>
            <a:pPr algn="ctr" indent="0" marL="0">
              <a:buNone/>
            </a:pPr>
            <a:r>
              <a:rPr lang="en-US" sz="800" dirty="0">
                <a:solidFill>
                  <a:srgbClr val="1C1214"/>
                </a:solidFill>
                <a:latin typeface="Calibri" pitchFamily="34" charset="0"/>
                <a:ea typeface="Calibri" pitchFamily="34" charset="-122"/>
                <a:cs typeface="Calibri" pitchFamily="34" charset="-120"/>
              </a:rPr>
              <a:t>TEST</a:t>
            </a:r>
            <a:endParaRPr lang="en-US" sz="800" dirty="0"/>
          </a:p>
        </p:txBody>
      </p:sp>
      <p:sp>
        <p:nvSpPr>
          <p:cNvPr id="45" name="Text 42"/>
          <p:cNvSpPr/>
          <p:nvPr/>
        </p:nvSpPr>
        <p:spPr>
          <a:xfrm>
            <a:off x="4297680" y="4096512"/>
            <a:ext cx="1234440" cy="182880"/>
          </a:xfrm>
          <a:prstGeom prst="rect">
            <a:avLst/>
          </a:prstGeom>
          <a:noFill/>
          <a:ln/>
        </p:spPr>
        <p:txBody>
          <a:bodyPr wrap="square" lIns="0" tIns="0" rIns="0" bIns="0" rtlCol="0" anchor="ctr"/>
          <a:lstStyle/>
          <a:p>
            <a:pPr algn="ctr" indent="0" marL="0">
              <a:buNone/>
            </a:pPr>
            <a:r>
              <a:rPr lang="en-US" sz="800" dirty="0">
                <a:solidFill>
                  <a:srgbClr val="9A8E8B"/>
                </a:solidFill>
                <a:latin typeface="Calibri" pitchFamily="34" charset="0"/>
                <a:ea typeface="Calibri" pitchFamily="34" charset="-122"/>
                <a:cs typeface="Calibri" pitchFamily="34" charset="-120"/>
              </a:rPr>
              <a:t>Sc.12</a:t>
            </a:r>
            <a:endParaRPr lang="en-US" sz="800" dirty="0"/>
          </a:p>
        </p:txBody>
      </p:sp>
      <p:sp>
        <p:nvSpPr>
          <p:cNvPr id="46" name="Shape 43"/>
          <p:cNvSpPr/>
          <p:nvPr/>
        </p:nvSpPr>
        <p:spPr>
          <a:xfrm>
            <a:off x="5532120" y="3703320"/>
            <a:ext cx="1207008" cy="347472"/>
          </a:xfrm>
          <a:prstGeom prst="rect">
            <a:avLst/>
          </a:prstGeom>
          <a:solidFill>
            <a:srgbClr val="6B2737"/>
          </a:solidFill>
          <a:ln w="12700">
            <a:solidFill>
              <a:srgbClr val="6B2737"/>
            </a:solidFill>
            <a:prstDash val="solid"/>
          </a:ln>
        </p:spPr>
      </p:sp>
      <p:sp>
        <p:nvSpPr>
          <p:cNvPr id="47" name="Text 44"/>
          <p:cNvSpPr/>
          <p:nvPr/>
        </p:nvSpPr>
        <p:spPr>
          <a:xfrm>
            <a:off x="5532120" y="3749040"/>
            <a:ext cx="1207008"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TRAIN</a:t>
            </a:r>
            <a:endParaRPr lang="en-US" sz="800" dirty="0"/>
          </a:p>
        </p:txBody>
      </p:sp>
      <p:sp>
        <p:nvSpPr>
          <p:cNvPr id="48" name="Shape 45"/>
          <p:cNvSpPr/>
          <p:nvPr/>
        </p:nvSpPr>
        <p:spPr>
          <a:xfrm>
            <a:off x="6757416" y="3703320"/>
            <a:ext cx="246888" cy="347472"/>
          </a:xfrm>
          <a:prstGeom prst="rect">
            <a:avLst/>
          </a:prstGeom>
          <a:solidFill>
            <a:srgbClr val="C4964A"/>
          </a:solidFill>
          <a:ln w="12700">
            <a:solidFill>
              <a:srgbClr val="C4964A"/>
            </a:solidFill>
            <a:prstDash val="solid"/>
          </a:ln>
        </p:spPr>
      </p:sp>
      <p:sp>
        <p:nvSpPr>
          <p:cNvPr id="49" name="Text 46"/>
          <p:cNvSpPr/>
          <p:nvPr/>
        </p:nvSpPr>
        <p:spPr>
          <a:xfrm>
            <a:off x="6757416" y="3749040"/>
            <a:ext cx="246888" cy="256032"/>
          </a:xfrm>
          <a:prstGeom prst="rect">
            <a:avLst/>
          </a:prstGeom>
          <a:noFill/>
          <a:ln/>
        </p:spPr>
        <p:txBody>
          <a:bodyPr wrap="square" lIns="0" tIns="0" rIns="0" bIns="0" rtlCol="0" anchor="ctr"/>
          <a:lstStyle/>
          <a:p>
            <a:pPr algn="ctr" indent="0" marL="0">
              <a:buNone/>
            </a:pPr>
            <a:r>
              <a:rPr lang="en-US" sz="800" dirty="0">
                <a:solidFill>
                  <a:srgbClr val="1C1214"/>
                </a:solidFill>
                <a:latin typeface="Calibri" pitchFamily="34" charset="0"/>
                <a:ea typeface="Calibri" pitchFamily="34" charset="-122"/>
                <a:cs typeface="Calibri" pitchFamily="34" charset="-120"/>
              </a:rPr>
              <a:t>TEST</a:t>
            </a:r>
            <a:endParaRPr lang="en-US" sz="800" dirty="0"/>
          </a:p>
        </p:txBody>
      </p:sp>
      <p:sp>
        <p:nvSpPr>
          <p:cNvPr id="50" name="Text 47"/>
          <p:cNvSpPr/>
          <p:nvPr/>
        </p:nvSpPr>
        <p:spPr>
          <a:xfrm>
            <a:off x="5532120" y="4096512"/>
            <a:ext cx="1234440" cy="182880"/>
          </a:xfrm>
          <a:prstGeom prst="rect">
            <a:avLst/>
          </a:prstGeom>
          <a:noFill/>
          <a:ln/>
        </p:spPr>
        <p:txBody>
          <a:bodyPr wrap="square" lIns="0" tIns="0" rIns="0" bIns="0" rtlCol="0" anchor="ctr"/>
          <a:lstStyle/>
          <a:p>
            <a:pPr algn="ctr" indent="0" marL="0">
              <a:buNone/>
            </a:pPr>
            <a:r>
              <a:rPr lang="en-US" sz="800" dirty="0">
                <a:solidFill>
                  <a:srgbClr val="9A8E8B"/>
                </a:solidFill>
                <a:latin typeface="Calibri" pitchFamily="34" charset="0"/>
                <a:ea typeface="Calibri" pitchFamily="34" charset="-122"/>
                <a:cs typeface="Calibri" pitchFamily="34" charset="-120"/>
              </a:rPr>
              <a:t>Sc.16</a:t>
            </a:r>
            <a:endParaRPr lang="en-US" sz="800" dirty="0"/>
          </a:p>
        </p:txBody>
      </p:sp>
      <p:sp>
        <p:nvSpPr>
          <p:cNvPr id="51" name="Shape 48"/>
          <p:cNvSpPr/>
          <p:nvPr/>
        </p:nvSpPr>
        <p:spPr>
          <a:xfrm>
            <a:off x="6766560" y="3703320"/>
            <a:ext cx="1325880" cy="347472"/>
          </a:xfrm>
          <a:prstGeom prst="rect">
            <a:avLst/>
          </a:prstGeom>
          <a:solidFill>
            <a:srgbClr val="6B2737"/>
          </a:solidFill>
          <a:ln w="12700">
            <a:solidFill>
              <a:srgbClr val="6B2737"/>
            </a:solidFill>
            <a:prstDash val="solid"/>
          </a:ln>
        </p:spPr>
      </p:sp>
      <p:sp>
        <p:nvSpPr>
          <p:cNvPr id="52" name="Text 49"/>
          <p:cNvSpPr/>
          <p:nvPr/>
        </p:nvSpPr>
        <p:spPr>
          <a:xfrm>
            <a:off x="6766560" y="3749040"/>
            <a:ext cx="1325880" cy="25603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TRAIN</a:t>
            </a:r>
            <a:endParaRPr lang="en-US" sz="800" dirty="0"/>
          </a:p>
        </p:txBody>
      </p:sp>
      <p:sp>
        <p:nvSpPr>
          <p:cNvPr id="53" name="Shape 50"/>
          <p:cNvSpPr/>
          <p:nvPr/>
        </p:nvSpPr>
        <p:spPr>
          <a:xfrm>
            <a:off x="8110728" y="3703320"/>
            <a:ext cx="182880" cy="347472"/>
          </a:xfrm>
          <a:prstGeom prst="rect">
            <a:avLst/>
          </a:prstGeom>
          <a:solidFill>
            <a:srgbClr val="C4964A"/>
          </a:solidFill>
          <a:ln w="12700">
            <a:solidFill>
              <a:srgbClr val="C4964A"/>
            </a:solidFill>
            <a:prstDash val="solid"/>
          </a:ln>
        </p:spPr>
      </p:sp>
      <p:sp>
        <p:nvSpPr>
          <p:cNvPr id="54" name="Text 51"/>
          <p:cNvSpPr/>
          <p:nvPr/>
        </p:nvSpPr>
        <p:spPr>
          <a:xfrm>
            <a:off x="6766560" y="4096512"/>
            <a:ext cx="1234440" cy="182880"/>
          </a:xfrm>
          <a:prstGeom prst="rect">
            <a:avLst/>
          </a:prstGeom>
          <a:noFill/>
          <a:ln/>
        </p:spPr>
        <p:txBody>
          <a:bodyPr wrap="square" lIns="0" tIns="0" rIns="0" bIns="0" rtlCol="0" anchor="ctr"/>
          <a:lstStyle/>
          <a:p>
            <a:pPr algn="ctr" indent="0" marL="0">
              <a:buNone/>
            </a:pPr>
            <a:r>
              <a:rPr lang="en-US" sz="800" dirty="0">
                <a:solidFill>
                  <a:srgbClr val="9A8E8B"/>
                </a:solidFill>
                <a:latin typeface="Calibri" pitchFamily="34" charset="0"/>
                <a:ea typeface="Calibri" pitchFamily="34" charset="-122"/>
                <a:cs typeface="Calibri" pitchFamily="34" charset="-120"/>
              </a:rPr>
              <a:t>Sc.18</a:t>
            </a:r>
            <a:endParaRPr lang="en-US" sz="800" dirty="0"/>
          </a:p>
        </p:txBody>
      </p:sp>
      <p:sp>
        <p:nvSpPr>
          <p:cNvPr id="55" name="Text 52"/>
          <p:cNvSpPr/>
          <p:nvPr/>
        </p:nvSpPr>
        <p:spPr>
          <a:xfrm>
            <a:off x="411480" y="4846320"/>
            <a:ext cx="8321040" cy="201168"/>
          </a:xfrm>
          <a:prstGeom prst="rect">
            <a:avLst/>
          </a:prstGeom>
          <a:noFill/>
          <a:ln/>
        </p:spPr>
        <p:txBody>
          <a:bodyPr wrap="square" lIns="0" tIns="0" rIns="0" bIns="0" rtlCol="0" anchor="ctr"/>
          <a:lstStyle/>
          <a:p>
            <a:pPr indent="0" marL="0">
              <a:buNone/>
            </a:pPr>
            <a:r>
              <a:rPr lang="en-US" sz="900" i="1" dirty="0">
                <a:solidFill>
                  <a:srgbClr val="5A4042"/>
                </a:solidFill>
                <a:latin typeface="Calibri" pitchFamily="34" charset="0"/>
                <a:ea typeface="Calibri" pitchFamily="34" charset="-122"/>
                <a:cs typeface="Calibri" pitchFamily="34" charset="-120"/>
              </a:rPr>
              <a:t>Naive_Median baseline: predicts training median residual — minimises MAE among all constant predictors</a:t>
            </a:r>
            <a:endParaRPr lang="en-US" sz="9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2EA"/>
        </a:solidFill>
        <a:effectLst/>
      </p:bgPr>
    </p:bg>
    <p:spTree>
      <p:nvGrpSpPr>
        <p:cNvPr id="1" name=""/>
        <p:cNvGrpSpPr/>
        <p:nvPr/>
      </p:nvGrpSpPr>
      <p:grpSpPr/>
      <p:sp>
        <p:nvSpPr>
          <p:cNvPr id="2" name="Rectangle 1"/>
          <p:cNvSpPr/>
          <p:nvPr/>
        </p:nvSpPr>
        <p:spPr>
          <a:xfrm>
            <a:off x="0" y="0"/>
            <a:ext cx="9144000" cy="50800"/>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14300"/>
            <a:ext cx="8229600" cy="381000"/>
          </a:xfrm>
          <a:prstGeom prst="rect">
            <a:avLst/>
          </a:prstGeom>
          <a:noFill/>
        </p:spPr>
        <p:txBody>
          <a:bodyPr wrap="square">
            <a:spAutoFit/>
          </a:bodyPr>
          <a:lstStyle/>
          <a:p>
            <a:pPr algn="l"/>
            <a:r>
              <a:rPr sz="2400" b="1" i="0">
                <a:solidFill>
                  <a:srgbClr val="6B2737"/>
                </a:solidFill>
                <a:latin typeface="Georgia"/>
              </a:rPr>
              <a:t>Algorithm Comparison</a:t>
            </a:r>
          </a:p>
        </p:txBody>
      </p:sp>
      <p:sp>
        <p:nvSpPr>
          <p:cNvPr id="4" name="TextBox 3"/>
          <p:cNvSpPr txBox="1"/>
          <p:nvPr/>
        </p:nvSpPr>
        <p:spPr>
          <a:xfrm>
            <a:off x="457200" y="533400"/>
            <a:ext cx="8229600" cy="177800"/>
          </a:xfrm>
          <a:prstGeom prst="rect">
            <a:avLst/>
          </a:prstGeom>
          <a:noFill/>
        </p:spPr>
        <p:txBody>
          <a:bodyPr wrap="square">
            <a:spAutoFit/>
          </a:bodyPr>
          <a:lstStyle/>
          <a:p>
            <a:pPr algn="l"/>
            <a:r>
              <a:rPr sz="1000" b="0" i="1">
                <a:solidFill>
                  <a:srgbClr val="5A4042"/>
                </a:solidFill>
                <a:latin typeface="Calibri"/>
              </a:rPr>
              <a:t>Three interpretable rule learners — different questions, same feature domain</a:t>
            </a:r>
          </a:p>
        </p:txBody>
      </p:sp>
      <p:sp>
        <p:nvSpPr>
          <p:cNvPr id="5" name="Rectangle 4"/>
          <p:cNvSpPr/>
          <p:nvPr/>
        </p:nvSpPr>
        <p:spPr>
          <a:xfrm>
            <a:off x="457200" y="736600"/>
            <a:ext cx="8229600" cy="127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812800"/>
            <a:ext cx="2692400" cy="4064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825500"/>
            <a:ext cx="2692400" cy="203200"/>
          </a:xfrm>
          <a:prstGeom prst="rect">
            <a:avLst/>
          </a:prstGeom>
          <a:noFill/>
        </p:spPr>
        <p:txBody>
          <a:bodyPr wrap="square">
            <a:spAutoFit/>
          </a:bodyPr>
          <a:lstStyle/>
          <a:p>
            <a:pPr algn="ctr"/>
            <a:r>
              <a:rPr sz="1300" b="1" i="0">
                <a:solidFill>
                  <a:srgbClr val="C4964A"/>
                </a:solidFill>
                <a:latin typeface="Georgia"/>
              </a:rPr>
              <a:t>CarenR</a:t>
            </a:r>
          </a:p>
        </p:txBody>
      </p:sp>
      <p:sp>
        <p:nvSpPr>
          <p:cNvPr id="8" name="TextBox 7"/>
          <p:cNvSpPr txBox="1"/>
          <p:nvPr/>
        </p:nvSpPr>
        <p:spPr>
          <a:xfrm>
            <a:off x="457200" y="1028700"/>
            <a:ext cx="2692400" cy="177800"/>
          </a:xfrm>
          <a:prstGeom prst="rect">
            <a:avLst/>
          </a:prstGeom>
          <a:noFill/>
        </p:spPr>
        <p:txBody>
          <a:bodyPr wrap="square">
            <a:spAutoFit/>
          </a:bodyPr>
          <a:lstStyle/>
          <a:p>
            <a:pPr algn="ctr"/>
            <a:r>
              <a:rPr sz="800" b="0" i="1">
                <a:solidFill>
                  <a:srgbClr val="C4964A"/>
                </a:solidFill>
                <a:latin typeface="Calibri"/>
              </a:rPr>
              <a:t>Primary algorithm</a:t>
            </a:r>
          </a:p>
        </p:txBody>
      </p:sp>
      <p:sp>
        <p:nvSpPr>
          <p:cNvPr id="9" name="Rectangle 8"/>
          <p:cNvSpPr/>
          <p:nvPr/>
        </p:nvSpPr>
        <p:spPr>
          <a:xfrm>
            <a:off x="3200400" y="812800"/>
            <a:ext cx="2692400" cy="4064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825500"/>
            <a:ext cx="2692400" cy="203200"/>
          </a:xfrm>
          <a:prstGeom prst="rect">
            <a:avLst/>
          </a:prstGeom>
          <a:noFill/>
        </p:spPr>
        <p:txBody>
          <a:bodyPr wrap="square">
            <a:spAutoFit/>
          </a:bodyPr>
          <a:lstStyle/>
          <a:p>
            <a:pPr algn="ctr"/>
            <a:r>
              <a:rPr sz="1300" b="1" i="0">
                <a:solidFill>
                  <a:srgbClr val="F8F2EA"/>
                </a:solidFill>
                <a:latin typeface="Georgia"/>
              </a:rPr>
              <a:t>RIPPER</a:t>
            </a:r>
          </a:p>
        </p:txBody>
      </p:sp>
      <p:sp>
        <p:nvSpPr>
          <p:cNvPr id="11" name="TextBox 10"/>
          <p:cNvSpPr txBox="1"/>
          <p:nvPr/>
        </p:nvSpPr>
        <p:spPr>
          <a:xfrm>
            <a:off x="3200400" y="1028700"/>
            <a:ext cx="2692400" cy="177800"/>
          </a:xfrm>
          <a:prstGeom prst="rect">
            <a:avLst/>
          </a:prstGeom>
          <a:noFill/>
        </p:spPr>
        <p:txBody>
          <a:bodyPr wrap="square">
            <a:spAutoFit/>
          </a:bodyPr>
          <a:lstStyle/>
          <a:p>
            <a:pPr algn="ctr"/>
            <a:r>
              <a:rPr sz="800" b="0" i="1">
                <a:solidFill>
                  <a:srgbClr val="DDCCBB"/>
                </a:solidFill>
                <a:latin typeface="Calibri"/>
              </a:rPr>
              <a:t>Classification baseline</a:t>
            </a:r>
          </a:p>
        </p:txBody>
      </p:sp>
      <p:sp>
        <p:nvSpPr>
          <p:cNvPr id="12" name="Rectangle 11"/>
          <p:cNvSpPr/>
          <p:nvPr/>
        </p:nvSpPr>
        <p:spPr>
          <a:xfrm>
            <a:off x="5943600" y="812800"/>
            <a:ext cx="2692400" cy="4064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0" y="825500"/>
            <a:ext cx="2692400" cy="203200"/>
          </a:xfrm>
          <a:prstGeom prst="rect">
            <a:avLst/>
          </a:prstGeom>
          <a:noFill/>
        </p:spPr>
        <p:txBody>
          <a:bodyPr wrap="square">
            <a:spAutoFit/>
          </a:bodyPr>
          <a:lstStyle/>
          <a:p>
            <a:pPr algn="ctr"/>
            <a:r>
              <a:rPr sz="1300" b="1" i="0">
                <a:solidFill>
                  <a:srgbClr val="F8F2EA"/>
                </a:solidFill>
                <a:latin typeface="Georgia"/>
              </a:rPr>
              <a:t>M5Rules</a:t>
            </a:r>
          </a:p>
        </p:txBody>
      </p:sp>
      <p:sp>
        <p:nvSpPr>
          <p:cNvPr id="14" name="TextBox 13"/>
          <p:cNvSpPr txBox="1"/>
          <p:nvPr/>
        </p:nvSpPr>
        <p:spPr>
          <a:xfrm>
            <a:off x="5943600" y="1028700"/>
            <a:ext cx="2692400" cy="177800"/>
          </a:xfrm>
          <a:prstGeom prst="rect">
            <a:avLst/>
          </a:prstGeom>
          <a:noFill/>
        </p:spPr>
        <p:txBody>
          <a:bodyPr wrap="square">
            <a:spAutoFit/>
          </a:bodyPr>
          <a:lstStyle/>
          <a:p>
            <a:pPr algn="ctr"/>
            <a:r>
              <a:rPr sz="800" b="0" i="1">
                <a:solidFill>
                  <a:srgbClr val="DDCCBB"/>
                </a:solidFill>
                <a:latin typeface="Calibri"/>
              </a:rPr>
              <a:t>Regression baseline</a:t>
            </a:r>
          </a:p>
        </p:txBody>
      </p:sp>
      <p:sp>
        <p:nvSpPr>
          <p:cNvPr id="15" name="Rectangle 14"/>
          <p:cNvSpPr/>
          <p:nvPr/>
        </p:nvSpPr>
        <p:spPr>
          <a:xfrm>
            <a:off x="457200" y="1270000"/>
            <a:ext cx="8229600" cy="6096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270000"/>
            <a:ext cx="431800" cy="6096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9900" y="1320800"/>
            <a:ext cx="406400" cy="508000"/>
          </a:xfrm>
          <a:prstGeom prst="rect">
            <a:avLst/>
          </a:prstGeom>
          <a:noFill/>
        </p:spPr>
        <p:txBody>
          <a:bodyPr wrap="square">
            <a:spAutoFit/>
          </a:bodyPr>
          <a:lstStyle/>
          <a:p>
            <a:pPr algn="ctr"/>
            <a:r>
              <a:rPr sz="700" b="1" i="0">
                <a:solidFill>
                  <a:srgbClr val="C4964A"/>
                </a:solidFill>
                <a:latin typeface="Calibri"/>
              </a:rPr>
              <a:t>Research
question</a:t>
            </a:r>
          </a:p>
        </p:txBody>
      </p:sp>
      <p:sp>
        <p:nvSpPr>
          <p:cNvPr id="18" name="Rectangle 17"/>
          <p:cNvSpPr/>
          <p:nvPr/>
        </p:nvSpPr>
        <p:spPr>
          <a:xfrm>
            <a:off x="3187700" y="1270000"/>
            <a:ext cx="12700" cy="6096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30900" y="1270000"/>
            <a:ext cx="12700" cy="6096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1320800"/>
            <a:ext cx="2260600" cy="508000"/>
          </a:xfrm>
          <a:prstGeom prst="rect">
            <a:avLst/>
          </a:prstGeom>
          <a:noFill/>
        </p:spPr>
        <p:txBody>
          <a:bodyPr wrap="square">
            <a:spAutoFit/>
          </a:bodyPr>
          <a:lstStyle/>
          <a:p>
            <a:pPr algn="l"/>
            <a:r>
              <a:rPr sz="800" b="0" i="0">
                <a:solidFill>
                  <a:srgbClr val="2A7F7F"/>
                </a:solidFill>
                <a:latin typeface="Calibri"/>
              </a:rPr>
              <a:t>When does the shape of the
production distribution shift?</a:t>
            </a:r>
          </a:p>
        </p:txBody>
      </p:sp>
      <p:sp>
        <p:nvSpPr>
          <p:cNvPr id="21" name="TextBox 20"/>
          <p:cNvSpPr txBox="1"/>
          <p:nvPr/>
        </p:nvSpPr>
        <p:spPr>
          <a:xfrm>
            <a:off x="3225800" y="1320800"/>
            <a:ext cx="2641600" cy="508000"/>
          </a:xfrm>
          <a:prstGeom prst="rect">
            <a:avLst/>
          </a:prstGeom>
          <a:noFill/>
        </p:spPr>
        <p:txBody>
          <a:bodyPr wrap="square">
            <a:spAutoFit/>
          </a:bodyPr>
          <a:lstStyle/>
          <a:p>
            <a:pPr algn="l"/>
            <a:r>
              <a:rPr sz="800" b="0" i="0">
                <a:solidFill>
                  <a:srgbClr val="1C1214"/>
                </a:solidFill>
                <a:latin typeface="Calibri"/>
              </a:rPr>
              <a:t>Which production class
does this year belong to?</a:t>
            </a:r>
          </a:p>
        </p:txBody>
      </p:sp>
      <p:sp>
        <p:nvSpPr>
          <p:cNvPr id="22" name="TextBox 21"/>
          <p:cNvSpPr txBox="1"/>
          <p:nvPr/>
        </p:nvSpPr>
        <p:spPr>
          <a:xfrm>
            <a:off x="5969000" y="1320800"/>
            <a:ext cx="2641600" cy="508000"/>
          </a:xfrm>
          <a:prstGeom prst="rect">
            <a:avLst/>
          </a:prstGeom>
          <a:noFill/>
        </p:spPr>
        <p:txBody>
          <a:bodyPr wrap="square">
            <a:spAutoFit/>
          </a:bodyPr>
          <a:lstStyle/>
          <a:p>
            <a:pPr algn="l"/>
            <a:r>
              <a:rPr sz="800" b="0" i="0">
                <a:solidFill>
                  <a:srgbClr val="1C1214"/>
                </a:solidFill>
                <a:latin typeface="Calibri"/>
              </a:rPr>
              <a:t>What exact production level
does a year have?</a:t>
            </a:r>
          </a:p>
        </p:txBody>
      </p:sp>
      <p:sp>
        <p:nvSpPr>
          <p:cNvPr id="23" name="Rectangle 22"/>
          <p:cNvSpPr/>
          <p:nvPr/>
        </p:nvSpPr>
        <p:spPr>
          <a:xfrm>
            <a:off x="457200" y="1917700"/>
            <a:ext cx="8229600" cy="6096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1917700"/>
            <a:ext cx="431800" cy="6096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9900" y="1968500"/>
            <a:ext cx="406400" cy="508000"/>
          </a:xfrm>
          <a:prstGeom prst="rect">
            <a:avLst/>
          </a:prstGeom>
          <a:noFill/>
        </p:spPr>
        <p:txBody>
          <a:bodyPr wrap="square">
            <a:spAutoFit/>
          </a:bodyPr>
          <a:lstStyle/>
          <a:p>
            <a:pPr algn="ctr"/>
            <a:r>
              <a:rPr sz="700" b="1" i="0">
                <a:solidFill>
                  <a:srgbClr val="C4964A"/>
                </a:solidFill>
                <a:latin typeface="Calibri"/>
              </a:rPr>
              <a:t>Induction
criterion</a:t>
            </a:r>
          </a:p>
        </p:txBody>
      </p:sp>
      <p:sp>
        <p:nvSpPr>
          <p:cNvPr id="26" name="Rectangle 25"/>
          <p:cNvSpPr/>
          <p:nvPr/>
        </p:nvSpPr>
        <p:spPr>
          <a:xfrm>
            <a:off x="3187700" y="1917700"/>
            <a:ext cx="12700" cy="6096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30900" y="1917700"/>
            <a:ext cx="12700" cy="6096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1968500"/>
            <a:ext cx="2260600" cy="508000"/>
          </a:xfrm>
          <a:prstGeom prst="rect">
            <a:avLst/>
          </a:prstGeom>
          <a:noFill/>
        </p:spPr>
        <p:txBody>
          <a:bodyPr wrap="square">
            <a:spAutoFit/>
          </a:bodyPr>
          <a:lstStyle/>
          <a:p>
            <a:pPr algn="l"/>
            <a:r>
              <a:rPr sz="800" b="0" i="0">
                <a:solidFill>
                  <a:srgbClr val="2A7F7F"/>
                </a:solidFill>
                <a:latin typeface="Calibri"/>
              </a:rPr>
              <a:t>Kolmogorov–Smirnov
two-sample test</a:t>
            </a:r>
          </a:p>
        </p:txBody>
      </p:sp>
      <p:sp>
        <p:nvSpPr>
          <p:cNvPr id="29" name="TextBox 28"/>
          <p:cNvSpPr txBox="1"/>
          <p:nvPr/>
        </p:nvSpPr>
        <p:spPr>
          <a:xfrm>
            <a:off x="3225800" y="1968500"/>
            <a:ext cx="2641600" cy="508000"/>
          </a:xfrm>
          <a:prstGeom prst="rect">
            <a:avLst/>
          </a:prstGeom>
          <a:noFill/>
        </p:spPr>
        <p:txBody>
          <a:bodyPr wrap="square">
            <a:spAutoFit/>
          </a:bodyPr>
          <a:lstStyle/>
          <a:p>
            <a:pPr algn="l"/>
            <a:r>
              <a:rPr sz="800" b="0" i="0">
                <a:solidFill>
                  <a:srgbClr val="1C1214"/>
                </a:solidFill>
                <a:latin typeface="Calibri"/>
              </a:rPr>
              <a:t>FOIL information gain
(classification)</a:t>
            </a:r>
          </a:p>
        </p:txBody>
      </p:sp>
      <p:sp>
        <p:nvSpPr>
          <p:cNvPr id="30" name="TextBox 29"/>
          <p:cNvSpPr txBox="1"/>
          <p:nvPr/>
        </p:nvSpPr>
        <p:spPr>
          <a:xfrm>
            <a:off x="5969000" y="1968500"/>
            <a:ext cx="2641600" cy="508000"/>
          </a:xfrm>
          <a:prstGeom prst="rect">
            <a:avLst/>
          </a:prstGeom>
          <a:noFill/>
        </p:spPr>
        <p:txBody>
          <a:bodyPr wrap="square">
            <a:spAutoFit/>
          </a:bodyPr>
          <a:lstStyle/>
          <a:p>
            <a:pPr algn="l"/>
            <a:r>
              <a:rPr sz="800" b="0" i="0">
                <a:solidFill>
                  <a:srgbClr val="1C1214"/>
                </a:solidFill>
                <a:latin typeface="Calibri"/>
              </a:rPr>
              <a:t>MSE / standard deviation
reduction</a:t>
            </a:r>
          </a:p>
        </p:txBody>
      </p:sp>
      <p:sp>
        <p:nvSpPr>
          <p:cNvPr id="31" name="Rectangle 30"/>
          <p:cNvSpPr/>
          <p:nvPr/>
        </p:nvSpPr>
        <p:spPr>
          <a:xfrm>
            <a:off x="457200" y="2565400"/>
            <a:ext cx="8229600" cy="6096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2565400"/>
            <a:ext cx="431800" cy="6096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9900" y="2616200"/>
            <a:ext cx="406400" cy="508000"/>
          </a:xfrm>
          <a:prstGeom prst="rect">
            <a:avLst/>
          </a:prstGeom>
          <a:noFill/>
        </p:spPr>
        <p:txBody>
          <a:bodyPr wrap="square">
            <a:spAutoFit/>
          </a:bodyPr>
          <a:lstStyle/>
          <a:p>
            <a:pPr algn="ctr"/>
            <a:r>
              <a:rPr sz="700" b="1" i="0">
                <a:solidFill>
                  <a:srgbClr val="C4964A"/>
                </a:solidFill>
                <a:latin typeface="Calibri"/>
              </a:rPr>
              <a:t>Output
format</a:t>
            </a:r>
          </a:p>
        </p:txBody>
      </p:sp>
      <p:sp>
        <p:nvSpPr>
          <p:cNvPr id="34" name="Rectangle 33"/>
          <p:cNvSpPr/>
          <p:nvPr/>
        </p:nvSpPr>
        <p:spPr>
          <a:xfrm>
            <a:off x="3187700" y="2565400"/>
            <a:ext cx="12700" cy="6096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30900" y="2565400"/>
            <a:ext cx="12700" cy="6096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2616200"/>
            <a:ext cx="2260600" cy="508000"/>
          </a:xfrm>
          <a:prstGeom prst="rect">
            <a:avLst/>
          </a:prstGeom>
          <a:noFill/>
        </p:spPr>
        <p:txBody>
          <a:bodyPr wrap="square">
            <a:spAutoFit/>
          </a:bodyPr>
          <a:lstStyle/>
          <a:p>
            <a:pPr algn="l"/>
            <a:r>
              <a:rPr sz="800" b="0" i="0">
                <a:solidFill>
                  <a:srgbClr val="2A7F7F"/>
                </a:solidFill>
                <a:latin typeface="Calibri"/>
              </a:rPr>
              <a:t>IF conditions
THEN distribution shifts ±X mhl</a:t>
            </a:r>
          </a:p>
        </p:txBody>
      </p:sp>
      <p:sp>
        <p:nvSpPr>
          <p:cNvPr id="37" name="TextBox 36"/>
          <p:cNvSpPr txBox="1"/>
          <p:nvPr/>
        </p:nvSpPr>
        <p:spPr>
          <a:xfrm>
            <a:off x="3225800" y="2616200"/>
            <a:ext cx="2641600" cy="508000"/>
          </a:xfrm>
          <a:prstGeom prst="rect">
            <a:avLst/>
          </a:prstGeom>
          <a:noFill/>
        </p:spPr>
        <p:txBody>
          <a:bodyPr wrap="square">
            <a:spAutoFit/>
          </a:bodyPr>
          <a:lstStyle/>
          <a:p>
            <a:pPr algn="l"/>
            <a:r>
              <a:rPr sz="800" b="0" i="0">
                <a:solidFill>
                  <a:srgbClr val="1C1214"/>
                </a:solidFill>
                <a:latin typeface="Calibri"/>
              </a:rPr>
              <a:t>IF conditions
THEN class = Low / Med / High</a:t>
            </a:r>
          </a:p>
        </p:txBody>
      </p:sp>
      <p:sp>
        <p:nvSpPr>
          <p:cNvPr id="38" name="TextBox 37"/>
          <p:cNvSpPr txBox="1"/>
          <p:nvPr/>
        </p:nvSpPr>
        <p:spPr>
          <a:xfrm>
            <a:off x="5969000" y="2616200"/>
            <a:ext cx="2641600" cy="508000"/>
          </a:xfrm>
          <a:prstGeom prst="rect">
            <a:avLst/>
          </a:prstGeom>
          <a:noFill/>
        </p:spPr>
        <p:txBody>
          <a:bodyPr wrap="square">
            <a:spAutoFit/>
          </a:bodyPr>
          <a:lstStyle/>
          <a:p>
            <a:pPr algn="l"/>
            <a:r>
              <a:rPr sz="800" b="0" i="0">
                <a:solidFill>
                  <a:srgbClr val="1C1214"/>
                </a:solidFill>
                <a:latin typeface="Calibri"/>
              </a:rPr>
              <a:t>IF conditions
THEN production = linear model</a:t>
            </a:r>
          </a:p>
        </p:txBody>
      </p:sp>
      <p:sp>
        <p:nvSpPr>
          <p:cNvPr id="39" name="Rectangle 38"/>
          <p:cNvSpPr/>
          <p:nvPr/>
        </p:nvSpPr>
        <p:spPr>
          <a:xfrm>
            <a:off x="457200" y="3213100"/>
            <a:ext cx="8229600" cy="6096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3213100"/>
            <a:ext cx="431800" cy="6096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9900" y="3263900"/>
            <a:ext cx="406400" cy="508000"/>
          </a:xfrm>
          <a:prstGeom prst="rect">
            <a:avLst/>
          </a:prstGeom>
          <a:noFill/>
        </p:spPr>
        <p:txBody>
          <a:bodyPr wrap="square">
            <a:spAutoFit/>
          </a:bodyPr>
          <a:lstStyle/>
          <a:p>
            <a:pPr algn="ctr"/>
            <a:r>
              <a:rPr sz="700" b="1" i="0">
                <a:solidFill>
                  <a:srgbClr val="C4964A"/>
                </a:solidFill>
                <a:latin typeface="Calibri"/>
              </a:rPr>
              <a:t>Key
advantage</a:t>
            </a:r>
          </a:p>
        </p:txBody>
      </p:sp>
      <p:sp>
        <p:nvSpPr>
          <p:cNvPr id="42" name="Rectangle 41"/>
          <p:cNvSpPr/>
          <p:nvPr/>
        </p:nvSpPr>
        <p:spPr>
          <a:xfrm>
            <a:off x="3187700" y="3213100"/>
            <a:ext cx="12700" cy="6096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30900" y="3213100"/>
            <a:ext cx="12700" cy="6096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3263900"/>
            <a:ext cx="2260600" cy="508000"/>
          </a:xfrm>
          <a:prstGeom prst="rect">
            <a:avLst/>
          </a:prstGeom>
          <a:noFill/>
        </p:spPr>
        <p:txBody>
          <a:bodyPr wrap="square">
            <a:spAutoFit/>
          </a:bodyPr>
          <a:lstStyle/>
          <a:p>
            <a:pPr algn="l"/>
            <a:r>
              <a:rPr sz="800" b="0" i="0">
                <a:solidFill>
                  <a:srgbClr val="C4964A"/>
                </a:solidFill>
                <a:latin typeface="Calibri"/>
              </a:rPr>
              <a:t>Non-parametric; no normality
assumption; no discretisation</a:t>
            </a:r>
          </a:p>
        </p:txBody>
      </p:sp>
      <p:sp>
        <p:nvSpPr>
          <p:cNvPr id="45" name="TextBox 44"/>
          <p:cNvSpPr txBox="1"/>
          <p:nvPr/>
        </p:nvSpPr>
        <p:spPr>
          <a:xfrm>
            <a:off x="3225800" y="3263900"/>
            <a:ext cx="2641600" cy="508000"/>
          </a:xfrm>
          <a:prstGeom prst="rect">
            <a:avLst/>
          </a:prstGeom>
          <a:noFill/>
        </p:spPr>
        <p:txBody>
          <a:bodyPr wrap="square">
            <a:spAutoFit/>
          </a:bodyPr>
          <a:lstStyle/>
          <a:p>
            <a:pPr algn="l"/>
            <a:r>
              <a:rPr sz="800" b="0" i="0">
                <a:solidFill>
                  <a:srgbClr val="1C1214"/>
                </a:solidFill>
                <a:latin typeface="Calibri"/>
              </a:rPr>
              <a:t>Well-established, readable;
strong classification baseline</a:t>
            </a:r>
          </a:p>
        </p:txBody>
      </p:sp>
      <p:sp>
        <p:nvSpPr>
          <p:cNvPr id="46" name="TextBox 45"/>
          <p:cNvSpPr txBox="1"/>
          <p:nvPr/>
        </p:nvSpPr>
        <p:spPr>
          <a:xfrm>
            <a:off x="5969000" y="3263900"/>
            <a:ext cx="2641600" cy="508000"/>
          </a:xfrm>
          <a:prstGeom prst="rect">
            <a:avLst/>
          </a:prstGeom>
          <a:noFill/>
        </p:spPr>
        <p:txBody>
          <a:bodyPr wrap="square">
            <a:spAutoFit/>
          </a:bodyPr>
          <a:lstStyle/>
          <a:p>
            <a:pPr algn="l"/>
            <a:r>
              <a:rPr sz="800" b="0" i="0">
                <a:solidFill>
                  <a:srgbClr val="1C1214"/>
                </a:solidFill>
                <a:latin typeface="Calibri"/>
              </a:rPr>
              <a:t>Piecewise regression;
quantitative predictions</a:t>
            </a:r>
          </a:p>
        </p:txBody>
      </p:sp>
      <p:sp>
        <p:nvSpPr>
          <p:cNvPr id="47" name="Rectangle 46"/>
          <p:cNvSpPr/>
          <p:nvPr/>
        </p:nvSpPr>
        <p:spPr>
          <a:xfrm>
            <a:off x="457200" y="3860800"/>
            <a:ext cx="8229600" cy="6096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7200" y="3860800"/>
            <a:ext cx="431800" cy="6096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9900" y="3911600"/>
            <a:ext cx="406400" cy="508000"/>
          </a:xfrm>
          <a:prstGeom prst="rect">
            <a:avLst/>
          </a:prstGeom>
          <a:noFill/>
        </p:spPr>
        <p:txBody>
          <a:bodyPr wrap="square">
            <a:spAutoFit/>
          </a:bodyPr>
          <a:lstStyle/>
          <a:p>
            <a:pPr algn="ctr"/>
            <a:r>
              <a:rPr sz="700" b="1" i="0">
                <a:solidFill>
                  <a:srgbClr val="C4964A"/>
                </a:solidFill>
                <a:latin typeface="Calibri"/>
              </a:rPr>
              <a:t>Key
limitation</a:t>
            </a:r>
          </a:p>
        </p:txBody>
      </p:sp>
      <p:sp>
        <p:nvSpPr>
          <p:cNvPr id="50" name="Rectangle 49"/>
          <p:cNvSpPr/>
          <p:nvPr/>
        </p:nvSpPr>
        <p:spPr>
          <a:xfrm>
            <a:off x="3187700" y="3860800"/>
            <a:ext cx="12700" cy="6096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30900" y="3860800"/>
            <a:ext cx="12700" cy="6096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3911600"/>
            <a:ext cx="2260600" cy="508000"/>
          </a:xfrm>
          <a:prstGeom prst="rect">
            <a:avLst/>
          </a:prstGeom>
          <a:noFill/>
        </p:spPr>
        <p:txBody>
          <a:bodyPr wrap="square">
            <a:spAutoFit/>
          </a:bodyPr>
          <a:lstStyle/>
          <a:p>
            <a:pPr algn="l"/>
            <a:r>
              <a:rPr sz="800" b="0" i="0">
                <a:solidFill>
                  <a:srgbClr val="8B2F2F"/>
                </a:solidFill>
                <a:latin typeface="Calibri"/>
              </a:rPr>
              <a:t>Finds distributional shift,
not magnitude prediction</a:t>
            </a:r>
          </a:p>
        </p:txBody>
      </p:sp>
      <p:sp>
        <p:nvSpPr>
          <p:cNvPr id="53" name="TextBox 52"/>
          <p:cNvSpPr txBox="1"/>
          <p:nvPr/>
        </p:nvSpPr>
        <p:spPr>
          <a:xfrm>
            <a:off x="3225800" y="3911600"/>
            <a:ext cx="2641600" cy="508000"/>
          </a:xfrm>
          <a:prstGeom prst="rect">
            <a:avLst/>
          </a:prstGeom>
          <a:noFill/>
        </p:spPr>
        <p:txBody>
          <a:bodyPr wrap="square">
            <a:spAutoFit/>
          </a:bodyPr>
          <a:lstStyle/>
          <a:p>
            <a:pPr algn="l"/>
            <a:r>
              <a:rPr sz="800" b="0" i="0">
                <a:solidFill>
                  <a:srgbClr val="1C1214"/>
                </a:solidFill>
                <a:latin typeface="Calibri"/>
              </a:rPr>
              <a:t>Requires tertile-discretised
target (loses information)</a:t>
            </a:r>
          </a:p>
        </p:txBody>
      </p:sp>
      <p:sp>
        <p:nvSpPr>
          <p:cNvPr id="54" name="TextBox 53"/>
          <p:cNvSpPr txBox="1"/>
          <p:nvPr/>
        </p:nvSpPr>
        <p:spPr>
          <a:xfrm>
            <a:off x="5969000" y="3911600"/>
            <a:ext cx="2641600" cy="508000"/>
          </a:xfrm>
          <a:prstGeom prst="rect">
            <a:avLst/>
          </a:prstGeom>
          <a:noFill/>
        </p:spPr>
        <p:txBody>
          <a:bodyPr wrap="square">
            <a:spAutoFit/>
          </a:bodyPr>
          <a:lstStyle/>
          <a:p>
            <a:pPr algn="l"/>
            <a:r>
              <a:rPr sz="800" b="0" i="0">
                <a:solidFill>
                  <a:srgbClr val="1C1214"/>
                </a:solidFill>
                <a:latin typeface="Calibri"/>
              </a:rPr>
              <a:t>Collapses to global model
on small datasets (n&lt;89)</a:t>
            </a:r>
          </a:p>
        </p:txBody>
      </p:sp>
      <p:sp>
        <p:nvSpPr>
          <p:cNvPr id="55" name="Rectangle 54"/>
          <p:cNvSpPr/>
          <p:nvPr/>
        </p:nvSpPr>
        <p:spPr>
          <a:xfrm>
            <a:off x="457200" y="4584700"/>
            <a:ext cx="8229600" cy="4826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635500"/>
            <a:ext cx="8229600" cy="177800"/>
          </a:xfrm>
          <a:prstGeom prst="rect">
            <a:avLst/>
          </a:prstGeom>
          <a:noFill/>
        </p:spPr>
        <p:txBody>
          <a:bodyPr wrap="square">
            <a:spAutoFit/>
          </a:bodyPr>
          <a:lstStyle/>
          <a:p>
            <a:pPr algn="ctr"/>
            <a:r>
              <a:rPr sz="900" b="1" i="0">
                <a:solidFill>
                  <a:srgbClr val="C4964A"/>
                </a:solidFill>
                <a:latin typeface="Calibri"/>
              </a:rPr>
              <a:t>All three algorithms are applied to the same 59-feature dataset and same walk-forward validation protocol</a:t>
            </a:r>
          </a:p>
        </p:txBody>
      </p:sp>
      <p:sp>
        <p:nvSpPr>
          <p:cNvPr id="57" name="TextBox 56"/>
          <p:cNvSpPr txBox="1"/>
          <p:nvPr/>
        </p:nvSpPr>
        <p:spPr>
          <a:xfrm>
            <a:off x="457200" y="4838700"/>
            <a:ext cx="8229600" cy="177800"/>
          </a:xfrm>
          <a:prstGeom prst="rect">
            <a:avLst/>
          </a:prstGeom>
          <a:noFill/>
        </p:spPr>
        <p:txBody>
          <a:bodyPr wrap="square">
            <a:spAutoFit/>
          </a:bodyPr>
          <a:lstStyle/>
          <a:p>
            <a:pPr algn="ctr"/>
            <a:r>
              <a:rPr sz="800" b="0" i="1">
                <a:solidFill>
                  <a:srgbClr val="F8F2EA"/>
                </a:solidFill>
                <a:latin typeface="Calibri"/>
              </a:rPr>
              <a:t>Cross-algorithm feature convergence (slide 8) is the strongest evidence that discovered patterns are genuine data structure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6B2737"/>
        </a:solidFill>
      </p:bgPr>
    </p:bg>
    <p:spTree>
      <p:nvGrpSpPr>
        <p:cNvPr id="1" name=""/>
        <p:cNvGrpSpPr/>
        <p:nvPr/>
      </p:nvGrpSpPr>
      <p:grpSpPr>
        <a:xfrm>
          <a:off x="0" y="0"/>
          <a:ext cx="0" cy="0"/>
          <a:chOff x="0" y="0"/>
          <a:chExt cx="0" cy="0"/>
        </a:xfrm>
      </p:grpSpPr>
      <p:sp>
        <p:nvSpPr>
          <p:cNvPr id="2" name="Text 0"/>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5 / 12</a:t>
            </a:r>
            <a:endParaRPr lang="en-US" sz="900" dirty="0"/>
          </a:p>
        </p:txBody>
      </p:sp>
      <p:sp>
        <p:nvSpPr>
          <p:cNvPr id="3" name="Shape 1"/>
          <p:cNvSpPr/>
          <p:nvPr/>
        </p:nvSpPr>
        <p:spPr>
          <a:xfrm>
            <a:off x="0" y="0"/>
            <a:ext cx="9144000" cy="59436"/>
          </a:xfrm>
          <a:prstGeom prst="rect">
            <a:avLst/>
          </a:prstGeom>
          <a:solidFill>
            <a:srgbClr val="C4964A"/>
          </a:solidFill>
          <a:ln w="12700">
            <a:solidFill>
              <a:srgbClr val="C4964A"/>
            </a:solidFill>
            <a:prstDash val="solid"/>
          </a:ln>
        </p:spPr>
      </p:sp>
      <p:sp>
        <p:nvSpPr>
          <p:cNvPr id="4" name="Text 2"/>
          <p:cNvSpPr/>
          <p:nvPr/>
        </p:nvSpPr>
        <p:spPr>
          <a:xfrm>
            <a:off x="457200" y="109728"/>
            <a:ext cx="8229600" cy="512064"/>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The Two-Decision Framework</a:t>
            </a:r>
            <a:endParaRPr lang="en-US" sz="2800" dirty="0"/>
          </a:p>
        </p:txBody>
      </p:sp>
      <p:sp>
        <p:nvSpPr>
          <p:cNvPr id="5" name="Text 3"/>
          <p:cNvSpPr/>
          <p:nvPr/>
        </p:nvSpPr>
        <p:spPr>
          <a:xfrm>
            <a:off x="457200" y="621792"/>
            <a:ext cx="8229600" cy="256032"/>
          </a:xfrm>
          <a:prstGeom prst="rect">
            <a:avLst/>
          </a:prstGeom>
          <a:noFill/>
          <a:ln/>
        </p:spPr>
        <p:txBody>
          <a:bodyPr wrap="square" lIns="0" tIns="0" rIns="0" bIns="0" rtlCol="0" anchor="ctr"/>
          <a:lstStyle/>
          <a:p>
            <a:pPr indent="0" marL="0">
              <a:buNone/>
            </a:pPr>
            <a:r>
              <a:rPr lang="en-US" sz="1300" i="1" dirty="0">
                <a:solidFill>
                  <a:srgbClr val="C4964A"/>
                </a:solidFill>
                <a:latin typeface="Calibri" pitchFamily="34" charset="0"/>
                <a:ea typeface="Calibri" pitchFamily="34" charset="-122"/>
                <a:cs typeface="Calibri" pitchFamily="34" charset="-120"/>
              </a:rPr>
              <a:t>The core conceptual contribution of this thesis</a:t>
            </a:r>
            <a:endParaRPr lang="en-US" sz="1300" dirty="0"/>
          </a:p>
        </p:txBody>
      </p:sp>
      <p:sp>
        <p:nvSpPr>
          <p:cNvPr id="6" name="Shape 4"/>
          <p:cNvSpPr/>
          <p:nvPr/>
        </p:nvSpPr>
        <p:spPr>
          <a:xfrm>
            <a:off x="457200" y="1024128"/>
            <a:ext cx="3200400" cy="2377440"/>
          </a:xfrm>
          <a:prstGeom prst="rect">
            <a:avLst/>
          </a:prstGeom>
          <a:solidFill>
            <a:srgbClr val="1C1216"/>
          </a:solidFill>
          <a:ln w="25400">
            <a:solidFill>
              <a:srgbClr val="2A7F7F"/>
            </a:solidFill>
            <a:prstDash val="solid"/>
          </a:ln>
        </p:spPr>
      </p:sp>
      <p:sp>
        <p:nvSpPr>
          <p:cNvPr id="7" name="Text 5"/>
          <p:cNvSpPr/>
          <p:nvPr/>
        </p:nvSpPr>
        <p:spPr>
          <a:xfrm>
            <a:off x="548640" y="1078992"/>
            <a:ext cx="3017520" cy="274320"/>
          </a:xfrm>
          <a:prstGeom prst="rect">
            <a:avLst/>
          </a:prstGeom>
          <a:noFill/>
          <a:ln/>
        </p:spPr>
        <p:txBody>
          <a:bodyPr wrap="square" lIns="0" tIns="0" rIns="0" bIns="0" rtlCol="0" anchor="ctr"/>
          <a:lstStyle/>
          <a:p>
            <a:pPr indent="0" marL="0">
              <a:buNone/>
            </a:pPr>
            <a:r>
              <a:rPr lang="en-US" sz="1100" b="1" spc="300" kern="0" dirty="0">
                <a:solidFill>
                  <a:srgbClr val="2A7F7F"/>
                </a:solidFill>
                <a:latin typeface="Calibri" pitchFamily="34" charset="0"/>
                <a:ea typeface="Calibri" pitchFamily="34" charset="-122"/>
                <a:cs typeface="Calibri" pitchFamily="34" charset="-120"/>
              </a:rPr>
              <a:t>DECISION 1</a:t>
            </a:r>
            <a:endParaRPr lang="en-US" sz="1100" dirty="0"/>
          </a:p>
        </p:txBody>
      </p:sp>
      <p:sp>
        <p:nvSpPr>
          <p:cNvPr id="8" name="Text 6"/>
          <p:cNvSpPr/>
          <p:nvPr/>
        </p:nvSpPr>
        <p:spPr>
          <a:xfrm>
            <a:off x="548640" y="1371600"/>
            <a:ext cx="3017520" cy="347472"/>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Trend Quality</a:t>
            </a:r>
            <a:endParaRPr lang="en-US" sz="1800" dirty="0"/>
          </a:p>
        </p:txBody>
      </p:sp>
      <p:sp>
        <p:nvSpPr>
          <p:cNvPr id="9" name="Text 7"/>
          <p:cNvSpPr/>
          <p:nvPr/>
        </p:nvSpPr>
        <p:spPr>
          <a:xfrm>
            <a:off x="548640" y="1755648"/>
            <a:ext cx="3017520" cy="530352"/>
          </a:xfrm>
          <a:prstGeom prst="rect">
            <a:avLst/>
          </a:prstGeom>
          <a:noFill/>
          <a:ln/>
        </p:spPr>
        <p:txBody>
          <a:bodyPr wrap="square" lIns="0" tIns="0" rIns="0" bIns="0" rtlCol="0" anchor="ctr"/>
          <a:lstStyle/>
          <a:p>
            <a:pPr indent="0" marL="0">
              <a:buNone/>
            </a:pPr>
            <a:r>
              <a:rPr lang="en-US" sz="1100" dirty="0">
                <a:solidFill>
                  <a:srgbClr val="D4CACA"/>
                </a:solidFill>
                <a:latin typeface="Calibri" pitchFamily="34" charset="0"/>
                <a:ea typeface="Calibri" pitchFamily="34" charset="-122"/>
                <a:cs typeface="Calibri" pitchFamily="34" charset="-120"/>
              </a:rPr>
              <a:t>How accurately does the training trend extrapolate to test years?</a:t>
            </a:r>
            <a:endParaRPr lang="en-US" sz="1100" dirty="0"/>
          </a:p>
        </p:txBody>
      </p:sp>
      <p:sp>
        <p:nvSpPr>
          <p:cNvPr id="10" name="Text 8"/>
          <p:cNvSpPr/>
          <p:nvPr/>
        </p:nvSpPr>
        <p:spPr>
          <a:xfrm>
            <a:off x="548640" y="2322576"/>
            <a:ext cx="3017520" cy="201168"/>
          </a:xfrm>
          <a:prstGeom prst="rect">
            <a:avLst/>
          </a:prstGeom>
          <a:noFill/>
          <a:ln/>
        </p:spPr>
        <p:txBody>
          <a:bodyPr wrap="square" lIns="0" tIns="0" rIns="0" bIns="0" rtlCol="0" anchor="ctr"/>
          <a:lstStyle/>
          <a:p>
            <a:pPr indent="0" marL="0">
              <a:buNone/>
            </a:pPr>
            <a:r>
              <a:rPr lang="en-US" sz="900" i="1" dirty="0">
                <a:solidFill>
                  <a:srgbClr val="9A8E8B"/>
                </a:solidFill>
                <a:latin typeface="Calibri" pitchFamily="34" charset="0"/>
                <a:ea typeface="Calibri" pitchFamily="34" charset="-122"/>
                <a:cs typeface="Calibri" pitchFamily="34" charset="-120"/>
              </a:rPr>
              <a:t>Measured by</a:t>
            </a:r>
            <a:endParaRPr lang="en-US" sz="900" dirty="0"/>
          </a:p>
        </p:txBody>
      </p:sp>
      <p:sp>
        <p:nvSpPr>
          <p:cNvPr id="11" name="Text 9"/>
          <p:cNvSpPr/>
          <p:nvPr/>
        </p:nvSpPr>
        <p:spPr>
          <a:xfrm>
            <a:off x="548640" y="2505456"/>
            <a:ext cx="3017520" cy="292608"/>
          </a:xfrm>
          <a:prstGeom prst="rect">
            <a:avLst/>
          </a:prstGeom>
          <a:noFill/>
          <a:ln/>
        </p:spPr>
        <p:txBody>
          <a:bodyPr wrap="square" lIns="0" tIns="0" rIns="0" bIns="0" rtlCol="0" anchor="ctr"/>
          <a:lstStyle/>
          <a:p>
            <a:pPr indent="0" marL="0">
              <a:buNone/>
            </a:pPr>
            <a:r>
              <a:rPr lang="en-US" sz="1300" b="1" dirty="0">
                <a:solidFill>
                  <a:srgbClr val="2A7F7F"/>
                </a:solidFill>
                <a:latin typeface="Calibri" pitchFamily="34" charset="0"/>
                <a:ea typeface="Calibri" pitchFamily="34" charset="-122"/>
                <a:cs typeface="Calibri" pitchFamily="34" charset="-120"/>
              </a:rPr>
              <a:t>Naive_Median MAE</a:t>
            </a:r>
            <a:endParaRPr lang="en-US" sz="1300" dirty="0"/>
          </a:p>
        </p:txBody>
      </p:sp>
      <p:sp>
        <p:nvSpPr>
          <p:cNvPr id="12" name="Text 10"/>
          <p:cNvSpPr/>
          <p:nvPr/>
        </p:nvSpPr>
        <p:spPr>
          <a:xfrm>
            <a:off x="548640" y="2779776"/>
            <a:ext cx="3017520" cy="201168"/>
          </a:xfrm>
          <a:prstGeom prst="rect">
            <a:avLst/>
          </a:prstGeom>
          <a:noFill/>
          <a:ln/>
        </p:spPr>
        <p:txBody>
          <a:bodyPr wrap="square" lIns="0" tIns="0" rIns="0" bIns="0" rtlCol="0" anchor="ctr"/>
          <a:lstStyle/>
          <a:p>
            <a:pPr indent="0" marL="0">
              <a:buNone/>
            </a:pPr>
            <a:r>
              <a:rPr lang="en-US" sz="900" i="1" dirty="0">
                <a:solidFill>
                  <a:srgbClr val="9A8E8B"/>
                </a:solidFill>
                <a:latin typeface="Calibri" pitchFamily="34" charset="0"/>
                <a:ea typeface="Calibri" pitchFamily="34" charset="-122"/>
                <a:cs typeface="Calibri" pitchFamily="34" charset="-120"/>
              </a:rPr>
              <a:t>error floor</a:t>
            </a:r>
            <a:endParaRPr lang="en-US" sz="900" dirty="0"/>
          </a:p>
        </p:txBody>
      </p:sp>
      <p:sp>
        <p:nvSpPr>
          <p:cNvPr id="13" name="Text 11"/>
          <p:cNvSpPr/>
          <p:nvPr/>
        </p:nvSpPr>
        <p:spPr>
          <a:xfrm>
            <a:off x="548640" y="2999232"/>
            <a:ext cx="3017520" cy="329184"/>
          </a:xfrm>
          <a:prstGeom prst="rect">
            <a:avLst/>
          </a:prstGeom>
          <a:noFill/>
          <a:ln/>
        </p:spPr>
        <p:txBody>
          <a:bodyPr wrap="square" lIns="0" tIns="0" rIns="0" bIns="0" rtlCol="0" anchor="ctr"/>
          <a:lstStyle/>
          <a:p>
            <a:pPr indent="0" marL="0">
              <a:buNone/>
            </a:pPr>
            <a:r>
              <a:rPr lang="en-US" sz="1000" dirty="0">
                <a:solidFill>
                  <a:srgbClr val="2A7F7F"/>
                </a:solidFill>
                <a:latin typeface="Calibri" pitchFamily="34" charset="0"/>
                <a:ea typeface="Calibri" pitchFamily="34" charset="-122"/>
                <a:cs typeface="Calibri" pitchFamily="34" charset="-120"/>
              </a:rPr>
              <a:t>Lower Naive_Median = better trend</a:t>
            </a:r>
            <a:endParaRPr lang="en-US" sz="1000" dirty="0"/>
          </a:p>
        </p:txBody>
      </p:sp>
      <p:sp>
        <p:nvSpPr>
          <p:cNvPr id="14" name="Shape 12"/>
          <p:cNvSpPr/>
          <p:nvPr/>
        </p:nvSpPr>
        <p:spPr>
          <a:xfrm>
            <a:off x="3730752" y="2212848"/>
            <a:ext cx="1691640" cy="0"/>
          </a:xfrm>
          <a:prstGeom prst="line">
            <a:avLst/>
          </a:prstGeom>
          <a:noFill/>
          <a:ln w="31750">
            <a:solidFill>
              <a:srgbClr val="C4964A"/>
            </a:solidFill>
            <a:prstDash val="sysDot"/>
          </a:ln>
        </p:spPr>
      </p:sp>
      <p:sp>
        <p:nvSpPr>
          <p:cNvPr id="15" name="Text 13"/>
          <p:cNvSpPr/>
          <p:nvPr/>
        </p:nvSpPr>
        <p:spPr>
          <a:xfrm>
            <a:off x="4160520" y="1828800"/>
            <a:ext cx="822960" cy="365760"/>
          </a:xfrm>
          <a:prstGeom prst="rect">
            <a:avLst/>
          </a:prstGeom>
          <a:noFill/>
          <a:ln/>
        </p:spPr>
        <p:txBody>
          <a:bodyPr wrap="square" lIns="0" tIns="0" rIns="0" bIns="0" rtlCol="0" anchor="ctr"/>
          <a:lstStyle/>
          <a:p>
            <a:pPr algn="ctr" indent="0" marL="0">
              <a:buNone/>
            </a:pPr>
            <a:r>
              <a:rPr lang="en-US" sz="2800" dirty="0">
                <a:solidFill>
                  <a:srgbClr val="C4964A"/>
                </a:solidFill>
                <a:latin typeface="Calibri" pitchFamily="34" charset="0"/>
                <a:ea typeface="Calibri" pitchFamily="34" charset="-122"/>
                <a:cs typeface="Calibri" pitchFamily="34" charset="-120"/>
              </a:rPr>
              <a:t>⇄</a:t>
            </a:r>
            <a:endParaRPr lang="en-US" sz="2800" dirty="0"/>
          </a:p>
        </p:txBody>
      </p:sp>
      <p:sp>
        <p:nvSpPr>
          <p:cNvPr id="16" name="Text 14"/>
          <p:cNvSpPr/>
          <p:nvPr/>
        </p:nvSpPr>
        <p:spPr>
          <a:xfrm>
            <a:off x="4114800" y="2194560"/>
            <a:ext cx="914400" cy="228600"/>
          </a:xfrm>
          <a:prstGeom prst="rect">
            <a:avLst/>
          </a:prstGeom>
          <a:noFill/>
          <a:ln/>
        </p:spPr>
        <p:txBody>
          <a:bodyPr wrap="square" lIns="0" tIns="0" rIns="0" bIns="0" rtlCol="0" anchor="ctr"/>
          <a:lstStyle/>
          <a:p>
            <a:pPr algn="ctr" indent="0" marL="0">
              <a:buNone/>
            </a:pPr>
            <a:r>
              <a:rPr lang="en-US" sz="900" b="1" spc="200" kern="0" dirty="0">
                <a:solidFill>
                  <a:srgbClr val="C4964A"/>
                </a:solidFill>
                <a:latin typeface="Calibri" pitchFamily="34" charset="0"/>
                <a:ea typeface="Calibri" pitchFamily="34" charset="-122"/>
                <a:cs typeface="Calibri" pitchFamily="34" charset="-120"/>
              </a:rPr>
              <a:t>TENSION</a:t>
            </a:r>
            <a:endParaRPr lang="en-US" sz="900" dirty="0"/>
          </a:p>
        </p:txBody>
      </p:sp>
      <p:sp>
        <p:nvSpPr>
          <p:cNvPr id="17" name="Text 15"/>
          <p:cNvSpPr/>
          <p:nvPr/>
        </p:nvSpPr>
        <p:spPr>
          <a:xfrm>
            <a:off x="4005072" y="2450592"/>
            <a:ext cx="1143000" cy="914400"/>
          </a:xfrm>
          <a:prstGeom prst="rect">
            <a:avLst/>
          </a:prstGeom>
          <a:noFill/>
          <a:ln/>
        </p:spPr>
        <p:txBody>
          <a:bodyPr wrap="square" lIns="0" tIns="0" rIns="0" bIns="0" rtlCol="0" anchor="ctr"/>
          <a:lstStyle/>
          <a:p>
            <a:pPr algn="ctr" indent="0" marL="0">
              <a:buNone/>
            </a:pPr>
            <a:r>
              <a:rPr lang="en-US" sz="800" dirty="0">
                <a:solidFill>
                  <a:srgbClr val="D4CACA"/>
                </a:solidFill>
                <a:latin typeface="Calibri" pitchFamily="34" charset="0"/>
                <a:ea typeface="Calibri" pitchFamily="34" charset="-122"/>
                <a:cs typeface="Calibri" pitchFamily="34" charset="-120"/>
              </a:rPr>
              <a:t>More flexible</a:t>
            </a:r>
            <a:endParaRPr lang="en-US" sz="800" dirty="0"/>
          </a:p>
          <a:p>
            <a:pPr algn="ctr" indent="0" marL="0">
              <a:buNone/>
            </a:pPr>
            <a:r>
              <a:rPr lang="en-US" sz="800" dirty="0">
                <a:solidFill>
                  <a:srgbClr val="D4CACA"/>
                </a:solidFill>
                <a:latin typeface="Calibri" pitchFamily="34" charset="0"/>
                <a:ea typeface="Calibri" pitchFamily="34" charset="-122"/>
                <a:cs typeface="Calibri" pitchFamily="34" charset="-120"/>
              </a:rPr>
              <a:t>detrend =</a:t>
            </a:r>
            <a:endParaRPr lang="en-US" sz="800" dirty="0"/>
          </a:p>
          <a:p>
            <a:pPr algn="ctr" indent="0" marL="0">
              <a:buNone/>
            </a:pPr>
            <a:r>
              <a:rPr lang="en-US" sz="800" dirty="0">
                <a:solidFill>
                  <a:srgbClr val="D4CACA"/>
                </a:solidFill>
                <a:latin typeface="Calibri" pitchFamily="34" charset="0"/>
                <a:ea typeface="Calibri" pitchFamily="34" charset="-122"/>
                <a:cs typeface="Calibri" pitchFamily="34" charset="-120"/>
              </a:rPr>
              <a:t>lower D1 error</a:t>
            </a:r>
            <a:endParaRPr lang="en-US" sz="800" dirty="0"/>
          </a:p>
          <a:p>
            <a:pPr algn="ctr" indent="0" marL="0">
              <a:buNone/>
            </a:pPr>
            <a:r>
              <a:rPr lang="en-US" sz="800" dirty="0">
                <a:solidFill>
                  <a:srgbClr val="D4CACA"/>
                </a:solidFill>
                <a:latin typeface="Calibri" pitchFamily="34" charset="0"/>
                <a:ea typeface="Calibri" pitchFamily="34" charset="-122"/>
                <a:cs typeface="Calibri" pitchFamily="34" charset="-120"/>
              </a:rPr>
              <a:t>but less signal</a:t>
            </a:r>
            <a:endParaRPr lang="en-US" sz="800" dirty="0"/>
          </a:p>
          <a:p>
            <a:pPr algn="ctr" indent="0" marL="0">
              <a:buNone/>
            </a:pPr>
            <a:r>
              <a:rPr lang="en-US" sz="800" dirty="0">
                <a:solidFill>
                  <a:srgbClr val="D4CACA"/>
                </a:solidFill>
                <a:latin typeface="Calibri" pitchFamily="34" charset="0"/>
                <a:ea typeface="Calibri" pitchFamily="34" charset="-122"/>
                <a:cs typeface="Calibri" pitchFamily="34" charset="-120"/>
              </a:rPr>
              <a:t>for D2</a:t>
            </a:r>
            <a:endParaRPr lang="en-US" sz="800" dirty="0"/>
          </a:p>
        </p:txBody>
      </p:sp>
      <p:sp>
        <p:nvSpPr>
          <p:cNvPr id="18" name="Shape 16"/>
          <p:cNvSpPr/>
          <p:nvPr/>
        </p:nvSpPr>
        <p:spPr>
          <a:xfrm>
            <a:off x="5486400" y="1024128"/>
            <a:ext cx="3200400" cy="2377440"/>
          </a:xfrm>
          <a:prstGeom prst="rect">
            <a:avLst/>
          </a:prstGeom>
          <a:solidFill>
            <a:srgbClr val="1C1216"/>
          </a:solidFill>
          <a:ln w="25400">
            <a:solidFill>
              <a:srgbClr val="C4964A"/>
            </a:solidFill>
            <a:prstDash val="solid"/>
          </a:ln>
        </p:spPr>
      </p:sp>
      <p:sp>
        <p:nvSpPr>
          <p:cNvPr id="19" name="Text 17"/>
          <p:cNvSpPr/>
          <p:nvPr/>
        </p:nvSpPr>
        <p:spPr>
          <a:xfrm>
            <a:off x="5577840" y="1078992"/>
            <a:ext cx="3017520" cy="274320"/>
          </a:xfrm>
          <a:prstGeom prst="rect">
            <a:avLst/>
          </a:prstGeom>
          <a:noFill/>
          <a:ln/>
        </p:spPr>
        <p:txBody>
          <a:bodyPr wrap="square" lIns="0" tIns="0" rIns="0" bIns="0" rtlCol="0" anchor="ctr"/>
          <a:lstStyle/>
          <a:p>
            <a:pPr indent="0" marL="0">
              <a:buNone/>
            </a:pPr>
            <a:r>
              <a:rPr lang="en-US" sz="1100" b="1" spc="300" kern="0" dirty="0">
                <a:solidFill>
                  <a:srgbClr val="C4964A"/>
                </a:solidFill>
                <a:latin typeface="Calibri" pitchFamily="34" charset="0"/>
                <a:ea typeface="Calibri" pitchFamily="34" charset="-122"/>
                <a:cs typeface="Calibri" pitchFamily="34" charset="-120"/>
              </a:rPr>
              <a:t>DECISION 2</a:t>
            </a:r>
            <a:endParaRPr lang="en-US" sz="1100" dirty="0"/>
          </a:p>
        </p:txBody>
      </p:sp>
      <p:sp>
        <p:nvSpPr>
          <p:cNvPr id="20" name="Text 18"/>
          <p:cNvSpPr/>
          <p:nvPr/>
        </p:nvSpPr>
        <p:spPr>
          <a:xfrm>
            <a:off x="5577840" y="1371600"/>
            <a:ext cx="3017520" cy="347472"/>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Climate Signal</a:t>
            </a:r>
            <a:endParaRPr lang="en-US" sz="1800" dirty="0"/>
          </a:p>
        </p:txBody>
      </p:sp>
      <p:sp>
        <p:nvSpPr>
          <p:cNvPr id="21" name="Text 19"/>
          <p:cNvSpPr/>
          <p:nvPr/>
        </p:nvSpPr>
        <p:spPr>
          <a:xfrm>
            <a:off x="5577840" y="1755648"/>
            <a:ext cx="3017520" cy="530352"/>
          </a:xfrm>
          <a:prstGeom prst="rect">
            <a:avLst/>
          </a:prstGeom>
          <a:noFill/>
          <a:ln/>
        </p:spPr>
        <p:txBody>
          <a:bodyPr wrap="square" lIns="0" tIns="0" rIns="0" bIns="0" rtlCol="0" anchor="ctr"/>
          <a:lstStyle/>
          <a:p>
            <a:pPr indent="0" marL="0">
              <a:buNone/>
            </a:pPr>
            <a:r>
              <a:rPr lang="en-US" sz="1100" dirty="0">
                <a:solidFill>
                  <a:srgbClr val="D4CACA"/>
                </a:solidFill>
                <a:latin typeface="Calibri" pitchFamily="34" charset="0"/>
                <a:ea typeface="Calibri" pitchFamily="34" charset="-122"/>
                <a:cs typeface="Calibri" pitchFamily="34" charset="-120"/>
              </a:rPr>
              <a:t>Can a rule-based model predict detrended residuals better than zero?</a:t>
            </a:r>
            <a:endParaRPr lang="en-US" sz="1100" dirty="0"/>
          </a:p>
        </p:txBody>
      </p:sp>
      <p:sp>
        <p:nvSpPr>
          <p:cNvPr id="22" name="Text 20"/>
          <p:cNvSpPr/>
          <p:nvPr/>
        </p:nvSpPr>
        <p:spPr>
          <a:xfrm>
            <a:off x="5577840" y="2322576"/>
            <a:ext cx="3017520" cy="201168"/>
          </a:xfrm>
          <a:prstGeom prst="rect">
            <a:avLst/>
          </a:prstGeom>
          <a:noFill/>
          <a:ln/>
        </p:spPr>
        <p:txBody>
          <a:bodyPr wrap="square" lIns="0" tIns="0" rIns="0" bIns="0" rtlCol="0" anchor="ctr"/>
          <a:lstStyle/>
          <a:p>
            <a:pPr indent="0" marL="0">
              <a:buNone/>
            </a:pPr>
            <a:r>
              <a:rPr lang="en-US" sz="900" i="1" dirty="0">
                <a:solidFill>
                  <a:srgbClr val="9A8E8B"/>
                </a:solidFill>
                <a:latin typeface="Calibri" pitchFamily="34" charset="0"/>
                <a:ea typeface="Calibri" pitchFamily="34" charset="-122"/>
                <a:cs typeface="Calibri" pitchFamily="34" charset="-120"/>
              </a:rPr>
              <a:t>Measured by</a:t>
            </a:r>
            <a:endParaRPr lang="en-US" sz="900" dirty="0"/>
          </a:p>
        </p:txBody>
      </p:sp>
      <p:sp>
        <p:nvSpPr>
          <p:cNvPr id="23" name="Text 21"/>
          <p:cNvSpPr/>
          <p:nvPr/>
        </p:nvSpPr>
        <p:spPr>
          <a:xfrm>
            <a:off x="5577840" y="2505456"/>
            <a:ext cx="3017520" cy="292608"/>
          </a:xfrm>
          <a:prstGeom prst="rect">
            <a:avLst/>
          </a:prstGeom>
          <a:noFill/>
          <a:ln/>
        </p:spPr>
        <p:txBody>
          <a:bodyPr wrap="square" lIns="0" tIns="0" rIns="0" bIns="0" rtlCol="0" anchor="ctr"/>
          <a:lstStyle/>
          <a:p>
            <a:pPr indent="0" marL="0">
              <a:buNone/>
            </a:pPr>
            <a:r>
              <a:rPr lang="en-US" sz="1200" b="1" dirty="0">
                <a:solidFill>
                  <a:srgbClr val="C4964A"/>
                </a:solidFill>
                <a:latin typeface="Calibri" pitchFamily="34" charset="0"/>
                <a:ea typeface="Calibri" pitchFamily="34" charset="-122"/>
                <a:cs typeface="Calibri" pitchFamily="34" charset="-120"/>
              </a:rPr>
              <a:t>Model MAE − Naive_Median MAE</a:t>
            </a:r>
            <a:endParaRPr lang="en-US" sz="1200" dirty="0"/>
          </a:p>
        </p:txBody>
      </p:sp>
      <p:sp>
        <p:nvSpPr>
          <p:cNvPr id="24" name="Text 22"/>
          <p:cNvSpPr/>
          <p:nvPr/>
        </p:nvSpPr>
        <p:spPr>
          <a:xfrm>
            <a:off x="5577840" y="2779776"/>
            <a:ext cx="3017520" cy="201168"/>
          </a:xfrm>
          <a:prstGeom prst="rect">
            <a:avLst/>
          </a:prstGeom>
          <a:noFill/>
          <a:ln/>
        </p:spPr>
        <p:txBody>
          <a:bodyPr wrap="square" lIns="0" tIns="0" rIns="0" bIns="0" rtlCol="0" anchor="ctr"/>
          <a:lstStyle/>
          <a:p>
            <a:pPr indent="0" marL="0">
              <a:buNone/>
            </a:pPr>
            <a:r>
              <a:rPr lang="en-US" sz="900" i="1" dirty="0">
                <a:solidFill>
                  <a:srgbClr val="9A8E8B"/>
                </a:solidFill>
                <a:latin typeface="Calibri" pitchFamily="34" charset="0"/>
                <a:ea typeface="Calibri" pitchFamily="34" charset="-122"/>
                <a:cs typeface="Calibri" pitchFamily="34" charset="-120"/>
              </a:rPr>
              <a:t>negative = model wins</a:t>
            </a:r>
            <a:endParaRPr lang="en-US" sz="900" dirty="0"/>
          </a:p>
        </p:txBody>
      </p:sp>
      <p:sp>
        <p:nvSpPr>
          <p:cNvPr id="25" name="Text 23"/>
          <p:cNvSpPr/>
          <p:nvPr/>
        </p:nvSpPr>
        <p:spPr>
          <a:xfrm>
            <a:off x="5577840" y="2999232"/>
            <a:ext cx="3017520" cy="329184"/>
          </a:xfrm>
          <a:prstGeom prst="rect">
            <a:avLst/>
          </a:prstGeom>
          <a:noFill/>
          <a:ln/>
        </p:spPr>
        <p:txBody>
          <a:bodyPr wrap="square" lIns="0" tIns="0" rIns="0" bIns="0" rtlCol="0" anchor="ctr"/>
          <a:lstStyle/>
          <a:p>
            <a:pPr indent="0" marL="0">
              <a:buNone/>
            </a:pPr>
            <a:r>
              <a:rPr lang="en-US" sz="1000" dirty="0">
                <a:solidFill>
                  <a:srgbClr val="C4964A"/>
                </a:solidFill>
                <a:latin typeface="Calibri" pitchFamily="34" charset="0"/>
                <a:ea typeface="Calibri" pitchFamily="34" charset="-122"/>
                <a:cs typeface="Calibri" pitchFamily="34" charset="-120"/>
              </a:rPr>
              <a:t>Needs structured residuals to exploit</a:t>
            </a:r>
            <a:endParaRPr lang="en-US" sz="1000" dirty="0"/>
          </a:p>
        </p:txBody>
      </p:sp>
      <p:sp>
        <p:nvSpPr>
          <p:cNvPr id="26" name="Shape 24"/>
          <p:cNvSpPr/>
          <p:nvPr/>
        </p:nvSpPr>
        <p:spPr>
          <a:xfrm>
            <a:off x="457200" y="3566160"/>
            <a:ext cx="8229600" cy="1261872"/>
          </a:xfrm>
          <a:prstGeom prst="rect">
            <a:avLst/>
          </a:prstGeom>
          <a:solidFill>
            <a:srgbClr val="140E10"/>
          </a:solidFill>
          <a:ln w="19050">
            <a:solidFill>
              <a:srgbClr val="6B2737"/>
            </a:solidFill>
            <a:prstDash val="solid"/>
          </a:ln>
        </p:spPr>
      </p:sp>
      <p:sp>
        <p:nvSpPr>
          <p:cNvPr id="27" name="Text 25"/>
          <p:cNvSpPr/>
          <p:nvPr/>
        </p:nvSpPr>
        <p:spPr>
          <a:xfrm>
            <a:off x="640080" y="3611880"/>
            <a:ext cx="7863840" cy="256032"/>
          </a:xfrm>
          <a:prstGeom prst="rect">
            <a:avLst/>
          </a:prstGeom>
          <a:noFill/>
          <a:ln/>
        </p:spPr>
        <p:txBody>
          <a:bodyPr wrap="square" lIns="0" tIns="0" rIns="0" bIns="0" rtlCol="0" anchor="ctr"/>
          <a:lstStyle/>
          <a:p>
            <a:pPr indent="0" marL="0">
              <a:buNone/>
            </a:pPr>
            <a:r>
              <a:rPr lang="en-US" sz="1100" b="1" dirty="0">
                <a:solidFill>
                  <a:srgbClr val="C4964A"/>
                </a:solidFill>
                <a:latin typeface="Calibri" pitchFamily="34" charset="0"/>
                <a:ea typeface="Calibri" pitchFamily="34" charset="-122"/>
                <a:cs typeface="Calibri" pitchFamily="34" charset="-120"/>
              </a:rPr>
              <a:t>Concrete example: LOESS detrending in Vinho Verde</a:t>
            </a:r>
            <a:endParaRPr lang="en-US" sz="1100" dirty="0"/>
          </a:p>
        </p:txBody>
      </p:sp>
      <p:sp>
        <p:nvSpPr>
          <p:cNvPr id="28" name="Text 26"/>
          <p:cNvSpPr/>
          <p:nvPr/>
        </p:nvSpPr>
        <p:spPr>
          <a:xfrm>
            <a:off x="640080" y="3895344"/>
            <a:ext cx="7863840" cy="31089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LOESS vs. linear:  </a:t>
            </a:r>
            <a:pPr indent="0" marL="0">
              <a:buNone/>
            </a:pPr>
            <a:r>
              <a:rPr lang="en-US" sz="1200" b="1" dirty="0">
                <a:solidFill>
                  <a:srgbClr val="3A7A50"/>
                </a:solidFill>
                <a:latin typeface="Calibri" pitchFamily="34" charset="0"/>
                <a:ea typeface="Calibri" pitchFamily="34" charset="-122"/>
                <a:cs typeface="Calibri" pitchFamily="34" charset="-120"/>
              </a:rPr>
              <a:t>Decision 1 improves  </a:t>
            </a:r>
            <a:pPr indent="0" marL="0">
              <a:buNone/>
            </a:pPr>
            <a:r>
              <a:rPr lang="en-US" sz="1200" dirty="0">
                <a:solidFill>
                  <a:srgbClr val="3A7A50"/>
                </a:solidFill>
                <a:latin typeface="Calibri" pitchFamily="34" charset="0"/>
                <a:ea typeface="Calibri" pitchFamily="34" charset="-122"/>
                <a:cs typeface="Calibri" pitchFamily="34" charset="-120"/>
              </a:rPr>
              <a:t>Naive_Median: 140 → 90 mhl  (−36%)</a:t>
            </a:r>
            <a:pPr indent="0" marL="0">
              <a:buNone/>
            </a:pPr>
            <a:r>
              <a:rPr lang="en-US" sz="1200" dirty="0">
                <a:solidFill>
                  <a:srgbClr val="D4CACA"/>
                </a:solidFill>
                <a:latin typeface="Calibri" pitchFamily="34" charset="0"/>
                <a:ea typeface="Calibri" pitchFamily="34" charset="-122"/>
                <a:cs typeface="Calibri" pitchFamily="34" charset="-120"/>
              </a:rPr>
              <a:t>   BUT   </a:t>
            </a:r>
            <a:pPr indent="0" marL="0">
              <a:buNone/>
            </a:pPr>
            <a:r>
              <a:rPr lang="en-US" sz="1200" b="1" dirty="0">
                <a:solidFill>
                  <a:srgbClr val="B74A4A"/>
                </a:solidFill>
                <a:latin typeface="Calibri" pitchFamily="34" charset="0"/>
                <a:ea typeface="Calibri" pitchFamily="34" charset="-122"/>
                <a:cs typeface="Calibri" pitchFamily="34" charset="-120"/>
              </a:rPr>
              <a:t>Decision 2 collapses  </a:t>
            </a:r>
            <a:pPr indent="0" marL="0">
              <a:buNone/>
            </a:pPr>
            <a:r>
              <a:rPr lang="en-US" sz="1200" dirty="0">
                <a:solidFill>
                  <a:srgbClr val="B74A4A"/>
                </a:solidFill>
                <a:latin typeface="Calibri" pitchFamily="34" charset="0"/>
                <a:ea typeface="Calibri" pitchFamily="34" charset="-122"/>
                <a:cs typeface="Calibri" pitchFamily="34" charset="-120"/>
              </a:rPr>
              <a:t>0 rules fire in all 16 scenarios</a:t>
            </a:r>
            <a:endParaRPr lang="en-US" sz="1200" dirty="0"/>
          </a:p>
        </p:txBody>
      </p:sp>
      <p:sp>
        <p:nvSpPr>
          <p:cNvPr id="29" name="Text 27"/>
          <p:cNvSpPr/>
          <p:nvPr/>
        </p:nvSpPr>
        <p:spPr>
          <a:xfrm>
            <a:off x="640080" y="4242816"/>
            <a:ext cx="7863840" cy="256032"/>
          </a:xfrm>
          <a:prstGeom prst="rect">
            <a:avLst/>
          </a:prstGeom>
          <a:noFill/>
          <a:ln/>
        </p:spPr>
        <p:txBody>
          <a:bodyPr wrap="square" lIns="0" tIns="0" rIns="0" bIns="0" rtlCol="0" anchor="ctr"/>
          <a:lstStyle/>
          <a:p>
            <a:pPr indent="0" marL="0">
              <a:buNone/>
            </a:pPr>
            <a:r>
              <a:rPr lang="en-US" sz="1100" i="1" dirty="0">
                <a:solidFill>
                  <a:srgbClr val="D4CACA"/>
                </a:solidFill>
                <a:latin typeface="Calibri" pitchFamily="34" charset="0"/>
                <a:ea typeface="Calibri" pitchFamily="34" charset="-122"/>
                <a:cs typeface="Calibri" pitchFamily="34" charset="-120"/>
              </a:rPr>
              <a:t>Improving the trend removes the very signal that rule induction depends 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8F2EA"/>
        </a:solidFill>
      </p:bgPr>
    </p:bg>
    <p:spTree>
      <p:nvGrpSpPr>
        <p:cNvPr id="1" name=""/>
        <p:cNvGrpSpPr/>
        <p:nvPr/>
      </p:nvGrpSpPr>
      <p:grpSpPr>
        <a:xfrm>
          <a:off x="0" y="0"/>
          <a:ext cx="0" cy="0"/>
          <a:chOff x="0" y="0"/>
          <a:chExt cx="0" cy="0"/>
        </a:xfrm>
      </p:grpSpPr>
      <p:sp>
        <p:nvSpPr>
          <p:cNvPr id="2" name="Rectangle 1"/>
          <p:cNvSpPr/>
          <p:nvPr/>
        </p:nvSpPr>
        <p:spPr>
          <a:xfrm>
            <a:off x="0" y="0"/>
            <a:ext cx="9144000" cy="50800"/>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14300"/>
            <a:ext cx="8229600" cy="381000"/>
          </a:xfrm>
          <a:prstGeom prst="rect">
            <a:avLst/>
          </a:prstGeom>
          <a:noFill/>
        </p:spPr>
        <p:txBody>
          <a:bodyPr wrap="square">
            <a:spAutoFit/>
          </a:bodyPr>
          <a:lstStyle/>
          <a:p>
            <a:pPr algn="l"/>
            <a:r>
              <a:rPr sz="2400" b="1" i="0">
                <a:solidFill>
                  <a:srgbClr val="6B2737"/>
                </a:solidFill>
                <a:latin typeface="Georgia"/>
              </a:rPr>
              <a:t>Rule Discovery Results (Goal 1)</a:t>
            </a:r>
          </a:p>
        </p:txBody>
      </p:sp>
      <p:sp>
        <p:nvSpPr>
          <p:cNvPr id="4" name="TextBox 3"/>
          <p:cNvSpPr txBox="1"/>
          <p:nvPr/>
        </p:nvSpPr>
        <p:spPr>
          <a:xfrm>
            <a:off x="457200" y="533400"/>
            <a:ext cx="8229600" cy="177800"/>
          </a:xfrm>
          <a:prstGeom prst="rect">
            <a:avLst/>
          </a:prstGeom>
          <a:noFill/>
        </p:spPr>
        <p:txBody>
          <a:bodyPr wrap="square">
            <a:spAutoFit/>
          </a:bodyPr>
          <a:lstStyle/>
          <a:p>
            <a:pPr algn="l"/>
            <a:r>
              <a:rPr sz="1000" b="0" i="1">
                <a:solidFill>
                  <a:srgbClr val="5A4042"/>
                </a:solidFill>
                <a:latin typeface="Calibri"/>
              </a:rPr>
              <a:t>CarenR — 48 rules for Douro · 20 rules for Vinho Verde</a:t>
            </a:r>
          </a:p>
        </p:txBody>
      </p:sp>
      <p:sp>
        <p:nvSpPr>
          <p:cNvPr id="5" name="Rectangle 4"/>
          <p:cNvSpPr/>
          <p:nvPr/>
        </p:nvSpPr>
        <p:spPr>
          <a:xfrm>
            <a:off x="457200" y="736600"/>
            <a:ext cx="8229600" cy="127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800100"/>
            <a:ext cx="4127500" cy="228600"/>
          </a:xfrm>
          <a:prstGeom prst="rect">
            <a:avLst/>
          </a:prstGeom>
          <a:noFill/>
        </p:spPr>
        <p:txBody>
          <a:bodyPr wrap="square">
            <a:spAutoFit/>
          </a:bodyPr>
          <a:lstStyle/>
          <a:p>
            <a:pPr algn="l"/>
            <a:r>
              <a:rPr sz="1100" b="1" i="0">
                <a:solidFill>
                  <a:srgbClr val="6B2737"/>
                </a:solidFill>
                <a:latin typeface="Georgia"/>
              </a:rPr>
              <a:t>Douro (RDD) — top 5 rules</a:t>
            </a:r>
          </a:p>
        </p:txBody>
      </p:sp>
      <p:sp>
        <p:nvSpPr>
          <p:cNvPr id="7" name="TextBox 6"/>
          <p:cNvSpPr txBox="1"/>
          <p:nvPr/>
        </p:nvSpPr>
        <p:spPr>
          <a:xfrm>
            <a:off x="4660900" y="800100"/>
            <a:ext cx="4025900" cy="228600"/>
          </a:xfrm>
          <a:prstGeom prst="rect">
            <a:avLst/>
          </a:prstGeom>
          <a:noFill/>
        </p:spPr>
        <p:txBody>
          <a:bodyPr wrap="square">
            <a:spAutoFit/>
          </a:bodyPr>
          <a:lstStyle/>
          <a:p>
            <a:pPr algn="l"/>
            <a:r>
              <a:rPr sz="1100" b="1" i="0">
                <a:solidFill>
                  <a:srgbClr val="2A7F7F"/>
                </a:solidFill>
                <a:latin typeface="Georgia"/>
              </a:rPr>
              <a:t>Vinho Verde (RVV) — top 5 rules</a:t>
            </a:r>
          </a:p>
        </p:txBody>
      </p:sp>
      <p:sp>
        <p:nvSpPr>
          <p:cNvPr id="8" name="Rectangle 7"/>
          <p:cNvSpPr/>
          <p:nvPr/>
        </p:nvSpPr>
        <p:spPr>
          <a:xfrm>
            <a:off x="457200" y="1079500"/>
            <a:ext cx="4127500" cy="558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79500"/>
            <a:ext cx="38100" cy="558800"/>
          </a:xfrm>
          <a:prstGeom prst="rect">
            <a:avLst/>
          </a:prstGeom>
          <a:solidFill>
            <a:srgbClr val="2A7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3400" y="1104900"/>
            <a:ext cx="3276600" cy="381000"/>
          </a:xfrm>
          <a:prstGeom prst="rect">
            <a:avLst/>
          </a:prstGeom>
          <a:noFill/>
        </p:spPr>
        <p:txBody>
          <a:bodyPr wrap="square">
            <a:spAutoFit/>
          </a:bodyPr>
          <a:lstStyle/>
          <a:p>
            <a:pPr algn="l"/>
            <a:r>
              <a:rPr sz="700" b="0" i="0">
                <a:solidFill>
                  <a:srgbClr val="1C1214"/>
                </a:solidFill>
                <a:latin typeface="Calibri"/>
              </a:rPr>
              <a:t>Wet days post-Flowering [0–3.3d]  AND  Wet days post-Maturity [0–3.5d]</a:t>
            </a:r>
          </a:p>
        </p:txBody>
      </p:sp>
      <p:sp>
        <p:nvSpPr>
          <p:cNvPr id="11" name="TextBox 10"/>
          <p:cNvSpPr txBox="1"/>
          <p:nvPr/>
        </p:nvSpPr>
        <p:spPr>
          <a:xfrm>
            <a:off x="3784600" y="1143000"/>
            <a:ext cx="762000" cy="228600"/>
          </a:xfrm>
          <a:prstGeom prst="rect">
            <a:avLst/>
          </a:prstGeom>
          <a:noFill/>
        </p:spPr>
        <p:txBody>
          <a:bodyPr wrap="square">
            <a:spAutoFit/>
          </a:bodyPr>
          <a:lstStyle/>
          <a:p>
            <a:pPr algn="r"/>
            <a:r>
              <a:rPr sz="900" b="1" i="0">
                <a:solidFill>
                  <a:srgbClr val="2A7F7F"/>
                </a:solidFill>
                <a:latin typeface="Calibri"/>
              </a:rPr>
              <a:t>+121 mhl</a:t>
            </a:r>
          </a:p>
        </p:txBody>
      </p:sp>
      <p:sp>
        <p:nvSpPr>
          <p:cNvPr id="12" name="TextBox 11"/>
          <p:cNvSpPr txBox="1"/>
          <p:nvPr/>
        </p:nvSpPr>
        <p:spPr>
          <a:xfrm>
            <a:off x="533400" y="1511300"/>
            <a:ext cx="4038600" cy="127000"/>
          </a:xfrm>
          <a:prstGeom prst="rect">
            <a:avLst/>
          </a:prstGeom>
          <a:noFill/>
        </p:spPr>
        <p:txBody>
          <a:bodyPr wrap="square">
            <a:spAutoFit/>
          </a:bodyPr>
          <a:lstStyle/>
          <a:p>
            <a:pPr algn="l"/>
            <a:r>
              <a:rPr sz="700" b="0" i="0">
                <a:solidFill>
                  <a:srgbClr val="9A8E8B"/>
                </a:solidFill>
                <a:latin typeface="Calibri"/>
              </a:rPr>
              <a:t>28% · p=0.004</a:t>
            </a:r>
          </a:p>
        </p:txBody>
      </p:sp>
      <p:sp>
        <p:nvSpPr>
          <p:cNvPr id="13" name="Rectangle 12"/>
          <p:cNvSpPr/>
          <p:nvPr/>
        </p:nvSpPr>
        <p:spPr>
          <a:xfrm>
            <a:off x="457200" y="1676400"/>
            <a:ext cx="4127500" cy="558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676400"/>
            <a:ext cx="38100" cy="558800"/>
          </a:xfrm>
          <a:prstGeom prst="rect">
            <a:avLst/>
          </a:prstGeom>
          <a:solidFill>
            <a:srgbClr val="2A7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400" y="1701800"/>
            <a:ext cx="3276600" cy="381000"/>
          </a:xfrm>
          <a:prstGeom prst="rect">
            <a:avLst/>
          </a:prstGeom>
          <a:noFill/>
        </p:spPr>
        <p:txBody>
          <a:bodyPr wrap="square">
            <a:spAutoFit/>
          </a:bodyPr>
          <a:lstStyle/>
          <a:p>
            <a:pPr algn="l"/>
            <a:r>
              <a:rPr sz="700" b="0" i="0">
                <a:solidFill>
                  <a:srgbClr val="1C1214"/>
                </a:solidFill>
                <a:latin typeface="Calibri"/>
              </a:rPr>
              <a:t>Wet days post-Flowering [0–3.3d]  AND  Wet days post-Maturity [0–3.5d]  AND  Heat days post-Flowering [0–0.6d]</a:t>
            </a:r>
          </a:p>
        </p:txBody>
      </p:sp>
      <p:sp>
        <p:nvSpPr>
          <p:cNvPr id="16" name="TextBox 15"/>
          <p:cNvSpPr txBox="1"/>
          <p:nvPr/>
        </p:nvSpPr>
        <p:spPr>
          <a:xfrm>
            <a:off x="3784600" y="1739900"/>
            <a:ext cx="762000" cy="228600"/>
          </a:xfrm>
          <a:prstGeom prst="rect">
            <a:avLst/>
          </a:prstGeom>
          <a:noFill/>
        </p:spPr>
        <p:txBody>
          <a:bodyPr wrap="square">
            <a:spAutoFit/>
          </a:bodyPr>
          <a:lstStyle/>
          <a:p>
            <a:pPr algn="r"/>
            <a:r>
              <a:rPr sz="900" b="1" i="0">
                <a:solidFill>
                  <a:srgbClr val="2A7F7F"/>
                </a:solidFill>
                <a:latin typeface="Calibri"/>
              </a:rPr>
              <a:t>+113 mhl</a:t>
            </a:r>
          </a:p>
        </p:txBody>
      </p:sp>
      <p:sp>
        <p:nvSpPr>
          <p:cNvPr id="17" name="TextBox 16"/>
          <p:cNvSpPr txBox="1"/>
          <p:nvPr/>
        </p:nvSpPr>
        <p:spPr>
          <a:xfrm>
            <a:off x="533400" y="2108200"/>
            <a:ext cx="4038600" cy="127000"/>
          </a:xfrm>
          <a:prstGeom prst="rect">
            <a:avLst/>
          </a:prstGeom>
          <a:noFill/>
        </p:spPr>
        <p:txBody>
          <a:bodyPr wrap="square">
            <a:spAutoFit/>
          </a:bodyPr>
          <a:lstStyle/>
          <a:p>
            <a:pPr algn="l"/>
            <a:r>
              <a:rPr sz="700" b="0" i="0">
                <a:solidFill>
                  <a:srgbClr val="9A8E8B"/>
                </a:solidFill>
                <a:latin typeface="Calibri"/>
              </a:rPr>
              <a:t>26% · p=0.009</a:t>
            </a:r>
          </a:p>
        </p:txBody>
      </p:sp>
      <p:sp>
        <p:nvSpPr>
          <p:cNvPr id="18" name="Rectangle 17"/>
          <p:cNvSpPr/>
          <p:nvPr/>
        </p:nvSpPr>
        <p:spPr>
          <a:xfrm>
            <a:off x="457200" y="2273300"/>
            <a:ext cx="4127500" cy="558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273300"/>
            <a:ext cx="38100" cy="558800"/>
          </a:xfrm>
          <a:prstGeom prst="rect">
            <a:avLst/>
          </a:prstGeom>
          <a:solidFill>
            <a:srgbClr val="2A7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3400" y="2298700"/>
            <a:ext cx="3276600" cy="381000"/>
          </a:xfrm>
          <a:prstGeom prst="rect">
            <a:avLst/>
          </a:prstGeom>
          <a:noFill/>
        </p:spPr>
        <p:txBody>
          <a:bodyPr wrap="square">
            <a:spAutoFit/>
          </a:bodyPr>
          <a:lstStyle/>
          <a:p>
            <a:pPr algn="l"/>
            <a:r>
              <a:rPr sz="700" b="0" i="0">
                <a:solidFill>
                  <a:srgbClr val="1C1214"/>
                </a:solidFill>
                <a:latin typeface="Calibri"/>
              </a:rPr>
              <a:t>Soil water pre-Harvest [74–101 mm]  AND  Wet days post-Harvest prev.yr [0–2.3d]  AND  Wet days post-Maturity [0–3.5d]</a:t>
            </a:r>
          </a:p>
        </p:txBody>
      </p:sp>
      <p:sp>
        <p:nvSpPr>
          <p:cNvPr id="21" name="TextBox 20"/>
          <p:cNvSpPr txBox="1"/>
          <p:nvPr/>
        </p:nvSpPr>
        <p:spPr>
          <a:xfrm>
            <a:off x="3784600" y="2336800"/>
            <a:ext cx="762000" cy="228600"/>
          </a:xfrm>
          <a:prstGeom prst="rect">
            <a:avLst/>
          </a:prstGeom>
          <a:noFill/>
        </p:spPr>
        <p:txBody>
          <a:bodyPr wrap="square">
            <a:spAutoFit/>
          </a:bodyPr>
          <a:lstStyle/>
          <a:p>
            <a:pPr algn="r"/>
            <a:r>
              <a:rPr sz="900" b="1" i="0">
                <a:solidFill>
                  <a:srgbClr val="2A7F7F"/>
                </a:solidFill>
                <a:latin typeface="Calibri"/>
              </a:rPr>
              <a:t>+192 mhl</a:t>
            </a:r>
          </a:p>
        </p:txBody>
      </p:sp>
      <p:sp>
        <p:nvSpPr>
          <p:cNvPr id="22" name="TextBox 21"/>
          <p:cNvSpPr txBox="1"/>
          <p:nvPr/>
        </p:nvSpPr>
        <p:spPr>
          <a:xfrm>
            <a:off x="533400" y="2705100"/>
            <a:ext cx="4038600" cy="127000"/>
          </a:xfrm>
          <a:prstGeom prst="rect">
            <a:avLst/>
          </a:prstGeom>
          <a:noFill/>
        </p:spPr>
        <p:txBody>
          <a:bodyPr wrap="square">
            <a:spAutoFit/>
          </a:bodyPr>
          <a:lstStyle/>
          <a:p>
            <a:pPr algn="l"/>
            <a:r>
              <a:rPr sz="700" b="0" i="0">
                <a:solidFill>
                  <a:srgbClr val="9A8E8B"/>
                </a:solidFill>
                <a:latin typeface="Calibri"/>
              </a:rPr>
              <a:t>21% · p=0.010</a:t>
            </a:r>
          </a:p>
        </p:txBody>
      </p:sp>
      <p:sp>
        <p:nvSpPr>
          <p:cNvPr id="23" name="Rectangle 22"/>
          <p:cNvSpPr/>
          <p:nvPr/>
        </p:nvSpPr>
        <p:spPr>
          <a:xfrm>
            <a:off x="457200" y="2870200"/>
            <a:ext cx="4127500" cy="558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870200"/>
            <a:ext cx="38100" cy="558800"/>
          </a:xfrm>
          <a:prstGeom prst="rect">
            <a:avLst/>
          </a:prstGeom>
          <a:solidFill>
            <a:srgbClr val="2A7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3400" y="2895600"/>
            <a:ext cx="3276600" cy="381000"/>
          </a:xfrm>
          <a:prstGeom prst="rect">
            <a:avLst/>
          </a:prstGeom>
          <a:noFill/>
        </p:spPr>
        <p:txBody>
          <a:bodyPr wrap="square">
            <a:spAutoFit/>
          </a:bodyPr>
          <a:lstStyle/>
          <a:p>
            <a:pPr algn="l"/>
            <a:r>
              <a:rPr sz="700" b="0" i="0">
                <a:solidFill>
                  <a:srgbClr val="1C1214"/>
                </a:solidFill>
                <a:latin typeface="Calibri"/>
              </a:rPr>
              <a:t>Wet days post-Flowering [0–3.3d]  AND  Heat days pre-Maturity [0–3.7d]</a:t>
            </a:r>
          </a:p>
        </p:txBody>
      </p:sp>
      <p:sp>
        <p:nvSpPr>
          <p:cNvPr id="26" name="TextBox 25"/>
          <p:cNvSpPr txBox="1"/>
          <p:nvPr/>
        </p:nvSpPr>
        <p:spPr>
          <a:xfrm>
            <a:off x="3784600" y="2933700"/>
            <a:ext cx="762000" cy="228600"/>
          </a:xfrm>
          <a:prstGeom prst="rect">
            <a:avLst/>
          </a:prstGeom>
          <a:noFill/>
        </p:spPr>
        <p:txBody>
          <a:bodyPr wrap="square">
            <a:spAutoFit/>
          </a:bodyPr>
          <a:lstStyle/>
          <a:p>
            <a:pPr algn="r"/>
            <a:r>
              <a:rPr sz="900" b="1" i="0">
                <a:solidFill>
                  <a:srgbClr val="2A7F7F"/>
                </a:solidFill>
                <a:latin typeface="Calibri"/>
              </a:rPr>
              <a:t>+115 mhl</a:t>
            </a:r>
          </a:p>
        </p:txBody>
      </p:sp>
      <p:sp>
        <p:nvSpPr>
          <p:cNvPr id="27" name="TextBox 26"/>
          <p:cNvSpPr txBox="1"/>
          <p:nvPr/>
        </p:nvSpPr>
        <p:spPr>
          <a:xfrm>
            <a:off x="533400" y="3302000"/>
            <a:ext cx="4038600" cy="127000"/>
          </a:xfrm>
          <a:prstGeom prst="rect">
            <a:avLst/>
          </a:prstGeom>
          <a:noFill/>
        </p:spPr>
        <p:txBody>
          <a:bodyPr wrap="square">
            <a:spAutoFit/>
          </a:bodyPr>
          <a:lstStyle/>
          <a:p>
            <a:pPr algn="l"/>
            <a:r>
              <a:rPr sz="700" b="0" i="0">
                <a:solidFill>
                  <a:srgbClr val="9A8E8B"/>
                </a:solidFill>
                <a:latin typeface="Calibri"/>
              </a:rPr>
              <a:t>25% · p=0.011</a:t>
            </a:r>
          </a:p>
        </p:txBody>
      </p:sp>
      <p:sp>
        <p:nvSpPr>
          <p:cNvPr id="28" name="Rectangle 27"/>
          <p:cNvSpPr/>
          <p:nvPr/>
        </p:nvSpPr>
        <p:spPr>
          <a:xfrm>
            <a:off x="457200" y="3467100"/>
            <a:ext cx="4127500" cy="558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467100"/>
            <a:ext cx="38100" cy="558800"/>
          </a:xfrm>
          <a:prstGeom prst="rect">
            <a:avLst/>
          </a:prstGeom>
          <a:solidFill>
            <a:srgbClr val="8B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3400" y="3492500"/>
            <a:ext cx="3276600" cy="381000"/>
          </a:xfrm>
          <a:prstGeom prst="rect">
            <a:avLst/>
          </a:prstGeom>
          <a:noFill/>
        </p:spPr>
        <p:txBody>
          <a:bodyPr wrap="square">
            <a:spAutoFit/>
          </a:bodyPr>
          <a:lstStyle/>
          <a:p>
            <a:pPr algn="l"/>
            <a:r>
              <a:rPr sz="700" b="0" i="0">
                <a:solidFill>
                  <a:srgbClr val="1C1214"/>
                </a:solidFill>
                <a:latin typeface="Calibri"/>
              </a:rPr>
              <a:t>LAI at Flowering [0.74–0.88 m²/m²]  AND  Soil water post-Flowering [390–404 mm]</a:t>
            </a:r>
          </a:p>
        </p:txBody>
      </p:sp>
      <p:sp>
        <p:nvSpPr>
          <p:cNvPr id="31" name="TextBox 30"/>
          <p:cNvSpPr txBox="1"/>
          <p:nvPr/>
        </p:nvSpPr>
        <p:spPr>
          <a:xfrm>
            <a:off x="3784600" y="3530600"/>
            <a:ext cx="762000" cy="228600"/>
          </a:xfrm>
          <a:prstGeom prst="rect">
            <a:avLst/>
          </a:prstGeom>
          <a:noFill/>
        </p:spPr>
        <p:txBody>
          <a:bodyPr wrap="square">
            <a:spAutoFit/>
          </a:bodyPr>
          <a:lstStyle/>
          <a:p>
            <a:pPr algn="r"/>
            <a:r>
              <a:rPr sz="900" b="1" i="0">
                <a:solidFill>
                  <a:srgbClr val="8B2F2F"/>
                </a:solidFill>
                <a:latin typeface="Calibri"/>
              </a:rPr>
              <a:t>−131 mhl</a:t>
            </a:r>
          </a:p>
        </p:txBody>
      </p:sp>
      <p:sp>
        <p:nvSpPr>
          <p:cNvPr id="32" name="TextBox 31"/>
          <p:cNvSpPr txBox="1"/>
          <p:nvPr/>
        </p:nvSpPr>
        <p:spPr>
          <a:xfrm>
            <a:off x="533400" y="3898900"/>
            <a:ext cx="4038600" cy="127000"/>
          </a:xfrm>
          <a:prstGeom prst="rect">
            <a:avLst/>
          </a:prstGeom>
          <a:noFill/>
        </p:spPr>
        <p:txBody>
          <a:bodyPr wrap="square">
            <a:spAutoFit/>
          </a:bodyPr>
          <a:lstStyle/>
          <a:p>
            <a:pPr algn="l"/>
            <a:r>
              <a:rPr sz="700" b="0" i="0">
                <a:solidFill>
                  <a:srgbClr val="9A8E8B"/>
                </a:solidFill>
                <a:latin typeface="Calibri"/>
              </a:rPr>
              <a:t>20% · p=0.008</a:t>
            </a:r>
          </a:p>
        </p:txBody>
      </p:sp>
      <p:sp>
        <p:nvSpPr>
          <p:cNvPr id="33" name="Rectangle 32"/>
          <p:cNvSpPr/>
          <p:nvPr/>
        </p:nvSpPr>
        <p:spPr>
          <a:xfrm>
            <a:off x="4660900" y="1079500"/>
            <a:ext cx="4025900" cy="558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60900" y="1079500"/>
            <a:ext cx="38100" cy="558800"/>
          </a:xfrm>
          <a:prstGeom prst="rect">
            <a:avLst/>
          </a:prstGeom>
          <a:solidFill>
            <a:srgbClr val="8B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37100" y="1104900"/>
            <a:ext cx="3162300" cy="381000"/>
          </a:xfrm>
          <a:prstGeom prst="rect">
            <a:avLst/>
          </a:prstGeom>
          <a:noFill/>
        </p:spPr>
        <p:txBody>
          <a:bodyPr wrap="square">
            <a:spAutoFit/>
          </a:bodyPr>
          <a:lstStyle/>
          <a:p>
            <a:pPr algn="l"/>
            <a:r>
              <a:rPr sz="700" b="0" i="0">
                <a:solidFill>
                  <a:srgbClr val="1C1214"/>
                </a:solidFill>
                <a:latin typeface="Calibri"/>
              </a:rPr>
              <a:t>Soil water pre-Harvest [61–97 mm]  AND  Heat days pre-Maturity [0–1.9d]  AND  Heat days post-Maturity [0–2.4d]  AND  Heat days post-Flowering [0–1.1d]</a:t>
            </a:r>
          </a:p>
        </p:txBody>
      </p:sp>
      <p:sp>
        <p:nvSpPr>
          <p:cNvPr id="36" name="TextBox 35"/>
          <p:cNvSpPr txBox="1"/>
          <p:nvPr/>
        </p:nvSpPr>
        <p:spPr>
          <a:xfrm>
            <a:off x="7899400" y="1143000"/>
            <a:ext cx="762000" cy="228600"/>
          </a:xfrm>
          <a:prstGeom prst="rect">
            <a:avLst/>
          </a:prstGeom>
          <a:noFill/>
        </p:spPr>
        <p:txBody>
          <a:bodyPr wrap="square">
            <a:spAutoFit/>
          </a:bodyPr>
          <a:lstStyle/>
          <a:p>
            <a:pPr algn="r"/>
            <a:r>
              <a:rPr sz="900" b="1" i="0">
                <a:solidFill>
                  <a:srgbClr val="8B2F2F"/>
                </a:solidFill>
                <a:latin typeface="Calibri"/>
              </a:rPr>
              <a:t>−338 mhl</a:t>
            </a:r>
          </a:p>
        </p:txBody>
      </p:sp>
      <p:sp>
        <p:nvSpPr>
          <p:cNvPr id="37" name="TextBox 36"/>
          <p:cNvSpPr txBox="1"/>
          <p:nvPr/>
        </p:nvSpPr>
        <p:spPr>
          <a:xfrm>
            <a:off x="4737100" y="1511300"/>
            <a:ext cx="3911600" cy="127000"/>
          </a:xfrm>
          <a:prstGeom prst="rect">
            <a:avLst/>
          </a:prstGeom>
          <a:noFill/>
        </p:spPr>
        <p:txBody>
          <a:bodyPr wrap="square">
            <a:spAutoFit/>
          </a:bodyPr>
          <a:lstStyle/>
          <a:p>
            <a:pPr algn="l"/>
            <a:r>
              <a:rPr sz="700" b="0" i="0">
                <a:solidFill>
                  <a:srgbClr val="9A8E8B"/>
                </a:solidFill>
                <a:latin typeface="Calibri"/>
              </a:rPr>
              <a:t>21% · p=0.020</a:t>
            </a:r>
          </a:p>
        </p:txBody>
      </p:sp>
      <p:sp>
        <p:nvSpPr>
          <p:cNvPr id="38" name="Rectangle 37"/>
          <p:cNvSpPr/>
          <p:nvPr/>
        </p:nvSpPr>
        <p:spPr>
          <a:xfrm>
            <a:off x="4660900" y="1676400"/>
            <a:ext cx="4025900" cy="558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660900" y="1676400"/>
            <a:ext cx="38100" cy="558800"/>
          </a:xfrm>
          <a:prstGeom prst="rect">
            <a:avLst/>
          </a:prstGeom>
          <a:solidFill>
            <a:srgbClr val="8B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37100" y="1701800"/>
            <a:ext cx="3162300" cy="381000"/>
          </a:xfrm>
          <a:prstGeom prst="rect">
            <a:avLst/>
          </a:prstGeom>
          <a:noFill/>
        </p:spPr>
        <p:txBody>
          <a:bodyPr wrap="square">
            <a:spAutoFit/>
          </a:bodyPr>
          <a:lstStyle/>
          <a:p>
            <a:pPr algn="l"/>
            <a:r>
              <a:rPr sz="700" b="0" i="0">
                <a:solidFill>
                  <a:srgbClr val="1C1214"/>
                </a:solidFill>
                <a:latin typeface="Calibri"/>
              </a:rPr>
              <a:t>Temp at Flowering [13.8–17.1°C]  AND  Temp post-Flowering [12.6–17.5°C]  AND  Wet-soil days post-Flowering prev.yr [17.5–20d]</a:t>
            </a:r>
          </a:p>
        </p:txBody>
      </p:sp>
      <p:sp>
        <p:nvSpPr>
          <p:cNvPr id="41" name="TextBox 40"/>
          <p:cNvSpPr txBox="1"/>
          <p:nvPr/>
        </p:nvSpPr>
        <p:spPr>
          <a:xfrm>
            <a:off x="7899400" y="1739900"/>
            <a:ext cx="762000" cy="228600"/>
          </a:xfrm>
          <a:prstGeom prst="rect">
            <a:avLst/>
          </a:prstGeom>
          <a:noFill/>
        </p:spPr>
        <p:txBody>
          <a:bodyPr wrap="square">
            <a:spAutoFit/>
          </a:bodyPr>
          <a:lstStyle/>
          <a:p>
            <a:pPr algn="r"/>
            <a:r>
              <a:rPr sz="900" b="1" i="0">
                <a:solidFill>
                  <a:srgbClr val="8B2F2F"/>
                </a:solidFill>
                <a:latin typeface="Calibri"/>
              </a:rPr>
              <a:t>−268 mhl</a:t>
            </a:r>
          </a:p>
        </p:txBody>
      </p:sp>
      <p:sp>
        <p:nvSpPr>
          <p:cNvPr id="42" name="TextBox 41"/>
          <p:cNvSpPr txBox="1"/>
          <p:nvPr/>
        </p:nvSpPr>
        <p:spPr>
          <a:xfrm>
            <a:off x="4737100" y="2108200"/>
            <a:ext cx="3911600" cy="127000"/>
          </a:xfrm>
          <a:prstGeom prst="rect">
            <a:avLst/>
          </a:prstGeom>
          <a:noFill/>
        </p:spPr>
        <p:txBody>
          <a:bodyPr wrap="square">
            <a:spAutoFit/>
          </a:bodyPr>
          <a:lstStyle/>
          <a:p>
            <a:pPr algn="l"/>
            <a:r>
              <a:rPr sz="700" b="0" i="0">
                <a:solidFill>
                  <a:srgbClr val="9A8E8B"/>
                </a:solidFill>
                <a:latin typeface="Calibri"/>
              </a:rPr>
              <a:t>21% · p=0.022</a:t>
            </a:r>
          </a:p>
        </p:txBody>
      </p:sp>
      <p:sp>
        <p:nvSpPr>
          <p:cNvPr id="43" name="Rectangle 42"/>
          <p:cNvSpPr/>
          <p:nvPr/>
        </p:nvSpPr>
        <p:spPr>
          <a:xfrm>
            <a:off x="4660900" y="2273300"/>
            <a:ext cx="4025900" cy="558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660900" y="2273300"/>
            <a:ext cx="38100" cy="558800"/>
          </a:xfrm>
          <a:prstGeom prst="rect">
            <a:avLst/>
          </a:prstGeom>
          <a:solidFill>
            <a:srgbClr val="8B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37100" y="2298700"/>
            <a:ext cx="3162300" cy="381000"/>
          </a:xfrm>
          <a:prstGeom prst="rect">
            <a:avLst/>
          </a:prstGeom>
          <a:noFill/>
        </p:spPr>
        <p:txBody>
          <a:bodyPr wrap="square">
            <a:spAutoFit/>
          </a:bodyPr>
          <a:lstStyle/>
          <a:p>
            <a:pPr algn="l"/>
            <a:r>
              <a:rPr sz="700" b="0" i="0">
                <a:solidFill>
                  <a:srgbClr val="1C1214"/>
                </a:solidFill>
                <a:latin typeface="Calibri"/>
              </a:rPr>
              <a:t>Soil water post-Flowering [143–234 mm]  AND  Heat days post-Maturity [0–2.4d]</a:t>
            </a:r>
          </a:p>
        </p:txBody>
      </p:sp>
      <p:sp>
        <p:nvSpPr>
          <p:cNvPr id="46" name="TextBox 45"/>
          <p:cNvSpPr txBox="1"/>
          <p:nvPr/>
        </p:nvSpPr>
        <p:spPr>
          <a:xfrm>
            <a:off x="7899400" y="2336800"/>
            <a:ext cx="762000" cy="228600"/>
          </a:xfrm>
          <a:prstGeom prst="rect">
            <a:avLst/>
          </a:prstGeom>
          <a:noFill/>
        </p:spPr>
        <p:txBody>
          <a:bodyPr wrap="square">
            <a:spAutoFit/>
          </a:bodyPr>
          <a:lstStyle/>
          <a:p>
            <a:pPr algn="r"/>
            <a:r>
              <a:rPr sz="900" b="1" i="0">
                <a:solidFill>
                  <a:srgbClr val="8B2F2F"/>
                </a:solidFill>
                <a:latin typeface="Calibri"/>
              </a:rPr>
              <a:t>−365 mhl</a:t>
            </a:r>
          </a:p>
        </p:txBody>
      </p:sp>
      <p:sp>
        <p:nvSpPr>
          <p:cNvPr id="47" name="TextBox 46"/>
          <p:cNvSpPr txBox="1"/>
          <p:nvPr/>
        </p:nvSpPr>
        <p:spPr>
          <a:xfrm>
            <a:off x="4737100" y="2705100"/>
            <a:ext cx="3911600" cy="127000"/>
          </a:xfrm>
          <a:prstGeom prst="rect">
            <a:avLst/>
          </a:prstGeom>
          <a:noFill/>
        </p:spPr>
        <p:txBody>
          <a:bodyPr wrap="square">
            <a:spAutoFit/>
          </a:bodyPr>
          <a:lstStyle/>
          <a:p>
            <a:pPr algn="l"/>
            <a:r>
              <a:rPr sz="700" b="0" i="0">
                <a:solidFill>
                  <a:srgbClr val="9A8E8B"/>
                </a:solidFill>
                <a:latin typeface="Calibri"/>
              </a:rPr>
              <a:t>28% · p=0.029</a:t>
            </a:r>
          </a:p>
        </p:txBody>
      </p:sp>
      <p:sp>
        <p:nvSpPr>
          <p:cNvPr id="48" name="Rectangle 47"/>
          <p:cNvSpPr/>
          <p:nvPr/>
        </p:nvSpPr>
        <p:spPr>
          <a:xfrm>
            <a:off x="4660900" y="2870200"/>
            <a:ext cx="4025900" cy="558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660900" y="2870200"/>
            <a:ext cx="38100" cy="558800"/>
          </a:xfrm>
          <a:prstGeom prst="rect">
            <a:avLst/>
          </a:prstGeom>
          <a:solidFill>
            <a:srgbClr val="2A7F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737100" y="2895600"/>
            <a:ext cx="3162300" cy="381000"/>
          </a:xfrm>
          <a:prstGeom prst="rect">
            <a:avLst/>
          </a:prstGeom>
          <a:noFill/>
        </p:spPr>
        <p:txBody>
          <a:bodyPr wrap="square">
            <a:spAutoFit/>
          </a:bodyPr>
          <a:lstStyle/>
          <a:p>
            <a:pPr algn="l"/>
            <a:r>
              <a:rPr sz="700" b="0" i="0">
                <a:solidFill>
                  <a:srgbClr val="1C1214"/>
                </a:solidFill>
                <a:latin typeface="Calibri"/>
              </a:rPr>
              <a:t>Temp post-Budburst prev.yr [11.2–13.5°C]  AND  Cold days at Flowering [0–3.4d]  AND  Heat days post-Flowering [0–1.1d]</a:t>
            </a:r>
          </a:p>
        </p:txBody>
      </p:sp>
      <p:sp>
        <p:nvSpPr>
          <p:cNvPr id="51" name="TextBox 50"/>
          <p:cNvSpPr txBox="1"/>
          <p:nvPr/>
        </p:nvSpPr>
        <p:spPr>
          <a:xfrm>
            <a:off x="7899400" y="2933700"/>
            <a:ext cx="762000" cy="228600"/>
          </a:xfrm>
          <a:prstGeom prst="rect">
            <a:avLst/>
          </a:prstGeom>
          <a:noFill/>
        </p:spPr>
        <p:txBody>
          <a:bodyPr wrap="square">
            <a:spAutoFit/>
          </a:bodyPr>
          <a:lstStyle/>
          <a:p>
            <a:pPr algn="r"/>
            <a:r>
              <a:rPr sz="900" b="1" i="0">
                <a:solidFill>
                  <a:srgbClr val="2A7F7F"/>
                </a:solidFill>
                <a:latin typeface="Calibri"/>
              </a:rPr>
              <a:t>+311 mhl</a:t>
            </a:r>
          </a:p>
        </p:txBody>
      </p:sp>
      <p:sp>
        <p:nvSpPr>
          <p:cNvPr id="52" name="TextBox 51"/>
          <p:cNvSpPr txBox="1"/>
          <p:nvPr/>
        </p:nvSpPr>
        <p:spPr>
          <a:xfrm>
            <a:off x="4737100" y="3302000"/>
            <a:ext cx="3911600" cy="127000"/>
          </a:xfrm>
          <a:prstGeom prst="rect">
            <a:avLst/>
          </a:prstGeom>
          <a:noFill/>
        </p:spPr>
        <p:txBody>
          <a:bodyPr wrap="square">
            <a:spAutoFit/>
          </a:bodyPr>
          <a:lstStyle/>
          <a:p>
            <a:pPr algn="l"/>
            <a:r>
              <a:rPr sz="700" b="0" i="0">
                <a:solidFill>
                  <a:srgbClr val="9A8E8B"/>
                </a:solidFill>
                <a:latin typeface="Calibri"/>
              </a:rPr>
              <a:t>25% · p=0.030</a:t>
            </a:r>
          </a:p>
        </p:txBody>
      </p:sp>
      <p:sp>
        <p:nvSpPr>
          <p:cNvPr id="53" name="Rectangle 52"/>
          <p:cNvSpPr/>
          <p:nvPr/>
        </p:nvSpPr>
        <p:spPr>
          <a:xfrm>
            <a:off x="4660900" y="3467100"/>
            <a:ext cx="4025900" cy="558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660900" y="3467100"/>
            <a:ext cx="38100" cy="558800"/>
          </a:xfrm>
          <a:prstGeom prst="rect">
            <a:avLst/>
          </a:prstGeom>
          <a:solidFill>
            <a:srgbClr val="8B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37100" y="3492500"/>
            <a:ext cx="3162300" cy="381000"/>
          </a:xfrm>
          <a:prstGeom prst="rect">
            <a:avLst/>
          </a:prstGeom>
          <a:noFill/>
        </p:spPr>
        <p:txBody>
          <a:bodyPr wrap="square">
            <a:spAutoFit/>
          </a:bodyPr>
          <a:lstStyle/>
          <a:p>
            <a:pPr algn="l"/>
            <a:r>
              <a:rPr sz="700" b="0" i="0">
                <a:solidFill>
                  <a:srgbClr val="1C1214"/>
                </a:solidFill>
                <a:latin typeface="Calibri"/>
              </a:rPr>
              <a:t>Temp post-Flowering [12.6–17.5°C]  AND  Heat days post-Maturity [0–2.4d]  AND  Wet-soil days post-Flowering prev.yr [17.5–20d]</a:t>
            </a:r>
          </a:p>
        </p:txBody>
      </p:sp>
      <p:sp>
        <p:nvSpPr>
          <p:cNvPr id="56" name="TextBox 55"/>
          <p:cNvSpPr txBox="1"/>
          <p:nvPr/>
        </p:nvSpPr>
        <p:spPr>
          <a:xfrm>
            <a:off x="7899400" y="3530600"/>
            <a:ext cx="762000" cy="228600"/>
          </a:xfrm>
          <a:prstGeom prst="rect">
            <a:avLst/>
          </a:prstGeom>
          <a:noFill/>
        </p:spPr>
        <p:txBody>
          <a:bodyPr wrap="square">
            <a:spAutoFit/>
          </a:bodyPr>
          <a:lstStyle/>
          <a:p>
            <a:pPr algn="r"/>
            <a:r>
              <a:rPr sz="900" b="1" i="0">
                <a:solidFill>
                  <a:srgbClr val="8B2F2F"/>
                </a:solidFill>
                <a:latin typeface="Calibri"/>
              </a:rPr>
              <a:t>−292 mhl</a:t>
            </a:r>
          </a:p>
        </p:txBody>
      </p:sp>
      <p:sp>
        <p:nvSpPr>
          <p:cNvPr id="57" name="TextBox 56"/>
          <p:cNvSpPr txBox="1"/>
          <p:nvPr/>
        </p:nvSpPr>
        <p:spPr>
          <a:xfrm>
            <a:off x="4737100" y="3898900"/>
            <a:ext cx="3911600" cy="127000"/>
          </a:xfrm>
          <a:prstGeom prst="rect">
            <a:avLst/>
          </a:prstGeom>
          <a:noFill/>
        </p:spPr>
        <p:txBody>
          <a:bodyPr wrap="square">
            <a:spAutoFit/>
          </a:bodyPr>
          <a:lstStyle/>
          <a:p>
            <a:pPr algn="l"/>
            <a:r>
              <a:rPr sz="700" b="0" i="0">
                <a:solidFill>
                  <a:srgbClr val="9A8E8B"/>
                </a:solidFill>
                <a:latin typeface="Calibri"/>
              </a:rPr>
              <a:t>24% · p=0.030</a:t>
            </a:r>
          </a:p>
        </p:txBody>
      </p:sp>
      <p:sp>
        <p:nvSpPr>
          <p:cNvPr id="58" name="Rectangle 57"/>
          <p:cNvSpPr/>
          <p:nvPr/>
        </p:nvSpPr>
        <p:spPr>
          <a:xfrm>
            <a:off x="457200" y="4114800"/>
            <a:ext cx="8229600" cy="7874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4152900"/>
            <a:ext cx="8229600" cy="177800"/>
          </a:xfrm>
          <a:prstGeom prst="rect">
            <a:avLst/>
          </a:prstGeom>
          <a:noFill/>
        </p:spPr>
        <p:txBody>
          <a:bodyPr wrap="square">
            <a:spAutoFit/>
          </a:bodyPr>
          <a:lstStyle/>
          <a:p>
            <a:pPr algn="l"/>
            <a:r>
              <a:rPr sz="900" b="1" i="0">
                <a:solidFill>
                  <a:srgbClr val="C4964A"/>
                </a:solidFill>
                <a:latin typeface="Calibri"/>
              </a:rPr>
              <a:t>LOESS Validation (era-artefact check)</a:t>
            </a:r>
          </a:p>
        </p:txBody>
      </p:sp>
      <p:sp>
        <p:nvSpPr>
          <p:cNvPr id="60" name="TextBox 59"/>
          <p:cNvSpPr txBox="1"/>
          <p:nvPr/>
        </p:nvSpPr>
        <p:spPr>
          <a:xfrm>
            <a:off x="457200" y="4356100"/>
            <a:ext cx="8229600" cy="254000"/>
          </a:xfrm>
          <a:prstGeom prst="rect">
            <a:avLst/>
          </a:prstGeom>
          <a:noFill/>
        </p:spPr>
        <p:txBody>
          <a:bodyPr wrap="square">
            <a:spAutoFit/>
          </a:bodyPr>
          <a:lstStyle/>
          <a:p>
            <a:pPr algn="l"/>
            <a:r>
              <a:rPr sz="800" b="0" i="0">
                <a:solidFill>
                  <a:srgbClr val="F8F2EA"/>
                </a:solidFill>
                <a:latin typeface="Calibri"/>
              </a:rPr>
              <a:t>RDD top features retain 90–125% of correlation after aggressive era-trend removal → genuine within-era signal</a:t>
            </a:r>
          </a:p>
        </p:txBody>
      </p:sp>
      <p:sp>
        <p:nvSpPr>
          <p:cNvPr id="61" name="TextBox 60"/>
          <p:cNvSpPr txBox="1"/>
          <p:nvPr/>
        </p:nvSpPr>
        <p:spPr>
          <a:xfrm>
            <a:off x="457200" y="4610100"/>
            <a:ext cx="8229600" cy="228600"/>
          </a:xfrm>
          <a:prstGeom prst="rect">
            <a:avLst/>
          </a:prstGeom>
          <a:noFill/>
        </p:spPr>
        <p:txBody>
          <a:bodyPr wrap="square">
            <a:spAutoFit/>
          </a:bodyPr>
          <a:lstStyle/>
          <a:p>
            <a:pPr algn="l"/>
            <a:r>
              <a:rPr sz="800" b="0" i="0">
                <a:solidFill>
                  <a:srgbClr val="FFCCAA"/>
                </a:solidFill>
                <a:latin typeface="Calibri"/>
              </a:rPr>
              <a:t>RVV: LAI at harvest retains only 15% → era-driven artefact. Harvest soil water: 16% → era-driven. RVV rules unreliable for prediction.</a:t>
            </a:r>
          </a:p>
        </p:txBody>
      </p:sp>
      <p:sp>
        <p:nvSpPr>
          <p:cNvPr id="62" name="TextBox 61"/>
          <p:cNvSpPr txBox="1"/>
          <p:nvPr/>
        </p:nvSpPr>
        <p:spPr>
          <a:xfrm>
            <a:off x="457200" y="4902200"/>
            <a:ext cx="8229600" cy="152400"/>
          </a:xfrm>
          <a:prstGeom prst="rect">
            <a:avLst/>
          </a:prstGeom>
          <a:noFill/>
        </p:spPr>
        <p:txBody>
          <a:bodyPr wrap="square">
            <a:spAutoFit/>
          </a:bodyPr>
          <a:lstStyle/>
          <a:p>
            <a:pPr algn="l"/>
            <a:r>
              <a:rPr sz="700" b="0" i="1">
                <a:solidFill>
                  <a:srgbClr val="9A8E8B"/>
                </a:solidFill>
                <a:latin typeface="Calibri"/>
              </a:rPr>
              <a:t>Rule 4 RVV (+311 mhl) is the only above-trend RVV rule and the largest absolute deviation in either region.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8F2EA"/>
        </a:solidFill>
      </p:bgPr>
    </p:bg>
    <p:spTree>
      <p:nvGrpSpPr>
        <p:cNvPr id="1" name=""/>
        <p:cNvGrpSpPr/>
        <p:nvPr/>
      </p:nvGrpSpPr>
      <p:grpSpPr>
        <a:xfrm>
          <a:off x="0" y="0"/>
          <a:ext cx="0" cy="0"/>
          <a:chOff x="0" y="0"/>
          <a:chExt cx="0" cy="0"/>
        </a:xfrm>
      </p:grpSpPr>
      <p:sp>
        <p:nvSpPr>
          <p:cNvPr id="2" name="Shape 0"/>
          <p:cNvSpPr/>
          <p:nvPr/>
        </p:nvSpPr>
        <p:spPr>
          <a:xfrm>
            <a:off x="0" y="0"/>
            <a:ext cx="9144000" cy="59436"/>
          </a:xfrm>
          <a:prstGeom prst="rect">
            <a:avLst/>
          </a:prstGeom>
          <a:solidFill>
            <a:srgbClr val="C4964A"/>
          </a:solidFill>
          <a:ln w="12700">
            <a:solidFill>
              <a:srgbClr val="C4964A"/>
            </a:solidFill>
            <a:prstDash val="solid"/>
          </a:ln>
        </p:spPr>
      </p:sp>
      <p:sp>
        <p:nvSpPr>
          <p:cNvPr id="3" name="Text 1"/>
          <p:cNvSpPr/>
          <p:nvPr/>
        </p:nvSpPr>
        <p:spPr>
          <a:xfrm>
            <a:off x="411480" y="109728"/>
            <a:ext cx="8321040" cy="530352"/>
          </a:xfrm>
          <a:prstGeom prst="rect">
            <a:avLst/>
          </a:prstGeom>
          <a:noFill/>
          <a:ln/>
        </p:spPr>
        <p:txBody>
          <a:bodyPr wrap="square" lIns="0" tIns="0" rIns="0" bIns="0" rtlCol="0" anchor="ctr"/>
          <a:lstStyle/>
          <a:p>
            <a:pPr algn="l" indent="0" marL="0">
              <a:buNone/>
            </a:pPr>
            <a:r>
              <a:rPr lang="en-US" sz="2600" b="1" dirty="0">
                <a:solidFill>
                  <a:srgbClr val="6B2737"/>
                </a:solidFill>
                <a:latin typeface="Georgia" pitchFamily="34" charset="0"/>
                <a:ea typeface="Georgia" pitchFamily="34" charset="-122"/>
                <a:cs typeface="Georgia" pitchFamily="34" charset="-120"/>
              </a:rPr>
              <a:t>Cross-Algorithm Validation</a:t>
            </a:r>
            <a:endParaRPr lang="en-US" sz="2600" dirty="0"/>
          </a:p>
        </p:txBody>
      </p:sp>
      <p:sp>
        <p:nvSpPr>
          <p:cNvPr id="4" name="Text 2"/>
          <p:cNvSpPr/>
          <p:nvPr/>
        </p:nvSpPr>
        <p:spPr>
          <a:xfrm>
            <a:off x="411480" y="621792"/>
            <a:ext cx="8321040" cy="256032"/>
          </a:xfrm>
          <a:prstGeom prst="rect">
            <a:avLst/>
          </a:prstGeom>
          <a:noFill/>
          <a:ln/>
        </p:spPr>
        <p:txBody>
          <a:bodyPr wrap="square" lIns="0" tIns="0" rIns="0" bIns="0" rtlCol="0" anchor="ctr"/>
          <a:lstStyle/>
          <a:p>
            <a:pPr algn="l" indent="0" marL="0">
              <a:buNone/>
            </a:pPr>
            <a:r>
              <a:rPr lang="en-US" sz="1200" i="1" dirty="0">
                <a:solidFill>
                  <a:srgbClr val="5A4042"/>
                </a:solidFill>
                <a:latin typeface="Calibri" pitchFamily="34" charset="0"/>
                <a:ea typeface="Calibri" pitchFamily="34" charset="-122"/>
                <a:cs typeface="Calibri" pitchFamily="34" charset="-120"/>
              </a:rPr>
              <a:t>Three independent optimisation criteria — same feature families</a:t>
            </a:r>
            <a:endParaRPr lang="en-US" sz="1200" dirty="0"/>
          </a:p>
        </p:txBody>
      </p:sp>
      <p:sp>
        <p:nvSpPr>
          <p:cNvPr id="5" name="Shape 3"/>
          <p:cNvSpPr/>
          <p:nvPr/>
        </p:nvSpPr>
        <p:spPr>
          <a:xfrm>
            <a:off x="411480" y="877824"/>
            <a:ext cx="8321040" cy="0"/>
          </a:xfrm>
          <a:prstGeom prst="line">
            <a:avLst/>
          </a:prstGeom>
          <a:noFill/>
          <a:ln w="12700">
            <a:solidFill>
              <a:srgbClr val="D4CACA"/>
            </a:solidFill>
            <a:prstDash val="solid"/>
          </a:ln>
        </p:spPr>
      </p:sp>
      <p:sp>
        <p:nvSpPr>
          <p:cNvPr id="6" name="Text 4"/>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7 / 12</a:t>
            </a:r>
            <a:endParaRPr lang="en-US" sz="900" dirty="0"/>
          </a:p>
        </p:txBody>
      </p:sp>
      <p:sp>
        <p:nvSpPr>
          <p:cNvPr id="7" name="Shape 5"/>
          <p:cNvSpPr/>
          <p:nvPr/>
        </p:nvSpPr>
        <p:spPr>
          <a:xfrm>
            <a:off x="411480" y="987552"/>
            <a:ext cx="1874520" cy="320040"/>
          </a:xfrm>
          <a:prstGeom prst="rect">
            <a:avLst/>
          </a:prstGeom>
          <a:solidFill>
            <a:srgbClr val="6B2737"/>
          </a:solidFill>
          <a:ln w="12700">
            <a:solidFill>
              <a:srgbClr val="6B2737"/>
            </a:solidFill>
            <a:prstDash val="solid"/>
          </a:ln>
        </p:spPr>
      </p:sp>
      <p:sp>
        <p:nvSpPr>
          <p:cNvPr id="8" name="Text 6"/>
          <p:cNvSpPr/>
          <p:nvPr/>
        </p:nvSpPr>
        <p:spPr>
          <a:xfrm>
            <a:off x="457200" y="1005840"/>
            <a:ext cx="1783080"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p>
        </p:txBody>
      </p:sp>
      <p:sp>
        <p:nvSpPr>
          <p:cNvPr id="9" name="Shape 7"/>
          <p:cNvSpPr/>
          <p:nvPr/>
        </p:nvSpPr>
        <p:spPr>
          <a:xfrm>
            <a:off x="2286000" y="987552"/>
            <a:ext cx="2011680" cy="320040"/>
          </a:xfrm>
          <a:prstGeom prst="rect">
            <a:avLst/>
          </a:prstGeom>
          <a:solidFill>
            <a:srgbClr val="6B2737"/>
          </a:solidFill>
          <a:ln w="12700">
            <a:solidFill>
              <a:srgbClr val="6B2737"/>
            </a:solidFill>
            <a:prstDash val="solid"/>
          </a:ln>
        </p:spPr>
      </p:sp>
      <p:sp>
        <p:nvSpPr>
          <p:cNvPr id="10" name="Text 8"/>
          <p:cNvSpPr/>
          <p:nvPr/>
        </p:nvSpPr>
        <p:spPr>
          <a:xfrm>
            <a:off x="2331720" y="1005840"/>
            <a:ext cx="1920240"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CarenR (KS test)</a:t>
            </a:r>
            <a:endParaRPr lang="en-US" sz="1000" dirty="0"/>
          </a:p>
        </p:txBody>
      </p:sp>
      <p:sp>
        <p:nvSpPr>
          <p:cNvPr id="11" name="Shape 9"/>
          <p:cNvSpPr/>
          <p:nvPr/>
        </p:nvSpPr>
        <p:spPr>
          <a:xfrm>
            <a:off x="4297680" y="987552"/>
            <a:ext cx="1645920" cy="320040"/>
          </a:xfrm>
          <a:prstGeom prst="rect">
            <a:avLst/>
          </a:prstGeom>
          <a:solidFill>
            <a:srgbClr val="6B2737"/>
          </a:solidFill>
          <a:ln w="12700">
            <a:solidFill>
              <a:srgbClr val="6B2737"/>
            </a:solidFill>
            <a:prstDash val="solid"/>
          </a:ln>
        </p:spPr>
      </p:sp>
      <p:sp>
        <p:nvSpPr>
          <p:cNvPr id="12" name="Text 10"/>
          <p:cNvSpPr/>
          <p:nvPr/>
        </p:nvSpPr>
        <p:spPr>
          <a:xfrm>
            <a:off x="4343400" y="1005840"/>
            <a:ext cx="1554480"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RIPPER (FOIL gain)</a:t>
            </a:r>
            <a:endParaRPr lang="en-US" sz="1000" dirty="0"/>
          </a:p>
        </p:txBody>
      </p:sp>
      <p:sp>
        <p:nvSpPr>
          <p:cNvPr id="13" name="Shape 11"/>
          <p:cNvSpPr/>
          <p:nvPr/>
        </p:nvSpPr>
        <p:spPr>
          <a:xfrm>
            <a:off x="5943600" y="987552"/>
            <a:ext cx="1645920" cy="320040"/>
          </a:xfrm>
          <a:prstGeom prst="rect">
            <a:avLst/>
          </a:prstGeom>
          <a:solidFill>
            <a:srgbClr val="6B2737"/>
          </a:solidFill>
          <a:ln w="12700">
            <a:solidFill>
              <a:srgbClr val="6B2737"/>
            </a:solidFill>
            <a:prstDash val="solid"/>
          </a:ln>
        </p:spPr>
      </p:sp>
      <p:sp>
        <p:nvSpPr>
          <p:cNvPr id="14" name="Text 12"/>
          <p:cNvSpPr/>
          <p:nvPr/>
        </p:nvSpPr>
        <p:spPr>
          <a:xfrm>
            <a:off x="5989320" y="1005840"/>
            <a:ext cx="1554480"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M5Rules (MSE min.)</a:t>
            </a:r>
            <a:endParaRPr lang="en-US" sz="1000" dirty="0"/>
          </a:p>
        </p:txBody>
      </p:sp>
      <p:sp>
        <p:nvSpPr>
          <p:cNvPr id="15" name="Shape 13"/>
          <p:cNvSpPr/>
          <p:nvPr/>
        </p:nvSpPr>
        <p:spPr>
          <a:xfrm>
            <a:off x="7589520" y="987552"/>
            <a:ext cx="1417320" cy="320040"/>
          </a:xfrm>
          <a:prstGeom prst="rect">
            <a:avLst/>
          </a:prstGeom>
          <a:solidFill>
            <a:srgbClr val="6B2737"/>
          </a:solidFill>
          <a:ln w="12700">
            <a:solidFill>
              <a:srgbClr val="6B2737"/>
            </a:solidFill>
            <a:prstDash val="solid"/>
          </a:ln>
        </p:spPr>
      </p:sp>
      <p:sp>
        <p:nvSpPr>
          <p:cNvPr id="16" name="Text 14"/>
          <p:cNvSpPr/>
          <p:nvPr/>
        </p:nvSpPr>
        <p:spPr>
          <a:xfrm>
            <a:off x="7635240" y="1005840"/>
            <a:ext cx="1325880"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Confidence</a:t>
            </a:r>
            <a:endParaRPr lang="en-US" sz="1000" dirty="0"/>
          </a:p>
        </p:txBody>
      </p:sp>
      <p:sp>
        <p:nvSpPr>
          <p:cNvPr id="17" name="Shape 15"/>
          <p:cNvSpPr/>
          <p:nvPr/>
        </p:nvSpPr>
        <p:spPr>
          <a:xfrm>
            <a:off x="411480" y="1353312"/>
            <a:ext cx="1874520" cy="804672"/>
          </a:xfrm>
          <a:prstGeom prst="rect">
            <a:avLst/>
          </a:prstGeom>
          <a:solidFill>
            <a:srgbClr val="EDE5DA"/>
          </a:solidFill>
          <a:ln w="6350">
            <a:solidFill>
              <a:srgbClr val="D4CACA"/>
            </a:solidFill>
            <a:prstDash val="solid"/>
          </a:ln>
        </p:spPr>
      </p:sp>
      <p:sp>
        <p:nvSpPr>
          <p:cNvPr id="18" name="Shape 16"/>
          <p:cNvSpPr/>
          <p:nvPr/>
        </p:nvSpPr>
        <p:spPr>
          <a:xfrm>
            <a:off x="411480" y="1353312"/>
            <a:ext cx="54864" cy="804672"/>
          </a:xfrm>
          <a:prstGeom prst="rect">
            <a:avLst/>
          </a:prstGeom>
          <a:solidFill>
            <a:srgbClr val="6B2737"/>
          </a:solidFill>
          <a:ln w="12700">
            <a:solidFill>
              <a:srgbClr val="6B2737"/>
            </a:solidFill>
            <a:prstDash val="solid"/>
          </a:ln>
        </p:spPr>
      </p:sp>
      <p:sp>
        <p:nvSpPr>
          <p:cNvPr id="19" name="Text 17"/>
          <p:cNvSpPr/>
          <p:nvPr/>
        </p:nvSpPr>
        <p:spPr>
          <a:xfrm>
            <a:off x="539496" y="1408176"/>
            <a:ext cx="1691640" cy="694944"/>
          </a:xfrm>
          <a:prstGeom prst="rect">
            <a:avLst/>
          </a:prstGeom>
          <a:noFill/>
          <a:ln/>
        </p:spPr>
        <p:txBody>
          <a:bodyPr wrap="square" lIns="0" tIns="0" rIns="0" bIns="0" rtlCol="0" anchor="ctr"/>
          <a:lstStyle/>
          <a:p>
            <a:pPr indent="0" marL="0">
              <a:buNone/>
            </a:pPr>
            <a:r>
              <a:rPr lang="en-US" sz="1000" dirty="0">
                <a:solidFill>
                  <a:srgbClr val="1C1214"/>
                </a:solidFill>
                <a:latin typeface="Calibri" pitchFamily="34" charset="0"/>
                <a:ea typeface="Calibri" pitchFamily="34" charset="-122"/>
                <a:cs typeface="Calibri" pitchFamily="34" charset="-120"/>
              </a:rPr>
              <a:t>Harvest soil water</a:t>
            </a:r>
            <a:endParaRPr lang="en-US" sz="1000" dirty="0"/>
          </a:p>
          <a:p>
            <a:pPr indent="0" marL="0">
              <a:buNone/>
            </a:pPr>
            <a:r>
              <a:rPr lang="en-US" sz="1000" dirty="0">
                <a:solidFill>
                  <a:srgbClr val="1C1214"/>
                </a:solidFill>
                <a:latin typeface="Calibri" pitchFamily="34" charset="0"/>
                <a:ea typeface="Calibri" pitchFamily="34" charset="-122"/>
                <a:cs typeface="Calibri" pitchFamily="34" charset="-120"/>
              </a:rPr>
              <a:t>(swa_hv_y1_b20)</a:t>
            </a:r>
            <a:endParaRPr lang="en-US" sz="1000" dirty="0"/>
          </a:p>
        </p:txBody>
      </p:sp>
      <p:sp>
        <p:nvSpPr>
          <p:cNvPr id="20" name="Shape 18"/>
          <p:cNvSpPr/>
          <p:nvPr/>
        </p:nvSpPr>
        <p:spPr>
          <a:xfrm>
            <a:off x="2286000" y="1353312"/>
            <a:ext cx="2011680" cy="804672"/>
          </a:xfrm>
          <a:prstGeom prst="rect">
            <a:avLst/>
          </a:prstGeom>
          <a:solidFill>
            <a:srgbClr val="EDE5DA"/>
          </a:solidFill>
          <a:ln w="6350">
            <a:solidFill>
              <a:srgbClr val="D4CACA"/>
            </a:solidFill>
            <a:prstDash val="solid"/>
          </a:ln>
        </p:spPr>
      </p:sp>
      <p:sp>
        <p:nvSpPr>
          <p:cNvPr id="21" name="Text 19"/>
          <p:cNvSpPr/>
          <p:nvPr/>
        </p:nvSpPr>
        <p:spPr>
          <a:xfrm>
            <a:off x="2340864" y="1408176"/>
            <a:ext cx="1901952" cy="694944"/>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  54% of RDD rules</a:t>
            </a:r>
            <a:endParaRPr lang="en-US" sz="950" dirty="0"/>
          </a:p>
          <a:p>
            <a:pPr indent="0" marL="0">
              <a:buNone/>
            </a:pPr>
            <a:r>
              <a:rPr lang="en-US" sz="950" dirty="0">
                <a:solidFill>
                  <a:srgbClr val="1C1214"/>
                </a:solidFill>
                <a:latin typeface="Calibri" pitchFamily="34" charset="0"/>
                <a:ea typeface="Calibri" pitchFamily="34" charset="-122"/>
                <a:cs typeface="Calibri" pitchFamily="34" charset="-120"/>
              </a:rPr>
              <a:t>✓  25% of RVV rules</a:t>
            </a:r>
            <a:endParaRPr lang="en-US" sz="950" dirty="0"/>
          </a:p>
        </p:txBody>
      </p:sp>
      <p:sp>
        <p:nvSpPr>
          <p:cNvPr id="22" name="Shape 20"/>
          <p:cNvSpPr/>
          <p:nvPr/>
        </p:nvSpPr>
        <p:spPr>
          <a:xfrm>
            <a:off x="4297680" y="1353312"/>
            <a:ext cx="1645920" cy="804672"/>
          </a:xfrm>
          <a:prstGeom prst="rect">
            <a:avLst/>
          </a:prstGeom>
          <a:solidFill>
            <a:srgbClr val="EDE5DA"/>
          </a:solidFill>
          <a:ln w="6350">
            <a:solidFill>
              <a:srgbClr val="D4CACA"/>
            </a:solidFill>
            <a:prstDash val="solid"/>
          </a:ln>
        </p:spPr>
      </p:sp>
      <p:sp>
        <p:nvSpPr>
          <p:cNvPr id="23" name="Text 21"/>
          <p:cNvSpPr/>
          <p:nvPr/>
        </p:nvSpPr>
        <p:spPr>
          <a:xfrm>
            <a:off x="4352544" y="1408176"/>
            <a:ext cx="1536192" cy="694944"/>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  RVV Rule 3</a:t>
            </a:r>
            <a:endParaRPr lang="en-US" sz="950" dirty="0"/>
          </a:p>
        </p:txBody>
      </p:sp>
      <p:sp>
        <p:nvSpPr>
          <p:cNvPr id="24" name="Shape 22"/>
          <p:cNvSpPr/>
          <p:nvPr/>
        </p:nvSpPr>
        <p:spPr>
          <a:xfrm>
            <a:off x="5943600" y="1353312"/>
            <a:ext cx="1645920" cy="804672"/>
          </a:xfrm>
          <a:prstGeom prst="rect">
            <a:avLst/>
          </a:prstGeom>
          <a:solidFill>
            <a:srgbClr val="EDE5DA"/>
          </a:solidFill>
          <a:ln w="6350">
            <a:solidFill>
              <a:srgbClr val="D4CACA"/>
            </a:solidFill>
            <a:prstDash val="solid"/>
          </a:ln>
        </p:spPr>
      </p:sp>
      <p:sp>
        <p:nvSpPr>
          <p:cNvPr id="25" name="Text 23"/>
          <p:cNvSpPr/>
          <p:nvPr/>
        </p:nvSpPr>
        <p:spPr>
          <a:xfrm>
            <a:off x="5998464" y="1408176"/>
            <a:ext cx="1536192" cy="694944"/>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  −2.3/mm RDD</a:t>
            </a:r>
            <a:endParaRPr lang="en-US" sz="950" dirty="0"/>
          </a:p>
          <a:p>
            <a:pPr indent="0" marL="0">
              <a:buNone/>
            </a:pPr>
            <a:r>
              <a:rPr lang="en-US" sz="950" dirty="0">
                <a:solidFill>
                  <a:srgbClr val="1C1214"/>
                </a:solidFill>
                <a:latin typeface="Calibri" pitchFamily="34" charset="0"/>
                <a:ea typeface="Calibri" pitchFamily="34" charset="-122"/>
                <a:cs typeface="Calibri" pitchFamily="34" charset="-120"/>
              </a:rPr>
              <a:t>✓  −8.1/mm RVV</a:t>
            </a:r>
            <a:endParaRPr lang="en-US" sz="950" dirty="0"/>
          </a:p>
        </p:txBody>
      </p:sp>
      <p:sp>
        <p:nvSpPr>
          <p:cNvPr id="26" name="Shape 24"/>
          <p:cNvSpPr/>
          <p:nvPr/>
        </p:nvSpPr>
        <p:spPr>
          <a:xfrm>
            <a:off x="7589520" y="1353312"/>
            <a:ext cx="1417320" cy="804672"/>
          </a:xfrm>
          <a:prstGeom prst="rect">
            <a:avLst/>
          </a:prstGeom>
          <a:solidFill>
            <a:srgbClr val="EDE5DA"/>
          </a:solidFill>
          <a:ln w="6350">
            <a:solidFill>
              <a:srgbClr val="D4CACA"/>
            </a:solidFill>
            <a:prstDash val="solid"/>
          </a:ln>
        </p:spPr>
      </p:sp>
      <p:sp>
        <p:nvSpPr>
          <p:cNvPr id="27" name="Text 25"/>
          <p:cNvSpPr/>
          <p:nvPr/>
        </p:nvSpPr>
        <p:spPr>
          <a:xfrm>
            <a:off x="7644384" y="1408176"/>
            <a:ext cx="1307592" cy="694944"/>
          </a:xfrm>
          <a:prstGeom prst="rect">
            <a:avLst/>
          </a:prstGeom>
          <a:noFill/>
          <a:ln/>
        </p:spPr>
        <p:txBody>
          <a:bodyPr wrap="square" lIns="0" tIns="0" rIns="0" bIns="0" rtlCol="0" anchor="ctr"/>
          <a:lstStyle/>
          <a:p>
            <a:pPr indent="0" marL="0">
              <a:buNone/>
            </a:pPr>
            <a:r>
              <a:rPr lang="en-US" sz="950" b="1" dirty="0">
                <a:solidFill>
                  <a:srgbClr val="3A7A50"/>
                </a:solidFill>
                <a:latin typeface="Calibri" pitchFamily="34" charset="0"/>
                <a:ea typeface="Calibri" pitchFamily="34" charset="-122"/>
                <a:cs typeface="Calibri" pitchFamily="34" charset="-120"/>
              </a:rPr>
              <a:t>HIGH — universal</a:t>
            </a:r>
            <a:endParaRPr lang="en-US" sz="950" dirty="0"/>
          </a:p>
        </p:txBody>
      </p:sp>
      <p:sp>
        <p:nvSpPr>
          <p:cNvPr id="28" name="Shape 26"/>
          <p:cNvSpPr/>
          <p:nvPr/>
        </p:nvSpPr>
        <p:spPr>
          <a:xfrm>
            <a:off x="411480" y="2212848"/>
            <a:ext cx="1874520" cy="804672"/>
          </a:xfrm>
          <a:prstGeom prst="rect">
            <a:avLst/>
          </a:prstGeom>
          <a:solidFill>
            <a:srgbClr val="FFFFFF"/>
          </a:solidFill>
          <a:ln w="6350">
            <a:solidFill>
              <a:srgbClr val="D4CACA"/>
            </a:solidFill>
            <a:prstDash val="solid"/>
          </a:ln>
        </p:spPr>
      </p:sp>
      <p:sp>
        <p:nvSpPr>
          <p:cNvPr id="29" name="Shape 27"/>
          <p:cNvSpPr/>
          <p:nvPr/>
        </p:nvSpPr>
        <p:spPr>
          <a:xfrm>
            <a:off x="411480" y="2212848"/>
            <a:ext cx="54864" cy="804672"/>
          </a:xfrm>
          <a:prstGeom prst="rect">
            <a:avLst/>
          </a:prstGeom>
          <a:solidFill>
            <a:srgbClr val="2A7F7F"/>
          </a:solidFill>
          <a:ln w="12700">
            <a:solidFill>
              <a:srgbClr val="2A7F7F"/>
            </a:solidFill>
            <a:prstDash val="solid"/>
          </a:ln>
        </p:spPr>
      </p:sp>
      <p:sp>
        <p:nvSpPr>
          <p:cNvPr id="30" name="Text 28"/>
          <p:cNvSpPr/>
          <p:nvPr/>
        </p:nvSpPr>
        <p:spPr>
          <a:xfrm>
            <a:off x="539496" y="2267712"/>
            <a:ext cx="1691640" cy="694944"/>
          </a:xfrm>
          <a:prstGeom prst="rect">
            <a:avLst/>
          </a:prstGeom>
          <a:noFill/>
          <a:ln/>
        </p:spPr>
        <p:txBody>
          <a:bodyPr wrap="square" lIns="0" tIns="0" rIns="0" bIns="0" rtlCol="0" anchor="ctr"/>
          <a:lstStyle/>
          <a:p>
            <a:pPr indent="0" marL="0">
              <a:buNone/>
            </a:pPr>
            <a:r>
              <a:rPr lang="en-US" sz="1000" dirty="0">
                <a:solidFill>
                  <a:srgbClr val="1C1214"/>
                </a:solidFill>
                <a:latin typeface="Calibri" pitchFamily="34" charset="0"/>
                <a:ea typeface="Calibri" pitchFamily="34" charset="-122"/>
                <a:cs typeface="Calibri" pitchFamily="34" charset="-120"/>
              </a:rPr>
              <a:t>LAI family</a:t>
            </a:r>
            <a:endParaRPr lang="en-US" sz="1000" dirty="0"/>
          </a:p>
          <a:p>
            <a:pPr indent="0" marL="0">
              <a:buNone/>
            </a:pPr>
            <a:r>
              <a:rPr lang="en-US" sz="1000" dirty="0">
                <a:solidFill>
                  <a:srgbClr val="1C1214"/>
                </a:solidFill>
                <a:latin typeface="Calibri" pitchFamily="34" charset="0"/>
                <a:ea typeface="Calibri" pitchFamily="34" charset="-122"/>
                <a:cs typeface="Calibri" pitchFamily="34" charset="-120"/>
              </a:rPr>
              <a:t>(iaf_hv, iaf_fl)</a:t>
            </a:r>
            <a:endParaRPr lang="en-US" sz="1000" dirty="0"/>
          </a:p>
        </p:txBody>
      </p:sp>
      <p:sp>
        <p:nvSpPr>
          <p:cNvPr id="31" name="Shape 29"/>
          <p:cNvSpPr/>
          <p:nvPr/>
        </p:nvSpPr>
        <p:spPr>
          <a:xfrm>
            <a:off x="2286000" y="2212848"/>
            <a:ext cx="2011680" cy="804672"/>
          </a:xfrm>
          <a:prstGeom prst="rect">
            <a:avLst/>
          </a:prstGeom>
          <a:solidFill>
            <a:srgbClr val="FFFFFF"/>
          </a:solidFill>
          <a:ln w="6350">
            <a:solidFill>
              <a:srgbClr val="D4CACA"/>
            </a:solidFill>
            <a:prstDash val="solid"/>
          </a:ln>
        </p:spPr>
      </p:sp>
      <p:sp>
        <p:nvSpPr>
          <p:cNvPr id="32" name="Text 30"/>
          <p:cNvSpPr/>
          <p:nvPr/>
        </p:nvSpPr>
        <p:spPr>
          <a:xfrm>
            <a:off x="2340864" y="2267712"/>
            <a:ext cx="1901952" cy="694944"/>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  All 20 RVV rules</a:t>
            </a:r>
            <a:endParaRPr lang="en-US" sz="950" dirty="0"/>
          </a:p>
          <a:p>
            <a:pPr indent="0" marL="0">
              <a:buNone/>
            </a:pPr>
            <a:r>
              <a:rPr lang="en-US" sz="950" dirty="0">
                <a:solidFill>
                  <a:srgbClr val="1C1214"/>
                </a:solidFill>
                <a:latin typeface="Calibri" pitchFamily="34" charset="0"/>
                <a:ea typeface="Calibri" pitchFamily="34" charset="-122"/>
                <a:cs typeface="Calibri" pitchFamily="34" charset="-120"/>
              </a:rPr>
              <a:t>✓  Minor RDD signal</a:t>
            </a:r>
            <a:endParaRPr lang="en-US" sz="950" dirty="0"/>
          </a:p>
        </p:txBody>
      </p:sp>
      <p:sp>
        <p:nvSpPr>
          <p:cNvPr id="33" name="Shape 31"/>
          <p:cNvSpPr/>
          <p:nvPr/>
        </p:nvSpPr>
        <p:spPr>
          <a:xfrm>
            <a:off x="4297680" y="2212848"/>
            <a:ext cx="1645920" cy="804672"/>
          </a:xfrm>
          <a:prstGeom prst="rect">
            <a:avLst/>
          </a:prstGeom>
          <a:solidFill>
            <a:srgbClr val="FFFFFF"/>
          </a:solidFill>
          <a:ln w="6350">
            <a:solidFill>
              <a:srgbClr val="D4CACA"/>
            </a:solidFill>
            <a:prstDash val="solid"/>
          </a:ln>
        </p:spPr>
      </p:sp>
      <p:sp>
        <p:nvSpPr>
          <p:cNvPr id="34" name="Text 32"/>
          <p:cNvSpPr/>
          <p:nvPr/>
        </p:nvSpPr>
        <p:spPr>
          <a:xfrm>
            <a:off x="4352544" y="2267712"/>
            <a:ext cx="1536192" cy="694944"/>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  RVV Rules 1–2</a:t>
            </a:r>
            <a:endParaRPr lang="en-US" sz="950" dirty="0"/>
          </a:p>
        </p:txBody>
      </p:sp>
      <p:sp>
        <p:nvSpPr>
          <p:cNvPr id="35" name="Shape 33"/>
          <p:cNvSpPr/>
          <p:nvPr/>
        </p:nvSpPr>
        <p:spPr>
          <a:xfrm>
            <a:off x="5943600" y="2212848"/>
            <a:ext cx="1645920" cy="804672"/>
          </a:xfrm>
          <a:prstGeom prst="rect">
            <a:avLst/>
          </a:prstGeom>
          <a:solidFill>
            <a:srgbClr val="FFFFFF"/>
          </a:solidFill>
          <a:ln w="6350">
            <a:solidFill>
              <a:srgbClr val="D4CACA"/>
            </a:solidFill>
            <a:prstDash val="solid"/>
          </a:ln>
        </p:spPr>
      </p:sp>
      <p:sp>
        <p:nvSpPr>
          <p:cNvPr id="36" name="Text 34"/>
          <p:cNvSpPr/>
          <p:nvPr/>
        </p:nvSpPr>
        <p:spPr>
          <a:xfrm>
            <a:off x="5998464" y="2267712"/>
            <a:ext cx="1536192" cy="694944"/>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  −2064/unit RVV</a:t>
            </a:r>
            <a:endParaRPr lang="en-US" sz="950" dirty="0"/>
          </a:p>
        </p:txBody>
      </p:sp>
      <p:sp>
        <p:nvSpPr>
          <p:cNvPr id="37" name="Shape 35"/>
          <p:cNvSpPr/>
          <p:nvPr/>
        </p:nvSpPr>
        <p:spPr>
          <a:xfrm>
            <a:off x="7589520" y="2212848"/>
            <a:ext cx="1417320" cy="804672"/>
          </a:xfrm>
          <a:prstGeom prst="rect">
            <a:avLst/>
          </a:prstGeom>
          <a:solidFill>
            <a:srgbClr val="FFFFFF"/>
          </a:solidFill>
          <a:ln w="6350">
            <a:solidFill>
              <a:srgbClr val="D4CACA"/>
            </a:solidFill>
            <a:prstDash val="solid"/>
          </a:ln>
        </p:spPr>
      </p:sp>
      <p:sp>
        <p:nvSpPr>
          <p:cNvPr id="38" name="Text 36"/>
          <p:cNvSpPr/>
          <p:nvPr/>
        </p:nvSpPr>
        <p:spPr>
          <a:xfrm>
            <a:off x="7644384" y="2267712"/>
            <a:ext cx="1307592" cy="694944"/>
          </a:xfrm>
          <a:prstGeom prst="rect">
            <a:avLst/>
          </a:prstGeom>
          <a:noFill/>
          <a:ln/>
        </p:spPr>
        <p:txBody>
          <a:bodyPr wrap="square" lIns="0" tIns="0" rIns="0" bIns="0" rtlCol="0" anchor="ctr"/>
          <a:lstStyle/>
          <a:p>
            <a:pPr indent="0" marL="0">
              <a:buNone/>
            </a:pPr>
            <a:r>
              <a:rPr lang="en-US" sz="950" b="1" dirty="0">
                <a:solidFill>
                  <a:srgbClr val="3A7A50"/>
                </a:solidFill>
                <a:latin typeface="Calibri" pitchFamily="34" charset="0"/>
                <a:ea typeface="Calibri" pitchFamily="34" charset="-122"/>
                <a:cs typeface="Calibri" pitchFamily="34" charset="-120"/>
              </a:rPr>
              <a:t>HIGH — universal</a:t>
            </a:r>
            <a:endParaRPr lang="en-US" sz="950" dirty="0"/>
          </a:p>
        </p:txBody>
      </p:sp>
      <p:sp>
        <p:nvSpPr>
          <p:cNvPr id="39" name="Shape 37"/>
          <p:cNvSpPr/>
          <p:nvPr/>
        </p:nvSpPr>
        <p:spPr>
          <a:xfrm>
            <a:off x="411480" y="3072384"/>
            <a:ext cx="1874520" cy="804672"/>
          </a:xfrm>
          <a:prstGeom prst="rect">
            <a:avLst/>
          </a:prstGeom>
          <a:solidFill>
            <a:srgbClr val="EDE5DA"/>
          </a:solidFill>
          <a:ln w="6350">
            <a:solidFill>
              <a:srgbClr val="D4CACA"/>
            </a:solidFill>
            <a:prstDash val="solid"/>
          </a:ln>
        </p:spPr>
      </p:sp>
      <p:sp>
        <p:nvSpPr>
          <p:cNvPr id="40" name="Shape 38"/>
          <p:cNvSpPr/>
          <p:nvPr/>
        </p:nvSpPr>
        <p:spPr>
          <a:xfrm>
            <a:off x="411480" y="3072384"/>
            <a:ext cx="54864" cy="804672"/>
          </a:xfrm>
          <a:prstGeom prst="rect">
            <a:avLst/>
          </a:prstGeom>
          <a:solidFill>
            <a:srgbClr val="C4964A"/>
          </a:solidFill>
          <a:ln w="12700">
            <a:solidFill>
              <a:srgbClr val="C4964A"/>
            </a:solidFill>
            <a:prstDash val="solid"/>
          </a:ln>
        </p:spPr>
      </p:sp>
      <p:sp>
        <p:nvSpPr>
          <p:cNvPr id="41" name="Text 39"/>
          <p:cNvSpPr/>
          <p:nvPr/>
        </p:nvSpPr>
        <p:spPr>
          <a:xfrm>
            <a:off x="539496" y="3127248"/>
            <a:ext cx="1691640" cy="694944"/>
          </a:xfrm>
          <a:prstGeom prst="rect">
            <a:avLst/>
          </a:prstGeom>
          <a:noFill/>
          <a:ln/>
        </p:spPr>
        <p:txBody>
          <a:bodyPr wrap="square" lIns="0" tIns="0" rIns="0" bIns="0" rtlCol="0" anchor="ctr"/>
          <a:lstStyle/>
          <a:p>
            <a:pPr indent="0" marL="0">
              <a:buNone/>
            </a:pPr>
            <a:r>
              <a:rPr lang="en-US" sz="1000" dirty="0">
                <a:solidFill>
                  <a:srgbClr val="1C1214"/>
                </a:solidFill>
                <a:latin typeface="Calibri" pitchFamily="34" charset="0"/>
                <a:ea typeface="Calibri" pitchFamily="34" charset="-122"/>
                <a:cs typeface="Calibri" pitchFamily="34" charset="-120"/>
              </a:rPr>
              <a:t>Prev-yr summer temp</a:t>
            </a:r>
            <a:endParaRPr lang="en-US" sz="1000" dirty="0"/>
          </a:p>
          <a:p>
            <a:pPr indent="0" marL="0">
              <a:buNone/>
            </a:pPr>
            <a:r>
              <a:rPr lang="en-US" sz="1000" dirty="0">
                <a:solidFill>
                  <a:srgbClr val="1C1214"/>
                </a:solidFill>
                <a:latin typeface="Calibri" pitchFamily="34" charset="0"/>
                <a:ea typeface="Calibri" pitchFamily="34" charset="-122"/>
                <a:cs typeface="Calibri" pitchFamily="34" charset="-120"/>
              </a:rPr>
              <a:t>(tm_sm_y0_a20)</a:t>
            </a:r>
            <a:endParaRPr lang="en-US" sz="1000" dirty="0"/>
          </a:p>
        </p:txBody>
      </p:sp>
      <p:sp>
        <p:nvSpPr>
          <p:cNvPr id="42" name="Shape 40"/>
          <p:cNvSpPr/>
          <p:nvPr/>
        </p:nvSpPr>
        <p:spPr>
          <a:xfrm>
            <a:off x="2286000" y="3072384"/>
            <a:ext cx="2011680" cy="804672"/>
          </a:xfrm>
          <a:prstGeom prst="rect">
            <a:avLst/>
          </a:prstGeom>
          <a:solidFill>
            <a:srgbClr val="EDE5DA"/>
          </a:solidFill>
          <a:ln w="6350">
            <a:solidFill>
              <a:srgbClr val="D4CACA"/>
            </a:solidFill>
            <a:prstDash val="solid"/>
          </a:ln>
        </p:spPr>
      </p:sp>
      <p:sp>
        <p:nvSpPr>
          <p:cNvPr id="43" name="Text 41"/>
          <p:cNvSpPr/>
          <p:nvPr/>
        </p:nvSpPr>
        <p:spPr>
          <a:xfrm>
            <a:off x="2340864" y="3127248"/>
            <a:ext cx="1901952" cy="694944"/>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  RVV carry-over</a:t>
            </a:r>
            <a:endParaRPr lang="en-US" sz="950" dirty="0"/>
          </a:p>
        </p:txBody>
      </p:sp>
      <p:sp>
        <p:nvSpPr>
          <p:cNvPr id="44" name="Shape 42"/>
          <p:cNvSpPr/>
          <p:nvPr/>
        </p:nvSpPr>
        <p:spPr>
          <a:xfrm>
            <a:off x="4297680" y="3072384"/>
            <a:ext cx="1645920" cy="804672"/>
          </a:xfrm>
          <a:prstGeom prst="rect">
            <a:avLst/>
          </a:prstGeom>
          <a:solidFill>
            <a:srgbClr val="EDE5DA"/>
          </a:solidFill>
          <a:ln w="6350">
            <a:solidFill>
              <a:srgbClr val="D4CACA"/>
            </a:solidFill>
            <a:prstDash val="solid"/>
          </a:ln>
        </p:spPr>
      </p:sp>
      <p:sp>
        <p:nvSpPr>
          <p:cNvPr id="45" name="Text 43"/>
          <p:cNvSpPr/>
          <p:nvPr/>
        </p:nvSpPr>
        <p:spPr>
          <a:xfrm>
            <a:off x="4352544" y="3127248"/>
            <a:ext cx="1536192" cy="694944"/>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  RVV Rule 3</a:t>
            </a:r>
            <a:endParaRPr lang="en-US" sz="950" dirty="0"/>
          </a:p>
        </p:txBody>
      </p:sp>
      <p:sp>
        <p:nvSpPr>
          <p:cNvPr id="46" name="Shape 44"/>
          <p:cNvSpPr/>
          <p:nvPr/>
        </p:nvSpPr>
        <p:spPr>
          <a:xfrm>
            <a:off x="5943600" y="3072384"/>
            <a:ext cx="1645920" cy="804672"/>
          </a:xfrm>
          <a:prstGeom prst="rect">
            <a:avLst/>
          </a:prstGeom>
          <a:solidFill>
            <a:srgbClr val="EDE5DA"/>
          </a:solidFill>
          <a:ln w="6350">
            <a:solidFill>
              <a:srgbClr val="D4CACA"/>
            </a:solidFill>
            <a:prstDash val="solid"/>
          </a:ln>
        </p:spPr>
      </p:sp>
      <p:sp>
        <p:nvSpPr>
          <p:cNvPr id="47" name="Text 45"/>
          <p:cNvSpPr/>
          <p:nvPr/>
        </p:nvSpPr>
        <p:spPr>
          <a:xfrm>
            <a:off x="5998464" y="3127248"/>
            <a:ext cx="1536192" cy="694944"/>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  +17.2/°C RVV</a:t>
            </a:r>
            <a:endParaRPr lang="en-US" sz="950" dirty="0"/>
          </a:p>
        </p:txBody>
      </p:sp>
      <p:sp>
        <p:nvSpPr>
          <p:cNvPr id="48" name="Shape 46"/>
          <p:cNvSpPr/>
          <p:nvPr/>
        </p:nvSpPr>
        <p:spPr>
          <a:xfrm>
            <a:off x="7589520" y="3072384"/>
            <a:ext cx="1417320" cy="804672"/>
          </a:xfrm>
          <a:prstGeom prst="rect">
            <a:avLst/>
          </a:prstGeom>
          <a:solidFill>
            <a:srgbClr val="EDE5DA"/>
          </a:solidFill>
          <a:ln w="6350">
            <a:solidFill>
              <a:srgbClr val="D4CACA"/>
            </a:solidFill>
            <a:prstDash val="solid"/>
          </a:ln>
        </p:spPr>
      </p:sp>
      <p:sp>
        <p:nvSpPr>
          <p:cNvPr id="49" name="Text 47"/>
          <p:cNvSpPr/>
          <p:nvPr/>
        </p:nvSpPr>
        <p:spPr>
          <a:xfrm>
            <a:off x="7644384" y="3127248"/>
            <a:ext cx="1307592" cy="694944"/>
          </a:xfrm>
          <a:prstGeom prst="rect">
            <a:avLst/>
          </a:prstGeom>
          <a:noFill/>
          <a:ln/>
        </p:spPr>
        <p:txBody>
          <a:bodyPr wrap="square" lIns="0" tIns="0" rIns="0" bIns="0" rtlCol="0" anchor="ctr"/>
          <a:lstStyle/>
          <a:p>
            <a:pPr indent="0" marL="0">
              <a:buNone/>
            </a:pPr>
            <a:r>
              <a:rPr lang="en-US" sz="950" b="1" dirty="0">
                <a:solidFill>
                  <a:srgbClr val="3A7A50"/>
                </a:solidFill>
                <a:latin typeface="Calibri" pitchFamily="34" charset="0"/>
                <a:ea typeface="Calibri" pitchFamily="34" charset="-122"/>
                <a:cs typeface="Calibri" pitchFamily="34" charset="-120"/>
              </a:rPr>
              <a:t>HIGH — RVV focus</a:t>
            </a:r>
            <a:endParaRPr lang="en-US" sz="950" dirty="0"/>
          </a:p>
        </p:txBody>
      </p:sp>
      <p:sp>
        <p:nvSpPr>
          <p:cNvPr id="50" name="Shape 48"/>
          <p:cNvSpPr/>
          <p:nvPr/>
        </p:nvSpPr>
        <p:spPr>
          <a:xfrm>
            <a:off x="411480" y="3931920"/>
            <a:ext cx="1874520" cy="804672"/>
          </a:xfrm>
          <a:prstGeom prst="rect">
            <a:avLst/>
          </a:prstGeom>
          <a:solidFill>
            <a:srgbClr val="FFFFFF"/>
          </a:solidFill>
          <a:ln w="6350">
            <a:solidFill>
              <a:srgbClr val="D4CACA"/>
            </a:solidFill>
            <a:prstDash val="solid"/>
          </a:ln>
        </p:spPr>
      </p:sp>
      <p:sp>
        <p:nvSpPr>
          <p:cNvPr id="51" name="Shape 49"/>
          <p:cNvSpPr/>
          <p:nvPr/>
        </p:nvSpPr>
        <p:spPr>
          <a:xfrm>
            <a:off x="411480" y="3931920"/>
            <a:ext cx="54864" cy="804672"/>
          </a:xfrm>
          <a:prstGeom prst="rect">
            <a:avLst/>
          </a:prstGeom>
          <a:solidFill>
            <a:srgbClr val="5A4042"/>
          </a:solidFill>
          <a:ln w="12700">
            <a:solidFill>
              <a:srgbClr val="5A4042"/>
            </a:solidFill>
            <a:prstDash val="solid"/>
          </a:ln>
        </p:spPr>
      </p:sp>
      <p:sp>
        <p:nvSpPr>
          <p:cNvPr id="52" name="Text 50"/>
          <p:cNvSpPr/>
          <p:nvPr/>
        </p:nvSpPr>
        <p:spPr>
          <a:xfrm>
            <a:off x="539496" y="3986784"/>
            <a:ext cx="1691640" cy="694944"/>
          </a:xfrm>
          <a:prstGeom prst="rect">
            <a:avLst/>
          </a:prstGeom>
          <a:noFill/>
          <a:ln/>
        </p:spPr>
        <p:txBody>
          <a:bodyPr wrap="square" lIns="0" tIns="0" rIns="0" bIns="0" rtlCol="0" anchor="ctr"/>
          <a:lstStyle/>
          <a:p>
            <a:pPr indent="0" marL="0">
              <a:buNone/>
            </a:pPr>
            <a:r>
              <a:rPr lang="en-US" sz="1000" dirty="0">
                <a:solidFill>
                  <a:srgbClr val="1C1214"/>
                </a:solidFill>
                <a:latin typeface="Calibri" pitchFamily="34" charset="0"/>
                <a:ea typeface="Calibri" pitchFamily="34" charset="-122"/>
                <a:cs typeface="Calibri" pitchFamily="34" charset="-120"/>
              </a:rPr>
              <a:t>Wet days post-flowering</a:t>
            </a:r>
            <a:endParaRPr lang="en-US" sz="1000" dirty="0"/>
          </a:p>
          <a:p>
            <a:pPr indent="0" marL="0">
              <a:buNone/>
            </a:pPr>
            <a:r>
              <a:rPr lang="en-US" sz="1000" dirty="0">
                <a:solidFill>
                  <a:srgbClr val="1C1214"/>
                </a:solidFill>
                <a:latin typeface="Calibri" pitchFamily="34" charset="0"/>
                <a:ea typeface="Calibri" pitchFamily="34" charset="-122"/>
                <a:cs typeface="Calibri" pitchFamily="34" charset="-120"/>
              </a:rPr>
              <a:t>(days.rf_fl)</a:t>
            </a:r>
            <a:endParaRPr lang="en-US" sz="1000" dirty="0"/>
          </a:p>
        </p:txBody>
      </p:sp>
      <p:sp>
        <p:nvSpPr>
          <p:cNvPr id="53" name="Shape 51"/>
          <p:cNvSpPr/>
          <p:nvPr/>
        </p:nvSpPr>
        <p:spPr>
          <a:xfrm>
            <a:off x="2286000" y="3931920"/>
            <a:ext cx="2011680" cy="804672"/>
          </a:xfrm>
          <a:prstGeom prst="rect">
            <a:avLst/>
          </a:prstGeom>
          <a:solidFill>
            <a:srgbClr val="FFFFFF"/>
          </a:solidFill>
          <a:ln w="6350">
            <a:solidFill>
              <a:srgbClr val="D4CACA"/>
            </a:solidFill>
            <a:prstDash val="solid"/>
          </a:ln>
        </p:spPr>
      </p:sp>
      <p:sp>
        <p:nvSpPr>
          <p:cNvPr id="54" name="Text 52"/>
          <p:cNvSpPr/>
          <p:nvPr/>
        </p:nvSpPr>
        <p:spPr>
          <a:xfrm>
            <a:off x="2340864" y="3986784"/>
            <a:ext cx="1901952" cy="694944"/>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  21% of RDD rules</a:t>
            </a:r>
            <a:endParaRPr lang="en-US" sz="950" dirty="0"/>
          </a:p>
        </p:txBody>
      </p:sp>
      <p:sp>
        <p:nvSpPr>
          <p:cNvPr id="55" name="Shape 53"/>
          <p:cNvSpPr/>
          <p:nvPr/>
        </p:nvSpPr>
        <p:spPr>
          <a:xfrm>
            <a:off x="4297680" y="3931920"/>
            <a:ext cx="1645920" cy="804672"/>
          </a:xfrm>
          <a:prstGeom prst="rect">
            <a:avLst/>
          </a:prstGeom>
          <a:solidFill>
            <a:srgbClr val="FFFFFF"/>
          </a:solidFill>
          <a:ln w="6350">
            <a:solidFill>
              <a:srgbClr val="D4CACA"/>
            </a:solidFill>
            <a:prstDash val="solid"/>
          </a:ln>
        </p:spPr>
      </p:sp>
      <p:sp>
        <p:nvSpPr>
          <p:cNvPr id="56" name="Text 54"/>
          <p:cNvSpPr/>
          <p:nvPr/>
        </p:nvSpPr>
        <p:spPr>
          <a:xfrm>
            <a:off x="4352544" y="3986784"/>
            <a:ext cx="1536192" cy="694944"/>
          </a:xfrm>
          <a:prstGeom prst="rect">
            <a:avLst/>
          </a:prstGeom>
          <a:noFill/>
          <a:ln/>
        </p:spPr>
        <p:txBody>
          <a:bodyPr wrap="square" lIns="0" tIns="0" rIns="0" bIns="0" rtlCol="0" anchor="ctr"/>
          <a:lstStyle/>
          <a:p>
            <a:pPr indent="0" marL="0">
              <a:buNone/>
            </a:pPr>
            <a:r>
              <a:rPr lang="en-US" sz="950" dirty="0">
                <a:solidFill>
                  <a:srgbClr val="B74A4A"/>
                </a:solidFill>
                <a:latin typeface="Calibri" pitchFamily="34" charset="0"/>
                <a:ea typeface="Calibri" pitchFamily="34" charset="-122"/>
                <a:cs typeface="Calibri" pitchFamily="34" charset="-120"/>
              </a:rPr>
              <a:t>✗  Not selected</a:t>
            </a:r>
            <a:endParaRPr lang="en-US" sz="950" dirty="0"/>
          </a:p>
        </p:txBody>
      </p:sp>
      <p:sp>
        <p:nvSpPr>
          <p:cNvPr id="57" name="Shape 55"/>
          <p:cNvSpPr/>
          <p:nvPr/>
        </p:nvSpPr>
        <p:spPr>
          <a:xfrm>
            <a:off x="5943600" y="3931920"/>
            <a:ext cx="1645920" cy="804672"/>
          </a:xfrm>
          <a:prstGeom prst="rect">
            <a:avLst/>
          </a:prstGeom>
          <a:solidFill>
            <a:srgbClr val="FFFFFF"/>
          </a:solidFill>
          <a:ln w="6350">
            <a:solidFill>
              <a:srgbClr val="D4CACA"/>
            </a:solidFill>
            <a:prstDash val="solid"/>
          </a:ln>
        </p:spPr>
      </p:sp>
      <p:sp>
        <p:nvSpPr>
          <p:cNvPr id="58" name="Text 56"/>
          <p:cNvSpPr/>
          <p:nvPr/>
        </p:nvSpPr>
        <p:spPr>
          <a:xfrm>
            <a:off x="5998464" y="3986784"/>
            <a:ext cx="1536192" cy="694944"/>
          </a:xfrm>
          <a:prstGeom prst="rect">
            <a:avLst/>
          </a:prstGeom>
          <a:noFill/>
          <a:ln/>
        </p:spPr>
        <p:txBody>
          <a:bodyPr wrap="square" lIns="0" tIns="0" rIns="0" bIns="0" rtlCol="0" anchor="ctr"/>
          <a:lstStyle/>
          <a:p>
            <a:pPr indent="0" marL="0">
              <a:buNone/>
            </a:pPr>
            <a:r>
              <a:rPr lang="en-US" sz="950" dirty="0">
                <a:solidFill>
                  <a:srgbClr val="B74A4A"/>
                </a:solidFill>
                <a:latin typeface="Calibri" pitchFamily="34" charset="0"/>
                <a:ea typeface="Calibri" pitchFamily="34" charset="-122"/>
                <a:cs typeface="Calibri" pitchFamily="34" charset="-120"/>
              </a:rPr>
              <a:t>✗  Not selected</a:t>
            </a:r>
            <a:endParaRPr lang="en-US" sz="950" dirty="0"/>
          </a:p>
        </p:txBody>
      </p:sp>
      <p:sp>
        <p:nvSpPr>
          <p:cNvPr id="59" name="Shape 57"/>
          <p:cNvSpPr/>
          <p:nvPr/>
        </p:nvSpPr>
        <p:spPr>
          <a:xfrm>
            <a:off x="7589520" y="3931920"/>
            <a:ext cx="1417320" cy="804672"/>
          </a:xfrm>
          <a:prstGeom prst="rect">
            <a:avLst/>
          </a:prstGeom>
          <a:solidFill>
            <a:srgbClr val="FFFFFF"/>
          </a:solidFill>
          <a:ln w="6350">
            <a:solidFill>
              <a:srgbClr val="D4CACA"/>
            </a:solidFill>
            <a:prstDash val="solid"/>
          </a:ln>
        </p:spPr>
      </p:sp>
      <p:sp>
        <p:nvSpPr>
          <p:cNvPr id="60" name="Text 58"/>
          <p:cNvSpPr/>
          <p:nvPr/>
        </p:nvSpPr>
        <p:spPr>
          <a:xfrm>
            <a:off x="7644384" y="3986784"/>
            <a:ext cx="1307592" cy="694944"/>
          </a:xfrm>
          <a:prstGeom prst="rect">
            <a:avLst/>
          </a:prstGeom>
          <a:noFill/>
          <a:ln/>
        </p:spPr>
        <p:txBody>
          <a:bodyPr wrap="square" lIns="0" tIns="0" rIns="0" bIns="0" rtlCol="0" anchor="ctr"/>
          <a:lstStyle/>
          <a:p>
            <a:pPr indent="0" marL="0">
              <a:buNone/>
            </a:pPr>
            <a:r>
              <a:rPr lang="en-US" sz="950" b="1" dirty="0">
                <a:solidFill>
                  <a:srgbClr val="5A4042"/>
                </a:solidFill>
                <a:latin typeface="Calibri" pitchFamily="34" charset="0"/>
                <a:ea typeface="Calibri" pitchFamily="34" charset="-122"/>
                <a:cs typeface="Calibri" pitchFamily="34" charset="-120"/>
              </a:rPr>
              <a:t>MODERATE</a:t>
            </a:r>
            <a:endParaRPr lang="en-US" sz="950" dirty="0"/>
          </a:p>
          <a:p>
            <a:pPr indent="0" marL="0">
              <a:buNone/>
            </a:pPr>
            <a:r>
              <a:rPr lang="en-US" sz="950" b="1" dirty="0">
                <a:solidFill>
                  <a:srgbClr val="5A4042"/>
                </a:solidFill>
                <a:latin typeface="Calibri" pitchFamily="34" charset="0"/>
                <a:ea typeface="Calibri" pitchFamily="34" charset="-122"/>
                <a:cs typeface="Calibri" pitchFamily="34" charset="-120"/>
              </a:rPr>
              <a:t>CarenR-specific</a:t>
            </a:r>
            <a:endParaRPr lang="en-US" sz="950" dirty="0"/>
          </a:p>
        </p:txBody>
      </p:sp>
      <p:sp>
        <p:nvSpPr>
          <p:cNvPr id="61" name="Shape 59"/>
          <p:cNvSpPr/>
          <p:nvPr/>
        </p:nvSpPr>
        <p:spPr>
          <a:xfrm>
            <a:off x="411480" y="4773168"/>
            <a:ext cx="8321040" cy="310896"/>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62" name="Text 60"/>
          <p:cNvSpPr/>
          <p:nvPr/>
        </p:nvSpPr>
        <p:spPr>
          <a:xfrm>
            <a:off x="594360" y="4818888"/>
            <a:ext cx="7955280" cy="237744"/>
          </a:xfrm>
          <a:prstGeom prst="rect">
            <a:avLst/>
          </a:prstGeom>
          <a:noFill/>
          <a:ln/>
        </p:spPr>
        <p:txBody>
          <a:bodyPr wrap="square" lIns="0" tIns="0" rIns="0" bIns="0" rtlCol="0" anchor="ctr"/>
          <a:lstStyle/>
          <a:p>
            <a:pPr indent="0" marL="0">
              <a:buNone/>
            </a:pPr>
            <a:r>
              <a:rPr lang="en-US" sz="1000" b="1" dirty="0">
                <a:solidFill>
                  <a:srgbClr val="6B2737"/>
                </a:solidFill>
                <a:latin typeface="Calibri" pitchFamily="34" charset="0"/>
                <a:ea typeface="Calibri" pitchFamily="34" charset="-122"/>
                <a:cs typeface="Calibri" pitchFamily="34" charset="-120"/>
              </a:rPr>
              <a:t>Convergence across 3 independent algorithms = strongest available evidence that these features reflect genuine data structure, not algorithmic noise.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8F2EA"/>
        </a:solidFill>
      </p:bgPr>
    </p:bg>
    <p:spTree>
      <p:nvGrpSpPr>
        <p:cNvPr id="1" name=""/>
        <p:cNvGrpSpPr/>
        <p:nvPr/>
      </p:nvGrpSpPr>
      <p:grpSpPr>
        <a:xfrm>
          <a:off x="0" y="0"/>
          <a:ext cx="0" cy="0"/>
          <a:chOff x="0" y="0"/>
          <a:chExt cx="0" cy="0"/>
        </a:xfrm>
      </p:grpSpPr>
      <p:sp>
        <p:nvSpPr>
          <p:cNvPr id="2" name="Shape 0"/>
          <p:cNvSpPr/>
          <p:nvPr/>
        </p:nvSpPr>
        <p:spPr>
          <a:xfrm>
            <a:off x="0" y="0"/>
            <a:ext cx="9144000" cy="59436"/>
          </a:xfrm>
          <a:prstGeom prst="rect">
            <a:avLst/>
          </a:prstGeom>
          <a:solidFill>
            <a:srgbClr val="C4964A"/>
          </a:solidFill>
          <a:ln w="12700">
            <a:solidFill>
              <a:srgbClr val="C4964A"/>
            </a:solidFill>
            <a:prstDash val="solid"/>
          </a:ln>
        </p:spPr>
      </p:sp>
      <p:sp>
        <p:nvSpPr>
          <p:cNvPr id="3" name="Text 1"/>
          <p:cNvSpPr/>
          <p:nvPr/>
        </p:nvSpPr>
        <p:spPr>
          <a:xfrm>
            <a:off x="411480" y="109728"/>
            <a:ext cx="8321040" cy="530352"/>
          </a:xfrm>
          <a:prstGeom prst="rect">
            <a:avLst/>
          </a:prstGeom>
          <a:noFill/>
          <a:ln/>
        </p:spPr>
        <p:txBody>
          <a:bodyPr wrap="square" lIns="0" tIns="0" rIns="0" bIns="0" rtlCol="0" anchor="ctr"/>
          <a:lstStyle/>
          <a:p>
            <a:pPr algn="l" indent="0" marL="0">
              <a:buNone/>
            </a:pPr>
            <a:r>
              <a:rPr lang="en-US" sz="2600" b="1" dirty="0">
                <a:solidFill>
                  <a:srgbClr val="6B2737"/>
                </a:solidFill>
                <a:latin typeface="Georgia" pitchFamily="34" charset="0"/>
                <a:ea typeface="Georgia" pitchFamily="34" charset="-122"/>
                <a:cs typeface="Georgia" pitchFamily="34" charset="-120"/>
              </a:rPr>
              <a:t>Predictive Validation Results (Goal 2)</a:t>
            </a:r>
            <a:endParaRPr lang="en-US" sz="2600" dirty="0"/>
          </a:p>
        </p:txBody>
      </p:sp>
      <p:sp>
        <p:nvSpPr>
          <p:cNvPr id="4" name="Text 2"/>
          <p:cNvSpPr/>
          <p:nvPr/>
        </p:nvSpPr>
        <p:spPr>
          <a:xfrm>
            <a:off x="411480" y="621792"/>
            <a:ext cx="8321040" cy="256032"/>
          </a:xfrm>
          <a:prstGeom prst="rect">
            <a:avLst/>
          </a:prstGeom>
          <a:noFill/>
          <a:ln/>
        </p:spPr>
        <p:txBody>
          <a:bodyPr wrap="square" lIns="0" tIns="0" rIns="0" bIns="0" rtlCol="0" anchor="ctr"/>
          <a:lstStyle/>
          <a:p>
            <a:pPr algn="l" indent="0" marL="0">
              <a:buNone/>
            </a:pPr>
            <a:r>
              <a:rPr lang="en-US" sz="1200" i="1" dirty="0">
                <a:solidFill>
                  <a:srgbClr val="5A4042"/>
                </a:solidFill>
                <a:latin typeface="Calibri" pitchFamily="34" charset="0"/>
                <a:ea typeface="Calibri" pitchFamily="34" charset="-122"/>
                <a:cs typeface="Calibri" pitchFamily="34" charset="-120"/>
              </a:rPr>
              <a:t>Walk-forward · 17 models · 18 RDD scenarios · 16 RVV scenarios</a:t>
            </a:r>
            <a:endParaRPr lang="en-US" sz="1200" dirty="0"/>
          </a:p>
        </p:txBody>
      </p:sp>
      <p:sp>
        <p:nvSpPr>
          <p:cNvPr id="5" name="Shape 3"/>
          <p:cNvSpPr/>
          <p:nvPr/>
        </p:nvSpPr>
        <p:spPr>
          <a:xfrm>
            <a:off x="411480" y="877824"/>
            <a:ext cx="8321040" cy="0"/>
          </a:xfrm>
          <a:prstGeom prst="line">
            <a:avLst/>
          </a:prstGeom>
          <a:noFill/>
          <a:ln w="12700">
            <a:solidFill>
              <a:srgbClr val="D4CACA"/>
            </a:solidFill>
            <a:prstDash val="solid"/>
          </a:ln>
        </p:spPr>
      </p:sp>
      <p:sp>
        <p:nvSpPr>
          <p:cNvPr id="6" name="Text 4"/>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8 / 12</a:t>
            </a:r>
            <a:endParaRPr lang="en-US" sz="900" dirty="0"/>
          </a:p>
        </p:txBody>
      </p:sp>
      <p:sp>
        <p:nvSpPr>
          <p:cNvPr id="7" name="Text 5"/>
          <p:cNvSpPr/>
          <p:nvPr/>
        </p:nvSpPr>
        <p:spPr>
          <a:xfrm>
            <a:off x="411480" y="969264"/>
            <a:ext cx="4160520" cy="256032"/>
          </a:xfrm>
          <a:prstGeom prst="rect">
            <a:avLst/>
          </a:prstGeom>
          <a:noFill/>
          <a:ln/>
        </p:spPr>
        <p:txBody>
          <a:bodyPr wrap="square" lIns="0" tIns="0" rIns="0" bIns="0" rtlCol="0" anchor="ctr"/>
          <a:lstStyle/>
          <a:p>
            <a:pPr indent="0" marL="0">
              <a:buNone/>
            </a:pPr>
            <a:r>
              <a:rPr lang="en-US" sz="1100" b="1" dirty="0">
                <a:solidFill>
                  <a:srgbClr val="6B2737"/>
                </a:solidFill>
                <a:latin typeface="Georgia" pitchFamily="34" charset="0"/>
                <a:ea typeface="Georgia" pitchFamily="34" charset="-122"/>
                <a:cs typeface="Georgia" pitchFamily="34" charset="-120"/>
              </a:rPr>
              <a:t>Douro (RDD) — Weighted MAE</a:t>
            </a:r>
            <a:endParaRPr lang="en-US" sz="1100" dirty="0"/>
          </a:p>
        </p:txBody>
      </p:sp>
      <p:graphicFrame>
        <p:nvGraphicFramePr>
          <p:cNvPr id="8" name="Chart 0" descr=""/>
          <p:cNvGraphicFramePr/>
          <p:nvPr/>
        </p:nvGraphicFramePr>
        <p:xfrm>
          <a:off x="411480" y="1261872"/>
          <a:ext cx="4160520" cy="3364992"/>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663440" y="969264"/>
            <a:ext cx="4069080" cy="256032"/>
          </a:xfrm>
          <a:prstGeom prst="rect">
            <a:avLst/>
          </a:prstGeom>
          <a:noFill/>
          <a:ln/>
        </p:spPr>
        <p:txBody>
          <a:bodyPr wrap="square" lIns="0" tIns="0" rIns="0" bIns="0" rtlCol="0" anchor="ctr"/>
          <a:lstStyle/>
          <a:p>
            <a:pPr indent="0" marL="0">
              <a:buNone/>
            </a:pPr>
            <a:r>
              <a:rPr lang="en-US" sz="1100" b="1" dirty="0">
                <a:solidFill>
                  <a:srgbClr val="2A7F7F"/>
                </a:solidFill>
                <a:latin typeface="Georgia" pitchFamily="34" charset="0"/>
                <a:ea typeface="Georgia" pitchFamily="34" charset="-122"/>
                <a:cs typeface="Georgia" pitchFamily="34" charset="-120"/>
              </a:rPr>
              <a:t>Vinho Verde (RVV) — Weighted MAE</a:t>
            </a:r>
            <a:endParaRPr lang="en-US" sz="1100" dirty="0"/>
          </a:p>
        </p:txBody>
      </p:sp>
      <p:graphicFrame>
        <p:nvGraphicFramePr>
          <p:cNvPr id="10" name="Chart 1" descr=""/>
          <p:cNvGraphicFramePr/>
          <p:nvPr/>
        </p:nvGraphicFramePr>
        <p:xfrm>
          <a:off x="4663440" y="1261872"/>
          <a:ext cx="4069080" cy="3364992"/>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411480" y="4709160"/>
            <a:ext cx="8321040" cy="384048"/>
          </a:xfrm>
          <a:prstGeom prst="rect">
            <a:avLst/>
          </a:prstGeom>
          <a:solidFill>
            <a:srgbClr val="EDE5DA"/>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2" name="Text 8"/>
          <p:cNvSpPr/>
          <p:nvPr/>
        </p:nvSpPr>
        <p:spPr>
          <a:xfrm>
            <a:off x="594360" y="4745736"/>
            <a:ext cx="7955280" cy="310896"/>
          </a:xfrm>
          <a:prstGeom prst="rect">
            <a:avLst/>
          </a:prstGeom>
          <a:noFill/>
          <a:ln/>
        </p:spPr>
        <p:txBody>
          <a:bodyPr wrap="square" lIns="0" tIns="0" rIns="0" bIns="0" rtlCol="0" anchor="ctr"/>
          <a:lstStyle/>
          <a:p>
            <a:pPr indent="0" marL="0">
              <a:buNone/>
            </a:pPr>
            <a:r>
              <a:rPr lang="en-US" sz="1000" b="1" dirty="0">
                <a:solidFill>
                  <a:srgbClr val="6B2737"/>
                </a:solidFill>
                <a:latin typeface="Calibri" pitchFamily="34" charset="0"/>
                <a:ea typeface="Calibri" pitchFamily="34" charset="-122"/>
                <a:cs typeface="Calibri" pitchFamily="34" charset="-120"/>
              </a:rPr>
              <a:t>RDD: </a:t>
            </a:r>
            <a:pPr indent="0" marL="0">
              <a:buNone/>
            </a:pPr>
            <a:r>
              <a:rPr lang="en-US" sz="1000" dirty="0">
                <a:solidFill>
                  <a:srgbClr val="1C1214"/>
                </a:solidFill>
                <a:latin typeface="Calibri" pitchFamily="34" charset="0"/>
                <a:ea typeface="Calibri" pitchFamily="34" charset="-122"/>
                <a:cs typeface="Calibri" pitchFamily="34" charset="-120"/>
              </a:rPr>
              <a:t>Best CarenR 189 vs Naive 184 mhl  (+3%)  Wilcoxon p = 0.468  (not significant)       </a:t>
            </a:r>
            <a:pPr indent="0" marL="0">
              <a:buNone/>
            </a:pPr>
            <a:r>
              <a:rPr lang="en-US" sz="1000" b="1" dirty="0">
                <a:solidFill>
                  <a:srgbClr val="2A7F7F"/>
                </a:solidFill>
                <a:latin typeface="Calibri" pitchFamily="34" charset="0"/>
                <a:ea typeface="Calibri" pitchFamily="34" charset="-122"/>
                <a:cs typeface="Calibri" pitchFamily="34" charset="-120"/>
              </a:rPr>
              <a:t>RVV: </a:t>
            </a:r>
            <a:pPr indent="0" marL="0">
              <a:buNone/>
            </a:pPr>
            <a:r>
              <a:rPr lang="en-US" sz="1000" dirty="0">
                <a:solidFill>
                  <a:srgbClr val="B74A4A"/>
                </a:solidFill>
                <a:latin typeface="Calibri" pitchFamily="34" charset="0"/>
                <a:ea typeface="Calibri" pitchFamily="34" charset="-122"/>
                <a:cs typeface="Calibri" pitchFamily="34" charset="-120"/>
              </a:rPr>
              <a:t>Best CarenR 172 vs Naive 140 mhl  (+22%)  Rules actively harm prediction  p = 0.004 ✗</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8F2EA"/>
        </a:solidFill>
      </p:bgPr>
    </p:bg>
    <p:spTree>
      <p:nvGrpSpPr>
        <p:cNvPr id="1" name=""/>
        <p:cNvGrpSpPr/>
        <p:nvPr/>
      </p:nvGrpSpPr>
      <p:grpSpPr>
        <a:xfrm>
          <a:off x="0" y="0"/>
          <a:ext cx="0" cy="0"/>
          <a:chOff x="0" y="0"/>
          <a:chExt cx="0" cy="0"/>
        </a:xfrm>
      </p:grpSpPr>
      <p:sp>
        <p:nvSpPr>
          <p:cNvPr id="2" name="Shape 0"/>
          <p:cNvSpPr/>
          <p:nvPr/>
        </p:nvSpPr>
        <p:spPr>
          <a:xfrm>
            <a:off x="0" y="0"/>
            <a:ext cx="9144000" cy="59436"/>
          </a:xfrm>
          <a:prstGeom prst="rect">
            <a:avLst/>
          </a:prstGeom>
          <a:solidFill>
            <a:srgbClr val="C4964A"/>
          </a:solidFill>
          <a:ln w="12700">
            <a:solidFill>
              <a:srgbClr val="C4964A"/>
            </a:solidFill>
            <a:prstDash val="solid"/>
          </a:ln>
        </p:spPr>
      </p:sp>
      <p:sp>
        <p:nvSpPr>
          <p:cNvPr id="3" name="Text 1"/>
          <p:cNvSpPr/>
          <p:nvPr/>
        </p:nvSpPr>
        <p:spPr>
          <a:xfrm>
            <a:off x="411480" y="109728"/>
            <a:ext cx="8321040" cy="530352"/>
          </a:xfrm>
          <a:prstGeom prst="rect">
            <a:avLst/>
          </a:prstGeom>
          <a:noFill/>
          <a:ln/>
        </p:spPr>
        <p:txBody>
          <a:bodyPr wrap="square" lIns="0" tIns="0" rIns="0" bIns="0" rtlCol="0" anchor="ctr"/>
          <a:lstStyle/>
          <a:p>
            <a:pPr algn="l" indent="0" marL="0">
              <a:buNone/>
            </a:pPr>
            <a:r>
              <a:rPr lang="en-US" sz="2600" b="1" dirty="0">
                <a:solidFill>
                  <a:srgbClr val="6B2737"/>
                </a:solidFill>
                <a:latin typeface="Georgia" pitchFamily="34" charset="0"/>
                <a:ea typeface="Georgia" pitchFamily="34" charset="-122"/>
                <a:cs typeface="Georgia" pitchFamily="34" charset="-120"/>
              </a:rPr>
              <a:t>Why Prediction Failed: Era Composition</a:t>
            </a:r>
            <a:endParaRPr lang="en-US" sz="2600" dirty="0"/>
          </a:p>
        </p:txBody>
      </p:sp>
      <p:sp>
        <p:nvSpPr>
          <p:cNvPr id="4" name="Text 2"/>
          <p:cNvSpPr/>
          <p:nvPr/>
        </p:nvSpPr>
        <p:spPr>
          <a:xfrm>
            <a:off x="411480" y="621792"/>
            <a:ext cx="8321040" cy="256032"/>
          </a:xfrm>
          <a:prstGeom prst="rect">
            <a:avLst/>
          </a:prstGeom>
          <a:noFill/>
          <a:ln/>
        </p:spPr>
        <p:txBody>
          <a:bodyPr wrap="square" lIns="0" tIns="0" rIns="0" bIns="0" rtlCol="0" anchor="ctr"/>
          <a:lstStyle/>
          <a:p>
            <a:pPr algn="l" indent="0" marL="0">
              <a:buNone/>
            </a:pPr>
            <a:r>
              <a:rPr lang="en-US" sz="1200" i="1" dirty="0">
                <a:solidFill>
                  <a:srgbClr val="5A4042"/>
                </a:solidFill>
                <a:latin typeface="Calibri" pitchFamily="34" charset="0"/>
                <a:ea typeface="Calibri" pitchFamily="34" charset="-122"/>
                <a:cs typeface="Calibri" pitchFamily="34" charset="-120"/>
              </a:rPr>
              <a:t>The most informative finding — and a path forward</a:t>
            </a:r>
            <a:endParaRPr lang="en-US" sz="1200" dirty="0"/>
          </a:p>
        </p:txBody>
      </p:sp>
      <p:sp>
        <p:nvSpPr>
          <p:cNvPr id="5" name="Shape 3"/>
          <p:cNvSpPr/>
          <p:nvPr/>
        </p:nvSpPr>
        <p:spPr>
          <a:xfrm>
            <a:off x="411480" y="877824"/>
            <a:ext cx="8321040" cy="0"/>
          </a:xfrm>
          <a:prstGeom prst="line">
            <a:avLst/>
          </a:prstGeom>
          <a:noFill/>
          <a:ln w="12700">
            <a:solidFill>
              <a:srgbClr val="D4CACA"/>
            </a:solidFill>
            <a:prstDash val="solid"/>
          </a:ln>
        </p:spPr>
      </p:sp>
      <p:sp>
        <p:nvSpPr>
          <p:cNvPr id="6" name="Text 4"/>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9 / 12</a:t>
            </a:r>
            <a:endParaRPr lang="en-US" sz="900" dirty="0"/>
          </a:p>
        </p:txBody>
      </p:sp>
      <p:sp>
        <p:nvSpPr>
          <p:cNvPr id="7" name="Text 5"/>
          <p:cNvSpPr/>
          <p:nvPr/>
        </p:nvSpPr>
        <p:spPr>
          <a:xfrm>
            <a:off x="411480" y="969264"/>
            <a:ext cx="5303520" cy="256032"/>
          </a:xfrm>
          <a:prstGeom prst="rect">
            <a:avLst/>
          </a:prstGeom>
          <a:noFill/>
          <a:ln/>
        </p:spPr>
        <p:txBody>
          <a:bodyPr wrap="square" lIns="0" tIns="0" rIns="0" bIns="0" rtlCol="0" anchor="ctr"/>
          <a:lstStyle/>
          <a:p>
            <a:pPr indent="0" marL="0">
              <a:buNone/>
            </a:pPr>
            <a:r>
              <a:rPr lang="en-US" sz="1100" b="1" dirty="0">
                <a:solidFill>
                  <a:srgbClr val="6B2737"/>
                </a:solidFill>
                <a:latin typeface="Georgia" pitchFamily="34" charset="0"/>
                <a:ea typeface="Georgia" pitchFamily="34" charset="-122"/>
                <a:cs typeface="Georgia" pitchFamily="34" charset="-120"/>
              </a:rPr>
              <a:t>Douro (RDD) — Per-scenario MAE: CarenR_Eta2 vs Naive_Median</a:t>
            </a:r>
            <a:endParaRPr lang="en-US" sz="1100" dirty="0"/>
          </a:p>
        </p:txBody>
      </p:sp>
      <p:graphicFrame>
        <p:nvGraphicFramePr>
          <p:cNvPr id="8" name="Chart 0" descr=""/>
          <p:cNvGraphicFramePr/>
          <p:nvPr/>
        </p:nvGraphicFramePr>
        <p:xfrm>
          <a:off x="411480" y="1261872"/>
          <a:ext cx="5303520" cy="29260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897880" y="969264"/>
            <a:ext cx="2834640" cy="713232"/>
          </a:xfrm>
          <a:prstGeom prst="rect">
            <a:avLst/>
          </a:prstGeom>
          <a:solidFill>
            <a:srgbClr val="F7E0E0"/>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0" name="Shape 7"/>
          <p:cNvSpPr/>
          <p:nvPr/>
        </p:nvSpPr>
        <p:spPr>
          <a:xfrm>
            <a:off x="5897880" y="969264"/>
            <a:ext cx="54864" cy="713232"/>
          </a:xfrm>
          <a:prstGeom prst="rect">
            <a:avLst/>
          </a:prstGeom>
          <a:solidFill>
            <a:srgbClr val="B74A4A"/>
          </a:solidFill>
          <a:ln w="12700">
            <a:solidFill>
              <a:srgbClr val="B74A4A"/>
            </a:solidFill>
            <a:prstDash val="solid"/>
          </a:ln>
        </p:spPr>
      </p:sp>
      <p:sp>
        <p:nvSpPr>
          <p:cNvPr id="11" name="Text 8"/>
          <p:cNvSpPr/>
          <p:nvPr/>
        </p:nvSpPr>
        <p:spPr>
          <a:xfrm>
            <a:off x="6062472" y="1005840"/>
            <a:ext cx="2560320" cy="274320"/>
          </a:xfrm>
          <a:prstGeom prst="rect">
            <a:avLst/>
          </a:prstGeom>
          <a:noFill/>
          <a:ln/>
        </p:spPr>
        <p:txBody>
          <a:bodyPr wrap="square" lIns="0" tIns="0" rIns="0" bIns="0" rtlCol="0" anchor="ctr"/>
          <a:lstStyle/>
          <a:p>
            <a:pPr indent="0" marL="0">
              <a:buNone/>
            </a:pPr>
            <a:r>
              <a:rPr lang="en-US" sz="1000" b="1" dirty="0">
                <a:solidFill>
                  <a:srgbClr val="B74A4A"/>
                </a:solidFill>
                <a:latin typeface="Calibri" pitchFamily="34" charset="0"/>
                <a:ea typeface="Calibri" pitchFamily="34" charset="-122"/>
                <a:cs typeface="Calibri" pitchFamily="34" charset="-120"/>
              </a:rPr>
              <a:t>Scenarios 1–9: ERA-CONFOUNDED</a:t>
            </a:r>
            <a:endParaRPr lang="en-US" sz="1000" dirty="0"/>
          </a:p>
        </p:txBody>
      </p:sp>
      <p:sp>
        <p:nvSpPr>
          <p:cNvPr id="12" name="Text 9"/>
          <p:cNvSpPr/>
          <p:nvPr/>
        </p:nvSpPr>
        <p:spPr>
          <a:xfrm>
            <a:off x="6062472" y="1280160"/>
            <a:ext cx="2560320" cy="347472"/>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Post-1990 share &lt; 29%</a:t>
            </a:r>
            <a:endParaRPr lang="en-US" sz="950" dirty="0"/>
          </a:p>
          <a:p>
            <a:pPr indent="0" marL="0">
              <a:buNone/>
            </a:pPr>
            <a:r>
              <a:rPr lang="en-US" sz="950" dirty="0">
                <a:solidFill>
                  <a:srgbClr val="1C1214"/>
                </a:solidFill>
                <a:latin typeface="Calibri" pitchFamily="34" charset="0"/>
                <a:ea typeface="Calibri" pitchFamily="34" charset="-122"/>
                <a:cs typeface="Calibri" pitchFamily="34" charset="-120"/>
              </a:rPr>
              <a:t>CarenR loses in 7/9 scenarios</a:t>
            </a:r>
            <a:endParaRPr lang="en-US" sz="950" dirty="0"/>
          </a:p>
        </p:txBody>
      </p:sp>
      <p:sp>
        <p:nvSpPr>
          <p:cNvPr id="13" name="Shape 10"/>
          <p:cNvSpPr/>
          <p:nvPr/>
        </p:nvSpPr>
        <p:spPr>
          <a:xfrm>
            <a:off x="5897880" y="1792224"/>
            <a:ext cx="2834640" cy="804672"/>
          </a:xfrm>
          <a:prstGeom prst="rect">
            <a:avLst/>
          </a:prstGeom>
          <a:solidFill>
            <a:srgbClr val="E3F2E8"/>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4" name="Shape 11"/>
          <p:cNvSpPr/>
          <p:nvPr/>
        </p:nvSpPr>
        <p:spPr>
          <a:xfrm>
            <a:off x="5897880" y="1792224"/>
            <a:ext cx="54864" cy="804672"/>
          </a:xfrm>
          <a:prstGeom prst="rect">
            <a:avLst/>
          </a:prstGeom>
          <a:solidFill>
            <a:srgbClr val="3A7A50"/>
          </a:solidFill>
          <a:ln w="12700">
            <a:solidFill>
              <a:srgbClr val="3A7A50"/>
            </a:solidFill>
            <a:prstDash val="solid"/>
          </a:ln>
        </p:spPr>
      </p:sp>
      <p:sp>
        <p:nvSpPr>
          <p:cNvPr id="15" name="Text 12"/>
          <p:cNvSpPr/>
          <p:nvPr/>
        </p:nvSpPr>
        <p:spPr>
          <a:xfrm>
            <a:off x="6062472" y="1828800"/>
            <a:ext cx="2560320" cy="274320"/>
          </a:xfrm>
          <a:prstGeom prst="rect">
            <a:avLst/>
          </a:prstGeom>
          <a:noFill/>
          <a:ln/>
        </p:spPr>
        <p:txBody>
          <a:bodyPr wrap="square" lIns="0" tIns="0" rIns="0" bIns="0" rtlCol="0" anchor="ctr"/>
          <a:lstStyle/>
          <a:p>
            <a:pPr indent="0" marL="0">
              <a:buNone/>
            </a:pPr>
            <a:r>
              <a:rPr lang="en-US" sz="1000" b="1" dirty="0">
                <a:solidFill>
                  <a:srgbClr val="3A7A50"/>
                </a:solidFill>
                <a:latin typeface="Calibri" pitchFamily="34" charset="0"/>
                <a:ea typeface="Calibri" pitchFamily="34" charset="-122"/>
                <a:cs typeface="Calibri" pitchFamily="34" charset="-120"/>
              </a:rPr>
              <a:t>Scenarios 10-14: ERA-BALANCED [*]</a:t>
            </a:r>
            <a:endParaRPr lang="en-US" sz="1000" dirty="0"/>
          </a:p>
        </p:txBody>
      </p:sp>
      <p:sp>
        <p:nvSpPr>
          <p:cNvPr id="16" name="Text 13"/>
          <p:cNvSpPr/>
          <p:nvPr/>
        </p:nvSpPr>
        <p:spPr>
          <a:xfrm>
            <a:off x="6062472" y="2103120"/>
            <a:ext cx="2560320" cy="438912"/>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Post-1990 share ≈ 29%</a:t>
            </a:r>
            <a:endParaRPr lang="en-US" sz="950" dirty="0"/>
          </a:p>
          <a:p>
            <a:pPr indent="0" marL="0">
              <a:buNone/>
            </a:pPr>
            <a:r>
              <a:rPr lang="en-US" sz="950" dirty="0">
                <a:solidFill>
                  <a:srgbClr val="1C1214"/>
                </a:solidFill>
                <a:latin typeface="Calibri" pitchFamily="34" charset="0"/>
                <a:ea typeface="Calibri" pitchFamily="34" charset="-122"/>
                <a:cs typeface="Calibri" pitchFamily="34" charset="-120"/>
              </a:rPr>
              <a:t>CarenR wins ALL 5 scenarios</a:t>
            </a:r>
            <a:endParaRPr lang="en-US" sz="950" dirty="0"/>
          </a:p>
          <a:p>
            <a:pPr indent="0" marL="0">
              <a:buNone/>
            </a:pPr>
            <a:r>
              <a:rPr lang="en-US" sz="950" dirty="0">
                <a:solidFill>
                  <a:srgbClr val="1C1214"/>
                </a:solidFill>
                <a:latin typeface="Calibri" pitchFamily="34" charset="0"/>
                <a:ea typeface="Calibri" pitchFamily="34" charset="-122"/>
                <a:cs typeface="Calibri" pitchFamily="34" charset="-120"/>
              </a:rPr>
              <a:t>Margins: 17–32 mhl</a:t>
            </a:r>
            <a:endParaRPr lang="en-US" sz="950" dirty="0"/>
          </a:p>
          <a:p>
            <a:pPr indent="0" marL="0">
              <a:buNone/>
            </a:pPr>
            <a:r>
              <a:rPr lang="en-US" sz="950" dirty="0">
                <a:solidFill>
                  <a:srgbClr val="1C1214"/>
                </a:solidFill>
                <a:latin typeface="Calibri" pitchFamily="34" charset="0"/>
                <a:ea typeface="Calibri" pitchFamily="34" charset="-122"/>
                <a:cs typeface="Calibri" pitchFamily="34" charset="-120"/>
              </a:rPr>
              <a:t>Binomial p = 0.031 (exploratory)</a:t>
            </a:r>
            <a:endParaRPr lang="en-US" sz="950" dirty="0"/>
          </a:p>
        </p:txBody>
      </p:sp>
      <p:sp>
        <p:nvSpPr>
          <p:cNvPr id="17" name="Shape 14"/>
          <p:cNvSpPr/>
          <p:nvPr/>
        </p:nvSpPr>
        <p:spPr>
          <a:xfrm>
            <a:off x="5897880" y="2706624"/>
            <a:ext cx="2834640" cy="640080"/>
          </a:xfrm>
          <a:prstGeom prst="rect">
            <a:avLst/>
          </a:prstGeom>
          <a:solidFill>
            <a:srgbClr val="F2EFEE"/>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18" name="Shape 15"/>
          <p:cNvSpPr/>
          <p:nvPr/>
        </p:nvSpPr>
        <p:spPr>
          <a:xfrm>
            <a:off x="5897880" y="2706624"/>
            <a:ext cx="54864" cy="640080"/>
          </a:xfrm>
          <a:prstGeom prst="rect">
            <a:avLst/>
          </a:prstGeom>
          <a:solidFill>
            <a:srgbClr val="9A8E8B"/>
          </a:solidFill>
          <a:ln w="12700">
            <a:solidFill>
              <a:srgbClr val="9A8E8B"/>
            </a:solidFill>
            <a:prstDash val="solid"/>
          </a:ln>
        </p:spPr>
      </p:sp>
      <p:sp>
        <p:nvSpPr>
          <p:cNvPr id="19" name="Text 16"/>
          <p:cNvSpPr/>
          <p:nvPr/>
        </p:nvSpPr>
        <p:spPr>
          <a:xfrm>
            <a:off x="6062472" y="2743200"/>
            <a:ext cx="2560320" cy="256032"/>
          </a:xfrm>
          <a:prstGeom prst="rect">
            <a:avLst/>
          </a:prstGeom>
          <a:noFill/>
          <a:ln/>
        </p:spPr>
        <p:txBody>
          <a:bodyPr wrap="square" lIns="0" tIns="0" rIns="0" bIns="0" rtlCol="0" anchor="ctr"/>
          <a:lstStyle/>
          <a:p>
            <a:pPr indent="0" marL="0">
              <a:buNone/>
            </a:pPr>
            <a:r>
              <a:rPr lang="en-US" sz="1000" b="1" dirty="0">
                <a:solidFill>
                  <a:srgbClr val="9A8E8B"/>
                </a:solidFill>
                <a:latin typeface="Calibri" pitchFamily="34" charset="0"/>
                <a:ea typeface="Calibri" pitchFamily="34" charset="-122"/>
                <a:cs typeface="Calibri" pitchFamily="34" charset="-120"/>
              </a:rPr>
              <a:t>Scenarios 15–18: SMALL TEST SETS</a:t>
            </a:r>
            <a:endParaRPr lang="en-US" sz="1000" dirty="0"/>
          </a:p>
        </p:txBody>
      </p:sp>
      <p:sp>
        <p:nvSpPr>
          <p:cNvPr id="20" name="Text 17"/>
          <p:cNvSpPr/>
          <p:nvPr/>
        </p:nvSpPr>
        <p:spPr>
          <a:xfrm>
            <a:off x="6062472" y="2999232"/>
            <a:ext cx="2560320" cy="292608"/>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1–4 test years only</a:t>
            </a:r>
            <a:endParaRPr lang="en-US" sz="950" dirty="0"/>
          </a:p>
          <a:p>
            <a:pPr indent="0" marL="0">
              <a:buNone/>
            </a:pPr>
            <a:r>
              <a:rPr lang="en-US" sz="950" dirty="0">
                <a:solidFill>
                  <a:srgbClr val="1C1214"/>
                </a:solidFill>
                <a:latin typeface="Calibri" pitchFamily="34" charset="0"/>
                <a:ea typeface="Calibri" pitchFamily="34" charset="-122"/>
                <a:cs typeface="Calibri" pitchFamily="34" charset="-120"/>
              </a:rPr>
              <a:t>Results unreliable</a:t>
            </a:r>
            <a:endParaRPr lang="en-US" sz="950" dirty="0"/>
          </a:p>
        </p:txBody>
      </p:sp>
      <p:sp>
        <p:nvSpPr>
          <p:cNvPr id="21" name="Shape 18"/>
          <p:cNvSpPr/>
          <p:nvPr/>
        </p:nvSpPr>
        <p:spPr>
          <a:xfrm>
            <a:off x="5897880" y="3456432"/>
            <a:ext cx="2834640" cy="841248"/>
          </a:xfrm>
          <a:prstGeom prst="rect">
            <a:avLst/>
          </a:prstGeom>
          <a:solidFill>
            <a:srgbClr val="F9ECEC"/>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22" name="Shape 19"/>
          <p:cNvSpPr/>
          <p:nvPr/>
        </p:nvSpPr>
        <p:spPr>
          <a:xfrm>
            <a:off x="5897880" y="3456432"/>
            <a:ext cx="54864" cy="841248"/>
          </a:xfrm>
          <a:prstGeom prst="rect">
            <a:avLst/>
          </a:prstGeom>
          <a:solidFill>
            <a:srgbClr val="B74A4A"/>
          </a:solidFill>
          <a:ln w="12700">
            <a:solidFill>
              <a:srgbClr val="B74A4A"/>
            </a:solidFill>
            <a:prstDash val="solid"/>
          </a:ln>
        </p:spPr>
      </p:sp>
      <p:sp>
        <p:nvSpPr>
          <p:cNvPr id="23" name="Text 20"/>
          <p:cNvSpPr/>
          <p:nvPr/>
        </p:nvSpPr>
        <p:spPr>
          <a:xfrm>
            <a:off x="6062472" y="3493008"/>
            <a:ext cx="2560320" cy="256032"/>
          </a:xfrm>
          <a:prstGeom prst="rect">
            <a:avLst/>
          </a:prstGeom>
          <a:noFill/>
          <a:ln/>
        </p:spPr>
        <p:txBody>
          <a:bodyPr wrap="square" lIns="0" tIns="0" rIns="0" bIns="0" rtlCol="0" anchor="ctr"/>
          <a:lstStyle/>
          <a:p>
            <a:pPr indent="0" marL="0">
              <a:buNone/>
            </a:pPr>
            <a:r>
              <a:rPr lang="en-US" sz="1100" b="1" dirty="0">
                <a:solidFill>
                  <a:srgbClr val="B74A4A"/>
                </a:solidFill>
                <a:latin typeface="Calibri" pitchFamily="34" charset="0"/>
                <a:ea typeface="Calibri" pitchFamily="34" charset="-122"/>
                <a:cs typeface="Calibri" pitchFamily="34" charset="-120"/>
              </a:rPr>
              <a:t>Vinho Verde: 0/16 wins</a:t>
            </a:r>
            <a:endParaRPr lang="en-US" sz="1100" dirty="0"/>
          </a:p>
        </p:txBody>
      </p:sp>
      <p:sp>
        <p:nvSpPr>
          <p:cNvPr id="24" name="Text 21"/>
          <p:cNvSpPr/>
          <p:nvPr/>
        </p:nvSpPr>
        <p:spPr>
          <a:xfrm>
            <a:off x="6062472" y="3749040"/>
            <a:ext cx="2560320" cy="493776"/>
          </a:xfrm>
          <a:prstGeom prst="rect">
            <a:avLst/>
          </a:prstGeom>
          <a:noFill/>
          <a:ln/>
        </p:spPr>
        <p:txBody>
          <a:bodyPr wrap="square" lIns="0" tIns="0" rIns="0" bIns="0" rtlCol="0" anchor="ctr"/>
          <a:lstStyle/>
          <a:p>
            <a:pPr indent="0" marL="0">
              <a:buNone/>
            </a:pPr>
            <a:r>
              <a:rPr lang="en-US" sz="950" dirty="0">
                <a:solidFill>
                  <a:srgbClr val="1C1214"/>
                </a:solidFill>
                <a:latin typeface="Calibri" pitchFamily="34" charset="0"/>
                <a:ea typeface="Calibri" pitchFamily="34" charset="-122"/>
                <a:cs typeface="Calibri" pitchFamily="34" charset="-120"/>
              </a:rPr>
              <a:t>Adding modern-era data makes</a:t>
            </a:r>
            <a:endParaRPr lang="en-US" sz="950" dirty="0"/>
          </a:p>
          <a:p>
            <a:pPr indent="0" marL="0">
              <a:buNone/>
            </a:pPr>
            <a:r>
              <a:rPr lang="en-US" sz="950" dirty="0">
                <a:solidFill>
                  <a:srgbClr val="1C1214"/>
                </a:solidFill>
                <a:latin typeface="Calibri" pitchFamily="34" charset="0"/>
                <a:ea typeface="Calibri" pitchFamily="34" charset="-122"/>
                <a:cs typeface="Calibri" pitchFamily="34" charset="-120"/>
              </a:rPr>
              <a:t>performance worse, not better</a:t>
            </a:r>
            <a:endParaRPr lang="en-US" sz="950" dirty="0"/>
          </a:p>
        </p:txBody>
      </p:sp>
      <p:sp>
        <p:nvSpPr>
          <p:cNvPr id="25" name="Text 22"/>
          <p:cNvSpPr/>
          <p:nvPr/>
        </p:nvSpPr>
        <p:spPr>
          <a:xfrm>
            <a:off x="411480" y="4846320"/>
            <a:ext cx="8321040" cy="228600"/>
          </a:xfrm>
          <a:prstGeom prst="rect">
            <a:avLst/>
          </a:prstGeom>
          <a:noFill/>
          <a:ln/>
        </p:spPr>
        <p:txBody>
          <a:bodyPr wrap="square" lIns="0" tIns="0" rIns="0" bIns="0" rtlCol="0" anchor="ctr"/>
          <a:lstStyle/>
          <a:p>
            <a:pPr indent="0" marL="0">
              <a:buNone/>
            </a:pPr>
            <a:r>
              <a:rPr lang="en-US" sz="900" i="1" dirty="0">
                <a:solidFill>
                  <a:srgbClr val="9A8E8B"/>
                </a:solidFill>
                <a:latin typeface="Calibri" pitchFamily="34" charset="0"/>
                <a:ea typeface="Calibri" pitchFamily="34" charset="-122"/>
                <a:cs typeface="Calibri" pitchFamily="34" charset="-120"/>
              </a:rPr>
              <a:t>Note: p=0.031 is a post-hoc exploratory finding — 5 scenarios identified after observing the pattern. Requires prospective validation.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8F2EA"/>
        </a:solidFill>
      </p:bgPr>
    </p:bg>
    <p:spTree>
      <p:nvGrpSpPr>
        <p:cNvPr id="1" name=""/>
        <p:cNvGrpSpPr/>
        <p:nvPr/>
      </p:nvGrpSpPr>
      <p:grpSpPr>
        <a:xfrm>
          <a:off x="0" y="0"/>
          <a:ext cx="0" cy="0"/>
          <a:chOff x="0" y="0"/>
          <a:chExt cx="0" cy="0"/>
        </a:xfrm>
      </p:grpSpPr>
      <p:sp>
        <p:nvSpPr>
          <p:cNvPr id="2" name="Shape 0"/>
          <p:cNvSpPr/>
          <p:nvPr/>
        </p:nvSpPr>
        <p:spPr>
          <a:xfrm>
            <a:off x="0" y="0"/>
            <a:ext cx="9144000" cy="59436"/>
          </a:xfrm>
          <a:prstGeom prst="rect">
            <a:avLst/>
          </a:prstGeom>
          <a:solidFill>
            <a:srgbClr val="C4964A"/>
          </a:solidFill>
          <a:ln w="12700">
            <a:solidFill>
              <a:srgbClr val="C4964A"/>
            </a:solidFill>
            <a:prstDash val="solid"/>
          </a:ln>
        </p:spPr>
      </p:sp>
      <p:sp>
        <p:nvSpPr>
          <p:cNvPr id="3" name="Text 1"/>
          <p:cNvSpPr/>
          <p:nvPr/>
        </p:nvSpPr>
        <p:spPr>
          <a:xfrm>
            <a:off x="411480" y="109728"/>
            <a:ext cx="8321040" cy="530352"/>
          </a:xfrm>
          <a:prstGeom prst="rect">
            <a:avLst/>
          </a:prstGeom>
          <a:noFill/>
          <a:ln/>
        </p:spPr>
        <p:txBody>
          <a:bodyPr wrap="square" lIns="0" tIns="0" rIns="0" bIns="0" rtlCol="0" anchor="ctr"/>
          <a:lstStyle/>
          <a:p>
            <a:pPr algn="l" indent="0" marL="0">
              <a:buNone/>
            </a:pPr>
            <a:r>
              <a:rPr lang="en-US" sz="2600" b="1" dirty="0">
                <a:solidFill>
                  <a:srgbClr val="6B2737"/>
                </a:solidFill>
                <a:latin typeface="Georgia" pitchFamily="34" charset="0"/>
                <a:ea typeface="Georgia" pitchFamily="34" charset="-122"/>
                <a:cs typeface="Georgia" pitchFamily="34" charset="-120"/>
              </a:rPr>
              <a:t>Why the Two Regions Diverge</a:t>
            </a:r>
            <a:endParaRPr lang="en-US" sz="2600" dirty="0"/>
          </a:p>
        </p:txBody>
      </p:sp>
      <p:sp>
        <p:nvSpPr>
          <p:cNvPr id="4" name="Text 2"/>
          <p:cNvSpPr/>
          <p:nvPr/>
        </p:nvSpPr>
        <p:spPr>
          <a:xfrm>
            <a:off x="411480" y="621792"/>
            <a:ext cx="8321040" cy="256032"/>
          </a:xfrm>
          <a:prstGeom prst="rect">
            <a:avLst/>
          </a:prstGeom>
          <a:noFill/>
          <a:ln/>
        </p:spPr>
        <p:txBody>
          <a:bodyPr wrap="square" lIns="0" tIns="0" rIns="0" bIns="0" rtlCol="0" anchor="ctr"/>
          <a:lstStyle/>
          <a:p>
            <a:pPr algn="l" indent="0" marL="0">
              <a:buNone/>
            </a:pPr>
            <a:r>
              <a:rPr lang="en-US" sz="1200" i="1" dirty="0">
                <a:solidFill>
                  <a:srgbClr val="5A4042"/>
                </a:solidFill>
                <a:latin typeface="Calibri" pitchFamily="34" charset="0"/>
                <a:ea typeface="Calibri" pitchFamily="34" charset="-122"/>
                <a:cs typeface="Calibri" pitchFamily="34" charset="-120"/>
              </a:rPr>
              <a:t>A designed comparative experiment, not an inconvenient inconsistency</a:t>
            </a:r>
            <a:endParaRPr lang="en-US" sz="1200" dirty="0"/>
          </a:p>
        </p:txBody>
      </p:sp>
      <p:sp>
        <p:nvSpPr>
          <p:cNvPr id="5" name="Shape 3"/>
          <p:cNvSpPr/>
          <p:nvPr/>
        </p:nvSpPr>
        <p:spPr>
          <a:xfrm>
            <a:off x="411480" y="877824"/>
            <a:ext cx="8321040" cy="0"/>
          </a:xfrm>
          <a:prstGeom prst="line">
            <a:avLst/>
          </a:prstGeom>
          <a:noFill/>
          <a:ln w="12700">
            <a:solidFill>
              <a:srgbClr val="D4CACA"/>
            </a:solidFill>
            <a:prstDash val="solid"/>
          </a:ln>
        </p:spPr>
      </p:sp>
      <p:sp>
        <p:nvSpPr>
          <p:cNvPr id="6" name="Text 4"/>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10 / 12</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987552"/>
          <a:ext cx="8321040" cy="914400"/>
        </p:xfrm>
        <a:graphic>
          <a:graphicData uri="http://schemas.openxmlformats.org/drawingml/2006/table">
            <a:tbl>
              <a:tblPr/>
              <a:tblGrid>
                <a:gridCol w="1737360"/>
                <a:gridCol w="1920240"/>
                <a:gridCol w="2103120"/>
                <a:gridCol w="2560320"/>
              </a:tblGrid>
              <a:tr h="566928">
                <a:tc>
                  <a:txBody>
                    <a:bodyPr/>
                    <a:lstStyle/>
                    <a:p>
                      <a:pPr algn="l" indent="0" marL="0">
                        <a:buNone/>
                      </a:pPr>
                      <a:r>
                        <a:rPr lang="en-US" sz="1000" b="1" dirty="0">
                          <a:solidFill>
                            <a:srgbClr val="FFFFFF"/>
                          </a:solidFill>
                        </a:rPr>
                        <a:t>Dimension</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algn="l" indent="0" marL="0">
                        <a:buNone/>
                      </a:pPr>
                      <a:r>
                        <a:rPr lang="en-US" sz="1000" b="1" dirty="0">
                          <a:solidFill>
                            <a:srgbClr val="FFFFFF"/>
                          </a:solidFill>
                        </a:rPr>
                        <a:t>Douro (RDD)</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algn="l" indent="0" marL="0">
                        <a:buNone/>
                      </a:pPr>
                      <a:r>
                        <a:rPr lang="en-US" sz="1000" b="1" dirty="0">
                          <a:solidFill>
                            <a:srgbClr val="FFFFFF"/>
                          </a:solidFill>
                        </a:rPr>
                        <a:t>Vinho Verde (RVV)</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algn="l" indent="0" marL="0">
                        <a:buNone/>
                      </a:pPr>
                      <a:r>
                        <a:rPr lang="en-US" sz="1000" b="1" dirty="0">
                          <a:solidFill>
                            <a:srgbClr val="FFFFFF"/>
                          </a:solidFill>
                        </a:rPr>
                        <a:t>Implication</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r>
              <a:tr h="566928">
                <a:tc>
                  <a:txBody>
                    <a:bodyPr/>
                    <a:lstStyle/>
                    <a:p>
                      <a:pPr algn="l" indent="0" marL="0">
                        <a:buNone/>
                      </a:pPr>
                      <a:r>
                        <a:rPr lang="en-US" sz="1000" b="1" dirty="0">
                          <a:solidFill>
                            <a:srgbClr val="1C1214"/>
                          </a:solidFill>
                        </a:rPr>
                        <a:t>Production trend</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214"/>
                          </a:solidFill>
                        </a:rPr>
                        <a:t>+80%  (gradual)</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214"/>
                          </a:solidFill>
                        </a:rPr>
                        <a:t>−65%  (structural break)</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A4042"/>
                          </a:solidFill>
                        </a:rPr>
                        <a:t>RVV confound is stronger</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r>
              <a:tr h="566928">
                <a:tc>
                  <a:txBody>
                    <a:bodyPr/>
                    <a:lstStyle/>
                    <a:p>
                      <a:pPr algn="l" indent="0" marL="0">
                        <a:buNone/>
                      </a:pPr>
                      <a:r>
                        <a:rPr lang="en-US" sz="1000" b="1" dirty="0">
                          <a:solidFill>
                            <a:srgbClr val="1C1214"/>
                          </a:solidFill>
                        </a:rPr>
                        <a:t>Era confound</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l" indent="0" marL="0">
                        <a:buNone/>
                      </a:pPr>
                      <a:r>
                        <a:rPr lang="en-US" sz="1000" dirty="0">
                          <a:solidFill>
                            <a:srgbClr val="1C1214"/>
                          </a:solidFill>
                        </a:rPr>
                        <a:t>Moderate</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l" indent="0" marL="0">
                        <a:buNone/>
                      </a:pPr>
                      <a:r>
                        <a:rPr lang="en-US" sz="1000" dirty="0">
                          <a:solidFill>
                            <a:srgbClr val="1C1214"/>
                          </a:solidFill>
                        </a:rPr>
                        <a:t>Severe (EU policy 1986)</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l" indent="0" marL="0">
                        <a:buNone/>
                      </a:pPr>
                      <a:r>
                        <a:rPr lang="en-US" sz="1000" dirty="0">
                          <a:solidFill>
                            <a:srgbClr val="5A4042"/>
                          </a:solidFill>
                        </a:rPr>
                        <a:t>Rules more era-contaminated</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r>
              <a:tr h="566928">
                <a:tc>
                  <a:txBody>
                    <a:bodyPr/>
                    <a:lstStyle/>
                    <a:p>
                      <a:pPr algn="l" indent="0" marL="0">
                        <a:buNone/>
                      </a:pPr>
                      <a:r>
                        <a:rPr lang="en-US" sz="1000" b="1" dirty="0">
                          <a:solidFill>
                            <a:srgbClr val="1C1214"/>
                          </a:solidFill>
                        </a:rPr>
                        <a:t>Climate signal</a:t>
                      </a:r>
                      <a:endParaRPr lang="en-US" sz="1000" dirty="0"/>
                    </a:p>
                    <a:p>
                      <a:pPr algn="l" indent="0" marL="0">
                        <a:buNone/>
                      </a:pPr>
                      <a:r>
                        <a:rPr lang="en-US" sz="1000" b="1" dirty="0">
                          <a:solidFill>
                            <a:srgbClr val="1C1214"/>
                          </a:solidFill>
                        </a:rPr>
                        <a:t>after LOESS</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214"/>
                          </a:solidFill>
                        </a:rPr>
                        <a:t>Retained (90–125%)</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214"/>
                          </a:solidFill>
                        </a:rPr>
                        <a:t>Collapsed (15–16%)</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A4042"/>
                          </a:solidFill>
                        </a:rPr>
                        <a:t>RVV signal is era-driven</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r>
              <a:tr h="566928">
                <a:tc>
                  <a:txBody>
                    <a:bodyPr/>
                    <a:lstStyle/>
                    <a:p>
                      <a:pPr algn="l" indent="0" marL="0">
                        <a:buNone/>
                      </a:pPr>
                      <a:r>
                        <a:rPr lang="en-US" sz="1000" b="1" dirty="0">
                          <a:solidFill>
                            <a:srgbClr val="1C1214"/>
                          </a:solidFill>
                        </a:rPr>
                        <a:t>Linear detrend</a:t>
                      </a:r>
                      <a:endParaRPr lang="en-US" sz="1000" dirty="0"/>
                    </a:p>
                    <a:p>
                      <a:pPr algn="l" indent="0" marL="0">
                        <a:buNone/>
                      </a:pPr>
                      <a:r>
                        <a:rPr lang="en-US" sz="1000" b="1" dirty="0">
                          <a:solidFill>
                            <a:srgbClr val="1C1214"/>
                          </a:solidFill>
                        </a:rPr>
                        <a:t>stationarity</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l" indent="0" marL="0">
                        <a:buNone/>
                      </a:pPr>
                      <a:r>
                        <a:rPr lang="en-US" sz="1000" dirty="0">
                          <a:solidFill>
                            <a:srgbClr val="1C1214"/>
                          </a:solidFill>
                        </a:rPr>
                        <a:t>Fully stationary ✓</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l" indent="0" marL="0">
                        <a:buNone/>
                      </a:pPr>
                      <a:r>
                        <a:rPr lang="en-US" sz="1000" dirty="0">
                          <a:solidFill>
                            <a:srgbClr val="1C1214"/>
                          </a:solidFill>
                        </a:rPr>
                        <a:t>Partial only (ADF fails)</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algn="l" indent="0" marL="0">
                        <a:buNone/>
                      </a:pPr>
                      <a:r>
                        <a:rPr lang="en-US" sz="1000" dirty="0">
                          <a:solidFill>
                            <a:srgbClr val="5A4042"/>
                          </a:solidFill>
                        </a:rPr>
                        <a:t>RVV residuals still contain</a:t>
                      </a:r>
                      <a:endParaRPr lang="en-US" sz="1000" dirty="0"/>
                    </a:p>
                    <a:p>
                      <a:pPr algn="l" indent="0" marL="0">
                        <a:buNone/>
                      </a:pPr>
                      <a:r>
                        <a:rPr lang="en-US" sz="1000" dirty="0">
                          <a:solidFill>
                            <a:srgbClr val="5A4042"/>
                          </a:solidFill>
                        </a:rPr>
                        <a:t>structural drift</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r>
              <a:tr h="566928">
                <a:tc>
                  <a:txBody>
                    <a:bodyPr/>
                    <a:lstStyle/>
                    <a:p>
                      <a:pPr algn="l" indent="0" marL="0">
                        <a:buNone/>
                      </a:pPr>
                      <a:r>
                        <a:rPr lang="en-US" sz="1000" b="1" dirty="0">
                          <a:solidFill>
                            <a:srgbClr val="1C1214"/>
                          </a:solidFill>
                        </a:rPr>
                        <a:t>CarenR performance</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A7A50"/>
                          </a:solidFill>
                        </a:rPr>
                        <a:t>3% gap  ·  5/18 wins</a:t>
                      </a:r>
                      <a:endParaRPr lang="en-US" sz="1000" dirty="0"/>
                    </a:p>
                    <a:p>
                      <a:pPr algn="l" indent="0" marL="0">
                        <a:buNone/>
                      </a:pPr>
                      <a:r>
                        <a:rPr lang="en-US" sz="1000" dirty="0">
                          <a:solidFill>
                            <a:srgbClr val="3A7A50"/>
                          </a:solidFill>
                        </a:rPr>
                        <a:t>(era-balanced window)</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B74A4A"/>
                          </a:solidFill>
                        </a:rPr>
                        <a:t>22% gap  ·  0/16 wins</a:t>
                      </a:r>
                      <a:endParaRPr lang="en-US" sz="1000" dirty="0"/>
                    </a:p>
                    <a:p>
                      <a:pPr algn="l" indent="0" marL="0">
                        <a:buNone/>
                      </a:pPr>
                      <a:r>
                        <a:rPr lang="en-US" sz="1000" dirty="0">
                          <a:solidFill>
                            <a:srgbClr val="B74A4A"/>
                          </a:solidFill>
                        </a:rPr>
                        <a:t>Rules harmful (p=0.004)</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A4042"/>
                          </a:solidFill>
                        </a:rPr>
                        <a:t>Structural noise eliminates</a:t>
                      </a:r>
                      <a:endParaRPr lang="en-US" sz="1000" dirty="0"/>
                    </a:p>
                    <a:p>
                      <a:pPr algn="l" indent="0" marL="0">
                        <a:buNone/>
                      </a:pPr>
                      <a:r>
                        <a:rPr lang="en-US" sz="1000" dirty="0">
                          <a:solidFill>
                            <a:srgbClr val="5A4042"/>
                          </a:solidFill>
                        </a:rPr>
                        <a:t>climate advantage in RVV</a:t>
                      </a:r>
                      <a:endParaRPr lang="en-US" sz="1000" dirty="0"/>
                    </a:p>
                  </a:txBody>
                  <a:tcPr marL="91440" marR="91440" marT="45720" marB="4572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r>
            </a:tbl>
          </a:graphicData>
        </a:graphic>
      </p:graphicFrame>
      <p:sp>
        <p:nvSpPr>
          <p:cNvPr id="8" name="Shape 5"/>
          <p:cNvSpPr/>
          <p:nvPr/>
        </p:nvSpPr>
        <p:spPr>
          <a:xfrm>
            <a:off x="411480" y="4718304"/>
            <a:ext cx="8321040" cy="347472"/>
          </a:xfrm>
          <a:prstGeom prst="rect">
            <a:avLst/>
          </a:prstGeom>
          <a:solidFill>
            <a:srgbClr val="F2EBE9"/>
          </a:solidFill>
          <a:ln w="6350">
            <a:solidFill>
              <a:srgbClr val="D4CACA"/>
            </a:solidFill>
            <a:prstDash val="solid"/>
          </a:ln>
          <a:effectLst>
            <a:outerShdw sx="100000" sy="100000" kx="0" ky="0" algn="bl" rotWithShape="0" blurRad="50800" dist="12700" dir="8100000">
              <a:srgbClr val="000000">
                <a:alpha val="8000"/>
              </a:srgbClr>
            </a:outerShdw>
          </a:effectLst>
        </p:spPr>
      </p:sp>
      <p:sp>
        <p:nvSpPr>
          <p:cNvPr id="9" name="Shape 6"/>
          <p:cNvSpPr/>
          <p:nvPr/>
        </p:nvSpPr>
        <p:spPr>
          <a:xfrm>
            <a:off x="411480" y="4718304"/>
            <a:ext cx="54864" cy="347472"/>
          </a:xfrm>
          <a:prstGeom prst="rect">
            <a:avLst/>
          </a:prstGeom>
          <a:solidFill>
            <a:srgbClr val="6B2737"/>
          </a:solidFill>
          <a:ln w="12700">
            <a:solidFill>
              <a:srgbClr val="6B2737"/>
            </a:solidFill>
            <a:prstDash val="solid"/>
          </a:ln>
        </p:spPr>
      </p:sp>
      <p:sp>
        <p:nvSpPr>
          <p:cNvPr id="10" name="Text 7"/>
          <p:cNvSpPr/>
          <p:nvPr/>
        </p:nvSpPr>
        <p:spPr>
          <a:xfrm>
            <a:off x="594360" y="4764024"/>
            <a:ext cx="7955280" cy="256032"/>
          </a:xfrm>
          <a:prstGeom prst="rect">
            <a:avLst/>
          </a:prstGeom>
          <a:noFill/>
          <a:ln/>
        </p:spPr>
        <p:txBody>
          <a:bodyPr wrap="square" lIns="0" tIns="0" rIns="0" bIns="0" rtlCol="0" anchor="ctr"/>
          <a:lstStyle/>
          <a:p>
            <a:pPr indent="0" marL="0">
              <a:buNone/>
            </a:pPr>
            <a:r>
              <a:rPr lang="en-US" sz="1100" b="1" dirty="0">
                <a:solidFill>
                  <a:srgbClr val="6B2737"/>
                </a:solidFill>
                <a:latin typeface="Calibri" pitchFamily="34" charset="0"/>
                <a:ea typeface="Calibri" pitchFamily="34" charset="-122"/>
                <a:cs typeface="Calibri" pitchFamily="34" charset="-120"/>
              </a:rPr>
              <a:t>The same algorithm produces qualitatively different outcomes depending entirely on the structural history of the production series.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6B2737"/>
        </a:solidFill>
      </p:bgPr>
    </p:bg>
    <p:spTree>
      <p:nvGrpSpPr>
        <p:cNvPr id="1" name=""/>
        <p:cNvGrpSpPr/>
        <p:nvPr/>
      </p:nvGrpSpPr>
      <p:grpSpPr>
        <a:xfrm>
          <a:off x="0" y="0"/>
          <a:ext cx="0" cy="0"/>
          <a:chOff x="0" y="0"/>
          <a:chExt cx="0" cy="0"/>
        </a:xfrm>
      </p:grpSpPr>
      <p:sp>
        <p:nvSpPr>
          <p:cNvPr id="2" name="Text 0"/>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11 / 12</a:t>
            </a:r>
            <a:endParaRPr lang="en-US" sz="900" dirty="0"/>
          </a:p>
        </p:txBody>
      </p:sp>
      <p:sp>
        <p:nvSpPr>
          <p:cNvPr id="3" name="Shape 1"/>
          <p:cNvSpPr/>
          <p:nvPr/>
        </p:nvSpPr>
        <p:spPr>
          <a:xfrm>
            <a:off x="0" y="0"/>
            <a:ext cx="9144000" cy="59436"/>
          </a:xfrm>
          <a:prstGeom prst="rect">
            <a:avLst/>
          </a:prstGeom>
          <a:solidFill>
            <a:srgbClr val="C4964A"/>
          </a:solidFill>
          <a:ln w="12700">
            <a:solidFill>
              <a:srgbClr val="C4964A"/>
            </a:solidFill>
            <a:prstDash val="solid"/>
          </a:ln>
        </p:spPr>
      </p:sp>
      <p:sp>
        <p:nvSpPr>
          <p:cNvPr id="4" name="Text 2"/>
          <p:cNvSpPr/>
          <p:nvPr/>
        </p:nvSpPr>
        <p:spPr>
          <a:xfrm>
            <a:off x="457200" y="109728"/>
            <a:ext cx="8229600" cy="512064"/>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Scientific Contributions</a:t>
            </a:r>
            <a:endParaRPr lang="en-US" sz="2800" dirty="0"/>
          </a:p>
        </p:txBody>
      </p:sp>
      <p:sp>
        <p:nvSpPr>
          <p:cNvPr id="5" name="Text 3"/>
          <p:cNvSpPr/>
          <p:nvPr/>
        </p:nvSpPr>
        <p:spPr>
          <a:xfrm>
            <a:off x="457200" y="640080"/>
            <a:ext cx="8229600" cy="256032"/>
          </a:xfrm>
          <a:prstGeom prst="rect">
            <a:avLst/>
          </a:prstGeom>
          <a:noFill/>
          <a:ln/>
        </p:spPr>
        <p:txBody>
          <a:bodyPr wrap="square" lIns="0" tIns="0" rIns="0" bIns="0" rtlCol="0" anchor="ctr"/>
          <a:lstStyle/>
          <a:p>
            <a:pPr indent="0" marL="0">
              <a:buNone/>
            </a:pPr>
            <a:r>
              <a:rPr lang="en-US" sz="1300" i="1" dirty="0">
                <a:solidFill>
                  <a:srgbClr val="C4964A"/>
                </a:solidFill>
                <a:latin typeface="Calibri" pitchFamily="34" charset="0"/>
                <a:ea typeface="Calibri" pitchFamily="34" charset="-122"/>
                <a:cs typeface="Calibri" pitchFamily="34" charset="-120"/>
              </a:rPr>
              <a:t>Five contributions to data science methodology and agroclimatic forecasting</a:t>
            </a:r>
            <a:endParaRPr lang="en-US" sz="1300" dirty="0"/>
          </a:p>
        </p:txBody>
      </p:sp>
      <p:sp>
        <p:nvSpPr>
          <p:cNvPr id="6" name="Shape 4"/>
          <p:cNvSpPr/>
          <p:nvPr/>
        </p:nvSpPr>
        <p:spPr>
          <a:xfrm>
            <a:off x="411480" y="1005840"/>
            <a:ext cx="4206240" cy="1115568"/>
          </a:xfrm>
          <a:prstGeom prst="rect">
            <a:avLst/>
          </a:prstGeom>
          <a:solidFill>
            <a:srgbClr val="1C1216"/>
          </a:solidFill>
          <a:ln w="6350">
            <a:solidFill>
              <a:srgbClr val="C4964A"/>
            </a:solidFill>
            <a:prstDash val="solid"/>
          </a:ln>
        </p:spPr>
      </p:sp>
      <p:sp>
        <p:nvSpPr>
          <p:cNvPr id="7" name="Shape 5"/>
          <p:cNvSpPr/>
          <p:nvPr/>
        </p:nvSpPr>
        <p:spPr>
          <a:xfrm>
            <a:off x="411480" y="1005840"/>
            <a:ext cx="438912" cy="1115568"/>
          </a:xfrm>
          <a:prstGeom prst="rect">
            <a:avLst/>
          </a:prstGeom>
          <a:solidFill>
            <a:srgbClr val="6B2737"/>
          </a:solidFill>
          <a:ln w="12700">
            <a:solidFill>
              <a:srgbClr val="6B2737"/>
            </a:solidFill>
            <a:prstDash val="solid"/>
          </a:ln>
        </p:spPr>
      </p:sp>
      <p:sp>
        <p:nvSpPr>
          <p:cNvPr id="8" name="Text 6"/>
          <p:cNvSpPr/>
          <p:nvPr/>
        </p:nvSpPr>
        <p:spPr>
          <a:xfrm>
            <a:off x="411480" y="1353312"/>
            <a:ext cx="438912" cy="420624"/>
          </a:xfrm>
          <a:prstGeom prst="rect">
            <a:avLst/>
          </a:prstGeom>
          <a:noFill/>
          <a:ln/>
        </p:spPr>
        <p:txBody>
          <a:bodyPr wrap="square" lIns="0" tIns="0" rIns="0" bIns="0" rtlCol="0" anchor="ctr"/>
          <a:lstStyle/>
          <a:p>
            <a:pPr algn="ctr" indent="0" marL="0">
              <a:buNone/>
            </a:pPr>
            <a:r>
              <a:rPr lang="en-US" sz="2200" b="1" dirty="0">
                <a:solidFill>
                  <a:srgbClr val="C4964A"/>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941832" y="1060704"/>
            <a:ext cx="3566160" cy="310896"/>
          </a:xfrm>
          <a:prstGeom prst="rect">
            <a:avLst/>
          </a:prstGeom>
          <a:noFill/>
          <a:ln/>
        </p:spPr>
        <p:txBody>
          <a:bodyPr wrap="square" lIns="0" tIns="0" rIns="0" bIns="0" rtlCol="0" anchor="ctr"/>
          <a:lstStyle/>
          <a:p>
            <a:pPr indent="0" marL="0">
              <a:buNone/>
            </a:pPr>
            <a:r>
              <a:rPr lang="en-US" sz="1100" b="1" dirty="0">
                <a:solidFill>
                  <a:srgbClr val="C4964A"/>
                </a:solidFill>
                <a:latin typeface="Calibri" pitchFamily="34" charset="0"/>
                <a:ea typeface="Calibri" pitchFamily="34" charset="-122"/>
                <a:cs typeface="Calibri" pitchFamily="34" charset="-120"/>
              </a:rPr>
              <a:t>Two-Decision Decomposition Framework</a:t>
            </a:r>
            <a:endParaRPr lang="en-US" sz="1100" dirty="0"/>
          </a:p>
        </p:txBody>
      </p:sp>
      <p:sp>
        <p:nvSpPr>
          <p:cNvPr id="10" name="Text 8"/>
          <p:cNvSpPr/>
          <p:nvPr/>
        </p:nvSpPr>
        <p:spPr>
          <a:xfrm>
            <a:off x="941832" y="1389888"/>
            <a:ext cx="3566160" cy="676656"/>
          </a:xfrm>
          <a:prstGeom prst="rect">
            <a:avLst/>
          </a:prstGeom>
          <a:noFill/>
          <a:ln/>
        </p:spPr>
        <p:txBody>
          <a:bodyPr wrap="square" lIns="0" tIns="0" rIns="0" bIns="0" rtlCol="0" anchor="ctr"/>
          <a:lstStyle/>
          <a:p>
            <a:pPr indent="0" marL="0">
              <a:buNone/>
            </a:pPr>
            <a:r>
              <a:rPr lang="en-US" sz="950" dirty="0">
                <a:solidFill>
                  <a:srgbClr val="D4CACA"/>
                </a:solidFill>
                <a:latin typeface="Calibri" pitchFamily="34" charset="0"/>
                <a:ea typeface="Calibri" pitchFamily="34" charset="-122"/>
                <a:cs typeface="Calibri" pitchFamily="34" charset="-120"/>
              </a:rPr>
              <a:t>Separates prediction error into trend quality (Decision 1) and climate signal extraction (Decision 2). Transferable diagnostic for any agroclimatic problem with structural non-stationarity.</a:t>
            </a:r>
            <a:endParaRPr lang="en-US" sz="950" dirty="0"/>
          </a:p>
        </p:txBody>
      </p:sp>
      <p:sp>
        <p:nvSpPr>
          <p:cNvPr id="11" name="Shape 9"/>
          <p:cNvSpPr/>
          <p:nvPr/>
        </p:nvSpPr>
        <p:spPr>
          <a:xfrm>
            <a:off x="411480" y="2240280"/>
            <a:ext cx="4206240" cy="1115568"/>
          </a:xfrm>
          <a:prstGeom prst="rect">
            <a:avLst/>
          </a:prstGeom>
          <a:solidFill>
            <a:srgbClr val="1C1216"/>
          </a:solidFill>
          <a:ln w="6350">
            <a:solidFill>
              <a:srgbClr val="C4964A"/>
            </a:solidFill>
            <a:prstDash val="solid"/>
          </a:ln>
        </p:spPr>
      </p:sp>
      <p:sp>
        <p:nvSpPr>
          <p:cNvPr id="12" name="Shape 10"/>
          <p:cNvSpPr/>
          <p:nvPr/>
        </p:nvSpPr>
        <p:spPr>
          <a:xfrm>
            <a:off x="411480" y="2240280"/>
            <a:ext cx="438912" cy="1115568"/>
          </a:xfrm>
          <a:prstGeom prst="rect">
            <a:avLst/>
          </a:prstGeom>
          <a:solidFill>
            <a:srgbClr val="6B2737"/>
          </a:solidFill>
          <a:ln w="12700">
            <a:solidFill>
              <a:srgbClr val="6B2737"/>
            </a:solidFill>
            <a:prstDash val="solid"/>
          </a:ln>
        </p:spPr>
      </p:sp>
      <p:sp>
        <p:nvSpPr>
          <p:cNvPr id="13" name="Text 11"/>
          <p:cNvSpPr/>
          <p:nvPr/>
        </p:nvSpPr>
        <p:spPr>
          <a:xfrm>
            <a:off x="411480" y="2587752"/>
            <a:ext cx="438912" cy="420624"/>
          </a:xfrm>
          <a:prstGeom prst="rect">
            <a:avLst/>
          </a:prstGeom>
          <a:noFill/>
          <a:ln/>
        </p:spPr>
        <p:txBody>
          <a:bodyPr wrap="square" lIns="0" tIns="0" rIns="0" bIns="0" rtlCol="0" anchor="ctr"/>
          <a:lstStyle/>
          <a:p>
            <a:pPr algn="ctr" indent="0" marL="0">
              <a:buNone/>
            </a:pPr>
            <a:r>
              <a:rPr lang="en-US" sz="2200" b="1" dirty="0">
                <a:solidFill>
                  <a:srgbClr val="C4964A"/>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941832" y="2295144"/>
            <a:ext cx="3566160" cy="310896"/>
          </a:xfrm>
          <a:prstGeom prst="rect">
            <a:avLst/>
          </a:prstGeom>
          <a:noFill/>
          <a:ln/>
        </p:spPr>
        <p:txBody>
          <a:bodyPr wrap="square" lIns="0" tIns="0" rIns="0" bIns="0" rtlCol="0" anchor="ctr"/>
          <a:lstStyle/>
          <a:p>
            <a:pPr indent="0" marL="0">
              <a:buNone/>
            </a:pPr>
            <a:r>
              <a:rPr lang="en-US" sz="1100" b="1" dirty="0">
                <a:solidFill>
                  <a:srgbClr val="C4964A"/>
                </a:solidFill>
                <a:latin typeface="Calibri" pitchFamily="34" charset="0"/>
                <a:ea typeface="Calibri" pitchFamily="34" charset="-122"/>
                <a:cs typeface="Calibri" pitchFamily="34" charset="-120"/>
              </a:rPr>
              <a:t>First Systematic Walk-Forward Evaluation</a:t>
            </a:r>
            <a:endParaRPr lang="en-US" sz="1100" dirty="0"/>
          </a:p>
        </p:txBody>
      </p:sp>
      <p:sp>
        <p:nvSpPr>
          <p:cNvPr id="15" name="Text 13"/>
          <p:cNvSpPr/>
          <p:nvPr/>
        </p:nvSpPr>
        <p:spPr>
          <a:xfrm>
            <a:off x="941832" y="2624328"/>
            <a:ext cx="3566160" cy="676656"/>
          </a:xfrm>
          <a:prstGeom prst="rect">
            <a:avLst/>
          </a:prstGeom>
          <a:noFill/>
          <a:ln/>
        </p:spPr>
        <p:txBody>
          <a:bodyPr wrap="square" lIns="0" tIns="0" rIns="0" bIns="0" rtlCol="0" anchor="ctr"/>
          <a:lstStyle/>
          <a:p>
            <a:pPr indent="0" marL="0">
              <a:buNone/>
            </a:pPr>
            <a:r>
              <a:rPr lang="en-US" sz="950" dirty="0">
                <a:solidFill>
                  <a:srgbClr val="D4CACA"/>
                </a:solidFill>
                <a:latin typeface="Calibri" pitchFamily="34" charset="0"/>
                <a:ea typeface="Calibri" pitchFamily="34" charset="-122"/>
                <a:cs typeface="Calibri" pitchFamily="34" charset="-120"/>
              </a:rPr>
              <a:t>17 models · 18/16 scenarios · all preprocessing inside each fold · confirmatory vs. exploratory findings explicitly classified.</a:t>
            </a:r>
            <a:endParaRPr lang="en-US" sz="950" dirty="0"/>
          </a:p>
        </p:txBody>
      </p:sp>
      <p:sp>
        <p:nvSpPr>
          <p:cNvPr id="16" name="Shape 14"/>
          <p:cNvSpPr/>
          <p:nvPr/>
        </p:nvSpPr>
        <p:spPr>
          <a:xfrm>
            <a:off x="411480" y="3474720"/>
            <a:ext cx="4206240" cy="1115568"/>
          </a:xfrm>
          <a:prstGeom prst="rect">
            <a:avLst/>
          </a:prstGeom>
          <a:solidFill>
            <a:srgbClr val="1C1216"/>
          </a:solidFill>
          <a:ln w="6350">
            <a:solidFill>
              <a:srgbClr val="C4964A"/>
            </a:solidFill>
            <a:prstDash val="solid"/>
          </a:ln>
        </p:spPr>
      </p:sp>
      <p:sp>
        <p:nvSpPr>
          <p:cNvPr id="17" name="Shape 15"/>
          <p:cNvSpPr/>
          <p:nvPr/>
        </p:nvSpPr>
        <p:spPr>
          <a:xfrm>
            <a:off x="411480" y="3474720"/>
            <a:ext cx="438912" cy="1115568"/>
          </a:xfrm>
          <a:prstGeom prst="rect">
            <a:avLst/>
          </a:prstGeom>
          <a:solidFill>
            <a:srgbClr val="6B2737"/>
          </a:solidFill>
          <a:ln w="12700">
            <a:solidFill>
              <a:srgbClr val="6B2737"/>
            </a:solidFill>
            <a:prstDash val="solid"/>
          </a:ln>
        </p:spPr>
      </p:sp>
      <p:sp>
        <p:nvSpPr>
          <p:cNvPr id="18" name="Text 16"/>
          <p:cNvSpPr/>
          <p:nvPr/>
        </p:nvSpPr>
        <p:spPr>
          <a:xfrm>
            <a:off x="411480" y="3822192"/>
            <a:ext cx="438912" cy="420624"/>
          </a:xfrm>
          <a:prstGeom prst="rect">
            <a:avLst/>
          </a:prstGeom>
          <a:noFill/>
          <a:ln/>
        </p:spPr>
        <p:txBody>
          <a:bodyPr wrap="square" lIns="0" tIns="0" rIns="0" bIns="0" rtlCol="0" anchor="ctr"/>
          <a:lstStyle/>
          <a:p>
            <a:pPr algn="ctr" indent="0" marL="0">
              <a:buNone/>
            </a:pPr>
            <a:r>
              <a:rPr lang="en-US" sz="2200" b="1" dirty="0">
                <a:solidFill>
                  <a:srgbClr val="C4964A"/>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941832" y="3529584"/>
            <a:ext cx="3566160" cy="310896"/>
          </a:xfrm>
          <a:prstGeom prst="rect">
            <a:avLst/>
          </a:prstGeom>
          <a:noFill/>
          <a:ln/>
        </p:spPr>
        <p:txBody>
          <a:bodyPr wrap="square" lIns="0" tIns="0" rIns="0" bIns="0" rtlCol="0" anchor="ctr"/>
          <a:lstStyle/>
          <a:p>
            <a:pPr indent="0" marL="0">
              <a:buNone/>
            </a:pPr>
            <a:r>
              <a:rPr lang="en-US" sz="1100" b="1" dirty="0">
                <a:solidFill>
                  <a:srgbClr val="C4964A"/>
                </a:solidFill>
                <a:latin typeface="Calibri" pitchFamily="34" charset="0"/>
                <a:ea typeface="Calibri" pitchFamily="34" charset="-122"/>
                <a:cs typeface="Calibri" pitchFamily="34" charset="-120"/>
              </a:rPr>
              <a:t>Structured 11-Variant Sensitivity Analysis</a:t>
            </a:r>
            <a:endParaRPr lang="en-US" sz="1100" dirty="0"/>
          </a:p>
        </p:txBody>
      </p:sp>
      <p:sp>
        <p:nvSpPr>
          <p:cNvPr id="20" name="Text 18"/>
          <p:cNvSpPr/>
          <p:nvPr/>
        </p:nvSpPr>
        <p:spPr>
          <a:xfrm>
            <a:off x="941832" y="3858768"/>
            <a:ext cx="3566160" cy="676656"/>
          </a:xfrm>
          <a:prstGeom prst="rect">
            <a:avLst/>
          </a:prstGeom>
          <a:noFill/>
          <a:ln/>
        </p:spPr>
        <p:txBody>
          <a:bodyPr wrap="square" lIns="0" tIns="0" rIns="0" bIns="0" rtlCol="0" anchor="ctr"/>
          <a:lstStyle/>
          <a:p>
            <a:pPr indent="0" marL="0">
              <a:buNone/>
            </a:pPr>
            <a:r>
              <a:rPr lang="en-US" sz="950" dirty="0">
                <a:solidFill>
                  <a:srgbClr val="D4CACA"/>
                </a:solidFill>
                <a:latin typeface="Calibri" pitchFamily="34" charset="0"/>
                <a:ea typeface="Calibri" pitchFamily="34" charset="-122"/>
                <a:cs typeface="Calibri" pitchFamily="34" charset="-120"/>
              </a:rPr>
              <a:t>Optimal feature selection is problem-specific: η² (ANOVA effect size) for Douro; conservative Sup_FS for Vinho Verde. Motivates structured evaluation rather than a priori configuration.</a:t>
            </a:r>
            <a:endParaRPr lang="en-US" sz="950" dirty="0"/>
          </a:p>
        </p:txBody>
      </p:sp>
      <p:sp>
        <p:nvSpPr>
          <p:cNvPr id="21" name="Shape 19"/>
          <p:cNvSpPr/>
          <p:nvPr/>
        </p:nvSpPr>
        <p:spPr>
          <a:xfrm>
            <a:off x="4828032" y="1005840"/>
            <a:ext cx="3904488" cy="1115568"/>
          </a:xfrm>
          <a:prstGeom prst="rect">
            <a:avLst/>
          </a:prstGeom>
          <a:solidFill>
            <a:srgbClr val="1C1216"/>
          </a:solidFill>
          <a:ln w="6350">
            <a:solidFill>
              <a:srgbClr val="C4964A"/>
            </a:solidFill>
            <a:prstDash val="solid"/>
          </a:ln>
        </p:spPr>
      </p:sp>
      <p:sp>
        <p:nvSpPr>
          <p:cNvPr id="22" name="Shape 20"/>
          <p:cNvSpPr/>
          <p:nvPr/>
        </p:nvSpPr>
        <p:spPr>
          <a:xfrm>
            <a:off x="4828032" y="1005840"/>
            <a:ext cx="438912" cy="1115568"/>
          </a:xfrm>
          <a:prstGeom prst="rect">
            <a:avLst/>
          </a:prstGeom>
          <a:solidFill>
            <a:srgbClr val="6B2737"/>
          </a:solidFill>
          <a:ln w="12700">
            <a:solidFill>
              <a:srgbClr val="6B2737"/>
            </a:solidFill>
            <a:prstDash val="solid"/>
          </a:ln>
        </p:spPr>
      </p:sp>
      <p:sp>
        <p:nvSpPr>
          <p:cNvPr id="23" name="Text 21"/>
          <p:cNvSpPr/>
          <p:nvPr/>
        </p:nvSpPr>
        <p:spPr>
          <a:xfrm>
            <a:off x="4828032" y="1353312"/>
            <a:ext cx="438912" cy="420624"/>
          </a:xfrm>
          <a:prstGeom prst="rect">
            <a:avLst/>
          </a:prstGeom>
          <a:noFill/>
          <a:ln/>
        </p:spPr>
        <p:txBody>
          <a:bodyPr wrap="square" lIns="0" tIns="0" rIns="0" bIns="0" rtlCol="0" anchor="ctr"/>
          <a:lstStyle/>
          <a:p>
            <a:pPr algn="ctr" indent="0" marL="0">
              <a:buNone/>
            </a:pPr>
            <a:r>
              <a:rPr lang="en-US" sz="2200" b="1" dirty="0">
                <a:solidFill>
                  <a:srgbClr val="C4964A"/>
                </a:solidFill>
                <a:latin typeface="Georgia" pitchFamily="34" charset="0"/>
                <a:ea typeface="Georgia" pitchFamily="34" charset="-122"/>
                <a:cs typeface="Georgia" pitchFamily="34" charset="-120"/>
              </a:rPr>
              <a:t>4</a:t>
            </a:r>
            <a:endParaRPr lang="en-US" sz="2200" dirty="0"/>
          </a:p>
        </p:txBody>
      </p:sp>
      <p:sp>
        <p:nvSpPr>
          <p:cNvPr id="24" name="Text 22"/>
          <p:cNvSpPr/>
          <p:nvPr/>
        </p:nvSpPr>
        <p:spPr>
          <a:xfrm>
            <a:off x="5358384" y="1060704"/>
            <a:ext cx="3264408" cy="310896"/>
          </a:xfrm>
          <a:prstGeom prst="rect">
            <a:avLst/>
          </a:prstGeom>
          <a:noFill/>
          <a:ln/>
        </p:spPr>
        <p:txBody>
          <a:bodyPr wrap="square" lIns="0" tIns="0" rIns="0" bIns="0" rtlCol="0" anchor="ctr"/>
          <a:lstStyle/>
          <a:p>
            <a:pPr indent="0" marL="0">
              <a:buNone/>
            </a:pPr>
            <a:r>
              <a:rPr lang="en-US" sz="1100" b="1" dirty="0">
                <a:solidFill>
                  <a:srgbClr val="C4964A"/>
                </a:solidFill>
                <a:latin typeface="Calibri" pitchFamily="34" charset="0"/>
                <a:ea typeface="Calibri" pitchFamily="34" charset="-122"/>
                <a:cs typeface="Calibri" pitchFamily="34" charset="-120"/>
              </a:rPr>
              <a:t>Era-Composition Analysis</a:t>
            </a:r>
            <a:endParaRPr lang="en-US" sz="1100" dirty="0"/>
          </a:p>
        </p:txBody>
      </p:sp>
      <p:sp>
        <p:nvSpPr>
          <p:cNvPr id="25" name="Text 23"/>
          <p:cNvSpPr/>
          <p:nvPr/>
        </p:nvSpPr>
        <p:spPr>
          <a:xfrm>
            <a:off x="5358384" y="1389888"/>
            <a:ext cx="3264408" cy="676656"/>
          </a:xfrm>
          <a:prstGeom prst="rect">
            <a:avLst/>
          </a:prstGeom>
          <a:noFill/>
          <a:ln/>
        </p:spPr>
        <p:txBody>
          <a:bodyPr wrap="square" lIns="0" tIns="0" rIns="0" bIns="0" rtlCol="0" anchor="ctr"/>
          <a:lstStyle/>
          <a:p>
            <a:pPr indent="0" marL="0">
              <a:buNone/>
            </a:pPr>
            <a:r>
              <a:rPr lang="en-US" sz="950" dirty="0">
                <a:solidFill>
                  <a:srgbClr val="D4CACA"/>
                </a:solidFill>
                <a:latin typeface="Calibri" pitchFamily="34" charset="0"/>
                <a:ea typeface="Calibri" pitchFamily="34" charset="-122"/>
                <a:cs typeface="Calibri" pitchFamily="34" charset="-120"/>
              </a:rPr>
              <a:t>Characterises not just whether rule-based prediction works, but under what data conditions — 29% modern-era threshold in RDD (post-hoc exploratory, p=0.031).</a:t>
            </a:r>
            <a:endParaRPr lang="en-US" sz="950" dirty="0"/>
          </a:p>
        </p:txBody>
      </p:sp>
      <p:sp>
        <p:nvSpPr>
          <p:cNvPr id="26" name="Shape 24"/>
          <p:cNvSpPr/>
          <p:nvPr/>
        </p:nvSpPr>
        <p:spPr>
          <a:xfrm>
            <a:off x="4828032" y="2240280"/>
            <a:ext cx="3904488" cy="1115568"/>
          </a:xfrm>
          <a:prstGeom prst="rect">
            <a:avLst/>
          </a:prstGeom>
          <a:solidFill>
            <a:srgbClr val="1C1216"/>
          </a:solidFill>
          <a:ln w="6350">
            <a:solidFill>
              <a:srgbClr val="C4964A"/>
            </a:solidFill>
            <a:prstDash val="solid"/>
          </a:ln>
        </p:spPr>
      </p:sp>
      <p:sp>
        <p:nvSpPr>
          <p:cNvPr id="27" name="Shape 25"/>
          <p:cNvSpPr/>
          <p:nvPr/>
        </p:nvSpPr>
        <p:spPr>
          <a:xfrm>
            <a:off x="4828032" y="2240280"/>
            <a:ext cx="438912" cy="1115568"/>
          </a:xfrm>
          <a:prstGeom prst="rect">
            <a:avLst/>
          </a:prstGeom>
          <a:solidFill>
            <a:srgbClr val="6B2737"/>
          </a:solidFill>
          <a:ln w="12700">
            <a:solidFill>
              <a:srgbClr val="6B2737"/>
            </a:solidFill>
            <a:prstDash val="solid"/>
          </a:ln>
        </p:spPr>
      </p:sp>
      <p:sp>
        <p:nvSpPr>
          <p:cNvPr id="28" name="Text 26"/>
          <p:cNvSpPr/>
          <p:nvPr/>
        </p:nvSpPr>
        <p:spPr>
          <a:xfrm>
            <a:off x="4828032" y="2587752"/>
            <a:ext cx="438912" cy="420624"/>
          </a:xfrm>
          <a:prstGeom prst="rect">
            <a:avLst/>
          </a:prstGeom>
          <a:noFill/>
          <a:ln/>
        </p:spPr>
        <p:txBody>
          <a:bodyPr wrap="square" lIns="0" tIns="0" rIns="0" bIns="0" rtlCol="0" anchor="ctr"/>
          <a:lstStyle/>
          <a:p>
            <a:pPr algn="ctr" indent="0" marL="0">
              <a:buNone/>
            </a:pPr>
            <a:r>
              <a:rPr lang="en-US" sz="2200" b="1" dirty="0">
                <a:solidFill>
                  <a:srgbClr val="C4964A"/>
                </a:solidFill>
                <a:latin typeface="Georgia" pitchFamily="34" charset="0"/>
                <a:ea typeface="Georgia" pitchFamily="34" charset="-122"/>
                <a:cs typeface="Georgia" pitchFamily="34" charset="-120"/>
              </a:rPr>
              <a:t>5</a:t>
            </a:r>
            <a:endParaRPr lang="en-US" sz="2200" dirty="0"/>
          </a:p>
        </p:txBody>
      </p:sp>
      <p:sp>
        <p:nvSpPr>
          <p:cNvPr id="29" name="Text 27"/>
          <p:cNvSpPr/>
          <p:nvPr/>
        </p:nvSpPr>
        <p:spPr>
          <a:xfrm>
            <a:off x="5358384" y="2295144"/>
            <a:ext cx="3264408" cy="310896"/>
          </a:xfrm>
          <a:prstGeom prst="rect">
            <a:avLst/>
          </a:prstGeom>
          <a:noFill/>
          <a:ln/>
        </p:spPr>
        <p:txBody>
          <a:bodyPr wrap="square" lIns="0" tIns="0" rIns="0" bIns="0" rtlCol="0" anchor="ctr"/>
          <a:lstStyle/>
          <a:p>
            <a:pPr indent="0" marL="0">
              <a:buNone/>
            </a:pPr>
            <a:r>
              <a:rPr lang="en-US" sz="1100" b="1" dirty="0">
                <a:solidFill>
                  <a:srgbClr val="C4964A"/>
                </a:solidFill>
                <a:latin typeface="Calibri" pitchFamily="34" charset="0"/>
                <a:ea typeface="Calibri" pitchFamily="34" charset="-122"/>
                <a:cs typeface="Calibri" pitchFamily="34" charset="-120"/>
              </a:rPr>
              <a:t>Cross-Algorithm Validation</a:t>
            </a:r>
            <a:endParaRPr lang="en-US" sz="1100" dirty="0"/>
          </a:p>
        </p:txBody>
      </p:sp>
      <p:sp>
        <p:nvSpPr>
          <p:cNvPr id="30" name="Text 28"/>
          <p:cNvSpPr/>
          <p:nvPr/>
        </p:nvSpPr>
        <p:spPr>
          <a:xfrm>
            <a:off x="5358384" y="2624328"/>
            <a:ext cx="3264408" cy="676656"/>
          </a:xfrm>
          <a:prstGeom prst="rect">
            <a:avLst/>
          </a:prstGeom>
          <a:noFill/>
          <a:ln/>
        </p:spPr>
        <p:txBody>
          <a:bodyPr wrap="square" lIns="0" tIns="0" rIns="0" bIns="0" rtlCol="0" anchor="ctr"/>
          <a:lstStyle/>
          <a:p>
            <a:pPr indent="0" marL="0">
              <a:buNone/>
            </a:pPr>
            <a:r>
              <a:rPr lang="en-US" sz="950" dirty="0">
                <a:solidFill>
                  <a:srgbClr val="D4CACA"/>
                </a:solidFill>
                <a:latin typeface="Calibri" pitchFamily="34" charset="0"/>
                <a:ea typeface="Calibri" pitchFamily="34" charset="-122"/>
                <a:cs typeface="Calibri" pitchFamily="34" charset="-120"/>
              </a:rPr>
              <a:t>RIPPER and M5Rules independently confirm CarenR's feature selections. Three-algorithm agreement provides strong evidence of genuine data structure.</a:t>
            </a:r>
            <a:endParaRPr lang="en-US" sz="950" dirty="0"/>
          </a:p>
        </p:txBody>
      </p:sp>
      <p:sp>
        <p:nvSpPr>
          <p:cNvPr id="31" name="Text 29"/>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6B2737"/>
        </a:solidFill>
      </p:bgPr>
    </p:bg>
    <p:spTree>
      <p:nvGrpSpPr>
        <p:cNvPr id="1" name=""/>
        <p:cNvGrpSpPr/>
        <p:nvPr/>
      </p:nvGrpSpPr>
      <p:grpSpPr>
        <a:xfrm>
          <a:off x="0" y="0"/>
          <a:ext cx="0" cy="0"/>
          <a:chOff x="0" y="0"/>
          <a:chExt cx="0" cy="0"/>
        </a:xfrm>
      </p:grpSpPr>
      <p:sp>
        <p:nvSpPr>
          <p:cNvPr id="2" name="Text 0"/>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C4964A"/>
                </a:solidFill>
                <a:latin typeface="Calibri" pitchFamily="34" charset="0"/>
                <a:ea typeface="Calibri" pitchFamily="34" charset="-122"/>
                <a:cs typeface="Calibri" pitchFamily="34" charset="-120"/>
              </a:rPr>
              <a:t>12 / 12</a:t>
            </a:r>
            <a:endParaRPr lang="en-US" sz="900" dirty="0"/>
          </a:p>
        </p:txBody>
      </p:sp>
      <p:sp>
        <p:nvSpPr>
          <p:cNvPr id="3" name="Shape 1"/>
          <p:cNvSpPr/>
          <p:nvPr/>
        </p:nvSpPr>
        <p:spPr>
          <a:xfrm>
            <a:off x="0" y="0"/>
            <a:ext cx="9144000" cy="59436"/>
          </a:xfrm>
          <a:prstGeom prst="rect">
            <a:avLst/>
          </a:prstGeom>
          <a:solidFill>
            <a:srgbClr val="C4964A"/>
          </a:solidFill>
          <a:ln w="12700">
            <a:solidFill>
              <a:srgbClr val="C4964A"/>
            </a:solidFill>
            <a:prstDash val="solid"/>
          </a:ln>
        </p:spPr>
      </p:sp>
      <p:sp>
        <p:nvSpPr>
          <p:cNvPr id="4" name="Text 2"/>
          <p:cNvSpPr/>
          <p:nvPr/>
        </p:nvSpPr>
        <p:spPr>
          <a:xfrm>
            <a:off x="457200" y="109728"/>
            <a:ext cx="8229600" cy="512064"/>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Limitations, Future Work &amp; Closing</a:t>
            </a:r>
            <a:endParaRPr lang="en-US" sz="2800" dirty="0"/>
          </a:p>
        </p:txBody>
      </p:sp>
      <p:sp>
        <p:nvSpPr>
          <p:cNvPr id="5" name="Shape 3"/>
          <p:cNvSpPr/>
          <p:nvPr/>
        </p:nvSpPr>
        <p:spPr>
          <a:xfrm>
            <a:off x="411480" y="768096"/>
            <a:ext cx="4160520" cy="1920240"/>
          </a:xfrm>
          <a:prstGeom prst="rect">
            <a:avLst/>
          </a:prstGeom>
          <a:solidFill>
            <a:srgbClr val="1C1216"/>
          </a:solidFill>
          <a:ln w="12700">
            <a:solidFill>
              <a:srgbClr val="B74A4A"/>
            </a:solidFill>
            <a:prstDash val="solid"/>
          </a:ln>
        </p:spPr>
      </p:sp>
      <p:sp>
        <p:nvSpPr>
          <p:cNvPr id="6" name="Text 4"/>
          <p:cNvSpPr/>
          <p:nvPr/>
        </p:nvSpPr>
        <p:spPr>
          <a:xfrm>
            <a:off x="548640" y="822960"/>
            <a:ext cx="3931920" cy="274320"/>
          </a:xfrm>
          <a:prstGeom prst="rect">
            <a:avLst/>
          </a:prstGeom>
          <a:noFill/>
          <a:ln/>
        </p:spPr>
        <p:txBody>
          <a:bodyPr wrap="square" lIns="0" tIns="0" rIns="0" bIns="0" rtlCol="0" anchor="ctr"/>
          <a:lstStyle/>
          <a:p>
            <a:pPr indent="0" marL="0">
              <a:buNone/>
            </a:pPr>
            <a:r>
              <a:rPr lang="en-US" sz="1300" b="1" dirty="0">
                <a:solidFill>
                  <a:srgbClr val="B74A4A"/>
                </a:solidFill>
                <a:latin typeface="Georgia" pitchFamily="34" charset="0"/>
                <a:ea typeface="Georgia" pitchFamily="34" charset="-122"/>
                <a:cs typeface="Georgia" pitchFamily="34" charset="-120"/>
              </a:rPr>
              <a:t>Limitations</a:t>
            </a:r>
            <a:endParaRPr lang="en-US" sz="1300" dirty="0"/>
          </a:p>
        </p:txBody>
      </p:sp>
      <p:sp>
        <p:nvSpPr>
          <p:cNvPr id="7" name="Text 5"/>
          <p:cNvSpPr/>
          <p:nvPr/>
        </p:nvSpPr>
        <p:spPr>
          <a:xfrm>
            <a:off x="548640" y="1133856"/>
            <a:ext cx="3931920" cy="1481328"/>
          </a:xfrm>
          <a:prstGeom prst="rect">
            <a:avLst/>
          </a:prstGeom>
          <a:noFill/>
          <a:ln/>
        </p:spPr>
        <p:txBody>
          <a:bodyPr wrap="square" lIns="0" tIns="0" rIns="0" bIns="0" rtlCol="0" anchor="ctr"/>
          <a:lstStyle/>
          <a:p>
            <a:pPr marL="342900" indent="-342900">
              <a:buSzPct val="100000"/>
              <a:buChar char="•"/>
            </a:pPr>
            <a:r>
              <a:rPr lang="en-US" sz="1000" dirty="0">
                <a:solidFill>
                  <a:srgbClr val="D4CACA"/>
                </a:solidFill>
                <a:latin typeface="Calibri" pitchFamily="34" charset="0"/>
                <a:ea typeface="Calibri" pitchFamily="34" charset="-122"/>
                <a:cs typeface="Calibri" pitchFamily="34" charset="-120"/>
              </a:rPr>
              <a:t>Detrending uses time as sole covariate — conflates climate with structural industry changes</a:t>
            </a:r>
            <a:endParaRPr lang="en-US" sz="1000" dirty="0"/>
          </a:p>
          <a:p>
            <a:pPr marL="342900" indent="-342900">
              <a:buSzPct val="100000"/>
              <a:buChar char="•"/>
            </a:pPr>
            <a:r>
              <a:rPr lang="en-US" sz="1000" dirty="0">
                <a:solidFill>
                  <a:srgbClr val="D4CACA"/>
                </a:solidFill>
                <a:latin typeface="Calibri" pitchFamily="34" charset="0"/>
                <a:ea typeface="Calibri" pitchFamily="34" charset="-122"/>
                <a:cs typeface="Calibri" pitchFamily="34" charset="-120"/>
              </a:rPr>
              <a:t>Small test set (18/16 scenarios); post-hoc finding (n=5) underpowered</a:t>
            </a:r>
            <a:endParaRPr lang="en-US" sz="1000" dirty="0"/>
          </a:p>
          <a:p>
            <a:pPr marL="342900" indent="-342900">
              <a:buSzPct val="100000"/>
              <a:buChar char="•"/>
            </a:pPr>
            <a:r>
              <a:rPr lang="en-US" sz="1000" dirty="0">
                <a:solidFill>
                  <a:srgbClr val="D4CACA"/>
                </a:solidFill>
                <a:latin typeface="Calibri" pitchFamily="34" charset="0"/>
                <a:ea typeface="Calibri" pitchFamily="34" charset="-122"/>
                <a:cs typeface="Calibri" pitchFamily="34" charset="-120"/>
              </a:rPr>
              <a:t>Regional annual aggregates — no sub-regional or spatial analysis</a:t>
            </a:r>
            <a:endParaRPr lang="en-US" sz="1000" dirty="0"/>
          </a:p>
        </p:txBody>
      </p:sp>
      <p:sp>
        <p:nvSpPr>
          <p:cNvPr id="8" name="Shape 6"/>
          <p:cNvSpPr/>
          <p:nvPr/>
        </p:nvSpPr>
        <p:spPr>
          <a:xfrm>
            <a:off x="4663440" y="768096"/>
            <a:ext cx="4069080" cy="1920240"/>
          </a:xfrm>
          <a:prstGeom prst="rect">
            <a:avLst/>
          </a:prstGeom>
          <a:solidFill>
            <a:srgbClr val="1C1216"/>
          </a:solidFill>
          <a:ln w="12700">
            <a:solidFill>
              <a:srgbClr val="3A7A50"/>
            </a:solidFill>
            <a:prstDash val="solid"/>
          </a:ln>
        </p:spPr>
      </p:sp>
      <p:sp>
        <p:nvSpPr>
          <p:cNvPr id="9" name="Text 7"/>
          <p:cNvSpPr/>
          <p:nvPr/>
        </p:nvSpPr>
        <p:spPr>
          <a:xfrm>
            <a:off x="4800600" y="822960"/>
            <a:ext cx="3840480" cy="274320"/>
          </a:xfrm>
          <a:prstGeom prst="rect">
            <a:avLst/>
          </a:prstGeom>
          <a:noFill/>
          <a:ln/>
        </p:spPr>
        <p:txBody>
          <a:bodyPr wrap="square" lIns="0" tIns="0" rIns="0" bIns="0" rtlCol="0" anchor="ctr"/>
          <a:lstStyle/>
          <a:p>
            <a:pPr indent="0" marL="0">
              <a:buNone/>
            </a:pPr>
            <a:r>
              <a:rPr lang="en-US" sz="1300" b="1" dirty="0">
                <a:solidFill>
                  <a:srgbClr val="3A7A50"/>
                </a:solidFill>
                <a:latin typeface="Georgia" pitchFamily="34" charset="0"/>
                <a:ea typeface="Georgia" pitchFamily="34" charset="-122"/>
                <a:cs typeface="Georgia" pitchFamily="34" charset="-120"/>
              </a:rPr>
              <a:t>Future Work</a:t>
            </a:r>
            <a:endParaRPr lang="en-US" sz="1300" dirty="0"/>
          </a:p>
        </p:txBody>
      </p:sp>
      <p:sp>
        <p:nvSpPr>
          <p:cNvPr id="10" name="Text 8"/>
          <p:cNvSpPr/>
          <p:nvPr/>
        </p:nvSpPr>
        <p:spPr>
          <a:xfrm>
            <a:off x="4800600" y="1133856"/>
            <a:ext cx="3840480" cy="1481328"/>
          </a:xfrm>
          <a:prstGeom prst="rect">
            <a:avLst/>
          </a:prstGeom>
          <a:noFill/>
          <a:ln/>
        </p:spPr>
        <p:txBody>
          <a:bodyPr wrap="square" lIns="0" tIns="0" rIns="0" bIns="0" rtlCol="0" anchor="ctr"/>
          <a:lstStyle/>
          <a:p>
            <a:pPr marL="342900" indent="-342900">
              <a:buSzPct val="100000"/>
              <a:buChar char="•"/>
            </a:pPr>
            <a:r>
              <a:rPr lang="en-US" sz="1000" dirty="0">
                <a:solidFill>
                  <a:srgbClr val="D4CACA"/>
                </a:solidFill>
                <a:latin typeface="Calibri" pitchFamily="34" charset="0"/>
                <a:ea typeface="Calibri" pitchFamily="34" charset="-122"/>
                <a:cs typeface="Calibri" pitchFamily="34" charset="-120"/>
              </a:rPr>
              <a:t>Structural detrending: add planted area, Port quota, no. of certified producers as explicit detrending covariates</a:t>
            </a:r>
            <a:endParaRPr lang="en-US" sz="1000" dirty="0"/>
          </a:p>
          <a:p>
            <a:pPr marL="342900" indent="-342900">
              <a:buSzPct val="100000"/>
              <a:buChar char="•"/>
            </a:pPr>
            <a:r>
              <a:rPr lang="en-US" sz="1000" dirty="0">
                <a:solidFill>
                  <a:srgbClr val="D4CACA"/>
                </a:solidFill>
                <a:latin typeface="Calibri" pitchFamily="34" charset="0"/>
                <a:ea typeface="Calibri" pitchFamily="34" charset="-122"/>
                <a:cs typeface="Calibri" pitchFamily="34" charset="-120"/>
              </a:rPr>
              <a:t>Pre-register &amp; prospectively validate the 29% era-balanced threshold (RDD)</a:t>
            </a:r>
            <a:endParaRPr lang="en-US" sz="1000" dirty="0"/>
          </a:p>
          <a:p>
            <a:pPr marL="342900" indent="-342900">
              <a:buSzPct val="100000"/>
              <a:buChar char="•"/>
            </a:pPr>
            <a:r>
              <a:rPr lang="en-US" sz="1000" dirty="0">
                <a:solidFill>
                  <a:srgbClr val="D4CACA"/>
                </a:solidFill>
                <a:latin typeface="Calibri" pitchFamily="34" charset="0"/>
                <a:ea typeface="Calibri" pitchFamily="34" charset="-122"/>
                <a:cs typeface="Calibri" pitchFamily="34" charset="-120"/>
              </a:rPr>
              <a:t>Exceptional Model Mining (EMM): detect subgroups where the climate–production regression relationship is exceptional</a:t>
            </a:r>
            <a:endParaRPr lang="en-US" sz="1000" dirty="0"/>
          </a:p>
        </p:txBody>
      </p:sp>
      <p:sp>
        <p:nvSpPr>
          <p:cNvPr id="11" name="Shape 9"/>
          <p:cNvSpPr/>
          <p:nvPr/>
        </p:nvSpPr>
        <p:spPr>
          <a:xfrm>
            <a:off x="411480" y="2834640"/>
            <a:ext cx="8321040" cy="1481328"/>
          </a:xfrm>
          <a:prstGeom prst="rect">
            <a:avLst/>
          </a:prstGeom>
          <a:solidFill>
            <a:srgbClr val="6B2737"/>
          </a:solidFill>
          <a:ln w="12700">
            <a:solidFill>
              <a:srgbClr val="C4964A"/>
            </a:solidFill>
            <a:prstDash val="solid"/>
          </a:ln>
        </p:spPr>
      </p:sp>
      <p:sp>
        <p:nvSpPr>
          <p:cNvPr id="12" name="Text 10"/>
          <p:cNvSpPr/>
          <p:nvPr/>
        </p:nvSpPr>
        <p:spPr>
          <a:xfrm>
            <a:off x="594360" y="2907792"/>
            <a:ext cx="7955280" cy="347472"/>
          </a:xfrm>
          <a:prstGeom prst="rect">
            <a:avLst/>
          </a:prstGeom>
          <a:noFill/>
          <a:ln/>
        </p:spPr>
        <p:txBody>
          <a:bodyPr wrap="square" lIns="0" tIns="0" rIns="0" bIns="0" rtlCol="0" anchor="ctr"/>
          <a:lstStyle/>
          <a:p>
            <a:pPr algn="ctr" indent="0" marL="0">
              <a:buNone/>
            </a:pPr>
            <a:r>
              <a:rPr lang="en-US" sz="1400" dirty="0">
                <a:solidFill>
                  <a:srgbClr val="FFFFFF"/>
                </a:solidFill>
                <a:latin typeface="Georgia" pitchFamily="34" charset="0"/>
                <a:ea typeface="Georgia" pitchFamily="34" charset="-122"/>
                <a:cs typeface="Georgia" pitchFamily="34" charset="-120"/>
              </a:rPr>
              <a:t>Rule-based machine learning cannot yet forecast Portuguese wine production reliably.</a:t>
            </a:r>
            <a:endParaRPr lang="en-US" sz="1400" dirty="0"/>
          </a:p>
        </p:txBody>
      </p:sp>
      <p:sp>
        <p:nvSpPr>
          <p:cNvPr id="13" name="Text 11"/>
          <p:cNvSpPr/>
          <p:nvPr/>
        </p:nvSpPr>
        <p:spPr>
          <a:xfrm>
            <a:off x="594360" y="3255264"/>
            <a:ext cx="7955280" cy="320040"/>
          </a:xfrm>
          <a:prstGeom prst="rect">
            <a:avLst/>
          </a:prstGeom>
          <a:noFill/>
          <a:ln/>
        </p:spPr>
        <p:txBody>
          <a:bodyPr wrap="square" lIns="0" tIns="0" rIns="0" bIns="0" rtlCol="0" anchor="ctr"/>
          <a:lstStyle/>
          <a:p>
            <a:pPr algn="ctr" indent="0" marL="0">
              <a:buNone/>
            </a:pPr>
            <a:r>
              <a:rPr lang="en-US" sz="1400" b="1" dirty="0">
                <a:solidFill>
                  <a:srgbClr val="C4964A"/>
                </a:solidFill>
                <a:latin typeface="Georgia" pitchFamily="34" charset="0"/>
                <a:ea typeface="Georgia" pitchFamily="34" charset="-122"/>
                <a:cs typeface="Georgia" pitchFamily="34" charset="-120"/>
              </a:rPr>
              <a:t>But it can explain it —</a:t>
            </a:r>
            <a:endParaRPr lang="en-US" sz="1400" dirty="0"/>
          </a:p>
        </p:txBody>
      </p:sp>
      <p:sp>
        <p:nvSpPr>
          <p:cNvPr id="14" name="Text 12"/>
          <p:cNvSpPr/>
          <p:nvPr/>
        </p:nvSpPr>
        <p:spPr>
          <a:xfrm>
            <a:off x="594360" y="3566160"/>
            <a:ext cx="7955280" cy="347472"/>
          </a:xfrm>
          <a:prstGeom prst="rect">
            <a:avLst/>
          </a:prstGeom>
          <a:noFill/>
          <a:ln/>
        </p:spPr>
        <p:txBody>
          <a:bodyPr wrap="square" lIns="0" tIns="0" rIns="0" bIns="0" rtlCol="0" anchor="ctr"/>
          <a:lstStyle/>
          <a:p>
            <a:pPr algn="ctr" indent="0" marL="0">
              <a:buNone/>
            </a:pPr>
            <a:r>
              <a:rPr lang="en-US" sz="1300" i="1" dirty="0">
                <a:solidFill>
                  <a:srgbClr val="D4CACA"/>
                </a:solidFill>
                <a:latin typeface="Calibri" pitchFamily="34" charset="0"/>
                <a:ea typeface="Calibri" pitchFamily="34" charset="-122"/>
                <a:cs typeface="Calibri" pitchFamily="34" charset="-120"/>
              </a:rPr>
              <a:t>with validated, auditable, agronomically meaningful rules that three independent algorithms agree on.</a:t>
            </a:r>
            <a:endParaRPr lang="en-US" sz="1300" dirty="0"/>
          </a:p>
        </p:txBody>
      </p:sp>
      <p:sp>
        <p:nvSpPr>
          <p:cNvPr id="15" name="Text 13"/>
          <p:cNvSpPr/>
          <p:nvPr/>
        </p:nvSpPr>
        <p:spPr>
          <a:xfrm>
            <a:off x="594360" y="3931920"/>
            <a:ext cx="7955280" cy="320040"/>
          </a:xfrm>
          <a:prstGeom prst="rect">
            <a:avLst/>
          </a:prstGeom>
          <a:noFill/>
          <a:ln/>
        </p:spPr>
        <p:txBody>
          <a:bodyPr wrap="square" lIns="0" tIns="0" rIns="0" bIns="0" rtlCol="0" anchor="ctr"/>
          <a:lstStyle/>
          <a:p>
            <a:pPr algn="ctr" indent="0" marL="0">
              <a:buNone/>
            </a:pPr>
            <a:r>
              <a:rPr lang="en-US" sz="1200" i="1" dirty="0">
                <a:solidFill>
                  <a:srgbClr val="C4964A"/>
                </a:solidFill>
                <a:latin typeface="Calibri" pitchFamily="34" charset="0"/>
                <a:ea typeface="Calibri" pitchFamily="34" charset="-122"/>
                <a:cs typeface="Calibri" pitchFamily="34" charset="-120"/>
              </a:rPr>
              <a:t>Understanding why forecasting fails has proven as scientifically valuable as forecasting itself would have been.</a:t>
            </a:r>
            <a:endParaRPr lang="en-US" sz="1200" dirty="0"/>
          </a:p>
        </p:txBody>
      </p:sp>
      <p:sp>
        <p:nvSpPr>
          <p:cNvPr id="16" name="Text 14"/>
          <p:cNvSpPr/>
          <p:nvPr/>
        </p:nvSpPr>
        <p:spPr>
          <a:xfrm>
            <a:off x="457200" y="4443984"/>
            <a:ext cx="8229600" cy="228600"/>
          </a:xfrm>
          <a:prstGeom prst="rect">
            <a:avLst/>
          </a:prstGeom>
          <a:noFill/>
          <a:ln/>
        </p:spPr>
        <p:txBody>
          <a:bodyPr wrap="square" lIns="0" tIns="0" rIns="0" bIns="0" rtlCol="0" anchor="ctr"/>
          <a:lstStyle/>
          <a:p>
            <a:pPr algn="ctr" indent="0" marL="0">
              <a:buNone/>
            </a:pPr>
            <a:r>
              <a:rPr lang="en-US" sz="900" dirty="0">
                <a:solidFill>
                  <a:srgbClr val="9A8E8B"/>
                </a:solidFill>
                <a:latin typeface="Calibri" pitchFamily="34" charset="0"/>
                <a:ea typeface="Calibri" pitchFamily="34" charset="-122"/>
                <a:cs typeface="Calibri" pitchFamily="34" charset="-120"/>
              </a:rPr>
              <a:t>Hugo Nogueira  ·  MECD, FEUP  ·  June 2026  ·  Supervisors: Prof. J.P. Moreira &amp; Prof. M.C. Cunha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 Production Forecasting Using Rule-Based Machine Learning</dc:title>
  <dc:subject>PptxGenJS Presentation</dc:subject>
  <dc:creator>Hugo Filipe Queiróz Nogueira</dc:creator>
  <cp:lastModifiedBy>Hugo Filipe Queiróz Nogueira</cp:lastModifiedBy>
  <cp:revision>1</cp:revision>
  <dcterms:created xsi:type="dcterms:W3CDTF">2026-06-15T13:28:15Z</dcterms:created>
  <dcterms:modified xsi:type="dcterms:W3CDTF">2026-06-15T13:28:15Z</dcterms:modified>
</cp:coreProperties>
</file>