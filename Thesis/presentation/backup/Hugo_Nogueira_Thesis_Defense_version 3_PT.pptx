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43"/>
  </p:normalViewPr>
  <p:slideViewPr>
    <p:cSldViewPr snapToGrid="0">
      <p:cViewPr varScale="1">
        <p:scale>
          <a:sx n="88" d="100"/>
          <a:sy n="88" d="100"/>
        </p:scale>
        <p:origin x="176"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ns2:creationId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DISSERTAÇÃO DE MESTRADO · FEUP · 2026</a:t>
            </a:r>
          </a:p>
        </p:txBody>
      </p:sp>
      <p:sp>
        <p:nvSpPr>
          <p:cNvPr id="2" name="Rectangle 1">
            <a:extLst>
              <a:ext uri="{FF2B5EF4-FFF2-40B4-BE49-F238E27FC236}">
                <ns2:creationId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Previsão da produção de vinho com regras interpretáveis</a:t>
            </a:r>
          </a:p>
        </p:txBody>
      </p:sp>
      <p:sp>
        <p:nvSpPr>
          <p:cNvPr id="3" name="Rectangle 2">
            <a:extLst>
              <a:ext uri="{FF2B5EF4-FFF2-40B4-BE49-F238E27FC236}">
                <ns2:creationId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O que consegue o clima explicar — e o que consegue prever de forma fiável?</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ns2:creationId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ns2:creationId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Orientadores: João Mendes Moreira · Mário Campos Cunha</a:t>
            </a:r>
          </a:p>
        </p:txBody>
      </p:sp>
      <p:sp>
        <p:nvSpPr>
          <p:cNvPr id="7" name="Rectangle 6">
            <a:extLst>
              <a:ext uri="{FF2B5EF4-FFF2-40B4-BE49-F238E27FC236}">
                <ns2:creationId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ns4:creationId val="987848490"/>
      </p:ext>
    </p:extLst>
  </p:cSld>
  <p:clrMapOvr>
    <a:masterClrMapping/>
  </p:clrMapOvr>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ns2:creationId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CONTEXTO</a:t>
            </a:r>
          </a:p>
        </p:txBody>
      </p:sp>
      <p:sp>
        <p:nvSpPr>
          <p:cNvPr id="2" name="Rectangle 1">
            <a:extLst>
              <a:ext uri="{FF2B5EF4-FFF2-40B4-BE49-F238E27FC236}">
                <ns2:creationId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pergunta de negócio é uma pergunta de decisão</a:t>
            </a:r>
          </a:p>
        </p:txBody>
      </p:sp>
      <p:sp>
        <p:nvSpPr>
          <p:cNvPr id="3" name="Rectangle 2">
            <a:extLst>
              <a:ext uri="{FF2B5EF4-FFF2-40B4-BE49-F238E27FC236}">
                <ns2:creationId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ns2:creationId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Podem os dados regionais de clima e desenvolvimento da videira melhorar a previsão anual de produção — a tempo de alterar uma decisão?</a:t>
            </a:r>
          </a:p>
        </p:txBody>
      </p:sp>
      <p:sp>
        <p:nvSpPr>
          <p:cNvPr id="5" name="Rectangle 4">
            <a:extLst>
              <a:ext uri="{FF2B5EF4-FFF2-40B4-BE49-F238E27FC236}">
                <ns2:creationId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ns2:creationId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Quem usa a resposta</a:t>
            </a:r>
          </a:p>
        </p:txBody>
      </p:sp>
      <p:sp>
        <p:nvSpPr>
          <p:cNvPr id="7" name="Rectangle 6">
            <a:extLst>
              <a:ext uri="{FF2B5EF4-FFF2-40B4-BE49-F238E27FC236}">
                <ns2:creationId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ns2:creationId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Decisões afetadas</a:t>
            </a:r>
          </a:p>
        </p:txBody>
      </p:sp>
      <p:sp>
        <p:nvSpPr>
          <p:cNvPr id="10" name="Rectangle 9">
            <a:extLst>
              <a:ext uri="{FF2B5EF4-FFF2-40B4-BE49-F238E27FC236}">
                <ns2:creationId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ns2:creationId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Um modelo útil deve acrescentar precisão e preservar confiança.</a:t>
            </a:r>
          </a:p>
        </p:txBody>
      </p:sp>
      <p:sp>
        <p:nvSpPr>
          <p:cNvPr id="12" name="Rectangle 11">
            <a:extLst>
              <a:ext uri="{FF2B5EF4-FFF2-40B4-BE49-F238E27FC236}">
                <ns2:creationId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A previsão isolada é insuficiente quando o mecanismo não pode ser explicado ou questionado.</a:t>
            </a:r>
          </a:p>
        </p:txBody>
      </p:sp>
    </p:spTree>
    <p:extLst>
      <p:ext uri="{BB962C8B-B14F-4D97-AF65-F5344CB8AC3E}">
        <ns3:creationId val="1233822338"/>
      </p:ext>
    </p:extLst>
  </p:cSld>
  <p:clrMapOvr>
    <a:masterClrMapping/>
  </p:clrMapOvr>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ns2:creationId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PROBLEMA DE INVESTIGAÇÃO</a:t>
            </a:r>
          </a:p>
        </p:txBody>
      </p:sp>
      <p:sp>
        <p:nvSpPr>
          <p:cNvPr id="3" name="title">
            <a:extLst>
              <a:ext uri="{FF2B5EF4-FFF2-40B4-BE49-F238E27FC236}">
                <ns2:creationId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O problema não é apenas prever, mas prever de forma auditável</a:t>
            </a:r>
          </a:p>
        </p:txBody>
      </p:sp>
      <p:sp>
        <p:nvSpPr>
          <p:cNvPr id="4" name="gap-panel">
            <a:extLst>
              <a:ext uri="{FF2B5EF4-FFF2-40B4-BE49-F238E27FC236}">
                <ns2:creationId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ns2:creationId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ns2:creationId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A lacuna</a:t>
            </a:r>
          </a:p>
        </p:txBody>
      </p:sp>
      <p:sp>
        <p:nvSpPr>
          <p:cNvPr id="7" name="gap-body">
            <a:extLst>
              <a:ext uri="{FF2B5EF4-FFF2-40B4-BE49-F238E27FC236}">
                <ns2:creationId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A ML moderna pode prever a produção vitivinícola, mas os decisores precisam de regras legíveis que possam questionar com conhecimento de domínio.</a:t>
            </a:r>
          </a:p>
        </p:txBody>
      </p:sp>
      <p:sp>
        <p:nvSpPr>
          <p:cNvPr id="8" name="rule-panel">
            <a:extLst>
              <a:ext uri="{FF2B5EF4-FFF2-40B4-BE49-F238E27FC236}">
                <ns2:creationId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a:p>
        </p:txBody>
      </p:sp>
      <p:sp>
        <p:nvSpPr>
          <p:cNvPr id="9" name="rule-stripe">
            <a:extLst>
              <a:ext uri="{FF2B5EF4-FFF2-40B4-BE49-F238E27FC236}">
                <ns2:creationId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ns2:creationId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Como é uma regra</a:t>
            </a:r>
          </a:p>
        </p:txBody>
      </p:sp>
      <p:sp>
        <p:nvSpPr>
          <p:cNvPr id="11" name="rule-body">
            <a:extLst>
              <a:ext uri="{FF2B5EF4-FFF2-40B4-BE49-F238E27FC236}">
                <ns2:creationId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SE a água no solo à vindima é moderada</a:t>
            </a:r>
          </a:p>
          <a:p>
            <a:pPr>
              <a:buNone/>
              <a:defRPr sz="1425" i="1">
                <a:solidFill>
                  <a:srgbClr val="111111"/>
                </a:solidFill>
                <a:latin typeface="Arial"/>
                <a:ea typeface="Arial"/>
                <a:cs typeface="Arial"/>
              </a:defRPr>
            </a:pPr>
            <a:r>
              <a:rPr sz="1425" i="1">
                <a:solidFill>
                  <a:srgbClr val="111111"/>
                </a:solidFill>
                <a:latin typeface="Arial"/>
                <a:ea typeface="Arial"/>
                <a:cs typeface="Arial"/>
              </a:rPr>
              <a:t>E os dias húmidos pós-maturação são baixos</a:t>
            </a:r>
          </a:p>
          <a:p>
            <a:pPr>
              <a:buNone/>
              <a:defRPr sz="1425" i="1">
                <a:solidFill>
                  <a:srgbClr val="111111"/>
                </a:solidFill>
                <a:latin typeface="Arial"/>
                <a:ea typeface="Arial"/>
                <a:cs typeface="Arial"/>
              </a:defRPr>
            </a:pPr>
            <a:r>
              <a:rPr sz="1425" i="1">
                <a:solidFill>
                  <a:srgbClr val="111111"/>
                </a:solidFill>
                <a:latin typeface="Arial"/>
                <a:ea typeface="Arial"/>
                <a:cs typeface="Arial"/>
              </a:rPr>
              <a:t>ENTÃO a produção é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suporte 21,3% · p = 0,0095</a:t>
            </a:r>
          </a:p>
        </p:txBody>
      </p:sp>
      <p:sp>
        <p:nvSpPr>
          <p:cNvPr id="12" name="properties-panel">
            <a:extLst>
              <a:ext uri="{FF2B5EF4-FFF2-40B4-BE49-F238E27FC236}">
                <ns2:creationId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a:p>
        </p:txBody>
      </p:sp>
      <p:sp>
        <p:nvSpPr>
          <p:cNvPr id="13" name="properties-stripe">
            <a:extLst>
              <a:ext uri="{FF2B5EF4-FFF2-40B4-BE49-F238E27FC236}">
                <ns2:creationId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a:p>
        </p:txBody>
      </p:sp>
      <p:sp>
        <p:nvSpPr>
          <p:cNvPr id="14" name="properties-title">
            <a:extLst>
              <a:ext uri="{FF2B5EF4-FFF2-40B4-BE49-F238E27FC236}">
                <ns2:creationId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Nenhum trabalho anterior combina as cinco propriedades</a:t>
            </a:r>
          </a:p>
        </p:txBody>
      </p:sp>
      <p:sp>
        <p:nvSpPr>
          <p:cNvPr id="15" name="prop-0-0">
            <a:extLst>
              <a:ext uri="{FF2B5EF4-FFF2-40B4-BE49-F238E27FC236}">
                <ns2:creationId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Interpretável</a:t>
            </a:r>
          </a:p>
        </p:txBody>
      </p:sp>
      <p:sp>
        <p:nvSpPr>
          <p:cNvPr id="16" name="prop-0-1">
            <a:extLst>
              <a:ext uri="{FF2B5EF4-FFF2-40B4-BE49-F238E27FC236}">
                <ns2:creationId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Longo prazo</a:t>
            </a:r>
          </a:p>
        </p:txBody>
      </p:sp>
      <p:sp>
        <p:nvSpPr>
          <p:cNvPr id="17" name="prop-0-2">
            <a:extLst>
              <a:ext uri="{FF2B5EF4-FFF2-40B4-BE49-F238E27FC236}">
                <ns2:creationId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Preditivo</a:t>
            </a:r>
          </a:p>
        </p:txBody>
      </p:sp>
      <p:sp>
        <p:nvSpPr>
          <p:cNvPr id="18" name="prop-0-3">
            <a:extLst>
              <a:ext uri="{FF2B5EF4-FFF2-40B4-BE49-F238E27FC236}">
                <ns2:creationId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Região vitivinícola</a:t>
            </a:r>
          </a:p>
        </p:txBody>
      </p:sp>
      <p:sp>
        <p:nvSpPr>
          <p:cNvPr id="19" name="prop-1-0">
            <a:extLst>
              <a:ext uri="{FF2B5EF4-FFF2-40B4-BE49-F238E27FC236}">
                <ns2:creationId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ML moderna</a:t>
            </a:r>
          </a:p>
        </p:txBody>
      </p:sp>
      <p:sp>
        <p:nvSpPr>
          <p:cNvPr id="20" name="prop-1-1">
            <a:extLst>
              <a:ext uri="{FF2B5EF4-FFF2-40B4-BE49-F238E27FC236}">
                <ns2:creationId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não</a:t>
            </a:r>
          </a:p>
        </p:txBody>
      </p:sp>
      <p:sp>
        <p:nvSpPr>
          <p:cNvPr id="21" name="prop-1-2">
            <a:extLst>
              <a:ext uri="{FF2B5EF4-FFF2-40B4-BE49-F238E27FC236}">
                <ns2:creationId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parcial</a:t>
            </a:r>
          </a:p>
        </p:txBody>
      </p:sp>
      <p:sp>
        <p:nvSpPr>
          <p:cNvPr id="22" name="prop-1-3">
            <a:extLst>
              <a:ext uri="{FF2B5EF4-FFF2-40B4-BE49-F238E27FC236}">
                <ns2:creationId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sim</a:t>
            </a:r>
          </a:p>
        </p:txBody>
      </p:sp>
      <p:sp>
        <p:nvSpPr>
          <p:cNvPr id="23" name="prop-2-0">
            <a:extLst>
              <a:ext uri="{FF2B5EF4-FFF2-40B4-BE49-F238E27FC236}">
                <ns2:creationId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Descoberta de subgrupos</a:t>
            </a:r>
          </a:p>
        </p:txBody>
      </p:sp>
      <p:sp>
        <p:nvSpPr>
          <p:cNvPr id="24" name="prop-2-1">
            <a:extLst>
              <a:ext uri="{FF2B5EF4-FFF2-40B4-BE49-F238E27FC236}">
                <ns2:creationId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sim</a:t>
            </a:r>
          </a:p>
        </p:txBody>
      </p:sp>
      <p:sp>
        <p:nvSpPr>
          <p:cNvPr id="25" name="prop-2-2">
            <a:extLst>
              <a:ext uri="{FF2B5EF4-FFF2-40B4-BE49-F238E27FC236}">
                <ns2:creationId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não</a:t>
            </a:r>
          </a:p>
        </p:txBody>
      </p:sp>
      <p:sp>
        <p:nvSpPr>
          <p:cNvPr id="26" name="prop-2-3">
            <a:extLst>
              <a:ext uri="{FF2B5EF4-FFF2-40B4-BE49-F238E27FC236}">
                <ns2:creationId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não</a:t>
            </a:r>
          </a:p>
        </p:txBody>
      </p:sp>
      <p:sp>
        <p:nvSpPr>
          <p:cNvPr id="27" name="prop-3-0">
            <a:extLst>
              <a:ext uri="{FF2B5EF4-FFF2-40B4-BE49-F238E27FC236}">
                <ns2:creationId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Esta tese</a:t>
            </a:r>
          </a:p>
        </p:txBody>
      </p:sp>
      <p:sp>
        <p:nvSpPr>
          <p:cNvPr id="28" name="prop-3-1">
            <a:extLst>
              <a:ext uri="{FF2B5EF4-FFF2-40B4-BE49-F238E27FC236}">
                <ns2:creationId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sim</a:t>
            </a:r>
          </a:p>
        </p:txBody>
      </p:sp>
      <p:sp>
        <p:nvSpPr>
          <p:cNvPr id="29" name="prop-3-2">
            <a:extLst>
              <a:ext uri="{FF2B5EF4-FFF2-40B4-BE49-F238E27FC236}">
                <ns2:creationId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sim</a:t>
            </a:r>
          </a:p>
        </p:txBody>
      </p:sp>
      <p:sp>
        <p:nvSpPr>
          <p:cNvPr id="30" name="prop-3-3">
            <a:extLst>
              <a:ext uri="{FF2B5EF4-FFF2-40B4-BE49-F238E27FC236}">
                <ns2:creationId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sim</a:t>
            </a:r>
          </a:p>
        </p:txBody>
      </p:sp>
      <p:sp>
        <p:nvSpPr>
          <p:cNvPr id="31" name="why-panel">
            <a:extLst>
              <a:ext uri="{FF2B5EF4-FFF2-40B4-BE49-F238E27FC236}">
                <ns2:creationId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a:p>
        </p:txBody>
      </p:sp>
      <p:sp>
        <p:nvSpPr>
          <p:cNvPr id="32" name="why-stripe">
            <a:extLst>
              <a:ext uri="{FF2B5EF4-FFF2-40B4-BE49-F238E27FC236}">
                <ns2:creationId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ns2:creationId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a:solidFill>
                  <a:srgbClr val="268A8A"/>
                </a:solidFill>
                <a:latin typeface="Arial"/>
                <a:ea typeface="Arial"/>
                <a:cs typeface="Arial"/>
              </a:rPr>
              <a:t>Porque importa a interpretabilidade</a:t>
            </a:r>
          </a:p>
        </p:txBody>
      </p:sp>
      <p:sp>
        <p:nvSpPr>
          <p:cNvPr id="34" name="why-body">
            <a:extLst>
              <a:ext uri="{FF2B5EF4-FFF2-40B4-BE49-F238E27FC236}">
                <ns2:creationId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a:solidFill>
                  <a:srgbClr val="111111"/>
                </a:solidFill>
                <a:latin typeface="Arial"/>
                <a:ea typeface="Arial"/>
                <a:cs typeface="Arial"/>
              </a:rPr>
              <a:t>Legível por agrónomos sem especialização em ML</a:t>
            </a:r>
          </a:p>
          <a:p>
            <a:pPr>
              <a:buNone/>
              <a:defRPr sz="1425">
                <a:solidFill>
                  <a:srgbClr val="111111"/>
                </a:solidFill>
                <a:latin typeface="Arial"/>
                <a:ea typeface="Arial"/>
                <a:cs typeface="Arial"/>
              </a:defRPr>
            </a:pPr>
            <a:r>
              <a:rPr sz="1425">
                <a:solidFill>
                  <a:srgbClr val="111111"/>
                </a:solidFill>
                <a:latin typeface="Arial"/>
                <a:ea typeface="Arial"/>
                <a:cs typeface="Arial"/>
              </a:rPr>
              <a:t>Cada regra inclui suporte e valor-p</a:t>
            </a:r>
          </a:p>
          <a:p>
            <a:pPr>
              <a:buNone/>
              <a:defRPr sz="1425">
                <a:solidFill>
                  <a:srgbClr val="111111"/>
                </a:solidFill>
                <a:latin typeface="Arial"/>
                <a:ea typeface="Arial"/>
                <a:cs typeface="Arial"/>
              </a:defRPr>
            </a:pPr>
            <a:r>
              <a:rPr sz="1425">
                <a:solidFill>
                  <a:srgbClr val="111111"/>
                </a:solidFill>
                <a:latin typeface="Arial"/>
                <a:ea typeface="Arial"/>
                <a:cs typeface="Arial"/>
              </a:rPr>
              <a:t>Pode ser questionada e validada no domínio</a:t>
            </a:r>
          </a:p>
          <a:p>
            <a:pPr>
              <a:buNone/>
              <a:defRPr sz="1425">
                <a:solidFill>
                  <a:srgbClr val="111111"/>
                </a:solidFill>
                <a:latin typeface="Arial"/>
                <a:ea typeface="Arial"/>
                <a:cs typeface="Arial"/>
              </a:defRPr>
            </a:pPr>
            <a:r>
              <a:rPr sz="1425">
                <a:solidFill>
                  <a:srgbClr val="111111"/>
                </a:solidFill>
                <a:latin typeface="Arial"/>
                <a:ea typeface="Arial"/>
                <a:cs typeface="Arial"/>
              </a:rPr>
              <a:t>Útil para diagnóstico mesmo quando a previsão falha</a:t>
            </a:r>
          </a:p>
        </p:txBody>
      </p:sp>
      <p:sp>
        <p:nvSpPr>
          <p:cNvPr id="36" name="slide-number">
            <a:extLst>
              <a:ext uri="{FF2B5EF4-FFF2-40B4-BE49-F238E27FC236}">
                <ns2:creationId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ns2:creationId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ns3:creationId val="1583641835"/>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ns2:creationId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a:t>
            </a:r>
          </a:p>
        </p:txBody>
      </p:sp>
      <p:sp>
        <p:nvSpPr>
          <p:cNvPr id="2" name="Rectangle 1">
            <a:extLst>
              <a:ext uri="{FF2B5EF4-FFF2-40B4-BE49-F238E27FC236}">
                <ns2:creationId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t>Porque isto é difícil: o sinal climático é real, mas diluído</a:t>
            </a:r>
          </a:p>
        </p:txBody>
      </p:sp>
      <p:sp>
        <p:nvSpPr>
          <p:cNvPr id="3" name="Rectangle 2">
            <a:extLst>
              <a:ext uri="{FF2B5EF4-FFF2-40B4-BE49-F238E27FC236}">
                <ns2:creationId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ns2:creationId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t>A variável-alvo combina clima, fisiologia, decisões humanas e mudança estrutural num único valor regional anual.</a:t>
            </a:r>
          </a:p>
        </p:txBody>
      </p:sp>
      <p:sp>
        <p:nvSpPr>
          <p:cNvPr id="5" name="Rectangle 4">
            <a:extLst>
              <a:ext uri="{FF2B5EF4-FFF2-40B4-BE49-F238E27FC236}">
                <ns2:creationId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ns2:creationId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ns2:creationId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A biologia atravessa anos</a:t>
            </a:r>
          </a:p>
        </p:txBody>
      </p:sp>
      <p:sp>
        <p:nvSpPr>
          <p:cNvPr id="8" name="Rectangle 7">
            <a:extLst>
              <a:ext uri="{FF2B5EF4-FFF2-40B4-BE49-F238E27FC236}">
                <ns2:creationId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O potencial produtivo é parcialmente definido na campanha anterior, antes do ano de vindima começar.</a:t>
            </a:r>
          </a:p>
        </p:txBody>
      </p:sp>
      <p:sp>
        <p:nvSpPr>
          <p:cNvPr id="9" name="Rectangle 8">
            <a:extLst>
              <a:ext uri="{FF2B5EF4-FFF2-40B4-BE49-F238E27FC236}">
                <ns2:creationId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ns2:creationId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ns2:creationId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 agregação esconde variação</a:t>
            </a:r>
          </a:p>
        </p:txBody>
      </p:sp>
      <p:sp>
        <p:nvSpPr>
          <p:cNvPr id="12" name="Rectangle 11">
            <a:extLst>
              <a:ext uri="{FF2B5EF4-FFF2-40B4-BE49-F238E27FC236}">
                <ns2:creationId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Milhares de vinhas diferem em solo, altitude, práticas e clima local.</a:t>
            </a:r>
          </a:p>
        </p:txBody>
      </p:sp>
      <p:sp>
        <p:nvSpPr>
          <p:cNvPr id="13" name="Rectangle 12">
            <a:extLst>
              <a:ext uri="{FF2B5EF4-FFF2-40B4-BE49-F238E27FC236}">
                <ns2:creationId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ns2:creationId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ns2:creationId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A estrutura muda ao longo do tempo</a:t>
            </a:r>
          </a:p>
        </p:txBody>
      </p:sp>
      <p:sp>
        <p:nvSpPr>
          <p:cNvPr id="16" name="Rectangle 15">
            <a:extLst>
              <a:ext uri="{FF2B5EF4-FFF2-40B4-BE49-F238E27FC236}">
                <ns2:creationId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Política, área plantada, produtores e condições de mercado deslocam a linha de base da produção.</a:t>
            </a:r>
          </a:p>
        </p:txBody>
      </p:sp>
      <p:sp>
        <p:nvSpPr>
          <p:cNvPr id="17" name="Rectangle 16">
            <a:extLst>
              <a:ext uri="{FF2B5EF4-FFF2-40B4-BE49-F238E27FC236}">
                <ns2:creationId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ns2:creationId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ns2:creationId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 amostra é pequena</a:t>
            </a:r>
          </a:p>
        </p:txBody>
      </p:sp>
      <p:sp>
        <p:nvSpPr>
          <p:cNvPr id="20" name="Rectangle 19">
            <a:extLst>
              <a:ext uri="{FF2B5EF4-FFF2-40B4-BE49-F238E27FC236}">
                <ns2:creationId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Apenas 80–89 observações anuais têm de suportar 59 variáveis construídas.</a:t>
            </a:r>
          </a:p>
        </p:txBody>
      </p:sp>
    </p:spTree>
    <p:extLst>
      <p:ext uri="{BB962C8B-B14F-4D97-AF65-F5344CB8AC3E}">
        <ns3:creationId val="1546590813"/>
      </p:ext>
    </p:extLst>
  </p:cSld>
  <p:clrMapOvr>
    <a:masterClrMapping/>
  </p:clrMapOvr>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Rectangle 3">
            <a:extLst>
              <a:ext uri="{FF2B5EF4-FFF2-40B4-BE49-F238E27FC236}">
                <ns2:creationId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EXPERIMENTO NATURAL</a:t>
            </a:r>
          </a:p>
        </p:txBody>
      </p:sp>
      <p:sp>
        <p:nvSpPr>
          <p:cNvPr id="2" name="Rectangle 1">
            <a:extLst>
              <a:ext uri="{FF2B5EF4-FFF2-40B4-BE49-F238E27FC236}">
                <ns2:creationId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O mesmo pipeline encontra duas histórias diferentes</a:t>
            </a:r>
          </a:p>
        </p:txBody>
      </p:sp>
      <p:sp>
        <p:nvSpPr>
          <p:cNvPr id="3" name="Rectangle 2">
            <a:extLst>
              <a:ext uri="{FF2B5EF4-FFF2-40B4-BE49-F238E27FC236}">
                <ns2:creationId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ns2:creationId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ns2:creationId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ns2:creationId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anos</a:t>
            </a:r>
          </a:p>
        </p:txBody>
      </p:sp>
      <p:sp>
        <p:nvSpPr>
          <p:cNvPr id="9" name="Rectangle 8">
            <a:extLst>
              <a:ext uri="{FF2B5EF4-FFF2-40B4-BE49-F238E27FC236}">
                <ns2:creationId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Subida estrutural gradual de +80%; CV 27%</a:t>
            </a:r>
          </a:p>
        </p:txBody>
      </p:sp>
      <p:sp>
        <p:nvSpPr>
          <p:cNvPr id="10" name="Rectangle 9">
            <a:extLst>
              <a:ext uri="{FF2B5EF4-FFF2-40B4-BE49-F238E27FC236}">
                <ns2:creationId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anos</a:t>
            </a:r>
          </a:p>
        </p:txBody>
      </p:sp>
      <p:sp>
        <p:nvSpPr>
          <p:cNvPr id="11" name="Rectangle 10">
            <a:extLst>
              <a:ext uri="{FF2B5EF4-FFF2-40B4-BE49-F238E27FC236}">
                <ns2:creationId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Declínio estrutural acentuado; CV 47%</a:t>
            </a:r>
          </a:p>
        </p:txBody>
      </p:sp>
      <p:sp>
        <p:nvSpPr>
          <p:cNvPr id="14" name="slide5-cover-old-left-figure">
            <a:extLst>
              <a:ext uri="{FF2B5EF4-FFF2-40B4-BE49-F238E27FC236}">
                <ns2:creationId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ns2:creationId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ns2:creationId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ns2:creationId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400088" y="1930813"/>
            <a:ext cx="5476799" cy="2282000"/>
          </a:xfrm>
          <a:prstGeom prst="rect">
            <a:avLst/>
          </a:prstGeom>
        </p:spPr>
      </p:pic>
      <p:pic>
        <p:nvPicPr>
          <p:cNvPr id="40" name="Picture 39"/>
          <p:cNvPicPr>
            <a:picLocks noChangeAspect="1"/>
          </p:cNvPicPr>
          <p:nvPr/>
        </p:nvPicPr>
        <p:blipFill>
          <a:blip r:embed="rId5"/>
          <a:stretch/>
        </p:blipFill>
        <p:spPr>
          <a:xfrm>
            <a:off x="6305588" y="1930813"/>
            <a:ext cx="5476799" cy="2282000"/>
          </a:xfrm>
          <a:prstGeom prst="rect">
            <a:avLst/>
          </a:prstGeom>
        </p:spPr>
      </p:pic>
    </p:spTree>
    <p:extLst>
      <p:ext uri="{BB962C8B-B14F-4D97-AF65-F5344CB8AC3E}">
        <ns4:creationId val="1552770961"/>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ns2:creationId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CICLO DA VIDEIRA</a:t>
            </a:r>
          </a:p>
        </p:txBody>
      </p:sp>
      <p:sp>
        <p:nvSpPr>
          <p:cNvPr id="2" name="Rectangle 1">
            <a:extLst>
              <a:ext uri="{FF2B5EF4-FFF2-40B4-BE49-F238E27FC236}">
                <ns2:creationId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A produção atual começa na campanha anterior</a:t>
            </a:r>
          </a:p>
        </p:txBody>
      </p:sp>
      <p:sp>
        <p:nvSpPr>
          <p:cNvPr id="3" name="Rectangle 2">
            <a:extLst>
              <a:ext uri="{FF2B5EF4-FFF2-40B4-BE49-F238E27FC236}">
                <ns2:creationId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ns2:creationId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ANO y0 · POTENCIAL</a:t>
            </a:r>
          </a:p>
        </p:txBody>
      </p:sp>
      <p:sp>
        <p:nvSpPr>
          <p:cNvPr id="5" name="Rectangle 4">
            <a:extLst>
              <a:ext uri="{FF2B5EF4-FFF2-40B4-BE49-F238E27FC236}">
                <ns2:creationId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ANO y1 · REALIZAÇÃO</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ns2:creationId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ns2:creationId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ns2:creationId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ns2:creationId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ns2:creationId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ns2:creationId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ns2:creationId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ns2:creationId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Abrolhamento</a:t>
            </a:r>
          </a:p>
        </p:txBody>
      </p:sp>
      <p:sp>
        <p:nvSpPr>
          <p:cNvPr id="15" name="Rectangle 14">
            <a:extLst>
              <a:ext uri="{FF2B5EF4-FFF2-40B4-BE49-F238E27FC236}">
                <ns2:creationId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ns2:creationId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ns2:creationId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Temperatura e luz definem o limite superior do número de cachos.</a:t>
            </a:r>
          </a:p>
        </p:txBody>
      </p:sp>
      <p:sp>
        <p:nvSpPr>
          <p:cNvPr id="18" name="Rectangle 17">
            <a:extLst>
              <a:ext uri="{FF2B5EF4-FFF2-40B4-BE49-F238E27FC236}">
                <ns2:creationId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O stress hídrico e térmico anterior molda as reservas de hidratos de carbono.</a:t>
            </a:r>
          </a:p>
        </p:txBody>
      </p:sp>
      <p:sp>
        <p:nvSpPr>
          <p:cNvPr id="19" name="Rectangle 18">
            <a:extLst>
              <a:ext uri="{FF2B5EF4-FFF2-40B4-BE49-F238E27FC236}">
                <ns2:creationId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Temperatura, chuva, coberto vegetal e água no solo do ano corrente determinam o vingamento e o desenvolvimento do bago.</a:t>
            </a:r>
          </a:p>
        </p:txBody>
      </p:sp>
      <p:sp>
        <p:nvSpPr>
          <p:cNvPr id="20" name="Rectangle 19">
            <a:extLst>
              <a:ext uri="{FF2B5EF4-FFF2-40B4-BE49-F238E27FC236}">
                <ns2:creationId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a:p>
        </p:txBody>
      </p:sp>
      <p:sp>
        <p:nvSpPr>
          <p:cNvPr id="21" name="Rectangle 20">
            <a:extLst>
              <a:ext uri="{FF2B5EF4-FFF2-40B4-BE49-F238E27FC236}">
                <ns2:creationId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EFEITO
DIFERIDO</a:t>
            </a:r>
          </a:p>
        </p:txBody>
      </p:sp>
    </p:spTree>
    <p:extLst>
      <p:ext uri="{BB962C8B-B14F-4D97-AF65-F5344CB8AC3E}">
        <ns3:creationId val="165550098"/>
      </p:ext>
    </p:extLst>
  </p:cSld>
  <p:clrMapOvr>
    <a:masterClrMapping/>
  </p:clrMapOvr>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Rectangle 3">
            <a:extLst>
              <a:ext uri="{FF2B5EF4-FFF2-40B4-BE49-F238E27FC236}">
                <ns2:creationId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ENGENHARIA DE VARIÁVEIS</a:t>
            </a:r>
          </a:p>
        </p:txBody>
      </p:sp>
      <p:sp>
        <p:nvSpPr>
          <p:cNvPr id="2" name="Rectangle 1">
            <a:extLst>
              <a:ext uri="{FF2B5EF4-FFF2-40B4-BE49-F238E27FC236}">
                <ns2:creationId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As variáveis seguem a biologia, não o calendário</a:t>
            </a:r>
          </a:p>
        </p:txBody>
      </p:sp>
      <p:sp>
        <p:nvSpPr>
          <p:cNvPr id="5" name="Rectangle 4">
            <a:extLst>
              <a:ext uri="{FF2B5EF4-FFF2-40B4-BE49-F238E27FC236}">
                <ns2:creationId id="{EED1B0E2-54BE-4A09-B44B-BE0A7D54EE49}"/>
              </a:ext>
            </a:extLst>
          </p:cNvPr>
          <p:cNvSpPr>
            <a:spLocks noGrp="1"/>
          </p:cNvSpPr>
          <p:nvPr/>
        </p:nvSpPr>
        <p:spPr>
          <a:xfrm>
            <a:off x="187938" y="6134100"/>
            <a:ext cx="8873808" cy="342900"/>
          </a:xfrm>
          <a:prstGeom prst="rect">
            <a:avLst/>
          </a:prstGeom>
          <a:solidFill>
            <a:srgbClr val="F0F1F2"/>
          </a:solidFill>
          <a:ln w="0">
            <a:noFill/>
            <a:prstDash val="solid"/>
          </a:ln>
        </p:spPr>
        <p:txBody>
          <a:bodyPr/>
          <a:lstStyle/>
          <a:p>
            <a:endParaRPr/>
          </a:p>
        </p:txBody>
      </p:sp>
      <p:sp>
        <p:nvSpPr>
          <p:cNvPr id="6" name="Rectangle 5">
            <a:extLst>
              <a:ext uri="{FF2B5EF4-FFF2-40B4-BE49-F238E27FC236}">
                <ns2:creationId id="{82C98972-EF5A-4C16-830E-328D228E453D}"/>
              </a:ext>
            </a:extLst>
          </p:cNvPr>
          <p:cNvSpPr>
            <a:spLocks noGrp="1"/>
          </p:cNvSpPr>
          <p:nvPr/>
        </p:nvSpPr>
        <p:spPr>
          <a:xfrm>
            <a:off x="314646" y="6191250"/>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32 842 / 29 902 registos diários</a:t>
            </a:r>
          </a:p>
        </p:txBody>
      </p:sp>
      <p:sp>
        <p:nvSpPr>
          <p:cNvPr id="7" name="Rectangle 6">
            <a:extLst>
              <a:ext uri="{FF2B5EF4-FFF2-40B4-BE49-F238E27FC236}">
                <ns2:creationId id="{B99BB5E0-F51B-42A1-A0F7-F0A1F0CAE880}"/>
              </a:ext>
            </a:extLst>
          </p:cNvPr>
          <p:cNvSpPr>
            <a:spLocks noGrp="1"/>
          </p:cNvSpPr>
          <p:nvPr/>
        </p:nvSpPr>
        <p:spPr>
          <a:xfrm>
            <a:off x="2589679" y="6191250"/>
            <a:ext cx="2143125" cy="2286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 59 preditores anuais</a:t>
            </a:r>
          </a:p>
        </p:txBody>
      </p:sp>
      <p:sp>
        <p:nvSpPr>
          <p:cNvPr id="8" name="Rectangle 7">
            <a:extLst>
              <a:ext uri="{FF2B5EF4-FFF2-40B4-BE49-F238E27FC236}">
                <ns2:creationId id="{C2A7C5DE-C604-48DF-AE6D-B71ADDD34007}"/>
              </a:ext>
            </a:extLst>
          </p:cNvPr>
          <p:cNvSpPr>
            <a:spLocks noGrp="1"/>
          </p:cNvSpPr>
          <p:nvPr/>
        </p:nvSpPr>
        <p:spPr>
          <a:xfrm>
            <a:off x="4513009" y="6191250"/>
            <a:ext cx="228600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4 âncoras fenológicas</a:t>
            </a:r>
          </a:p>
        </p:txBody>
      </p:sp>
      <p:sp>
        <p:nvSpPr>
          <p:cNvPr id="9" name="Rectangle 8">
            <a:extLst>
              <a:ext uri="{FF2B5EF4-FFF2-40B4-BE49-F238E27FC236}">
                <ns2:creationId id="{DF562E81-0D2D-48F5-8FE6-AA89126C2529}"/>
              </a:ext>
            </a:extLst>
          </p:cNvPr>
          <p:cNvSpPr>
            <a:spLocks noGrp="1"/>
          </p:cNvSpPr>
          <p:nvPr/>
        </p:nvSpPr>
        <p:spPr>
          <a:xfrm>
            <a:off x="6799009" y="6195531"/>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ano corrente + anterior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12" name="slide7-bottom-cover">
            <a:extLst>
              <a:ext uri="{FF2B5EF4-FFF2-40B4-BE49-F238E27FC236}">
                <ns2:creationId id="{09499AF5-42AE-4E6A-AADD-BD4A7A7B1B6E}"/>
              </a:ext>
            </a:extLst>
          </p:cNvPr>
          <p:cNvSpPr>
            <a:spLocks noGrp="1"/>
          </p:cNvSpPr>
          <p:nvPr/>
        </p:nvSpPr>
        <p:spPr>
          <a:xfrm>
            <a:off x="171450" y="6057900"/>
            <a:ext cx="9001125" cy="476250"/>
          </a:xfrm>
          <a:prstGeom prst="rect">
            <a:avLst/>
          </a:prstGeom>
          <a:solidFill>
            <a:srgbClr val="FFFFFF"/>
          </a:solidFill>
          <a:ln w="0">
            <a:noFill/>
            <a:prstDash val="solid"/>
          </a:ln>
        </p:spPr>
        <p:txBody>
          <a:bodyPr/>
          <a:lstStyle/>
          <a:p>
            <a:endParaRPr lang="en-US"/>
          </a:p>
        </p:txBody>
      </p:sp>
      <p:sp>
        <p:nvSpPr>
          <p:cNvPr id="13" name="slide7-black-evidence-band">
            <a:extLst>
              <a:ext uri="{FF2B5EF4-FFF2-40B4-BE49-F238E27FC236}">
                <ns2:creationId id="{9B24E7F8-4020-4A41-98B8-3261B0E0CDF8}"/>
              </a:ext>
            </a:extLst>
          </p:cNvPr>
          <p:cNvSpPr>
            <a:spLocks noGrp="1"/>
          </p:cNvSpPr>
          <p:nvPr/>
        </p:nvSpPr>
        <p:spPr>
          <a:xfrm>
            <a:off x="400050" y="6124575"/>
            <a:ext cx="8715375" cy="361950"/>
          </a:xfrm>
          <a:prstGeom prst="rect">
            <a:avLst/>
          </a:prstGeom>
          <a:solidFill>
            <a:srgbClr val="000000"/>
          </a:solidFill>
          <a:ln w="0">
            <a:noFill/>
            <a:prstDash val="solid"/>
          </a:ln>
        </p:spPr>
        <p:txBody>
          <a:bodyPr/>
          <a:lstStyle/>
          <a:p>
            <a:endParaRPr lang="en-US"/>
          </a:p>
        </p:txBody>
      </p:sp>
      <p:sp>
        <p:nvSpPr>
          <p:cNvPr id="14" name="slide7-band-left">
            <a:extLst>
              <a:ext uri="{FF2B5EF4-FFF2-40B4-BE49-F238E27FC236}">
                <ns2:creationId id="{68E80BEB-C1F9-4695-9CB6-0AD54EBA46C3}"/>
              </a:ext>
            </a:extLst>
          </p:cNvPr>
          <p:cNvSpPr>
            <a:spLocks noGrp="1"/>
          </p:cNvSpPr>
          <p:nvPr/>
        </p:nvSpPr>
        <p:spPr>
          <a:xfrm>
            <a:off x="5905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32 842 / 29 902 registos diários</a:t>
            </a:r>
          </a:p>
        </p:txBody>
      </p:sp>
      <p:sp>
        <p:nvSpPr>
          <p:cNvPr id="15" name="slide7-band-mid1">
            <a:extLst>
              <a:ext uri="{FF2B5EF4-FFF2-40B4-BE49-F238E27FC236}">
                <ns2:creationId id="{9EC1C369-EF49-4C9D-9C26-D3A28114CE3A}"/>
              </a:ext>
            </a:extLst>
          </p:cNvPr>
          <p:cNvSpPr>
            <a:spLocks noGrp="1"/>
          </p:cNvSpPr>
          <p:nvPr/>
        </p:nvSpPr>
        <p:spPr>
          <a:xfrm>
            <a:off x="3143250" y="6210300"/>
            <a:ext cx="2381250" cy="209550"/>
          </a:xfrm>
          <a:prstGeom prst="rect">
            <a:avLst/>
          </a:prstGeom>
          <a:noFill/>
          <a:ln w="0">
            <a:noFill/>
            <a:prstDash val="solid"/>
          </a:ln>
        </p:spPr>
        <p:txBody>
          <a:bodyPr/>
          <a:lstStyle/>
          <a:p>
            <a:pPr>
              <a:buNone/>
              <a:defRPr sz="1275" b="1">
                <a:solidFill>
                  <a:srgbClr val="EE6A2E"/>
                </a:solidFill>
                <a:latin typeface="Arial"/>
                <a:ea typeface="Arial"/>
                <a:cs typeface="Arial"/>
              </a:defRPr>
            </a:pPr>
            <a:r>
              <a:rPr sz="1275" b="1">
                <a:solidFill>
                  <a:srgbClr val="EE6A2E"/>
                </a:solidFill>
                <a:latin typeface="Arial"/>
                <a:ea typeface="Arial"/>
                <a:cs typeface="Arial"/>
              </a:rPr>
              <a:t>-&gt; 59 preditores anuais</a:t>
            </a:r>
          </a:p>
        </p:txBody>
      </p:sp>
      <p:sp>
        <p:nvSpPr>
          <p:cNvPr id="16" name="slide7-band-mid2">
            <a:extLst>
              <a:ext uri="{FF2B5EF4-FFF2-40B4-BE49-F238E27FC236}">
                <ns2:creationId id="{5B1DB48F-BACC-4C96-9082-EF25C510018D}"/>
              </a:ext>
            </a:extLst>
          </p:cNvPr>
          <p:cNvSpPr>
            <a:spLocks noGrp="1"/>
          </p:cNvSpPr>
          <p:nvPr/>
        </p:nvSpPr>
        <p:spPr>
          <a:xfrm>
            <a:off x="56197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-&gt; 4 âncoras fenológicas</a:t>
            </a:r>
          </a:p>
        </p:txBody>
      </p:sp>
      <p:sp>
        <p:nvSpPr>
          <p:cNvPr id="17" name="slide7-band-right">
            <a:extLst>
              <a:ext uri="{FF2B5EF4-FFF2-40B4-BE49-F238E27FC236}">
                <ns2:creationId id="{951BE515-6946-451C-A946-1F30D572F05E}"/>
              </a:ext>
            </a:extLst>
          </p:cNvPr>
          <p:cNvSpPr>
            <a:spLocks noGrp="1"/>
          </p:cNvSpPr>
          <p:nvPr/>
        </p:nvSpPr>
        <p:spPr>
          <a:xfrm>
            <a:off x="7858125" y="6210300"/>
            <a:ext cx="1238250" cy="209550"/>
          </a:xfrm>
          <a:prstGeom prst="rect">
            <a:avLst/>
          </a:prstGeom>
          <a:noFill/>
          <a:ln w="0">
            <a:noFill/>
            <a:prstDash val="solid"/>
          </a:ln>
        </p:spPr>
        <p:txBody>
          <a:bodyPr/>
          <a:lstStyle/>
          <a:p>
            <a:pPr>
              <a:buNone/>
              <a:defRPr sz="975" b="1">
                <a:solidFill>
                  <a:srgbClr val="FFFFFF"/>
                </a:solidFill>
                <a:latin typeface="Arial"/>
                <a:ea typeface="Arial"/>
                <a:cs typeface="Arial"/>
              </a:defRPr>
            </a:pPr>
            <a:r>
              <a:rPr sz="975" b="1">
                <a:solidFill>
                  <a:srgbClr val="FFFFFF"/>
                </a:solidFill>
                <a:latin typeface="Arial"/>
                <a:ea typeface="Arial"/>
                <a:cs typeface="Arial"/>
              </a:rPr>
              <a:t>-&gt; ano corrente + anterior</a:t>
            </a:r>
          </a:p>
        </p:txBody>
      </p:sp>
      <p:sp>
        <p:nvSpPr>
          <p:cNvPr id="20" name="slide7-band-repair-cover">
            <a:extLst>
              <a:ext uri="{FF2B5EF4-FFF2-40B4-BE49-F238E27FC236}">
                <ns2:creationId id="{CE89615F-045B-4838-8414-A93F71CBAE2B}"/>
              </a:ext>
            </a:extLst>
          </p:cNvPr>
          <p:cNvSpPr>
            <a:spLocks noGrp="1"/>
          </p:cNvSpPr>
          <p:nvPr/>
        </p:nvSpPr>
        <p:spPr>
          <a:xfrm>
            <a:off x="171450" y="6343650"/>
            <a:ext cx="11763375" cy="476250"/>
          </a:xfrm>
          <a:prstGeom prst="rect">
            <a:avLst/>
          </a:prstGeom>
          <a:solidFill>
            <a:srgbClr val="FFFFFF"/>
          </a:solidFill>
          <a:ln w="0">
            <a:noFill/>
            <a:prstDash val="solid"/>
          </a:ln>
        </p:spPr>
        <p:txBody>
          <a:bodyPr/>
          <a:lstStyle/>
          <a:p>
            <a:endParaRPr lang="en-US"/>
          </a:p>
        </p:txBody>
      </p:sp>
      <p:sp>
        <p:nvSpPr>
          <p:cNvPr id="21" name="slide7-band-repair-black">
            <a:extLst>
              <a:ext uri="{FF2B5EF4-FFF2-40B4-BE49-F238E27FC236}">
                <ns2:creationId id="{B526EFBB-8B71-4D2E-BF03-7360CE5DB946}"/>
              </a:ext>
            </a:extLst>
          </p:cNvPr>
          <p:cNvSpPr>
            <a:spLocks noGrp="1"/>
          </p:cNvSpPr>
          <p:nvPr/>
        </p:nvSpPr>
        <p:spPr>
          <a:xfrm>
            <a:off x="400050" y="6124575"/>
            <a:ext cx="11579276" cy="361950"/>
          </a:xfrm>
          <a:prstGeom prst="rect">
            <a:avLst/>
          </a:prstGeom>
          <a:solidFill>
            <a:srgbClr val="000000"/>
          </a:solidFill>
          <a:ln w="0">
            <a:noFill/>
            <a:prstDash val="solid"/>
          </a:ln>
        </p:spPr>
        <p:txBody>
          <a:bodyPr/>
          <a:lstStyle/>
          <a:p>
            <a:endParaRPr lang="en-US"/>
          </a:p>
        </p:txBody>
      </p:sp>
      <p:sp>
        <p:nvSpPr>
          <p:cNvPr id="22" name="slide7-band-repair-records">
            <a:extLst>
              <a:ext uri="{FF2B5EF4-FFF2-40B4-BE49-F238E27FC236}">
                <ns2:creationId id="{22BD4752-FAF0-4E9C-BBB5-10480FA48B99}"/>
              </a:ext>
            </a:extLst>
          </p:cNvPr>
          <p:cNvSpPr>
            <a:spLocks noGrp="1"/>
          </p:cNvSpPr>
          <p:nvPr/>
        </p:nvSpPr>
        <p:spPr>
          <a:xfrm>
            <a:off x="68580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a:solidFill>
                  <a:srgbClr val="FFFFFF"/>
                </a:solidFill>
                <a:latin typeface="Arial"/>
                <a:ea typeface="Arial"/>
                <a:cs typeface="Arial"/>
              </a:rPr>
              <a:t>32 842 / 29 902 registos diários</a:t>
            </a:r>
          </a:p>
        </p:txBody>
      </p:sp>
      <p:sp>
        <p:nvSpPr>
          <p:cNvPr id="23" name="slide7-band-repair-predictors">
            <a:extLst>
              <a:ext uri="{FF2B5EF4-FFF2-40B4-BE49-F238E27FC236}">
                <ns2:creationId id="{7085D20E-47F3-4E69-AFFE-5BEC46CFAD8E}"/>
              </a:ext>
            </a:extLst>
          </p:cNvPr>
          <p:cNvSpPr>
            <a:spLocks noGrp="1"/>
          </p:cNvSpPr>
          <p:nvPr/>
        </p:nvSpPr>
        <p:spPr>
          <a:xfrm>
            <a:off x="3657600" y="6167438"/>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200" b="1" dirty="0">
                <a:solidFill>
                  <a:srgbClr val="EE6A2E"/>
                </a:solidFill>
                <a:latin typeface="Arial"/>
                <a:ea typeface="Arial"/>
                <a:cs typeface="Arial"/>
              </a:rPr>
              <a:t>-&gt; 59 preditores anuais</a:t>
            </a:r>
          </a:p>
        </p:txBody>
      </p:sp>
      <p:sp>
        <p:nvSpPr>
          <p:cNvPr id="24" name="slide7-band-repair-anchors">
            <a:extLst>
              <a:ext uri="{FF2B5EF4-FFF2-40B4-BE49-F238E27FC236}">
                <ns2:creationId id="{6C38BA8C-60BA-476F-8EA2-6A64643236C1}"/>
              </a:ext>
            </a:extLst>
          </p:cNvPr>
          <p:cNvSpPr>
            <a:spLocks noGrp="1"/>
          </p:cNvSpPr>
          <p:nvPr/>
        </p:nvSpPr>
        <p:spPr>
          <a:xfrm>
            <a:off x="6486525" y="6167438"/>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4 âncoras fenológicas</a:t>
            </a:r>
          </a:p>
        </p:txBody>
      </p:sp>
      <p:sp>
        <p:nvSpPr>
          <p:cNvPr id="25" name="slide7-band-repair-years">
            <a:extLst>
              <a:ext uri="{FF2B5EF4-FFF2-40B4-BE49-F238E27FC236}">
                <ns2:creationId id="{D1500B64-3D66-4232-B257-0347FABB7313}"/>
              </a:ext>
            </a:extLst>
          </p:cNvPr>
          <p:cNvSpPr>
            <a:spLocks noGrp="1"/>
          </p:cNvSpPr>
          <p:nvPr/>
        </p:nvSpPr>
        <p:spPr>
          <a:xfrm>
            <a:off x="950595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ano corrente + anterior</a:t>
            </a:r>
          </a:p>
        </p:txBody>
      </p:sp>
      <p:cxnSp>
        <p:nvCxnSpPr>
          <p:cNvPr id="10" name="Elbow Connector 9">
            <a:extLst>
              <a:ext uri="{FF2B5EF4-FFF2-40B4-BE49-F238E27FC236}">
                <ns2:creationId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ns4:creationId val="644902117"/>
      </p:ext>
    </p:extLst>
  </p:cSld>
  <p:clrMapOvr>
    <a:masterClrMapping/>
  </p:clrMapOvr>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ns2:creationId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POSICIONAMENTO</a:t>
            </a:r>
          </a:p>
        </p:txBody>
      </p:sp>
      <p:sp>
        <p:nvSpPr>
          <p:cNvPr id="2" name="Rectangle 1">
            <a:extLst>
              <a:ext uri="{FF2B5EF4-FFF2-40B4-BE49-F238E27FC236}">
                <ns2:creationId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A lacuna de investigação situa-se entre explicação e previsão</a:t>
            </a:r>
          </a:p>
        </p:txBody>
      </p:sp>
      <p:sp>
        <p:nvSpPr>
          <p:cNvPr id="3" name="Rectangle 2">
            <a:extLst>
              <a:ext uri="{FF2B5EF4-FFF2-40B4-BE49-F238E27FC236}">
                <ns2:creationId id="{3E9CB3F4-C705-4602-9FEB-0455FD8A0555}"/>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ns2:creationId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ns2:creationId id="{9F808345-5AB2-46FF-B149-FECA926C74C0}"/>
              </a:ext>
            </a:extLst>
          </p:cNvPr>
          <p:cNvSpPr>
            <a:spLocks noGrp="1"/>
          </p:cNvSpPr>
          <p:nvPr/>
        </p:nvSpPr>
        <p:spPr>
          <a:xfrm>
            <a:off x="6838950" y="1809750"/>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ns2:creationId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Aprendizagem automática moderna</a:t>
            </a:r>
          </a:p>
        </p:txBody>
      </p:sp>
      <p:sp>
        <p:nvSpPr>
          <p:cNvPr id="7" name="Rectangle 6">
            <a:extLst>
              <a:ext uri="{FF2B5EF4-FFF2-40B4-BE49-F238E27FC236}">
                <ns2:creationId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ns2:creationId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Descoberta baseada em regras</a:t>
            </a:r>
          </a:p>
        </p:txBody>
      </p:sp>
      <p:sp>
        <p:nvSpPr>
          <p:cNvPr id="9" name="Rectangle 8">
            <a:extLst>
              <a:ext uri="{FF2B5EF4-FFF2-40B4-BE49-F238E27FC236}">
                <ns2:creationId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ns2:creationId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ns2:creationId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Podemos
ter
ambos?</a:t>
            </a:r>
          </a:p>
        </p:txBody>
      </p:sp>
      <p:sp>
        <p:nvSpPr>
          <p:cNvPr id="12" name="Rectangle 11">
            <a:extLst>
              <a:ext uri="{FF2B5EF4-FFF2-40B4-BE49-F238E27FC236}">
                <ns2:creationId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Nenhum trabalho anterior avaliou sistematicamente descoberta distribucional de subgrupos na previsão walk-forward da produção de vinho.</a:t>
            </a:r>
          </a:p>
        </p:txBody>
      </p:sp>
    </p:spTree>
    <p:extLst>
      <p:ext uri="{BB962C8B-B14F-4D97-AF65-F5344CB8AC3E}">
        <ns3:creationId val="472053862"/>
      </p:ext>
    </p:extLst>
  </p:cSld>
  <p:clrMapOvr>
    <a:masterClrMapping/>
  </p:clrMapOvr>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ns2:creationId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DESENHO DA INVESTIGAÇÃO</a:t>
            </a:r>
          </a:p>
        </p:txBody>
      </p:sp>
      <p:sp>
        <p:nvSpPr>
          <p:cNvPr id="2" name="Rectangle 1">
            <a:extLst>
              <a:ext uri="{FF2B5EF4-FFF2-40B4-BE49-F238E27FC236}">
                <ns2:creationId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Dois objetivos separam explicação e previsão</a:t>
            </a:r>
          </a:p>
        </p:txBody>
      </p:sp>
      <p:sp>
        <p:nvSpPr>
          <p:cNvPr id="3" name="Rectangle 2">
            <a:extLst>
              <a:ext uri="{FF2B5EF4-FFF2-40B4-BE49-F238E27FC236}">
                <ns2:creationId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ns2:creationId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ns2:creationId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OBJETIVO 1</a:t>
            </a:r>
          </a:p>
        </p:txBody>
      </p:sp>
      <p:sp>
        <p:nvSpPr>
          <p:cNvPr id="7" name="Rectangle 6">
            <a:extLst>
              <a:ext uri="{FF2B5EF4-FFF2-40B4-BE49-F238E27FC236}">
                <ns2:creationId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Descobrir</a:t>
            </a:r>
          </a:p>
        </p:txBody>
      </p:sp>
      <p:sp>
        <p:nvSpPr>
          <p:cNvPr id="8" name="Rectangle 7">
            <a:extLst>
              <a:ext uri="{FF2B5EF4-FFF2-40B4-BE49-F238E27FC236}">
                <ns2:creationId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Que condições agroclimáticas distinguem anos de produção acima e abaixo da tendência?</a:t>
            </a:r>
          </a:p>
        </p:txBody>
      </p:sp>
      <p:sp>
        <p:nvSpPr>
          <p:cNvPr id="9" name="Rectangle 8">
            <a:extLst>
              <a:ext uri="{FF2B5EF4-FFF2-40B4-BE49-F238E27FC236}">
                <ns2:creationId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ns2:creationId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OBJETIVO 2</a:t>
            </a:r>
          </a:p>
        </p:txBody>
      </p:sp>
      <p:sp>
        <p:nvSpPr>
          <p:cNvPr id="11" name="Rectangle 10">
            <a:extLst>
              <a:ext uri="{FF2B5EF4-FFF2-40B4-BE49-F238E27FC236}">
                <ns2:creationId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Validar</a:t>
            </a:r>
          </a:p>
        </p:txBody>
      </p:sp>
      <p:sp>
        <p:nvSpPr>
          <p:cNvPr id="12" name="Rectangle 11">
            <a:extLst>
              <a:ext uri="{FF2B5EF4-FFF2-40B4-BE49-F238E27FC236}">
                <ns2:creationId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Podem os modelos baseados em regras superar a mediana histórica em períodos futuros genuínos?</a:t>
            </a:r>
          </a:p>
        </p:txBody>
      </p:sp>
      <p:sp>
        <p:nvSpPr>
          <p:cNvPr id="13" name="Rectangle 12">
            <a:extLst>
              <a:ext uri="{FF2B5EF4-FFF2-40B4-BE49-F238E27FC236}">
                <ns2:creationId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ns2:creationId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ns2:creationId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ns2:creationId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OBJETIVO 1</a:t>
            </a:r>
          </a:p>
        </p:txBody>
      </p:sp>
      <p:sp>
        <p:nvSpPr>
          <p:cNvPr id="21" name="slide9-goal1-title">
            <a:extLst>
              <a:ext uri="{FF2B5EF4-FFF2-40B4-BE49-F238E27FC236}">
                <ns2:creationId id="{C72B301A-61FE-4470-AF8E-8D5855C5228F}"/>
              </a:ext>
            </a:extLst>
          </p:cNvPr>
          <p:cNvSpPr>
            <a:spLocks noGrp="1"/>
          </p:cNvSpPr>
          <p:nvPr/>
        </p:nvSpPr>
        <p:spPr>
          <a:xfrm>
            <a:off x="876300" y="184830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DESCOBRIR</a:t>
            </a:r>
          </a:p>
        </p:txBody>
      </p:sp>
      <p:sp>
        <p:nvSpPr>
          <p:cNvPr id="22" name="slide9-goal1-question">
            <a:extLst>
              <a:ext uri="{FF2B5EF4-FFF2-40B4-BE49-F238E27FC236}">
                <ns2:creationId id="{2398521C-3516-48DA-A5A2-32366F6BD720}"/>
              </a:ext>
            </a:extLst>
          </p:cNvPr>
          <p:cNvSpPr>
            <a:spLocks noGrp="1"/>
          </p:cNvSpPr>
          <p:nvPr/>
        </p:nvSpPr>
        <p:spPr>
          <a:xfrm>
            <a:off x="876300" y="2552250"/>
            <a:ext cx="4191000" cy="876300"/>
          </a:xfrm>
          <a:prstGeom prst="rect">
            <a:avLst/>
          </a:prstGeom>
          <a:noFill/>
          <a:ln w="0">
            <a:noFill/>
            <a:prstDash val="solid"/>
          </a:ln>
        </p:spPr>
        <p:txBody>
          <a:bodyPr/>
          <a:lstStyle/>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Que condições agroclimáticas distinguem</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produção acima e abaixo da tendência</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anos?</a:t>
            </a:r>
          </a:p>
        </p:txBody>
      </p:sp>
      <p:sp>
        <p:nvSpPr>
          <p:cNvPr id="23" name="slide9-goal1-rqs">
            <a:extLst>
              <a:ext uri="{FF2B5EF4-FFF2-40B4-BE49-F238E27FC236}">
                <ns2:creationId id="{16A1C21D-7336-45F9-AF37-73D62BF9C1DB}"/>
              </a:ext>
            </a:extLst>
          </p:cNvPr>
          <p:cNvSpPr>
            <a:spLocks noGrp="1"/>
          </p:cNvSpPr>
          <p:nvPr/>
        </p:nvSpPr>
        <p:spPr>
          <a:xfrm>
            <a:off x="881289" y="3820887"/>
            <a:ext cx="4095750"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Consegue o CarenR extrair padrões não triviais e estatisticamente validados de séries agrícolas não estacionárias?</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As regras descobertas são sinal climático genuíno dentro da época ou artefactos de pertença à época?</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ns2:creationId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a:solidFill>
                  <a:srgbClr val="EE6A2E"/>
                </a:solidFill>
                <a:latin typeface="Arial"/>
                <a:ea typeface="Arial"/>
                <a:cs typeface="Arial"/>
              </a:rPr>
              <a:t>OBJETIVO 2</a:t>
            </a:r>
          </a:p>
        </p:txBody>
      </p:sp>
      <p:sp>
        <p:nvSpPr>
          <p:cNvPr id="25" name="slide9-goal2-title">
            <a:extLst>
              <a:ext uri="{FF2B5EF4-FFF2-40B4-BE49-F238E27FC236}">
                <ns2:creationId id="{22008273-BAF7-44C6-9043-44D5B6EC0837}"/>
              </a:ext>
            </a:extLst>
          </p:cNvPr>
          <p:cNvSpPr>
            <a:spLocks noGrp="1"/>
          </p:cNvSpPr>
          <p:nvPr/>
        </p:nvSpPr>
        <p:spPr>
          <a:xfrm>
            <a:off x="6686550" y="184830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a:solidFill>
                  <a:srgbClr val="111111"/>
                </a:solidFill>
                <a:latin typeface="Arial"/>
                <a:ea typeface="Arial"/>
                <a:cs typeface="Arial"/>
              </a:rPr>
              <a:t>VALIDAR</a:t>
            </a:r>
          </a:p>
        </p:txBody>
      </p:sp>
      <p:sp>
        <p:nvSpPr>
          <p:cNvPr id="26" name="slide9-goal2-question">
            <a:extLst>
              <a:ext uri="{FF2B5EF4-FFF2-40B4-BE49-F238E27FC236}">
                <ns2:creationId id="{A77FD0EF-0C0C-476D-8B54-164CDC6C09A7}"/>
              </a:ext>
            </a:extLst>
          </p:cNvPr>
          <p:cNvSpPr>
            <a:spLocks noGrp="1"/>
          </p:cNvSpPr>
          <p:nvPr/>
        </p:nvSpPr>
        <p:spPr>
          <a:xfrm>
            <a:off x="6686550" y="2552250"/>
            <a:ext cx="4286250" cy="876300"/>
          </a:xfrm>
          <a:prstGeom prst="rect">
            <a:avLst/>
          </a:prstGeom>
          <a:noFill/>
          <a:ln w="0">
            <a:noFill/>
            <a:prstDash val="solid"/>
          </a:ln>
        </p:spPr>
        <p:txBody>
          <a:bodyPr/>
          <a:lstStyle/>
          <a:p>
            <a:pPr>
              <a:buNone/>
              <a:defRPr sz="1800">
                <a:solidFill>
                  <a:srgbClr val="111111"/>
                </a:solidFill>
                <a:latin typeface="Arial"/>
                <a:ea typeface="Arial"/>
                <a:cs typeface="Arial"/>
              </a:defRPr>
            </a:pPr>
            <a:r>
              <a:rPr dirty="0">
                <a:solidFill>
                  <a:srgbClr val="111111"/>
                </a:solidFill>
                <a:latin typeface="Arial"/>
                <a:ea typeface="Arial"/>
                <a:cs typeface="Arial"/>
              </a:rPr>
              <a:t>Podem modelos de regras superar a</a:t>
            </a:r>
          </a:p>
          <a:p>
            <a:pPr>
              <a:buNone/>
              <a:defRPr sz="1800">
                <a:solidFill>
                  <a:srgbClr val="111111"/>
                </a:solidFill>
                <a:latin typeface="Arial"/>
                <a:ea typeface="Arial"/>
                <a:cs typeface="Arial"/>
              </a:defRPr>
            </a:pPr>
            <a:r>
              <a:rPr dirty="0">
                <a:solidFill>
                  <a:srgbClr val="111111"/>
                </a:solidFill>
                <a:latin typeface="Arial"/>
                <a:ea typeface="Arial"/>
                <a:cs typeface="Arial"/>
              </a:rPr>
              <a:t>mediana histórica em períodos</a:t>
            </a:r>
          </a:p>
          <a:p>
            <a:pPr>
              <a:buNone/>
              <a:defRPr sz="1800">
                <a:solidFill>
                  <a:srgbClr val="111111"/>
                </a:solidFill>
                <a:latin typeface="Arial"/>
                <a:ea typeface="Arial"/>
                <a:cs typeface="Arial"/>
              </a:defRPr>
            </a:pPr>
            <a:r>
              <a:rPr dirty="0">
                <a:solidFill>
                  <a:srgbClr val="111111"/>
                </a:solidFill>
                <a:latin typeface="Arial"/>
                <a:ea typeface="Arial"/>
                <a:cs typeface="Arial"/>
              </a:rPr>
              <a:t>futuros genuínos?</a:t>
            </a:r>
          </a:p>
        </p:txBody>
      </p:sp>
      <p:sp>
        <p:nvSpPr>
          <p:cNvPr id="27" name="slide9-goal2-rqs">
            <a:extLst>
              <a:ext uri="{FF2B5EF4-FFF2-40B4-BE49-F238E27FC236}">
                <ns2:creationId id="{25DAFA97-702E-4AD4-B403-32677357FE90}"/>
              </a:ext>
            </a:extLst>
          </p:cNvPr>
          <p:cNvSpPr>
            <a:spLocks noGrp="1"/>
          </p:cNvSpPr>
          <p:nvPr/>
        </p:nvSpPr>
        <p:spPr>
          <a:xfrm>
            <a:off x="6686550" y="3850367"/>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Conseguem os modelos de regras superar a mediana naïve na previsão walk-forward dos resíduos?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Que condições estruturais determinam quando a previsão baseada em regras funciona ou falha?</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ns2:creationId id="{221938CC-400F-EFA7-AE18-430146CD6238}"/>
              </a:ext>
            </a:extLst>
          </p:cNvPr>
          <p:cNvSpPr>
            <a:spLocks noGrp="1"/>
          </p:cNvSpPr>
          <p:nvPr/>
        </p:nvSpPr>
        <p:spPr>
          <a:xfrm rot="16200000">
            <a:off x="293750" y="4083739"/>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Descoberta</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ns2:creationId id="{0FEF3729-98BD-C591-6512-33BA93ED9F42}"/>
              </a:ext>
            </a:extLst>
          </p:cNvPr>
          <p:cNvSpPr>
            <a:spLocks noGrp="1"/>
          </p:cNvSpPr>
          <p:nvPr/>
        </p:nvSpPr>
        <p:spPr>
          <a:xfrm rot="16200000">
            <a:off x="241862" y="5327760"/>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Validação</a:t>
            </a:r>
          </a:p>
        </p:txBody>
      </p:sp>
      <p:sp>
        <p:nvSpPr>
          <p:cNvPr id="32" name="Text 18">
            <a:extLst>
              <a:ext uri="{FF2B5EF4-FFF2-40B4-BE49-F238E27FC236}">
                <ns2:creationId id="{DA3416E1-8C0A-9C4D-3252-26290430A71D}"/>
              </a:ext>
            </a:extLst>
          </p:cNvPr>
          <p:cNvSpPr>
            <a:spLocks noGrp="1"/>
          </p:cNvSpPr>
          <p:nvPr/>
        </p:nvSpPr>
        <p:spPr>
          <a:xfrm rot="16200000">
            <a:off x="6074202" y="4016876"/>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Previsão</a:t>
            </a:r>
          </a:p>
        </p:txBody>
      </p:sp>
      <p:sp>
        <p:nvSpPr>
          <p:cNvPr id="33" name="Text 23">
            <a:extLst>
              <a:ext uri="{FF2B5EF4-FFF2-40B4-BE49-F238E27FC236}">
                <ns2:creationId id="{C7CAB297-0421-ADC4-A91E-C54A2C208896}"/>
              </a:ext>
            </a:extLst>
          </p:cNvPr>
          <p:cNvSpPr>
            <a:spLocks noGrp="1"/>
          </p:cNvSpPr>
          <p:nvPr/>
        </p:nvSpPr>
        <p:spPr>
          <a:xfrm rot="16200000">
            <a:off x="6086475" y="5168739"/>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Diagnóstico</a:t>
            </a:r>
          </a:p>
        </p:txBody>
      </p:sp>
      <p:sp>
        <p:nvSpPr>
          <p:cNvPr id="39" name="Shape 24">
            <a:extLst>
              <a:ext uri="{FF2B5EF4-FFF2-40B4-BE49-F238E27FC236}">
                <ns2:creationId id="{82248170-2868-0BFC-D7B2-1679313F1862}"/>
              </a:ext>
            </a:extLst>
          </p:cNvPr>
          <p:cNvSpPr>
            <a:spLocks noGrp="1"/>
          </p:cNvSpPr>
          <p:nvPr/>
        </p:nvSpPr>
        <p:spPr>
          <a:xfrm>
            <a:off x="662305" y="6262007"/>
            <a:ext cx="11094720" cy="463296"/>
          </a:xfrm>
          <a:prstGeom prst="rect">
            <a:avLst/>
          </a:prstGeom>
          <a:solidFill>
            <a:srgbClr val="1B2B45"/>
          </a:solidFill>
          <a:ln w="12700">
            <a:solidFill>
              <a:srgbClr val="1B2B45"/>
            </a:solidFill>
            <a:prstDash val="solid"/>
          </a:ln>
        </p:spPr>
        <p:txBody>
          <a:bodyPr/>
          <a:lstStyle/>
          <a:p>
            <a:endParaRPr/>
          </a:p>
        </p:txBody>
      </p:sp>
      <p:sp>
        <p:nvSpPr>
          <p:cNvPr id="40" name="Text 25">
            <a:extLst>
              <a:ext uri="{FF2B5EF4-FFF2-40B4-BE49-F238E27FC236}">
                <ns2:creationId id="{24C978E9-AB08-DE07-3C03-391B43A6F663}"/>
              </a:ext>
            </a:extLst>
          </p:cNvPr>
          <p:cNvSpPr>
            <a:spLocks noGrp="1"/>
          </p:cNvSpPr>
          <p:nvPr/>
        </p:nvSpPr>
        <p:spPr>
          <a:xfrm>
            <a:off x="649605" y="6273278"/>
            <a:ext cx="11094720" cy="463296"/>
          </a:xfrm>
          <a:prstGeom prst="rect">
            <a:avLst/>
          </a:prstGeom>
          <a:noFill/>
        </p:spPr>
        <p:txBody>
          <a:bodyPr wrap="square" lIns="0" tIns="0" rIns="0" bIns="0" anchor="ctr"/>
          <a:lstStyle/>
          <a:p>
            <a:pPr algn="ctr">
              <a:buNone/>
            </a:pPr>
            <a:r>
              <a:rPr sz="1267" b="1" dirty="0">
                <a:solidFill>
                  <a:srgbClr val="F5D78A"/>
                </a:solidFill>
                <a:latin typeface="Calibri"/>
                <a:ea typeface="Calibri"/>
                <a:cs typeface="Calibri"/>
              </a:rPr>
              <a:t>RQ1 ✓ Atingido   ·   RQ2 ✓ Validado por LOESS   ·   RQ3 ✗ Não atingido no agregado   ·   RQ4 ✓ Explicado pelo Enquadramento das Duas Decisões</a:t>
            </a:r>
          </a:p>
        </p:txBody>
      </p:sp>
    </p:spTree>
    <p:extLst>
      <p:ext uri="{BB962C8B-B14F-4D97-AF65-F5344CB8AC3E}">
        <ns3:creationId val="1238573030"/>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ns2:creationId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ns2:creationId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ns2:creationId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DESENHO DO ESTUDO</a:t>
            </a:r>
          </a:p>
        </p:txBody>
      </p:sp>
      <p:sp>
        <p:nvSpPr>
          <p:cNvPr id="2" name="Rectangle 1">
            <a:extLst>
              <a:ext uri="{FF2B5EF4-FFF2-40B4-BE49-F238E27FC236}">
                <ns2:creationId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Uma comparação controlada isola o papel da estrutura dos dados</a:t>
            </a:r>
          </a:p>
        </p:txBody>
      </p:sp>
      <p:sp>
        <p:nvSpPr>
          <p:cNvPr id="3" name="Rectangle 2">
            <a:extLst>
              <a:ext uri="{FF2B5EF4-FFF2-40B4-BE49-F238E27FC236}">
                <ns2:creationId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ns2:creationId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IGUAL</a:t>
            </a:r>
          </a:p>
        </p:txBody>
      </p:sp>
      <p:sp>
        <p:nvSpPr>
          <p:cNvPr id="5" name="Rectangle 4">
            <a:extLst>
              <a:ext uri="{FF2B5EF4-FFF2-40B4-BE49-F238E27FC236}">
                <ns2:creationId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ns2:creationId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DIFERENTE</a:t>
            </a:r>
          </a:p>
        </p:txBody>
      </p:sp>
      <p:sp>
        <p:nvSpPr>
          <p:cNvPr id="7" name="Rectangle 6">
            <a:extLst>
              <a:ext uri="{FF2B5EF4-FFF2-40B4-BE49-F238E27FC236}">
                <ns2:creationId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ns2:creationId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ns2:creationId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ns2:creationId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regiões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ns2:creationId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ns2:creationId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observações anuais</a:t>
            </a:r>
          </a:p>
        </p:txBody>
      </p:sp>
      <p:sp>
        <p:nvSpPr>
          <p:cNvPr id="14" name="Rectangle 13">
            <a:extLst>
              <a:ext uri="{FF2B5EF4-FFF2-40B4-BE49-F238E27FC236}">
                <ns2:creationId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O CONTRASTE TRANSFORMA DOIS ESTUDOS DE CASO NUM EXPERIMENTO NATURAL.</a:t>
            </a:r>
          </a:p>
        </p:txBody>
      </p:sp>
    </p:spTree>
    <p:extLst>
      <p:ext uri="{BB962C8B-B14F-4D97-AF65-F5344CB8AC3E}">
        <ns3:creationId val="1296423216"/>
      </p:ext>
    </p:extLst>
  </p:cSld>
  <p:clrMapOvr>
    <a:masterClrMapping/>
  </p:clrMapOvr>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ns2:creationId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ALGORITMOS</a:t>
            </a:r>
          </a:p>
        </p:txBody>
      </p:sp>
      <p:sp>
        <p:nvSpPr>
          <p:cNvPr id="2" name="Rectangle 1">
            <a:extLst>
              <a:ext uri="{FF2B5EF4-FFF2-40B4-BE49-F238E27FC236}">
                <ns2:creationId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é a lente principal entre cinco famílias de modelos</a:t>
            </a:r>
          </a:p>
        </p:txBody>
      </p:sp>
      <p:sp>
        <p:nvSpPr>
          <p:cNvPr id="4" name="Rectangle 3">
            <a:extLst>
              <a:ext uri="{FF2B5EF4-FFF2-40B4-BE49-F238E27FC236}">
                <ns2:creationId id="{CA84679D-FD78-4A8C-B621-155288704D63}"/>
              </a:ext>
            </a:extLst>
          </p:cNvPr>
          <p:cNvSpPr>
            <a:spLocks noGrp="1"/>
          </p:cNvSpPr>
          <p:nvPr/>
        </p:nvSpPr>
        <p:spPr>
          <a:xfrm>
            <a:off x="400050" y="1476375"/>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ns2:creationId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MÉTODO PRINCIPAL</a:t>
            </a:r>
          </a:p>
        </p:txBody>
      </p:sp>
      <p:sp>
        <p:nvSpPr>
          <p:cNvPr id="6" name="Rectangle 5">
            <a:extLst>
              <a:ext uri="{FF2B5EF4-FFF2-40B4-BE49-F238E27FC236}">
                <ns2:creationId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ns2:creationId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Regras distribucionais + variantes preditivas</a:t>
            </a:r>
          </a:p>
        </p:txBody>
      </p:sp>
      <p:sp>
        <p:nvSpPr>
          <p:cNvPr id="8" name="Rectangle 7">
            <a:extLst>
              <a:ext uri="{FF2B5EF4-FFF2-40B4-BE49-F238E27FC236}">
                <ns2:creationId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ns2:creationId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Discretizar</a:t>
            </a:r>
          </a:p>
        </p:txBody>
      </p:sp>
      <p:sp>
        <p:nvSpPr>
          <p:cNvPr id="10" name="Rectangle 9">
            <a:extLst>
              <a:ext uri="{FF2B5EF4-FFF2-40B4-BE49-F238E27FC236}">
                <ns2:creationId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As variáveis climáticas tornam-se intervalos de frequência igual.</a:t>
            </a:r>
          </a:p>
        </p:txBody>
      </p:sp>
      <p:cxnSp>
        <p:nvCxnSpPr>
          <p:cNvPr id="731"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ns2:creationId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ns2:creationId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Pesquisar</a:t>
            </a:r>
          </a:p>
        </p:txBody>
      </p:sp>
      <p:sp>
        <p:nvSpPr>
          <p:cNvPr id="14" name="Rectangle 13">
            <a:extLst>
              <a:ext uri="{FF2B5EF4-FFF2-40B4-BE49-F238E27FC236}">
                <ns2:creationId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A pesquisa por níveis (estilo Apriori) combina condições de intervalos de variáveis.</a:t>
            </a:r>
          </a:p>
        </p:txBody>
      </p:sp>
      <p:cxnSp>
        <p:nvCxnSpPr>
          <p:cNvPr id="735"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ns2:creationId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ns2:creationId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Comparar</a:t>
            </a:r>
          </a:p>
        </p:txBody>
      </p:sp>
      <p:sp>
        <p:nvSpPr>
          <p:cNvPr id="18" name="Rectangle 17">
            <a:extLst>
              <a:ext uri="{FF2B5EF4-FFF2-40B4-BE49-F238E27FC236}">
                <ns2:creationId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Teste KS: resíduos do subgrupo vs resíduos globais.</a:t>
            </a:r>
          </a:p>
        </p:txBody>
      </p:sp>
      <p:cxnSp>
        <p:nvCxnSpPr>
          <p:cNvPr id="739"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ns2:creationId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ns2:creationId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Reter</a:t>
            </a:r>
          </a:p>
        </p:txBody>
      </p:sp>
      <p:sp>
        <p:nvSpPr>
          <p:cNvPr id="22" name="Rectangle 21">
            <a:extLst>
              <a:ext uri="{FF2B5EF4-FFF2-40B4-BE49-F238E27FC236}">
                <ns2:creationId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Manter regras significativas com suporte suficiente.</a:t>
            </a:r>
          </a:p>
        </p:txBody>
      </p:sp>
      <p:sp>
        <p:nvSpPr>
          <p:cNvPr id="23" name="Rectangle 22">
            <a:extLst>
              <a:ext uri="{FF2B5EF4-FFF2-40B4-BE49-F238E27FC236}">
                <ns2:creationId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ns2:creationId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SAÍDA · SE condições climáticas → distribuição dos resíduos de produção deslocada</a:t>
            </a:r>
          </a:p>
        </p:txBody>
      </p:sp>
      <p:sp>
        <p:nvSpPr>
          <p:cNvPr id="25" name="Rectangle 24">
            <a:extLst>
              <a:ext uri="{FF2B5EF4-FFF2-40B4-BE49-F238E27FC236}">
                <ns2:creationId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COMPARADORES</a:t>
            </a:r>
          </a:p>
        </p:txBody>
      </p:sp>
      <p:sp>
        <p:nvSpPr>
          <p:cNvPr id="26" name="Rectangle 25">
            <a:extLst>
              <a:ext uri="{FF2B5EF4-FFF2-40B4-BE49-F238E27FC236}">
                <ns2:creationId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ns2:creationId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RIPPER</a:t>
            </a:r>
          </a:p>
        </p:txBody>
      </p:sp>
      <p:sp>
        <p:nvSpPr>
          <p:cNvPr id="28" name="Rectangle 27">
            <a:extLst>
              <a:ext uri="{FF2B5EF4-FFF2-40B4-BE49-F238E27FC236}">
                <ns2:creationId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Aprendiz de regras + comparador preditivo</a:t>
            </a:r>
          </a:p>
        </p:txBody>
      </p:sp>
      <p:sp>
        <p:nvSpPr>
          <p:cNvPr id="29" name="Rectangle 28">
            <a:extLst>
              <a:ext uri="{FF2B5EF4-FFF2-40B4-BE49-F238E27FC236}">
                <ns2:creationId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ns2:creationId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M5Rules</a:t>
            </a:r>
          </a:p>
        </p:txBody>
      </p:sp>
      <p:sp>
        <p:nvSpPr>
          <p:cNvPr id="31" name="Rectangle 30">
            <a:extLst>
              <a:ext uri="{FF2B5EF4-FFF2-40B4-BE49-F238E27FC236}">
                <ns2:creationId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Aprendiz de regras + comparador preditivo</a:t>
            </a:r>
          </a:p>
        </p:txBody>
      </p:sp>
      <p:sp>
        <p:nvSpPr>
          <p:cNvPr id="32" name="Rectangle 31">
            <a:extLst>
              <a:ext uri="{FF2B5EF4-FFF2-40B4-BE49-F238E27FC236}">
                <ns2:creationId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ns2:creationId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t>Decision Tree</a:t>
            </a:r>
          </a:p>
        </p:txBody>
      </p:sp>
      <p:sp>
        <p:nvSpPr>
          <p:cNvPr id="34" name="Rectangle 33">
            <a:extLst>
              <a:ext uri="{FF2B5EF4-FFF2-40B4-BE49-F238E27FC236}">
                <ns2:creationId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Comparador de ML apenas preditivo e sem regras</a:t>
            </a:r>
          </a:p>
        </p:txBody>
      </p:sp>
      <p:sp>
        <p:nvSpPr>
          <p:cNvPr id="35" name="Rectangle 34">
            <a:extLst>
              <a:ext uri="{FF2B5EF4-FFF2-40B4-BE49-F238E27FC236}">
                <ns2:creationId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ns2:creationId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ns2:creationId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Referências apenas preditivas</a:t>
            </a:r>
          </a:p>
        </p:txBody>
      </p:sp>
      <p:sp>
        <p:nvSpPr>
          <p:cNvPr id="38" name="Rectangle 37">
            <a:extLst>
              <a:ext uri="{FF2B5EF4-FFF2-40B4-BE49-F238E27FC236}">
                <ns2:creationId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Papéis: CarenR liga regras + previsão; RIPPER/M5Rules verificam regras; Árvore de Decisão e baselines naïve testam apenas previsão.</a:t>
            </a:r>
          </a:p>
        </p:txBody>
      </p:sp>
    </p:spTree>
    <p:extLst>
      <p:ext uri="{BB962C8B-B14F-4D97-AF65-F5344CB8AC3E}">
        <ns3:creationId val="307420717"/>
      </p:ext>
    </p:extLst>
  </p:cSld>
  <p:clrMapOvr>
    <a:masterClrMapping/>
  </p:clrMapOvr>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 name="Rectangle 19">
            <a:extLst>
              <a:ext uri="{FF2B5EF4-FFF2-40B4-BE49-F238E27FC236}">
                <ns2:creationId id="{73F35365-02FC-083E-3342-B1DFDDA1809A}"/>
              </a:ext>
            </a:extLst>
          </p:cNvPr>
          <p:cNvSpPr>
            <a:spLocks noGrp="1"/>
          </p:cNvSpPr>
          <p:nvPr/>
        </p:nvSpPr>
        <p:spPr>
          <a:xfrm>
            <a:off x="400049" y="1566279"/>
            <a:ext cx="11264626" cy="676905"/>
          </a:xfrm>
          <a:prstGeom prst="rect">
            <a:avLst/>
          </a:prstGeom>
          <a:solidFill>
            <a:schemeClr val="tx1">
              <a:lumMod val="50000"/>
              <a:lumOff val="50000"/>
            </a:schemeClr>
          </a:solidFill>
          <a:ln w="0">
            <a:noFill/>
            <a:prstDash val="solid"/>
          </a:ln>
        </p:spPr>
        <p:txBody>
          <a:bodyPr/>
          <a:lstStyle/>
          <a:p>
            <a:endParaRPr lang="en-GB" dirty="0"/>
          </a:p>
        </p:txBody>
      </p:sp>
      <p:sp>
        <p:nvSpPr>
          <p:cNvPr id="4" name="Rectangle 3">
            <a:extLst>
              <a:ext uri="{FF2B5EF4-FFF2-40B4-BE49-F238E27FC236}">
                <ns2:creationId id="{E325144A-1585-4407-BE50-12168B67CBDA}"/>
              </a:ext>
            </a:extLst>
          </p:cNvPr>
          <p:cNvSpPr>
            <a:spLocks noGrp="1"/>
          </p:cNvSpPr>
          <p:nvPr/>
        </p:nvSpPr>
        <p:spPr>
          <a:xfrm>
            <a:off x="436538" y="1653605"/>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ns2:creationId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O Objetivo 1 encontra subgrupos estatisticamente excecionais</a:t>
            </a:r>
          </a:p>
        </p:txBody>
      </p:sp>
      <p:sp>
        <p:nvSpPr>
          <p:cNvPr id="60" name="slide11-stray-text-cover">
            <a:extLst>
              <a:ext uri="{FF2B5EF4-FFF2-40B4-BE49-F238E27FC236}">
                <ns2:creationId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509251"/>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ns2:creationId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ns2:creationId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UMA REGRA QUE PODE SER AUDITADA</a:t>
            </a:r>
          </a:p>
        </p:txBody>
      </p:sp>
      <p:sp>
        <p:nvSpPr>
          <p:cNvPr id="67" name="Rectangle 66">
            <a:extLst>
              <a:ext uri="{FF2B5EF4-FFF2-40B4-BE49-F238E27FC236}">
                <ns2:creationId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buNone/>
              <a:defRPr sz="975">
                <a:solidFill>
                  <a:srgbClr val="171313"/>
                </a:solidFill>
              </a:defRPr>
            </a:pPr>
            <a:r>
              <a:rPr sz="1400" b="1">
                <a:solidFill>
                  <a:srgbClr val="171313"/>
                </a:solidFill>
              </a:rPr>
              <a:t>IF</a:t>
            </a:r>
            <a:r>
              <a:rPr sz="1400">
                <a:solidFill>
                  <a:srgbClr val="171313"/>
                </a:solidFill>
              </a:rPr>
              <a:t> pós-floração seco </a:t>
            </a:r>
            <a:r>
              <a:rPr sz="1400" b="1">
                <a:solidFill>
                  <a:srgbClr val="171313"/>
                </a:solidFill>
              </a:rPr>
              <a:t>AND</a:t>
            </a:r>
            <a:r>
              <a:rPr sz="1400">
                <a:solidFill>
                  <a:srgbClr val="171313"/>
                </a:solidFill>
              </a:rPr>
              <a:t> água no solo moderada à vindima</a:t>
            </a:r>
          </a:p>
        </p:txBody>
      </p:sp>
      <p:sp>
        <p:nvSpPr>
          <p:cNvPr id="68" name="Rectangle 67">
            <a:extLst>
              <a:ext uri="{FF2B5EF4-FFF2-40B4-BE49-F238E27FC236}">
                <ns2:creationId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ENTÃO +121 mhl acima da tendência</a:t>
            </a:r>
          </a:p>
        </p:txBody>
      </p:sp>
      <p:sp>
        <p:nvSpPr>
          <p:cNvPr id="69" name="Rectangle 68">
            <a:extLst>
              <a:ext uri="{FF2B5EF4-FFF2-40B4-BE49-F238E27FC236}">
                <ns2:creationId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buNone/>
              <a:defRPr sz="863" i="1">
                <a:solidFill>
                  <a:srgbClr val="6F6761"/>
                </a:solidFill>
              </a:defRPr>
            </a:pPr>
            <a:r>
              <a:rPr sz="863" i="1">
                <a:solidFill>
                  <a:srgbClr val="6F6761"/>
                </a:solidFill>
              </a:rPr>
              <a:t>suporte 28% · p = 0,004</a:t>
            </a:r>
          </a:p>
        </p:txBody>
      </p:sp>
      <p:sp>
        <p:nvSpPr>
          <p:cNvPr id="7" name="Rectangle 6">
            <a:extLst>
              <a:ext uri="{FF2B5EF4-FFF2-40B4-BE49-F238E27FC236}">
                <ns2:creationId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a:solidFill>
                  <a:schemeClr val="accent2"/>
                </a:solidFill>
              </a:rPr>
              <a:t>CarenR coloca uma pergunta distribucional</a:t>
            </a:r>
          </a:p>
        </p:txBody>
      </p:sp>
      <p:pic>
        <p:nvPicPr>
          <p:cNvPr id="131" name="Picture 18"/>
          <p:cNvPicPr>
            <a:picLocks noChangeAspect="1"/>
          </p:cNvPicPr>
          <p:nvPr/>
        </p:nvPicPr>
        <p:blipFill>
          <a:blip r:embed="rId4"/>
          <a:stretch>
            <a:fillRect/>
          </a:stretch>
        </p:blipFill>
        <p:spPr>
          <a:xfrm>
            <a:off x="6409825" y="2465195"/>
            <a:ext cx="4981443" cy="2812230"/>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736576"/>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p:nvPr/>
        </p:nvCxnSpPr>
        <p:spPr>
          <a:xfrm flipV="1">
            <a:off x="5053223" y="2526332"/>
            <a:ext cx="3764622" cy="3432528"/>
          </a:xfrm>
          <a:prstGeom prst="bentConnector4">
            <a:avLst>
              <a:gd name="adj1" fmla="val 27936"/>
              <a:gd name="adj2" fmla="val 105146"/>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ns4:creationId val="1950062933"/>
      </p:ext>
    </p:extLst>
  </p:cSld>
  <p:clrMapOvr>
    <a:masterClrMapping/>
  </p:clrMapOvr>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ns2:creationId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RESULTADOS · DESCOBERTA</a:t>
            </a:r>
          </a:p>
        </p:txBody>
      </p:sp>
      <p:sp>
        <p:nvSpPr>
          <p:cNvPr id="2" name="Rectangle 1">
            <a:extLst>
              <a:ext uri="{FF2B5EF4-FFF2-40B4-BE49-F238E27FC236}">
                <ns2:creationId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O Objetivo 1 foi atingido: regras compactas revelam determinantes regionais</a:t>
            </a:r>
          </a:p>
        </p:txBody>
      </p:sp>
      <p:sp>
        <p:nvSpPr>
          <p:cNvPr id="3" name="Rectangle 2">
            <a:extLst>
              <a:ext uri="{FF2B5EF4-FFF2-40B4-BE49-F238E27FC236}">
                <ns2:creationId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ns2:creationId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ns2:creationId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ns2:creationId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ns2:creationId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ns2:creationId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ns2:creationId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A água no solo à vindima aparece em 54% das regras.</a:t>
            </a:r>
          </a:p>
        </p:txBody>
      </p:sp>
      <p:sp>
        <p:nvSpPr>
          <p:cNvPr id="10" name="Rectangle 9">
            <a:extLst>
              <a:ext uri="{FF2B5EF4-FFF2-40B4-BE49-F238E27FC236}">
                <ns2:creationId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Condições secas pós-floração e calor limitado associam-se repetidamente a produção acima da tendência.</a:t>
            </a:r>
          </a:p>
        </p:txBody>
      </p:sp>
      <p:sp>
        <p:nvSpPr>
          <p:cNvPr id="11" name="Rectangle 10">
            <a:extLst>
              <a:ext uri="{FF2B5EF4-FFF2-40B4-BE49-F238E27FC236}">
                <ns2:creationId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ns2:creationId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ns2:creationId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ns2:creationId id="{4E12E096-AEFD-4CC0-9752-BAB3607FBEA8}"/>
              </a:ext>
            </a:extLst>
          </p:cNvPr>
          <p:cNvSpPr>
            <a:spLocks noGrp="1"/>
          </p:cNvSpPr>
          <p:nvPr/>
        </p:nvSpPr>
        <p:spPr>
          <a:xfrm>
            <a:off x="6667500"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O LAI à vindima aparece em todas as 20 regras.</a:t>
            </a:r>
          </a:p>
        </p:txBody>
      </p:sp>
      <p:sp>
        <p:nvSpPr>
          <p:cNvPr id="15" name="Rectangle 14">
            <a:extLst>
              <a:ext uri="{FF2B5EF4-FFF2-40B4-BE49-F238E27FC236}">
                <ns2:creationId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O desenvolvimento do coberto, o stress térmico e a água no solo à vindima dominam o conjunto regional de regras.</a:t>
            </a:r>
          </a:p>
        </p:txBody>
      </p:sp>
      <p:sp>
        <p:nvSpPr>
          <p:cNvPr id="19" name="TextBox 18">
            <a:extLst>
              <a:ext uri="{FF2B5EF4-FFF2-40B4-BE49-F238E27FC236}">
                <ns2:creationId id="{148B2983-02A9-68D1-FCB9-457D7C8CB555}"/>
              </a:ext>
            </a:extLst>
          </p:cNvPr>
          <p:cNvSpPr txBox="1"/>
          <p:nvPr/>
        </p:nvSpPr>
        <p:spPr>
          <a:xfrm>
            <a:off x="0" y="6048375"/>
            <a:ext cx="12043317" cy="357790"/>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dirty="0">
                <a:solidFill>
                  <a:schemeClr val="accent2"/>
                </a:solidFill>
              </a:rPr>
              <a:t>A mesma variável pode ter direções diferentes entre regiões — a interpretação deve manter-se específica ao contexto.</a:t>
            </a:r>
          </a:p>
        </p:txBody>
      </p:sp>
    </p:spTree>
    <p:extLst>
      <p:ext uri="{BB962C8B-B14F-4D97-AF65-F5344CB8AC3E}">
        <ns3:creationId val="632936583"/>
      </p:ext>
    </p:extLst>
  </p:cSld>
  <p:clrMapOvr>
    <a:masterClrMapping/>
  </p:clrMapOvr>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ns2:creationId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RESULTADOS · REGRAS</a:t>
            </a:r>
          </a:p>
        </p:txBody>
      </p:sp>
      <p:sp>
        <p:nvSpPr>
          <p:cNvPr id="3" name="title">
            <a:extLst>
              <a:ext uri="{FF2B5EF4-FFF2-40B4-BE49-F238E27FC236}">
                <ns2:creationId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As regras CarenR mais fortes apontam para água e estrutura do coberto</a:t>
            </a:r>
          </a:p>
        </p:txBody>
      </p:sp>
      <p:sp>
        <p:nvSpPr>
          <p:cNvPr id="4" name="douro-panel">
            <a:extLst>
              <a:ext uri="{FF2B5EF4-FFF2-40B4-BE49-F238E27FC236}">
                <ns2:creationId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ns2:creationId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ns2:creationId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regras CarenR</a:t>
            </a:r>
          </a:p>
        </p:txBody>
      </p:sp>
      <p:sp>
        <p:nvSpPr>
          <p:cNvPr id="7" name="douro-summary">
            <a:extLst>
              <a:ext uri="{FF2B5EF4-FFF2-40B4-BE49-F238E27FC236}">
                <ns2:creationId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de 5 estão acima da tendência: floração seca e calor limitado definem bons anos.</a:t>
            </a:r>
          </a:p>
        </p:txBody>
      </p:sp>
      <p:sp>
        <p:nvSpPr>
          <p:cNvPr id="8" name="rule-douro-1-rank">
            <a:extLst>
              <a:ext uri="{FF2B5EF4-FFF2-40B4-BE49-F238E27FC236}">
                <ns2:creationId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ns2:creationId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seca + maturação seca</a:t>
            </a:r>
          </a:p>
        </p:txBody>
      </p:sp>
      <p:sp>
        <p:nvSpPr>
          <p:cNvPr id="10" name="rule-douro-1-delta">
            <a:extLst>
              <a:ext uri="{FF2B5EF4-FFF2-40B4-BE49-F238E27FC236}">
                <ns2:creationId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ns2:creationId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suporte · p=0,0043</a:t>
            </a:r>
          </a:p>
        </p:txBody>
      </p:sp>
      <p:sp>
        <p:nvSpPr>
          <p:cNvPr id="12" name="rule-douro-2-rank">
            <a:extLst>
              <a:ext uri="{FF2B5EF4-FFF2-40B4-BE49-F238E27FC236}">
                <ns2:creationId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ns2:creationId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LAI elevado + floração húmida</a:t>
            </a:r>
          </a:p>
        </p:txBody>
      </p:sp>
      <p:sp>
        <p:nvSpPr>
          <p:cNvPr id="14" name="rule-douro-2-delta">
            <a:extLst>
              <a:ext uri="{FF2B5EF4-FFF2-40B4-BE49-F238E27FC236}">
                <ns2:creationId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ns2:creationId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suporte · p=0,0084</a:t>
            </a:r>
          </a:p>
        </p:txBody>
      </p:sp>
      <p:sp>
        <p:nvSpPr>
          <p:cNvPr id="16" name="rule-douro-3-rank">
            <a:extLst>
              <a:ext uri="{FF2B5EF4-FFF2-40B4-BE49-F238E27FC236}">
                <ns2:creationId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ns2:creationId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Seco + calor moderado após a floração</a:t>
            </a:r>
          </a:p>
        </p:txBody>
      </p:sp>
      <p:sp>
        <p:nvSpPr>
          <p:cNvPr id="18" name="rule-douro-3-delta">
            <a:extLst>
              <a:ext uri="{FF2B5EF4-FFF2-40B4-BE49-F238E27FC236}">
                <ns2:creationId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ns2:creationId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suporte · p=0,0089</a:t>
            </a:r>
          </a:p>
        </p:txBody>
      </p:sp>
      <p:sp>
        <p:nvSpPr>
          <p:cNvPr id="20" name="rule-douro-4-rank">
            <a:extLst>
              <a:ext uri="{FF2B5EF4-FFF2-40B4-BE49-F238E27FC236}">
                <ns2:creationId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ns2:creationId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Água à vindima + secura do ano anterior</a:t>
            </a:r>
          </a:p>
        </p:txBody>
      </p:sp>
      <p:sp>
        <p:nvSpPr>
          <p:cNvPr id="22" name="rule-douro-4-delta">
            <a:extLst>
              <a:ext uri="{FF2B5EF4-FFF2-40B4-BE49-F238E27FC236}">
                <ns2:creationId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ns2:creationId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suporte · p=0,0095</a:t>
            </a:r>
          </a:p>
        </p:txBody>
      </p:sp>
      <p:sp>
        <p:nvSpPr>
          <p:cNvPr id="24" name="rule-douro-5-rank">
            <a:extLst>
              <a:ext uri="{FF2B5EF4-FFF2-40B4-BE49-F238E27FC236}">
                <ns2:creationId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ns2:creationId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seca + calor limitado</a:t>
            </a:r>
          </a:p>
        </p:txBody>
      </p:sp>
      <p:sp>
        <p:nvSpPr>
          <p:cNvPr id="26" name="rule-douro-5-delta">
            <a:extLst>
              <a:ext uri="{FF2B5EF4-FFF2-40B4-BE49-F238E27FC236}">
                <ns2:creationId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ns2:creationId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suporte · p=0,0110</a:t>
            </a:r>
          </a:p>
        </p:txBody>
      </p:sp>
      <p:sp>
        <p:nvSpPr>
          <p:cNvPr id="28" name="rvv-label">
            <a:extLst>
              <a:ext uri="{FF2B5EF4-FFF2-40B4-BE49-F238E27FC236}">
                <ns2:creationId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regras CarenR</a:t>
            </a:r>
          </a:p>
        </p:txBody>
      </p:sp>
      <p:sp>
        <p:nvSpPr>
          <p:cNvPr id="29" name="rvv-summary">
            <a:extLst>
              <a:ext uri="{FF2B5EF4-FFF2-40B4-BE49-F238E27FC236}">
                <ns2:creationId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de 5 estão abaixo da tendência: condições frescas e húmidas dominam a região Atlântica.</a:t>
            </a:r>
          </a:p>
        </p:txBody>
      </p:sp>
      <p:sp>
        <p:nvSpPr>
          <p:cNvPr id="30" name="rule-rvv-1-rank">
            <a:extLst>
              <a:ext uri="{FF2B5EF4-FFF2-40B4-BE49-F238E27FC236}">
                <ns2:creationId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ns2:creationId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Vindima húmida + sem calor</a:t>
            </a:r>
          </a:p>
        </p:txBody>
      </p:sp>
      <p:sp>
        <p:nvSpPr>
          <p:cNvPr id="32" name="rule-rvv-1-delta">
            <a:extLst>
              <a:ext uri="{FF2B5EF4-FFF2-40B4-BE49-F238E27FC236}">
                <ns2:creationId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ns2:creationId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suporte · p=0,0198</a:t>
            </a:r>
          </a:p>
        </p:txBody>
      </p:sp>
      <p:sp>
        <p:nvSpPr>
          <p:cNvPr id="34" name="rule-rvv-2-rank">
            <a:extLst>
              <a:ext uri="{FF2B5EF4-FFF2-40B4-BE49-F238E27FC236}">
                <ns2:creationId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ns2:creationId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fresca + solo saturado</a:t>
            </a:r>
          </a:p>
        </p:txBody>
      </p:sp>
      <p:sp>
        <p:nvSpPr>
          <p:cNvPr id="36" name="rule-rvv-2-delta">
            <a:extLst>
              <a:ext uri="{FF2B5EF4-FFF2-40B4-BE49-F238E27FC236}">
                <ns2:creationId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ns2:creationId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suporte · p=0,0216</a:t>
            </a:r>
          </a:p>
        </p:txBody>
      </p:sp>
      <p:sp>
        <p:nvSpPr>
          <p:cNvPr id="38" name="rule-rvv-3-rank">
            <a:extLst>
              <a:ext uri="{FF2B5EF4-FFF2-40B4-BE49-F238E27FC236}">
                <ns2:creationId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ns2:creationId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Pós-floração húmida + pouco calor</a:t>
            </a:r>
          </a:p>
        </p:txBody>
      </p:sp>
      <p:sp>
        <p:nvSpPr>
          <p:cNvPr id="40" name="rule-rvv-3-delta">
            <a:extLst>
              <a:ext uri="{FF2B5EF4-FFF2-40B4-BE49-F238E27FC236}">
                <ns2:creationId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ns2:creationId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suporte · p=0,0294</a:t>
            </a:r>
          </a:p>
        </p:txBody>
      </p:sp>
      <p:sp>
        <p:nvSpPr>
          <p:cNvPr id="42" name="rule-rvv-4-rank">
            <a:extLst>
              <a:ext uri="{FF2B5EF4-FFF2-40B4-BE49-F238E27FC236}">
                <ns2:creationId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ns2:creationId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Abrolh. anterior quente + floração amena</a:t>
            </a:r>
          </a:p>
        </p:txBody>
      </p:sp>
      <p:sp>
        <p:nvSpPr>
          <p:cNvPr id="44" name="rule-rvv-4-delta">
            <a:extLst>
              <a:ext uri="{FF2B5EF4-FFF2-40B4-BE49-F238E27FC236}">
                <ns2:creationId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ns2:creationId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suporte · p=0,0298</a:t>
            </a:r>
          </a:p>
        </p:txBody>
      </p:sp>
      <p:sp>
        <p:nvSpPr>
          <p:cNvPr id="46" name="rule-rvv-5-rank">
            <a:extLst>
              <a:ext uri="{FF2B5EF4-FFF2-40B4-BE49-F238E27FC236}">
                <ns2:creationId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ns2:creationId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Pós-floração fresca + carry-over húmido</a:t>
            </a:r>
          </a:p>
        </p:txBody>
      </p:sp>
      <p:sp>
        <p:nvSpPr>
          <p:cNvPr id="48" name="rule-rvv-5-delta">
            <a:extLst>
              <a:ext uri="{FF2B5EF4-FFF2-40B4-BE49-F238E27FC236}">
                <ns2:creationId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ns2:creationId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suporte · p=0,0299</a:t>
            </a:r>
          </a:p>
        </p:txBody>
      </p:sp>
      <p:sp>
        <p:nvSpPr>
          <p:cNvPr id="50" name="finding-band">
            <a:extLst>
              <a:ext uri="{FF2B5EF4-FFF2-40B4-BE49-F238E27FC236}">
                <ns2:creationId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ns2:creationId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a:solidFill>
                  <a:srgbClr val="7B1E3A"/>
                </a:solidFill>
                <a:latin typeface="Arial"/>
                <a:ea typeface="Arial"/>
                <a:cs typeface="Arial"/>
              </a:rPr>
              <a:t>Resultado entre algoritmos</a:t>
            </a:r>
          </a:p>
        </p:txBody>
      </p:sp>
      <p:sp>
        <p:nvSpPr>
          <p:cNvPr id="52" name="finding-main">
            <a:extLst>
              <a:ext uri="{FF2B5EF4-FFF2-40B4-BE49-F238E27FC236}">
                <ns2:creationId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Entre métodos: água no solo à vindima e LAI/coberto persistem.</a:t>
            </a:r>
          </a:p>
        </p:txBody>
      </p:sp>
      <p:sp>
        <p:nvSpPr>
          <p:cNvPr id="53" name="finding-sub">
            <a:extLst>
              <a:ext uri="{FF2B5EF4-FFF2-40B4-BE49-F238E27FC236}">
                <ns2:creationId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e M5Rules selecionam-nos, logo o sinal não depende de um único critério de otimização.</a:t>
            </a:r>
          </a:p>
        </p:txBody>
      </p:sp>
      <p:sp>
        <p:nvSpPr>
          <p:cNvPr id="55" name="slide-number">
            <a:extLst>
              <a:ext uri="{FF2B5EF4-FFF2-40B4-BE49-F238E27FC236}">
                <ns2:creationId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ns3:creationId val="795803541"/>
      </p:ext>
    </p:extLst>
  </p:cSld>
  <p:clrMapOvr>
    <a:masterClrMapping/>
  </p:clrMapOvr>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ns2:creationId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RESULTADOS · REGRAS</a:t>
            </a:r>
          </a:p>
        </p:txBody>
      </p:sp>
      <p:sp>
        <p:nvSpPr>
          <p:cNvPr id="3" name="title">
            <a:extLst>
              <a:ext uri="{FF2B5EF4-FFF2-40B4-BE49-F238E27FC236}">
                <ns2:creationId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As regras CarenR mais fortes apontam para água e estrutura do coberto</a:t>
            </a:r>
          </a:p>
        </p:txBody>
      </p:sp>
      <p:sp>
        <p:nvSpPr>
          <p:cNvPr id="4" name="douro-panel">
            <a:extLst>
              <a:ext uri="{FF2B5EF4-FFF2-40B4-BE49-F238E27FC236}">
                <ns2:creationId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ns2:creationId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ns2:creationId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regras CarenR</a:t>
            </a:r>
          </a:p>
        </p:txBody>
      </p:sp>
      <p:sp>
        <p:nvSpPr>
          <p:cNvPr id="7" name="douro-summary">
            <a:extLst>
              <a:ext uri="{FF2B5EF4-FFF2-40B4-BE49-F238E27FC236}">
                <ns2:creationId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de 5 estão acima da tendência: floração seca e calor limitado definem bons anos.</a:t>
            </a:r>
          </a:p>
        </p:txBody>
      </p:sp>
      <p:sp>
        <p:nvSpPr>
          <p:cNvPr id="8" name="rule-douro-1-rank">
            <a:extLst>
              <a:ext uri="{FF2B5EF4-FFF2-40B4-BE49-F238E27FC236}">
                <ns2:creationId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ns2:creationId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seca + maturação seca</a:t>
            </a:r>
          </a:p>
        </p:txBody>
      </p:sp>
      <p:sp>
        <p:nvSpPr>
          <p:cNvPr id="10" name="rule-douro-1-delta">
            <a:extLst>
              <a:ext uri="{FF2B5EF4-FFF2-40B4-BE49-F238E27FC236}">
                <ns2:creationId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ns2:creationId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suporte · p=0,0043</a:t>
            </a:r>
          </a:p>
        </p:txBody>
      </p:sp>
      <p:sp>
        <p:nvSpPr>
          <p:cNvPr id="12" name="rule-douro-2-rank">
            <a:extLst>
              <a:ext uri="{FF2B5EF4-FFF2-40B4-BE49-F238E27FC236}">
                <ns2:creationId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ns2:creationId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LAI elevado + floração húmida</a:t>
            </a:r>
          </a:p>
        </p:txBody>
      </p:sp>
      <p:sp>
        <p:nvSpPr>
          <p:cNvPr id="14" name="rule-douro-2-delta">
            <a:extLst>
              <a:ext uri="{FF2B5EF4-FFF2-40B4-BE49-F238E27FC236}">
                <ns2:creationId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ns2:creationId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suporte · p=0,0084</a:t>
            </a:r>
          </a:p>
        </p:txBody>
      </p:sp>
      <p:sp>
        <p:nvSpPr>
          <p:cNvPr id="16" name="rule-douro-3-rank">
            <a:extLst>
              <a:ext uri="{FF2B5EF4-FFF2-40B4-BE49-F238E27FC236}">
                <ns2:creationId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ns2:creationId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Seco + calor moderado após a floração</a:t>
            </a:r>
          </a:p>
        </p:txBody>
      </p:sp>
      <p:sp>
        <p:nvSpPr>
          <p:cNvPr id="18" name="rule-douro-3-delta">
            <a:extLst>
              <a:ext uri="{FF2B5EF4-FFF2-40B4-BE49-F238E27FC236}">
                <ns2:creationId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ns2:creationId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suporte · p=0,0089</a:t>
            </a:r>
          </a:p>
        </p:txBody>
      </p:sp>
      <p:sp>
        <p:nvSpPr>
          <p:cNvPr id="20" name="rule-douro-4-rank">
            <a:extLst>
              <a:ext uri="{FF2B5EF4-FFF2-40B4-BE49-F238E27FC236}">
                <ns2:creationId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ns2:creationId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Água à vindima + secura do ano anterior</a:t>
            </a:r>
          </a:p>
        </p:txBody>
      </p:sp>
      <p:sp>
        <p:nvSpPr>
          <p:cNvPr id="22" name="rule-douro-4-delta">
            <a:extLst>
              <a:ext uri="{FF2B5EF4-FFF2-40B4-BE49-F238E27FC236}">
                <ns2:creationId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ns2:creationId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suporte · p=0,0095</a:t>
            </a:r>
          </a:p>
        </p:txBody>
      </p:sp>
      <p:sp>
        <p:nvSpPr>
          <p:cNvPr id="24" name="rule-douro-5-rank">
            <a:extLst>
              <a:ext uri="{FF2B5EF4-FFF2-40B4-BE49-F238E27FC236}">
                <ns2:creationId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ns2:creationId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seca + calor limitado</a:t>
            </a:r>
          </a:p>
        </p:txBody>
      </p:sp>
      <p:sp>
        <p:nvSpPr>
          <p:cNvPr id="26" name="rule-douro-5-delta">
            <a:extLst>
              <a:ext uri="{FF2B5EF4-FFF2-40B4-BE49-F238E27FC236}">
                <ns2:creationId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ns2:creationId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suporte · p=0,0110</a:t>
            </a:r>
          </a:p>
        </p:txBody>
      </p:sp>
      <p:sp>
        <p:nvSpPr>
          <p:cNvPr id="28" name="rvv-label">
            <a:extLst>
              <a:ext uri="{FF2B5EF4-FFF2-40B4-BE49-F238E27FC236}">
                <ns2:creationId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regras CarenR</a:t>
            </a:r>
          </a:p>
        </p:txBody>
      </p:sp>
      <p:sp>
        <p:nvSpPr>
          <p:cNvPr id="29" name="rvv-summary">
            <a:extLst>
              <a:ext uri="{FF2B5EF4-FFF2-40B4-BE49-F238E27FC236}">
                <ns2:creationId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de 5 estão abaixo da tendência: condições frescas e húmidas dominam a região Atlântica.</a:t>
            </a:r>
          </a:p>
        </p:txBody>
      </p:sp>
      <p:sp>
        <p:nvSpPr>
          <p:cNvPr id="30" name="rule-rvv-1-rank">
            <a:extLst>
              <a:ext uri="{FF2B5EF4-FFF2-40B4-BE49-F238E27FC236}">
                <ns2:creationId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ns2:creationId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Vindima húmida + sem calor</a:t>
            </a:r>
          </a:p>
        </p:txBody>
      </p:sp>
      <p:sp>
        <p:nvSpPr>
          <p:cNvPr id="32" name="rule-rvv-1-delta">
            <a:extLst>
              <a:ext uri="{FF2B5EF4-FFF2-40B4-BE49-F238E27FC236}">
                <ns2:creationId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ns2:creationId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suporte · p=0,0198</a:t>
            </a:r>
          </a:p>
        </p:txBody>
      </p:sp>
      <p:sp>
        <p:nvSpPr>
          <p:cNvPr id="34" name="rule-rvv-2-rank">
            <a:extLst>
              <a:ext uri="{FF2B5EF4-FFF2-40B4-BE49-F238E27FC236}">
                <ns2:creationId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ns2:creationId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Floração fresca + solo saturado</a:t>
            </a:r>
          </a:p>
        </p:txBody>
      </p:sp>
      <p:sp>
        <p:nvSpPr>
          <p:cNvPr id="36" name="rule-rvv-2-delta">
            <a:extLst>
              <a:ext uri="{FF2B5EF4-FFF2-40B4-BE49-F238E27FC236}">
                <ns2:creationId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ns2:creationId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suporte · p=0,0216</a:t>
            </a:r>
          </a:p>
        </p:txBody>
      </p:sp>
      <p:sp>
        <p:nvSpPr>
          <p:cNvPr id="38" name="rule-rvv-3-rank">
            <a:extLst>
              <a:ext uri="{FF2B5EF4-FFF2-40B4-BE49-F238E27FC236}">
                <ns2:creationId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ns2:creationId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Pós-floração húmida + pouco calor</a:t>
            </a:r>
          </a:p>
        </p:txBody>
      </p:sp>
      <p:sp>
        <p:nvSpPr>
          <p:cNvPr id="40" name="rule-rvv-3-delta">
            <a:extLst>
              <a:ext uri="{FF2B5EF4-FFF2-40B4-BE49-F238E27FC236}">
                <ns2:creationId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ns2:creationId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suporte · p=0,0294</a:t>
            </a:r>
          </a:p>
        </p:txBody>
      </p:sp>
      <p:sp>
        <p:nvSpPr>
          <p:cNvPr id="42" name="rule-rvv-4-rank">
            <a:extLst>
              <a:ext uri="{FF2B5EF4-FFF2-40B4-BE49-F238E27FC236}">
                <ns2:creationId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ns2:creationId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Abrolh. anterior quente + floração amena</a:t>
            </a:r>
          </a:p>
        </p:txBody>
      </p:sp>
      <p:sp>
        <p:nvSpPr>
          <p:cNvPr id="44" name="rule-rvv-4-delta">
            <a:extLst>
              <a:ext uri="{FF2B5EF4-FFF2-40B4-BE49-F238E27FC236}">
                <ns2:creationId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ns2:creationId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suporte · p=0,0298</a:t>
            </a:r>
          </a:p>
        </p:txBody>
      </p:sp>
      <p:sp>
        <p:nvSpPr>
          <p:cNvPr id="46" name="rule-rvv-5-rank">
            <a:extLst>
              <a:ext uri="{FF2B5EF4-FFF2-40B4-BE49-F238E27FC236}">
                <ns2:creationId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ns2:creationId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Pós-floração fresca + carry-over húmido</a:t>
            </a:r>
          </a:p>
        </p:txBody>
      </p:sp>
      <p:sp>
        <p:nvSpPr>
          <p:cNvPr id="48" name="rule-rvv-5-delta">
            <a:extLst>
              <a:ext uri="{FF2B5EF4-FFF2-40B4-BE49-F238E27FC236}">
                <ns2:creationId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ns2:creationId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suporte · p=0,0299</a:t>
            </a:r>
          </a:p>
        </p:txBody>
      </p:sp>
      <p:sp>
        <p:nvSpPr>
          <p:cNvPr id="50" name="finding-band">
            <a:extLst>
              <a:ext uri="{FF2B5EF4-FFF2-40B4-BE49-F238E27FC236}">
                <ns2:creationId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ns2:creationId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Resultado entre algoritmos</a:t>
            </a:r>
          </a:p>
        </p:txBody>
      </p:sp>
      <p:sp>
        <p:nvSpPr>
          <p:cNvPr id="52" name="finding-main">
            <a:extLst>
              <a:ext uri="{FF2B5EF4-FFF2-40B4-BE49-F238E27FC236}">
                <ns2:creationId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Entre métodos: água no solo à vindima e LAI/coberto persistem.</a:t>
            </a:r>
          </a:p>
        </p:txBody>
      </p:sp>
      <p:sp>
        <p:nvSpPr>
          <p:cNvPr id="53" name="finding-sub">
            <a:extLst>
              <a:ext uri="{FF2B5EF4-FFF2-40B4-BE49-F238E27FC236}">
                <ns2:creationId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e M5Rules selecionam-nos, logo o sinal não depende de um único critério de otimização.</a:t>
            </a:r>
          </a:p>
        </p:txBody>
      </p:sp>
      <p:sp>
        <p:nvSpPr>
          <p:cNvPr id="54" name="source">
            <a:extLst>
              <a:ext uri="{FF2B5EF4-FFF2-40B4-BE49-F238E27FC236}">
                <ns2:creationId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Fonte: Tese, Tabelas 4.1-4.2 e 4.9</a:t>
            </a:r>
          </a:p>
        </p:txBody>
      </p:sp>
      <p:sp>
        <p:nvSpPr>
          <p:cNvPr id="55" name="slide-number">
            <a:extLst>
              <a:ext uri="{FF2B5EF4-FFF2-40B4-BE49-F238E27FC236}">
                <ns2:creationId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ns2:creationId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ns2:creationId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RESULTADOS · REGRAS</a:t>
            </a:r>
          </a:p>
        </p:txBody>
      </p:sp>
      <p:sp>
        <p:nvSpPr>
          <p:cNvPr id="59" name="exact-title">
            <a:extLst>
              <a:ext uri="{FF2B5EF4-FFF2-40B4-BE49-F238E27FC236}">
                <ns2:creationId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a:solidFill>
                  <a:srgbClr val="111111"/>
                </a:solidFill>
                <a:latin typeface="Arial"/>
                <a:ea typeface="Arial"/>
                <a:cs typeface="Arial"/>
              </a:rPr>
              <a:t>Saída exata das regras CarenR: intervalos por trás das regras principais</a:t>
            </a:r>
          </a:p>
        </p:txBody>
      </p:sp>
      <p:sp>
        <p:nvSpPr>
          <p:cNvPr id="60" name="exact-subtitle">
            <a:extLst>
              <a:ext uri="{FF2B5EF4-FFF2-40B4-BE49-F238E27FC236}">
                <ns2:creationId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Cada linha é um conjunto de condições SE; Delta é o deslocamento mediano do resíduo de produção face à tendência.</a:t>
            </a:r>
          </a:p>
        </p:txBody>
      </p:sp>
      <p:sp>
        <p:nvSpPr>
          <p:cNvPr id="61" name="DOURO (RDD) · top 5 exact rules-panel">
            <a:extLst>
              <a:ext uri="{FF2B5EF4-FFF2-40B4-BE49-F238E27FC236}">
                <ns2:creationId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ns2:creationId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ns2:creationId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Maioritariamente acima da tendência: janelas secas pós-floração/maturação e calor limitado.</a:t>
            </a:r>
          </a:p>
        </p:txBody>
      </p:sp>
      <p:sp>
        <p:nvSpPr>
          <p:cNvPr id="64" name="DOURO (RDD) · top 5 exact rules-header">
            <a:extLst>
              <a:ext uri="{FF2B5EF4-FFF2-40B4-BE49-F238E27FC236}">
                <ns2:creationId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a:p>
        </p:txBody>
      </p:sp>
      <p:sp>
        <p:nvSpPr>
          <p:cNvPr id="65" name="DOURO (RDD) · top 5 exact rules-h1">
            <a:extLst>
              <a:ext uri="{FF2B5EF4-FFF2-40B4-BE49-F238E27FC236}">
                <ns2:creationId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ns2:creationId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Condições exatas da saída CarenR</a:t>
            </a:r>
          </a:p>
        </p:txBody>
      </p:sp>
      <p:sp>
        <p:nvSpPr>
          <p:cNvPr id="67" name="DOURO (RDD) · top 5 exact rules-h3">
            <a:extLst>
              <a:ext uri="{FF2B5EF4-FFF2-40B4-BE49-F238E27FC236}">
                <ns2:creationId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ns2:creationId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ns2:creationId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a:p>
        </p:txBody>
      </p:sp>
      <p:sp>
        <p:nvSpPr>
          <p:cNvPr id="70" name="DOURO (RDD) · top 5 exact rules-rank-1">
            <a:extLst>
              <a:ext uri="{FF2B5EF4-FFF2-40B4-BE49-F238E27FC236}">
                <ns2:creationId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ns2:creationId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ns2:creationId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ns2:creationId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ns2:creationId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a:p>
        </p:txBody>
      </p:sp>
      <p:sp>
        <p:nvSpPr>
          <p:cNvPr id="75" name="DOURO (RDD) · top 5 exact rules-rank-2">
            <a:extLst>
              <a:ext uri="{FF2B5EF4-FFF2-40B4-BE49-F238E27FC236}">
                <ns2:creationId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ns2:creationId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ns2:creationId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ns2:creationId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ns2:creationId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a:p>
        </p:txBody>
      </p:sp>
      <p:sp>
        <p:nvSpPr>
          <p:cNvPr id="80" name="DOURO (RDD) · top 5 exact rules-rank-3">
            <a:extLst>
              <a:ext uri="{FF2B5EF4-FFF2-40B4-BE49-F238E27FC236}">
                <ns2:creationId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ns2:creationId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ns2:creationId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ns2:creationId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ns2:creationId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a:p>
        </p:txBody>
      </p:sp>
      <p:sp>
        <p:nvSpPr>
          <p:cNvPr id="85" name="DOURO (RDD) · top 5 exact rules-rank-4">
            <a:extLst>
              <a:ext uri="{FF2B5EF4-FFF2-40B4-BE49-F238E27FC236}">
                <ns2:creationId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ns2:creationId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ns2:creationId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ns2:creationId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ns2:creationId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a:p>
        </p:txBody>
      </p:sp>
      <p:sp>
        <p:nvSpPr>
          <p:cNvPr id="90" name="DOURO (RDD) · top 5 exact rules-rank-5">
            <a:extLst>
              <a:ext uri="{FF2B5EF4-FFF2-40B4-BE49-F238E27FC236}">
                <ns2:creationId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ns2:creationId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ns2:creationId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ns2:creationId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ns2:creationId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ns2:creationId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ns2:creationId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Maioritariamente abaixo da tendência: condições frescas e húmidas dominam a região Atlântica.</a:t>
            </a:r>
          </a:p>
        </p:txBody>
      </p:sp>
      <p:sp>
        <p:nvSpPr>
          <p:cNvPr id="97" name="VINHO VERDE (RVV) · top 5 exact rules-header">
            <a:extLst>
              <a:ext uri="{FF2B5EF4-FFF2-40B4-BE49-F238E27FC236}">
                <ns2:creationId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a:p>
        </p:txBody>
      </p:sp>
      <p:sp>
        <p:nvSpPr>
          <p:cNvPr id="98" name="VINHO VERDE (RVV) · top 5 exact rules-h1">
            <a:extLst>
              <a:ext uri="{FF2B5EF4-FFF2-40B4-BE49-F238E27FC236}">
                <ns2:creationId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ns2:creationId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Condições exatas da saída CarenR</a:t>
            </a:r>
          </a:p>
        </p:txBody>
      </p:sp>
      <p:sp>
        <p:nvSpPr>
          <p:cNvPr id="100" name="VINHO VERDE (RVV) · top 5 exact rules-h3">
            <a:extLst>
              <a:ext uri="{FF2B5EF4-FFF2-40B4-BE49-F238E27FC236}">
                <ns2:creationId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ns2:creationId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ns2:creationId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a:p>
        </p:txBody>
      </p:sp>
      <p:sp>
        <p:nvSpPr>
          <p:cNvPr id="103" name="VINHO VERDE (RVV) · top 5 exact rules-rank-1">
            <a:extLst>
              <a:ext uri="{FF2B5EF4-FFF2-40B4-BE49-F238E27FC236}">
                <ns2:creationId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ns2:creationId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ns2:creationId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ns2:creationId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ns2:creationId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a:p>
        </p:txBody>
      </p:sp>
      <p:sp>
        <p:nvSpPr>
          <p:cNvPr id="108" name="VINHO VERDE (RVV) · top 5 exact rules-rank-2">
            <a:extLst>
              <a:ext uri="{FF2B5EF4-FFF2-40B4-BE49-F238E27FC236}">
                <ns2:creationId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ns2:creationId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ns2:creationId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ns2:creationId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ns2:creationId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a:p>
        </p:txBody>
      </p:sp>
      <p:sp>
        <p:nvSpPr>
          <p:cNvPr id="113" name="VINHO VERDE (RVV) · top 5 exact rules-rank-3">
            <a:extLst>
              <a:ext uri="{FF2B5EF4-FFF2-40B4-BE49-F238E27FC236}">
                <ns2:creationId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ns2:creationId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ns2:creationId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ns2:creationId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ns2:creationId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a:p>
        </p:txBody>
      </p:sp>
      <p:sp>
        <p:nvSpPr>
          <p:cNvPr id="118" name="VINHO VERDE (RVV) · top 5 exact rules-rank-4">
            <a:extLst>
              <a:ext uri="{FF2B5EF4-FFF2-40B4-BE49-F238E27FC236}">
                <ns2:creationId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ns2:creationId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ns2:creationId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ns2:creationId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ns2:creationId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a:p>
        </p:txBody>
      </p:sp>
      <p:sp>
        <p:nvSpPr>
          <p:cNvPr id="123" name="VINHO VERDE (RVV) · top 5 exact rules-rank-5">
            <a:extLst>
              <a:ext uri="{FF2B5EF4-FFF2-40B4-BE49-F238E27FC236}">
                <ns2:creationId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ns2:creationId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ns2:creationId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ns2:creationId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ns2:creationId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ns2:creationId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ns2:creationId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O suporte é a fração de anos históricos que satisfazem a regra; p é a evidência do teste KS de que a distribuição do subgrupo difere da distribuição total.</a:t>
            </a:r>
          </a:p>
        </p:txBody>
      </p:sp>
    </p:spTree>
    <p:extLst>
      <p:ext uri="{BB962C8B-B14F-4D97-AF65-F5344CB8AC3E}">
        <ns3:creationId val="2724724770"/>
      </p:ext>
    </p:extLst>
  </p:cSld>
  <p:clrMapOvr>
    <a:masterClrMapping/>
  </p:clrMapOvr>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ns2:creationId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VALIDAÇÃO ENTRE ALGORITMOS</a:t>
            </a:r>
          </a:p>
        </p:txBody>
      </p:sp>
      <p:sp>
        <p:nvSpPr>
          <p:cNvPr id="3" name="title">
            <a:extLst>
              <a:ext uri="{FF2B5EF4-FFF2-40B4-BE49-F238E27FC236}">
                <ns2:creationId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Três critérios de otimização recuperam as mesmas famílias de variáveis</a:t>
            </a:r>
          </a:p>
        </p:txBody>
      </p:sp>
      <p:sp>
        <p:nvSpPr>
          <p:cNvPr id="4" name="head">
            <a:extLst>
              <a:ext uri="{FF2B5EF4-FFF2-40B4-BE49-F238E27FC236}">
                <ns2:creationId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ns2:creationId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Variável</a:t>
            </a:r>
          </a:p>
        </p:txBody>
      </p:sp>
      <p:sp>
        <p:nvSpPr>
          <p:cNvPr id="6" name="head-1">
            <a:extLst>
              <a:ext uri="{FF2B5EF4-FFF2-40B4-BE49-F238E27FC236}">
                <ns2:creationId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ns2:creationId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ns2:creationId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ns2:creationId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Confiança</a:t>
            </a:r>
          </a:p>
        </p:txBody>
      </p:sp>
      <p:sp>
        <p:nvSpPr>
          <p:cNvPr id="10" name="row-0">
            <a:extLst>
              <a:ext uri="{FF2B5EF4-FFF2-40B4-BE49-F238E27FC236}">
                <ns2:creationId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ns2:creationId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ns2:creationId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Água no solo à vindima</a:t>
            </a:r>
          </a:p>
        </p:txBody>
      </p:sp>
      <p:sp>
        <p:nvSpPr>
          <p:cNvPr id="13" name="row-0-1">
            <a:extLst>
              <a:ext uri="{FF2B5EF4-FFF2-40B4-BE49-F238E27FC236}">
                <ns2:creationId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ns2:creationId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ns2:creationId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ns2:creationId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ns2:creationId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ns2:creationId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ns2:creationId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Família LAI / coberto</a:t>
            </a:r>
          </a:p>
        </p:txBody>
      </p:sp>
      <p:sp>
        <p:nvSpPr>
          <p:cNvPr id="20" name="row-1-1">
            <a:extLst>
              <a:ext uri="{FF2B5EF4-FFF2-40B4-BE49-F238E27FC236}">
                <ns2:creationId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ns2:creationId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ns2:creationId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ns2:creationId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ns2:creationId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ns2:creationId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ns2:creationId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ns2:creationId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ns2:creationId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ns2:creationId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ns2:creationId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ns2:creationId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ns2:creationId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ns2:creationId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ns2:creationId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ns2:creationId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a:ext uri="{FF2B5EF4-FFF2-40B4-BE49-F238E27FC236}">
                <ns2:creationId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a:ext uri="{FF2B5EF4-FFF2-40B4-BE49-F238E27FC236}">
                <ns2:creationId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ns2:creationId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 concordância entre três métodos independentes é a evidência mais forte de que as variáveis das regras refletem estrutura real dos dados, não ruído algorítmico.</a:t>
            </a:r>
          </a:p>
        </p:txBody>
      </p:sp>
      <p:sp>
        <p:nvSpPr>
          <p:cNvPr id="42" name="slide-number">
            <a:extLst>
              <a:ext uri="{FF2B5EF4-FFF2-40B4-BE49-F238E27FC236}">
                <ns2:creationId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ns2:creationId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ns2:creationId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ns3:creationId val="1531380226"/>
      </p:ext>
    </p:extLst>
  </p:cSld>
  <p:clrMapOvr>
    <a:masterClrMapping/>
  </p:clrMapOvr>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ns2:creationId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RESULTADOS · VALIDAÇÃO</a:t>
            </a:r>
          </a:p>
        </p:txBody>
      </p:sp>
      <p:sp>
        <p:nvSpPr>
          <p:cNvPr id="2" name="Rectangle 1">
            <a:extLst>
              <a:ext uri="{FF2B5EF4-FFF2-40B4-BE49-F238E27FC236}">
                <ns2:creationId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Duas verificações confirmam o sinal descoberto</a:t>
            </a:r>
          </a:p>
        </p:txBody>
      </p:sp>
      <p:sp>
        <p:nvSpPr>
          <p:cNvPr id="4" name="Rectangle 3">
            <a:extLst>
              <a:ext uri="{FF2B5EF4-FFF2-40B4-BE49-F238E27FC236}">
                <ns2:creationId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ns2:creationId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ns2:creationId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ns2:creationId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REMOÇÃO AGRESSIVA DA TENDÊNCIA</a:t>
            </a:r>
          </a:p>
        </p:txBody>
      </p:sp>
      <p:sp>
        <p:nvSpPr>
          <p:cNvPr id="8" name="Rectangle 7">
            <a:extLst>
              <a:ext uri="{FF2B5EF4-FFF2-40B4-BE49-F238E27FC236}">
                <ns2:creationId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Os sinais RDD persistem após LOE</a:t>
            </a:r>
            <a:r>
              <a:rPr lang="pt-PT" dirty="0">
                <a:solidFill>
                  <a:schemeClr val="bg1"/>
                </a:solidFill>
              </a:rPr>
              <a:t>&lt;</a:t>
            </a:r>
            <a:r>
              <a:rPr dirty="0">
                <a:solidFill>
                  <a:schemeClr val="bg1"/>
                </a:solidFill>
              </a:rPr>
              <a:t>SS; em RVV, os dias húmidos persistem enquanto LAI e água no solo estão ligados à época.</a:t>
            </a:r>
          </a:p>
        </p:txBody>
      </p:sp>
      <p:sp>
        <p:nvSpPr>
          <p:cNvPr id="9" name="Rectangle 8">
            <a:extLst>
              <a:ext uri="{FF2B5EF4-FFF2-40B4-BE49-F238E27FC236}">
                <ns2:creationId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O sinal é real, mas não igualmente estável entre regiões.</a:t>
            </a:r>
          </a:p>
        </p:txBody>
      </p:sp>
      <p:sp>
        <p:nvSpPr>
          <p:cNvPr id="10" name="Rectangle 9">
            <a:extLst>
              <a:ext uri="{FF2B5EF4-FFF2-40B4-BE49-F238E27FC236}">
                <ns2:creationId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ns2:creationId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ALGORITMOS INDEPENDENTES</a:t>
            </a:r>
          </a:p>
        </p:txBody>
      </p:sp>
      <p:sp>
        <p:nvSpPr>
          <p:cNvPr id="12" name="Rectangle 11">
            <a:extLst>
              <a:ext uri="{FF2B5EF4-FFF2-40B4-BE49-F238E27FC236}">
                <ns2:creationId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convergem em água no solo à vindima, LAI e temperatura do ano anterior.</a:t>
            </a:r>
          </a:p>
        </p:txBody>
      </p:sp>
      <p:sp>
        <p:nvSpPr>
          <p:cNvPr id="13" name="Rectangle 12">
            <a:extLst>
              <a:ext uri="{FF2B5EF4-FFF2-40B4-BE49-F238E27FC236}">
                <ns2:creationId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O sinal não é específico do CarenR.</a:t>
            </a:r>
          </a:p>
        </p:txBody>
      </p:sp>
      <p:sp>
        <p:nvSpPr>
          <p:cNvPr id="14" name="Rectangle 13">
            <a:extLst>
              <a:ext uri="{FF2B5EF4-FFF2-40B4-BE49-F238E27FC236}">
                <ns2:creationId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A descoberta é credível — mas credibilidade ainda não é utilidade preditiva.</a:t>
            </a:r>
          </a:p>
        </p:txBody>
      </p:sp>
    </p:spTree>
    <p:extLst>
      <p:ext uri="{BB962C8B-B14F-4D97-AF65-F5344CB8AC3E}">
        <ns3:creationId val="1766828400"/>
      </p:ext>
    </p:extLst>
  </p:cSld>
  <p:clrMapOvr>
    <a:masterClrMapping/>
  </p:clrMapOvr>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Rectangle 3">
            <a:extLst>
              <a:ext uri="{FF2B5EF4-FFF2-40B4-BE49-F238E27FC236}">
                <ns2:creationId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MÉTODO · PREVISÃO</a:t>
            </a:r>
          </a:p>
        </p:txBody>
      </p:sp>
      <p:sp>
        <p:nvSpPr>
          <p:cNvPr id="2" name="Rectangle 1">
            <a:extLst>
              <a:ext uri="{FF2B5EF4-FFF2-40B4-BE49-F238E27FC236}">
                <ns2:creationId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t>O Objetivo 2 recria a informação disponível no momento da previsão</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ns2:creationId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Validação com janela expansiva</a:t>
            </a:r>
          </a:p>
        </p:txBody>
      </p:sp>
      <p:sp>
        <p:nvSpPr>
          <p:cNvPr id="6" name="Rectangle 5">
            <a:extLst>
              <a:ext uri="{FF2B5EF4-FFF2-40B4-BE49-F238E27FC236}">
                <ns2:creationId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ns2:creationId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Todo o pré-processamento fica dentro de cada fold de treino:</a:t>
            </a:r>
          </a:p>
        </p:txBody>
      </p:sp>
      <p:sp>
        <p:nvSpPr>
          <p:cNvPr id="9" name="Rectangle 8">
            <a:extLst>
              <a:ext uri="{FF2B5EF4-FFF2-40B4-BE49-F238E27FC236}">
                <ns2:creationId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remoção da tendência
• discretização
• seleção de variáveis
• indução de regras</a:t>
            </a:r>
          </a:p>
        </p:txBody>
      </p:sp>
      <p:sp>
        <p:nvSpPr>
          <p:cNvPr id="10" name="Rectangle 9">
            <a:extLst>
              <a:ext uri="{FF2B5EF4-FFF2-40B4-BE49-F238E27FC236}">
                <ns2:creationId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ns2:creationId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modelos · MAE ponderado · menor é melhor</a:t>
            </a:r>
          </a:p>
        </p:txBody>
      </p:sp>
    </p:spTree>
    <p:extLst>
      <p:ext uri="{BB962C8B-B14F-4D97-AF65-F5344CB8AC3E}">
        <ns4:creationId val="653216723"/>
      </p:ext>
    </p:extLst>
  </p:cSld>
  <p:clrMapOvr>
    <a:masterClrMapping/>
  </p:clrMapOvr>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Rectangle 3">
            <a:extLst>
              <a:ext uri="{FF2B5EF4-FFF2-40B4-BE49-F238E27FC236}">
                <ns2:creationId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RESULTADOS · PREVISÃO</a:t>
            </a:r>
          </a:p>
        </p:txBody>
      </p:sp>
      <p:sp>
        <p:nvSpPr>
          <p:cNvPr id="2" name="Rectangle 1">
            <a:extLst>
              <a:ext uri="{FF2B5EF4-FFF2-40B4-BE49-F238E27FC236}">
                <ns2:creationId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Nenhum modelo baseado em regras supera a mediana no geral</a:t>
            </a:r>
          </a:p>
        </p:txBody>
      </p:sp>
      <p:sp>
        <p:nvSpPr>
          <p:cNvPr id="6" name="Rectangle 5">
            <a:extLst>
              <a:ext uri="{FF2B5EF4-FFF2-40B4-BE49-F238E27FC236}">
                <ns2:creationId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ns2:creationId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ns2:creationId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pior · p = 0,468</a:t>
            </a:r>
          </a:p>
        </p:txBody>
      </p:sp>
      <p:sp>
        <p:nvSpPr>
          <p:cNvPr id="10" name="Rectangle 9">
            <a:extLst>
              <a:ext uri="{FF2B5EF4-FFF2-40B4-BE49-F238E27FC236}">
                <ns2:creationId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ns2:creationId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pior · p = 0,004*</a:t>
            </a:r>
          </a:p>
        </p:txBody>
      </p:sp>
      <p:sp>
        <p:nvSpPr>
          <p:cNvPr id="12" name="Rectangle 11">
            <a:extLst>
              <a:ext uri="{FF2B5EF4-FFF2-40B4-BE49-F238E27FC236}">
                <ns2:creationId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*Nos 9 cenários em que as regras RVV dispararam, prejudicaram significativamente a previsão.</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ns2:creationId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ns2:creationId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stretch/>
        </p:blipFill>
        <p:spPr>
          <a:xfrm>
            <a:off x="214027" y="1769659"/>
            <a:ext cx="6072473" cy="3643484"/>
          </a:xfrm>
          <a:prstGeom prst="rect">
            <a:avLst/>
          </a:prstGeom>
        </p:spPr>
      </p:pic>
      <p:pic>
        <p:nvPicPr>
          <p:cNvPr id="3" name="Picture 2">
            <a:extLst>
              <a:ext uri="{FF2B5EF4-FFF2-40B4-BE49-F238E27FC236}">
                <ns2:creationId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Tree>
    <p:extLst>
      <p:ext uri="{BB962C8B-B14F-4D97-AF65-F5344CB8AC3E}">
        <ns4:creationId val="1466289968"/>
      </p:ext>
    </p:extLst>
  </p:cSld>
  <p:clrMapOvr>
    <a:masterClrMapping/>
  </p:clrMapOvr>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ns2:creationId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ns2:creationId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Uma associação real pode ainda ser demasiado fraca para prever</a:t>
            </a:r>
          </a:p>
        </p:txBody>
      </p:sp>
      <p:sp>
        <p:nvSpPr>
          <p:cNvPr id="4" name="Rectangle 3">
            <a:extLst>
              <a:ext uri="{FF2B5EF4-FFF2-40B4-BE49-F238E27FC236}">
                <ns2:creationId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ns2:creationId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ns2:creationId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ns2:creationId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A DISTRIBUIÇÃO DO SUBGRUPO É DIFERENTE?</a:t>
            </a:r>
          </a:p>
        </p:txBody>
      </p:sp>
      <p:sp>
        <p:nvSpPr>
          <p:cNvPr id="8" name="Rectangle 7">
            <a:extLst>
              <a:ext uri="{FF2B5EF4-FFF2-40B4-BE49-F238E27FC236}">
                <ns2:creationId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Com |r| ≈ 0,47, a associação é detetável em 80–89 anos históricos.</a:t>
            </a:r>
          </a:p>
        </p:txBody>
      </p:sp>
      <p:sp>
        <p:nvSpPr>
          <p:cNvPr id="9" name="Rectangle 8">
            <a:extLst>
              <a:ext uri="{FF2B5EF4-FFF2-40B4-BE49-F238E27FC236}">
                <ns2:creationId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ns2:creationId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A REGRA REDUZ O ERRO FUTURO?</a:t>
            </a:r>
          </a:p>
        </p:txBody>
      </p:sp>
      <p:sp>
        <p:nvSpPr>
          <p:cNvPr id="11" name="Rectangle 10">
            <a:extLst>
              <a:ext uri="{FF2B5EF4-FFF2-40B4-BE49-F238E27FC236}">
                <ns2:creationId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O clima explica ≈22% da variância residual; ≈78% permanece não observado ou ruidoso.</a:t>
            </a:r>
          </a:p>
        </p:txBody>
      </p:sp>
      <p:sp>
        <p:nvSpPr>
          <p:cNvPr id="12" name="Rectangle 11">
            <a:extLst>
              <a:ext uri="{FF2B5EF4-FFF2-40B4-BE49-F238E27FC236}">
                <ns2:creationId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ns2:creationId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a:solidFill>
                  <a:schemeClr val="bg1"/>
                </a:solidFill>
              </a:rPr>
              <a:t>Descoberta de padrões e previsão respondem a perguntas diferentes.</a:t>
            </a:r>
          </a:p>
        </p:txBody>
      </p:sp>
      <p:sp>
        <p:nvSpPr>
          <p:cNvPr id="14" name="Rectangle 13">
            <a:extLst>
              <a:ext uri="{FF2B5EF4-FFF2-40B4-BE49-F238E27FC236}">
                <ns2:creationId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Fonte: Tese, Secção 6.1</a:t>
            </a:r>
          </a:p>
        </p:txBody>
      </p:sp>
    </p:spTree>
    <p:extLst>
      <p:ext uri="{BB962C8B-B14F-4D97-AF65-F5344CB8AC3E}">
        <ns3:creationId val="611617661"/>
      </p:ext>
    </p:extLst>
  </p:cSld>
  <p:clrMapOvr>
    <a:masterClrMapping/>
  </p:clrMapOvr>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ns2:creationId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ENQUADRAMENTO DAS DUAS DECISÕES</a:t>
            </a:r>
          </a:p>
        </p:txBody>
      </p:sp>
      <p:sp>
        <p:nvSpPr>
          <p:cNvPr id="2" name="Rectangle 1">
            <a:extLst>
              <a:ext uri="{FF2B5EF4-FFF2-40B4-BE49-F238E27FC236}">
                <ns2:creationId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Uma melhor remoção da tendência pode retirar o sinal de que as regras precisam</a:t>
            </a:r>
          </a:p>
        </p:txBody>
      </p:sp>
      <p:sp>
        <p:nvSpPr>
          <p:cNvPr id="4" name="Rectangle 3">
            <a:extLst>
              <a:ext uri="{FF2B5EF4-FFF2-40B4-BE49-F238E27FC236}">
                <ns2:creationId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ns2:creationId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ns2:creationId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ns2:creationId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MODELAR A TENDÊNCIA ESTRUTURAL</a:t>
            </a:r>
          </a:p>
        </p:txBody>
      </p:sp>
      <p:sp>
        <p:nvSpPr>
          <p:cNvPr id="8" name="Rectangle 7">
            <a:extLst>
              <a:ext uri="{FF2B5EF4-FFF2-40B4-BE49-F238E27FC236}">
                <ns2:creationId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Uma tendência melhor deixa resíduos de teste menores e baixa o piso de erro naïve.</a:t>
            </a:r>
          </a:p>
        </p:txBody>
      </p:sp>
      <p:sp>
        <p:nvSpPr>
          <p:cNvPr id="10" name="Rectangle 9">
            <a:extLst>
              <a:ext uri="{FF2B5EF4-FFF2-40B4-BE49-F238E27FC236}">
                <ns2:creationId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EXTRAIR SINAL CLIMÁTICO</a:t>
            </a:r>
          </a:p>
        </p:txBody>
      </p:sp>
      <p:sp>
        <p:nvSpPr>
          <p:cNvPr id="11" name="Rectangle 10">
            <a:extLst>
              <a:ext uri="{FF2B5EF4-FFF2-40B4-BE49-F238E27FC236}">
                <ns2:creationId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Regras estáveis precisam de estrutura residual suficientemente grande para detetar e explorar.</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ns2:creationId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ns2:creationId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o baseline melhora 140 → 90 </a:t>
            </a:r>
            <a:r>
              <a:rPr dirty="0" err="1">
                <a:solidFill>
                  <a:schemeClr val="accent2"/>
                </a:solidFill>
              </a:rPr>
              <a:t>mhl</a:t>
            </a:r>
            <a:r>
              <a:rPr dirty="0">
                <a:solidFill>
                  <a:schemeClr val="accent2"/>
                </a:solidFill>
              </a:rPr>
              <a:t>, mas a indução de regras cai para zero.</a:t>
            </a:r>
          </a:p>
        </p:txBody>
      </p:sp>
      <p:sp>
        <p:nvSpPr>
          <p:cNvPr id="15" name="Rectangle 14">
            <a:extLst>
              <a:ext uri="{FF2B5EF4-FFF2-40B4-BE49-F238E27FC236}">
                <ns2:creationId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O tempo sozinho não separa claramente a estrutura do setor do clima.</a:t>
            </a:r>
          </a:p>
        </p:txBody>
      </p:sp>
      <p:sp>
        <p:nvSpPr>
          <p:cNvPr id="16" name="Rectangle 15">
            <a:extLst>
              <a:ext uri="{FF2B5EF4-FFF2-40B4-BE49-F238E27FC236}">
                <ns2:creationId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Fonte: Tese, Secções 3.3, 5.5 e 6.2</a:t>
            </a:r>
          </a:p>
        </p:txBody>
      </p:sp>
      <p:sp>
        <p:nvSpPr>
          <p:cNvPr id="17" name="Rectangle 16">
            <a:extLst>
              <a:ext uri="{FF2B5EF4-FFF2-40B4-BE49-F238E27FC236}">
                <ns2:creationId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spTree>
    <p:extLst>
      <p:ext uri="{BB962C8B-B14F-4D97-AF65-F5344CB8AC3E}">
        <ns3:creationId val="294443041"/>
      </p:ext>
    </p:extLst>
  </p:cSld>
  <p:clrMapOvr>
    <a:masterClrMapping/>
  </p:clrMapOvr>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ns2:creationId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CONTRIBUTOS</a:t>
            </a:r>
          </a:p>
        </p:txBody>
      </p:sp>
      <p:sp>
        <p:nvSpPr>
          <p:cNvPr id="2" name="Rectangle 1">
            <a:extLst>
              <a:ext uri="{FF2B5EF4-FFF2-40B4-BE49-F238E27FC236}">
                <ns2:creationId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Cinco contributos científicos clarificam porque as regras funcionam e falham</a:t>
            </a:r>
          </a:p>
        </p:txBody>
      </p:sp>
      <p:sp>
        <p:nvSpPr>
          <p:cNvPr id="4" name="Rectangle 3">
            <a:extLst>
              <a:ext uri="{FF2B5EF4-FFF2-40B4-BE49-F238E27FC236}">
                <ns2:creationId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ns2:creationId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ns2:creationId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a:solidFill>
                  <a:schemeClr val="bg1"/>
                </a:solidFill>
              </a:rPr>
              <a:t>O enquadramento das duas decisões separa a qualidade da tendência da extração do sinal climático residual.</a:t>
            </a:r>
          </a:p>
        </p:txBody>
      </p:sp>
      <p:sp>
        <p:nvSpPr>
          <p:cNvPr id="7" name="Rectangle 6">
            <a:extLst>
              <a:ext uri="{FF2B5EF4-FFF2-40B4-BE49-F238E27FC236}">
                <ns2:creationId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ns2:creationId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ns2:creationId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ns2:creationId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Avaliação walk-forward</a:t>
            </a:r>
          </a:p>
        </p:txBody>
      </p:sp>
      <p:sp>
        <p:nvSpPr>
          <p:cNvPr id="11" name="Rectangle 10">
            <a:extLst>
              <a:ext uri="{FF2B5EF4-FFF2-40B4-BE49-F238E27FC236}">
                <ns2:creationId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modelos, 18/16 cenários e todo o pré-processamento dentro de cada fold.</a:t>
            </a:r>
          </a:p>
        </p:txBody>
      </p:sp>
      <p:sp>
        <p:nvSpPr>
          <p:cNvPr id="12" name="Rectangle 11">
            <a:extLst>
              <a:ext uri="{FF2B5EF4-FFF2-40B4-BE49-F238E27FC236}">
                <ns2:creationId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Análise de sensibilidade</a:t>
            </a:r>
          </a:p>
        </p:txBody>
      </p:sp>
      <p:sp>
        <p:nvSpPr>
          <p:cNvPr id="13" name="Rectangle 12">
            <a:extLst>
              <a:ext uri="{FF2B5EF4-FFF2-40B4-BE49-F238E27FC236}">
                <ns2:creationId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Onze variantes CarenR mostram que a melhor estratégia de seleção de variáveis é específica do problema.</a:t>
            </a:r>
          </a:p>
        </p:txBody>
      </p:sp>
      <p:sp>
        <p:nvSpPr>
          <p:cNvPr id="14" name="Rectangle 13">
            <a:extLst>
              <a:ext uri="{FF2B5EF4-FFF2-40B4-BE49-F238E27FC236}">
                <ns2:creationId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Análise da composição por época</a:t>
            </a:r>
          </a:p>
        </p:txBody>
      </p:sp>
      <p:sp>
        <p:nvSpPr>
          <p:cNvPr id="15" name="Rectangle 14">
            <a:extLst>
              <a:ext uri="{FF2B5EF4-FFF2-40B4-BE49-F238E27FC236}">
                <ns2:creationId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Identifica quando a previsão baseada em regras pode tornar-se viável, como hipótese para trabalho futuro.</a:t>
            </a:r>
          </a:p>
        </p:txBody>
      </p:sp>
      <p:sp>
        <p:nvSpPr>
          <p:cNvPr id="16" name="Rectangle 15">
            <a:extLst>
              <a:ext uri="{FF2B5EF4-FFF2-40B4-BE49-F238E27FC236}">
                <ns2:creationId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a:solidFill>
                  <a:schemeClr val="accent2"/>
                </a:solidFill>
              </a:rPr>
              <a:t>5 · VALIDAÇÃO ENTRE ALGORITMOS: RIPPER E M5RULES CONFIRMAM INDEPENDENTEMENTE AS FAMÍLIAS DE VARIÁVEIS DO CARENR.</a:t>
            </a:r>
          </a:p>
        </p:txBody>
      </p:sp>
    </p:spTree>
    <p:extLst>
      <p:ext uri="{BB962C8B-B14F-4D97-AF65-F5344CB8AC3E}">
        <ns3:creationId val="436008279"/>
      </p:ext>
    </p:extLst>
  </p:cSld>
  <p:clrMapOvr>
    <a:masterClrMapping/>
  </p:clrMapOvr>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ns2:creationId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LIMITAÇÕES E TRABALHO FUTURO</a:t>
            </a:r>
          </a:p>
        </p:txBody>
      </p:sp>
      <p:sp>
        <p:nvSpPr>
          <p:cNvPr id="3" name="title">
            <a:extLst>
              <a:ext uri="{FF2B5EF4-FFF2-40B4-BE49-F238E27FC236}">
                <ns2:creationId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A próxima evidência deve separar clima de estrutura</a:t>
            </a:r>
          </a:p>
        </p:txBody>
      </p:sp>
      <p:sp>
        <p:nvSpPr>
          <p:cNvPr id="4" name="lim-panel">
            <a:extLst>
              <a:ext uri="{FF2B5EF4-FFF2-40B4-BE49-F238E27FC236}">
                <ns2:creationId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ns2:creationId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ns2:creationId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LIMITAÇÕES</a:t>
            </a:r>
          </a:p>
        </p:txBody>
      </p:sp>
      <p:sp>
        <p:nvSpPr>
          <p:cNvPr id="7" name="lim-body">
            <a:extLst>
              <a:ext uri="{FF2B5EF4-FFF2-40B4-BE49-F238E27FC236}">
                <ns2:creationId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chemeClr val="bg1"/>
                </a:solidFill>
                <a:latin typeface="Arial"/>
                <a:ea typeface="Arial"/>
                <a:cs typeface="Arial"/>
              </a:rPr>
              <a:t>O tempo é a única covariável de remoção da tendência, por isso mudança estrutural e clima continuam parcialmente misturados.</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O teste walk-forward tem apenas 18 e 16 cenários; o resultado 5/5 RDD com épocas equilibradas é exploratório.</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Agregados anuais regionais escondem clima sub-regional e heterogeneidade das vinhas.</a:t>
            </a:r>
          </a:p>
        </p:txBody>
      </p:sp>
      <p:sp>
        <p:nvSpPr>
          <p:cNvPr id="8" name="fw-panel">
            <a:extLst>
              <a:ext uri="{FF2B5EF4-FFF2-40B4-BE49-F238E27FC236}">
                <ns2:creationId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ns2:creationId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ns2:creationId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TRABALHO FUTURO</a:t>
            </a:r>
          </a:p>
        </p:txBody>
      </p:sp>
      <p:sp>
        <p:nvSpPr>
          <p:cNvPr id="11" name="fw-body">
            <a:extLst>
              <a:ext uri="{FF2B5EF4-FFF2-40B4-BE49-F238E27FC236}">
                <ns2:creationId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rgbClr val="111111"/>
                </a:solidFill>
                <a:latin typeface="Arial"/>
                <a:ea typeface="Arial"/>
                <a:cs typeface="Arial"/>
              </a:rPr>
              <a:t>Adicionar covariáveis estruturais: área plantada, quotas e produtores certificados.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Pré-registar e validar prospetivamente a hipótese de épocas equilibradas.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Testar outras séries temporais regionais com tendências mais fracas e usar dados climáticos de maior resolução.</a:t>
            </a:r>
          </a:p>
        </p:txBody>
      </p:sp>
      <p:sp>
        <p:nvSpPr>
          <p:cNvPr id="14" name="close-text">
            <a:extLst>
              <a:ext uri="{FF2B5EF4-FFF2-40B4-BE49-F238E27FC236}">
                <ns2:creationId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A TESE AINDA NÃO REIVINDICA UMA PREVISÃO OPERACIONAL; MOSTRA QUANDO AS REGRAS INTERPRETÁVEIS SÃO SIGNIFICATIVAS, QUANDO FALHAM E QUE EVIDÊNCIA É NECESSÁRIA A SEGUIR.</a:t>
            </a:r>
          </a:p>
        </p:txBody>
      </p:sp>
      <p:sp>
        <p:nvSpPr>
          <p:cNvPr id="16" name="slide-number">
            <a:extLst>
              <a:ext uri="{FF2B5EF4-FFF2-40B4-BE49-F238E27FC236}">
                <ns2:creationId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ns3:creationId val="1999411542"/>
      </p:ext>
    </p:extLst>
  </p:cSld>
  <p:clrMapOvr>
    <a:masterClrMapping/>
  </p:clrMapOvr>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ns2:creationId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PRÓXIMOS PASSOS</a:t>
            </a:r>
          </a:p>
        </p:txBody>
      </p:sp>
      <p:sp>
        <p:nvSpPr>
          <p:cNvPr id="2" name="Rectangle 1">
            <a:extLst>
              <a:ext uri="{FF2B5EF4-FFF2-40B4-BE49-F238E27FC236}">
                <ns2:creationId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O próximo passo é modelar explicitamente a estrutura</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ns2:creationId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ns2:creationId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ns2:creationId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ns2:creationId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ns2:creationId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ns2:creationId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COVARIÁVEIS
ESTRUTURAIS</a:t>
            </a:r>
          </a:p>
        </p:txBody>
      </p:sp>
      <p:sp>
        <p:nvSpPr>
          <p:cNvPr id="11" name="Rectangle 10">
            <a:extLst>
              <a:ext uri="{FF2B5EF4-FFF2-40B4-BE49-F238E27FC236}">
                <ns2:creationId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Área plantada, quotas, produtores</a:t>
            </a:r>
          </a:p>
        </p:txBody>
      </p:sp>
      <p:sp>
        <p:nvSpPr>
          <p:cNvPr id="12" name="Rectangle 11">
            <a:extLst>
              <a:ext uri="{FF2B5EF4-FFF2-40B4-BE49-F238E27FC236}">
                <ns2:creationId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ns2:creationId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VALIDAÇÃO
PROSPETIVA</a:t>
            </a:r>
          </a:p>
        </p:txBody>
      </p:sp>
      <p:sp>
        <p:nvSpPr>
          <p:cNvPr id="14" name="Rectangle 13">
            <a:extLst>
              <a:ext uri="{FF2B5EF4-FFF2-40B4-BE49-F238E27FC236}">
                <ns2:creationId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Pré-registar a hipótese de épocas equilibradas</a:t>
            </a:r>
          </a:p>
        </p:txBody>
      </p:sp>
      <p:sp>
        <p:nvSpPr>
          <p:cNvPr id="15" name="Rectangle 14">
            <a:extLst>
              <a:ext uri="{FF2B5EF4-FFF2-40B4-BE49-F238E27FC236}">
                <ns2:creationId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ns2:creationId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MAIOR RESOLUÇÃO
ESPACIAL</a:t>
            </a:r>
          </a:p>
        </p:txBody>
      </p:sp>
      <p:sp>
        <p:nvSpPr>
          <p:cNvPr id="17" name="Rectangle 16">
            <a:extLst>
              <a:ext uri="{FF2B5EF4-FFF2-40B4-BE49-F238E27FC236}">
                <ns2:creationId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Captar heterogeneidade intra-regional</a:t>
            </a:r>
          </a:p>
        </p:txBody>
      </p:sp>
      <p:sp>
        <p:nvSpPr>
          <p:cNvPr id="18" name="Rectangle 17">
            <a:extLst>
              <a:ext uri="{FF2B5EF4-FFF2-40B4-BE49-F238E27FC236}">
                <ns2:creationId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ns2:creationId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ns2:creationId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Testar séries temporais com tendências estruturais mais fracas</a:t>
            </a:r>
          </a:p>
        </p:txBody>
      </p:sp>
      <p:sp>
        <p:nvSpPr>
          <p:cNvPr id="21" name="Rectangle 20">
            <a:extLst>
              <a:ext uri="{FF2B5EF4-FFF2-40B4-BE49-F238E27FC236}">
                <ns2:creationId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ns2:creationId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ns3:creationId val="1984580091"/>
      </p:ext>
    </p:extLst>
  </p:cSld>
  <p:clrMapOvr>
    <a:masterClrMapping/>
  </p:clrMapOvr>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ns2:creationId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Obrigado</a:t>
            </a:r>
          </a:p>
        </p:txBody>
      </p:sp>
      <p:sp>
        <p:nvSpPr>
          <p:cNvPr id="24" name="Rectangle 23">
            <a:extLst>
              <a:ext uri="{FF2B5EF4-FFF2-40B4-BE49-F238E27FC236}">
                <ns2:creationId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Perguntas</a:t>
            </a:r>
          </a:p>
        </p:txBody>
      </p:sp>
    </p:spTree>
    <p:extLst>
      <p:ext uri="{BB962C8B-B14F-4D97-AF65-F5344CB8AC3E}">
        <ns3:creationId val="670427159"/>
      </p:ext>
    </p:extLst>
  </p:cSld>
  <p:clrMapOvr>
    <a:masterClrMapping/>
  </p:clrMapOvr>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Um sinal real, afogado em ruído</a:t>
            </a:r>
          </a:p>
        </p:txBody>
      </p:sp>
      <p:sp>
        <p:nvSpPr>
          <p:cNvPr id="3" name="Shape 1">
            <a:extLst>
              <a:ext uri="{FF2B5EF4-FFF2-40B4-BE49-F238E27FC236}">
                <ns2:creationId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ns2:creationId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ns2:creationId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ns2:creationId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Correlação clima–produção — o sinal é real</a:t>
            </a:r>
          </a:p>
        </p:txBody>
      </p:sp>
      <p:sp>
        <p:nvSpPr>
          <p:cNvPr id="11" name="Text 9">
            <a:extLst>
              <a:ext uri="{FF2B5EF4-FFF2-40B4-BE49-F238E27FC236}">
                <ns2:creationId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ns2:creationId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da variância residual é explicável pelo clima</a:t>
            </a:r>
          </a:p>
        </p:txBody>
      </p:sp>
      <p:sp>
        <p:nvSpPr>
          <p:cNvPr id="13" name="Text 11">
            <a:extLst>
              <a:ext uri="{FF2B5EF4-FFF2-40B4-BE49-F238E27FC236}">
                <ns2:creationId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ns2:creationId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Oscilação ano a ano — o ruído onde o sinal se esconde</a:t>
            </a:r>
          </a:p>
        </p:txBody>
      </p:sp>
      <p:sp>
        <p:nvSpPr>
          <p:cNvPr id="15" name="Text 13">
            <a:extLst>
              <a:ext uri="{FF2B5EF4-FFF2-40B4-BE49-F238E27FC236}">
                <ns2:creationId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Milhares de viticultores, vinhas heterogéneas e clima local que nenhum índice regional capta.</a:t>
            </a:r>
          </a:p>
        </p:txBody>
      </p:sp>
      <p:sp>
        <p:nvSpPr>
          <p:cNvPr id="16" name="Text 14">
            <a:extLst>
              <a:ext uri="{FF2B5EF4-FFF2-40B4-BE49-F238E27FC236}">
                <ns2:creationId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subida gradual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ns2:creationId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queda estrutural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ns2:creationId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ns4:creationId val="1032110048"/>
      </p:ext>
    </p:extLst>
  </p:cSld>
  <p:clrMapOvr>
    <a:masterClrMapping/>
  </p:clrMapOvr>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As entradas também mudam — o clima é não estacionário</a:t>
            </a:r>
          </a:p>
        </p:txBody>
      </p:sp>
      <p:sp>
        <p:nvSpPr>
          <p:cNvPr id="3" name="Shape 1">
            <a:extLst>
              <a:ext uri="{FF2B5EF4-FFF2-40B4-BE49-F238E27FC236}">
                <ns2:creationId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ns2:creationId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ns2:creationId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Ao longo dos mesmos 90 anos, o próprio clima do Douro mudou. Não é só a produção que tem tendência — os preditores também.</a:t>
            </a:r>
          </a:p>
        </p:txBody>
      </p:sp>
      <p:sp>
        <p:nvSpPr>
          <p:cNvPr id="10" name="Text 8">
            <a:extLst>
              <a:ext uri="{FF2B5EF4-FFF2-40B4-BE49-F238E27FC236}">
                <ns2:creationId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ns2:creationId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ns2:creationId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ns2:creationId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ns2:creationId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ns2:creationId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ns2:creationId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ns2:creationId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ns2:creationId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A variável-alvo e os seus determinantes deslocam-se em conjunto — exatamente a armadilha de co-tendência que o teste de stress LOESS procura detetar.</a:t>
            </a:r>
          </a:p>
        </p:txBody>
      </p:sp>
      <p:sp>
        <p:nvSpPr>
          <p:cNvPr id="20" name="Text 17">
            <a:extLst>
              <a:ext uri="{FF2B5EF4-FFF2-40B4-BE49-F238E27FC236}">
                <ns2:creationId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ns4:creationId val="1527017761"/>
      </p:ext>
    </p:extLst>
  </p:cSld>
  <p:clrMapOvr>
    <a:masterClrMapping/>
  </p:clrMapOvr>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ns2:creationId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Duas regiões, histórias opostas, um método</a:t>
            </a:r>
          </a:p>
        </p:txBody>
      </p:sp>
      <p:sp>
        <p:nvSpPr>
          <p:cNvPr id="3" name="Shape 1">
            <a:extLst>
              <a:ext uri="{FF2B5EF4-FFF2-40B4-BE49-F238E27FC236}">
                <ns2:creationId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ns2:creationId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ns2:creationId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ns2:creationId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ns2:creationId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ns2:creationId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ns2:creationId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ns2:creationId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ns2:creationId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ns2:creationId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ns2:creationId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ns2:creationId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ns2:creationId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ns2:creationId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ns2:creationId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ns2:creationId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ns2:creationId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ns2:creationId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ns2:creationId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ns2:creationId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ns3:creationId val="1690001155"/>
      </p:ext>
    </p:extLst>
  </p:cSld>
  <p:clrMapOvr>
    <a:masterClrMapping/>
  </p:clrMapOvr>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Um pipeline honesto</a:t>
            </a:r>
          </a:p>
        </p:txBody>
      </p:sp>
      <p:sp>
        <p:nvSpPr>
          <p:cNvPr id="3" name="Shape 1">
            <a:extLst>
              <a:ext uri="{FF2B5EF4-FFF2-40B4-BE49-F238E27FC236}">
                <ns2:creationId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ns2:creationId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ns2:creationId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ns2:creationId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ns2:creationId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ns2:creationId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ns2:creationId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ns2:creationId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ns2:creationId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ns2:creationId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ns2:creationId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ns2:creationId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ns2:creationId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ns2:creationId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ns2:creationId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ns2:creationId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ns2:creationId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ns2:creationId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ns2:creationId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ns2:creationId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ns4:creationId val="897444373"/>
      </p:ext>
    </p:extLst>
  </p:cSld>
  <p:clrMapOvr>
    <a:masterClrMapping/>
  </p:clrMapOvr>
</p:sld>
</file>

<file path=ppt/slides/slide3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ns2:creationId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CONTRASTE REGIONAL</a:t>
            </a:r>
          </a:p>
        </p:txBody>
      </p:sp>
      <p:sp>
        <p:nvSpPr>
          <p:cNvPr id="3" name="title">
            <a:extLst>
              <a:ext uri="{FF2B5EF4-FFF2-40B4-BE49-F238E27FC236}">
                <ns2:creationId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As duas regiões divergem porque a estrutura contamina o sinal</a:t>
            </a:r>
          </a:p>
        </p:txBody>
      </p:sp>
      <p:sp>
        <p:nvSpPr>
          <p:cNvPr id="4" name="head">
            <a:extLst>
              <a:ext uri="{FF2B5EF4-FFF2-40B4-BE49-F238E27FC236}">
                <ns2:creationId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ns2:creationId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Dimensão</a:t>
            </a:r>
          </a:p>
        </p:txBody>
      </p:sp>
      <p:sp>
        <p:nvSpPr>
          <p:cNvPr id="6" name="h-1">
            <a:extLst>
              <a:ext uri="{FF2B5EF4-FFF2-40B4-BE49-F238E27FC236}">
                <ns2:creationId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ns2:creationId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ns2:creationId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Implicação</a:t>
            </a:r>
          </a:p>
        </p:txBody>
      </p:sp>
      <p:sp>
        <p:nvSpPr>
          <p:cNvPr id="9" name="r-bg-0">
            <a:extLst>
              <a:ext uri="{FF2B5EF4-FFF2-40B4-BE49-F238E27FC236}">
                <ns2:creationId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ns2:creationId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Tendência de produção</a:t>
            </a:r>
          </a:p>
        </p:txBody>
      </p:sp>
      <p:sp>
        <p:nvSpPr>
          <p:cNvPr id="11" name="r-0-1">
            <a:extLst>
              <a:ext uri="{FF2B5EF4-FFF2-40B4-BE49-F238E27FC236}">
                <ns2:creationId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ns2:creationId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ns2:creationId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ns2:creationId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ns2:creationId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Sinal climático após LOESS</a:t>
            </a:r>
          </a:p>
        </p:txBody>
      </p:sp>
      <p:sp>
        <p:nvSpPr>
          <p:cNvPr id="16" name="r-1-1">
            <a:extLst>
              <a:ext uri="{FF2B5EF4-FFF2-40B4-BE49-F238E27FC236}">
                <ns2:creationId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ns2:creationId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ns2:creationId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ns2:creationId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ns2:creationId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Resultado preditivo</a:t>
            </a:r>
          </a:p>
        </p:txBody>
      </p:sp>
      <p:sp>
        <p:nvSpPr>
          <p:cNvPr id="21" name="r-2-1">
            <a:extLst>
              <a:ext uri="{FF2B5EF4-FFF2-40B4-BE49-F238E27FC236}">
                <ns2:creationId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ns2:creationId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ns2:creationId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ns2:creationId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ns2:creationId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ns2:creationId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As regras podem diagnosticar regimes históricos</a:t>
            </a:r>
          </a:p>
        </p:txBody>
      </p:sp>
      <p:sp>
        <p:nvSpPr>
          <p:cNvPr id="27" name="r-3-2">
            <a:extLst>
              <a:ext uri="{FF2B5EF4-FFF2-40B4-BE49-F238E27FC236}">
                <ns2:creationId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ns2:creationId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A previsão precisa de covariáveis estruturais</a:t>
            </a:r>
          </a:p>
        </p:txBody>
      </p:sp>
      <p:sp>
        <p:nvSpPr>
          <p:cNvPr id="29" name="take-panel">
            <a:extLst>
              <a:ext uri="{FF2B5EF4-FFF2-40B4-BE49-F238E27FC236}">
                <ns2:creationId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ns2:creationId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ns2:creationId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ns2:creationId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Fonte: Tese, Secções 5.2-5.5 e 6.2-6.3</a:t>
            </a:r>
          </a:p>
        </p:txBody>
      </p:sp>
      <p:sp>
        <p:nvSpPr>
          <p:cNvPr id="33" name="slide-number">
            <a:extLst>
              <a:ext uri="{FF2B5EF4-FFF2-40B4-BE49-F238E27FC236}">
                <ns2:creationId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ns2:creationId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ns3:creationId val="286671738"/>
      </p:ext>
    </p:extLst>
  </p:cSld>
  <p:clrMapOvr>
    <a:masterClrMapping/>
  </p:clrMapOvr>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Porquê CarenR: regras que se podem questionar</a:t>
            </a:r>
          </a:p>
        </p:txBody>
      </p:sp>
      <p:sp>
        <p:nvSpPr>
          <p:cNvPr id="3" name="Shape 1">
            <a:extLst>
              <a:ext uri="{FF2B5EF4-FFF2-40B4-BE49-F238E27FC236}">
                <ns2:creationId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ns2:creationId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ns2:creationId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ns2:creationId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pergunta: em que condições se desloca toda a distribuição — incluindo as caudas? Testado por uma estatística de Kolmogorov–Smirnov.</a:t>
            </a:r>
          </a:p>
        </p:txBody>
      </p:sp>
      <p:sp>
        <p:nvSpPr>
          <p:cNvPr id="11" name="Shape 8">
            <a:extLst>
              <a:ext uri="{FF2B5EF4-FFF2-40B4-BE49-F238E27FC236}">
                <ns2:creationId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ns2:creationId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UMA REGRA QUE PODE SER AUDITADA</a:t>
            </a:r>
          </a:p>
        </p:txBody>
      </p:sp>
      <p:sp>
        <p:nvSpPr>
          <p:cNvPr id="13" name="Text 10">
            <a:extLst>
              <a:ext uri="{FF2B5EF4-FFF2-40B4-BE49-F238E27FC236}">
                <ns2:creationId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ns2:creationId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ns2:creationId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Falsificável — um agrónomo pode questioná-la.</a:t>
            </a:r>
          </a:p>
          <a:p>
            <a:pPr marL="342900" indent="-342900">
              <a:spcAft>
                <a:spcPts val="800"/>
              </a:spcAft>
              <a:buChar char="•"/>
            </a:pPr>
            <a:r>
              <a:rPr sz="1400">
                <a:solidFill>
                  <a:srgbClr val="2B2320"/>
                </a:solidFill>
                <a:latin typeface="Calibri"/>
                <a:ea typeface="Calibri"/>
                <a:cs typeface="Calibri"/>
              </a:rPr>
              <a:t>Inclui o seu próprio suporte e valor-p.</a:t>
            </a:r>
          </a:p>
          <a:p>
            <a:pPr marL="342900" indent="-342900">
              <a:spcAft>
                <a:spcPts val="800"/>
              </a:spcAft>
              <a:buChar char="•"/>
            </a:pPr>
            <a:r>
              <a:rPr sz="1400">
                <a:solidFill>
                  <a:srgbClr val="2B2320"/>
                </a:solidFill>
                <a:latin typeface="Calibri"/>
                <a:ea typeface="Calibri"/>
                <a:cs typeface="Calibri"/>
              </a:rPr>
              <a:t>Caixa negra + SHAP apenas aproxima influência.</a:t>
            </a:r>
          </a:p>
          <a:p>
            <a:pPr marL="342900" indent="-342900">
              <a:spcAft>
                <a:spcPts val="800"/>
              </a:spcAft>
              <a:buChar char="•"/>
            </a:pPr>
            <a:r>
              <a:rPr sz="1400">
                <a:solidFill>
                  <a:srgbClr val="2B2320"/>
                </a:solidFill>
                <a:latin typeface="Calibri"/>
                <a:ea typeface="Calibri"/>
                <a:cs typeface="Calibri"/>
              </a:rPr>
              <a:t>Primeira aplicação deste tipo a longos registos regionais de vinho.</a:t>
            </a:r>
          </a:p>
        </p:txBody>
      </p:sp>
      <p:sp>
        <p:nvSpPr>
          <p:cNvPr id="16" name="Text 13">
            <a:extLst>
              <a:ext uri="{FF2B5EF4-FFF2-40B4-BE49-F238E27FC236}">
                <ns2:creationId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ns4:creationId val="1100924448"/>
      </p:ext>
    </p:extLst>
  </p:cSld>
  <p:clrMapOvr>
    <a:masterClrMapping/>
  </p:clrMapOvr>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ns2:creationId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ns2:creationId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DADOS E DESENHO EXPERIMENTAL</a:t>
            </a:r>
          </a:p>
        </p:txBody>
      </p:sp>
      <p:sp>
        <p:nvSpPr>
          <p:cNvPr id="3" name="title">
            <a:extLst>
              <a:ext uri="{FF2B5EF4-FFF2-40B4-BE49-F238E27FC236}">
                <ns2:creationId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A comparação é controlada: mesmo pipeline, histórias regionais diferentes</a:t>
            </a:r>
          </a:p>
        </p:txBody>
      </p:sp>
      <p:sp>
        <p:nvSpPr>
          <p:cNvPr id="4" name="table-bg">
            <a:extLst>
              <a:ext uri="{FF2B5EF4-FFF2-40B4-BE49-F238E27FC236}">
                <ns2:creationId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ns2:creationId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ns2:creationId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Característica</a:t>
            </a:r>
          </a:p>
        </p:txBody>
      </p:sp>
      <p:sp>
        <p:nvSpPr>
          <p:cNvPr id="7" name="h2">
            <a:extLst>
              <a:ext uri="{FF2B5EF4-FFF2-40B4-BE49-F238E27FC236}">
                <ns2:creationId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ns2:creationId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ns2:creationId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ns2:creationId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ns2:creationId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ns2:creationId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ns2:creationId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Observações</a:t>
            </a:r>
          </a:p>
        </p:txBody>
      </p:sp>
      <p:sp>
        <p:nvSpPr>
          <p:cNvPr id="14" name="r1c1">
            <a:extLst>
              <a:ext uri="{FF2B5EF4-FFF2-40B4-BE49-F238E27FC236}">
                <ns2:creationId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ns2:creationId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ns2:creationId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ns2:creationId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ns2:creationId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ns2:creationId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ns2:creationId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Tendência de produção</a:t>
            </a:r>
          </a:p>
        </p:txBody>
      </p:sp>
      <p:sp>
        <p:nvSpPr>
          <p:cNvPr id="21" name="r3c1">
            <a:extLst>
              <a:ext uri="{FF2B5EF4-FFF2-40B4-BE49-F238E27FC236}">
                <ns2:creationId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ns2:creationId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ns2:creationId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ns2:creationId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ns2:creationId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ns2:creationId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ns2:creationId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ns2:creationId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variáveis agroclimáticas por região</a:t>
            </a:r>
          </a:p>
        </p:txBody>
      </p:sp>
      <p:sp>
        <p:nvSpPr>
          <p:cNvPr id="29" name="features-body">
            <a:extLst>
              <a:ext uri="{FF2B5EF4-FFF2-40B4-BE49-F238E27FC236}">
                <ns2:creationId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Temperatura · precipitação · água no solo · LAI</a:t>
            </a:r>
          </a:p>
          <a:p>
            <a:pPr>
              <a:buNone/>
              <a:defRPr sz="1275">
                <a:solidFill>
                  <a:srgbClr val="111111"/>
                </a:solidFill>
                <a:latin typeface="Arial"/>
                <a:ea typeface="Arial"/>
                <a:cs typeface="Arial"/>
              </a:defRPr>
            </a:pPr>
            <a:r>
              <a:rPr sz="1275">
                <a:solidFill>
                  <a:srgbClr val="111111"/>
                </a:solidFill>
                <a:latin typeface="Arial"/>
                <a:ea typeface="Arial"/>
                <a:cs typeface="Arial"/>
              </a:rPr>
              <a:t>Dias de calor/geada · defasagens do ano anterior</a:t>
            </a:r>
          </a:p>
          <a:p>
            <a:pPr>
              <a:buNone/>
              <a:defRPr sz="1275">
                <a:solidFill>
                  <a:srgbClr val="111111"/>
                </a:solidFill>
                <a:latin typeface="Arial"/>
                <a:ea typeface="Arial"/>
                <a:cs typeface="Arial"/>
              </a:defRPr>
            </a:pPr>
            <a:r>
              <a:rPr sz="1275">
                <a:solidFill>
                  <a:srgbClr val="111111"/>
                </a:solidFill>
                <a:latin typeface="Arial"/>
                <a:ea typeface="Arial"/>
                <a:cs typeface="Arial"/>
              </a:rPr>
              <a:t>Ancoradas em datas fenológicas da videira</a:t>
            </a:r>
          </a:p>
        </p:txBody>
      </p:sp>
      <p:sp>
        <p:nvSpPr>
          <p:cNvPr id="30" name="alg-CarenR-panel">
            <a:extLst>
              <a:ext uri="{FF2B5EF4-FFF2-40B4-BE49-F238E27FC236}">
                <ns2:creationId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ns2:creationId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ns2:creationId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ns2:creationId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ns2:creationId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ns2:creationId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ns2:creationId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ns2:creationId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ns2:creationId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ns2:creationId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ns2:creationId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ns2:creationId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ns2:creationId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ns2:creationId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ns2:creationId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Validação walk-forward com janela expansiva</a:t>
            </a:r>
          </a:p>
        </p:txBody>
      </p:sp>
      <p:sp>
        <p:nvSpPr>
          <p:cNvPr id="45" name="validation-sub">
            <a:extLst>
              <a:ext uri="{FF2B5EF4-FFF2-40B4-BE49-F238E27FC236}">
                <ns2:creationId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Todo o pré-processamento fica dentro de cada fold de treino: remoção de tendência, discretização, seleção de variáveis e indução de regras.</a:t>
            </a:r>
          </a:p>
        </p:txBody>
      </p:sp>
      <p:sp>
        <p:nvSpPr>
          <p:cNvPr id="47" name="slide-number">
            <a:extLst>
              <a:ext uri="{FF2B5EF4-FFF2-40B4-BE49-F238E27FC236}">
                <ns2:creationId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ns2:creationId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ns3:creationId val="3893870048"/>
      </p:ext>
    </p:extLst>
  </p:cSld>
  <p:clrMapOvr>
    <a:masterClrMapping/>
  </p:clrMapOvr>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ns2:creationId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 que as regras realmente dizem</a:t>
            </a:r>
          </a:p>
        </p:txBody>
      </p:sp>
      <p:sp>
        <p:nvSpPr>
          <p:cNvPr id="3" name="Shape 1">
            <a:extLst>
              <a:ext uri="{FF2B5EF4-FFF2-40B4-BE49-F238E27FC236}">
                <ns2:creationId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ns2:creationId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ns2:creationId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ns2:creationId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ns2:creationId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ns2:creationId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ns2:creationId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ns2:creationId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ns2:creationId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ns2:creationId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ns2:creationId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ns2:creationId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ns2:creationId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ns2:creationId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ns2:creationId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IGUAL</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ns2:creationId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ns2:creationId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ns3:creationId val="855227275"/>
      </p:ext>
    </p:extLst>
  </p:cSld>
  <p:clrMapOvr>
    <a:masterClrMapping/>
  </p:clrMapOvr>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 resultado honesto: ninguém supera a mediana</a:t>
            </a:r>
          </a:p>
        </p:txBody>
      </p:sp>
      <p:sp>
        <p:nvSpPr>
          <p:cNvPr id="3" name="Shape 1">
            <a:extLst>
              <a:ext uri="{FF2B5EF4-FFF2-40B4-BE49-F238E27FC236}">
                <ns2:creationId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ns2:creationId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ns2:creationId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ns2:creationId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MAE ponderado, todos os 17 modelos (menor é melhor)</a:t>
            </a:r>
          </a:p>
        </p:txBody>
      </p:sp>
      <p:sp>
        <p:nvSpPr>
          <p:cNvPr id="11" name="Shape 8">
            <a:extLst>
              <a:ext uri="{FF2B5EF4-FFF2-40B4-BE49-F238E27FC236}">
                <ns2:creationId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ns2:creationId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ns2:creationId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ns2:creationId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ns2:creationId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ns2:creationId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ns2:creationId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ns2:creationId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ns2:creationId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Prever a mediana histórica → supera todos os modelos baseados em regras.</a:t>
            </a:r>
          </a:p>
        </p:txBody>
      </p:sp>
      <p:sp>
        <p:nvSpPr>
          <p:cNvPr id="20" name="Text 17">
            <a:extLst>
              <a:ext uri="{FF2B5EF4-FFF2-40B4-BE49-F238E27FC236}">
                <ns2:creationId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ns4:creationId val="847651203"/>
      </p:ext>
    </p:extLst>
  </p:cSld>
  <p:clrMapOvr>
    <a:masterClrMapping/>
  </p:clrMapOvr>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ext 0">
            <a:extLst>
              <a:ext uri="{FF2B5EF4-FFF2-40B4-BE49-F238E27FC236}">
                <ns2:creationId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Descoberta ≠ Previsão — e consigo provar porquê</a:t>
            </a:r>
          </a:p>
        </p:txBody>
      </p:sp>
      <p:sp>
        <p:nvSpPr>
          <p:cNvPr id="3" name="Shape 1">
            <a:extLst>
              <a:ext uri="{FF2B5EF4-FFF2-40B4-BE49-F238E27FC236}">
                <ns2:creationId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ns2:creationId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ns2:creationId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ns2:creationId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ns2:creationId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ns2:creationId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ns2:creationId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A falha é estruturada, não aleatória.</a:t>
            </a:r>
          </a:p>
        </p:txBody>
      </p:sp>
      <p:sp>
        <p:nvSpPr>
          <p:cNvPr id="11" name="Text 8">
            <a:extLst>
              <a:ext uri="{FF2B5EF4-FFF2-40B4-BE49-F238E27FC236}">
                <ns2:creationId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ns2:creationId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ns2:creationId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ns2:creationId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ns2:creationId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ns2:creationId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ns4:creationId val="825571682"/>
      </p:ext>
    </p:extLst>
  </p:cSld>
  <p:clrMapOvr>
    <a:masterClrMapping/>
  </p:clrMapOvr>
</p:sld>
</file>

<file path=ppt/slides/slide3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Questões de Investigação</a:t>
            </a:r>
          </a:p>
        </p:txBody>
      </p:sp>
      <p:sp>
        <p:nvSpPr>
          <p:cNvPr id="4" name="Text 2">
            <a:extLst>
              <a:ext uri="{FF2B5EF4-FFF2-40B4-BE49-F238E27FC236}">
                <ns2:creationId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Quatro questões que abrangem descoberta, validação e previsão</a:t>
            </a:r>
          </a:p>
        </p:txBody>
      </p:sp>
      <p:sp>
        <p:nvSpPr>
          <p:cNvPr id="5" name="Shape 3">
            <a:extLst>
              <a:ext uri="{FF2B5EF4-FFF2-40B4-BE49-F238E27FC236}">
                <ns2:creationId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ns2:creationId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ns2:creationId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ns2:creationId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Consegue o CarenR extrair padrões não triviais e estatisticamente validados de séries agrícolas não estacionárias?</a:t>
            </a:r>
          </a:p>
        </p:txBody>
      </p:sp>
      <p:sp>
        <p:nvSpPr>
          <p:cNvPr id="10" name="Text 8">
            <a:extLst>
              <a:ext uri="{FF2B5EF4-FFF2-40B4-BE49-F238E27FC236}">
                <ns2:creationId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ns2:creationId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ns2:creationId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ns2:creationId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ns2:creationId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As regras descobertas são sinal climático genuíno dentro da época ou artefactos de pertença à época?</a:t>
            </a:r>
          </a:p>
        </p:txBody>
      </p:sp>
      <p:sp>
        <p:nvSpPr>
          <p:cNvPr id="15" name="Text 13">
            <a:extLst>
              <a:ext uri="{FF2B5EF4-FFF2-40B4-BE49-F238E27FC236}">
                <ns2:creationId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ns2:creationId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ns2:creationId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ns2:creationId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ns2:creationId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Conseguem os modelos de regras superar a mediana naïve na previsão walk-forward dos resíduos?</a:t>
            </a:r>
          </a:p>
        </p:txBody>
      </p:sp>
      <p:sp>
        <p:nvSpPr>
          <p:cNvPr id="20" name="Text 18">
            <a:extLst>
              <a:ext uri="{FF2B5EF4-FFF2-40B4-BE49-F238E27FC236}">
                <ns2:creationId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ns2:creationId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ns2:creationId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ns2:creationId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ns2:creationId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Que condições estruturais determinam quando a previsão baseada em regras funciona ou falha?</a:t>
            </a:r>
          </a:p>
        </p:txBody>
      </p:sp>
      <p:sp>
        <p:nvSpPr>
          <p:cNvPr id="25" name="Text 23">
            <a:extLst>
              <a:ext uri="{FF2B5EF4-FFF2-40B4-BE49-F238E27FC236}">
                <ns2:creationId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ns2:creationId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ns2:creationId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Atingido   ·   RQ2 ✓ Validado por LOESS   ·   RQ3 ✗ Não atingido no agregado   ·   RQ4 ✓ Explicado pelo Enquadramento das Duas Decisões</a:t>
            </a:r>
          </a:p>
        </p:txBody>
      </p:sp>
    </p:spTree>
    <p:extLst>
      <p:ext uri="{BB962C8B-B14F-4D97-AF65-F5344CB8AC3E}">
        <ns3:creationId val="2050020850"/>
      </p:ext>
    </p:extLst>
  </p:cSld>
  <p:clrMapOvr>
    <a:masterClrMapping/>
  </p:clrMapOvr>
</p:sld>
</file>

<file path=ppt/slides/slide3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Conjunto de Dados e Engenharia de Variáveis</a:t>
            </a:r>
          </a:p>
        </p:txBody>
      </p:sp>
      <p:sp>
        <p:nvSpPr>
          <p:cNvPr id="4" name="Text 2">
            <a:extLst>
              <a:ext uri="{FF2B5EF4-FFF2-40B4-BE49-F238E27FC236}">
                <ns2:creationId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Dois experimentos naturais contrastantes — mesmo pipeline</a:t>
            </a:r>
          </a:p>
        </p:txBody>
      </p:sp>
      <p:sp>
        <p:nvSpPr>
          <p:cNvPr id="5" name="Shape 3">
            <a:extLst>
              <a:ext uri="{FF2B5EF4-FFF2-40B4-BE49-F238E27FC236}">
                <ns2:creationId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ns2:creationId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ns2:creationId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ns2:creationId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ns2:creationId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ns2:creationId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ns2:creationId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ns2:creationId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ns2:creationId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ns2:creationId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ns2:creationId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ns2:creationId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ns2:creationId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ns2:creationId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ns2:creationId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ns2:creationId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ns2:creationId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ns2:creationId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ns2:creationId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ns2:creationId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ns2:creationId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ns2:creationId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ns2:creationId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Engenharia de variáveis</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ns2:creationId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ns2:creationId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ns2:creationId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ns3:creationId val="1632296787"/>
      </p:ext>
    </p:extLst>
  </p:cSld>
  <p:clrMapOvr>
    <a:masterClrMapping/>
  </p:clrMapOvr>
</p:sld>
</file>

<file path=ppt/slides/slide3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Enquadramento Metodológico</a:t>
            </a:r>
          </a:p>
        </p:txBody>
      </p:sp>
      <p:sp>
        <p:nvSpPr>
          <p:cNvPr id="4" name="Text 2">
            <a:extLst>
              <a:ext uri="{FF2B5EF4-FFF2-40B4-BE49-F238E27FC236}">
                <ns2:creationId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Pipeline completo dos dados brutos aos resultados científicos</a:t>
            </a:r>
          </a:p>
        </p:txBody>
      </p:sp>
      <p:sp>
        <p:nvSpPr>
          <p:cNvPr id="5" name="Shape 3">
            <a:extLst>
              <a:ext uri="{FF2B5EF4-FFF2-40B4-BE49-F238E27FC236}">
                <ns2:creationId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ns2:creationId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ns2:creationId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ns2:creationId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ns2:creationId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ns2:creationId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ns2:creationId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ns2:creationId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ns2:creationId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ns2:creationId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ns2:creationId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Variável</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ns2:creationId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ns2:creationId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ns2:creationId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ns2:creationId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Variável</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ns2:creationId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ns2:creationId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ns2:creationId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ns2:creationId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ns2:creationId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ns2:creationId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ns2:creationId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ns2:creationId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ns2:creationId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ns2:creationId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ns2:creationId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ns2:creationId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ns2:creationId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ns2:creationId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ns2:creationId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ns2:creationId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ns2:creationId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ns3:creationId val="2034042563"/>
      </p:ext>
    </p:extLst>
  </p:cSld>
  <p:clrMapOvr>
    <a:masterClrMapping/>
  </p:clrMapOvr>
</p:sld>
</file>

<file path=ppt/slides/slide3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Porquê aprendizagem automática baseada em regras?</a:t>
            </a:r>
          </a:p>
        </p:txBody>
      </p:sp>
      <p:sp>
        <p:nvSpPr>
          <p:cNvPr id="4" name="Text 2">
            <a:extLst>
              <a:ext uri="{FF2B5EF4-FFF2-40B4-BE49-F238E27FC236}">
                <ns2:creationId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interpretabilidade é o objetivo — a abordagem distribucional do CarenR é particularmente adequada</a:t>
            </a:r>
          </a:p>
        </p:txBody>
      </p:sp>
      <p:sp>
        <p:nvSpPr>
          <p:cNvPr id="5" name="Shape 3">
            <a:extLst>
              <a:ext uri="{FF2B5EF4-FFF2-40B4-BE49-F238E27FC236}">
                <ns2:creationId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ns2:creationId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ns2:creationId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ns2:creationId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ns2:creationId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ns2:creationId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ns2:creationId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ns2:creationId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ns2:creationId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ns2:creationId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ns2:creationId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ns2:creationId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ns2:creationId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ns2:creationId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ns2:creationId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ns2:creationId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ns2:creationId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ns2:creationId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ns2:creationId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ns2:creationId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ns2:creationId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ns2:creationId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ns2:creationId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ns2:creationId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ns2:creationId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ns2:creationId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ns2:creationId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ns2:creationId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ns2:creationId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ns2:creationId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ns2:creationId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ns2:creationId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ns2:creationId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ns2:creationId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ns2:creationId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ns2:creationId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ns2:creationId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ns3:creationId val="1472335774"/>
      </p:ext>
    </p:extLst>
  </p:cSld>
  <p:clrMapOvr>
    <a:masterClrMapping/>
  </p:clrMapOvr>
</p:sld>
</file>

<file path=ppt/slides/slide4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Objetivo 1 – Resultados da Descoberta de Regras</a:t>
            </a:r>
          </a:p>
        </p:txBody>
      </p:sp>
      <p:sp>
        <p:nvSpPr>
          <p:cNvPr id="4" name="Text 2">
            <a:extLst>
              <a:ext uri="{FF2B5EF4-FFF2-40B4-BE49-F238E27FC236}">
                <ns2:creationId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extrai com sucesso padrões estatisticamente validados a partir de 89 e 80 anos de dados</a:t>
            </a:r>
          </a:p>
        </p:txBody>
      </p:sp>
      <p:sp>
        <p:nvSpPr>
          <p:cNvPr id="5" name="Shape 3">
            <a:extLst>
              <a:ext uri="{FF2B5EF4-FFF2-40B4-BE49-F238E27FC236}">
                <ns2:creationId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ns2:creationId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ns2:creationId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ns2:creationId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ns2:creationId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ns2:creationId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ns2:creationId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ns2:creationId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ns2:creationId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ns2:creationId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ns2:creationId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ns2:creationId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ns2:creationId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ns2:creationId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ns2:creationId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ns2:creationId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ns2:creationId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ns2:creationId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ns2:creationId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ns2:creationId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ns2:creationId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ns2:creationId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ns2:creationId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ns2:creationId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ns2:creationId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ns2:creationId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ns2:creationId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ns2:creationId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ns2:creationId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ns3:creationId val="181233736"/>
      </p:ext>
    </p:extLst>
  </p:cSld>
  <p:clrMapOvr>
    <a:masterClrMapping/>
  </p:clrMapOvr>
</p:sld>
</file>

<file path=ppt/slides/slide4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Validação da Descoberta de Regras</a:t>
            </a:r>
          </a:p>
        </p:txBody>
      </p:sp>
      <p:sp>
        <p:nvSpPr>
          <p:cNvPr id="4" name="Text 2">
            <a:extLst>
              <a:ext uri="{FF2B5EF4-FFF2-40B4-BE49-F238E27FC236}">
                <ns2:creationId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O teste de stress LOESS distingue sinal climático genuíno de artefactos de pertença à época</a:t>
            </a:r>
          </a:p>
        </p:txBody>
      </p:sp>
      <p:sp>
        <p:nvSpPr>
          <p:cNvPr id="5" name="Shape 3">
            <a:extLst>
              <a:ext uri="{FF2B5EF4-FFF2-40B4-BE49-F238E27FC236}">
                <ns2:creationId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ns2:creationId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ns2:creationId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ns2:creationId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ns2:colId val="20000"/>
                    </a:ext>
                  </a:extLst>
                </a:gridCol>
                <a:gridCol w="792480">
                  <a:extLst>
                    <a:ext uri="{9D8B030D-6E8A-4147-A177-3AD203B41FA5}">
                      <ns2:colId val="20001"/>
                    </a:ext>
                  </a:extLst>
                </a:gridCol>
                <a:gridCol w="1036320">
                  <a:extLst>
                    <a:ext uri="{9D8B030D-6E8A-4147-A177-3AD203B41FA5}">
                      <ns2:colId val="20002"/>
                    </a:ext>
                  </a:extLst>
                </a:gridCol>
                <a:gridCol w="1036320">
                  <a:extLst>
                    <a:ext uri="{9D8B030D-6E8A-4147-A177-3AD203B41FA5}">
                      <ns2:colId val="20003"/>
                    </a:ext>
                  </a:extLst>
                </a:gridCol>
                <a:gridCol w="1158240">
                  <a:extLst>
                    <a:ext uri="{9D8B030D-6E8A-4147-A177-3AD203B41FA5}">
                      <ns2:colId val="20004"/>
                    </a:ext>
                  </a:extLst>
                </a:gridCol>
                <a:gridCol w="4328160">
                  <a:extLst>
                    <a:ext uri="{9D8B030D-6E8A-4147-A177-3AD203B41FA5}">
                      <ns2:colId val="20005"/>
                    </a:ext>
                  </a:extLst>
                </a:gridCol>
              </a:tblGrid>
              <a:tr h="386660">
                <a:tc>
                  <a:txBody>
                    <a:bodyPr/>
                    <a:lstStyle/>
                    <a:p>
                      <a:pPr marL="0" indent="0" algn="l">
                        <a:buNone/>
                      </a:pPr>
                      <a:r>
                        <a:rPr sz="1200" b="1">
                          <a:solidFill>
                            <a:srgbClr val="FFFFFF"/>
                          </a:solidFill>
                        </a:rPr>
                        <a:t>Variável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ns2:rowId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ns2:rowId val="10006"/>
                  </a:ext>
                </a:extLst>
              </a:tr>
            </a:tbl>
          </a:graphicData>
        </a:graphic>
      </p:graphicFrame>
      <p:sp>
        <p:nvSpPr>
          <p:cNvPr id="11" name="Text 8">
            <a:extLst>
              <a:ext uri="{FF2B5EF4-FFF2-40B4-BE49-F238E27FC236}">
                <ns2:creationId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ns3:creationId val="436231309"/>
      </p:ext>
    </p:extLst>
  </p:cSld>
  <p:clrMapOvr>
    <a:masterClrMapping/>
  </p:clrMapOvr>
</p:sld>
</file>

<file path=ppt/slides/slide42.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a:extLst>
              <a:ext uri="{FF2B5EF4-FFF2-40B4-BE49-F238E27FC236}">
                <ns2:creationId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Objetivo 2 – Validação Preditiva</a:t>
            </a:r>
          </a:p>
        </p:txBody>
      </p:sp>
      <p:sp>
        <p:nvSpPr>
          <p:cNvPr id="4" name="Text 2">
            <a:extLst>
              <a:ext uri="{FF2B5EF4-FFF2-40B4-BE49-F238E27FC236}">
                <ns2:creationId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Resultados walk-forward: 17 modelos, MAE ponderado na escala original (mhl)</a:t>
            </a:r>
          </a:p>
        </p:txBody>
      </p:sp>
      <p:sp>
        <p:nvSpPr>
          <p:cNvPr id="5" name="Shape 3">
            <a:extLst>
              <a:ext uri="{FF2B5EF4-FFF2-40B4-BE49-F238E27FC236}">
                <ns2:creationId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ns2:creationId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ns3:chart r:id="rId3"/>
          </a:graphicData>
        </a:graphic>
      </p:graphicFrame>
      <p:sp>
        <p:nvSpPr>
          <p:cNvPr id="8" name="Text 5">
            <a:extLst>
              <a:ext uri="{FF2B5EF4-FFF2-40B4-BE49-F238E27FC236}">
                <ns2:creationId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ns3:chart r:id="rId4"/>
          </a:graphicData>
        </a:graphic>
      </p:graphicFrame>
      <p:sp>
        <p:nvSpPr>
          <p:cNvPr id="10" name="Text 6">
            <a:extLst>
              <a:ext uri="{FF2B5EF4-FFF2-40B4-BE49-F238E27FC236}">
                <ns2:creationId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ns2:creationId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ns2:creationId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ns2:creationId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ns2:creationId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ns2:creationId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ns2:creationId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ns2:creationId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ns2:creationId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ns2:creationId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ns5:creationId val="359849227"/>
      </p:ext>
    </p:extLst>
  </p:cSld>
  <p:clrMapOvr>
    <a:masterClrMapping/>
  </p:clrMapOvr>
</p:sld>
</file>

<file path=ppt/slides/slide4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Porque falhou a previsão?</a:t>
            </a:r>
          </a:p>
        </p:txBody>
      </p:sp>
      <p:sp>
        <p:nvSpPr>
          <p:cNvPr id="4" name="Text 2">
            <a:extLst>
              <a:ext uri="{FF2B5EF4-FFF2-40B4-BE49-F238E27FC236}">
                <ns2:creationId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Uma explicação fundamentada e multinível — diagnosticar modos de falha é, em si, um contributo científico</a:t>
            </a:r>
          </a:p>
        </p:txBody>
      </p:sp>
      <p:sp>
        <p:nvSpPr>
          <p:cNvPr id="5" name="Shape 3">
            <a:extLst>
              <a:ext uri="{FF2B5EF4-FFF2-40B4-BE49-F238E27FC236}">
                <ns2:creationId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ns2:creationId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ns2:creationId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ns2:creationId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ns2:creationId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ns2:creationId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ns2:creationId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ns2:creationId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ns2:creationId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ns2:creationId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ns2:creationId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ns2:creationId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ns2:creationId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ns2:creationId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ns2:creationId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ns2:creationId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ns2:creationId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ns2:creationId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ns2:creationId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ns2:creationId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ns2:creationId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ns2:creationId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ns2:creationId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ns3:creationId val="964650458"/>
      </p:ext>
    </p:extLst>
  </p:cSld>
  <p:clrMapOvr>
    <a:masterClrMapping/>
  </p:clrMapOvr>
</p:sld>
</file>

<file path=ppt/slides/slide4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Contributos Científicos</a:t>
            </a:r>
          </a:p>
        </p:txBody>
      </p:sp>
      <p:sp>
        <p:nvSpPr>
          <p:cNvPr id="4" name="Text 2">
            <a:extLst>
              <a:ext uri="{FF2B5EF4-FFF2-40B4-BE49-F238E27FC236}">
                <ns2:creationId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Avanços metodológicos transferíveis para além da produção de vinho</a:t>
            </a:r>
          </a:p>
        </p:txBody>
      </p:sp>
      <p:sp>
        <p:nvSpPr>
          <p:cNvPr id="5" name="Shape 3">
            <a:extLst>
              <a:ext uri="{FF2B5EF4-FFF2-40B4-BE49-F238E27FC236}">
                <ns2:creationId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ns2:creationId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ns2:creationId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ns2:creationId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ns2:creationId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ns2:creationId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ns2:creationId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ns2:creationId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ns2:creationId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ns2:creationId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ns2:creationId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ns2:creationId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ns2:creationId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ns2:creationId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ns2:creationId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ns2:creationId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ns2:creationId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ns2:creationId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ns2:creationId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ns2:creationId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ns2:creationId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ns2:creationId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ns2:creationId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ns2:creationId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ns2:creationId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ns3:creationId val="86987189"/>
      </p:ext>
    </p:extLst>
  </p:cSld>
  <p:clrMapOvr>
    <a:masterClrMapping/>
  </p:clrMapOvr>
</p:sld>
</file>

<file path=ppt/slides/slide45.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Limitações e Trabalho Futuro</a:t>
            </a:r>
          </a:p>
        </p:txBody>
      </p:sp>
      <p:sp>
        <p:nvSpPr>
          <p:cNvPr id="4" name="Text 2">
            <a:extLst>
              <a:ext uri="{FF2B5EF4-FFF2-40B4-BE49-F238E27FC236}">
                <ns2:creationId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Onde a tese termina — e o caminho a seguir</a:t>
            </a:r>
          </a:p>
        </p:txBody>
      </p:sp>
      <p:sp>
        <p:nvSpPr>
          <p:cNvPr id="5" name="Shape 3">
            <a:extLst>
              <a:ext uri="{FF2B5EF4-FFF2-40B4-BE49-F238E27FC236}">
                <ns2:creationId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ns2:creationId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ns2:creationId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ns2:creationId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ns2:creationId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ns2:creationId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ns2:creationId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ns2:creationId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ns2:creationId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ns2:creationId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ns2:creationId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ns2:creationId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ns2:creationId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ns2:creationId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ns2:creationId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ns2:creationId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ns2:creationId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ns2:creationId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ns2:creationId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ns2:creationId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ns2:creationId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ns2:creationId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ns2:creationId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ns2:creationId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ns2:creationId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ns2:creationId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ns2:creationId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ns2:creationId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ns2:creationId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ns2:creationId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ns2:creationId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ns2:creationId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ns2:creationId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ns2:creationId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ns2:creationId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ns3:creationId val="746557984"/>
      </p:ext>
    </p:extLst>
  </p:cSld>
  <p:clrMapOvr>
    <a:masterClrMapping/>
  </p:clrMapOvr>
</p:sld>
</file>

<file path=ppt/slides/slide4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ns2:creationId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Conclusões</a:t>
            </a:r>
          </a:p>
        </p:txBody>
      </p:sp>
      <p:sp>
        <p:nvSpPr>
          <p:cNvPr id="4" name="Shape 2">
            <a:extLst>
              <a:ext uri="{FF2B5EF4-FFF2-40B4-BE49-F238E27FC236}">
                <ns2:creationId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ns2:creationId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ns2:creationId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ns2:creationId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OBJETIVO 1 ✓ ATINGIDO</a:t>
            </a:r>
          </a:p>
        </p:txBody>
      </p:sp>
      <p:sp>
        <p:nvSpPr>
          <p:cNvPr id="8" name="Text 6">
            <a:extLst>
              <a:ext uri="{FF2B5EF4-FFF2-40B4-BE49-F238E27FC236}">
                <ns2:creationId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ns2:creationId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ns2:creationId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ns2:creationId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ns2:creationId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OBJETIVO 2 ✗ NÃO ATINGIDO</a:t>
            </a:r>
          </a:p>
        </p:txBody>
      </p:sp>
      <p:sp>
        <p:nvSpPr>
          <p:cNvPr id="13" name="Text 11">
            <a:extLst>
              <a:ext uri="{FF2B5EF4-FFF2-40B4-BE49-F238E27FC236}">
                <ns2:creationId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ns2:creationId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ns2:creationId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ns2:creationId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ns2:creationId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IDEIA CENTRAL</a:t>
            </a:r>
          </a:p>
        </p:txBody>
      </p:sp>
      <p:sp>
        <p:nvSpPr>
          <p:cNvPr id="18" name="Text 16">
            <a:extLst>
              <a:ext uri="{FF2B5EF4-FFF2-40B4-BE49-F238E27FC236}">
                <ns2:creationId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Explicação ≠ Previsão — e o Caminho a Seguir</a:t>
            </a:r>
          </a:p>
        </p:txBody>
      </p:sp>
      <p:sp>
        <p:nvSpPr>
          <p:cNvPr id="19" name="Text 17">
            <a:extLst>
              <a:ext uri="{FF2B5EF4-FFF2-40B4-BE49-F238E27FC236}">
                <ns2:creationId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ns2:creationId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ns2:creationId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ns3:creationId val="1487480803"/>
      </p:ext>
    </p:extLst>
  </p:cSld>
  <p:clrMapOvr>
    <a:masterClrMapping/>
  </p:clrMapOvr>
</p:sld>
</file>

<file path=ppt/slides/slide47.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O Problema de Investigação</a:t>
            </a:r>
          </a:p>
        </p:txBody>
      </p:sp>
      <p:sp>
        <p:nvSpPr>
          <p:cNvPr id="4" name="Text 2">
            <a:extLst>
              <a:ext uri="{FF2B5EF4-FFF2-40B4-BE49-F238E27FC236}">
                <ns2:creationId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ns2:creationId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ns2:creationId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ns2:creationId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ns2:creationId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ns2:creationId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A lacuna</a:t>
            </a:r>
          </a:p>
        </p:txBody>
      </p:sp>
      <p:sp>
        <p:nvSpPr>
          <p:cNvPr id="10" name="Text 8">
            <a:extLst>
              <a:ext uri="{FF2B5EF4-FFF2-40B4-BE49-F238E27FC236}">
                <ns2:creationId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ns2:creationId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ns2:creationId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ns2:colId val="20000"/>
                    </a:ext>
                  </a:extLst>
                </a:gridCol>
                <a:gridCol w="914400">
                  <a:extLst>
                    <a:ext uri="{9D8B030D-6E8A-4147-A177-3AD203B41FA5}">
                      <ns2:colId val="20001"/>
                    </a:ext>
                  </a:extLst>
                </a:gridCol>
                <a:gridCol w="914400">
                  <a:extLst>
                    <a:ext uri="{9D8B030D-6E8A-4147-A177-3AD203B41FA5}">
                      <ns2:colId val="20002"/>
                    </a:ext>
                  </a:extLst>
                </a:gridCol>
                <a:gridCol w="975360">
                  <a:extLst>
                    <a:ext uri="{9D8B030D-6E8A-4147-A177-3AD203B41FA5}">
                      <ns2:colId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Interpretável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Longo prazo</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ns2:rowId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ns2:rowId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ns2:rowId val="10002"/>
                  </a:ext>
                </a:extLst>
              </a:tr>
              <a:tr h="365760">
                <a:tc>
                  <a:txBody>
                    <a:bodyPr/>
                    <a:lstStyle/>
                    <a:p>
                      <a:pPr marL="0" indent="0" algn="l">
                        <a:buNone/>
                      </a:pPr>
                      <a:r>
                        <a:rPr sz="1300">
                          <a:solidFill>
                            <a:srgbClr val="1C1214"/>
                          </a:solidFill>
                        </a:rPr>
                        <a:t>Descoberta de subgrupos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ns2:rowId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ns2:rowId val="10004"/>
                  </a:ext>
                </a:extLst>
              </a:tr>
            </a:tbl>
          </a:graphicData>
        </a:graphic>
      </p:graphicFrame>
      <p:sp>
        <p:nvSpPr>
          <p:cNvPr id="14" name="Shape 11">
            <a:extLst>
              <a:ext uri="{FF2B5EF4-FFF2-40B4-BE49-F238E27FC236}">
                <ns2:creationId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ns2:creationId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ns2:creationId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ns2:creationId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ns2:creationId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ns2:creationId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ns2:creationId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ns2:creationId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Pode ser questionada e validada no domínio</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ns2:creationId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ns3:creationId val="1423486015"/>
      </p:ext>
    </p:extLst>
  </p:cSld>
  <p:clrMapOvr>
    <a:masterClrMapping/>
  </p:clrMapOvr>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Dois Objetivos, Quatro Questões de Investigação</a:t>
            </a:r>
          </a:p>
        </p:txBody>
      </p:sp>
      <p:sp>
        <p:nvSpPr>
          <p:cNvPr id="4" name="Shape 2">
            <a:extLst>
              <a:ext uri="{FF2B5EF4-FFF2-40B4-BE49-F238E27FC236}">
                <ns2:creationId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ns2:creationId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ns2:creationId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ns2:creationId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ns2:creationId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ns2:creationId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ns2:creationId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ns2:creationId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ns2:creationId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ns2:creationId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ns2:creationId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ns2:creationId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ns2:creationId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ns2:creationId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ns2:creationId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ns2:creationId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Questões de Investigação</a:t>
            </a:r>
          </a:p>
        </p:txBody>
      </p:sp>
      <p:sp>
        <p:nvSpPr>
          <p:cNvPr id="20" name="Text 18">
            <a:extLst>
              <a:ext uri="{FF2B5EF4-FFF2-40B4-BE49-F238E27FC236}">
                <ns2:creationId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ns2:creationId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ns2:creationId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ns2:creationId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ns2:creationId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ns2:creationId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ns2:creationId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ns2:creationId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ns2:creationId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ns3:creationId val="1496271018"/>
      </p:ext>
    </p:extLst>
  </p:cSld>
  <p:clrMapOvr>
    <a:masterClrMapping/>
  </p:clrMapOvr>
</p:sld>
</file>

<file path=ppt/slides/slide49.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Dois Objetivos, Quatro Questões de Investigação</a:t>
            </a:r>
          </a:p>
        </p:txBody>
      </p:sp>
      <p:sp>
        <p:nvSpPr>
          <p:cNvPr id="4" name="Shape 2">
            <a:extLst>
              <a:ext uri="{FF2B5EF4-FFF2-40B4-BE49-F238E27FC236}">
                <ns2:creationId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ns2:creationId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ns2:creationId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ns2:creationId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ns2:creationId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ns2:creationId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ns2:creationId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ns2:creationId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ns2:creationId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ns2:creationId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ns2:creationId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ns2:creationId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ns2:creationId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ns2:creationId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ns2:creationId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ns2:creationId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Questões de Investigação</a:t>
            </a:r>
          </a:p>
        </p:txBody>
      </p:sp>
      <p:sp>
        <p:nvSpPr>
          <p:cNvPr id="20" name="Text 18">
            <a:extLst>
              <a:ext uri="{FF2B5EF4-FFF2-40B4-BE49-F238E27FC236}">
                <ns2:creationId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ns2:creationId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ns2:creationId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ns2:creationId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ns2:creationId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ns2:creationId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ns2:creationId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ns2:creationId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ns2:creationId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ns3:creationId val="1881172759"/>
      </p:ext>
    </p:extLst>
  </p:cSld>
  <p:clrMapOvr>
    <a:masterClrMapping/>
  </p:clrMapOvr>
</p:sld>
</file>

<file path=ppt/slides/slide50.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ns2:creationId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ns2:creationId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Comparação dos Algoritmos</a:t>
            </a:r>
          </a:p>
        </p:txBody>
      </p:sp>
      <p:sp>
        <p:nvSpPr>
          <p:cNvPr id="4" name="TextBox 3">
            <a:extLst>
              <a:ext uri="{FF2B5EF4-FFF2-40B4-BE49-F238E27FC236}">
                <ns2:creationId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ns2:creationId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ns2:creationId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ns2:creationId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ns2:creationId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ns2:creationId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ns2:creationId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ns2:creationId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ns2:creationId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ns2:creationId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ns2:creationId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ns2:creationId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ns2:creationId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ns2:creationId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ns2:creationId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ns2:creationId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ns2:creationId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ns2:creationId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ns2:creationId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ns2:creationId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ns2:creationId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ns2:creationId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ns2:creationId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ns2:creationId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ns2:creationId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ns2:creationId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ns2:creationId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ns2:creationId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ns2:creationId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ns2:creationId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ns2:creationId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ns2:creationId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ns2:creationId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ns2:creationId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ns2:creationId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ns2:creationId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ns2:creationId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ns2:creationId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ns2:creationId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ns2:creationId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ns2:creationId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ns2:creationId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ns2:creationId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ns2:creationId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ns2:creationId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ns2:creationId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ns2:creationId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ns2:creationId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ns2:creationId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ns2:creationId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ns2:creationId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ns2:creationId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ns2:creationId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ns2:creationId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ns3:creationId val="177073166"/>
      </p:ext>
    </p:extLst>
  </p:cSld>
  <p:clrMapOvr>
    <a:masterClrMapping/>
  </p:clrMapOvr>
</p:sld>
</file>

<file path=ppt/slides/slide5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Validação entre Algoritmos</a:t>
            </a:r>
          </a:p>
        </p:txBody>
      </p:sp>
      <p:sp>
        <p:nvSpPr>
          <p:cNvPr id="4" name="Text 2">
            <a:extLst>
              <a:ext uri="{FF2B5EF4-FFF2-40B4-BE49-F238E27FC236}">
                <ns2:creationId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ns2:creationId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ns2:creationId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ns2:creationId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ns2:creationId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Variável</a:t>
            </a:r>
          </a:p>
        </p:txBody>
      </p:sp>
      <p:sp>
        <p:nvSpPr>
          <p:cNvPr id="9" name="Shape 7">
            <a:extLst>
              <a:ext uri="{FF2B5EF4-FFF2-40B4-BE49-F238E27FC236}">
                <ns2:creationId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ns2:creationId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ns2:creationId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ns2:creationId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ns2:creationId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ns2:creationId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ns2:creationId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ns2:creationId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Confiança</a:t>
            </a:r>
          </a:p>
        </p:txBody>
      </p:sp>
      <p:sp>
        <p:nvSpPr>
          <p:cNvPr id="17" name="Shape 15">
            <a:extLst>
              <a:ext uri="{FF2B5EF4-FFF2-40B4-BE49-F238E27FC236}">
                <ns2:creationId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ns2:creationId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ns2:creationId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Água no solo à vindima</a:t>
            </a:r>
          </a:p>
          <a:p>
            <a:r>
              <a:rPr sz="1333">
                <a:solidFill>
                  <a:srgbClr val="1C1214"/>
                </a:solidFill>
                <a:latin typeface="Calibri"/>
                <a:ea typeface="Calibri"/>
                <a:cs typeface="Calibri"/>
              </a:rPr>
              <a:t>(swa_hv_y1_b20)</a:t>
            </a:r>
          </a:p>
        </p:txBody>
      </p:sp>
      <p:sp>
        <p:nvSpPr>
          <p:cNvPr id="20" name="Shape 18">
            <a:extLst>
              <a:ext uri="{FF2B5EF4-FFF2-40B4-BE49-F238E27FC236}">
                <ns2:creationId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ns2:creationId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ns2:creationId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ns2:creationId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ns2:creationId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ns2:creationId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ns2:creationId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ns2:creationId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ns2:creationId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ns2:creationId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ns2:creationId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ns2:creationId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ns2:creationId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ns2:creationId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ns2:creationId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ns2:creationId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ns2:creationId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ns2:creationId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ns2:creationId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ns2:creationId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ns2:creationId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ns2:creationId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ns2:creationId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ns2:creationId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ns2:creationId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ns2:creationId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ns2:creationId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ns2:creationId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ns2:creationId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ns2:creationId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ns2:creationId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ns2:creationId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ns2:creationId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ns2:creationId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ns2:creationId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ns2:creationId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ns2:creationId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ns2:creationId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ns2:creationId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ns2:creationId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ns2:creationId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ns2:creationId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ns2:creationId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ns3:creationId val="1270335023"/>
      </p:ext>
    </p:extLst>
  </p:cSld>
  <p:clrMapOvr>
    <a:masterClrMapping/>
  </p:clrMapOvr>
</p:sld>
</file>

<file path=ppt/slides/slide52.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a:extLst>
              <a:ext uri="{FF2B5EF4-FFF2-40B4-BE49-F238E27FC236}">
                <ns2:creationId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Resultados da Validação Preditiva (Objetivo 2)</a:t>
            </a:r>
          </a:p>
        </p:txBody>
      </p:sp>
      <p:sp>
        <p:nvSpPr>
          <p:cNvPr id="4" name="Text 2">
            <a:extLst>
              <a:ext uri="{FF2B5EF4-FFF2-40B4-BE49-F238E27FC236}">
                <ns2:creationId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ns2:creationId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ns2:creationId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ns2:creationId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ns3:chart r:id="rId3"/>
          </a:graphicData>
        </a:graphic>
      </p:graphicFrame>
      <p:sp>
        <p:nvSpPr>
          <p:cNvPr id="9" name="Text 6">
            <a:extLst>
              <a:ext uri="{FF2B5EF4-FFF2-40B4-BE49-F238E27FC236}">
                <ns2:creationId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ns3:chart r:id="rId4"/>
          </a:graphicData>
        </a:graphic>
      </p:graphicFrame>
      <p:sp>
        <p:nvSpPr>
          <p:cNvPr id="11" name="Shape 7">
            <a:extLst>
              <a:ext uri="{FF2B5EF4-FFF2-40B4-BE49-F238E27FC236}">
                <ns2:creationId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ns2:creationId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ns5:creationId val="2069052275"/>
      </p:ext>
    </p:extLst>
  </p:cSld>
  <p:clrMapOvr>
    <a:masterClrMapping/>
  </p:clrMapOvr>
</p:sld>
</file>

<file path=ppt/slides/slide5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ns2:creationId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ns2:creationId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ns2:creationId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ns2:creationId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ns2:creationId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ns2:colId val="20000"/>
                    </a:ext>
                  </a:extLst>
                </a:gridCol>
                <a:gridCol w="2560320">
                  <a:extLst>
                    <a:ext uri="{9D8B030D-6E8A-4147-A177-3AD203B41FA5}">
                      <ns2:colId val="20001"/>
                    </a:ext>
                  </a:extLst>
                </a:gridCol>
                <a:gridCol w="2804160">
                  <a:extLst>
                    <a:ext uri="{9D8B030D-6E8A-4147-A177-3AD203B41FA5}">
                      <ns2:colId val="20002"/>
                    </a:ext>
                  </a:extLst>
                </a:gridCol>
                <a:gridCol w="3413760">
                  <a:extLst>
                    <a:ext uri="{9D8B030D-6E8A-4147-A177-3AD203B41FA5}">
                      <ns2:colId val="20003"/>
                    </a:ext>
                  </a:extLst>
                </a:gridCol>
              </a:tblGrid>
              <a:tr h="755904">
                <a:tc>
                  <a:txBody>
                    <a:bodyPr/>
                    <a:lstStyle/>
                    <a:p>
                      <a:pPr marL="0" indent="0" algn="l">
                        <a:buNone/>
                      </a:pPr>
                      <a:r>
                        <a:rPr sz="1300" b="1">
                          <a:solidFill>
                            <a:srgbClr val="FFFFFF"/>
                          </a:solidFill>
                        </a:rPr>
                        <a:t>Dimensão</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Implicação</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ns2:rowId val="10000"/>
                  </a:ext>
                </a:extLst>
              </a:tr>
              <a:tr h="755904">
                <a:tc>
                  <a:txBody>
                    <a:bodyPr/>
                    <a:lstStyle/>
                    <a:p>
                      <a:pPr marL="0" indent="0" algn="l">
                        <a:buNone/>
                      </a:pPr>
                      <a:r>
                        <a:rPr sz="1300" b="1">
                          <a:solidFill>
                            <a:srgbClr val="1C1214"/>
                          </a:solidFill>
                        </a:rPr>
                        <a:t>Tendência de produção</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ns2:rowId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ns2:rowId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ns2:rowId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ns2:rowId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ns2:rowId val="10005"/>
                  </a:ext>
                </a:extLst>
              </a:tr>
            </a:tbl>
          </a:graphicData>
        </a:graphic>
      </p:graphicFrame>
      <p:sp>
        <p:nvSpPr>
          <p:cNvPr id="8" name="Shape 5">
            <a:extLst>
              <a:ext uri="{FF2B5EF4-FFF2-40B4-BE49-F238E27FC236}">
                <ns2:creationId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ns2:creationId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ns2:creationId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ns3:creationId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12905</Words>
  <Application>Microsoft Macintosh PowerPoint</Application>
  <DocSecurity>0</DocSecurity>
  <PresentationFormat>Widescreen</PresentationFormat>
  <Paragraphs>1365</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4</cp:revision>
  <dcterms:created xsi:type="dcterms:W3CDTF">2026-07-14T00:04:33Z</dcterms:created>
  <dcterms:modified xsi:type="dcterms:W3CDTF">2026-07-14T00:35:41Z</dcterms:modified>
</cp:coreProperties>
</file>