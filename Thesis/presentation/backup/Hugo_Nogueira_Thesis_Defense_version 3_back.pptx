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64"/>
    <p:restoredTop sz="84205"/>
  </p:normalViewPr>
  <p:slideViewPr>
    <p:cSldViewPr snapToGrid="0">
      <p:cViewPr varScale="1">
        <p:scale>
          <a:sx n="129" d="100"/>
          <a:sy n="129" d="100"/>
        </p:scale>
        <p:origin x="164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AD97-B34A-8AA5-BE89E76CCED2}"/>
              </c:ext>
            </c:extLst>
          </c:dPt>
          <c:dPt>
            <c:idx val="2"/>
            <c:invertIfNegative val="1"/>
            <c:bubble3D val="0"/>
            <c:spPr>
              <a:solidFill>
                <a:srgbClr val="8AAAB5"/>
              </a:solidFill>
            </c:spPr>
            <c:extLst>
              <c:ext xmlns:c16="http://schemas.microsoft.com/office/drawing/2014/chart" uri="{C3380CC4-5D6E-409C-BE32-E72D297353CC}">
                <c16:uniqueId val="{00000003-AD97-B34A-8AA5-BE89E76CCED2}"/>
              </c:ext>
            </c:extLst>
          </c:dPt>
          <c:dPt>
            <c:idx val="3"/>
            <c:invertIfNegative val="1"/>
            <c:bubble3D val="0"/>
            <c:spPr>
              <a:solidFill>
                <a:srgbClr val="8AAAB5"/>
              </a:solidFill>
            </c:spPr>
            <c:extLst>
              <c:ext xmlns:c16="http://schemas.microsoft.com/office/drawing/2014/chart" uri="{C3380CC4-5D6E-409C-BE32-E72D297353CC}">
                <c16:uniqueId val="{00000005-AD97-B34A-8AA5-BE89E76CCED2}"/>
              </c:ext>
            </c:extLst>
          </c:dPt>
          <c:dPt>
            <c:idx val="4"/>
            <c:invertIfNegative val="1"/>
            <c:bubble3D val="0"/>
            <c:spPr>
              <a:solidFill>
                <a:srgbClr val="B03A2E"/>
              </a:solidFill>
            </c:spPr>
            <c:extLst>
              <c:ext xmlns:c16="http://schemas.microsoft.com/office/drawing/2014/chart" uri="{C3380CC4-5D6E-409C-BE32-E72D297353CC}">
                <c16:uniqueId val="{00000007-AD97-B34A-8AA5-BE89E76CCED2}"/>
              </c:ext>
            </c:extLst>
          </c:dPt>
          <c:dPt>
            <c:idx val="5"/>
            <c:invertIfNegative val="1"/>
            <c:bubble3D val="0"/>
            <c:spPr>
              <a:solidFill>
                <a:srgbClr val="8B2222"/>
              </a:solidFill>
            </c:spPr>
            <c:extLst>
              <c:ext xmlns:c16="http://schemas.microsoft.com/office/drawing/2014/chart" uri="{C3380CC4-5D6E-409C-BE32-E72D297353CC}">
                <c16:uniqueId val="{00000009-AD97-B34A-8AA5-BE89E76CCED2}"/>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AD97-B34A-8AA5-BE89E76CCE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310"/>
          <c:min val="15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FEA7-FD46-906C-D612C4607115}"/>
              </c:ext>
            </c:extLst>
          </c:dPt>
          <c:dPt>
            <c:idx val="2"/>
            <c:invertIfNegative val="1"/>
            <c:bubble3D val="0"/>
            <c:spPr>
              <a:solidFill>
                <a:srgbClr val="8AAAB5"/>
              </a:solidFill>
            </c:spPr>
            <c:extLst>
              <c:ext xmlns:c16="http://schemas.microsoft.com/office/drawing/2014/chart" uri="{C3380CC4-5D6E-409C-BE32-E72D297353CC}">
                <c16:uniqueId val="{00000003-FEA7-FD46-906C-D612C4607115}"/>
              </c:ext>
            </c:extLst>
          </c:dPt>
          <c:dPt>
            <c:idx val="3"/>
            <c:invertIfNegative val="1"/>
            <c:bubble3D val="0"/>
            <c:spPr>
              <a:solidFill>
                <a:srgbClr val="8AAAB5"/>
              </a:solidFill>
            </c:spPr>
            <c:extLst>
              <c:ext xmlns:c16="http://schemas.microsoft.com/office/drawing/2014/chart" uri="{C3380CC4-5D6E-409C-BE32-E72D297353CC}">
                <c16:uniqueId val="{00000005-FEA7-FD46-906C-D612C4607115}"/>
              </c:ext>
            </c:extLst>
          </c:dPt>
          <c:dPt>
            <c:idx val="4"/>
            <c:invertIfNegative val="1"/>
            <c:bubble3D val="0"/>
            <c:spPr>
              <a:solidFill>
                <a:srgbClr val="B03A2E"/>
              </a:solidFill>
            </c:spPr>
            <c:extLst>
              <c:ext xmlns:c16="http://schemas.microsoft.com/office/drawing/2014/chart" uri="{C3380CC4-5D6E-409C-BE32-E72D297353CC}">
                <c16:uniqueId val="{00000007-FEA7-FD46-906C-D612C4607115}"/>
              </c:ext>
            </c:extLst>
          </c:dPt>
          <c:dPt>
            <c:idx val="5"/>
            <c:invertIfNegative val="1"/>
            <c:bubble3D val="0"/>
            <c:spPr>
              <a:solidFill>
                <a:srgbClr val="8B2222"/>
              </a:solidFill>
            </c:spPr>
            <c:extLst>
              <c:ext xmlns:c16="http://schemas.microsoft.com/office/drawing/2014/chart" uri="{C3380CC4-5D6E-409C-BE32-E72D297353CC}">
                <c16:uniqueId val="{00000009-FEA7-FD46-906C-D612C4607115}"/>
              </c:ext>
            </c:extLst>
          </c:dPt>
          <c:dPt>
            <c:idx val="6"/>
            <c:invertIfNegative val="1"/>
            <c:bubble3D val="0"/>
            <c:spPr>
              <a:solidFill>
                <a:srgbClr val="8B2222"/>
              </a:solidFill>
            </c:spPr>
            <c:extLst>
              <c:ext xmlns:c16="http://schemas.microsoft.com/office/drawing/2014/chart" uri="{C3380CC4-5D6E-409C-BE32-E72D297353CC}">
                <c16:uniqueId val="{0000000B-FEA7-FD46-906C-D612C4607115}"/>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FEA7-FD46-906C-D612C460711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560"/>
          <c:min val="10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c:spPr>
          <c:invertIfNegative val="1"/>
          <c:dPt>
            <c:idx val="1"/>
            <c:invertIfNegative val="1"/>
            <c:bubble3D val="0"/>
            <c:spPr>
              <a:solidFill>
                <a:srgbClr val="9A8E8B"/>
              </a:solidFill>
            </c:spPr>
            <c:extLst>
              <c:ext xmlns:c16="http://schemas.microsoft.com/office/drawing/2014/chart" uri="{C3380CC4-5D6E-409C-BE32-E72D297353CC}">
                <c16:uniqueId val="{00000001-8482-0644-9EA3-C3E106BAE6EA}"/>
              </c:ext>
            </c:extLst>
          </c:dPt>
          <c:dPt>
            <c:idx val="2"/>
            <c:invertIfNegative val="1"/>
            <c:bubble3D val="0"/>
            <c:spPr>
              <a:solidFill>
                <a:srgbClr val="9A8E8B"/>
              </a:solidFill>
            </c:spPr>
            <c:extLst>
              <c:ext xmlns:c16="http://schemas.microsoft.com/office/drawing/2014/chart" uri="{C3380CC4-5D6E-409C-BE32-E72D297353CC}">
                <c16:uniqueId val="{00000003-8482-0644-9EA3-C3E106BAE6EA}"/>
              </c:ext>
            </c:extLst>
          </c:dPt>
          <c:dPt>
            <c:idx val="3"/>
            <c:invertIfNegative val="1"/>
            <c:bubble3D val="0"/>
            <c:spPr>
              <a:solidFill>
                <a:srgbClr val="9A8E8B"/>
              </a:solidFill>
            </c:spPr>
            <c:extLst>
              <c:ext xmlns:c16="http://schemas.microsoft.com/office/drawing/2014/chart" uri="{C3380CC4-5D6E-409C-BE32-E72D297353CC}">
                <c16:uniqueId val="{00000005-8482-0644-9EA3-C3E106BAE6EA}"/>
              </c:ext>
            </c:extLst>
          </c:dPt>
          <c:dPt>
            <c:idx val="4"/>
            <c:invertIfNegative val="1"/>
            <c:bubble3D val="0"/>
            <c:spPr>
              <a:solidFill>
                <a:srgbClr val="9A8E8B"/>
              </a:solidFill>
            </c:spPr>
            <c:extLst>
              <c:ext xmlns:c16="http://schemas.microsoft.com/office/drawing/2014/chart" uri="{C3380CC4-5D6E-409C-BE32-E72D297353CC}">
                <c16:uniqueId val="{00000007-8482-0644-9EA3-C3E106BAE6EA}"/>
              </c:ext>
            </c:extLst>
          </c:dPt>
          <c:dPt>
            <c:idx val="5"/>
            <c:invertIfNegative val="1"/>
            <c:bubble3D val="0"/>
            <c:spPr>
              <a:solidFill>
                <a:srgbClr val="B74A4A"/>
              </a:solidFill>
            </c:spPr>
            <c:extLst>
              <c:ext xmlns:c16="http://schemas.microsoft.com/office/drawing/2014/chart" uri="{C3380CC4-5D6E-409C-BE32-E72D297353CC}">
                <c16:uniqueId val="{00000009-8482-0644-9EA3-C3E106BAE6EA}"/>
              </c:ext>
            </c:extLst>
          </c:dPt>
          <c:dPt>
            <c:idx val="6"/>
            <c:invertIfNegative val="1"/>
            <c:bubble3D val="0"/>
            <c:spPr>
              <a:solidFill>
                <a:srgbClr val="B74A4A"/>
              </a:solidFill>
            </c:spPr>
            <c:extLst>
              <c:ext xmlns:c16="http://schemas.microsoft.com/office/drawing/2014/chart" uri="{C3380CC4-5D6E-409C-BE32-E72D297353CC}">
                <c16:uniqueId val="{0000000B-8482-0644-9EA3-C3E106BAE6EA}"/>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279.39999999999998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8482-0644-9EA3-C3E106BAE6E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6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c:spPr>
          <c:invertIfNegative val="1"/>
          <c:dPt>
            <c:idx val="1"/>
            <c:invertIfNegative val="1"/>
            <c:bubble3D val="0"/>
            <c:spPr>
              <a:solidFill>
                <a:srgbClr val="9A8E8B"/>
              </a:solidFill>
            </c:spPr>
            <c:extLst>
              <c:ext xmlns:c16="http://schemas.microsoft.com/office/drawing/2014/chart" uri="{C3380CC4-5D6E-409C-BE32-E72D297353CC}">
                <c16:uniqueId val="{00000001-3FF5-A74F-AF01-DAFB275DF81F}"/>
              </c:ext>
            </c:extLst>
          </c:dPt>
          <c:dPt>
            <c:idx val="2"/>
            <c:invertIfNegative val="1"/>
            <c:bubble3D val="0"/>
            <c:spPr>
              <a:solidFill>
                <a:srgbClr val="9A8E8B"/>
              </a:solidFill>
            </c:spPr>
            <c:extLst>
              <c:ext xmlns:c16="http://schemas.microsoft.com/office/drawing/2014/chart" uri="{C3380CC4-5D6E-409C-BE32-E72D297353CC}">
                <c16:uniqueId val="{00000003-3FF5-A74F-AF01-DAFB275DF81F}"/>
              </c:ext>
            </c:extLst>
          </c:dPt>
          <c:dPt>
            <c:idx val="3"/>
            <c:invertIfNegative val="1"/>
            <c:bubble3D val="0"/>
            <c:spPr>
              <a:solidFill>
                <a:srgbClr val="9A8E8B"/>
              </a:solidFill>
            </c:spPr>
            <c:extLst>
              <c:ext xmlns:c16="http://schemas.microsoft.com/office/drawing/2014/chart" uri="{C3380CC4-5D6E-409C-BE32-E72D297353CC}">
                <c16:uniqueId val="{00000005-3FF5-A74F-AF01-DAFB275DF81F}"/>
              </c:ext>
            </c:extLst>
          </c:dPt>
          <c:dPt>
            <c:idx val="4"/>
            <c:invertIfNegative val="1"/>
            <c:bubble3D val="0"/>
            <c:spPr>
              <a:solidFill>
                <a:srgbClr val="9A8E8B"/>
              </a:solidFill>
            </c:spPr>
            <c:extLst>
              <c:ext xmlns:c16="http://schemas.microsoft.com/office/drawing/2014/chart" uri="{C3380CC4-5D6E-409C-BE32-E72D297353CC}">
                <c16:uniqueId val="{00000007-3FF5-A74F-AF01-DAFB275DF81F}"/>
              </c:ext>
            </c:extLst>
          </c:dPt>
          <c:dPt>
            <c:idx val="5"/>
            <c:invertIfNegative val="1"/>
            <c:bubble3D val="0"/>
            <c:spPr>
              <a:solidFill>
                <a:srgbClr val="B74A4A"/>
              </a:solidFill>
            </c:spPr>
            <c:extLst>
              <c:ext xmlns:c16="http://schemas.microsoft.com/office/drawing/2014/chart" uri="{C3380CC4-5D6E-409C-BE32-E72D297353CC}">
                <c16:uniqueId val="{00000009-3FF5-A74F-AF01-DAFB275DF81F}"/>
              </c:ext>
            </c:extLst>
          </c:dPt>
          <c:dPt>
            <c:idx val="6"/>
            <c:invertIfNegative val="1"/>
            <c:bubble3D val="0"/>
            <c:spPr>
              <a:solidFill>
                <a:srgbClr val="B74A4A"/>
              </a:solidFill>
            </c:spPr>
            <c:extLst>
              <c:ext xmlns:c16="http://schemas.microsoft.com/office/drawing/2014/chart" uri="{C3380CC4-5D6E-409C-BE32-E72D297353CC}">
                <c16:uniqueId val="{0000000B-3FF5-A74F-AF01-DAFB275DF81F}"/>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143.80000000000001</c:v>
                </c:pt>
                <c:pt idx="2">
                  <c:v>170.5</c:v>
                </c:pt>
                <c:pt idx="3">
                  <c:v>171.6</c:v>
                </c:pt>
                <c:pt idx="4">
                  <c:v>267.5</c:v>
                </c:pt>
                <c:pt idx="5">
                  <c:v>479.3</c:v>
                </c:pt>
                <c:pt idx="6">
                  <c:v>508.2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3FF5-A74F-AF01-DAFB275DF8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0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a:endParaRPr/>
          </a:p>
          <a:p>
            <a:r>
              <a:t>The important sentence to say aloud is the one at the bottom: the same algorithm produces qualitatively different outcomes depending on the structural history of the production series.</a:t>
            </a:r>
          </a:p>
          <a:p>
            <a:endParaRPr/>
          </a:p>
          <a:p>
            <a:r>
              <a:t>This justifies the limitations and future work: better structural covariates and additional regions are not optional improvements; they are required for stronger forecasting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methodological control slide. The same pipeline is applied to Douro and Vinho Verde: same feature construction, same families of algorithms, and walk-forward expanding-window validation.</a:t>
            </a:r>
          </a:p>
          <a:p>
            <a:endParaRPr/>
          </a:p>
          <a:p>
            <a:r>
              <a:t>Point to the time-series validation. Each scenario trains on the past and tests on the future. All preprocessing is inside the training fold, so the test years remain genuinely unseen.</a:t>
            </a:r>
          </a:p>
          <a:p>
            <a:endParaRPr/>
          </a:p>
          <a:p>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endParaRPr/>
          </a:p>
          <a:p>
            <a:r>
              <a:t>The example rule on the right is what CarenR produces. It tells you: in years where soil water at harvest was between 74 and 101 mm AND wet days after flowering were 3.3 or fewer, production was 192 mhl above trend — in 21% of years, with a KS p-value of 0.010.</a:t>
            </a:r>
          </a:p>
          <a:p>
            <a:endParaRPr/>
          </a:p>
          <a:p>
            <a:r>
              <a:t>An agronomist can read that, challenge it, and decide whether it matches their knowledge of vine physiology. No prior work has applied this kind of distributional rule induction to multi-decade regional production records.</a:t>
            </a:r>
          </a:p>
          <a:p>
            <a:endParaRPr/>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algorithms address structurally different questions.</a:t>
            </a:r>
          </a:p>
          <a:p>
            <a:endParaRPr/>
          </a:p>
          <a:p>
            <a:r>
              <a:t>CarenR asks: when does the shape of the production distribution shift? It uses the Kolmogorov–Smirnov two-sample test, which is non-parametric — no normality assumption, no need to discretise the target. Output is a rule with a distributional shift in mhl.</a:t>
            </a:r>
          </a:p>
          <a:p>
            <a:endParaRPr/>
          </a:p>
          <a:p>
            <a:r>
              <a:t>RIPPER asks: which production class does a year belong to? It requires discretising the target into tertiles — Low, Medium, High — and uses FOIL information gain. Well-established baseline, but the discretisation loses information.</a:t>
            </a:r>
          </a:p>
          <a:p>
            <a:endParaRPr/>
          </a:p>
          <a:p>
            <a:r>
              <a:t>M5Rules asks: what's the exact production level? It minimises MSE to build piecewise linear regression rules. The problem is that on datasets smaller than 89 observations, it collapses to a single global model with no meaningful splits.</a:t>
            </a:r>
          </a:p>
          <a:p>
            <a:endParaRPr/>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endParaRPr/>
          </a:p>
          <a:p>
            <a:r>
              <a:t>Three algorithms with completely different optimisation criteria — KS test, FOIL gain, MSE minimisation — independently select the same feature families.</a:t>
            </a:r>
          </a:p>
          <a:p>
            <a:endParaRPr/>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endParaRPr/>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endParaRPr/>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endParaRPr/>
          </a:p>
          <a:p>
            <a:r>
              <a:t>In Douro: the best CarenR variant achieves a weighted MAE of 189 mhl versus Naive_Median's 184 mhl. That's a 3% degradation. Wilcoxon p = 0.468 — not significant. In aggregate, CarenR does not beat the naive baseline in Douro.</a:t>
            </a:r>
          </a:p>
          <a:p>
            <a:endParaRPr/>
          </a:p>
          <a:p>
            <a:r>
              <a:t>In Vinho Verde: Best CarenR at 172 mhl versus Naive at 140 mhl. That's a 22% degradation, with p = 0.004 — the rules actively harm prediction.</a:t>
            </a:r>
          </a:p>
          <a:p>
            <a:endParaRPr/>
          </a:p>
          <a:p>
            <a:r>
              <a:t>These are uncomfortable numbers but they're the right numbers. The question is: why? And the answer is on the next two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endParaRPr/>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endParaRPr/>
          </a:p>
          <a:p>
            <a:r>
              <a:t>In Douro: genuine within-era signal survives LOESS detrending, three algorithms converge, and era-balanced scenarios show conditional improvement.</a:t>
            </a:r>
          </a:p>
          <a:p>
            <a:endParaRPr/>
          </a:p>
          <a:p>
            <a:r>
              <a:t>In Vinho Verde: features are largely era-membership proxies, LOESS detrending removes all signal, and rules cannot generalise across the 1986 structural break.</a:t>
            </a:r>
          </a:p>
          <a:p>
            <a:endParaRPr/>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What can climate explain — and what can it reliably predict?</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business question is a decision question</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1619250"/>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810125"/>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476875"/>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1571625"/>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1571625"/>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1790700"/>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286000"/>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1571625"/>
            <a:ext cx="5667375" cy="1619250"/>
          </a:xfrm>
          <a:prstGeom prst="rect">
            <a:avLst/>
          </a:prstGeom>
          <a:solidFill>
            <a:srgbClr val="F7EAF0"/>
          </a:solidFill>
          <a:ln w="0">
            <a:noFill/>
            <a:prstDash val="solid"/>
          </a:ln>
        </p:spPr>
        <p:txBody>
          <a:bodyPr/>
          <a:lstStyle/>
          <a:p>
            <a:endParaRPr/>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1571625"/>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1790700"/>
            <a:ext cx="2667000" cy="266700"/>
          </a:xfrm>
          <a:prstGeom prst="rect">
            <a:avLst/>
          </a:prstGeom>
          <a:noFill/>
          <a:ln w="0">
            <a:noFill/>
            <a:prstDash val="solid"/>
          </a:ln>
        </p:spPr>
        <p:txBody>
          <a:bodyPr/>
          <a:lstStyle/>
          <a:p>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190750"/>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3571875"/>
            <a:ext cx="5286375" cy="2000250"/>
          </a:xfrm>
          <a:prstGeom prst="rect">
            <a:avLst/>
          </a:prstGeom>
          <a:solidFill>
            <a:srgbClr val="F8F0DC"/>
          </a:solidFill>
          <a:ln w="0">
            <a:noFill/>
            <a:prstDash val="solid"/>
          </a:ln>
        </p:spPr>
        <p:txBody>
          <a:bodyPr/>
          <a:lstStyle/>
          <a:p>
            <a:endParaRPr/>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3571875"/>
            <a:ext cx="76200" cy="2000250"/>
          </a:xfrm>
          <a:prstGeom prst="rect">
            <a:avLst/>
          </a:prstGeom>
          <a:solidFill>
            <a:srgbClr val="7B1E3A"/>
          </a:solidFill>
          <a:ln w="0">
            <a:noFill/>
            <a:prstDash val="solid"/>
          </a:ln>
        </p:spPr>
        <p:txBody>
          <a:bodyPr/>
          <a:lstStyle/>
          <a:p>
            <a:endParaRPr/>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3790950"/>
            <a:ext cx="4572000" cy="24765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171950"/>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4486275"/>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4800600"/>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114925"/>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3571875"/>
            <a:ext cx="5667375" cy="2000250"/>
          </a:xfrm>
          <a:prstGeom prst="rect">
            <a:avLst/>
          </a:prstGeom>
          <a:solidFill>
            <a:srgbClr val="EAF5EE"/>
          </a:solidFill>
          <a:ln w="0">
            <a:noFill/>
            <a:prstDash val="solid"/>
          </a:ln>
        </p:spPr>
        <p:txBody>
          <a:bodyPr/>
          <a:lstStyle/>
          <a:p>
            <a:endParaRPr/>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3571875"/>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50" y="3790950"/>
            <a:ext cx="3429000" cy="266700"/>
          </a:xfrm>
          <a:prstGeom prst="rect">
            <a:avLst/>
          </a:prstGeom>
          <a:noFill/>
          <a:ln w="0">
            <a:noFill/>
            <a:prstDash val="solid"/>
          </a:ln>
        </p:spPr>
        <p:txBody>
          <a:bodyPr/>
          <a:lstStyle/>
          <a:p>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333875"/>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t>Why this is hard: the climate signal is real, but diluted</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400050" y="1362075"/>
            <a:ext cx="10668000"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same pipeline meets two different histories</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400050" y="495300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305550" y="495300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609600" y="516255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6096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515100" y="516255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5151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
        <p:nvSpPr>
          <p:cNvPr id="14" name="slide5-cover-old-left-figure">
            <a:extLst>
              <a:ext uri="{FF2B5EF4-FFF2-40B4-BE49-F238E27FC236}">
                <a16:creationId xmlns:a16="http://schemas.microsoft.com/office/drawing/2014/main"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a16:creationId xmlns:a16="http://schemas.microsoft.com/office/drawing/2014/main"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a16:creationId xmlns:a16="http://schemas.microsoft.com/office/drawing/2014/main"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a16:creationId xmlns:a16="http://schemas.microsoft.com/office/drawing/2014/main"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400088" y="1930813"/>
            <a:ext cx="5476799" cy="2282000"/>
          </a:xfrm>
          <a:prstGeom prst="rect">
            <a:avLst/>
          </a:prstGeom>
        </p:spPr>
      </p:pic>
      <p:pic>
        <p:nvPicPr>
          <p:cNvPr id="40" name="Picture 39"/>
          <p:cNvPicPr>
            <a:picLocks noChangeAspect="1"/>
          </p:cNvPicPr>
          <p:nvPr/>
        </p:nvPicPr>
        <p:blipFill>
          <a:blip r:embed="rId5"/>
          <a:stretch/>
        </p:blipFill>
        <p:spPr>
          <a:xfrm>
            <a:off x="6305588" y="1930813"/>
            <a:ext cx="5476799" cy="2282000"/>
          </a:xfrm>
          <a:prstGeom prst="rect">
            <a:avLst/>
          </a:prstGeom>
        </p:spPr>
      </p:pic>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524000"/>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524000"/>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523875" y="4476750"/>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523875" y="5191125"/>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381750" y="4476750"/>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2047875"/>
            <a:ext cx="904875" cy="2667000"/>
          </a:xfrm>
          <a:prstGeom prst="rect">
            <a:avLst/>
          </a:prstGeom>
          <a:solidFill>
            <a:srgbClr val="F0F1F2"/>
          </a:solidFill>
          <a:ln w="0">
            <a:noFill/>
            <a:prstDash val="solid"/>
          </a:ln>
        </p:spPr>
        <p:txBody>
          <a:bodyPr/>
          <a:lstStyle/>
          <a:p>
            <a:endParaRPr/>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Features follow the biology, not the calendar</a:t>
            </a:r>
          </a:p>
        </p:txBody>
      </p:sp>
      <p:sp>
        <p:nvSpPr>
          <p:cNvPr id="5" name="Rectangle 4">
            <a:extLst>
              <a:ext uri="{FF2B5EF4-FFF2-40B4-BE49-F238E27FC236}">
                <a16:creationId xmlns:a16="http://schemas.microsoft.com/office/drawing/2014/main" id="{EED1B0E2-54BE-4A09-B44B-BE0A7D54EE49}"/>
              </a:ext>
            </a:extLst>
          </p:cNvPr>
          <p:cNvSpPr>
            <a:spLocks noGrp="1"/>
          </p:cNvSpPr>
          <p:nvPr/>
        </p:nvSpPr>
        <p:spPr>
          <a:xfrm>
            <a:off x="187938" y="6134100"/>
            <a:ext cx="8873808" cy="3429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2C98972-EF5A-4C16-830E-328D228E453D}"/>
              </a:ext>
            </a:extLst>
          </p:cNvPr>
          <p:cNvSpPr>
            <a:spLocks noGrp="1"/>
          </p:cNvSpPr>
          <p:nvPr/>
        </p:nvSpPr>
        <p:spPr>
          <a:xfrm>
            <a:off x="314646" y="6191250"/>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32,842 / 29,902 daily records</a:t>
            </a:r>
          </a:p>
        </p:txBody>
      </p:sp>
      <p:sp>
        <p:nvSpPr>
          <p:cNvPr id="7" name="Rectangle 6">
            <a:extLst>
              <a:ext uri="{FF2B5EF4-FFF2-40B4-BE49-F238E27FC236}">
                <a16:creationId xmlns:a16="http://schemas.microsoft.com/office/drawing/2014/main" id="{B99BB5E0-F51B-42A1-A0F7-F0A1F0CAE880}"/>
              </a:ext>
            </a:extLst>
          </p:cNvPr>
          <p:cNvSpPr>
            <a:spLocks noGrp="1"/>
          </p:cNvSpPr>
          <p:nvPr/>
        </p:nvSpPr>
        <p:spPr>
          <a:xfrm>
            <a:off x="2589679" y="6191250"/>
            <a:ext cx="2143125" cy="2286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 59 annual predictors</a:t>
            </a:r>
          </a:p>
        </p:txBody>
      </p:sp>
      <p:sp>
        <p:nvSpPr>
          <p:cNvPr id="8" name="Rectangle 7">
            <a:extLst>
              <a:ext uri="{FF2B5EF4-FFF2-40B4-BE49-F238E27FC236}">
                <a16:creationId xmlns:a16="http://schemas.microsoft.com/office/drawing/2014/main" id="{C2A7C5DE-C604-48DF-AE6D-B71ADDD34007}"/>
              </a:ext>
            </a:extLst>
          </p:cNvPr>
          <p:cNvSpPr>
            <a:spLocks noGrp="1"/>
          </p:cNvSpPr>
          <p:nvPr/>
        </p:nvSpPr>
        <p:spPr>
          <a:xfrm>
            <a:off x="4513009" y="6191250"/>
            <a:ext cx="228600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4 phenological anchors</a:t>
            </a:r>
          </a:p>
        </p:txBody>
      </p:sp>
      <p:sp>
        <p:nvSpPr>
          <p:cNvPr id="9" name="Rectangle 8">
            <a:extLst>
              <a:ext uri="{FF2B5EF4-FFF2-40B4-BE49-F238E27FC236}">
                <a16:creationId xmlns:a16="http://schemas.microsoft.com/office/drawing/2014/main" id="{DF562E81-0D2D-48F5-8FE6-AA89126C2529}"/>
              </a:ext>
            </a:extLst>
          </p:cNvPr>
          <p:cNvSpPr>
            <a:spLocks noGrp="1"/>
          </p:cNvSpPr>
          <p:nvPr/>
        </p:nvSpPr>
        <p:spPr>
          <a:xfrm>
            <a:off x="6799009" y="6195531"/>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current + previous year</a:t>
            </a: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12" name="slide7-bottom-cover">
            <a:extLst>
              <a:ext uri="{FF2B5EF4-FFF2-40B4-BE49-F238E27FC236}">
                <a16:creationId xmlns:a16="http://schemas.microsoft.com/office/drawing/2014/main" id="{09499AF5-42AE-4E6A-AADD-BD4A7A7B1B6E}"/>
              </a:ext>
            </a:extLst>
          </p:cNvPr>
          <p:cNvSpPr>
            <a:spLocks noGrp="1"/>
          </p:cNvSpPr>
          <p:nvPr/>
        </p:nvSpPr>
        <p:spPr>
          <a:xfrm>
            <a:off x="171450" y="6057900"/>
            <a:ext cx="9001125" cy="476250"/>
          </a:xfrm>
          <a:prstGeom prst="rect">
            <a:avLst/>
          </a:prstGeom>
          <a:solidFill>
            <a:srgbClr val="FFFFFF"/>
          </a:solidFill>
          <a:ln w="0">
            <a:noFill/>
            <a:prstDash val="solid"/>
          </a:ln>
        </p:spPr>
        <p:txBody>
          <a:bodyPr/>
          <a:lstStyle/>
          <a:p>
            <a:endParaRPr lang="en-US"/>
          </a:p>
        </p:txBody>
      </p:sp>
      <p:sp>
        <p:nvSpPr>
          <p:cNvPr id="13" name="slide7-black-evidence-band">
            <a:extLst>
              <a:ext uri="{FF2B5EF4-FFF2-40B4-BE49-F238E27FC236}">
                <a16:creationId xmlns:a16="http://schemas.microsoft.com/office/drawing/2014/main" id="{9B24E7F8-4020-4A41-98B8-3261B0E0CDF8}"/>
              </a:ext>
            </a:extLst>
          </p:cNvPr>
          <p:cNvSpPr>
            <a:spLocks noGrp="1"/>
          </p:cNvSpPr>
          <p:nvPr/>
        </p:nvSpPr>
        <p:spPr>
          <a:xfrm>
            <a:off x="400050" y="6124575"/>
            <a:ext cx="8715375" cy="361950"/>
          </a:xfrm>
          <a:prstGeom prst="rect">
            <a:avLst/>
          </a:prstGeom>
          <a:solidFill>
            <a:srgbClr val="000000"/>
          </a:solidFill>
          <a:ln w="0">
            <a:noFill/>
            <a:prstDash val="solid"/>
          </a:ln>
        </p:spPr>
        <p:txBody>
          <a:bodyPr/>
          <a:lstStyle/>
          <a:p>
            <a:endParaRPr lang="en-US"/>
          </a:p>
        </p:txBody>
      </p:sp>
      <p:sp>
        <p:nvSpPr>
          <p:cNvPr id="14" name="slide7-band-left">
            <a:extLst>
              <a:ext uri="{FF2B5EF4-FFF2-40B4-BE49-F238E27FC236}">
                <a16:creationId xmlns:a16="http://schemas.microsoft.com/office/drawing/2014/main" id="{68E80BEB-C1F9-4695-9CB6-0AD54EBA46C3}"/>
              </a:ext>
            </a:extLst>
          </p:cNvPr>
          <p:cNvSpPr>
            <a:spLocks noGrp="1"/>
          </p:cNvSpPr>
          <p:nvPr/>
        </p:nvSpPr>
        <p:spPr>
          <a:xfrm>
            <a:off x="5905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32,842 / 29,902 daily records</a:t>
            </a:r>
          </a:p>
        </p:txBody>
      </p:sp>
      <p:sp>
        <p:nvSpPr>
          <p:cNvPr id="15" name="slide7-band-mid1">
            <a:extLst>
              <a:ext uri="{FF2B5EF4-FFF2-40B4-BE49-F238E27FC236}">
                <a16:creationId xmlns:a16="http://schemas.microsoft.com/office/drawing/2014/main" id="{9EC1C369-EF49-4C9D-9C26-D3A28114CE3A}"/>
              </a:ext>
            </a:extLst>
          </p:cNvPr>
          <p:cNvSpPr>
            <a:spLocks noGrp="1"/>
          </p:cNvSpPr>
          <p:nvPr/>
        </p:nvSpPr>
        <p:spPr>
          <a:xfrm>
            <a:off x="3143250" y="6210300"/>
            <a:ext cx="2381250" cy="209550"/>
          </a:xfrm>
          <a:prstGeom prst="rect">
            <a:avLst/>
          </a:prstGeom>
          <a:noFill/>
          <a:ln w="0">
            <a:noFill/>
            <a:prstDash val="solid"/>
          </a:ln>
        </p:spPr>
        <p:txBody>
          <a:bodyPr/>
          <a:lstStyle/>
          <a:p>
            <a:pPr>
              <a:buNone/>
              <a:defRPr sz="1275" b="1">
                <a:solidFill>
                  <a:srgbClr val="EE6A2E"/>
                </a:solidFill>
                <a:latin typeface="Arial"/>
                <a:ea typeface="Arial"/>
                <a:cs typeface="Arial"/>
              </a:defRPr>
            </a:pPr>
            <a:r>
              <a:rPr sz="1275" b="1">
                <a:solidFill>
                  <a:srgbClr val="EE6A2E"/>
                </a:solidFill>
                <a:latin typeface="Arial"/>
                <a:ea typeface="Arial"/>
                <a:cs typeface="Arial"/>
              </a:rPr>
              <a:t>-&gt; 59 annual predictors</a:t>
            </a:r>
          </a:p>
        </p:txBody>
      </p:sp>
      <p:sp>
        <p:nvSpPr>
          <p:cNvPr id="16" name="slide7-band-mid2">
            <a:extLst>
              <a:ext uri="{FF2B5EF4-FFF2-40B4-BE49-F238E27FC236}">
                <a16:creationId xmlns:a16="http://schemas.microsoft.com/office/drawing/2014/main" id="{5B1DB48F-BACC-4C96-9082-EF25C510018D}"/>
              </a:ext>
            </a:extLst>
          </p:cNvPr>
          <p:cNvSpPr>
            <a:spLocks noGrp="1"/>
          </p:cNvSpPr>
          <p:nvPr/>
        </p:nvSpPr>
        <p:spPr>
          <a:xfrm>
            <a:off x="56197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-&gt; 4 phenological anchors</a:t>
            </a:r>
          </a:p>
        </p:txBody>
      </p:sp>
      <p:sp>
        <p:nvSpPr>
          <p:cNvPr id="17" name="slide7-band-right">
            <a:extLst>
              <a:ext uri="{FF2B5EF4-FFF2-40B4-BE49-F238E27FC236}">
                <a16:creationId xmlns:a16="http://schemas.microsoft.com/office/drawing/2014/main" id="{951BE515-6946-451C-A946-1F30D572F05E}"/>
              </a:ext>
            </a:extLst>
          </p:cNvPr>
          <p:cNvSpPr>
            <a:spLocks noGrp="1"/>
          </p:cNvSpPr>
          <p:nvPr/>
        </p:nvSpPr>
        <p:spPr>
          <a:xfrm>
            <a:off x="7858125" y="6210300"/>
            <a:ext cx="1238250" cy="209550"/>
          </a:xfrm>
          <a:prstGeom prst="rect">
            <a:avLst/>
          </a:prstGeom>
          <a:noFill/>
          <a:ln w="0">
            <a:noFill/>
            <a:prstDash val="solid"/>
          </a:ln>
        </p:spPr>
        <p:txBody>
          <a:bodyPr/>
          <a:lstStyle/>
          <a:p>
            <a:pPr>
              <a:buNone/>
              <a:defRPr sz="975" b="1">
                <a:solidFill>
                  <a:srgbClr val="FFFFFF"/>
                </a:solidFill>
                <a:latin typeface="Arial"/>
                <a:ea typeface="Arial"/>
                <a:cs typeface="Arial"/>
              </a:defRPr>
            </a:pPr>
            <a:r>
              <a:rPr sz="975" b="1">
                <a:solidFill>
                  <a:srgbClr val="FFFFFF"/>
                </a:solidFill>
                <a:latin typeface="Arial"/>
                <a:ea typeface="Arial"/>
                <a:cs typeface="Arial"/>
              </a:rPr>
              <a:t>-&gt; current + previous year</a:t>
            </a:r>
          </a:p>
        </p:txBody>
      </p:sp>
      <p:sp>
        <p:nvSpPr>
          <p:cNvPr id="20" name="slide7-band-repair-cover">
            <a:extLst>
              <a:ext uri="{FF2B5EF4-FFF2-40B4-BE49-F238E27FC236}">
                <a16:creationId xmlns:a16="http://schemas.microsoft.com/office/drawing/2014/main" id="{CE89615F-045B-4838-8414-A93F71CBAE2B}"/>
              </a:ext>
            </a:extLst>
          </p:cNvPr>
          <p:cNvSpPr>
            <a:spLocks noGrp="1"/>
          </p:cNvSpPr>
          <p:nvPr/>
        </p:nvSpPr>
        <p:spPr>
          <a:xfrm>
            <a:off x="171450" y="6343650"/>
            <a:ext cx="11763375" cy="476250"/>
          </a:xfrm>
          <a:prstGeom prst="rect">
            <a:avLst/>
          </a:prstGeom>
          <a:solidFill>
            <a:srgbClr val="FFFFFF"/>
          </a:solidFill>
          <a:ln w="0">
            <a:noFill/>
            <a:prstDash val="solid"/>
          </a:ln>
        </p:spPr>
        <p:txBody>
          <a:bodyPr/>
          <a:lstStyle/>
          <a:p>
            <a:endParaRPr lang="en-US"/>
          </a:p>
        </p:txBody>
      </p:sp>
      <p:sp>
        <p:nvSpPr>
          <p:cNvPr id="21" name="slide7-band-repair-black">
            <a:extLst>
              <a:ext uri="{FF2B5EF4-FFF2-40B4-BE49-F238E27FC236}">
                <a16:creationId xmlns:a16="http://schemas.microsoft.com/office/drawing/2014/main" id="{B526EFBB-8B71-4D2E-BF03-7360CE5DB946}"/>
              </a:ext>
            </a:extLst>
          </p:cNvPr>
          <p:cNvSpPr>
            <a:spLocks noGrp="1"/>
          </p:cNvSpPr>
          <p:nvPr/>
        </p:nvSpPr>
        <p:spPr>
          <a:xfrm>
            <a:off x="400050" y="6124575"/>
            <a:ext cx="11579276" cy="361950"/>
          </a:xfrm>
          <a:prstGeom prst="rect">
            <a:avLst/>
          </a:prstGeom>
          <a:solidFill>
            <a:srgbClr val="000000"/>
          </a:solidFill>
          <a:ln w="0">
            <a:noFill/>
            <a:prstDash val="solid"/>
          </a:ln>
        </p:spPr>
        <p:txBody>
          <a:bodyPr/>
          <a:lstStyle/>
          <a:p>
            <a:endParaRPr lang="en-US"/>
          </a:p>
        </p:txBody>
      </p:sp>
      <p:sp>
        <p:nvSpPr>
          <p:cNvPr id="22" name="slide7-band-repair-records">
            <a:extLst>
              <a:ext uri="{FF2B5EF4-FFF2-40B4-BE49-F238E27FC236}">
                <a16:creationId xmlns:a16="http://schemas.microsoft.com/office/drawing/2014/main" id="{22BD4752-FAF0-4E9C-BBB5-10480FA48B99}"/>
              </a:ext>
            </a:extLst>
          </p:cNvPr>
          <p:cNvSpPr>
            <a:spLocks noGrp="1"/>
          </p:cNvSpPr>
          <p:nvPr/>
        </p:nvSpPr>
        <p:spPr>
          <a:xfrm>
            <a:off x="68580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a:solidFill>
                  <a:srgbClr val="FFFFFF"/>
                </a:solidFill>
                <a:latin typeface="Arial"/>
                <a:ea typeface="Arial"/>
                <a:cs typeface="Arial"/>
              </a:rPr>
              <a:t>32,842 / 29,902 daily records</a:t>
            </a:r>
          </a:p>
        </p:txBody>
      </p:sp>
      <p:sp>
        <p:nvSpPr>
          <p:cNvPr id="23" name="slide7-band-repair-predictors">
            <a:extLst>
              <a:ext uri="{FF2B5EF4-FFF2-40B4-BE49-F238E27FC236}">
                <a16:creationId xmlns:a16="http://schemas.microsoft.com/office/drawing/2014/main" id="{7085D20E-47F3-4E69-AFFE-5BEC46CFAD8E}"/>
              </a:ext>
            </a:extLst>
          </p:cNvPr>
          <p:cNvSpPr>
            <a:spLocks noGrp="1"/>
          </p:cNvSpPr>
          <p:nvPr/>
        </p:nvSpPr>
        <p:spPr>
          <a:xfrm>
            <a:off x="3657600" y="6167438"/>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200" b="1" dirty="0">
                <a:solidFill>
                  <a:srgbClr val="EE6A2E"/>
                </a:solidFill>
                <a:latin typeface="Arial"/>
                <a:ea typeface="Arial"/>
                <a:cs typeface="Arial"/>
              </a:rPr>
              <a:t>-&gt; 59 annual predictors</a:t>
            </a:r>
          </a:p>
        </p:txBody>
      </p:sp>
      <p:sp>
        <p:nvSpPr>
          <p:cNvPr id="24" name="slide7-band-repair-anchors">
            <a:extLst>
              <a:ext uri="{FF2B5EF4-FFF2-40B4-BE49-F238E27FC236}">
                <a16:creationId xmlns:a16="http://schemas.microsoft.com/office/drawing/2014/main" id="{6C38BA8C-60BA-476F-8EA2-6A64643236C1}"/>
              </a:ext>
            </a:extLst>
          </p:cNvPr>
          <p:cNvSpPr>
            <a:spLocks noGrp="1"/>
          </p:cNvSpPr>
          <p:nvPr/>
        </p:nvSpPr>
        <p:spPr>
          <a:xfrm>
            <a:off x="6486525" y="6167438"/>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4 phenological anchors</a:t>
            </a:r>
          </a:p>
        </p:txBody>
      </p:sp>
      <p:sp>
        <p:nvSpPr>
          <p:cNvPr id="25" name="slide7-band-repair-years">
            <a:extLst>
              <a:ext uri="{FF2B5EF4-FFF2-40B4-BE49-F238E27FC236}">
                <a16:creationId xmlns:a16="http://schemas.microsoft.com/office/drawing/2014/main" id="{D1500B64-3D66-4232-B257-0347FABB7313}"/>
              </a:ext>
            </a:extLst>
          </p:cNvPr>
          <p:cNvSpPr>
            <a:spLocks noGrp="1"/>
          </p:cNvSpPr>
          <p:nvPr/>
        </p:nvSpPr>
        <p:spPr>
          <a:xfrm>
            <a:off x="950595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current + previous year</a:t>
            </a:r>
          </a:p>
        </p:txBody>
      </p:sp>
      <p:cxnSp>
        <p:nvCxnSpPr>
          <p:cNvPr id="10" name="Elbow Connector 9">
            <a:extLst>
              <a:ext uri="{FF2B5EF4-FFF2-40B4-BE49-F238E27FC236}">
                <a16:creationId xmlns:a16="http://schemas.microsoft.com/office/drawing/2014/main"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391900" cy="781050"/>
          </a:xfrm>
          <a:prstGeom prst="rect">
            <a:avLst/>
          </a:prstGeom>
        </p:spPr>
        <p:txBody>
          <a:bodyPr lIns="0" tIns="0" rIns="0" bIns="0" anchor="t">
            <a:normAutofit fontScale="82897" lnSpcReduction="10000"/>
          </a:bodyPr>
          <a:lstStyle/>
          <a:p>
            <a:pPr algn="l">
              <a:buNone/>
              <a:defRPr sz="3600" b="1">
                <a:solidFill>
                  <a:srgbClr val="151515"/>
                </a:solidFill>
                <a:latin typeface="Arial"/>
                <a:ea typeface="Arial"/>
                <a:cs typeface="Arial"/>
              </a:defRPr>
            </a:pPr>
            <a:r>
              <a:t>The research gap sits between explanation and prediction</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1809750"/>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1809750"/>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143125"/>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143125"/>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667000"/>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067050"/>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1285875" y="5619750"/>
            <a:ext cx="9620250" cy="457200"/>
          </a:xfrm>
          <a:prstGeom prst="rect">
            <a:avLst/>
          </a:prstGeom>
        </p:spPr>
        <p:txBody>
          <a:bodyPr lIns="0" tIns="0" rIns="0" bIns="0" anchor="t">
            <a:normAutofit fontScale="87500" lnSpcReduction="10000"/>
          </a:bodyPr>
          <a:lstStyle/>
          <a:p>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a16:creationId xmlns:a16="http://schemas.microsoft.com/office/drawing/2014/main"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a16:creationId xmlns:a16="http://schemas.microsoft.com/office/drawing/2014/main"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a16:creationId xmlns:a16="http://schemas.microsoft.com/office/drawing/2014/main"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GOAL 1</a:t>
            </a:r>
          </a:p>
        </p:txBody>
      </p:sp>
      <p:sp>
        <p:nvSpPr>
          <p:cNvPr id="21" name="slide9-goal1-title">
            <a:extLst>
              <a:ext uri="{FF2B5EF4-FFF2-40B4-BE49-F238E27FC236}">
                <a16:creationId xmlns:a16="http://schemas.microsoft.com/office/drawing/2014/main" id="{C72B301A-61FE-4470-AF8E-8D5855C5228F}"/>
              </a:ext>
            </a:extLst>
          </p:cNvPr>
          <p:cNvSpPr>
            <a:spLocks noGrp="1"/>
          </p:cNvSpPr>
          <p:nvPr/>
        </p:nvSpPr>
        <p:spPr>
          <a:xfrm>
            <a:off x="876300" y="184830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DISCOVER</a:t>
            </a:r>
          </a:p>
        </p:txBody>
      </p:sp>
      <p:sp>
        <p:nvSpPr>
          <p:cNvPr id="22" name="slide9-goal1-question">
            <a:extLst>
              <a:ext uri="{FF2B5EF4-FFF2-40B4-BE49-F238E27FC236}">
                <a16:creationId xmlns:a16="http://schemas.microsoft.com/office/drawing/2014/main" id="{2398521C-3516-48DA-A5A2-32366F6BD720}"/>
              </a:ext>
            </a:extLst>
          </p:cNvPr>
          <p:cNvSpPr>
            <a:spLocks noGrp="1"/>
          </p:cNvSpPr>
          <p:nvPr/>
        </p:nvSpPr>
        <p:spPr>
          <a:xfrm>
            <a:off x="876300" y="2552250"/>
            <a:ext cx="4191000" cy="876300"/>
          </a:xfrm>
          <a:prstGeom prst="rect">
            <a:avLst/>
          </a:prstGeom>
          <a:noFill/>
          <a:ln w="0">
            <a:noFill/>
            <a:prstDash val="solid"/>
          </a:ln>
        </p:spPr>
        <p:txBody>
          <a:bodyPr/>
          <a:lstStyle/>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Which agroclimatic conditions distinguish</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above- and below-trend production</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years?</a:t>
            </a:r>
          </a:p>
        </p:txBody>
      </p:sp>
      <p:sp>
        <p:nvSpPr>
          <p:cNvPr id="23" name="slide9-goal1-rqs">
            <a:extLst>
              <a:ext uri="{FF2B5EF4-FFF2-40B4-BE49-F238E27FC236}">
                <a16:creationId xmlns:a16="http://schemas.microsoft.com/office/drawing/2014/main" id="{16A1C21D-7336-45F9-AF37-73D62BF9C1DB}"/>
              </a:ext>
            </a:extLst>
          </p:cNvPr>
          <p:cNvSpPr>
            <a:spLocks noGrp="1"/>
          </p:cNvSpPr>
          <p:nvPr/>
        </p:nvSpPr>
        <p:spPr>
          <a:xfrm>
            <a:off x="881289" y="3820887"/>
            <a:ext cx="4095750"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Can CarenR's KS-test-based distributional rule induction extract statistically validated, non-trivial patterns from non-stationary agricultural time series?</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Are the discovered rules genuine within-era climate signal, or are they era-membership artefacts introduced by imperfect linear detrending?</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a16:creationId xmlns:a16="http://schemas.microsoft.com/office/drawing/2014/main"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a:solidFill>
                  <a:srgbClr val="EE6A2E"/>
                </a:solidFill>
                <a:latin typeface="Arial"/>
                <a:ea typeface="Arial"/>
                <a:cs typeface="Arial"/>
              </a:rPr>
              <a:t>GOAL 2</a:t>
            </a:r>
          </a:p>
        </p:txBody>
      </p:sp>
      <p:sp>
        <p:nvSpPr>
          <p:cNvPr id="25" name="slide9-goal2-title">
            <a:extLst>
              <a:ext uri="{FF2B5EF4-FFF2-40B4-BE49-F238E27FC236}">
                <a16:creationId xmlns:a16="http://schemas.microsoft.com/office/drawing/2014/main" id="{22008273-BAF7-44C6-9043-44D5B6EC0837}"/>
              </a:ext>
            </a:extLst>
          </p:cNvPr>
          <p:cNvSpPr>
            <a:spLocks noGrp="1"/>
          </p:cNvSpPr>
          <p:nvPr/>
        </p:nvSpPr>
        <p:spPr>
          <a:xfrm>
            <a:off x="6686550" y="184830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a:solidFill>
                  <a:srgbClr val="111111"/>
                </a:solidFill>
                <a:latin typeface="Arial"/>
                <a:ea typeface="Arial"/>
                <a:cs typeface="Arial"/>
              </a:rPr>
              <a:t>VALIDATE</a:t>
            </a:r>
          </a:p>
        </p:txBody>
      </p:sp>
      <p:sp>
        <p:nvSpPr>
          <p:cNvPr id="26" name="slide9-goal2-question">
            <a:extLst>
              <a:ext uri="{FF2B5EF4-FFF2-40B4-BE49-F238E27FC236}">
                <a16:creationId xmlns:a16="http://schemas.microsoft.com/office/drawing/2014/main" id="{A77FD0EF-0C0C-476D-8B54-164CDC6C09A7}"/>
              </a:ext>
            </a:extLst>
          </p:cNvPr>
          <p:cNvSpPr>
            <a:spLocks noGrp="1"/>
          </p:cNvSpPr>
          <p:nvPr/>
        </p:nvSpPr>
        <p:spPr>
          <a:xfrm>
            <a:off x="6686550" y="2552250"/>
            <a:ext cx="4286250" cy="876300"/>
          </a:xfrm>
          <a:prstGeom prst="rect">
            <a:avLst/>
          </a:prstGeom>
          <a:noFill/>
          <a:ln w="0">
            <a:noFill/>
            <a:prstDash val="solid"/>
          </a:ln>
        </p:spPr>
        <p:txBody>
          <a:bodyPr/>
          <a:lstStyle/>
          <a:p>
            <a:pPr>
              <a:buNone/>
              <a:defRPr sz="1800">
                <a:solidFill>
                  <a:srgbClr val="111111"/>
                </a:solidFill>
                <a:latin typeface="Arial"/>
                <a:ea typeface="Arial"/>
                <a:cs typeface="Arial"/>
              </a:defRPr>
            </a:pPr>
            <a:r>
              <a:rPr dirty="0">
                <a:solidFill>
                  <a:srgbClr val="111111"/>
                </a:solidFill>
                <a:latin typeface="Arial"/>
                <a:ea typeface="Arial"/>
                <a:cs typeface="Arial"/>
              </a:rPr>
              <a:t>Can rule-based models beat the</a:t>
            </a:r>
          </a:p>
          <a:p>
            <a:pPr>
              <a:buNone/>
              <a:defRPr sz="1800">
                <a:solidFill>
                  <a:srgbClr val="111111"/>
                </a:solidFill>
                <a:latin typeface="Arial"/>
                <a:ea typeface="Arial"/>
                <a:cs typeface="Arial"/>
              </a:defRPr>
            </a:pPr>
            <a:r>
              <a:rPr dirty="0">
                <a:solidFill>
                  <a:srgbClr val="111111"/>
                </a:solidFill>
                <a:latin typeface="Arial"/>
                <a:ea typeface="Arial"/>
                <a:cs typeface="Arial"/>
              </a:rPr>
              <a:t>historical median in genuine future</a:t>
            </a:r>
          </a:p>
          <a:p>
            <a:pPr>
              <a:buNone/>
              <a:defRPr sz="1800">
                <a:solidFill>
                  <a:srgbClr val="111111"/>
                </a:solidFill>
                <a:latin typeface="Arial"/>
                <a:ea typeface="Arial"/>
                <a:cs typeface="Arial"/>
              </a:defRPr>
            </a:pPr>
            <a:r>
              <a:rPr dirty="0">
                <a:solidFill>
                  <a:srgbClr val="111111"/>
                </a:solidFill>
                <a:latin typeface="Arial"/>
                <a:ea typeface="Arial"/>
                <a:cs typeface="Arial"/>
              </a:rPr>
              <a:t>periods?</a:t>
            </a:r>
          </a:p>
        </p:txBody>
      </p:sp>
      <p:sp>
        <p:nvSpPr>
          <p:cNvPr id="27" name="slide9-goal2-rqs">
            <a:extLst>
              <a:ext uri="{FF2B5EF4-FFF2-40B4-BE49-F238E27FC236}">
                <a16:creationId xmlns:a16="http://schemas.microsoft.com/office/drawing/2014/main" id="{25DAFA97-702E-4AD4-B403-32677357FE90}"/>
              </a:ext>
            </a:extLst>
          </p:cNvPr>
          <p:cNvSpPr>
            <a:spLocks noGrp="1"/>
          </p:cNvSpPr>
          <p:nvPr/>
        </p:nvSpPr>
        <p:spPr>
          <a:xfrm>
            <a:off x="6686550" y="3850367"/>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Can rule-based models (CarenR, RIPPER, M5Rules) outperform a Naive Median baseline in walk-forward prediction of detrended production residuals?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What structural conditions (era composition, detrend quality, signal strength) determine when rule-based prediction succeeds or fails?</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a16:creationId xmlns:a16="http://schemas.microsoft.com/office/drawing/2014/main" id="{221938CC-400F-EFA7-AE18-430146CD6238}"/>
              </a:ext>
            </a:extLst>
          </p:cNvPr>
          <p:cNvSpPr>
            <a:spLocks noGrp="1"/>
          </p:cNvSpPr>
          <p:nvPr/>
        </p:nvSpPr>
        <p:spPr>
          <a:xfrm rot="16200000">
            <a:off x="293750" y="4083739"/>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Discovery</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a16:creationId xmlns:a16="http://schemas.microsoft.com/office/drawing/2014/main" id="{0FEF3729-98BD-C591-6512-33BA93ED9F42}"/>
              </a:ext>
            </a:extLst>
          </p:cNvPr>
          <p:cNvSpPr>
            <a:spLocks noGrp="1"/>
          </p:cNvSpPr>
          <p:nvPr/>
        </p:nvSpPr>
        <p:spPr>
          <a:xfrm rot="16200000">
            <a:off x="241862" y="5327760"/>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Validation</a:t>
            </a:r>
          </a:p>
        </p:txBody>
      </p:sp>
      <p:sp>
        <p:nvSpPr>
          <p:cNvPr id="32" name="Text 18">
            <a:extLst>
              <a:ext uri="{FF2B5EF4-FFF2-40B4-BE49-F238E27FC236}">
                <a16:creationId xmlns:a16="http://schemas.microsoft.com/office/drawing/2014/main" id="{DA3416E1-8C0A-9C4D-3252-26290430A71D}"/>
              </a:ext>
            </a:extLst>
          </p:cNvPr>
          <p:cNvSpPr>
            <a:spLocks noGrp="1"/>
          </p:cNvSpPr>
          <p:nvPr/>
        </p:nvSpPr>
        <p:spPr>
          <a:xfrm rot="16200000">
            <a:off x="6074202" y="4016876"/>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Prediction</a:t>
            </a:r>
          </a:p>
        </p:txBody>
      </p:sp>
      <p:sp>
        <p:nvSpPr>
          <p:cNvPr id="33" name="Text 23">
            <a:extLst>
              <a:ext uri="{FF2B5EF4-FFF2-40B4-BE49-F238E27FC236}">
                <a16:creationId xmlns:a16="http://schemas.microsoft.com/office/drawing/2014/main" id="{C7CAB297-0421-ADC4-A91E-C54A2C208896}"/>
              </a:ext>
            </a:extLst>
          </p:cNvPr>
          <p:cNvSpPr>
            <a:spLocks noGrp="1"/>
          </p:cNvSpPr>
          <p:nvPr/>
        </p:nvSpPr>
        <p:spPr>
          <a:xfrm rot="16200000">
            <a:off x="6086475" y="5168739"/>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Diagnosis</a:t>
            </a:r>
          </a:p>
        </p:txBody>
      </p:sp>
      <p:sp>
        <p:nvSpPr>
          <p:cNvPr id="39" name="Shape 24">
            <a:extLst>
              <a:ext uri="{FF2B5EF4-FFF2-40B4-BE49-F238E27FC236}">
                <a16:creationId xmlns:a16="http://schemas.microsoft.com/office/drawing/2014/main" id="{82248170-2868-0BFC-D7B2-1679313F1862}"/>
              </a:ext>
            </a:extLst>
          </p:cNvPr>
          <p:cNvSpPr>
            <a:spLocks noGrp="1"/>
          </p:cNvSpPr>
          <p:nvPr/>
        </p:nvSpPr>
        <p:spPr>
          <a:xfrm>
            <a:off x="662305" y="6271946"/>
            <a:ext cx="11094720" cy="463296"/>
          </a:xfrm>
          <a:prstGeom prst="rect">
            <a:avLst/>
          </a:prstGeom>
          <a:solidFill>
            <a:srgbClr val="1B2B45"/>
          </a:solidFill>
          <a:ln w="12700">
            <a:solidFill>
              <a:srgbClr val="1B2B45"/>
            </a:solidFill>
            <a:prstDash val="solid"/>
          </a:ln>
        </p:spPr>
        <p:txBody>
          <a:bodyPr/>
          <a:lstStyle/>
          <a:p>
            <a:endParaRPr/>
          </a:p>
        </p:txBody>
      </p:sp>
      <p:sp>
        <p:nvSpPr>
          <p:cNvPr id="40" name="Text 25">
            <a:extLst>
              <a:ext uri="{FF2B5EF4-FFF2-40B4-BE49-F238E27FC236}">
                <a16:creationId xmlns:a16="http://schemas.microsoft.com/office/drawing/2014/main" id="{24C978E9-AB08-DE07-3C03-391B43A6F663}"/>
              </a:ext>
            </a:extLst>
          </p:cNvPr>
          <p:cNvSpPr>
            <a:spLocks noGrp="1"/>
          </p:cNvSpPr>
          <p:nvPr/>
        </p:nvSpPr>
        <p:spPr>
          <a:xfrm>
            <a:off x="649605" y="6273278"/>
            <a:ext cx="11094720" cy="463296"/>
          </a:xfrm>
          <a:prstGeom prst="rect">
            <a:avLst/>
          </a:prstGeom>
          <a:noFill/>
        </p:spPr>
        <p:txBody>
          <a:bodyPr wrap="square" lIns="0" tIns="0" rIns="0" bIns="0" anchor="ctr"/>
          <a:lstStyle/>
          <a:p>
            <a:pPr algn="ctr">
              <a:buNone/>
            </a:pPr>
            <a:r>
              <a:rPr sz="1267" b="1" dirty="0">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a16:creationId xmlns:a16="http://schemas.microsoft.com/office/drawing/2014/main"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50" y="552450"/>
            <a:ext cx="11391900" cy="781050"/>
          </a:xfrm>
          <a:prstGeom prst="rect">
            <a:avLst/>
          </a:prstGeom>
        </p:spPr>
        <p:txBody>
          <a:bodyPr lIns="0" tIns="0" rIns="0" bIns="0" anchor="t">
            <a:normAutofit fontScale="89518"/>
          </a:bodyPr>
          <a:lstStyle/>
          <a:p>
            <a:pPr algn="l">
              <a:buNone/>
              <a:defRPr sz="3600" b="1">
                <a:solidFill>
                  <a:srgbClr val="151515"/>
                </a:solidFill>
                <a:latin typeface="Arial"/>
                <a:ea typeface="Arial"/>
                <a:cs typeface="Arial"/>
              </a:defRPr>
            </a:pPr>
            <a:r>
              <a:t>A controlled comparison isolates the role of data structure</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t>CarenR is the primary lens among five model families</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476375"/>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685800" y="1733550"/>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2095500"/>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238375"/>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300037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300037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300037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Climate features become equal-frequency bins.</a:t>
            </a:r>
          </a:p>
        </p:txBody>
      </p:sp>
      <p:cxnSp>
        <p:nvCxnSpPr>
          <p:cNvPr id="731" name="Straight Arrow Connector 654"/>
          <p:cNvCxnSpPr/>
          <p:nvPr/>
        </p:nvCxnSpPr>
        <p:spPr>
          <a:xfrm>
            <a:off x="838200" y="3352800"/>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71475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71475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714750"/>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Level-wise search (Apriori-style) combines feature-bin conditions.</a:t>
            </a:r>
          </a:p>
        </p:txBody>
      </p:sp>
      <p:cxnSp>
        <p:nvCxnSpPr>
          <p:cNvPr id="735" name="Straight Arrow Connector 658"/>
          <p:cNvCxnSpPr/>
          <p:nvPr/>
        </p:nvCxnSpPr>
        <p:spPr>
          <a:xfrm>
            <a:off x="838200" y="4067175"/>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42912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42912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42912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739" name="Straight Arrow Connector 662"/>
          <p:cNvCxnSpPr/>
          <p:nvPr/>
        </p:nvCxnSpPr>
        <p:spPr>
          <a:xfrm>
            <a:off x="838200" y="4781550"/>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514350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514350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5143500"/>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5"/>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5"/>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810500" y="1571625"/>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952625"/>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2195993"/>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2138843"/>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876550"/>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311991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311991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800475"/>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405411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99696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724400"/>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895850"/>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895850"/>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600700"/>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3F35365-02FC-083E-3342-B1DFDDA1809A}"/>
              </a:ext>
            </a:extLst>
          </p:cNvPr>
          <p:cNvSpPr>
            <a:spLocks noGrp="1"/>
          </p:cNvSpPr>
          <p:nvPr/>
        </p:nvSpPr>
        <p:spPr>
          <a:xfrm>
            <a:off x="400049" y="1566279"/>
            <a:ext cx="11264626" cy="676905"/>
          </a:xfrm>
          <a:prstGeom prst="rect">
            <a:avLst/>
          </a:prstGeom>
          <a:solidFill>
            <a:schemeClr val="tx1">
              <a:lumMod val="50000"/>
              <a:lumOff val="50000"/>
            </a:schemeClr>
          </a:solidFill>
          <a:ln w="0">
            <a:noFill/>
            <a:prstDash val="solid"/>
          </a:ln>
        </p:spPr>
        <p:txBody>
          <a:bodyPr/>
          <a:lstStyle/>
          <a:p>
            <a:endParaRPr lang="en-GB" dirty="0"/>
          </a:p>
        </p:txBody>
      </p:sp>
      <p:sp>
        <p:nvSpPr>
          <p:cNvPr id="4" name="Rectangle 3">
            <a:extLst>
              <a:ext uri="{FF2B5EF4-FFF2-40B4-BE49-F238E27FC236}">
                <a16:creationId xmlns:a16="http://schemas.microsoft.com/office/drawing/2014/main" id="{E325144A-1585-4407-BE50-12168B67CBDA}"/>
              </a:ext>
            </a:extLst>
          </p:cNvPr>
          <p:cNvSpPr>
            <a:spLocks noGrp="1"/>
          </p:cNvSpPr>
          <p:nvPr/>
        </p:nvSpPr>
        <p:spPr>
          <a:xfrm>
            <a:off x="436538" y="1653605"/>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bg1"/>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067300"/>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509251"/>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490028"/>
            <a:ext cx="11188165" cy="1198447"/>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568682"/>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5948830"/>
            <a:ext cx="5109178" cy="438150"/>
          </a:xfrm>
          <a:prstGeom prst="rect">
            <a:avLst/>
          </a:prstGeom>
          <a:noFill/>
          <a:ln w="0">
            <a:noFill/>
            <a:prstDash val="solid"/>
          </a:ln>
        </p:spPr>
        <p:txBody>
          <a:bodyPr/>
          <a:lstStyle/>
          <a:p>
            <a:pPr>
              <a:buNone/>
              <a:defRPr sz="975">
                <a:solidFill>
                  <a:srgbClr val="171313"/>
                </a:solidFill>
              </a:defRPr>
            </a:pPr>
            <a:r>
              <a:rPr sz="1400" b="1">
                <a:solidFill>
                  <a:srgbClr val="171313"/>
                </a:solidFill>
              </a:rPr>
              <a:t>IF</a:t>
            </a:r>
            <a:r>
              <a:rPr sz="1400">
                <a:solidFill>
                  <a:srgbClr val="171313"/>
                </a:solidFill>
              </a:rPr>
              <a:t> dry post-flowering </a:t>
            </a:r>
            <a:r>
              <a:rPr sz="1400" b="1">
                <a:solidFill>
                  <a:srgbClr val="171313"/>
                </a:solidFill>
              </a:rPr>
              <a:t>AND</a:t>
            </a:r>
            <a:r>
              <a:rPr sz="140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5942569"/>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THEN +121 mhl 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334000" y="6453262"/>
            <a:ext cx="1524000" cy="152400"/>
          </a:xfrm>
          <a:prstGeom prst="rect">
            <a:avLst/>
          </a:prstGeom>
          <a:noFill/>
          <a:ln w="0">
            <a:noFill/>
            <a:prstDash val="solid"/>
          </a:ln>
        </p:spPr>
        <p:txBody>
          <a:bodyPr/>
          <a:lstStyle/>
          <a:p>
            <a:pPr>
              <a:buNone/>
              <a:defRPr sz="863" i="1">
                <a:solidFill>
                  <a:srgbClr val="6F6761"/>
                </a:solidFill>
              </a:defRPr>
            </a:pPr>
            <a:r>
              <a:rPr sz="863" i="1">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209675"/>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a:solidFill>
                  <a:schemeClr val="accent2"/>
                </a:solidFill>
              </a:rPr>
              <a:t>CarenR asks a distributional question</a:t>
            </a:r>
          </a:p>
        </p:txBody>
      </p:sp>
      <p:pic>
        <p:nvPicPr>
          <p:cNvPr id="131" name="Picture 18"/>
          <p:cNvPicPr>
            <a:picLocks noChangeAspect="1"/>
          </p:cNvPicPr>
          <p:nvPr/>
        </p:nvPicPr>
        <p:blipFill>
          <a:blip r:embed="rId4"/>
          <a:stretch>
            <a:fillRect/>
          </a:stretch>
        </p:blipFill>
        <p:spPr>
          <a:xfrm>
            <a:off x="6409825" y="2465195"/>
            <a:ext cx="4981443" cy="2812230"/>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736576"/>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p:nvPr/>
        </p:nvCxnSpPr>
        <p:spPr>
          <a:xfrm flipV="1">
            <a:off x="5053223" y="2526332"/>
            <a:ext cx="3764622" cy="3432528"/>
          </a:xfrm>
          <a:prstGeom prst="bentConnector4">
            <a:avLst>
              <a:gd name="adj1" fmla="val 27936"/>
              <a:gd name="adj2" fmla="val 105146"/>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571625"/>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571625"/>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857375"/>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2381250"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857375"/>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8334375"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499" y="3286125"/>
            <a:ext cx="4810125" cy="609600"/>
          </a:xfrm>
          <a:prstGeom prst="rect">
            <a:avLst/>
          </a:prstGeom>
        </p:spPr>
        <p:txBody>
          <a:bodyPr lIns="0" tIns="0" rIns="0" bIns="0" anchor="t">
            <a:normAutofit fontScale="95238"/>
          </a:bodyPr>
          <a:lstStyle/>
          <a:p>
            <a:pPr>
              <a:defRPr sz="2100" b="1">
                <a:solidFill>
                  <a:srgbClr val="151515"/>
                </a:solidFill>
                <a:latin typeface="Arial"/>
                <a:ea typeface="Arial"/>
                <a:cs typeface="Arial"/>
              </a:defRPr>
            </a:pPr>
            <a:r>
              <a:rPr lang="en-GB" sz="2100" b="1" dirty="0"/>
              <a:t>the LAI family features in all 20 rules &amp; LAI at harvest in 4/20</a:t>
            </a:r>
            <a:endParaRPr dirty="0"/>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9" name="TextBox 18">
            <a:extLst>
              <a:ext uri="{FF2B5EF4-FFF2-40B4-BE49-F238E27FC236}">
                <a16:creationId xmlns:a16="http://schemas.microsoft.com/office/drawing/2014/main" id="{148B2983-02A9-68D1-FCB9-457D7C8CB555}"/>
              </a:ext>
            </a:extLst>
          </p:cNvPr>
          <p:cNvSpPr txBox="1"/>
          <p:nvPr/>
        </p:nvSpPr>
        <p:spPr>
          <a:xfrm>
            <a:off x="0" y="6048375"/>
            <a:ext cx="12043317" cy="357790"/>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00050" y="147637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05550" y="147637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714375" y="175260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143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143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763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14825" y="25812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763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143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763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148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763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143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763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14825" y="34194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763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143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763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148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763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143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763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14825" y="42576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763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619875" y="175260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198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198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818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20325" y="25812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818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198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818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203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818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198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818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20325" y="34194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818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198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818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203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818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198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818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20325" y="42576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818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5482119"/>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5381625"/>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5808110"/>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1640974"/>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1640974"/>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1917199"/>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7458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5840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4222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1917199"/>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7458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5840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4222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rgbClr val="EAF5EE"/>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222374"/>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193799"/>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5622424"/>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269374"/>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12399"/>
            <a:ext cx="5476875" cy="3952875"/>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590550" y="1821949"/>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905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498224"/>
            <a:ext cx="5133975" cy="247650"/>
          </a:xfrm>
          <a:prstGeom prst="rect">
            <a:avLst/>
          </a:prstGeom>
          <a:solidFill>
            <a:srgbClr val="FFFFFF"/>
          </a:solidFill>
          <a:ln w="9525">
            <a:solidFill>
              <a:srgbClr val="D6D1CB"/>
            </a:solidFill>
            <a:prstDash val="solid"/>
          </a:ln>
        </p:spPr>
        <p:txBody>
          <a:bodyPr/>
          <a:lstStyle/>
          <a:p>
            <a:endParaRPr/>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4577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745874"/>
            <a:ext cx="5133975" cy="542925"/>
          </a:xfrm>
          <a:prstGeom prst="rect">
            <a:avLst/>
          </a:prstGeom>
          <a:solidFill>
            <a:srgbClr val="FFFFFF"/>
          </a:solidFill>
          <a:ln w="9525">
            <a:solidFill>
              <a:srgbClr val="D6D1CB"/>
            </a:solidFill>
            <a:prstDash val="solid"/>
          </a:ln>
        </p:spPr>
        <p:txBody>
          <a:bodyPr/>
          <a:lstStyle/>
          <a:p>
            <a:endParaRPr/>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8125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577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28.1%</a:t>
            </a:r>
          </a:p>
          <a:p>
            <a:pPr algn="ctr">
              <a:buNone/>
              <a:defRPr sz="690">
                <a:solidFill>
                  <a:srgbClr val="59636E"/>
                </a:solidFill>
                <a:latin typeface="Arial"/>
                <a:ea typeface="Arial"/>
                <a:cs typeface="Arial"/>
              </a:defRPr>
            </a:pPr>
            <a:r>
              <a:rPr sz="69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8887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307849"/>
            <a:ext cx="5133975" cy="542925"/>
          </a:xfrm>
          <a:prstGeom prst="rect">
            <a:avLst/>
          </a:prstGeom>
          <a:solidFill>
            <a:srgbClr val="FAFAFA"/>
          </a:solidFill>
          <a:ln w="9525">
            <a:solidFill>
              <a:srgbClr val="D6D1CB"/>
            </a:solidFill>
            <a:prstDash val="solid"/>
          </a:ln>
        </p:spPr>
        <p:txBody>
          <a:bodyPr/>
          <a:lstStyle/>
          <a:p>
            <a:endParaRPr/>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374524"/>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577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20.2%</a:t>
            </a:r>
          </a:p>
          <a:p>
            <a:pPr algn="ctr">
              <a:buNone/>
              <a:defRPr sz="690">
                <a:solidFill>
                  <a:srgbClr val="59636E"/>
                </a:solidFill>
                <a:latin typeface="Arial"/>
                <a:ea typeface="Arial"/>
                <a:cs typeface="Arial"/>
              </a:defRPr>
            </a:pPr>
            <a:r>
              <a:rPr sz="69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869824"/>
            <a:ext cx="5133975" cy="542925"/>
          </a:xfrm>
          <a:prstGeom prst="rect">
            <a:avLst/>
          </a:prstGeom>
          <a:solidFill>
            <a:srgbClr val="FFFFFF"/>
          </a:solidFill>
          <a:ln w="9525">
            <a:solidFill>
              <a:srgbClr val="D6D1CB"/>
            </a:solidFill>
            <a:prstDash val="solid"/>
          </a:ln>
        </p:spPr>
        <p:txBody>
          <a:bodyPr/>
          <a:lstStyle/>
          <a:p>
            <a:endParaRPr/>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93649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4577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25.8%</a:t>
            </a:r>
          </a:p>
          <a:p>
            <a:pPr algn="ctr">
              <a:buNone/>
              <a:defRPr sz="690">
                <a:solidFill>
                  <a:srgbClr val="59636E"/>
                </a:solidFill>
                <a:latin typeface="Arial"/>
                <a:ea typeface="Arial"/>
                <a:cs typeface="Arial"/>
              </a:defRPr>
            </a:pPr>
            <a:r>
              <a:rPr sz="69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401269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431799"/>
            <a:ext cx="5133975" cy="542925"/>
          </a:xfrm>
          <a:prstGeom prst="rect">
            <a:avLst/>
          </a:prstGeom>
          <a:solidFill>
            <a:srgbClr val="FAFAFA"/>
          </a:solidFill>
          <a:ln w="9525">
            <a:solidFill>
              <a:srgbClr val="D6D1CB"/>
            </a:solidFill>
            <a:prstDash val="solid"/>
          </a:ln>
        </p:spPr>
        <p:txBody>
          <a:bodyPr/>
          <a:lstStyle/>
          <a:p>
            <a:endParaRPr/>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577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21.3%</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993774"/>
            <a:ext cx="5133975" cy="542925"/>
          </a:xfrm>
          <a:prstGeom prst="rect">
            <a:avLst/>
          </a:prstGeom>
          <a:solidFill>
            <a:srgbClr val="FFFFFF"/>
          </a:solidFill>
          <a:ln w="9525">
            <a:solidFill>
              <a:srgbClr val="D6D1CB"/>
            </a:solidFill>
            <a:prstDash val="solid"/>
          </a:ln>
        </p:spPr>
        <p:txBody>
          <a:bodyPr/>
          <a:lstStyle/>
          <a:p>
            <a:endParaRPr/>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50604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4577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24.7%</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1366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12399"/>
            <a:ext cx="5476875" cy="3952875"/>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496050" y="1821949"/>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960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498224"/>
            <a:ext cx="5133975" cy="247650"/>
          </a:xfrm>
          <a:prstGeom prst="rect">
            <a:avLst/>
          </a:prstGeom>
          <a:solidFill>
            <a:srgbClr val="FFFFFF"/>
          </a:solidFill>
          <a:ln w="9525">
            <a:solidFill>
              <a:srgbClr val="D6D1CB"/>
            </a:solidFill>
            <a:prstDash val="solid"/>
          </a:ln>
        </p:spPr>
        <p:txBody>
          <a:bodyPr/>
          <a:lstStyle/>
          <a:p>
            <a:endParaRPr/>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3632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745874"/>
            <a:ext cx="5133975" cy="542925"/>
          </a:xfrm>
          <a:prstGeom prst="rect">
            <a:avLst/>
          </a:prstGeom>
          <a:solidFill>
            <a:srgbClr val="FFFFFF"/>
          </a:solidFill>
          <a:ln w="9525">
            <a:solidFill>
              <a:srgbClr val="D6D1CB"/>
            </a:solidFill>
            <a:prstDash val="solid"/>
          </a:ln>
        </p:spPr>
        <p:txBody>
          <a:bodyPr/>
          <a:lstStyle/>
          <a:p>
            <a:endParaRPr/>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8125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3632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8887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307849"/>
            <a:ext cx="5133975" cy="542925"/>
          </a:xfrm>
          <a:prstGeom prst="rect">
            <a:avLst/>
          </a:prstGeom>
          <a:solidFill>
            <a:srgbClr val="FAFAFA"/>
          </a:solidFill>
          <a:ln w="9525">
            <a:solidFill>
              <a:srgbClr val="D6D1CB"/>
            </a:solidFill>
            <a:prstDash val="solid"/>
          </a:ln>
        </p:spPr>
        <p:txBody>
          <a:bodyPr/>
          <a:lstStyle/>
          <a:p>
            <a:endParaRPr/>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37452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3632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869824"/>
            <a:ext cx="5133975" cy="542925"/>
          </a:xfrm>
          <a:prstGeom prst="rect">
            <a:avLst/>
          </a:prstGeom>
          <a:solidFill>
            <a:srgbClr val="FFFFFF"/>
          </a:solidFill>
          <a:ln w="9525">
            <a:solidFill>
              <a:srgbClr val="D6D1CB"/>
            </a:solidFill>
            <a:prstDash val="solid"/>
          </a:ln>
        </p:spPr>
        <p:txBody>
          <a:bodyPr/>
          <a:lstStyle/>
          <a:p>
            <a:endParaRPr/>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93649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3632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27.5%</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401269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431799"/>
            <a:ext cx="5133975" cy="542925"/>
          </a:xfrm>
          <a:prstGeom prst="rect">
            <a:avLst/>
          </a:prstGeom>
          <a:solidFill>
            <a:srgbClr val="FAFAFA"/>
          </a:solidFill>
          <a:ln w="9525">
            <a:solidFill>
              <a:srgbClr val="D6D1CB"/>
            </a:solidFill>
            <a:prstDash val="solid"/>
          </a:ln>
        </p:spPr>
        <p:txBody>
          <a:bodyPr/>
          <a:lstStyle/>
          <a:p>
            <a:endParaRPr/>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3632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25.0%</a:t>
            </a:r>
          </a:p>
          <a:p>
            <a:pPr algn="ctr">
              <a:buNone/>
              <a:defRPr sz="690">
                <a:solidFill>
                  <a:srgbClr val="59636E"/>
                </a:solidFill>
                <a:latin typeface="Arial"/>
                <a:ea typeface="Arial"/>
                <a:cs typeface="Arial"/>
              </a:defRPr>
            </a:pPr>
            <a:r>
              <a:rPr sz="69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993774"/>
            <a:ext cx="5133975" cy="542925"/>
          </a:xfrm>
          <a:prstGeom prst="rect">
            <a:avLst/>
          </a:prstGeom>
          <a:solidFill>
            <a:srgbClr val="FFFFFF"/>
          </a:solidFill>
          <a:ln w="9525">
            <a:solidFill>
              <a:srgbClr val="D6D1CB"/>
            </a:solidFill>
            <a:prstDash val="solid"/>
          </a:ln>
        </p:spPr>
        <p:txBody>
          <a:bodyPr/>
          <a:lstStyle/>
          <a:p>
            <a:endParaRPr/>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50604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3632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23.8%</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1366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45189"/>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397589"/>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378539"/>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272472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LOESS; in RVV, wet-days persist while LAI and soil water are era-linked.</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t>Goal 2 recreates prediction-time information</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a16:creationId xmlns:a16="http://schemas.microsoft.com/office/drawing/2014/main"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stretch/>
        </p:blipFill>
        <p:spPr>
          <a:xfrm>
            <a:off x="214027" y="1769659"/>
            <a:ext cx="6072473" cy="3643484"/>
          </a:xfrm>
          <a:prstGeom prst="rect">
            <a:avLst/>
          </a:prstGeom>
        </p:spPr>
      </p:pic>
      <p:pic>
        <p:nvPicPr>
          <p:cNvPr id="3" name="Picture 2">
            <a:extLst>
              <a:ext uri="{FF2B5EF4-FFF2-40B4-BE49-F238E27FC236}">
                <a16:creationId xmlns:a16="http://schemas.microsoft.com/office/drawing/2014/main"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1666875"/>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1666875"/>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000250"/>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2524125"/>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000250"/>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2524125"/>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2952750"/>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400050" y="5819775"/>
            <a:ext cx="11382375" cy="419100"/>
          </a:xfrm>
          <a:prstGeom prst="rect">
            <a:avLst/>
          </a:prstGeom>
          <a:solidFill>
            <a:schemeClr val="tx1"/>
          </a:solidFill>
        </p:spPr>
        <p:txBody>
          <a:bodyPr lIns="0" tIns="0" rIns="0" bIns="0" anchor="t">
            <a:normAutofit/>
          </a:bodyPr>
          <a:lstStyle/>
          <a:p>
            <a:pPr algn="ctr">
              <a:buNone/>
              <a:defRPr sz="2250" b="1">
                <a:solidFill>
                  <a:srgbClr val="151515"/>
                </a:solidFill>
                <a:latin typeface="Arial"/>
                <a:ea typeface="Arial"/>
                <a:cs typeface="Arial"/>
              </a:defRPr>
            </a:pPr>
            <a:r>
              <a:rPr>
                <a:solidFill>
                  <a:schemeClr val="bg1"/>
                </a:solidFill>
              </a:rPr>
              <a:t>Pattern discovery and forecasting answer different questions.</a:t>
            </a:r>
          </a:p>
        </p:txBody>
      </p:sp>
      <p:sp>
        <p:nvSpPr>
          <p:cNvPr id="14" name="Rectangle 13">
            <a:extLst>
              <a:ext uri="{FF2B5EF4-FFF2-40B4-BE49-F238E27FC236}">
                <a16:creationId xmlns:a16="http://schemas.microsoft.com/office/drawing/2014/main" id="{2C9C0AE4-2B49-4421-8A31-BFCEB8347C51}"/>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a:ext uri="{FF2B5EF4-FFF2-40B4-BE49-F238E27FC236}">
                <a16:creationId xmlns:a16="http://schemas.microsoft.com/office/drawing/2014/main" id="{706F687E-3FA8-47D4-A958-8DEC03860CF5}"/>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Sections 3.3, 5.5 and 6.2</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476375"/>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733550"/>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696948"/>
            <a:ext cx="10644027" cy="619125"/>
          </a:xfrm>
          <a:prstGeom prst="rect">
            <a:avLst/>
          </a:prstGeom>
        </p:spPr>
        <p:txBody>
          <a:bodyPr lIns="0" tIns="0" rIns="0" bIns="0" anchor="t">
            <a:normAutofit fontScale="96726"/>
          </a:bodyPr>
          <a:lstStyle/>
          <a:p>
            <a:pPr algn="l">
              <a:buNone/>
              <a:defRPr sz="2100" b="1">
                <a:solidFill>
                  <a:srgbClr val="151515"/>
                </a:solidFill>
                <a:latin typeface="Arial"/>
                <a:ea typeface="Arial"/>
                <a:cs typeface="Arial"/>
              </a:defRPr>
            </a:pPr>
            <a:r>
              <a:rPr>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85750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85750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85750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314325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76237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314325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314325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Identifies when rule-based prediction may become viable, as hypothesis for future work.</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81025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chemeClr val="bg1"/>
                </a:solidFill>
                <a:latin typeface="Arial"/>
                <a:ea typeface="Arial"/>
                <a:cs typeface="Arial"/>
              </a:rPr>
              <a:t>Time is the only detrending covariate, so structural change and climate remain partly mixed.</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The walk-forward test has only 18 and 16 scenarios; the 5/5 RDD era-balanced result is exploratory.</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rgbClr val="111111"/>
                </a:solidFill>
                <a:latin typeface="Arial"/>
                <a:ea typeface="Arial"/>
                <a:cs typeface="Arial"/>
              </a:rPr>
              <a:t>Add structural covariates: planted area, quotas and certified producers.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Pre-register and prospectively validate the era-balanced hypothesis.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Test other regional time series with weaker trends and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THE THESIS DOES NOT CLAIM AN OPERATIONAL FORECAST YET; 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BA11868-EDF7-4653-B8F6-3437440D6498}"/>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A real signal, drowning in noise</a:t>
            </a:r>
          </a:p>
        </p:txBody>
      </p:sp>
      <p:sp>
        <p:nvSpPr>
          <p:cNvPr id="3" name="Shape 1">
            <a:extLst>
              <a:ext uri="{FF2B5EF4-FFF2-40B4-BE49-F238E27FC236}">
                <a16:creationId xmlns:a16="http://schemas.microsoft.com/office/drawing/2014/main" id="{09399A9B-D1CA-4E91-9A3D-4CF99A8248BA}"/>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CF7D8AB-DD50-47D6-96D1-4DCF2D61456D}"/>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82CCB48B-C756-46B0-A503-2AAADA6A9C79}"/>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669B43E-94FD-4EA3-8D40-BF39EE31186A}"/>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2ADD2F8D-F9F3-4971-B705-F5F358ED4D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69A0744-1BB4-4AEE-84AC-F09B50D7142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55BB14E2-90C6-4949-A012-69197D686F6D}"/>
              </a:ext>
            </a:extLst>
          </p:cNvPr>
          <p:cNvSpPr>
            <a:spLocks noGrp="1"/>
          </p:cNvSpPr>
          <p:nvPr/>
        </p:nvSpPr>
        <p:spPr>
          <a:xfrm>
            <a:off x="640080" y="1737360"/>
            <a:ext cx="420624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r ≈ 0.47</a:t>
            </a:r>
          </a:p>
        </p:txBody>
      </p:sp>
      <p:sp>
        <p:nvSpPr>
          <p:cNvPr id="10" name="Text 8">
            <a:extLst>
              <a:ext uri="{FF2B5EF4-FFF2-40B4-BE49-F238E27FC236}">
                <a16:creationId xmlns:a16="http://schemas.microsoft.com/office/drawing/2014/main" id="{6DE88E0B-9FDA-4703-B868-4A2657D8ED7E}"/>
              </a:ext>
            </a:extLst>
          </p:cNvPr>
          <p:cNvSpPr>
            <a:spLocks noGrp="1"/>
          </p:cNvSpPr>
          <p:nvPr/>
        </p:nvSpPr>
        <p:spPr>
          <a:xfrm>
            <a:off x="640080" y="239572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Climate–production correlation — the signal is real</a:t>
            </a:r>
          </a:p>
        </p:txBody>
      </p:sp>
      <p:sp>
        <p:nvSpPr>
          <p:cNvPr id="11" name="Text 9">
            <a:extLst>
              <a:ext uri="{FF2B5EF4-FFF2-40B4-BE49-F238E27FC236}">
                <a16:creationId xmlns:a16="http://schemas.microsoft.com/office/drawing/2014/main" id="{36F8CE87-39C0-4021-AA19-887CC27131C7}"/>
              </a:ext>
            </a:extLst>
          </p:cNvPr>
          <p:cNvSpPr>
            <a:spLocks noGrp="1"/>
          </p:cNvSpPr>
          <p:nvPr/>
        </p:nvSpPr>
        <p:spPr>
          <a:xfrm>
            <a:off x="640080" y="3063240"/>
            <a:ext cx="4206240" cy="640080"/>
          </a:xfrm>
          <a:prstGeom prst="rect">
            <a:avLst/>
          </a:prstGeom>
          <a:noFill/>
        </p:spPr>
        <p:txBody>
          <a:bodyPr wrap="square" lIns="0" tIns="0" rIns="0" bIns="0" anchor="ctr"/>
          <a:lstStyle/>
          <a:p>
            <a:pPr marL="0" indent="0" algn="l">
              <a:buNone/>
            </a:pPr>
            <a:r>
              <a:rPr sz="3800" b="1">
                <a:solidFill>
                  <a:srgbClr val="5E7148"/>
                </a:solidFill>
                <a:latin typeface="Cambria"/>
                <a:ea typeface="Cambria"/>
                <a:cs typeface="Cambria"/>
              </a:rPr>
              <a:t>~22%</a:t>
            </a:r>
          </a:p>
        </p:txBody>
      </p:sp>
      <p:sp>
        <p:nvSpPr>
          <p:cNvPr id="12" name="Text 10">
            <a:extLst>
              <a:ext uri="{FF2B5EF4-FFF2-40B4-BE49-F238E27FC236}">
                <a16:creationId xmlns:a16="http://schemas.microsoft.com/office/drawing/2014/main" id="{5424635D-B50E-449E-AE69-F07ED22C60B0}"/>
              </a:ext>
            </a:extLst>
          </p:cNvPr>
          <p:cNvSpPr>
            <a:spLocks noGrp="1"/>
          </p:cNvSpPr>
          <p:nvPr/>
        </p:nvSpPr>
        <p:spPr>
          <a:xfrm>
            <a:off x="640080" y="372160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of residual variance is explainable by climate</a:t>
            </a:r>
          </a:p>
        </p:txBody>
      </p:sp>
      <p:sp>
        <p:nvSpPr>
          <p:cNvPr id="13" name="Text 11">
            <a:extLst>
              <a:ext uri="{FF2B5EF4-FFF2-40B4-BE49-F238E27FC236}">
                <a16:creationId xmlns:a16="http://schemas.microsoft.com/office/drawing/2014/main" id="{10AC7847-85A8-48B3-9330-1BE2D2CB3A72}"/>
              </a:ext>
            </a:extLst>
          </p:cNvPr>
          <p:cNvSpPr>
            <a:spLocks noGrp="1"/>
          </p:cNvSpPr>
          <p:nvPr/>
        </p:nvSpPr>
        <p:spPr>
          <a:xfrm>
            <a:off x="640080" y="4389120"/>
            <a:ext cx="420624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CV ≈ 47%</a:t>
            </a:r>
          </a:p>
        </p:txBody>
      </p:sp>
      <p:sp>
        <p:nvSpPr>
          <p:cNvPr id="14" name="Text 12">
            <a:extLst>
              <a:ext uri="{FF2B5EF4-FFF2-40B4-BE49-F238E27FC236}">
                <a16:creationId xmlns:a16="http://schemas.microsoft.com/office/drawing/2014/main" id="{D98A1A1C-FE9F-443D-8A60-B1970E6EF63A}"/>
              </a:ext>
            </a:extLst>
          </p:cNvPr>
          <p:cNvSpPr>
            <a:spLocks noGrp="1"/>
          </p:cNvSpPr>
          <p:nvPr/>
        </p:nvSpPr>
        <p:spPr>
          <a:xfrm>
            <a:off x="640080" y="504748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Year-to-year swing — the noise the signal hides in</a:t>
            </a:r>
          </a:p>
        </p:txBody>
      </p:sp>
      <p:sp>
        <p:nvSpPr>
          <p:cNvPr id="15" name="Text 13">
            <a:extLst>
              <a:ext uri="{FF2B5EF4-FFF2-40B4-BE49-F238E27FC236}">
                <a16:creationId xmlns:a16="http://schemas.microsoft.com/office/drawing/2014/main" id="{51C7D2D3-F26D-41F5-824D-FA684DE071E6}"/>
              </a:ext>
            </a:extLst>
          </p:cNvPr>
          <p:cNvSpPr>
            <a:spLocks noGrp="1"/>
          </p:cNvSpPr>
          <p:nvPr/>
        </p:nvSpPr>
        <p:spPr>
          <a:xfrm>
            <a:off x="640080" y="5532120"/>
            <a:ext cx="4480560" cy="8229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a:ext uri="{FF2B5EF4-FFF2-40B4-BE49-F238E27FC236}">
                <a16:creationId xmlns:a16="http://schemas.microsoft.com/office/drawing/2014/main" id="{0A87E062-6B03-4D05-B9ED-4A69B137D244}"/>
              </a:ext>
            </a:extLst>
          </p:cNvPr>
          <p:cNvSpPr>
            <a:spLocks noGrp="1"/>
          </p:cNvSpPr>
          <p:nvPr/>
        </p:nvSpPr>
        <p:spPr>
          <a:xfrm>
            <a:off x="6400800" y="1572768"/>
            <a:ext cx="502920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 (RDD) — gradual rise +80%</a:t>
            </a:r>
          </a:p>
        </p:txBody>
      </p:sp>
      <p:pic>
        <p:nvPicPr>
          <p:cNvPr id="38" name="Image 0"/>
          <p:cNvPicPr>
            <a:picLocks noChangeAspect="1"/>
          </p:cNvPicPr>
          <p:nvPr/>
        </p:nvPicPr>
        <p:blipFill>
          <a:blip r:embed="rId3"/>
          <a:stretch>
            <a:fillRect/>
          </a:stretch>
        </p:blipFill>
        <p:spPr>
          <a:xfrm>
            <a:off x="6400800" y="1847088"/>
            <a:ext cx="5029200" cy="2095500"/>
          </a:xfrm>
          <a:prstGeom prst="rect">
            <a:avLst/>
          </a:prstGeom>
        </p:spPr>
      </p:pic>
      <p:sp>
        <p:nvSpPr>
          <p:cNvPr id="18" name="Text 15">
            <a:extLst>
              <a:ext uri="{FF2B5EF4-FFF2-40B4-BE49-F238E27FC236}">
                <a16:creationId xmlns:a16="http://schemas.microsoft.com/office/drawing/2014/main" id="{E525C11E-DFCA-4750-9BE7-A01CED525659}"/>
              </a:ext>
            </a:extLst>
          </p:cNvPr>
          <p:cNvSpPr>
            <a:spLocks noGrp="1"/>
          </p:cNvSpPr>
          <p:nvPr/>
        </p:nvSpPr>
        <p:spPr>
          <a:xfrm>
            <a:off x="6400800" y="4061460"/>
            <a:ext cx="502920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 (RVV) — structural fall −65%</a:t>
            </a:r>
          </a:p>
        </p:txBody>
      </p:sp>
      <p:pic>
        <p:nvPicPr>
          <p:cNvPr id="40" name="Image 1"/>
          <p:cNvPicPr>
            <a:picLocks noChangeAspect="1"/>
          </p:cNvPicPr>
          <p:nvPr/>
        </p:nvPicPr>
        <p:blipFill>
          <a:blip r:embed="rId4"/>
          <a:stretch>
            <a:fillRect/>
          </a:stretch>
        </p:blipFill>
        <p:spPr>
          <a:xfrm>
            <a:off x="6400800" y="4335780"/>
            <a:ext cx="5029200" cy="2095500"/>
          </a:xfrm>
          <a:prstGeom prst="rect">
            <a:avLst/>
          </a:prstGeom>
        </p:spPr>
      </p:pic>
      <p:sp>
        <p:nvSpPr>
          <p:cNvPr id="20" name="Text 16">
            <a:extLst>
              <a:ext uri="{FF2B5EF4-FFF2-40B4-BE49-F238E27FC236}">
                <a16:creationId xmlns:a16="http://schemas.microsoft.com/office/drawing/2014/main" id="{E435FF1B-BC3A-4818-9576-C264820BD663}"/>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032110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52E9BF3-FD5C-4774-BD55-73034DB947E3}"/>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inputs move too — the climate is non-stationary</a:t>
            </a:r>
          </a:p>
        </p:txBody>
      </p:sp>
      <p:sp>
        <p:nvSpPr>
          <p:cNvPr id="3" name="Shape 1">
            <a:extLst>
              <a:ext uri="{FF2B5EF4-FFF2-40B4-BE49-F238E27FC236}">
                <a16:creationId xmlns:a16="http://schemas.microsoft.com/office/drawing/2014/main" id="{BE9339FF-20DA-4ABC-BBA8-8D7D000D5EC6}"/>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A467402-9634-4E2C-BBE0-C96478871663}"/>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5C15369C-BA0E-4DA6-B030-B84435E5B93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FAADF8B6-F931-463C-A2A6-50665A070B95}"/>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C040A7D-B768-4B61-8C04-DA03E023B0E0}"/>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A5A2F24-ACE9-43F7-9CBE-DD639333D5F2}"/>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BB7067AE-0C62-479E-994C-07C2C67AEE2F}"/>
              </a:ext>
            </a:extLst>
          </p:cNvPr>
          <p:cNvSpPr>
            <a:spLocks noGrp="1"/>
          </p:cNvSpPr>
          <p:nvPr/>
        </p:nvSpPr>
        <p:spPr>
          <a:xfrm>
            <a:off x="548640" y="1572768"/>
            <a:ext cx="4572000" cy="86868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a:ext uri="{FF2B5EF4-FFF2-40B4-BE49-F238E27FC236}">
                <a16:creationId xmlns:a16="http://schemas.microsoft.com/office/drawing/2014/main" id="{3EE9F79C-A289-45C0-ABA9-9B10749E21EB}"/>
              </a:ext>
            </a:extLst>
          </p:cNvPr>
          <p:cNvSpPr>
            <a:spLocks noGrp="1"/>
          </p:cNvSpPr>
          <p:nvPr/>
        </p:nvSpPr>
        <p:spPr>
          <a:xfrm>
            <a:off x="548640" y="2514600"/>
            <a:ext cx="457200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+44%</a:t>
            </a:r>
          </a:p>
        </p:txBody>
      </p:sp>
      <p:sp>
        <p:nvSpPr>
          <p:cNvPr id="11" name="Text 9">
            <a:extLst>
              <a:ext uri="{FF2B5EF4-FFF2-40B4-BE49-F238E27FC236}">
                <a16:creationId xmlns:a16="http://schemas.microsoft.com/office/drawing/2014/main" id="{8DCD9850-2E8B-4DEB-AFE7-02A07A240FBB}"/>
              </a:ext>
            </a:extLst>
          </p:cNvPr>
          <p:cNvSpPr>
            <a:spLocks noGrp="1"/>
          </p:cNvSpPr>
          <p:nvPr/>
        </p:nvSpPr>
        <p:spPr>
          <a:xfrm>
            <a:off x="548640" y="3172968"/>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Heat days &gt;35°C:  17.6 → 25.4 per year</a:t>
            </a:r>
          </a:p>
        </p:txBody>
      </p:sp>
      <p:sp>
        <p:nvSpPr>
          <p:cNvPr id="12" name="Text 10">
            <a:extLst>
              <a:ext uri="{FF2B5EF4-FFF2-40B4-BE49-F238E27FC236}">
                <a16:creationId xmlns:a16="http://schemas.microsoft.com/office/drawing/2014/main" id="{7F6A7115-1A7C-4E83-95C0-30AE63834684}"/>
              </a:ext>
            </a:extLst>
          </p:cNvPr>
          <p:cNvSpPr>
            <a:spLocks noGrp="1"/>
          </p:cNvSpPr>
          <p:nvPr/>
        </p:nvSpPr>
        <p:spPr>
          <a:xfrm>
            <a:off x="548640" y="3639312"/>
            <a:ext cx="457200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−56%</a:t>
            </a:r>
          </a:p>
        </p:txBody>
      </p:sp>
      <p:sp>
        <p:nvSpPr>
          <p:cNvPr id="13" name="Text 11">
            <a:extLst>
              <a:ext uri="{FF2B5EF4-FFF2-40B4-BE49-F238E27FC236}">
                <a16:creationId xmlns:a16="http://schemas.microsoft.com/office/drawing/2014/main" id="{981B2307-4B8D-441D-B225-F8083FD6152C}"/>
              </a:ext>
            </a:extLst>
          </p:cNvPr>
          <p:cNvSpPr>
            <a:spLocks noGrp="1"/>
          </p:cNvSpPr>
          <p:nvPr/>
        </p:nvSpPr>
        <p:spPr>
          <a:xfrm>
            <a:off x="548640" y="4297680"/>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Frost days &lt;0°C:  18.8 → 8.3 per year</a:t>
            </a:r>
          </a:p>
        </p:txBody>
      </p:sp>
      <p:sp>
        <p:nvSpPr>
          <p:cNvPr id="14" name="Text 12">
            <a:extLst>
              <a:ext uri="{FF2B5EF4-FFF2-40B4-BE49-F238E27FC236}">
                <a16:creationId xmlns:a16="http://schemas.microsoft.com/office/drawing/2014/main" id="{3F5C2DA7-1525-44B2-9D64-046B099D43DC}"/>
              </a:ext>
            </a:extLst>
          </p:cNvPr>
          <p:cNvSpPr>
            <a:spLocks noGrp="1"/>
          </p:cNvSpPr>
          <p:nvPr/>
        </p:nvSpPr>
        <p:spPr>
          <a:xfrm>
            <a:off x="548640" y="4764024"/>
            <a:ext cx="4572000" cy="640080"/>
          </a:xfrm>
          <a:prstGeom prst="rect">
            <a:avLst/>
          </a:prstGeom>
          <a:noFill/>
        </p:spPr>
        <p:txBody>
          <a:bodyPr wrap="square" lIns="0" tIns="0" rIns="0" bIns="0" anchor="ctr"/>
          <a:lstStyle/>
          <a:p>
            <a:pPr marL="0" indent="0" algn="l">
              <a:buNone/>
            </a:pPr>
            <a:r>
              <a:rPr sz="3800" b="1">
                <a:solidFill>
                  <a:srgbClr val="7A6F5E"/>
                </a:solidFill>
                <a:latin typeface="Cambria"/>
                <a:ea typeface="Cambria"/>
                <a:cs typeface="Cambria"/>
              </a:rPr>
              <a:t>−7%</a:t>
            </a:r>
          </a:p>
        </p:txBody>
      </p:sp>
      <p:sp>
        <p:nvSpPr>
          <p:cNvPr id="15" name="Text 13">
            <a:extLst>
              <a:ext uri="{FF2B5EF4-FFF2-40B4-BE49-F238E27FC236}">
                <a16:creationId xmlns:a16="http://schemas.microsoft.com/office/drawing/2014/main" id="{7D4DC671-355E-45BD-B3CE-A06136AB65AE}"/>
              </a:ext>
            </a:extLst>
          </p:cNvPr>
          <p:cNvSpPr>
            <a:spLocks noGrp="1"/>
          </p:cNvSpPr>
          <p:nvPr/>
        </p:nvSpPr>
        <p:spPr>
          <a:xfrm>
            <a:off x="548640" y="5422392"/>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Annual rainfall:  859 → 798 mm</a:t>
            </a:r>
          </a:p>
        </p:txBody>
      </p:sp>
      <p:sp>
        <p:nvSpPr>
          <p:cNvPr id="16" name="Text 14">
            <a:extLst>
              <a:ext uri="{FF2B5EF4-FFF2-40B4-BE49-F238E27FC236}">
                <a16:creationId xmlns:a16="http://schemas.microsoft.com/office/drawing/2014/main" id="{01553947-6E6E-40E0-A57B-19A774A012B0}"/>
              </a:ext>
            </a:extLst>
          </p:cNvPr>
          <p:cNvSpPr>
            <a:spLocks noGrp="1"/>
          </p:cNvSpPr>
          <p:nvPr/>
        </p:nvSpPr>
        <p:spPr>
          <a:xfrm>
            <a:off x="548640" y="5806440"/>
            <a:ext cx="4572000" cy="274320"/>
          </a:xfrm>
          <a:prstGeom prst="rect">
            <a:avLst/>
          </a:prstGeom>
          <a:noFill/>
        </p:spPr>
        <p:txBody>
          <a:bodyPr wrap="square" lIns="0" tIns="0" rIns="0" bIns="0" anchor="ctr"/>
          <a:lstStyle/>
          <a:p>
            <a:pPr marL="0" indent="0">
              <a:buNone/>
            </a:pPr>
            <a:r>
              <a:rPr sz="1050" i="1">
                <a:solidFill>
                  <a:srgbClr val="7A6F5E"/>
                </a:solidFill>
                <a:latin typeface="Calibri"/>
                <a:ea typeface="Calibri"/>
                <a:cs typeface="Calibri"/>
              </a:rPr>
              <a:t>early vs late 30-year means, RDD</a:t>
            </a:r>
          </a:p>
        </p:txBody>
      </p:sp>
      <p:pic>
        <p:nvPicPr>
          <p:cNvPr id="37" name="Image 0"/>
          <p:cNvPicPr>
            <a:picLocks noChangeAspect="1"/>
          </p:cNvPicPr>
          <p:nvPr/>
        </p:nvPicPr>
        <p:blipFill>
          <a:blip r:embed="rId3"/>
          <a:stretch>
            <a:fillRect/>
          </a:stretch>
        </p:blipFill>
        <p:spPr>
          <a:xfrm>
            <a:off x="5394960" y="1828800"/>
            <a:ext cx="6263640" cy="3534786"/>
          </a:xfrm>
          <a:prstGeom prst="rect">
            <a:avLst/>
          </a:prstGeom>
        </p:spPr>
      </p:pic>
      <p:sp>
        <p:nvSpPr>
          <p:cNvPr id="18" name="Shape 15">
            <a:extLst>
              <a:ext uri="{FF2B5EF4-FFF2-40B4-BE49-F238E27FC236}">
                <a16:creationId xmlns:a16="http://schemas.microsoft.com/office/drawing/2014/main" id="{18A743E3-A3B7-4D77-9CF4-4D3EE01CEF1B}"/>
              </a:ext>
            </a:extLst>
          </p:cNvPr>
          <p:cNvSpPr>
            <a:spLocks noGrp="1"/>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6">
            <a:extLst>
              <a:ext uri="{FF2B5EF4-FFF2-40B4-BE49-F238E27FC236}">
                <a16:creationId xmlns:a16="http://schemas.microsoft.com/office/drawing/2014/main" id="{838EFDB0-AD2A-49B5-A045-2A44A29A6EB7}"/>
              </a:ext>
            </a:extLst>
          </p:cNvPr>
          <p:cNvSpPr>
            <a:spLocks noGrp="1"/>
          </p:cNvSpPr>
          <p:nvPr/>
        </p:nvSpPr>
        <p:spPr>
          <a:xfrm>
            <a:off x="5577840" y="5546466"/>
            <a:ext cx="5897880" cy="566928"/>
          </a:xfrm>
          <a:prstGeom prst="rect">
            <a:avLst/>
          </a:prstGeom>
          <a:noFill/>
        </p:spPr>
        <p:txBody>
          <a:bodyPr wrap="square" lIns="0" tIns="0" rIns="0" bIns="0" anchor="ctr"/>
          <a:lstStyle/>
          <a:p>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a:ext uri="{FF2B5EF4-FFF2-40B4-BE49-F238E27FC236}">
                <a16:creationId xmlns:a16="http://schemas.microsoft.com/office/drawing/2014/main" id="{22B818B5-99F2-4380-8032-E2B23D9ECDFB}"/>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527017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C21AFC-4ACF-457E-9659-BE4226ECC095}"/>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Two regions, opposite histories, one method</a:t>
            </a:r>
          </a:p>
        </p:txBody>
      </p:sp>
      <p:sp>
        <p:nvSpPr>
          <p:cNvPr id="3" name="Shape 1">
            <a:extLst>
              <a:ext uri="{FF2B5EF4-FFF2-40B4-BE49-F238E27FC236}">
                <a16:creationId xmlns:a16="http://schemas.microsoft.com/office/drawing/2014/main" id="{8B81F3F3-0FA8-4BDB-B360-DD4006085E0C}"/>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D85536FC-50EC-45C9-AA44-7BFB55BB5BFA}"/>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F8FBF8B7-9D6D-4173-9448-97AB16A4110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98659260-99B6-4083-BF66-98E68979E544}"/>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FF42A19-F8F4-4852-B7F1-D1C54BD4F645}"/>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A56FE90B-0D96-4252-8952-C0E23958D59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a:ext uri="{FF2B5EF4-FFF2-40B4-BE49-F238E27FC236}">
                <a16:creationId xmlns:a16="http://schemas.microsoft.com/office/drawing/2014/main" id="{A8E3A95A-6AC2-44C1-AC56-251848D3E0FB}"/>
              </a:ext>
            </a:extLst>
          </p:cNvPr>
          <p:cNvSpPr>
            <a:spLocks noGrp="1"/>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0" name="Text 8">
            <a:extLst>
              <a:ext uri="{FF2B5EF4-FFF2-40B4-BE49-F238E27FC236}">
                <a16:creationId xmlns:a16="http://schemas.microsoft.com/office/drawing/2014/main" id="{FDE1CC29-ECED-4248-8F50-1D14C1778FD4}"/>
              </a:ext>
            </a:extLst>
          </p:cNvPr>
          <p:cNvSpPr>
            <a:spLocks noGrp="1"/>
          </p:cNvSpPr>
          <p:nvPr/>
        </p:nvSpPr>
        <p:spPr>
          <a:xfrm>
            <a:off x="640080" y="2057400"/>
            <a:ext cx="5074920" cy="457200"/>
          </a:xfrm>
          <a:prstGeom prst="rect">
            <a:avLst/>
          </a:prstGeom>
          <a:noFill/>
        </p:spPr>
        <p:txBody>
          <a:bodyPr wrap="square" lIns="0" tIns="0" rIns="0" bIns="0" anchor="ctr"/>
          <a:lstStyle/>
          <a:p>
            <a:pPr marL="0" indent="0" algn="ctr">
              <a:buNone/>
            </a:pPr>
            <a:r>
              <a:rPr sz="2200" b="1">
                <a:solidFill>
                  <a:srgbClr val="7A2E39"/>
                </a:solidFill>
                <a:latin typeface="Cambria"/>
                <a:ea typeface="Cambria"/>
                <a:cs typeface="Cambria"/>
              </a:rPr>
              <a:t>DOURO · RDD</a:t>
            </a:r>
          </a:p>
        </p:txBody>
      </p:sp>
      <p:sp>
        <p:nvSpPr>
          <p:cNvPr id="11" name="Shape 9">
            <a:extLst>
              <a:ext uri="{FF2B5EF4-FFF2-40B4-BE49-F238E27FC236}">
                <a16:creationId xmlns:a16="http://schemas.microsoft.com/office/drawing/2014/main" id="{F77D2D7D-8174-4851-9374-401A1DFE9C53}"/>
              </a:ext>
            </a:extLst>
          </p:cNvPr>
          <p:cNvSpPr>
            <a:spLocks noGrp="1"/>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2" name="Text 10">
            <a:extLst>
              <a:ext uri="{FF2B5EF4-FFF2-40B4-BE49-F238E27FC236}">
                <a16:creationId xmlns:a16="http://schemas.microsoft.com/office/drawing/2014/main" id="{B7A1F4BF-8E6D-4653-B431-86D648B6A680}"/>
              </a:ext>
            </a:extLst>
          </p:cNvPr>
          <p:cNvSpPr>
            <a:spLocks noGrp="1"/>
          </p:cNvSpPr>
          <p:nvPr/>
        </p:nvSpPr>
        <p:spPr>
          <a:xfrm>
            <a:off x="6446520" y="2057400"/>
            <a:ext cx="5074920" cy="457200"/>
          </a:xfrm>
          <a:prstGeom prst="rect">
            <a:avLst/>
          </a:prstGeom>
          <a:noFill/>
        </p:spPr>
        <p:txBody>
          <a:bodyPr wrap="square" lIns="0" tIns="0" rIns="0" bIns="0" anchor="ctr"/>
          <a:lstStyle/>
          <a:p>
            <a:pPr marL="0" indent="0" algn="ctr">
              <a:buNone/>
            </a:pPr>
            <a:r>
              <a:rPr sz="2200" b="1">
                <a:solidFill>
                  <a:srgbClr val="5E7148"/>
                </a:solidFill>
                <a:latin typeface="Cambria"/>
                <a:ea typeface="Cambria"/>
                <a:cs typeface="Cambria"/>
              </a:rPr>
              <a:t>VINHO VERDE · RVV</a:t>
            </a:r>
          </a:p>
        </p:txBody>
      </p:sp>
      <p:sp>
        <p:nvSpPr>
          <p:cNvPr id="13" name="Text 11">
            <a:extLst>
              <a:ext uri="{FF2B5EF4-FFF2-40B4-BE49-F238E27FC236}">
                <a16:creationId xmlns:a16="http://schemas.microsoft.com/office/drawing/2014/main" id="{9F329122-5801-4CCF-8AA5-AF3AF5943EE5}"/>
              </a:ext>
            </a:extLst>
          </p:cNvPr>
          <p:cNvSpPr>
            <a:spLocks noGrp="1"/>
          </p:cNvSpPr>
          <p:nvPr/>
        </p:nvSpPr>
        <p:spPr>
          <a:xfrm>
            <a:off x="640080" y="2679192"/>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PERIOD</a:t>
            </a:r>
          </a:p>
        </p:txBody>
      </p:sp>
      <p:sp>
        <p:nvSpPr>
          <p:cNvPr id="14" name="Text 12">
            <a:extLst>
              <a:ext uri="{FF2B5EF4-FFF2-40B4-BE49-F238E27FC236}">
                <a16:creationId xmlns:a16="http://schemas.microsoft.com/office/drawing/2014/main" id="{21E9894C-99B3-4CD2-952A-5AFBA2C2F730}"/>
              </a:ext>
            </a:extLst>
          </p:cNvPr>
          <p:cNvSpPr>
            <a:spLocks noGrp="1"/>
          </p:cNvSpPr>
          <p:nvPr/>
        </p:nvSpPr>
        <p:spPr>
          <a:xfrm>
            <a:off x="82296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1934–2022 · 89 years</a:t>
            </a:r>
          </a:p>
        </p:txBody>
      </p:sp>
      <p:sp>
        <p:nvSpPr>
          <p:cNvPr id="15" name="Text 13">
            <a:extLst>
              <a:ext uri="{FF2B5EF4-FFF2-40B4-BE49-F238E27FC236}">
                <a16:creationId xmlns:a16="http://schemas.microsoft.com/office/drawing/2014/main" id="{CFE50088-5B83-4D1C-98D7-673F10A232F0}"/>
              </a:ext>
            </a:extLst>
          </p:cNvPr>
          <p:cNvSpPr>
            <a:spLocks noGrp="1"/>
          </p:cNvSpPr>
          <p:nvPr/>
        </p:nvSpPr>
        <p:spPr>
          <a:xfrm>
            <a:off x="662940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1942–2021 · 80 years</a:t>
            </a:r>
          </a:p>
        </p:txBody>
      </p:sp>
      <p:sp>
        <p:nvSpPr>
          <p:cNvPr id="16" name="Text 14">
            <a:extLst>
              <a:ext uri="{FF2B5EF4-FFF2-40B4-BE49-F238E27FC236}">
                <a16:creationId xmlns:a16="http://schemas.microsoft.com/office/drawing/2014/main" id="{BB4D13AC-9566-4A64-A92E-2C079BAA152A}"/>
              </a:ext>
            </a:extLst>
          </p:cNvPr>
          <p:cNvSpPr>
            <a:spLocks noGrp="1"/>
          </p:cNvSpPr>
          <p:nvPr/>
        </p:nvSpPr>
        <p:spPr>
          <a:xfrm>
            <a:off x="640080" y="3300984"/>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PRODUCTION TREND</a:t>
            </a:r>
          </a:p>
        </p:txBody>
      </p:sp>
      <p:sp>
        <p:nvSpPr>
          <p:cNvPr id="17" name="Text 15">
            <a:extLst>
              <a:ext uri="{FF2B5EF4-FFF2-40B4-BE49-F238E27FC236}">
                <a16:creationId xmlns:a16="http://schemas.microsoft.com/office/drawing/2014/main" id="{EE64DE46-263C-42DD-A137-36D0807F7A42}"/>
              </a:ext>
            </a:extLst>
          </p:cNvPr>
          <p:cNvSpPr>
            <a:spLocks noGrp="1"/>
          </p:cNvSpPr>
          <p:nvPr/>
        </p:nvSpPr>
        <p:spPr>
          <a:xfrm>
            <a:off x="82296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+80% — gradual rise</a:t>
            </a:r>
          </a:p>
        </p:txBody>
      </p:sp>
      <p:sp>
        <p:nvSpPr>
          <p:cNvPr id="18" name="Text 16">
            <a:extLst>
              <a:ext uri="{FF2B5EF4-FFF2-40B4-BE49-F238E27FC236}">
                <a16:creationId xmlns:a16="http://schemas.microsoft.com/office/drawing/2014/main" id="{DA146E7E-C08F-47F9-A77E-04542C5DA193}"/>
              </a:ext>
            </a:extLst>
          </p:cNvPr>
          <p:cNvSpPr>
            <a:spLocks noGrp="1"/>
          </p:cNvSpPr>
          <p:nvPr/>
        </p:nvSpPr>
        <p:spPr>
          <a:xfrm>
            <a:off x="662940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−65% — structural collapse</a:t>
            </a:r>
          </a:p>
        </p:txBody>
      </p:sp>
      <p:sp>
        <p:nvSpPr>
          <p:cNvPr id="19" name="Text 17">
            <a:extLst>
              <a:ext uri="{FF2B5EF4-FFF2-40B4-BE49-F238E27FC236}">
                <a16:creationId xmlns:a16="http://schemas.microsoft.com/office/drawing/2014/main" id="{556E1EA0-6444-4984-ACEB-16462DD648A5}"/>
              </a:ext>
            </a:extLst>
          </p:cNvPr>
          <p:cNvSpPr>
            <a:spLocks noGrp="1"/>
          </p:cNvSpPr>
          <p:nvPr/>
        </p:nvSpPr>
        <p:spPr>
          <a:xfrm>
            <a:off x="640080" y="3922776"/>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STRUCTURAL DRIVER</a:t>
            </a:r>
          </a:p>
        </p:txBody>
      </p:sp>
      <p:sp>
        <p:nvSpPr>
          <p:cNvPr id="20" name="Text 18">
            <a:extLst>
              <a:ext uri="{FF2B5EF4-FFF2-40B4-BE49-F238E27FC236}">
                <a16:creationId xmlns:a16="http://schemas.microsoft.com/office/drawing/2014/main" id="{54B71600-272E-482C-835F-2E5105549A3A}"/>
              </a:ext>
            </a:extLst>
          </p:cNvPr>
          <p:cNvSpPr>
            <a:spLocks noGrp="1"/>
          </p:cNvSpPr>
          <p:nvPr/>
        </p:nvSpPr>
        <p:spPr>
          <a:xfrm>
            <a:off x="82296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Port benefício quota (buffered)</a:t>
            </a:r>
          </a:p>
        </p:txBody>
      </p:sp>
      <p:sp>
        <p:nvSpPr>
          <p:cNvPr id="21" name="Text 19">
            <a:extLst>
              <a:ext uri="{FF2B5EF4-FFF2-40B4-BE49-F238E27FC236}">
                <a16:creationId xmlns:a16="http://schemas.microsoft.com/office/drawing/2014/main" id="{818393F3-B930-414E-B6EB-7EE3B7769A1E}"/>
              </a:ext>
            </a:extLst>
          </p:cNvPr>
          <p:cNvSpPr>
            <a:spLocks noGrp="1"/>
          </p:cNvSpPr>
          <p:nvPr/>
        </p:nvSpPr>
        <p:spPr>
          <a:xfrm>
            <a:off x="662940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EU accession 1986 (grubbing-up, exodus)</a:t>
            </a:r>
          </a:p>
        </p:txBody>
      </p:sp>
      <p:sp>
        <p:nvSpPr>
          <p:cNvPr id="22" name="Text 20">
            <a:extLst>
              <a:ext uri="{FF2B5EF4-FFF2-40B4-BE49-F238E27FC236}">
                <a16:creationId xmlns:a16="http://schemas.microsoft.com/office/drawing/2014/main" id="{EB60651D-553A-41A7-AACA-9B2DE8068826}"/>
              </a:ext>
            </a:extLst>
          </p:cNvPr>
          <p:cNvSpPr>
            <a:spLocks noGrp="1"/>
          </p:cNvSpPr>
          <p:nvPr/>
        </p:nvSpPr>
        <p:spPr>
          <a:xfrm>
            <a:off x="640080" y="4544568"/>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NON-STATIONARITY</a:t>
            </a:r>
          </a:p>
        </p:txBody>
      </p:sp>
      <p:sp>
        <p:nvSpPr>
          <p:cNvPr id="23" name="Text 21">
            <a:extLst>
              <a:ext uri="{FF2B5EF4-FFF2-40B4-BE49-F238E27FC236}">
                <a16:creationId xmlns:a16="http://schemas.microsoft.com/office/drawing/2014/main" id="{24A09367-4D6B-431D-AA76-B879E738654F}"/>
              </a:ext>
            </a:extLst>
          </p:cNvPr>
          <p:cNvSpPr>
            <a:spLocks noGrp="1"/>
          </p:cNvSpPr>
          <p:nvPr/>
        </p:nvSpPr>
        <p:spPr>
          <a:xfrm>
            <a:off x="82296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smooth</a:t>
            </a:r>
          </a:p>
        </p:txBody>
      </p:sp>
      <p:sp>
        <p:nvSpPr>
          <p:cNvPr id="24" name="Text 22">
            <a:extLst>
              <a:ext uri="{FF2B5EF4-FFF2-40B4-BE49-F238E27FC236}">
                <a16:creationId xmlns:a16="http://schemas.microsoft.com/office/drawing/2014/main" id="{5506A3E8-8B7F-4146-B330-472A3ECB255A}"/>
              </a:ext>
            </a:extLst>
          </p:cNvPr>
          <p:cNvSpPr>
            <a:spLocks noGrp="1"/>
          </p:cNvSpPr>
          <p:nvPr/>
        </p:nvSpPr>
        <p:spPr>
          <a:xfrm>
            <a:off x="662940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Severe, non-linear break</a:t>
            </a:r>
          </a:p>
        </p:txBody>
      </p:sp>
      <p:sp>
        <p:nvSpPr>
          <p:cNvPr id="25" name="Text 23">
            <a:extLst>
              <a:ext uri="{FF2B5EF4-FFF2-40B4-BE49-F238E27FC236}">
                <a16:creationId xmlns:a16="http://schemas.microsoft.com/office/drawing/2014/main" id="{525116C1-71C1-4C2C-9639-31BC93CB51D8}"/>
              </a:ext>
            </a:extLst>
          </p:cNvPr>
          <p:cNvSpPr>
            <a:spLocks noGrp="1"/>
          </p:cNvSpPr>
          <p:nvPr/>
        </p:nvSpPr>
        <p:spPr>
          <a:xfrm>
            <a:off x="640080" y="5532120"/>
            <a:ext cx="10881360" cy="548640"/>
          </a:xfrm>
          <a:prstGeom prst="rect">
            <a:avLst/>
          </a:prstGeom>
          <a:noFill/>
        </p:spPr>
        <p:txBody>
          <a:bodyPr wrap="square" lIns="0" tIns="0" rIns="0" bIns="0" anchor="ctr"/>
          <a:lstStyle/>
          <a:p>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a:ext uri="{FF2B5EF4-FFF2-40B4-BE49-F238E27FC236}">
                <a16:creationId xmlns:a16="http://schemas.microsoft.com/office/drawing/2014/main" id="{E7B7FEE4-C70D-4562-8811-C98D4A3446A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690001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1B4492-C360-4822-A3A0-6C96B818293C}"/>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One honest pipeline</a:t>
            </a:r>
          </a:p>
        </p:txBody>
      </p:sp>
      <p:sp>
        <p:nvSpPr>
          <p:cNvPr id="3" name="Shape 1">
            <a:extLst>
              <a:ext uri="{FF2B5EF4-FFF2-40B4-BE49-F238E27FC236}">
                <a16:creationId xmlns:a16="http://schemas.microsoft.com/office/drawing/2014/main" id="{B3ADBB7D-D79D-424B-90DC-6C454054BC21}"/>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5DF77F59-1419-4D39-9CA8-BAF4410C4DD1}"/>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71C9CDD8-9B72-4486-A7B5-8CA53D2B7DB7}"/>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CAB3AA1D-5E56-4D97-9F20-7B7E1932A0BC}"/>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5105D8E-3CFC-4B30-B0B7-6F488EB4AB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114DD685-1BA9-4450-9264-3FC81E6CC75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a:ext uri="{FF2B5EF4-FFF2-40B4-BE49-F238E27FC236}">
                <a16:creationId xmlns:a16="http://schemas.microsoft.com/office/drawing/2014/main" id="{CF7D8333-4B24-46FC-AA9A-D820119E0F11}"/>
              </a:ext>
            </a:extLst>
          </p:cNvPr>
          <p:cNvSpPr>
            <a:spLocks noGrp="1"/>
          </p:cNvSpPr>
          <p:nvPr/>
        </p:nvSpPr>
        <p:spPr>
          <a:xfrm>
            <a:off x="640080" y="1783080"/>
            <a:ext cx="548640" cy="548640"/>
          </a:xfrm>
          <a:prstGeom prst="ellipse">
            <a:avLst/>
          </a:prstGeom>
          <a:solidFill>
            <a:srgbClr val="6D2E46"/>
          </a:solidFill>
        </p:spPr>
        <p:txBody>
          <a:bodyPr/>
          <a:lstStyle/>
          <a:p>
            <a:endParaRPr/>
          </a:p>
        </p:txBody>
      </p:sp>
      <p:sp>
        <p:nvSpPr>
          <p:cNvPr id="10" name="Text 8">
            <a:extLst>
              <a:ext uri="{FF2B5EF4-FFF2-40B4-BE49-F238E27FC236}">
                <a16:creationId xmlns:a16="http://schemas.microsoft.com/office/drawing/2014/main" id="{375CB7A4-81E3-4C1F-A71F-FAF74C586C6B}"/>
              </a:ext>
            </a:extLst>
          </p:cNvPr>
          <p:cNvSpPr>
            <a:spLocks noGrp="1"/>
          </p:cNvSpPr>
          <p:nvPr/>
        </p:nvSpPr>
        <p:spPr>
          <a:xfrm>
            <a:off x="640080" y="178308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1</a:t>
            </a:r>
          </a:p>
        </p:txBody>
      </p:sp>
      <p:sp>
        <p:nvSpPr>
          <p:cNvPr id="11" name="Text 9">
            <a:extLst>
              <a:ext uri="{FF2B5EF4-FFF2-40B4-BE49-F238E27FC236}">
                <a16:creationId xmlns:a16="http://schemas.microsoft.com/office/drawing/2014/main" id="{42329169-4478-4C0E-B278-C75A7DA6DCF6}"/>
              </a:ext>
            </a:extLst>
          </p:cNvPr>
          <p:cNvSpPr>
            <a:spLocks noGrp="1"/>
          </p:cNvSpPr>
          <p:nvPr/>
        </p:nvSpPr>
        <p:spPr>
          <a:xfrm>
            <a:off x="1371600" y="176479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Detrend in-fold</a:t>
            </a:r>
          </a:p>
        </p:txBody>
      </p:sp>
      <p:sp>
        <p:nvSpPr>
          <p:cNvPr id="12" name="Text 10">
            <a:extLst>
              <a:ext uri="{FF2B5EF4-FFF2-40B4-BE49-F238E27FC236}">
                <a16:creationId xmlns:a16="http://schemas.microsoft.com/office/drawing/2014/main" id="{43EB2301-3C65-4850-AC8E-D1EB8D6A8433}"/>
              </a:ext>
            </a:extLst>
          </p:cNvPr>
          <p:cNvSpPr>
            <a:spLocks noGrp="1"/>
          </p:cNvSpPr>
          <p:nvPr/>
        </p:nvSpPr>
        <p:spPr>
          <a:xfrm>
            <a:off x="1371600" y="213055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a:ext uri="{FF2B5EF4-FFF2-40B4-BE49-F238E27FC236}">
                <a16:creationId xmlns:a16="http://schemas.microsoft.com/office/drawing/2014/main" id="{3751A341-25A8-4474-9D08-B92E2085F059}"/>
              </a:ext>
            </a:extLst>
          </p:cNvPr>
          <p:cNvSpPr>
            <a:spLocks noGrp="1"/>
          </p:cNvSpPr>
          <p:nvPr/>
        </p:nvSpPr>
        <p:spPr>
          <a:xfrm>
            <a:off x="640080" y="2834640"/>
            <a:ext cx="548640" cy="548640"/>
          </a:xfrm>
          <a:prstGeom prst="ellipse">
            <a:avLst/>
          </a:prstGeom>
          <a:solidFill>
            <a:srgbClr val="6D2E46"/>
          </a:solidFill>
        </p:spPr>
        <p:txBody>
          <a:bodyPr/>
          <a:lstStyle/>
          <a:p>
            <a:endParaRPr/>
          </a:p>
        </p:txBody>
      </p:sp>
      <p:sp>
        <p:nvSpPr>
          <p:cNvPr id="14" name="Text 12">
            <a:extLst>
              <a:ext uri="{FF2B5EF4-FFF2-40B4-BE49-F238E27FC236}">
                <a16:creationId xmlns:a16="http://schemas.microsoft.com/office/drawing/2014/main" id="{A64FE5D7-0441-4092-9B3D-01F77F3BA0B0}"/>
              </a:ext>
            </a:extLst>
          </p:cNvPr>
          <p:cNvSpPr>
            <a:spLocks noGrp="1"/>
          </p:cNvSpPr>
          <p:nvPr/>
        </p:nvSpPr>
        <p:spPr>
          <a:xfrm>
            <a:off x="640080" y="283464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2</a:t>
            </a:r>
          </a:p>
        </p:txBody>
      </p:sp>
      <p:sp>
        <p:nvSpPr>
          <p:cNvPr id="15" name="Text 13">
            <a:extLst>
              <a:ext uri="{FF2B5EF4-FFF2-40B4-BE49-F238E27FC236}">
                <a16:creationId xmlns:a16="http://schemas.microsoft.com/office/drawing/2014/main" id="{0B71EB94-3520-4A57-8D38-5FF4080CF639}"/>
              </a:ext>
            </a:extLst>
          </p:cNvPr>
          <p:cNvSpPr>
            <a:spLocks noGrp="1"/>
          </p:cNvSpPr>
          <p:nvPr/>
        </p:nvSpPr>
        <p:spPr>
          <a:xfrm>
            <a:off x="1371600" y="281635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Discover rules</a:t>
            </a:r>
          </a:p>
        </p:txBody>
      </p:sp>
      <p:sp>
        <p:nvSpPr>
          <p:cNvPr id="16" name="Text 14">
            <a:extLst>
              <a:ext uri="{FF2B5EF4-FFF2-40B4-BE49-F238E27FC236}">
                <a16:creationId xmlns:a16="http://schemas.microsoft.com/office/drawing/2014/main" id="{F7472FDE-DDF5-43E2-8484-066A2B7683C6}"/>
              </a:ext>
            </a:extLst>
          </p:cNvPr>
          <p:cNvSpPr>
            <a:spLocks noGrp="1"/>
          </p:cNvSpPr>
          <p:nvPr/>
        </p:nvSpPr>
        <p:spPr>
          <a:xfrm>
            <a:off x="1371600" y="318211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a:ext uri="{FF2B5EF4-FFF2-40B4-BE49-F238E27FC236}">
                <a16:creationId xmlns:a16="http://schemas.microsoft.com/office/drawing/2014/main" id="{78D5D0ED-15A9-4D81-8861-7EF6B221792E}"/>
              </a:ext>
            </a:extLst>
          </p:cNvPr>
          <p:cNvSpPr>
            <a:spLocks noGrp="1"/>
          </p:cNvSpPr>
          <p:nvPr/>
        </p:nvSpPr>
        <p:spPr>
          <a:xfrm>
            <a:off x="640080" y="3886200"/>
            <a:ext cx="548640" cy="548640"/>
          </a:xfrm>
          <a:prstGeom prst="ellipse">
            <a:avLst/>
          </a:prstGeom>
          <a:solidFill>
            <a:srgbClr val="6D2E46"/>
          </a:solidFill>
        </p:spPr>
        <p:txBody>
          <a:bodyPr/>
          <a:lstStyle/>
          <a:p>
            <a:endParaRPr/>
          </a:p>
        </p:txBody>
      </p:sp>
      <p:sp>
        <p:nvSpPr>
          <p:cNvPr id="18" name="Text 16">
            <a:extLst>
              <a:ext uri="{FF2B5EF4-FFF2-40B4-BE49-F238E27FC236}">
                <a16:creationId xmlns:a16="http://schemas.microsoft.com/office/drawing/2014/main" id="{D7D2DF85-B1A4-4834-A132-774811024B1A}"/>
              </a:ext>
            </a:extLst>
          </p:cNvPr>
          <p:cNvSpPr>
            <a:spLocks noGrp="1"/>
          </p:cNvSpPr>
          <p:nvPr/>
        </p:nvSpPr>
        <p:spPr>
          <a:xfrm>
            <a:off x="640080" y="388620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3</a:t>
            </a:r>
          </a:p>
        </p:txBody>
      </p:sp>
      <p:sp>
        <p:nvSpPr>
          <p:cNvPr id="19" name="Text 17">
            <a:extLst>
              <a:ext uri="{FF2B5EF4-FFF2-40B4-BE49-F238E27FC236}">
                <a16:creationId xmlns:a16="http://schemas.microsoft.com/office/drawing/2014/main" id="{01A26ACB-DA9C-43E9-8855-B3330419681D}"/>
              </a:ext>
            </a:extLst>
          </p:cNvPr>
          <p:cNvSpPr>
            <a:spLocks noGrp="1"/>
          </p:cNvSpPr>
          <p:nvPr/>
        </p:nvSpPr>
        <p:spPr>
          <a:xfrm>
            <a:off x="1371600" y="386791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Walk-forward test</a:t>
            </a:r>
          </a:p>
        </p:txBody>
      </p:sp>
      <p:sp>
        <p:nvSpPr>
          <p:cNvPr id="20" name="Text 18">
            <a:extLst>
              <a:ext uri="{FF2B5EF4-FFF2-40B4-BE49-F238E27FC236}">
                <a16:creationId xmlns:a16="http://schemas.microsoft.com/office/drawing/2014/main" id="{A36F099C-CF74-4C45-8FA8-447722663B0A}"/>
              </a:ext>
            </a:extLst>
          </p:cNvPr>
          <p:cNvSpPr>
            <a:spLocks noGrp="1"/>
          </p:cNvSpPr>
          <p:nvPr/>
        </p:nvSpPr>
        <p:spPr>
          <a:xfrm>
            <a:off x="1371600" y="423367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a:ext uri="{FF2B5EF4-FFF2-40B4-BE49-F238E27FC236}">
                <a16:creationId xmlns:a16="http://schemas.microsoft.com/office/drawing/2014/main" id="{82268084-DF36-4705-A6B7-47ABD7053138}"/>
              </a:ext>
            </a:extLst>
          </p:cNvPr>
          <p:cNvSpPr>
            <a:spLocks noGrp="1"/>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22" name="Text 20">
            <a:extLst>
              <a:ext uri="{FF2B5EF4-FFF2-40B4-BE49-F238E27FC236}">
                <a16:creationId xmlns:a16="http://schemas.microsoft.com/office/drawing/2014/main" id="{98508486-87CE-47F2-8B6A-228D8BBF24EF}"/>
              </a:ext>
            </a:extLst>
          </p:cNvPr>
          <p:cNvSpPr>
            <a:spLocks noGrp="1"/>
          </p:cNvSpPr>
          <p:nvPr/>
        </p:nvSpPr>
        <p:spPr>
          <a:xfrm>
            <a:off x="868680" y="5166360"/>
            <a:ext cx="5486400" cy="320040"/>
          </a:xfrm>
          <a:prstGeom prst="rect">
            <a:avLst/>
          </a:prstGeom>
          <a:noFill/>
        </p:spPr>
        <p:txBody>
          <a:bodyPr wrap="square" lIns="0" tIns="0" rIns="0" bIns="0" anchor="ctr"/>
          <a:lstStyle/>
          <a:p>
            <a:pPr marL="0" indent="0">
              <a:buNone/>
            </a:pPr>
            <a:r>
              <a:rPr sz="1200" b="1">
                <a:solidFill>
                  <a:srgbClr val="C89B3C"/>
                </a:solidFill>
                <a:latin typeface="Calibri"/>
                <a:ea typeface="Calibri"/>
                <a:cs typeface="Calibri"/>
              </a:rPr>
              <a:t>Remember one idea →</a:t>
            </a:r>
          </a:p>
        </p:txBody>
      </p:sp>
      <p:sp>
        <p:nvSpPr>
          <p:cNvPr id="23" name="Text 21">
            <a:extLst>
              <a:ext uri="{FF2B5EF4-FFF2-40B4-BE49-F238E27FC236}">
                <a16:creationId xmlns:a16="http://schemas.microsoft.com/office/drawing/2014/main" id="{606F017A-6BFA-4530-9DEF-180ED4437C27}"/>
              </a:ext>
            </a:extLst>
          </p:cNvPr>
          <p:cNvSpPr>
            <a:spLocks noGrp="1"/>
          </p:cNvSpPr>
          <p:nvPr/>
        </p:nvSpPr>
        <p:spPr>
          <a:xfrm>
            <a:off x="868680" y="5486400"/>
            <a:ext cx="5486400" cy="640080"/>
          </a:xfrm>
          <a:prstGeom prst="rect">
            <a:avLst/>
          </a:prstGeom>
          <a:noFill/>
        </p:spPr>
        <p:txBody>
          <a:bodyPr wrap="square" lIns="0" tIns="0" rIns="0" bIns="0" anchor="ctr"/>
          <a:lstStyle/>
          <a:p>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noChangeAspect="1"/>
          </p:cNvPicPr>
          <p:nvPr/>
        </p:nvPicPr>
        <p:blipFill>
          <a:blip r:embed="rId3"/>
          <a:stretch>
            <a:fillRect/>
          </a:stretch>
        </p:blipFill>
        <p:spPr>
          <a:xfrm>
            <a:off x="8138160" y="1600200"/>
            <a:ext cx="3246120" cy="4288137"/>
          </a:xfrm>
          <a:prstGeom prst="rect">
            <a:avLst/>
          </a:prstGeom>
        </p:spPr>
      </p:pic>
      <p:sp>
        <p:nvSpPr>
          <p:cNvPr id="25" name="Text 22">
            <a:extLst>
              <a:ext uri="{FF2B5EF4-FFF2-40B4-BE49-F238E27FC236}">
                <a16:creationId xmlns:a16="http://schemas.microsoft.com/office/drawing/2014/main" id="{72195809-0660-45D2-B480-EF22644202E3}"/>
              </a:ext>
            </a:extLst>
          </p:cNvPr>
          <p:cNvSpPr>
            <a:spLocks noGrp="1"/>
          </p:cNvSpPr>
          <p:nvPr/>
        </p:nvSpPr>
        <p:spPr>
          <a:xfrm>
            <a:off x="7863840" y="5906625"/>
            <a:ext cx="379476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Walk-forward validation</a:t>
            </a:r>
          </a:p>
        </p:txBody>
      </p:sp>
      <p:sp>
        <p:nvSpPr>
          <p:cNvPr id="26" name="Text 23">
            <a:extLst>
              <a:ext uri="{FF2B5EF4-FFF2-40B4-BE49-F238E27FC236}">
                <a16:creationId xmlns:a16="http://schemas.microsoft.com/office/drawing/2014/main" id="{4631B5FA-C9B6-40A2-9955-4684BC4B1759}"/>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89744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white-background">
            <a:extLst>
              <a:ext uri="{FF2B5EF4-FFF2-40B4-BE49-F238E27FC236}">
                <a16:creationId xmlns:a16="http://schemas.microsoft.com/office/drawing/2014/main" id="{B87B81F9-9FD8-4931-830E-C08D25772F91}"/>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09B41DE6-F4EA-4F7A-A672-1BC4E05A2330}"/>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a:ext uri="{FF2B5EF4-FFF2-40B4-BE49-F238E27FC236}">
                <a16:creationId xmlns:a16="http://schemas.microsoft.com/office/drawing/2014/main" id="{9456B7F1-A897-4D99-A4B1-24728639BEE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a:ext uri="{FF2B5EF4-FFF2-40B4-BE49-F238E27FC236}">
                <a16:creationId xmlns:a16="http://schemas.microsoft.com/office/drawing/2014/main" id="{D7626CBA-B59C-4198-BEFD-CD2995C13E9C}"/>
              </a:ext>
            </a:extLst>
          </p:cNvPr>
          <p:cNvSpPr>
            <a:spLocks noGrp="1"/>
          </p:cNvSpPr>
          <p:nvPr/>
        </p:nvSpPr>
        <p:spPr>
          <a:xfrm>
            <a:off x="400050" y="1428750"/>
            <a:ext cx="11382375" cy="495300"/>
          </a:xfrm>
          <a:prstGeom prst="rect">
            <a:avLst/>
          </a:prstGeom>
          <a:solidFill>
            <a:srgbClr val="7B1E3A"/>
          </a:solidFill>
          <a:ln w="0">
            <a:noFill/>
            <a:prstDash val="solid"/>
          </a:ln>
        </p:spPr>
        <p:txBody>
          <a:bodyPr/>
          <a:lstStyle/>
          <a:p>
            <a:endParaRPr/>
          </a:p>
        </p:txBody>
      </p:sp>
      <p:sp>
        <p:nvSpPr>
          <p:cNvPr id="5" name="h-0">
            <a:extLst>
              <a:ext uri="{FF2B5EF4-FFF2-40B4-BE49-F238E27FC236}">
                <a16:creationId xmlns:a16="http://schemas.microsoft.com/office/drawing/2014/main" id="{7A839C4E-9C4D-4214-B1F0-7F1F10E5737F}"/>
              </a:ext>
            </a:extLst>
          </p:cNvPr>
          <p:cNvSpPr>
            <a:spLocks noGrp="1"/>
          </p:cNvSpPr>
          <p:nvPr/>
        </p:nvSpPr>
        <p:spPr>
          <a:xfrm>
            <a:off x="514350" y="1600200"/>
            <a:ext cx="2476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a:ext uri="{FF2B5EF4-FFF2-40B4-BE49-F238E27FC236}">
                <a16:creationId xmlns:a16="http://schemas.microsoft.com/office/drawing/2014/main" id="{00E77390-AA9C-4035-90D0-559493FCD80A}"/>
              </a:ext>
            </a:extLst>
          </p:cNvPr>
          <p:cNvSpPr>
            <a:spLocks noGrp="1"/>
          </p:cNvSpPr>
          <p:nvPr/>
        </p:nvSpPr>
        <p:spPr>
          <a:xfrm>
            <a:off x="3257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a:ext uri="{FF2B5EF4-FFF2-40B4-BE49-F238E27FC236}">
                <a16:creationId xmlns:a16="http://schemas.microsoft.com/office/drawing/2014/main" id="{AEC030CB-041E-48C0-8AE8-96DF201E8E75}"/>
              </a:ext>
            </a:extLst>
          </p:cNvPr>
          <p:cNvSpPr>
            <a:spLocks noGrp="1"/>
          </p:cNvSpPr>
          <p:nvPr/>
        </p:nvSpPr>
        <p:spPr>
          <a:xfrm>
            <a:off x="5924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a:ext uri="{FF2B5EF4-FFF2-40B4-BE49-F238E27FC236}">
                <a16:creationId xmlns:a16="http://schemas.microsoft.com/office/drawing/2014/main" id="{36FCC4BC-9FDF-460D-940C-EF0B9A9850A9}"/>
              </a:ext>
            </a:extLst>
          </p:cNvPr>
          <p:cNvSpPr>
            <a:spLocks noGrp="1"/>
          </p:cNvSpPr>
          <p:nvPr/>
        </p:nvSpPr>
        <p:spPr>
          <a:xfrm>
            <a:off x="8591550" y="1600200"/>
            <a:ext cx="3143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a:ext uri="{FF2B5EF4-FFF2-40B4-BE49-F238E27FC236}">
                <a16:creationId xmlns:a16="http://schemas.microsoft.com/office/drawing/2014/main" id="{231E375B-4068-4D0C-8A8F-0A9E9A1AD936}"/>
              </a:ext>
            </a:extLst>
          </p:cNvPr>
          <p:cNvSpPr>
            <a:spLocks noGrp="1"/>
          </p:cNvSpPr>
          <p:nvPr/>
        </p:nvSpPr>
        <p:spPr>
          <a:xfrm>
            <a:off x="400050" y="2019300"/>
            <a:ext cx="11382375" cy="685800"/>
          </a:xfrm>
          <a:prstGeom prst="rect">
            <a:avLst/>
          </a:prstGeom>
          <a:solidFill>
            <a:srgbClr val="FFFFFF"/>
          </a:solidFill>
          <a:ln w="0">
            <a:noFill/>
            <a:prstDash val="solid"/>
          </a:ln>
        </p:spPr>
        <p:txBody>
          <a:bodyPr/>
          <a:lstStyle/>
          <a:p>
            <a:endParaRPr/>
          </a:p>
        </p:txBody>
      </p:sp>
      <p:sp>
        <p:nvSpPr>
          <p:cNvPr id="10" name="r-0-0">
            <a:extLst>
              <a:ext uri="{FF2B5EF4-FFF2-40B4-BE49-F238E27FC236}">
                <a16:creationId xmlns:a16="http://schemas.microsoft.com/office/drawing/2014/main" id="{F140FD44-7550-44BB-A100-631B9C1A7995}"/>
              </a:ext>
            </a:extLst>
          </p:cNvPr>
          <p:cNvSpPr>
            <a:spLocks noGrp="1"/>
          </p:cNvSpPr>
          <p:nvPr/>
        </p:nvSpPr>
        <p:spPr>
          <a:xfrm>
            <a:off x="514350" y="21907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a:ext uri="{FF2B5EF4-FFF2-40B4-BE49-F238E27FC236}">
                <a16:creationId xmlns:a16="http://schemas.microsoft.com/office/drawing/2014/main" id="{69947E62-609A-4C56-AB12-57136D84ADAB}"/>
              </a:ext>
            </a:extLst>
          </p:cNvPr>
          <p:cNvSpPr>
            <a:spLocks noGrp="1"/>
          </p:cNvSpPr>
          <p:nvPr/>
        </p:nvSpPr>
        <p:spPr>
          <a:xfrm>
            <a:off x="3257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a:ext uri="{FF2B5EF4-FFF2-40B4-BE49-F238E27FC236}">
                <a16:creationId xmlns:a16="http://schemas.microsoft.com/office/drawing/2014/main" id="{F968D94E-CE6F-41E4-A4FE-80F9A7F95F3F}"/>
              </a:ext>
            </a:extLst>
          </p:cNvPr>
          <p:cNvSpPr>
            <a:spLocks noGrp="1"/>
          </p:cNvSpPr>
          <p:nvPr/>
        </p:nvSpPr>
        <p:spPr>
          <a:xfrm>
            <a:off x="5924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a:ext uri="{FF2B5EF4-FFF2-40B4-BE49-F238E27FC236}">
                <a16:creationId xmlns:a16="http://schemas.microsoft.com/office/drawing/2014/main" id="{92C753DD-7DDF-459D-8CE1-F818369A1C92}"/>
              </a:ext>
            </a:extLst>
          </p:cNvPr>
          <p:cNvSpPr>
            <a:spLocks noGrp="1"/>
          </p:cNvSpPr>
          <p:nvPr/>
        </p:nvSpPr>
        <p:spPr>
          <a:xfrm>
            <a:off x="8591550" y="21907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a:ext uri="{FF2B5EF4-FFF2-40B4-BE49-F238E27FC236}">
                <a16:creationId xmlns:a16="http://schemas.microsoft.com/office/drawing/2014/main" id="{AD90B26E-51DD-405B-9E82-885E2BF55853}"/>
              </a:ext>
            </a:extLst>
          </p:cNvPr>
          <p:cNvSpPr>
            <a:spLocks noGrp="1"/>
          </p:cNvSpPr>
          <p:nvPr/>
        </p:nvSpPr>
        <p:spPr>
          <a:xfrm>
            <a:off x="400050" y="2800350"/>
            <a:ext cx="11382375" cy="685800"/>
          </a:xfrm>
          <a:prstGeom prst="rect">
            <a:avLst/>
          </a:prstGeom>
          <a:solidFill>
            <a:srgbClr val="F8F0DC"/>
          </a:solidFill>
          <a:ln w="0">
            <a:noFill/>
            <a:prstDash val="solid"/>
          </a:ln>
        </p:spPr>
        <p:txBody>
          <a:bodyPr/>
          <a:lstStyle/>
          <a:p>
            <a:endParaRPr/>
          </a:p>
        </p:txBody>
      </p:sp>
      <p:sp>
        <p:nvSpPr>
          <p:cNvPr id="15" name="r-1-0">
            <a:extLst>
              <a:ext uri="{FF2B5EF4-FFF2-40B4-BE49-F238E27FC236}">
                <a16:creationId xmlns:a16="http://schemas.microsoft.com/office/drawing/2014/main" id="{B79D96E7-EAE8-4C61-B574-4D6B7BEFF2CD}"/>
              </a:ext>
            </a:extLst>
          </p:cNvPr>
          <p:cNvSpPr>
            <a:spLocks noGrp="1"/>
          </p:cNvSpPr>
          <p:nvPr/>
        </p:nvSpPr>
        <p:spPr>
          <a:xfrm>
            <a:off x="514350" y="29718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a:ext uri="{FF2B5EF4-FFF2-40B4-BE49-F238E27FC236}">
                <a16:creationId xmlns:a16="http://schemas.microsoft.com/office/drawing/2014/main" id="{2070CE7B-A0B8-4638-B5AB-5F5A33F980BE}"/>
              </a:ext>
            </a:extLst>
          </p:cNvPr>
          <p:cNvSpPr>
            <a:spLocks noGrp="1"/>
          </p:cNvSpPr>
          <p:nvPr/>
        </p:nvSpPr>
        <p:spPr>
          <a:xfrm>
            <a:off x="3257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a:ext uri="{FF2B5EF4-FFF2-40B4-BE49-F238E27FC236}">
                <a16:creationId xmlns:a16="http://schemas.microsoft.com/office/drawing/2014/main" id="{A0151F20-0BC1-4E87-B266-9F314DFF8407}"/>
              </a:ext>
            </a:extLst>
          </p:cNvPr>
          <p:cNvSpPr>
            <a:spLocks noGrp="1"/>
          </p:cNvSpPr>
          <p:nvPr/>
        </p:nvSpPr>
        <p:spPr>
          <a:xfrm>
            <a:off x="5924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a:ext uri="{FF2B5EF4-FFF2-40B4-BE49-F238E27FC236}">
                <a16:creationId xmlns:a16="http://schemas.microsoft.com/office/drawing/2014/main" id="{4361DE3A-FD66-4F40-BB59-75F92A75D394}"/>
              </a:ext>
            </a:extLst>
          </p:cNvPr>
          <p:cNvSpPr>
            <a:spLocks noGrp="1"/>
          </p:cNvSpPr>
          <p:nvPr/>
        </p:nvSpPr>
        <p:spPr>
          <a:xfrm>
            <a:off x="8591550" y="29718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a:ext uri="{FF2B5EF4-FFF2-40B4-BE49-F238E27FC236}">
                <a16:creationId xmlns:a16="http://schemas.microsoft.com/office/drawing/2014/main" id="{B9EEFB78-A0BF-4DFC-9935-F13B62DAA08D}"/>
              </a:ext>
            </a:extLst>
          </p:cNvPr>
          <p:cNvSpPr>
            <a:spLocks noGrp="1"/>
          </p:cNvSpPr>
          <p:nvPr/>
        </p:nvSpPr>
        <p:spPr>
          <a:xfrm>
            <a:off x="400050" y="3581400"/>
            <a:ext cx="11382375" cy="685800"/>
          </a:xfrm>
          <a:prstGeom prst="rect">
            <a:avLst/>
          </a:prstGeom>
          <a:solidFill>
            <a:srgbClr val="FFFFFF"/>
          </a:solidFill>
          <a:ln w="0">
            <a:noFill/>
            <a:prstDash val="solid"/>
          </a:ln>
        </p:spPr>
        <p:txBody>
          <a:bodyPr/>
          <a:lstStyle/>
          <a:p>
            <a:endParaRPr/>
          </a:p>
        </p:txBody>
      </p:sp>
      <p:sp>
        <p:nvSpPr>
          <p:cNvPr id="20" name="r-2-0">
            <a:extLst>
              <a:ext uri="{FF2B5EF4-FFF2-40B4-BE49-F238E27FC236}">
                <a16:creationId xmlns:a16="http://schemas.microsoft.com/office/drawing/2014/main" id="{CBA4918F-4962-461D-990C-7374EC20F5DE}"/>
              </a:ext>
            </a:extLst>
          </p:cNvPr>
          <p:cNvSpPr>
            <a:spLocks noGrp="1"/>
          </p:cNvSpPr>
          <p:nvPr/>
        </p:nvSpPr>
        <p:spPr>
          <a:xfrm>
            <a:off x="514350" y="37528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a:ext uri="{FF2B5EF4-FFF2-40B4-BE49-F238E27FC236}">
                <a16:creationId xmlns:a16="http://schemas.microsoft.com/office/drawing/2014/main" id="{CFE244B9-5EC2-43EB-8315-DAC438E2A6ED}"/>
              </a:ext>
            </a:extLst>
          </p:cNvPr>
          <p:cNvSpPr>
            <a:spLocks noGrp="1"/>
          </p:cNvSpPr>
          <p:nvPr/>
        </p:nvSpPr>
        <p:spPr>
          <a:xfrm>
            <a:off x="3257550" y="3752850"/>
            <a:ext cx="2381250" cy="419100"/>
          </a:xfrm>
          <a:prstGeom prst="rect">
            <a:avLst/>
          </a:prstGeom>
          <a:noFill/>
          <a:ln w="0">
            <a:noFill/>
            <a:prstDash val="solid"/>
          </a:ln>
        </p:spPr>
        <p:txBody>
          <a:bodyPr/>
          <a:lstStyle/>
          <a:p>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a:ext uri="{FF2B5EF4-FFF2-40B4-BE49-F238E27FC236}">
                <a16:creationId xmlns:a16="http://schemas.microsoft.com/office/drawing/2014/main" id="{2A65E781-8DE2-42DC-AC16-847FB2D6B878}"/>
              </a:ext>
            </a:extLst>
          </p:cNvPr>
          <p:cNvSpPr>
            <a:spLocks noGrp="1"/>
          </p:cNvSpPr>
          <p:nvPr/>
        </p:nvSpPr>
        <p:spPr>
          <a:xfrm>
            <a:off x="5924550" y="3752850"/>
            <a:ext cx="2381250" cy="419100"/>
          </a:xfrm>
          <a:prstGeom prst="rect">
            <a:avLst/>
          </a:prstGeom>
          <a:noFill/>
          <a:ln w="0">
            <a:noFill/>
            <a:prstDash val="solid"/>
          </a:ln>
        </p:spPr>
        <p:txBody>
          <a:bodyPr/>
          <a:lstStyle/>
          <a:p>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a:ext uri="{FF2B5EF4-FFF2-40B4-BE49-F238E27FC236}">
                <a16:creationId xmlns:a16="http://schemas.microsoft.com/office/drawing/2014/main" id="{C17336C7-4C93-4710-BECD-FAAD99398765}"/>
              </a:ext>
            </a:extLst>
          </p:cNvPr>
          <p:cNvSpPr>
            <a:spLocks noGrp="1"/>
          </p:cNvSpPr>
          <p:nvPr/>
        </p:nvSpPr>
        <p:spPr>
          <a:xfrm>
            <a:off x="8591550" y="37528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a:ext uri="{FF2B5EF4-FFF2-40B4-BE49-F238E27FC236}">
                <a16:creationId xmlns:a16="http://schemas.microsoft.com/office/drawing/2014/main" id="{149B31CF-71A2-4FF8-AB78-B5D6A360AEFE}"/>
              </a:ext>
            </a:extLst>
          </p:cNvPr>
          <p:cNvSpPr>
            <a:spLocks noGrp="1"/>
          </p:cNvSpPr>
          <p:nvPr/>
        </p:nvSpPr>
        <p:spPr>
          <a:xfrm>
            <a:off x="400050" y="4362450"/>
            <a:ext cx="11382375" cy="685800"/>
          </a:xfrm>
          <a:prstGeom prst="rect">
            <a:avLst/>
          </a:prstGeom>
          <a:solidFill>
            <a:srgbClr val="F8F0DC"/>
          </a:solidFill>
          <a:ln w="0">
            <a:noFill/>
            <a:prstDash val="solid"/>
          </a:ln>
        </p:spPr>
        <p:txBody>
          <a:bodyPr/>
          <a:lstStyle/>
          <a:p>
            <a:endParaRPr/>
          </a:p>
        </p:txBody>
      </p:sp>
      <p:sp>
        <p:nvSpPr>
          <p:cNvPr id="25" name="r-3-0">
            <a:extLst>
              <a:ext uri="{FF2B5EF4-FFF2-40B4-BE49-F238E27FC236}">
                <a16:creationId xmlns:a16="http://schemas.microsoft.com/office/drawing/2014/main" id="{1850F043-1703-4EEE-9597-C37E806A93BE}"/>
              </a:ext>
            </a:extLst>
          </p:cNvPr>
          <p:cNvSpPr>
            <a:spLocks noGrp="1"/>
          </p:cNvSpPr>
          <p:nvPr/>
        </p:nvSpPr>
        <p:spPr>
          <a:xfrm>
            <a:off x="514350" y="45339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a:ext uri="{FF2B5EF4-FFF2-40B4-BE49-F238E27FC236}">
                <a16:creationId xmlns:a16="http://schemas.microsoft.com/office/drawing/2014/main" id="{42CE8B97-1A19-4B4F-954C-3810DB565543}"/>
              </a:ext>
            </a:extLst>
          </p:cNvPr>
          <p:cNvSpPr>
            <a:spLocks noGrp="1"/>
          </p:cNvSpPr>
          <p:nvPr/>
        </p:nvSpPr>
        <p:spPr>
          <a:xfrm>
            <a:off x="3257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a:ext uri="{FF2B5EF4-FFF2-40B4-BE49-F238E27FC236}">
                <a16:creationId xmlns:a16="http://schemas.microsoft.com/office/drawing/2014/main" id="{F728B140-4FF8-4712-877E-652E50CB8509}"/>
              </a:ext>
            </a:extLst>
          </p:cNvPr>
          <p:cNvSpPr>
            <a:spLocks noGrp="1"/>
          </p:cNvSpPr>
          <p:nvPr/>
        </p:nvSpPr>
        <p:spPr>
          <a:xfrm>
            <a:off x="5924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a:ext uri="{FF2B5EF4-FFF2-40B4-BE49-F238E27FC236}">
                <a16:creationId xmlns:a16="http://schemas.microsoft.com/office/drawing/2014/main" id="{53934A3A-C4F7-482E-8A86-C96AFC2BF566}"/>
              </a:ext>
            </a:extLst>
          </p:cNvPr>
          <p:cNvSpPr>
            <a:spLocks noGrp="1"/>
          </p:cNvSpPr>
          <p:nvPr/>
        </p:nvSpPr>
        <p:spPr>
          <a:xfrm>
            <a:off x="8591550" y="45339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a:ext uri="{FF2B5EF4-FFF2-40B4-BE49-F238E27FC236}">
                <a16:creationId xmlns:a16="http://schemas.microsoft.com/office/drawing/2014/main" id="{D7BA6A65-E54F-4643-BE9A-A1EA1174A6D3}"/>
              </a:ext>
            </a:extLst>
          </p:cNvPr>
          <p:cNvSpPr>
            <a:spLocks noGrp="1"/>
          </p:cNvSpPr>
          <p:nvPr/>
        </p:nvSpPr>
        <p:spPr>
          <a:xfrm>
            <a:off x="400050" y="5476875"/>
            <a:ext cx="11382375" cy="523875"/>
          </a:xfrm>
          <a:prstGeom prst="rect">
            <a:avLst/>
          </a:prstGeom>
          <a:solidFill>
            <a:srgbClr val="F7EAF0"/>
          </a:solidFill>
          <a:ln w="0">
            <a:noFill/>
            <a:prstDash val="solid"/>
          </a:ln>
        </p:spPr>
        <p:txBody>
          <a:bodyPr/>
          <a:lstStyle/>
          <a:p>
            <a:endParaRPr/>
          </a:p>
        </p:txBody>
      </p:sp>
      <p:sp>
        <p:nvSpPr>
          <p:cNvPr id="30" name="take-stripe">
            <a:extLst>
              <a:ext uri="{FF2B5EF4-FFF2-40B4-BE49-F238E27FC236}">
                <a16:creationId xmlns:a16="http://schemas.microsoft.com/office/drawing/2014/main" id="{A101D9D0-1E0A-448C-A87C-29455B4E7329}"/>
              </a:ext>
            </a:extLst>
          </p:cNvPr>
          <p:cNvSpPr>
            <a:spLocks noGrp="1"/>
          </p:cNvSpPr>
          <p:nvPr/>
        </p:nvSpPr>
        <p:spPr>
          <a:xfrm>
            <a:off x="400050" y="5476875"/>
            <a:ext cx="76200" cy="523875"/>
          </a:xfrm>
          <a:prstGeom prst="rect">
            <a:avLst/>
          </a:prstGeom>
          <a:solidFill>
            <a:srgbClr val="7B1E3A"/>
          </a:solidFill>
          <a:ln w="0">
            <a:noFill/>
            <a:prstDash val="solid"/>
          </a:ln>
        </p:spPr>
        <p:txBody>
          <a:bodyPr/>
          <a:lstStyle/>
          <a:p>
            <a:endParaRPr/>
          </a:p>
        </p:txBody>
      </p:sp>
      <p:sp>
        <p:nvSpPr>
          <p:cNvPr id="31" name="take-text">
            <a:extLst>
              <a:ext uri="{FF2B5EF4-FFF2-40B4-BE49-F238E27FC236}">
                <a16:creationId xmlns:a16="http://schemas.microsoft.com/office/drawing/2014/main" id="{418DE756-0222-44F5-B126-B98777D1131C}"/>
              </a:ext>
            </a:extLst>
          </p:cNvPr>
          <p:cNvSpPr>
            <a:spLocks noGrp="1"/>
          </p:cNvSpPr>
          <p:nvPr/>
        </p:nvSpPr>
        <p:spPr>
          <a:xfrm>
            <a:off x="762000" y="5657850"/>
            <a:ext cx="10477500" cy="228600"/>
          </a:xfrm>
          <a:prstGeom prst="rect">
            <a:avLst/>
          </a:prstGeom>
          <a:noFill/>
          <a:ln w="0">
            <a:noFill/>
            <a:prstDash val="solid"/>
          </a:ln>
        </p:spPr>
        <p:txBody>
          <a:bodyPr/>
          <a:lstStyle/>
          <a:p>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a:ext uri="{FF2B5EF4-FFF2-40B4-BE49-F238E27FC236}">
                <a16:creationId xmlns:a16="http://schemas.microsoft.com/office/drawing/2014/main" id="{4552FD98-5C73-4575-966D-7D9E8972FDDC}"/>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a:ext uri="{FF2B5EF4-FFF2-40B4-BE49-F238E27FC236}">
                <a16:creationId xmlns:a16="http://schemas.microsoft.com/office/drawing/2014/main" id="{7019ED51-AB7D-445F-8FBD-A3C1D50F50FF}"/>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4" name="slide-number-22">
            <a:extLst>
              <a:ext uri="{FF2B5EF4-FFF2-40B4-BE49-F238E27FC236}">
                <a16:creationId xmlns:a16="http://schemas.microsoft.com/office/drawing/2014/main" id="{369E5D33-C173-48F0-AE50-A325FF1CAA44}"/>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286671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D3A9D8-2B56-4753-8A80-371D5A1949ED}"/>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Why CarenR: rules you can question</a:t>
            </a:r>
          </a:p>
        </p:txBody>
      </p:sp>
      <p:sp>
        <p:nvSpPr>
          <p:cNvPr id="3" name="Shape 1">
            <a:extLst>
              <a:ext uri="{FF2B5EF4-FFF2-40B4-BE49-F238E27FC236}">
                <a16:creationId xmlns:a16="http://schemas.microsoft.com/office/drawing/2014/main" id="{E3D316B6-0736-40C3-AFB8-5B9FB945A85C}"/>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FC2237E5-CF9A-4EAC-988D-BD7ADA2CFAAD}"/>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E5761D87-D22F-4F31-8376-882D26E2A44E}"/>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A0401CB8-5530-41B1-BFF3-AA3AA5A7D0C6}"/>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C1DB5471-F140-4AF4-B911-D2F74A799D2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97DED574-1274-4412-B4D6-0B4CB1964AB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noChangeAspect="1"/>
          </p:cNvPicPr>
          <p:nvPr/>
        </p:nvPicPr>
        <p:blipFill>
          <a:blip r:embed="rId3"/>
          <a:stretch>
            <a:fillRect/>
          </a:stretch>
        </p:blipFill>
        <p:spPr>
          <a:xfrm>
            <a:off x="548640" y="2194560"/>
            <a:ext cx="6126480" cy="3557770"/>
          </a:xfrm>
          <a:prstGeom prst="rect">
            <a:avLst/>
          </a:prstGeom>
        </p:spPr>
      </p:pic>
      <p:sp>
        <p:nvSpPr>
          <p:cNvPr id="10" name="Text 7">
            <a:extLst>
              <a:ext uri="{FF2B5EF4-FFF2-40B4-BE49-F238E27FC236}">
                <a16:creationId xmlns:a16="http://schemas.microsoft.com/office/drawing/2014/main" id="{70498726-A75A-426C-9916-CBD482FF3B6A}"/>
              </a:ext>
            </a:extLst>
          </p:cNvPr>
          <p:cNvSpPr>
            <a:spLocks noGrp="1"/>
          </p:cNvSpPr>
          <p:nvPr/>
        </p:nvSpPr>
        <p:spPr>
          <a:xfrm>
            <a:off x="548640" y="1600200"/>
            <a:ext cx="6309360" cy="54864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a:ext uri="{FF2B5EF4-FFF2-40B4-BE49-F238E27FC236}">
                <a16:creationId xmlns:a16="http://schemas.microsoft.com/office/drawing/2014/main" id="{A1C1FD51-7682-4FAB-AA09-44A1D0C4D19C}"/>
              </a:ext>
            </a:extLst>
          </p:cNvPr>
          <p:cNvSpPr>
            <a:spLocks noGrp="1"/>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207D4F3-E927-4462-83F0-EA4742EA717D}"/>
              </a:ext>
            </a:extLst>
          </p:cNvPr>
          <p:cNvSpPr>
            <a:spLocks noGrp="1"/>
          </p:cNvSpPr>
          <p:nvPr/>
        </p:nvSpPr>
        <p:spPr>
          <a:xfrm>
            <a:off x="7269480" y="1920240"/>
            <a:ext cx="4206240" cy="274320"/>
          </a:xfrm>
          <a:prstGeom prst="rect">
            <a:avLst/>
          </a:prstGeom>
          <a:noFill/>
        </p:spPr>
        <p:txBody>
          <a:bodyPr wrap="square" lIns="0" tIns="0" rIns="0" bIns="0" anchor="ctr"/>
          <a:lstStyle/>
          <a:p>
            <a:pPr marL="0" indent="0">
              <a:buNone/>
            </a:pPr>
            <a:r>
              <a:rPr sz="1100" b="1">
                <a:solidFill>
                  <a:srgbClr val="C89B3C"/>
                </a:solidFill>
                <a:latin typeface="Calibri"/>
                <a:ea typeface="Calibri"/>
                <a:cs typeface="Calibri"/>
              </a:rPr>
              <a:t>A RULE YOU CAN AUDIT</a:t>
            </a:r>
          </a:p>
        </p:txBody>
      </p:sp>
      <p:sp>
        <p:nvSpPr>
          <p:cNvPr id="13" name="Text 10">
            <a:extLst>
              <a:ext uri="{FF2B5EF4-FFF2-40B4-BE49-F238E27FC236}">
                <a16:creationId xmlns:a16="http://schemas.microsoft.com/office/drawing/2014/main" id="{CEF66F1A-1A91-4DE8-8126-2663B85905B0}"/>
              </a:ext>
            </a:extLst>
          </p:cNvPr>
          <p:cNvSpPr>
            <a:spLocks noGrp="1"/>
          </p:cNvSpPr>
          <p:nvPr/>
        </p:nvSpPr>
        <p:spPr>
          <a:xfrm>
            <a:off x="7269480" y="2240280"/>
            <a:ext cx="4160520" cy="1005840"/>
          </a:xfrm>
          <a:prstGeom prst="rect">
            <a:avLst/>
          </a:prstGeom>
          <a:noFill/>
        </p:spPr>
        <p:txBody>
          <a:bodyPr wrap="square" lIns="0" tIns="0" rIns="0" bIns="0" anchor="ctr"/>
          <a:lstStyle/>
          <a:p>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a:pPr marL="0" indent="0">
              <a:buNone/>
            </a:pPr>
            <a:r>
              <a:rPr sz="1500" b="1">
                <a:solidFill>
                  <a:srgbClr val="6D2E46"/>
                </a:solidFill>
                <a:latin typeface="Calibri"/>
                <a:ea typeface="Calibri"/>
                <a:cs typeface="Calibri"/>
              </a:rPr>
              <a:t>THEN </a:t>
            </a:r>
          </a:p>
          <a:p>
            <a:pPr marL="0" indent="0">
              <a:buNone/>
            </a:pPr>
            <a:r>
              <a:rPr sz="1500" b="1">
                <a:solidFill>
                  <a:srgbClr val="5E7148"/>
                </a:solidFill>
                <a:latin typeface="Calibri"/>
                <a:ea typeface="Calibri"/>
                <a:cs typeface="Calibri"/>
              </a:rPr>
              <a:t>+121 mhl above trend</a:t>
            </a:r>
          </a:p>
        </p:txBody>
      </p:sp>
      <p:sp>
        <p:nvSpPr>
          <p:cNvPr id="14" name="Text 11">
            <a:extLst>
              <a:ext uri="{FF2B5EF4-FFF2-40B4-BE49-F238E27FC236}">
                <a16:creationId xmlns:a16="http://schemas.microsoft.com/office/drawing/2014/main" id="{4411707F-A3B3-47B5-9B34-7BFD0B4EF4AE}"/>
              </a:ext>
            </a:extLst>
          </p:cNvPr>
          <p:cNvSpPr>
            <a:spLocks noGrp="1"/>
          </p:cNvSpPr>
          <p:nvPr/>
        </p:nvSpPr>
        <p:spPr>
          <a:xfrm>
            <a:off x="7269480" y="3337560"/>
            <a:ext cx="4160520" cy="3657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support 28%   ·   p = 0.004</a:t>
            </a:r>
          </a:p>
        </p:txBody>
      </p:sp>
      <p:sp>
        <p:nvSpPr>
          <p:cNvPr id="15" name="Text 12">
            <a:extLst>
              <a:ext uri="{FF2B5EF4-FFF2-40B4-BE49-F238E27FC236}">
                <a16:creationId xmlns:a16="http://schemas.microsoft.com/office/drawing/2014/main" id="{D5C4C1FE-F87A-4B3D-B639-17E72500DE1C}"/>
              </a:ext>
            </a:extLst>
          </p:cNvPr>
          <p:cNvSpPr>
            <a:spLocks noGrp="1"/>
          </p:cNvSpPr>
          <p:nvPr/>
        </p:nvSpPr>
        <p:spPr>
          <a:xfrm>
            <a:off x="7178040" y="4114800"/>
            <a:ext cx="4480560" cy="2011680"/>
          </a:xfrm>
          <a:prstGeom prst="rect">
            <a:avLst/>
          </a:prstGeom>
          <a:noFill/>
        </p:spPr>
        <p:txBody>
          <a:bodyPr wrap="square" lIns="0" tIns="0" rIns="0" bIns="0" anchor="ctr"/>
          <a:lstStyle/>
          <a:p>
            <a:pPr marL="342900" indent="-342900">
              <a:spcAft>
                <a:spcPts val="800"/>
              </a:spcAft>
              <a:buChar char="•"/>
            </a:pPr>
            <a:r>
              <a:rPr sz="1400">
                <a:solidFill>
                  <a:srgbClr val="2B2320"/>
                </a:solidFill>
                <a:latin typeface="Calibri"/>
                <a:ea typeface="Calibri"/>
                <a:cs typeface="Calibri"/>
              </a:rPr>
              <a:t>Falsifiable — an agronomist can challenge it.</a:t>
            </a:r>
          </a:p>
          <a:p>
            <a:pPr marL="342900" indent="-342900">
              <a:spcAft>
                <a:spcPts val="800"/>
              </a:spcAft>
              <a:buChar char="•"/>
            </a:pPr>
            <a:r>
              <a:rPr sz="1400">
                <a:solidFill>
                  <a:srgbClr val="2B2320"/>
                </a:solidFill>
                <a:latin typeface="Calibri"/>
                <a:ea typeface="Calibri"/>
                <a:cs typeface="Calibri"/>
              </a:rPr>
              <a:t>Carries its own support and p-value.</a:t>
            </a:r>
          </a:p>
          <a:p>
            <a:pPr marL="342900" indent="-342900">
              <a:spcAft>
                <a:spcPts val="800"/>
              </a:spcAft>
              <a:buChar char="•"/>
            </a:pPr>
            <a:r>
              <a:rPr sz="1400">
                <a:solidFill>
                  <a:srgbClr val="2B2320"/>
                </a:solidFill>
                <a:latin typeface="Calibri"/>
                <a:ea typeface="Calibri"/>
                <a:cs typeface="Calibri"/>
              </a:rPr>
              <a:t>Black box + SHAP only approximates influence.</a:t>
            </a:r>
          </a:p>
          <a:p>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a:ext uri="{FF2B5EF4-FFF2-40B4-BE49-F238E27FC236}">
                <a16:creationId xmlns:a16="http://schemas.microsoft.com/office/drawing/2014/main" id="{5BCCC1FF-96F2-4408-95EF-1A0685BF642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100924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white-background">
            <a:extLst>
              <a:ext uri="{FF2B5EF4-FFF2-40B4-BE49-F238E27FC236}">
                <a16:creationId xmlns:a16="http://schemas.microsoft.com/office/drawing/2014/main" id="{8C9BCDD3-A7DC-4633-BD84-30CBE382DA4F}"/>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228F560-AD04-4FB8-803B-A64A916B83A2}"/>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a:ext uri="{FF2B5EF4-FFF2-40B4-BE49-F238E27FC236}">
                <a16:creationId xmlns:a16="http://schemas.microsoft.com/office/drawing/2014/main" id="{D57B864B-4338-4362-A0E5-14C39CE708A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a:ext uri="{FF2B5EF4-FFF2-40B4-BE49-F238E27FC236}">
                <a16:creationId xmlns:a16="http://schemas.microsoft.com/office/drawing/2014/main" id="{81F17B66-5EDD-4A4B-8116-D6E1A016BBEF}"/>
              </a:ext>
            </a:extLst>
          </p:cNvPr>
          <p:cNvSpPr>
            <a:spLocks noGrp="1"/>
          </p:cNvSpPr>
          <p:nvPr/>
        </p:nvSpPr>
        <p:spPr>
          <a:xfrm>
            <a:off x="400050" y="1504950"/>
            <a:ext cx="5476875" cy="2857500"/>
          </a:xfrm>
          <a:prstGeom prst="rect">
            <a:avLst/>
          </a:prstGeom>
          <a:solidFill>
            <a:srgbClr val="FFFFFF"/>
          </a:solidFill>
          <a:ln w="9525">
            <a:solidFill>
              <a:srgbClr val="D6D0CB"/>
            </a:solidFill>
            <a:prstDash val="solid"/>
          </a:ln>
        </p:spPr>
        <p:txBody>
          <a:bodyPr/>
          <a:lstStyle/>
          <a:p>
            <a:endParaRPr/>
          </a:p>
        </p:txBody>
      </p:sp>
      <p:sp>
        <p:nvSpPr>
          <p:cNvPr id="5" name="table-head">
            <a:extLst>
              <a:ext uri="{FF2B5EF4-FFF2-40B4-BE49-F238E27FC236}">
                <a16:creationId xmlns:a16="http://schemas.microsoft.com/office/drawing/2014/main" id="{0A2B8045-7B78-4111-AF30-091C04EF6179}"/>
              </a:ext>
            </a:extLst>
          </p:cNvPr>
          <p:cNvSpPr>
            <a:spLocks noGrp="1"/>
          </p:cNvSpPr>
          <p:nvPr/>
        </p:nvSpPr>
        <p:spPr>
          <a:xfrm>
            <a:off x="400050" y="1504950"/>
            <a:ext cx="5476875" cy="533400"/>
          </a:xfrm>
          <a:prstGeom prst="rect">
            <a:avLst/>
          </a:prstGeom>
          <a:solidFill>
            <a:srgbClr val="7B1E3A"/>
          </a:solidFill>
          <a:ln w="0">
            <a:noFill/>
            <a:prstDash val="solid"/>
          </a:ln>
        </p:spPr>
        <p:txBody>
          <a:bodyPr/>
          <a:lstStyle/>
          <a:p>
            <a:endParaRPr/>
          </a:p>
        </p:txBody>
      </p:sp>
      <p:sp>
        <p:nvSpPr>
          <p:cNvPr id="6" name="h1">
            <a:extLst>
              <a:ext uri="{FF2B5EF4-FFF2-40B4-BE49-F238E27FC236}">
                <a16:creationId xmlns:a16="http://schemas.microsoft.com/office/drawing/2014/main" id="{E808ACAB-8B84-417E-A047-57069314D11E}"/>
              </a:ext>
            </a:extLst>
          </p:cNvPr>
          <p:cNvSpPr>
            <a:spLocks noGrp="1"/>
          </p:cNvSpPr>
          <p:nvPr/>
        </p:nvSpPr>
        <p:spPr>
          <a:xfrm>
            <a:off x="590550" y="1676400"/>
            <a:ext cx="1714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a:ext uri="{FF2B5EF4-FFF2-40B4-BE49-F238E27FC236}">
                <a16:creationId xmlns:a16="http://schemas.microsoft.com/office/drawing/2014/main" id="{8E10EB11-3A19-412E-80A7-5EF61C7816AA}"/>
              </a:ext>
            </a:extLst>
          </p:cNvPr>
          <p:cNvSpPr>
            <a:spLocks noGrp="1"/>
          </p:cNvSpPr>
          <p:nvPr/>
        </p:nvSpPr>
        <p:spPr>
          <a:xfrm>
            <a:off x="2857500" y="1676400"/>
            <a:ext cx="114300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a:ext uri="{FF2B5EF4-FFF2-40B4-BE49-F238E27FC236}">
                <a16:creationId xmlns:a16="http://schemas.microsoft.com/office/drawing/2014/main" id="{518E3B22-2D16-435C-BB74-64DE95395398}"/>
              </a:ext>
            </a:extLst>
          </p:cNvPr>
          <p:cNvSpPr>
            <a:spLocks noGrp="1"/>
          </p:cNvSpPr>
          <p:nvPr/>
        </p:nvSpPr>
        <p:spPr>
          <a:xfrm>
            <a:off x="4400550" y="1676400"/>
            <a:ext cx="123825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a:ext uri="{FF2B5EF4-FFF2-40B4-BE49-F238E27FC236}">
                <a16:creationId xmlns:a16="http://schemas.microsoft.com/office/drawing/2014/main" id="{177B6536-D334-4103-ABFD-07301725BD96}"/>
              </a:ext>
            </a:extLst>
          </p:cNvPr>
          <p:cNvSpPr>
            <a:spLocks noGrp="1"/>
          </p:cNvSpPr>
          <p:nvPr/>
        </p:nvSpPr>
        <p:spPr>
          <a:xfrm>
            <a:off x="590550" y="21336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a:ext uri="{FF2B5EF4-FFF2-40B4-BE49-F238E27FC236}">
                <a16:creationId xmlns:a16="http://schemas.microsoft.com/office/drawing/2014/main" id="{2DFA51DC-57BD-4E46-96DF-DCBB18B87057}"/>
              </a:ext>
            </a:extLst>
          </p:cNvPr>
          <p:cNvSpPr>
            <a:spLocks noGrp="1"/>
          </p:cNvSpPr>
          <p:nvPr/>
        </p:nvSpPr>
        <p:spPr>
          <a:xfrm>
            <a:off x="2857500" y="21336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a:ext uri="{FF2B5EF4-FFF2-40B4-BE49-F238E27FC236}">
                <a16:creationId xmlns:a16="http://schemas.microsoft.com/office/drawing/2014/main" id="{92002C57-F7AD-409F-B064-98DB4B3204FE}"/>
              </a:ext>
            </a:extLst>
          </p:cNvPr>
          <p:cNvSpPr>
            <a:spLocks noGrp="1"/>
          </p:cNvSpPr>
          <p:nvPr/>
        </p:nvSpPr>
        <p:spPr>
          <a:xfrm>
            <a:off x="4400550" y="21336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a:ext uri="{FF2B5EF4-FFF2-40B4-BE49-F238E27FC236}">
                <a16:creationId xmlns:a16="http://schemas.microsoft.com/office/drawing/2014/main" id="{B95781D4-A81B-4527-8246-D1D3822D79EB}"/>
              </a:ext>
            </a:extLst>
          </p:cNvPr>
          <p:cNvSpPr>
            <a:spLocks noGrp="1"/>
          </p:cNvSpPr>
          <p:nvPr/>
        </p:nvSpPr>
        <p:spPr>
          <a:xfrm>
            <a:off x="400050" y="2533650"/>
            <a:ext cx="5476875" cy="438150"/>
          </a:xfrm>
          <a:prstGeom prst="rect">
            <a:avLst/>
          </a:prstGeom>
          <a:solidFill>
            <a:srgbClr val="F8F0DC"/>
          </a:solidFill>
          <a:ln w="0">
            <a:noFill/>
            <a:prstDash val="solid"/>
          </a:ln>
        </p:spPr>
        <p:txBody>
          <a:bodyPr/>
          <a:lstStyle/>
          <a:p>
            <a:endParaRPr/>
          </a:p>
        </p:txBody>
      </p:sp>
      <p:sp>
        <p:nvSpPr>
          <p:cNvPr id="13" name="r1c0">
            <a:extLst>
              <a:ext uri="{FF2B5EF4-FFF2-40B4-BE49-F238E27FC236}">
                <a16:creationId xmlns:a16="http://schemas.microsoft.com/office/drawing/2014/main" id="{1E50B542-FFEB-4FDD-8CF8-E58C428C17A3}"/>
              </a:ext>
            </a:extLst>
          </p:cNvPr>
          <p:cNvSpPr>
            <a:spLocks noGrp="1"/>
          </p:cNvSpPr>
          <p:nvPr/>
        </p:nvSpPr>
        <p:spPr>
          <a:xfrm>
            <a:off x="590550" y="257175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a:ext uri="{FF2B5EF4-FFF2-40B4-BE49-F238E27FC236}">
                <a16:creationId xmlns:a16="http://schemas.microsoft.com/office/drawing/2014/main" id="{44E13370-C42C-4ABB-AD39-44375914DE47}"/>
              </a:ext>
            </a:extLst>
          </p:cNvPr>
          <p:cNvSpPr>
            <a:spLocks noGrp="1"/>
          </p:cNvSpPr>
          <p:nvPr/>
        </p:nvSpPr>
        <p:spPr>
          <a:xfrm>
            <a:off x="2857500" y="25717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a:ext uri="{FF2B5EF4-FFF2-40B4-BE49-F238E27FC236}">
                <a16:creationId xmlns:a16="http://schemas.microsoft.com/office/drawing/2014/main" id="{96335220-FDFE-44C6-B73F-48AE7350B2FA}"/>
              </a:ext>
            </a:extLst>
          </p:cNvPr>
          <p:cNvSpPr>
            <a:spLocks noGrp="1"/>
          </p:cNvSpPr>
          <p:nvPr/>
        </p:nvSpPr>
        <p:spPr>
          <a:xfrm>
            <a:off x="4400550" y="25717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a:ext uri="{FF2B5EF4-FFF2-40B4-BE49-F238E27FC236}">
                <a16:creationId xmlns:a16="http://schemas.microsoft.com/office/drawing/2014/main" id="{027D89FC-AB28-4C8D-9757-336439C692ED}"/>
              </a:ext>
            </a:extLst>
          </p:cNvPr>
          <p:cNvSpPr>
            <a:spLocks noGrp="1"/>
          </p:cNvSpPr>
          <p:nvPr/>
        </p:nvSpPr>
        <p:spPr>
          <a:xfrm>
            <a:off x="590550" y="30099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a:ext uri="{FF2B5EF4-FFF2-40B4-BE49-F238E27FC236}">
                <a16:creationId xmlns:a16="http://schemas.microsoft.com/office/drawing/2014/main" id="{6CEE5324-01F0-45FB-83B0-40F39D3E3CE7}"/>
              </a:ext>
            </a:extLst>
          </p:cNvPr>
          <p:cNvSpPr>
            <a:spLocks noGrp="1"/>
          </p:cNvSpPr>
          <p:nvPr/>
        </p:nvSpPr>
        <p:spPr>
          <a:xfrm>
            <a:off x="2857500" y="30099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a:ext uri="{FF2B5EF4-FFF2-40B4-BE49-F238E27FC236}">
                <a16:creationId xmlns:a16="http://schemas.microsoft.com/office/drawing/2014/main" id="{0EF2059F-E6A1-48C4-82B5-734B6617D594}"/>
              </a:ext>
            </a:extLst>
          </p:cNvPr>
          <p:cNvSpPr>
            <a:spLocks noGrp="1"/>
          </p:cNvSpPr>
          <p:nvPr/>
        </p:nvSpPr>
        <p:spPr>
          <a:xfrm>
            <a:off x="4400550" y="30099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a:ext uri="{FF2B5EF4-FFF2-40B4-BE49-F238E27FC236}">
                <a16:creationId xmlns:a16="http://schemas.microsoft.com/office/drawing/2014/main" id="{CA5EDB08-6E0E-43F2-AE82-01D7480CE191}"/>
              </a:ext>
            </a:extLst>
          </p:cNvPr>
          <p:cNvSpPr>
            <a:spLocks noGrp="1"/>
          </p:cNvSpPr>
          <p:nvPr/>
        </p:nvSpPr>
        <p:spPr>
          <a:xfrm>
            <a:off x="400050" y="3409950"/>
            <a:ext cx="5476875" cy="438150"/>
          </a:xfrm>
          <a:prstGeom prst="rect">
            <a:avLst/>
          </a:prstGeom>
          <a:solidFill>
            <a:srgbClr val="F8F0DC"/>
          </a:solidFill>
          <a:ln w="0">
            <a:noFill/>
            <a:prstDash val="solid"/>
          </a:ln>
        </p:spPr>
        <p:txBody>
          <a:bodyPr/>
          <a:lstStyle/>
          <a:p>
            <a:endParaRPr/>
          </a:p>
        </p:txBody>
      </p:sp>
      <p:sp>
        <p:nvSpPr>
          <p:cNvPr id="20" name="r3c0">
            <a:extLst>
              <a:ext uri="{FF2B5EF4-FFF2-40B4-BE49-F238E27FC236}">
                <a16:creationId xmlns:a16="http://schemas.microsoft.com/office/drawing/2014/main" id="{BD9F7688-9DDA-4297-99C0-DFF4175D6106}"/>
              </a:ext>
            </a:extLst>
          </p:cNvPr>
          <p:cNvSpPr>
            <a:spLocks noGrp="1"/>
          </p:cNvSpPr>
          <p:nvPr/>
        </p:nvSpPr>
        <p:spPr>
          <a:xfrm>
            <a:off x="590550" y="3448050"/>
            <a:ext cx="1714500" cy="333375"/>
          </a:xfrm>
          <a:prstGeom prst="rect">
            <a:avLst/>
          </a:prstGeom>
          <a:noFill/>
          <a:ln w="0">
            <a:noFill/>
            <a:prstDash val="solid"/>
          </a:ln>
        </p:spPr>
        <p:txBody>
          <a:bodyPr/>
          <a:lstStyle/>
          <a:p>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a:ext uri="{FF2B5EF4-FFF2-40B4-BE49-F238E27FC236}">
                <a16:creationId xmlns:a16="http://schemas.microsoft.com/office/drawing/2014/main" id="{C133C7B0-35BE-4AF9-99A3-C28559E402E0}"/>
              </a:ext>
            </a:extLst>
          </p:cNvPr>
          <p:cNvSpPr>
            <a:spLocks noGrp="1"/>
          </p:cNvSpPr>
          <p:nvPr/>
        </p:nvSpPr>
        <p:spPr>
          <a:xfrm>
            <a:off x="2857500" y="34480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a:ext uri="{FF2B5EF4-FFF2-40B4-BE49-F238E27FC236}">
                <a16:creationId xmlns:a16="http://schemas.microsoft.com/office/drawing/2014/main" id="{93A27768-8C1B-4744-B326-91CFCDDBB314}"/>
              </a:ext>
            </a:extLst>
          </p:cNvPr>
          <p:cNvSpPr>
            <a:spLocks noGrp="1"/>
          </p:cNvSpPr>
          <p:nvPr/>
        </p:nvSpPr>
        <p:spPr>
          <a:xfrm>
            <a:off x="4400550" y="34480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a:ext uri="{FF2B5EF4-FFF2-40B4-BE49-F238E27FC236}">
                <a16:creationId xmlns:a16="http://schemas.microsoft.com/office/drawing/2014/main" id="{EB7CB1F5-1801-4AF9-8EED-46479601A0D3}"/>
              </a:ext>
            </a:extLst>
          </p:cNvPr>
          <p:cNvSpPr>
            <a:spLocks noGrp="1"/>
          </p:cNvSpPr>
          <p:nvPr/>
        </p:nvSpPr>
        <p:spPr>
          <a:xfrm>
            <a:off x="590550" y="38862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a:ext uri="{FF2B5EF4-FFF2-40B4-BE49-F238E27FC236}">
                <a16:creationId xmlns:a16="http://schemas.microsoft.com/office/drawing/2014/main" id="{4AF64445-B578-4C7A-B3E3-421E98335E78}"/>
              </a:ext>
            </a:extLst>
          </p:cNvPr>
          <p:cNvSpPr>
            <a:spLocks noGrp="1"/>
          </p:cNvSpPr>
          <p:nvPr/>
        </p:nvSpPr>
        <p:spPr>
          <a:xfrm>
            <a:off x="2857500" y="38862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a:ext uri="{FF2B5EF4-FFF2-40B4-BE49-F238E27FC236}">
                <a16:creationId xmlns:a16="http://schemas.microsoft.com/office/drawing/2014/main" id="{948CFE70-F26B-44C7-A63E-48701774D477}"/>
              </a:ext>
            </a:extLst>
          </p:cNvPr>
          <p:cNvSpPr>
            <a:spLocks noGrp="1"/>
          </p:cNvSpPr>
          <p:nvPr/>
        </p:nvSpPr>
        <p:spPr>
          <a:xfrm>
            <a:off x="4400550" y="38862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a:ext uri="{FF2B5EF4-FFF2-40B4-BE49-F238E27FC236}">
                <a16:creationId xmlns:a16="http://schemas.microsoft.com/office/drawing/2014/main" id="{95D017DF-C509-4284-B600-E86885EA47D9}"/>
              </a:ext>
            </a:extLst>
          </p:cNvPr>
          <p:cNvSpPr>
            <a:spLocks noGrp="1"/>
          </p:cNvSpPr>
          <p:nvPr/>
        </p:nvSpPr>
        <p:spPr>
          <a:xfrm>
            <a:off x="6305550" y="1504950"/>
            <a:ext cx="5476875" cy="1143000"/>
          </a:xfrm>
          <a:prstGeom prst="rect">
            <a:avLst/>
          </a:prstGeom>
          <a:solidFill>
            <a:srgbClr val="F8F0DC"/>
          </a:solidFill>
          <a:ln w="0">
            <a:noFill/>
            <a:prstDash val="solid"/>
          </a:ln>
        </p:spPr>
        <p:txBody>
          <a:bodyPr/>
          <a:lstStyle/>
          <a:p>
            <a:endParaRPr/>
          </a:p>
        </p:txBody>
      </p:sp>
      <p:sp>
        <p:nvSpPr>
          <p:cNvPr id="27" name="features-stripe">
            <a:extLst>
              <a:ext uri="{FF2B5EF4-FFF2-40B4-BE49-F238E27FC236}">
                <a16:creationId xmlns:a16="http://schemas.microsoft.com/office/drawing/2014/main" id="{67909127-005D-4EFE-B40B-9E661BEE2946}"/>
              </a:ext>
            </a:extLst>
          </p:cNvPr>
          <p:cNvSpPr>
            <a:spLocks noGrp="1"/>
          </p:cNvSpPr>
          <p:nvPr/>
        </p:nvSpPr>
        <p:spPr>
          <a:xfrm>
            <a:off x="6305550" y="1504950"/>
            <a:ext cx="76200" cy="1143000"/>
          </a:xfrm>
          <a:prstGeom prst="rect">
            <a:avLst/>
          </a:prstGeom>
          <a:solidFill>
            <a:srgbClr val="C79A41"/>
          </a:solidFill>
          <a:ln w="0">
            <a:noFill/>
            <a:prstDash val="solid"/>
          </a:ln>
        </p:spPr>
        <p:txBody>
          <a:bodyPr/>
          <a:lstStyle/>
          <a:p>
            <a:endParaRPr/>
          </a:p>
        </p:txBody>
      </p:sp>
      <p:sp>
        <p:nvSpPr>
          <p:cNvPr id="28" name="features-title">
            <a:extLst>
              <a:ext uri="{FF2B5EF4-FFF2-40B4-BE49-F238E27FC236}">
                <a16:creationId xmlns:a16="http://schemas.microsoft.com/office/drawing/2014/main" id="{AD42C4DA-F5F3-4E4D-8BF0-62DD926CB7C4}"/>
              </a:ext>
            </a:extLst>
          </p:cNvPr>
          <p:cNvSpPr>
            <a:spLocks noGrp="1"/>
          </p:cNvSpPr>
          <p:nvPr/>
        </p:nvSpPr>
        <p:spPr>
          <a:xfrm>
            <a:off x="6572250" y="1714500"/>
            <a:ext cx="40005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a:ext uri="{FF2B5EF4-FFF2-40B4-BE49-F238E27FC236}">
                <a16:creationId xmlns:a16="http://schemas.microsoft.com/office/drawing/2014/main" id="{C6E79B50-497E-4A4C-93A6-67386CBAE586}"/>
              </a:ext>
            </a:extLst>
          </p:cNvPr>
          <p:cNvSpPr>
            <a:spLocks noGrp="1"/>
          </p:cNvSpPr>
          <p:nvPr/>
        </p:nvSpPr>
        <p:spPr>
          <a:xfrm>
            <a:off x="6572250" y="2114550"/>
            <a:ext cx="4762500" cy="476250"/>
          </a:xfrm>
          <a:prstGeom prst="rect">
            <a:avLst/>
          </a:prstGeom>
          <a:noFill/>
          <a:ln w="0">
            <a:noFill/>
            <a:prstDash val="solid"/>
          </a:ln>
        </p:spPr>
        <p:txBody>
          <a:bodyPr/>
          <a:lstStyle/>
          <a:p>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a:ext uri="{FF2B5EF4-FFF2-40B4-BE49-F238E27FC236}">
                <a16:creationId xmlns:a16="http://schemas.microsoft.com/office/drawing/2014/main" id="{CC84F10B-95C6-4903-8F7E-DE253B70ED51}"/>
              </a:ext>
            </a:extLst>
          </p:cNvPr>
          <p:cNvSpPr>
            <a:spLocks noGrp="1"/>
          </p:cNvSpPr>
          <p:nvPr/>
        </p:nvSpPr>
        <p:spPr>
          <a:xfrm>
            <a:off x="6305550" y="2952750"/>
            <a:ext cx="1743075" cy="1190625"/>
          </a:xfrm>
          <a:prstGeom prst="rect">
            <a:avLst/>
          </a:prstGeom>
          <a:solidFill>
            <a:srgbClr val="F7EAF0"/>
          </a:solidFill>
          <a:ln w="0">
            <a:noFill/>
            <a:prstDash val="solid"/>
          </a:ln>
        </p:spPr>
        <p:txBody>
          <a:bodyPr/>
          <a:lstStyle/>
          <a:p>
            <a:endParaRPr/>
          </a:p>
        </p:txBody>
      </p:sp>
      <p:sp>
        <p:nvSpPr>
          <p:cNvPr id="31" name="alg-CarenR-stripe">
            <a:extLst>
              <a:ext uri="{FF2B5EF4-FFF2-40B4-BE49-F238E27FC236}">
                <a16:creationId xmlns:a16="http://schemas.microsoft.com/office/drawing/2014/main" id="{744B36E5-7ED6-4563-8682-FDFAB2B7E05E}"/>
              </a:ext>
            </a:extLst>
          </p:cNvPr>
          <p:cNvSpPr>
            <a:spLocks noGrp="1"/>
          </p:cNvSpPr>
          <p:nvPr/>
        </p:nvSpPr>
        <p:spPr>
          <a:xfrm>
            <a:off x="6305550" y="2952750"/>
            <a:ext cx="76200" cy="1190625"/>
          </a:xfrm>
          <a:prstGeom prst="rect">
            <a:avLst/>
          </a:prstGeom>
          <a:solidFill>
            <a:srgbClr val="7B1E3A"/>
          </a:solidFill>
          <a:ln w="0">
            <a:noFill/>
            <a:prstDash val="solid"/>
          </a:ln>
        </p:spPr>
        <p:txBody>
          <a:bodyPr/>
          <a:lstStyle/>
          <a:p>
            <a:endParaRPr/>
          </a:p>
        </p:txBody>
      </p:sp>
      <p:sp>
        <p:nvSpPr>
          <p:cNvPr id="32" name="alg-title-CarenR">
            <a:extLst>
              <a:ext uri="{FF2B5EF4-FFF2-40B4-BE49-F238E27FC236}">
                <a16:creationId xmlns:a16="http://schemas.microsoft.com/office/drawing/2014/main" id="{C5DB6868-6C86-441E-A257-4EAE29173502}"/>
              </a:ext>
            </a:extLst>
          </p:cNvPr>
          <p:cNvSpPr>
            <a:spLocks noGrp="1"/>
          </p:cNvSpPr>
          <p:nvPr/>
        </p:nvSpPr>
        <p:spPr>
          <a:xfrm>
            <a:off x="6496050" y="3143250"/>
            <a:ext cx="1333500" cy="228600"/>
          </a:xfrm>
          <a:prstGeom prst="rect">
            <a:avLst/>
          </a:prstGeom>
          <a:noFill/>
          <a:ln w="0">
            <a:noFill/>
            <a:prstDash val="solid"/>
          </a:ln>
        </p:spPr>
        <p:txBody>
          <a:bodyPr/>
          <a:lstStyle/>
          <a:p>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a:ext uri="{FF2B5EF4-FFF2-40B4-BE49-F238E27FC236}">
                <a16:creationId xmlns:a16="http://schemas.microsoft.com/office/drawing/2014/main" id="{B301D34E-F183-4F58-95F5-F9DA9D7C668F}"/>
              </a:ext>
            </a:extLst>
          </p:cNvPr>
          <p:cNvSpPr>
            <a:spLocks noGrp="1"/>
          </p:cNvSpPr>
          <p:nvPr/>
        </p:nvSpPr>
        <p:spPr>
          <a:xfrm>
            <a:off x="64960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a:ext uri="{FF2B5EF4-FFF2-40B4-BE49-F238E27FC236}">
                <a16:creationId xmlns:a16="http://schemas.microsoft.com/office/drawing/2014/main" id="{BDC95BAA-7740-40D3-A37B-3E3D273E919F}"/>
              </a:ext>
            </a:extLst>
          </p:cNvPr>
          <p:cNvSpPr>
            <a:spLocks noGrp="1"/>
          </p:cNvSpPr>
          <p:nvPr/>
        </p:nvSpPr>
        <p:spPr>
          <a:xfrm>
            <a:off x="8172450" y="2952750"/>
            <a:ext cx="1743075" cy="1190625"/>
          </a:xfrm>
          <a:prstGeom prst="rect">
            <a:avLst/>
          </a:prstGeom>
          <a:solidFill>
            <a:srgbClr val="EAF5EE"/>
          </a:solidFill>
          <a:ln w="0">
            <a:noFill/>
            <a:prstDash val="solid"/>
          </a:ln>
        </p:spPr>
        <p:txBody>
          <a:bodyPr/>
          <a:lstStyle/>
          <a:p>
            <a:endParaRPr/>
          </a:p>
        </p:txBody>
      </p:sp>
      <p:sp>
        <p:nvSpPr>
          <p:cNvPr id="35" name="alg-RIPPER-stripe">
            <a:extLst>
              <a:ext uri="{FF2B5EF4-FFF2-40B4-BE49-F238E27FC236}">
                <a16:creationId xmlns:a16="http://schemas.microsoft.com/office/drawing/2014/main" id="{6F556A2F-ADB5-442B-839F-119900136BCA}"/>
              </a:ext>
            </a:extLst>
          </p:cNvPr>
          <p:cNvSpPr>
            <a:spLocks noGrp="1"/>
          </p:cNvSpPr>
          <p:nvPr/>
        </p:nvSpPr>
        <p:spPr>
          <a:xfrm>
            <a:off x="8172450" y="2952750"/>
            <a:ext cx="76200" cy="1190625"/>
          </a:xfrm>
          <a:prstGeom prst="rect">
            <a:avLst/>
          </a:prstGeom>
          <a:solidFill>
            <a:srgbClr val="268A8A"/>
          </a:solidFill>
          <a:ln w="0">
            <a:noFill/>
            <a:prstDash val="solid"/>
          </a:ln>
        </p:spPr>
        <p:txBody>
          <a:bodyPr/>
          <a:lstStyle/>
          <a:p>
            <a:endParaRPr/>
          </a:p>
        </p:txBody>
      </p:sp>
      <p:sp>
        <p:nvSpPr>
          <p:cNvPr id="36" name="alg-title-RIPPER">
            <a:extLst>
              <a:ext uri="{FF2B5EF4-FFF2-40B4-BE49-F238E27FC236}">
                <a16:creationId xmlns:a16="http://schemas.microsoft.com/office/drawing/2014/main" id="{28738C0C-5F98-4BAE-86D0-8989FD4F0688}"/>
              </a:ext>
            </a:extLst>
          </p:cNvPr>
          <p:cNvSpPr>
            <a:spLocks noGrp="1"/>
          </p:cNvSpPr>
          <p:nvPr/>
        </p:nvSpPr>
        <p:spPr>
          <a:xfrm>
            <a:off x="8362950" y="3143250"/>
            <a:ext cx="1333500" cy="228600"/>
          </a:xfrm>
          <a:prstGeom prst="rect">
            <a:avLst/>
          </a:prstGeom>
          <a:noFill/>
          <a:ln w="0">
            <a:noFill/>
            <a:prstDash val="solid"/>
          </a:ln>
        </p:spPr>
        <p:txBody>
          <a:bodyPr/>
          <a:lstStyle/>
          <a:p>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a:ext uri="{FF2B5EF4-FFF2-40B4-BE49-F238E27FC236}">
                <a16:creationId xmlns:a16="http://schemas.microsoft.com/office/drawing/2014/main" id="{094AF391-4ED3-4B2A-AE89-0D63937C9DC3}"/>
              </a:ext>
            </a:extLst>
          </p:cNvPr>
          <p:cNvSpPr>
            <a:spLocks noGrp="1"/>
          </p:cNvSpPr>
          <p:nvPr/>
        </p:nvSpPr>
        <p:spPr>
          <a:xfrm>
            <a:off x="83629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a:ext uri="{FF2B5EF4-FFF2-40B4-BE49-F238E27FC236}">
                <a16:creationId xmlns:a16="http://schemas.microsoft.com/office/drawing/2014/main" id="{709F2445-AB6B-4A46-B346-C590B49CD2C3}"/>
              </a:ext>
            </a:extLst>
          </p:cNvPr>
          <p:cNvSpPr>
            <a:spLocks noGrp="1"/>
          </p:cNvSpPr>
          <p:nvPr/>
        </p:nvSpPr>
        <p:spPr>
          <a:xfrm>
            <a:off x="10039350" y="2952750"/>
            <a:ext cx="1743075" cy="1190625"/>
          </a:xfrm>
          <a:prstGeom prst="rect">
            <a:avLst/>
          </a:prstGeom>
          <a:solidFill>
            <a:srgbClr val="F8F0DC"/>
          </a:solidFill>
          <a:ln w="0">
            <a:noFill/>
            <a:prstDash val="solid"/>
          </a:ln>
        </p:spPr>
        <p:txBody>
          <a:bodyPr/>
          <a:lstStyle/>
          <a:p>
            <a:endParaRPr/>
          </a:p>
        </p:txBody>
      </p:sp>
      <p:sp>
        <p:nvSpPr>
          <p:cNvPr id="39" name="alg-M5Rules-stripe">
            <a:extLst>
              <a:ext uri="{FF2B5EF4-FFF2-40B4-BE49-F238E27FC236}">
                <a16:creationId xmlns:a16="http://schemas.microsoft.com/office/drawing/2014/main" id="{6CD92377-4CF4-45A0-8C9D-314D64BCF1D0}"/>
              </a:ext>
            </a:extLst>
          </p:cNvPr>
          <p:cNvSpPr>
            <a:spLocks noGrp="1"/>
          </p:cNvSpPr>
          <p:nvPr/>
        </p:nvSpPr>
        <p:spPr>
          <a:xfrm>
            <a:off x="10039350" y="2952750"/>
            <a:ext cx="76200" cy="1190625"/>
          </a:xfrm>
          <a:prstGeom prst="rect">
            <a:avLst/>
          </a:prstGeom>
          <a:solidFill>
            <a:srgbClr val="5B4248"/>
          </a:solidFill>
          <a:ln w="0">
            <a:noFill/>
            <a:prstDash val="solid"/>
          </a:ln>
        </p:spPr>
        <p:txBody>
          <a:bodyPr/>
          <a:lstStyle/>
          <a:p>
            <a:endParaRPr/>
          </a:p>
        </p:txBody>
      </p:sp>
      <p:sp>
        <p:nvSpPr>
          <p:cNvPr id="40" name="alg-title-M5Rules">
            <a:extLst>
              <a:ext uri="{FF2B5EF4-FFF2-40B4-BE49-F238E27FC236}">
                <a16:creationId xmlns:a16="http://schemas.microsoft.com/office/drawing/2014/main" id="{A14DD236-475A-480D-B44E-A1AA2AB40014}"/>
              </a:ext>
            </a:extLst>
          </p:cNvPr>
          <p:cNvSpPr>
            <a:spLocks noGrp="1"/>
          </p:cNvSpPr>
          <p:nvPr/>
        </p:nvSpPr>
        <p:spPr>
          <a:xfrm>
            <a:off x="10229850" y="3143250"/>
            <a:ext cx="1333500" cy="228600"/>
          </a:xfrm>
          <a:prstGeom prst="rect">
            <a:avLst/>
          </a:prstGeom>
          <a:noFill/>
          <a:ln w="0">
            <a:noFill/>
            <a:prstDash val="solid"/>
          </a:ln>
        </p:spPr>
        <p:txBody>
          <a:bodyPr/>
          <a:lstStyle/>
          <a:p>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a:ext uri="{FF2B5EF4-FFF2-40B4-BE49-F238E27FC236}">
                <a16:creationId xmlns:a16="http://schemas.microsoft.com/office/drawing/2014/main" id="{FAF0C1A9-3BBE-4778-904C-9F6FC1C44D25}"/>
              </a:ext>
            </a:extLst>
          </p:cNvPr>
          <p:cNvSpPr>
            <a:spLocks noGrp="1"/>
          </p:cNvSpPr>
          <p:nvPr/>
        </p:nvSpPr>
        <p:spPr>
          <a:xfrm>
            <a:off x="102298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a:ext uri="{FF2B5EF4-FFF2-40B4-BE49-F238E27FC236}">
                <a16:creationId xmlns:a16="http://schemas.microsoft.com/office/drawing/2014/main" id="{60D82F10-0FAA-41EC-B789-E72B789FDAC7}"/>
              </a:ext>
            </a:extLst>
          </p:cNvPr>
          <p:cNvSpPr>
            <a:spLocks noGrp="1"/>
          </p:cNvSpPr>
          <p:nvPr/>
        </p:nvSpPr>
        <p:spPr>
          <a:xfrm>
            <a:off x="400050" y="4714875"/>
            <a:ext cx="11382375" cy="952500"/>
          </a:xfrm>
          <a:prstGeom prst="rect">
            <a:avLst/>
          </a:prstGeom>
          <a:solidFill>
            <a:srgbClr val="F0F1F2"/>
          </a:solidFill>
          <a:ln w="0">
            <a:noFill/>
            <a:prstDash val="solid"/>
          </a:ln>
        </p:spPr>
        <p:txBody>
          <a:bodyPr/>
          <a:lstStyle/>
          <a:p>
            <a:endParaRPr/>
          </a:p>
        </p:txBody>
      </p:sp>
      <p:sp>
        <p:nvSpPr>
          <p:cNvPr id="43" name="validation-stripe">
            <a:extLst>
              <a:ext uri="{FF2B5EF4-FFF2-40B4-BE49-F238E27FC236}">
                <a16:creationId xmlns:a16="http://schemas.microsoft.com/office/drawing/2014/main" id="{F31E0CDD-4BC4-4042-AB4B-2F0342D246D1}"/>
              </a:ext>
            </a:extLst>
          </p:cNvPr>
          <p:cNvSpPr>
            <a:spLocks noGrp="1"/>
          </p:cNvSpPr>
          <p:nvPr/>
        </p:nvSpPr>
        <p:spPr>
          <a:xfrm>
            <a:off x="400050" y="4714875"/>
            <a:ext cx="76200" cy="952500"/>
          </a:xfrm>
          <a:prstGeom prst="rect">
            <a:avLst/>
          </a:prstGeom>
          <a:solidFill>
            <a:srgbClr val="7B1E3A"/>
          </a:solidFill>
          <a:ln w="0">
            <a:noFill/>
            <a:prstDash val="solid"/>
          </a:ln>
        </p:spPr>
        <p:txBody>
          <a:bodyPr/>
          <a:lstStyle/>
          <a:p>
            <a:endParaRPr/>
          </a:p>
        </p:txBody>
      </p:sp>
      <p:sp>
        <p:nvSpPr>
          <p:cNvPr id="44" name="validation-main">
            <a:extLst>
              <a:ext uri="{FF2B5EF4-FFF2-40B4-BE49-F238E27FC236}">
                <a16:creationId xmlns:a16="http://schemas.microsoft.com/office/drawing/2014/main" id="{8490D7AA-05E8-4552-ADAB-857B58D23C55}"/>
              </a:ext>
            </a:extLst>
          </p:cNvPr>
          <p:cNvSpPr>
            <a:spLocks noGrp="1"/>
          </p:cNvSpPr>
          <p:nvPr/>
        </p:nvSpPr>
        <p:spPr>
          <a:xfrm>
            <a:off x="952500" y="4933950"/>
            <a:ext cx="4953000" cy="247650"/>
          </a:xfrm>
          <a:prstGeom prst="rect">
            <a:avLst/>
          </a:prstGeom>
          <a:noFill/>
          <a:ln w="0">
            <a:noFill/>
            <a:prstDash val="solid"/>
          </a:ln>
        </p:spPr>
        <p:txBody>
          <a:bodyPr/>
          <a:lstStyle/>
          <a:p>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a:ext uri="{FF2B5EF4-FFF2-40B4-BE49-F238E27FC236}">
                <a16:creationId xmlns:a16="http://schemas.microsoft.com/office/drawing/2014/main" id="{C4FDF98B-F1AE-49F9-8E4E-43FA64005276}"/>
              </a:ext>
            </a:extLst>
          </p:cNvPr>
          <p:cNvSpPr>
            <a:spLocks noGrp="1"/>
          </p:cNvSpPr>
          <p:nvPr/>
        </p:nvSpPr>
        <p:spPr>
          <a:xfrm>
            <a:off x="952500" y="5314950"/>
            <a:ext cx="9906000" cy="228600"/>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a:ext uri="{FF2B5EF4-FFF2-40B4-BE49-F238E27FC236}">
                <a16:creationId xmlns:a16="http://schemas.microsoft.com/office/drawing/2014/main" id="{CCEE83D0-8A64-4C04-B88B-D2FD29F60A89}"/>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8" name="slide-number-11">
            <a:extLst>
              <a:ext uri="{FF2B5EF4-FFF2-40B4-BE49-F238E27FC236}">
                <a16:creationId xmlns:a16="http://schemas.microsoft.com/office/drawing/2014/main" id="{26613B52-979B-4481-B51E-EBC786171242}"/>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389387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9CC91B-E47A-4C04-B3F0-AB8BEFDC37E7}"/>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What the rules actually say</a:t>
            </a:r>
          </a:p>
        </p:txBody>
      </p:sp>
      <p:sp>
        <p:nvSpPr>
          <p:cNvPr id="3" name="Shape 1">
            <a:extLst>
              <a:ext uri="{FF2B5EF4-FFF2-40B4-BE49-F238E27FC236}">
                <a16:creationId xmlns:a16="http://schemas.microsoft.com/office/drawing/2014/main" id="{C5496F6B-2E81-4D0D-81B2-533BE4D0E592}"/>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1438AFF-1DEB-42BD-8D5B-E862B22CE2E4}"/>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B17D02ED-1864-4B1E-BD40-BFA1D34980A0}"/>
              </a:ext>
            </a:extLst>
          </p:cNvPr>
          <p:cNvSpPr>
            <a:spLocks noGrp="1"/>
          </p:cNvSpPr>
          <p:nvPr/>
        </p:nvSpPr>
        <p:spPr>
          <a:xfrm>
            <a:off x="10945368" y="237744"/>
            <a:ext cx="182880" cy="182880"/>
          </a:xfrm>
          <a:prstGeom prst="ellipse">
            <a:avLst/>
          </a:prstGeom>
          <a:solidFill>
            <a:srgbClr val="C89B3C"/>
          </a:solidFill>
          <a:ln w="12700">
            <a:solidFill>
              <a:srgbClr val="C89B3C"/>
            </a:solidFill>
            <a:prstDash val="solid"/>
          </a:ln>
        </p:spPr>
        <p:txBody>
          <a:bodyPr/>
          <a:lstStyle/>
          <a:p>
            <a:endParaRPr/>
          </a:p>
        </p:txBody>
      </p:sp>
      <p:sp>
        <p:nvSpPr>
          <p:cNvPr id="6" name="Shape 4">
            <a:extLst>
              <a:ext uri="{FF2B5EF4-FFF2-40B4-BE49-F238E27FC236}">
                <a16:creationId xmlns:a16="http://schemas.microsoft.com/office/drawing/2014/main" id="{E1FAD1B6-C3AE-4B24-9EE8-42345B3B08A2}"/>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9C0C6A5-585B-4D74-B47B-4D361DBCEC7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BB0212CB-3221-4E95-BCD2-1FDFEB537C6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a:ext uri="{FF2B5EF4-FFF2-40B4-BE49-F238E27FC236}">
                <a16:creationId xmlns:a16="http://schemas.microsoft.com/office/drawing/2014/main" id="{605DA089-BA88-4462-92A9-B003C5134413}"/>
              </a:ext>
            </a:extLst>
          </p:cNvPr>
          <p:cNvSpPr>
            <a:spLocks noGrp="1"/>
          </p:cNvSpPr>
          <p:nvPr/>
        </p:nvSpPr>
        <p:spPr>
          <a:xfrm>
            <a:off x="640080" y="1600200"/>
            <a:ext cx="10881360" cy="365760"/>
          </a:xfrm>
          <a:prstGeom prst="rect">
            <a:avLst/>
          </a:prstGeom>
          <a:noFill/>
        </p:spPr>
        <p:txBody>
          <a:bodyPr wrap="square" lIns="0" tIns="0" rIns="0" bIns="0" anchor="ctr"/>
          <a:lstStyle/>
          <a:p>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a:ext uri="{FF2B5EF4-FFF2-40B4-BE49-F238E27FC236}">
                <a16:creationId xmlns:a16="http://schemas.microsoft.com/office/drawing/2014/main" id="{354F08A4-37CD-45A5-973A-222D182111E0}"/>
              </a:ext>
            </a:extLst>
          </p:cNvPr>
          <p:cNvSpPr>
            <a:spLocks noGrp="1"/>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1" name="Text 9">
            <a:extLst>
              <a:ext uri="{FF2B5EF4-FFF2-40B4-BE49-F238E27FC236}">
                <a16:creationId xmlns:a16="http://schemas.microsoft.com/office/drawing/2014/main" id="{85D0DBB1-AF9B-46B0-889A-CFE70E56586D}"/>
              </a:ext>
            </a:extLst>
          </p:cNvPr>
          <p:cNvSpPr>
            <a:spLocks noGrp="1"/>
          </p:cNvSpPr>
          <p:nvPr/>
        </p:nvSpPr>
        <p:spPr>
          <a:xfrm>
            <a:off x="640080" y="2377440"/>
            <a:ext cx="4892040" cy="365760"/>
          </a:xfrm>
          <a:prstGeom prst="rect">
            <a:avLst/>
          </a:prstGeom>
          <a:noFill/>
        </p:spPr>
        <p:txBody>
          <a:bodyPr wrap="square" lIns="0" tIns="0" rIns="0" bIns="0" anchor="ctr"/>
          <a:lstStyle/>
          <a:p>
            <a:pPr marL="0" indent="0" algn="ctr">
              <a:buNone/>
            </a:pPr>
            <a:r>
              <a:rPr sz="1300" b="1">
                <a:solidFill>
                  <a:srgbClr val="7A2E39"/>
                </a:solidFill>
                <a:latin typeface="Calibri"/>
                <a:ea typeface="Calibri"/>
                <a:cs typeface="Calibri"/>
              </a:rPr>
              <a:t>DOURO</a:t>
            </a:r>
          </a:p>
        </p:txBody>
      </p:sp>
      <p:sp>
        <p:nvSpPr>
          <p:cNvPr id="12" name="Text 10">
            <a:extLst>
              <a:ext uri="{FF2B5EF4-FFF2-40B4-BE49-F238E27FC236}">
                <a16:creationId xmlns:a16="http://schemas.microsoft.com/office/drawing/2014/main" id="{BA414EF8-ADEC-4070-A455-41C0B6D43651}"/>
              </a:ext>
            </a:extLst>
          </p:cNvPr>
          <p:cNvSpPr>
            <a:spLocks noGrp="1"/>
          </p:cNvSpPr>
          <p:nvPr/>
        </p:nvSpPr>
        <p:spPr>
          <a:xfrm>
            <a:off x="640080" y="2697480"/>
            <a:ext cx="4892040" cy="731520"/>
          </a:xfrm>
          <a:prstGeom prst="rect">
            <a:avLst/>
          </a:prstGeom>
          <a:noFill/>
        </p:spPr>
        <p:txBody>
          <a:bodyPr wrap="square" lIns="0" tIns="0" rIns="0" bIns="0" anchor="ctr"/>
          <a:lstStyle/>
          <a:p>
            <a:pPr marL="0" indent="0" algn="ctr">
              <a:buNone/>
            </a:pPr>
            <a:r>
              <a:rPr sz="4000" b="1">
                <a:solidFill>
                  <a:srgbClr val="7A2E39"/>
                </a:solidFill>
                <a:latin typeface="Cambria"/>
                <a:ea typeface="Cambria"/>
                <a:cs typeface="Cambria"/>
              </a:rPr>
              <a:t>+192 mhl</a:t>
            </a:r>
          </a:p>
        </p:txBody>
      </p:sp>
      <p:sp>
        <p:nvSpPr>
          <p:cNvPr id="13" name="Text 11">
            <a:extLst>
              <a:ext uri="{FF2B5EF4-FFF2-40B4-BE49-F238E27FC236}">
                <a16:creationId xmlns:a16="http://schemas.microsoft.com/office/drawing/2014/main" id="{69D6C633-4633-4693-83BD-60D557EE3601}"/>
              </a:ext>
            </a:extLst>
          </p:cNvPr>
          <p:cNvSpPr>
            <a:spLocks noGrp="1"/>
          </p:cNvSpPr>
          <p:nvPr/>
        </p:nvSpPr>
        <p:spPr>
          <a:xfrm>
            <a:off x="86868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deficit = berry concentration.</a:t>
            </a:r>
          </a:p>
          <a:p>
            <a:pPr marL="0" indent="0" algn="ctr">
              <a:buNone/>
            </a:pPr>
            <a:r>
              <a:rPr sz="1350">
                <a:solidFill>
                  <a:srgbClr val="2B2320"/>
                </a:solidFill>
                <a:latin typeface="Calibri"/>
                <a:ea typeface="Calibri"/>
                <a:cs typeface="Calibri"/>
              </a:rPr>
              <a:t>A dry-climate sweet spot → above trend.</a:t>
            </a:r>
          </a:p>
        </p:txBody>
      </p:sp>
      <p:sp>
        <p:nvSpPr>
          <p:cNvPr id="14" name="Shape 12">
            <a:extLst>
              <a:ext uri="{FF2B5EF4-FFF2-40B4-BE49-F238E27FC236}">
                <a16:creationId xmlns:a16="http://schemas.microsoft.com/office/drawing/2014/main" id="{A616C1A2-25B2-4EFD-A6ED-9BE46A000FD4}"/>
              </a:ext>
            </a:extLst>
          </p:cNvPr>
          <p:cNvSpPr>
            <a:spLocks noGrp="1"/>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5" name="Text 13">
            <a:extLst>
              <a:ext uri="{FF2B5EF4-FFF2-40B4-BE49-F238E27FC236}">
                <a16:creationId xmlns:a16="http://schemas.microsoft.com/office/drawing/2014/main" id="{AC359ACE-1F7F-47F9-B179-7E610541BC6E}"/>
              </a:ext>
            </a:extLst>
          </p:cNvPr>
          <p:cNvSpPr>
            <a:spLocks noGrp="1"/>
          </p:cNvSpPr>
          <p:nvPr/>
        </p:nvSpPr>
        <p:spPr>
          <a:xfrm>
            <a:off x="6446520" y="2377440"/>
            <a:ext cx="4892040" cy="365760"/>
          </a:xfrm>
          <a:prstGeom prst="rect">
            <a:avLst/>
          </a:prstGeom>
          <a:noFill/>
        </p:spPr>
        <p:txBody>
          <a:bodyPr wrap="square" lIns="0" tIns="0" rIns="0" bIns="0" anchor="ctr"/>
          <a:lstStyle/>
          <a:p>
            <a:pPr marL="0" indent="0" algn="ctr">
              <a:buNone/>
            </a:pPr>
            <a:r>
              <a:rPr sz="1300" b="1">
                <a:solidFill>
                  <a:srgbClr val="5E7148"/>
                </a:solidFill>
                <a:latin typeface="Calibri"/>
                <a:ea typeface="Calibri"/>
                <a:cs typeface="Calibri"/>
              </a:rPr>
              <a:t>VINHO VERDE</a:t>
            </a:r>
          </a:p>
        </p:txBody>
      </p:sp>
      <p:sp>
        <p:nvSpPr>
          <p:cNvPr id="16" name="Text 14">
            <a:extLst>
              <a:ext uri="{FF2B5EF4-FFF2-40B4-BE49-F238E27FC236}">
                <a16:creationId xmlns:a16="http://schemas.microsoft.com/office/drawing/2014/main" id="{84D6A43E-59B1-4D86-968F-4F61FCEA56B0}"/>
              </a:ext>
            </a:extLst>
          </p:cNvPr>
          <p:cNvSpPr>
            <a:spLocks noGrp="1"/>
          </p:cNvSpPr>
          <p:nvPr/>
        </p:nvSpPr>
        <p:spPr>
          <a:xfrm>
            <a:off x="6446520" y="2697480"/>
            <a:ext cx="4892040" cy="731520"/>
          </a:xfrm>
          <a:prstGeom prst="rect">
            <a:avLst/>
          </a:prstGeom>
          <a:noFill/>
        </p:spPr>
        <p:txBody>
          <a:bodyPr wrap="square" lIns="0" tIns="0" rIns="0" bIns="0" anchor="ctr"/>
          <a:lstStyle/>
          <a:p>
            <a:pPr marL="0" indent="0" algn="ctr">
              <a:buNone/>
            </a:pPr>
            <a:r>
              <a:rPr sz="4000" b="1">
                <a:solidFill>
                  <a:srgbClr val="5E7148"/>
                </a:solidFill>
                <a:latin typeface="Cambria"/>
                <a:ea typeface="Cambria"/>
                <a:cs typeface="Cambria"/>
              </a:rPr>
              <a:t>−338 mhl</a:t>
            </a:r>
          </a:p>
        </p:txBody>
      </p:sp>
      <p:sp>
        <p:nvSpPr>
          <p:cNvPr id="17" name="Text 15">
            <a:extLst>
              <a:ext uri="{FF2B5EF4-FFF2-40B4-BE49-F238E27FC236}">
                <a16:creationId xmlns:a16="http://schemas.microsoft.com/office/drawing/2014/main" id="{909CB471-0C16-4340-98BA-AD6475B114AE}"/>
              </a:ext>
            </a:extLst>
          </p:cNvPr>
          <p:cNvSpPr>
            <a:spLocks noGrp="1"/>
          </p:cNvSpPr>
          <p:nvPr/>
        </p:nvSpPr>
        <p:spPr>
          <a:xfrm>
            <a:off x="667512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Same range = cool, wet, low-quality years.</a:t>
            </a:r>
          </a:p>
          <a:p>
            <a:pPr marL="0" indent="0" algn="ctr">
              <a:buNone/>
            </a:pPr>
            <a:r>
              <a:rPr sz="1350">
                <a:solidFill>
                  <a:srgbClr val="2B2320"/>
                </a:solidFill>
                <a:latin typeface="Calibri"/>
                <a:ea typeface="Calibri"/>
                <a:cs typeface="Calibri"/>
              </a:rPr>
              <a:t>An Atlantic-climate penalty → below trend.</a:t>
            </a:r>
          </a:p>
        </p:txBody>
      </p:sp>
      <p:sp>
        <p:nvSpPr>
          <p:cNvPr id="18" name="Shape 16">
            <a:extLst>
              <a:ext uri="{FF2B5EF4-FFF2-40B4-BE49-F238E27FC236}">
                <a16:creationId xmlns:a16="http://schemas.microsoft.com/office/drawing/2014/main" id="{7624B7BD-14AB-4F25-9241-622FCEFBDE4D}"/>
              </a:ext>
            </a:extLst>
          </p:cNvPr>
          <p:cNvSpPr>
            <a:spLocks noGrp="1"/>
          </p:cNvSpPr>
          <p:nvPr/>
        </p:nvSpPr>
        <p:spPr>
          <a:xfrm>
            <a:off x="5532120" y="3017520"/>
            <a:ext cx="1234440" cy="1234440"/>
          </a:xfrm>
          <a:prstGeom prst="ellipse">
            <a:avLst/>
          </a:prstGeom>
          <a:solidFill>
            <a:srgbClr val="6D2E46"/>
          </a:solidFill>
          <a:ln w="254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7">
            <a:extLst>
              <a:ext uri="{FF2B5EF4-FFF2-40B4-BE49-F238E27FC236}">
                <a16:creationId xmlns:a16="http://schemas.microsoft.com/office/drawing/2014/main" id="{B2ECE1F8-83AF-43EF-9FE8-E4056F864DEC}"/>
              </a:ext>
            </a:extLst>
          </p:cNvPr>
          <p:cNvSpPr>
            <a:spLocks noGrp="1"/>
          </p:cNvSpPr>
          <p:nvPr/>
        </p:nvSpPr>
        <p:spPr>
          <a:xfrm>
            <a:off x="5532120" y="3017520"/>
            <a:ext cx="1234440" cy="1234440"/>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SAME</a:t>
            </a:r>
          </a:p>
          <a:p>
            <a:pPr marL="0" indent="0" algn="ctr">
              <a:buNone/>
            </a:pPr>
            <a:r>
              <a:rPr sz="1100" b="1">
                <a:solidFill>
                  <a:srgbClr val="FFFFFF"/>
                </a:solidFill>
                <a:latin typeface="Calibri"/>
                <a:ea typeface="Calibri"/>
                <a:cs typeface="Calibri"/>
              </a:rPr>
              <a:t>VARIABLE</a:t>
            </a:r>
          </a:p>
        </p:txBody>
      </p:sp>
      <p:sp>
        <p:nvSpPr>
          <p:cNvPr id="20" name="Text 18">
            <a:extLst>
              <a:ext uri="{FF2B5EF4-FFF2-40B4-BE49-F238E27FC236}">
                <a16:creationId xmlns:a16="http://schemas.microsoft.com/office/drawing/2014/main" id="{841E4203-8E28-4E19-84E5-729496D67D18}"/>
              </a:ext>
            </a:extLst>
          </p:cNvPr>
          <p:cNvSpPr>
            <a:spLocks noGrp="1"/>
          </p:cNvSpPr>
          <p:nvPr/>
        </p:nvSpPr>
        <p:spPr>
          <a:xfrm>
            <a:off x="640080" y="4983480"/>
            <a:ext cx="10881360" cy="822960"/>
          </a:xfrm>
          <a:prstGeom prst="rect">
            <a:avLst/>
          </a:prstGeom>
          <a:noFill/>
        </p:spPr>
        <p:txBody>
          <a:bodyPr wrap="square" lIns="0" tIns="0" rIns="0" bIns="0" anchor="ctr"/>
          <a:lstStyle/>
          <a:p>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a:ext uri="{FF2B5EF4-FFF2-40B4-BE49-F238E27FC236}">
                <a16:creationId xmlns:a16="http://schemas.microsoft.com/office/drawing/2014/main" id="{95704571-B006-4140-B096-1DDBE6082097}"/>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855227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33716D-70A9-4F4B-A4B3-6D5C2ECF44DA}"/>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honest result: nobody beats the median</a:t>
            </a:r>
          </a:p>
        </p:txBody>
      </p:sp>
      <p:sp>
        <p:nvSpPr>
          <p:cNvPr id="3" name="Shape 1">
            <a:extLst>
              <a:ext uri="{FF2B5EF4-FFF2-40B4-BE49-F238E27FC236}">
                <a16:creationId xmlns:a16="http://schemas.microsoft.com/office/drawing/2014/main" id="{0AB8C7EF-F159-4D89-A1B4-F36F7D29C5FE}"/>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4C3143E3-71FC-4206-BDB3-BFFDAEAB885B}"/>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D524968D-0EEE-4246-A2F1-079AEA11C672}"/>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B559216-7905-42D1-A1DA-C72A758C3505}"/>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2BE6FD9E-D030-409E-ADAC-ECC4DAF85022}"/>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DEF371ED-E272-4B07-9280-240D3BF79A2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noChangeAspect="1"/>
          </p:cNvPicPr>
          <p:nvPr/>
        </p:nvPicPr>
        <p:blipFill>
          <a:blip r:embed="rId3"/>
          <a:stretch>
            <a:fillRect/>
          </a:stretch>
        </p:blipFill>
        <p:spPr>
          <a:xfrm>
            <a:off x="548640" y="1828800"/>
            <a:ext cx="6400800" cy="3839712"/>
          </a:xfrm>
          <a:prstGeom prst="rect">
            <a:avLst/>
          </a:prstGeom>
        </p:spPr>
      </p:pic>
      <p:sp>
        <p:nvSpPr>
          <p:cNvPr id="10" name="Text 7">
            <a:extLst>
              <a:ext uri="{FF2B5EF4-FFF2-40B4-BE49-F238E27FC236}">
                <a16:creationId xmlns:a16="http://schemas.microsoft.com/office/drawing/2014/main" id="{D4E83055-BCAB-48CA-8AAC-8C4EC38EEEEB}"/>
              </a:ext>
            </a:extLst>
          </p:cNvPr>
          <p:cNvSpPr>
            <a:spLocks noGrp="1"/>
          </p:cNvSpPr>
          <p:nvPr/>
        </p:nvSpPr>
        <p:spPr>
          <a:xfrm>
            <a:off x="548640" y="5686800"/>
            <a:ext cx="640080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a:ext uri="{FF2B5EF4-FFF2-40B4-BE49-F238E27FC236}">
                <a16:creationId xmlns:a16="http://schemas.microsoft.com/office/drawing/2014/main" id="{D4CE794A-16FF-4F9D-A104-49F9F7E6C006}"/>
              </a:ext>
            </a:extLst>
          </p:cNvPr>
          <p:cNvSpPr>
            <a:spLocks noGrp="1"/>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60FB68B-FF9A-44A0-8F21-349B516E3803}"/>
              </a:ext>
            </a:extLst>
          </p:cNvPr>
          <p:cNvSpPr>
            <a:spLocks noGrp="1"/>
          </p:cNvSpPr>
          <p:nvPr/>
        </p:nvSpPr>
        <p:spPr>
          <a:xfrm>
            <a:off x="7452360" y="2011680"/>
            <a:ext cx="402336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a:t>
            </a:r>
          </a:p>
        </p:txBody>
      </p:sp>
      <p:sp>
        <p:nvSpPr>
          <p:cNvPr id="13" name="Text 10">
            <a:extLst>
              <a:ext uri="{FF2B5EF4-FFF2-40B4-BE49-F238E27FC236}">
                <a16:creationId xmlns:a16="http://schemas.microsoft.com/office/drawing/2014/main" id="{835E9571-288A-499A-A949-EF3AF2A6C5BC}"/>
              </a:ext>
            </a:extLst>
          </p:cNvPr>
          <p:cNvSpPr>
            <a:spLocks noGrp="1"/>
          </p:cNvSpPr>
          <p:nvPr/>
        </p:nvSpPr>
        <p:spPr>
          <a:xfrm>
            <a:off x="7452360" y="2286000"/>
            <a:ext cx="1828800" cy="731520"/>
          </a:xfrm>
          <a:prstGeom prst="rect">
            <a:avLst/>
          </a:prstGeom>
          <a:noFill/>
        </p:spPr>
        <p:txBody>
          <a:bodyPr wrap="square" lIns="0" tIns="0" rIns="0" bIns="0" anchor="ctr"/>
          <a:lstStyle/>
          <a:p>
            <a:pPr marL="0" indent="0">
              <a:buNone/>
            </a:pPr>
            <a:r>
              <a:rPr sz="4000" b="1">
                <a:solidFill>
                  <a:srgbClr val="7A2E39"/>
                </a:solidFill>
                <a:latin typeface="Cambria"/>
                <a:ea typeface="Cambria"/>
                <a:cs typeface="Cambria"/>
              </a:rPr>
              <a:t>+3%</a:t>
            </a:r>
          </a:p>
        </p:txBody>
      </p:sp>
      <p:sp>
        <p:nvSpPr>
          <p:cNvPr id="14" name="Text 11">
            <a:extLst>
              <a:ext uri="{FF2B5EF4-FFF2-40B4-BE49-F238E27FC236}">
                <a16:creationId xmlns:a16="http://schemas.microsoft.com/office/drawing/2014/main" id="{CB8E42E3-973B-4067-91DC-BD4BBB933580}"/>
              </a:ext>
            </a:extLst>
          </p:cNvPr>
          <p:cNvSpPr>
            <a:spLocks noGrp="1"/>
          </p:cNvSpPr>
          <p:nvPr/>
        </p:nvSpPr>
        <p:spPr>
          <a:xfrm>
            <a:off x="9144000" y="2377440"/>
            <a:ext cx="237744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189 vs 184 mhl</a:t>
            </a:r>
          </a:p>
          <a:p>
            <a:pPr marL="0" indent="0">
              <a:buNone/>
            </a:pPr>
            <a:r>
              <a:rPr sz="1300">
                <a:solidFill>
                  <a:srgbClr val="2B2320"/>
                </a:solidFill>
                <a:latin typeface="Calibri"/>
                <a:ea typeface="Calibri"/>
                <a:cs typeface="Calibri"/>
              </a:rPr>
              <a:t>Wilcoxon p = 0.468 (n.s.)</a:t>
            </a:r>
          </a:p>
        </p:txBody>
      </p:sp>
      <p:sp>
        <p:nvSpPr>
          <p:cNvPr id="15" name="Shape 12">
            <a:extLst>
              <a:ext uri="{FF2B5EF4-FFF2-40B4-BE49-F238E27FC236}">
                <a16:creationId xmlns:a16="http://schemas.microsoft.com/office/drawing/2014/main" id="{E42A4F9C-28F5-457B-9076-1565FF7A3A12}"/>
              </a:ext>
            </a:extLst>
          </p:cNvPr>
          <p:cNvSpPr>
            <a:spLocks noGrp="1"/>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6" name="Text 13">
            <a:extLst>
              <a:ext uri="{FF2B5EF4-FFF2-40B4-BE49-F238E27FC236}">
                <a16:creationId xmlns:a16="http://schemas.microsoft.com/office/drawing/2014/main" id="{20FA80D0-B1E4-4C23-BFC0-5986175097F7}"/>
              </a:ext>
            </a:extLst>
          </p:cNvPr>
          <p:cNvSpPr>
            <a:spLocks noGrp="1"/>
          </p:cNvSpPr>
          <p:nvPr/>
        </p:nvSpPr>
        <p:spPr>
          <a:xfrm>
            <a:off x="7452360" y="3794760"/>
            <a:ext cx="402336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a:t>
            </a:r>
          </a:p>
        </p:txBody>
      </p:sp>
      <p:sp>
        <p:nvSpPr>
          <p:cNvPr id="17" name="Text 14">
            <a:extLst>
              <a:ext uri="{FF2B5EF4-FFF2-40B4-BE49-F238E27FC236}">
                <a16:creationId xmlns:a16="http://schemas.microsoft.com/office/drawing/2014/main" id="{AEB25F2C-75CE-4C39-B291-388ADC99282F}"/>
              </a:ext>
            </a:extLst>
          </p:cNvPr>
          <p:cNvSpPr>
            <a:spLocks noGrp="1"/>
          </p:cNvSpPr>
          <p:nvPr/>
        </p:nvSpPr>
        <p:spPr>
          <a:xfrm>
            <a:off x="7452360" y="4069080"/>
            <a:ext cx="2011680" cy="731520"/>
          </a:xfrm>
          <a:prstGeom prst="rect">
            <a:avLst/>
          </a:prstGeom>
          <a:noFill/>
        </p:spPr>
        <p:txBody>
          <a:bodyPr wrap="square" lIns="0" tIns="0" rIns="0" bIns="0" anchor="ctr"/>
          <a:lstStyle/>
          <a:p>
            <a:pPr marL="0" indent="0">
              <a:buNone/>
            </a:pPr>
            <a:r>
              <a:rPr sz="4000" b="1">
                <a:solidFill>
                  <a:srgbClr val="5E7148"/>
                </a:solidFill>
                <a:latin typeface="Cambria"/>
                <a:ea typeface="Cambria"/>
                <a:cs typeface="Cambria"/>
              </a:rPr>
              <a:t>+22%</a:t>
            </a:r>
          </a:p>
        </p:txBody>
      </p:sp>
      <p:sp>
        <p:nvSpPr>
          <p:cNvPr id="18" name="Text 15">
            <a:extLst>
              <a:ext uri="{FF2B5EF4-FFF2-40B4-BE49-F238E27FC236}">
                <a16:creationId xmlns:a16="http://schemas.microsoft.com/office/drawing/2014/main" id="{49FA88DA-6ED3-4BB7-A9D0-9872555587D9}"/>
              </a:ext>
            </a:extLst>
          </p:cNvPr>
          <p:cNvSpPr>
            <a:spLocks noGrp="1"/>
          </p:cNvSpPr>
          <p:nvPr/>
        </p:nvSpPr>
        <p:spPr>
          <a:xfrm>
            <a:off x="9281160" y="4160520"/>
            <a:ext cx="224028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172 vs 140 mhl</a:t>
            </a:r>
          </a:p>
          <a:p>
            <a:pPr marL="0" indent="0">
              <a:buNone/>
            </a:pPr>
            <a:r>
              <a:rPr sz="1300">
                <a:solidFill>
                  <a:srgbClr val="2B2320"/>
                </a:solidFill>
                <a:latin typeface="Calibri"/>
                <a:ea typeface="Calibri"/>
                <a:cs typeface="Calibri"/>
              </a:rPr>
              <a:t>rules actively harm, p = 0.004</a:t>
            </a:r>
          </a:p>
        </p:txBody>
      </p:sp>
      <p:sp>
        <p:nvSpPr>
          <p:cNvPr id="19" name="Text 16">
            <a:extLst>
              <a:ext uri="{FF2B5EF4-FFF2-40B4-BE49-F238E27FC236}">
                <a16:creationId xmlns:a16="http://schemas.microsoft.com/office/drawing/2014/main" id="{AC621488-B324-4E7E-8A7B-0289809AE6F2}"/>
              </a:ext>
            </a:extLst>
          </p:cNvPr>
          <p:cNvSpPr>
            <a:spLocks noGrp="1"/>
          </p:cNvSpPr>
          <p:nvPr/>
        </p:nvSpPr>
        <p:spPr>
          <a:xfrm>
            <a:off x="7223760" y="5440680"/>
            <a:ext cx="4434840" cy="731520"/>
          </a:xfrm>
          <a:prstGeom prst="rect">
            <a:avLst/>
          </a:prstGeom>
          <a:noFill/>
        </p:spPr>
        <p:txBody>
          <a:bodyPr wrap="square" lIns="0" tIns="0" rIns="0" bIns="0" anchor="ctr"/>
          <a:lstStyle/>
          <a:p>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a:ext uri="{FF2B5EF4-FFF2-40B4-BE49-F238E27FC236}">
                <a16:creationId xmlns:a16="http://schemas.microsoft.com/office/drawing/2014/main" id="{EE218A64-CA7E-44AA-A792-18629E9E3BF4}"/>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847651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EB83B7-0067-4B40-8CDA-75ECED0E9574}"/>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Discovery ≠ Prediction — and I can prove why</a:t>
            </a:r>
          </a:p>
        </p:txBody>
      </p:sp>
      <p:sp>
        <p:nvSpPr>
          <p:cNvPr id="3" name="Shape 1">
            <a:extLst>
              <a:ext uri="{FF2B5EF4-FFF2-40B4-BE49-F238E27FC236}">
                <a16:creationId xmlns:a16="http://schemas.microsoft.com/office/drawing/2014/main" id="{ED69AEB3-3F74-4331-8B13-0A197A262C8D}"/>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0BABF56-81A8-479B-ABAD-757AEF81D919}"/>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395BB68A-DA17-490B-80EF-37018665A76F}"/>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01510BFB-864F-4B80-A7F3-759F2A52F1E0}"/>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EA1BF64D-5FFB-48DD-B68B-3EE6196A37CD}"/>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24D2C51A-3751-4770-BFA5-0854CF3C3A75}"/>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noChangeAspect="1"/>
          </p:cNvPicPr>
          <p:nvPr/>
        </p:nvPicPr>
        <p:blipFill>
          <a:blip r:embed="rId3"/>
          <a:stretch>
            <a:fillRect/>
          </a:stretch>
        </p:blipFill>
        <p:spPr>
          <a:xfrm>
            <a:off x="5577840" y="1783080"/>
            <a:ext cx="6309360" cy="3856577"/>
          </a:xfrm>
          <a:prstGeom prst="rect">
            <a:avLst/>
          </a:prstGeom>
        </p:spPr>
      </p:pic>
      <p:sp>
        <p:nvSpPr>
          <p:cNvPr id="10" name="Text 7">
            <a:extLst>
              <a:ext uri="{FF2B5EF4-FFF2-40B4-BE49-F238E27FC236}">
                <a16:creationId xmlns:a16="http://schemas.microsoft.com/office/drawing/2014/main" id="{AB34F478-91F3-4C7A-BDF2-2635B3179F27}"/>
              </a:ext>
            </a:extLst>
          </p:cNvPr>
          <p:cNvSpPr>
            <a:spLocks noGrp="1"/>
          </p:cNvSpPr>
          <p:nvPr/>
        </p:nvSpPr>
        <p:spPr>
          <a:xfrm>
            <a:off x="640080" y="1828800"/>
            <a:ext cx="4663440" cy="457200"/>
          </a:xfrm>
          <a:prstGeom prst="rect">
            <a:avLst/>
          </a:prstGeom>
          <a:noFill/>
        </p:spPr>
        <p:txBody>
          <a:bodyPr wrap="square" lIns="0" tIns="0" rIns="0" bIns="0" anchor="ctr"/>
          <a:lstStyle/>
          <a:p>
            <a:pPr marL="0" indent="0">
              <a:buNone/>
            </a:pPr>
            <a:r>
              <a:rPr sz="1800" b="1">
                <a:solidFill>
                  <a:srgbClr val="6D2E46"/>
                </a:solidFill>
                <a:latin typeface="Cambria"/>
                <a:ea typeface="Cambria"/>
                <a:cs typeface="Cambria"/>
              </a:rPr>
              <a:t>The failure is lawful, not random.</a:t>
            </a:r>
          </a:p>
        </p:txBody>
      </p:sp>
      <p:sp>
        <p:nvSpPr>
          <p:cNvPr id="11" name="Text 8">
            <a:extLst>
              <a:ext uri="{FF2B5EF4-FFF2-40B4-BE49-F238E27FC236}">
                <a16:creationId xmlns:a16="http://schemas.microsoft.com/office/drawing/2014/main" id="{2428FD64-E504-41C1-9290-18802D825324}"/>
              </a:ext>
            </a:extLst>
          </p:cNvPr>
          <p:cNvSpPr>
            <a:spLocks noGrp="1"/>
          </p:cNvSpPr>
          <p:nvPr/>
        </p:nvSpPr>
        <p:spPr>
          <a:xfrm>
            <a:off x="640080" y="2423160"/>
            <a:ext cx="4709160" cy="118872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a:ext uri="{FF2B5EF4-FFF2-40B4-BE49-F238E27FC236}">
                <a16:creationId xmlns:a16="http://schemas.microsoft.com/office/drawing/2014/main" id="{C2D92370-9412-4484-9EA5-FB0BEADA8B17}"/>
              </a:ext>
            </a:extLst>
          </p:cNvPr>
          <p:cNvSpPr>
            <a:spLocks noGrp="1"/>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3" name="Text 10">
            <a:extLst>
              <a:ext uri="{FF2B5EF4-FFF2-40B4-BE49-F238E27FC236}">
                <a16:creationId xmlns:a16="http://schemas.microsoft.com/office/drawing/2014/main" id="{DFFC2BF6-2061-47E8-AECD-C999F58CB567}"/>
              </a:ext>
            </a:extLst>
          </p:cNvPr>
          <p:cNvSpPr>
            <a:spLocks noGrp="1"/>
          </p:cNvSpPr>
          <p:nvPr/>
        </p:nvSpPr>
        <p:spPr>
          <a:xfrm>
            <a:off x="868680" y="3950208"/>
            <a:ext cx="4297680" cy="274320"/>
          </a:xfrm>
          <a:prstGeom prst="rect">
            <a:avLst/>
          </a:prstGeom>
          <a:noFill/>
        </p:spPr>
        <p:txBody>
          <a:bodyPr wrap="square" lIns="0" tIns="0" rIns="0" bIns="0" anchor="ctr"/>
          <a:lstStyle/>
          <a:p>
            <a:pPr marL="0" indent="0">
              <a:buNone/>
            </a:pPr>
            <a:r>
              <a:rPr sz="1150" b="1">
                <a:solidFill>
                  <a:srgbClr val="C89B3C"/>
                </a:solidFill>
                <a:latin typeface="Calibri"/>
                <a:ea typeface="Calibri"/>
                <a:cs typeface="Calibri"/>
              </a:rPr>
              <a:t>THE ERA MIRROR</a:t>
            </a:r>
          </a:p>
        </p:txBody>
      </p:sp>
      <p:sp>
        <p:nvSpPr>
          <p:cNvPr id="14" name="Text 11">
            <a:extLst>
              <a:ext uri="{FF2B5EF4-FFF2-40B4-BE49-F238E27FC236}">
                <a16:creationId xmlns:a16="http://schemas.microsoft.com/office/drawing/2014/main" id="{FF0A3D5C-D5D8-48E7-B5C5-29EF60849442}"/>
              </a:ext>
            </a:extLst>
          </p:cNvPr>
          <p:cNvSpPr>
            <a:spLocks noGrp="1"/>
          </p:cNvSpPr>
          <p:nvPr/>
        </p:nvSpPr>
        <p:spPr>
          <a:xfrm>
            <a:off x="868680" y="4297680"/>
            <a:ext cx="4297680" cy="777240"/>
          </a:xfrm>
          <a:prstGeom prst="rect">
            <a:avLst/>
          </a:prstGeom>
          <a:noFill/>
        </p:spPr>
        <p:txBody>
          <a:bodyPr wrap="square" lIns="0" tIns="0" rIns="0" bIns="0" anchor="ctr"/>
          <a:lstStyle/>
          <a:p>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a:ext uri="{FF2B5EF4-FFF2-40B4-BE49-F238E27FC236}">
                <a16:creationId xmlns:a16="http://schemas.microsoft.com/office/drawing/2014/main" id="{4306D8F9-453B-4FB3-BE49-DEAE7B9B075F}"/>
              </a:ext>
            </a:extLst>
          </p:cNvPr>
          <p:cNvSpPr>
            <a:spLocks noGrp="1"/>
          </p:cNvSpPr>
          <p:nvPr/>
        </p:nvSpPr>
        <p:spPr>
          <a:xfrm>
            <a:off x="868680" y="5074920"/>
            <a:ext cx="4297680" cy="777240"/>
          </a:xfrm>
          <a:prstGeom prst="rect">
            <a:avLst/>
          </a:prstGeom>
          <a:noFill/>
        </p:spPr>
        <p:txBody>
          <a:bodyPr wrap="square" lIns="0" tIns="0" rIns="0" bIns="0" anchor="ctr"/>
          <a:lstStyle/>
          <a:p>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a:ext uri="{FF2B5EF4-FFF2-40B4-BE49-F238E27FC236}">
                <a16:creationId xmlns:a16="http://schemas.microsoft.com/office/drawing/2014/main" id="{96294914-14FF-4622-809B-CA5912717E9A}"/>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82557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B5CC8B-183B-46C1-BBB9-5252B7FD9202}"/>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2B0C75B6-3D5B-42A7-B8BE-06D63CC01A66}"/>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Research Questions</a:t>
            </a:r>
          </a:p>
        </p:txBody>
      </p:sp>
      <p:sp>
        <p:nvSpPr>
          <p:cNvPr id="4" name="Text 2">
            <a:extLst>
              <a:ext uri="{FF2B5EF4-FFF2-40B4-BE49-F238E27FC236}">
                <a16:creationId xmlns:a16="http://schemas.microsoft.com/office/drawing/2014/main" id="{439F9C0F-128B-4761-9457-A6B7CCE629C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Four questions spanning discovery, validation, and prediction</a:t>
            </a:r>
          </a:p>
        </p:txBody>
      </p:sp>
      <p:sp>
        <p:nvSpPr>
          <p:cNvPr id="5" name="Shape 3">
            <a:extLst>
              <a:ext uri="{FF2B5EF4-FFF2-40B4-BE49-F238E27FC236}">
                <a16:creationId xmlns:a16="http://schemas.microsoft.com/office/drawing/2014/main" id="{685EE331-C6D1-4853-9617-75B279B704D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D4FCDAE7-BFF8-473B-83EE-480CCBBFE7D5}"/>
              </a:ext>
            </a:extLst>
          </p:cNvPr>
          <p:cNvSpPr>
            <a:spLocks noGrp="1"/>
          </p:cNvSpPr>
          <p:nvPr/>
        </p:nvSpPr>
        <p:spPr>
          <a:xfrm>
            <a:off x="548640" y="1402080"/>
            <a:ext cx="950976" cy="926592"/>
          </a:xfrm>
          <a:prstGeom prst="rect">
            <a:avLst/>
          </a:prstGeom>
          <a:solidFill>
            <a:srgbClr val="0D7377"/>
          </a:solidFill>
          <a:ln w="12700">
            <a:solidFill>
              <a:srgbClr val="0D7377"/>
            </a:solidFill>
            <a:prstDash val="solid"/>
          </a:ln>
        </p:spPr>
        <p:txBody>
          <a:bodyPr/>
          <a:lstStyle/>
          <a:p>
            <a:endParaRPr/>
          </a:p>
        </p:txBody>
      </p:sp>
      <p:sp>
        <p:nvSpPr>
          <p:cNvPr id="7" name="Text 5">
            <a:extLst>
              <a:ext uri="{FF2B5EF4-FFF2-40B4-BE49-F238E27FC236}">
                <a16:creationId xmlns:a16="http://schemas.microsoft.com/office/drawing/2014/main" id="{90977F79-F6C2-4187-BE51-467DB12CC81A}"/>
              </a:ext>
            </a:extLst>
          </p:cNvPr>
          <p:cNvSpPr>
            <a:spLocks noGrp="1"/>
          </p:cNvSpPr>
          <p:nvPr/>
        </p:nvSpPr>
        <p:spPr>
          <a:xfrm>
            <a:off x="548640" y="14020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RQ1</a:t>
            </a:r>
          </a:p>
        </p:txBody>
      </p:sp>
      <p:sp>
        <p:nvSpPr>
          <p:cNvPr id="8" name="Shape 6">
            <a:extLst>
              <a:ext uri="{FF2B5EF4-FFF2-40B4-BE49-F238E27FC236}">
                <a16:creationId xmlns:a16="http://schemas.microsoft.com/office/drawing/2014/main" id="{900C80E8-44A6-4543-8079-DDD4C890845F}"/>
              </a:ext>
            </a:extLst>
          </p:cNvPr>
          <p:cNvSpPr>
            <a:spLocks noGrp="1"/>
          </p:cNvSpPr>
          <p:nvPr/>
        </p:nvSpPr>
        <p:spPr>
          <a:xfrm>
            <a:off x="1609344" y="1402080"/>
            <a:ext cx="9997440" cy="926592"/>
          </a:xfrm>
          <a:prstGeom prst="rect">
            <a:avLst/>
          </a:prstGeom>
          <a:solidFill>
            <a:srgbClr val="D8E2EE"/>
          </a:solidFill>
          <a:ln w="12700">
            <a:solidFill>
              <a:srgbClr val="D8E2EE"/>
            </a:solidFill>
            <a:prstDash val="solid"/>
          </a:ln>
        </p:spPr>
        <p:txBody>
          <a:bodyPr/>
          <a:lstStyle/>
          <a:p>
            <a:endParaRPr/>
          </a:p>
        </p:txBody>
      </p:sp>
      <p:sp>
        <p:nvSpPr>
          <p:cNvPr id="9" name="Text 7">
            <a:extLst>
              <a:ext uri="{FF2B5EF4-FFF2-40B4-BE49-F238E27FC236}">
                <a16:creationId xmlns:a16="http://schemas.microsoft.com/office/drawing/2014/main" id="{7FC5EF82-E5D1-44A9-8027-C58E7795FBAC}"/>
              </a:ext>
            </a:extLst>
          </p:cNvPr>
          <p:cNvSpPr>
            <a:spLocks noGrp="1"/>
          </p:cNvSpPr>
          <p:nvPr/>
        </p:nvSpPr>
        <p:spPr>
          <a:xfrm>
            <a:off x="1780032" y="1438656"/>
            <a:ext cx="8290560" cy="682752"/>
          </a:xfrm>
          <a:prstGeom prst="rect">
            <a:avLst/>
          </a:prstGeom>
          <a:noFill/>
        </p:spPr>
        <p:txBody>
          <a:bodyPr wrap="square" lIns="0" tIns="0" rIns="0" bIns="0" anchor="ctr"/>
          <a:lstStyle/>
          <a:p>
            <a:r>
              <a:rPr sz="1400" dirty="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a:ext uri="{FF2B5EF4-FFF2-40B4-BE49-F238E27FC236}">
                <a16:creationId xmlns:a16="http://schemas.microsoft.com/office/drawing/2014/main" id="{D5215F71-6FD8-4036-8EBD-AD7AF4B9C0A8}"/>
              </a:ext>
            </a:extLst>
          </p:cNvPr>
          <p:cNvSpPr>
            <a:spLocks noGrp="1"/>
          </p:cNvSpPr>
          <p:nvPr/>
        </p:nvSpPr>
        <p:spPr>
          <a:xfrm>
            <a:off x="10119360" y="1584960"/>
            <a:ext cx="1341120" cy="536448"/>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Goal 1 – Discovery</a:t>
            </a:r>
          </a:p>
        </p:txBody>
      </p:sp>
      <p:sp>
        <p:nvSpPr>
          <p:cNvPr id="11" name="Shape 9">
            <a:extLst>
              <a:ext uri="{FF2B5EF4-FFF2-40B4-BE49-F238E27FC236}">
                <a16:creationId xmlns:a16="http://schemas.microsoft.com/office/drawing/2014/main" id="{DBC5D9FD-BEF2-4801-BDA4-E1B9B5D73648}"/>
              </a:ext>
            </a:extLst>
          </p:cNvPr>
          <p:cNvSpPr>
            <a:spLocks noGrp="1"/>
          </p:cNvSpPr>
          <p:nvPr/>
        </p:nvSpPr>
        <p:spPr>
          <a:xfrm>
            <a:off x="548640" y="2621280"/>
            <a:ext cx="950976" cy="926592"/>
          </a:xfrm>
          <a:prstGeom prst="rect">
            <a:avLst/>
          </a:prstGeom>
          <a:solidFill>
            <a:srgbClr val="2E4A7C"/>
          </a:solidFill>
          <a:ln w="12700">
            <a:solidFill>
              <a:srgbClr val="2E4A7C"/>
            </a:solidFill>
            <a:prstDash val="solid"/>
          </a:ln>
        </p:spPr>
        <p:txBody>
          <a:bodyPr/>
          <a:lstStyle/>
          <a:p>
            <a:endParaRPr/>
          </a:p>
        </p:txBody>
      </p:sp>
      <p:sp>
        <p:nvSpPr>
          <p:cNvPr id="12" name="Text 10">
            <a:extLst>
              <a:ext uri="{FF2B5EF4-FFF2-40B4-BE49-F238E27FC236}">
                <a16:creationId xmlns:a16="http://schemas.microsoft.com/office/drawing/2014/main" id="{D46C08E5-1F04-4B1E-A84C-2099142FE202}"/>
              </a:ext>
            </a:extLst>
          </p:cNvPr>
          <p:cNvSpPr>
            <a:spLocks noGrp="1"/>
          </p:cNvSpPr>
          <p:nvPr/>
        </p:nvSpPr>
        <p:spPr>
          <a:xfrm>
            <a:off x="548640" y="26212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RQ2</a:t>
            </a:r>
          </a:p>
        </p:txBody>
      </p:sp>
      <p:sp>
        <p:nvSpPr>
          <p:cNvPr id="13" name="Shape 11">
            <a:extLst>
              <a:ext uri="{FF2B5EF4-FFF2-40B4-BE49-F238E27FC236}">
                <a16:creationId xmlns:a16="http://schemas.microsoft.com/office/drawing/2014/main" id="{5E7A094C-B5EE-466B-B14A-5FBDFB0318CB}"/>
              </a:ext>
            </a:extLst>
          </p:cNvPr>
          <p:cNvSpPr>
            <a:spLocks noGrp="1"/>
          </p:cNvSpPr>
          <p:nvPr/>
        </p:nvSpPr>
        <p:spPr>
          <a:xfrm>
            <a:off x="1609344" y="2621280"/>
            <a:ext cx="9997440" cy="926592"/>
          </a:xfrm>
          <a:prstGeom prst="rect">
            <a:avLst/>
          </a:prstGeom>
          <a:solidFill>
            <a:srgbClr val="D8E2EE"/>
          </a:solidFill>
          <a:ln w="12700">
            <a:solidFill>
              <a:srgbClr val="D8E2EE"/>
            </a:solidFill>
            <a:prstDash val="solid"/>
          </a:ln>
        </p:spPr>
        <p:txBody>
          <a:bodyPr/>
          <a:lstStyle/>
          <a:p>
            <a:endParaRPr/>
          </a:p>
        </p:txBody>
      </p:sp>
      <p:sp>
        <p:nvSpPr>
          <p:cNvPr id="14" name="Text 12">
            <a:extLst>
              <a:ext uri="{FF2B5EF4-FFF2-40B4-BE49-F238E27FC236}">
                <a16:creationId xmlns:a16="http://schemas.microsoft.com/office/drawing/2014/main" id="{010E83BF-6926-4619-BC20-D1FB3C72F028}"/>
              </a:ext>
            </a:extLst>
          </p:cNvPr>
          <p:cNvSpPr>
            <a:spLocks noGrp="1"/>
          </p:cNvSpPr>
          <p:nvPr/>
        </p:nvSpPr>
        <p:spPr>
          <a:xfrm>
            <a:off x="1780032" y="26578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a:ext uri="{FF2B5EF4-FFF2-40B4-BE49-F238E27FC236}">
                <a16:creationId xmlns:a16="http://schemas.microsoft.com/office/drawing/2014/main" id="{E05FB849-D97E-4DDC-AA37-A0380B216569}"/>
              </a:ext>
            </a:extLst>
          </p:cNvPr>
          <p:cNvSpPr>
            <a:spLocks noGrp="1"/>
          </p:cNvSpPr>
          <p:nvPr/>
        </p:nvSpPr>
        <p:spPr>
          <a:xfrm>
            <a:off x="10119360" y="2804160"/>
            <a:ext cx="1341120" cy="536448"/>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Goal 1 – Validation</a:t>
            </a:r>
          </a:p>
        </p:txBody>
      </p:sp>
      <p:sp>
        <p:nvSpPr>
          <p:cNvPr id="16" name="Shape 14">
            <a:extLst>
              <a:ext uri="{FF2B5EF4-FFF2-40B4-BE49-F238E27FC236}">
                <a16:creationId xmlns:a16="http://schemas.microsoft.com/office/drawing/2014/main" id="{9939B2A2-EE72-46AB-8E47-C8C528394B06}"/>
              </a:ext>
            </a:extLst>
          </p:cNvPr>
          <p:cNvSpPr>
            <a:spLocks noGrp="1"/>
          </p:cNvSpPr>
          <p:nvPr/>
        </p:nvSpPr>
        <p:spPr>
          <a:xfrm>
            <a:off x="548640" y="3840480"/>
            <a:ext cx="950976" cy="926592"/>
          </a:xfrm>
          <a:prstGeom prst="rect">
            <a:avLst/>
          </a:prstGeom>
          <a:solidFill>
            <a:srgbClr val="1B2B45"/>
          </a:solidFill>
          <a:ln w="12700">
            <a:solidFill>
              <a:srgbClr val="1B2B45"/>
            </a:solidFill>
            <a:prstDash val="solid"/>
          </a:ln>
        </p:spPr>
        <p:txBody>
          <a:bodyPr/>
          <a:lstStyle/>
          <a:p>
            <a:endParaRPr/>
          </a:p>
        </p:txBody>
      </p:sp>
      <p:sp>
        <p:nvSpPr>
          <p:cNvPr id="17" name="Text 15">
            <a:extLst>
              <a:ext uri="{FF2B5EF4-FFF2-40B4-BE49-F238E27FC236}">
                <a16:creationId xmlns:a16="http://schemas.microsoft.com/office/drawing/2014/main" id="{AD70CC92-9071-42FF-9969-249969A5B857}"/>
              </a:ext>
            </a:extLst>
          </p:cNvPr>
          <p:cNvSpPr>
            <a:spLocks noGrp="1"/>
          </p:cNvSpPr>
          <p:nvPr/>
        </p:nvSpPr>
        <p:spPr>
          <a:xfrm>
            <a:off x="548640" y="38404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RQ3</a:t>
            </a:r>
          </a:p>
        </p:txBody>
      </p:sp>
      <p:sp>
        <p:nvSpPr>
          <p:cNvPr id="18" name="Shape 16">
            <a:extLst>
              <a:ext uri="{FF2B5EF4-FFF2-40B4-BE49-F238E27FC236}">
                <a16:creationId xmlns:a16="http://schemas.microsoft.com/office/drawing/2014/main" id="{47426103-D5CA-47E7-BF99-1528CA0B2AD5}"/>
              </a:ext>
            </a:extLst>
          </p:cNvPr>
          <p:cNvSpPr>
            <a:spLocks noGrp="1"/>
          </p:cNvSpPr>
          <p:nvPr/>
        </p:nvSpPr>
        <p:spPr>
          <a:xfrm>
            <a:off x="1609344" y="3840480"/>
            <a:ext cx="9997440" cy="926592"/>
          </a:xfrm>
          <a:prstGeom prst="rect">
            <a:avLst/>
          </a:prstGeom>
          <a:solidFill>
            <a:srgbClr val="D8E2EE"/>
          </a:solidFill>
          <a:ln w="12700">
            <a:solidFill>
              <a:srgbClr val="D8E2EE"/>
            </a:solidFill>
            <a:prstDash val="solid"/>
          </a:ln>
        </p:spPr>
        <p:txBody>
          <a:bodyPr/>
          <a:lstStyle/>
          <a:p>
            <a:endParaRPr/>
          </a:p>
        </p:txBody>
      </p:sp>
      <p:sp>
        <p:nvSpPr>
          <p:cNvPr id="19" name="Text 17">
            <a:extLst>
              <a:ext uri="{FF2B5EF4-FFF2-40B4-BE49-F238E27FC236}">
                <a16:creationId xmlns:a16="http://schemas.microsoft.com/office/drawing/2014/main" id="{5EE2DC9B-2D00-4803-B3EB-18AEB4DE9169}"/>
              </a:ext>
            </a:extLst>
          </p:cNvPr>
          <p:cNvSpPr>
            <a:spLocks noGrp="1"/>
          </p:cNvSpPr>
          <p:nvPr/>
        </p:nvSpPr>
        <p:spPr>
          <a:xfrm>
            <a:off x="1780032" y="38770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a:ext uri="{FF2B5EF4-FFF2-40B4-BE49-F238E27FC236}">
                <a16:creationId xmlns:a16="http://schemas.microsoft.com/office/drawing/2014/main" id="{ABFFC67E-ADB6-4141-AAA0-3CBBCAD7BB12}"/>
              </a:ext>
            </a:extLst>
          </p:cNvPr>
          <p:cNvSpPr>
            <a:spLocks noGrp="1"/>
          </p:cNvSpPr>
          <p:nvPr/>
        </p:nvSpPr>
        <p:spPr>
          <a:xfrm>
            <a:off x="10119360" y="4023360"/>
            <a:ext cx="1341120" cy="536448"/>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Goal 2 – Prediction</a:t>
            </a:r>
          </a:p>
        </p:txBody>
      </p:sp>
      <p:sp>
        <p:nvSpPr>
          <p:cNvPr id="21" name="Shape 19">
            <a:extLst>
              <a:ext uri="{FF2B5EF4-FFF2-40B4-BE49-F238E27FC236}">
                <a16:creationId xmlns:a16="http://schemas.microsoft.com/office/drawing/2014/main" id="{02D6D897-61AD-4570-BD5F-10164698E30A}"/>
              </a:ext>
            </a:extLst>
          </p:cNvPr>
          <p:cNvSpPr>
            <a:spLocks noGrp="1"/>
          </p:cNvSpPr>
          <p:nvPr/>
        </p:nvSpPr>
        <p:spPr>
          <a:xfrm>
            <a:off x="548640" y="5059680"/>
            <a:ext cx="950976" cy="926592"/>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E003A1A-B2DE-4B52-8906-D1B6C30E44E8}"/>
              </a:ext>
            </a:extLst>
          </p:cNvPr>
          <p:cNvSpPr>
            <a:spLocks noGrp="1"/>
          </p:cNvSpPr>
          <p:nvPr/>
        </p:nvSpPr>
        <p:spPr>
          <a:xfrm>
            <a:off x="548640" y="50596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RQ4</a:t>
            </a:r>
          </a:p>
        </p:txBody>
      </p:sp>
      <p:sp>
        <p:nvSpPr>
          <p:cNvPr id="23" name="Shape 21">
            <a:extLst>
              <a:ext uri="{FF2B5EF4-FFF2-40B4-BE49-F238E27FC236}">
                <a16:creationId xmlns:a16="http://schemas.microsoft.com/office/drawing/2014/main" id="{16DD37CF-C449-4F09-BA05-76518A7369C9}"/>
              </a:ext>
            </a:extLst>
          </p:cNvPr>
          <p:cNvSpPr>
            <a:spLocks noGrp="1"/>
          </p:cNvSpPr>
          <p:nvPr/>
        </p:nvSpPr>
        <p:spPr>
          <a:xfrm>
            <a:off x="1609344" y="5059680"/>
            <a:ext cx="9997440" cy="926592"/>
          </a:xfrm>
          <a:prstGeom prst="rect">
            <a:avLst/>
          </a:prstGeom>
          <a:solidFill>
            <a:srgbClr val="D8E2EE"/>
          </a:solidFill>
          <a:ln w="12700">
            <a:solidFill>
              <a:srgbClr val="D8E2EE"/>
            </a:solidFill>
            <a:prstDash val="solid"/>
          </a:ln>
        </p:spPr>
        <p:txBody>
          <a:bodyPr/>
          <a:lstStyle/>
          <a:p>
            <a:endParaRPr/>
          </a:p>
        </p:txBody>
      </p:sp>
      <p:sp>
        <p:nvSpPr>
          <p:cNvPr id="24" name="Text 22">
            <a:extLst>
              <a:ext uri="{FF2B5EF4-FFF2-40B4-BE49-F238E27FC236}">
                <a16:creationId xmlns:a16="http://schemas.microsoft.com/office/drawing/2014/main" id="{DA777E93-F514-41D4-B816-05A99A77854F}"/>
              </a:ext>
            </a:extLst>
          </p:cNvPr>
          <p:cNvSpPr>
            <a:spLocks noGrp="1"/>
          </p:cNvSpPr>
          <p:nvPr/>
        </p:nvSpPr>
        <p:spPr>
          <a:xfrm>
            <a:off x="1780032" y="50962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a:ext uri="{FF2B5EF4-FFF2-40B4-BE49-F238E27FC236}">
                <a16:creationId xmlns:a16="http://schemas.microsoft.com/office/drawing/2014/main" id="{D2CD785C-B41F-4277-BD06-D8A4BC9C4AB8}"/>
              </a:ext>
            </a:extLst>
          </p:cNvPr>
          <p:cNvSpPr>
            <a:spLocks noGrp="1"/>
          </p:cNvSpPr>
          <p:nvPr/>
        </p:nvSpPr>
        <p:spPr>
          <a:xfrm>
            <a:off x="10119360" y="5242560"/>
            <a:ext cx="1341120" cy="536448"/>
          </a:xfrm>
          <a:prstGeom prst="rect">
            <a:avLst/>
          </a:prstGeom>
          <a:noFill/>
        </p:spPr>
        <p:txBody>
          <a:bodyPr wrap="square" lIns="0" tIns="0" rIns="0" bIns="0" anchor="ctr"/>
          <a:lstStyle/>
          <a:p>
            <a:pPr algn="r">
              <a:buNone/>
            </a:pPr>
            <a:r>
              <a:rPr sz="1067" b="1" i="1">
                <a:solidFill>
                  <a:srgbClr val="B03A2E"/>
                </a:solidFill>
                <a:latin typeface="Calibri"/>
                <a:ea typeface="Calibri"/>
                <a:cs typeface="Calibri"/>
              </a:rPr>
              <a:t>Goal 2 – Diagnosis</a:t>
            </a:r>
          </a:p>
        </p:txBody>
      </p:sp>
      <p:sp>
        <p:nvSpPr>
          <p:cNvPr id="26" name="Shape 24">
            <a:extLst>
              <a:ext uri="{FF2B5EF4-FFF2-40B4-BE49-F238E27FC236}">
                <a16:creationId xmlns:a16="http://schemas.microsoft.com/office/drawing/2014/main" id="{9A090406-A2A7-48F9-80D9-55DEBFEB53E0}"/>
              </a:ext>
            </a:extLst>
          </p:cNvPr>
          <p:cNvSpPr>
            <a:spLocks noGrp="1"/>
          </p:cNvSpPr>
          <p:nvPr/>
        </p:nvSpPr>
        <p:spPr>
          <a:xfrm>
            <a:off x="548640" y="6217920"/>
            <a:ext cx="11094720" cy="463296"/>
          </a:xfrm>
          <a:prstGeom prst="rect">
            <a:avLst/>
          </a:prstGeom>
          <a:solidFill>
            <a:srgbClr val="1B2B45"/>
          </a:solidFill>
          <a:ln w="12700">
            <a:solidFill>
              <a:srgbClr val="1B2B45"/>
            </a:solidFill>
            <a:prstDash val="solid"/>
          </a:ln>
        </p:spPr>
        <p:txBody>
          <a:bodyPr/>
          <a:lstStyle/>
          <a:p>
            <a:endParaRPr/>
          </a:p>
        </p:txBody>
      </p:sp>
      <p:sp>
        <p:nvSpPr>
          <p:cNvPr id="27" name="Text 25">
            <a:extLst>
              <a:ext uri="{FF2B5EF4-FFF2-40B4-BE49-F238E27FC236}">
                <a16:creationId xmlns:a16="http://schemas.microsoft.com/office/drawing/2014/main" id="{6BF70156-1B0C-4D48-8201-5320744243DF}"/>
              </a:ext>
            </a:extLst>
          </p:cNvPr>
          <p:cNvSpPr>
            <a:spLocks noGrp="1"/>
          </p:cNvSpPr>
          <p:nvPr/>
        </p:nvSpPr>
        <p:spPr>
          <a:xfrm>
            <a:off x="548640" y="6217920"/>
            <a:ext cx="11094720" cy="463296"/>
          </a:xfrm>
          <a:prstGeom prst="rect">
            <a:avLst/>
          </a:prstGeom>
          <a:noFill/>
        </p:spPr>
        <p:txBody>
          <a:bodyPr wrap="square" lIns="0" tIns="0" rIns="0" bIns="0" anchor="ctr"/>
          <a:lstStyle/>
          <a:p>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050020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208F66-C85C-4936-BFFA-3126C97504C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6746CD5-B369-4E50-8A6E-D2DAD4F47C71}"/>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Dataset &amp; Feature Engineering</a:t>
            </a:r>
          </a:p>
        </p:txBody>
      </p:sp>
      <p:sp>
        <p:nvSpPr>
          <p:cNvPr id="4" name="Text 2">
            <a:extLst>
              <a:ext uri="{FF2B5EF4-FFF2-40B4-BE49-F238E27FC236}">
                <a16:creationId xmlns:a16="http://schemas.microsoft.com/office/drawing/2014/main" id="{C476C037-5758-4539-8B6C-D1D30206A35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Two contrasting natural experiments — same pipeline</a:t>
            </a:r>
          </a:p>
        </p:txBody>
      </p:sp>
      <p:sp>
        <p:nvSpPr>
          <p:cNvPr id="5" name="Shape 3">
            <a:extLst>
              <a:ext uri="{FF2B5EF4-FFF2-40B4-BE49-F238E27FC236}">
                <a16:creationId xmlns:a16="http://schemas.microsoft.com/office/drawing/2014/main" id="{3464212D-CB0B-4967-81D7-4EBB01F8A71D}"/>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C6C8554-46C0-4D2D-BA96-57F14ACF532C}"/>
              </a:ext>
            </a:extLst>
          </p:cNvPr>
          <p:cNvSpPr>
            <a:spLocks noGrp="1"/>
          </p:cNvSpPr>
          <p:nvPr/>
        </p:nvSpPr>
        <p:spPr>
          <a:xfrm>
            <a:off x="548640" y="1341120"/>
            <a:ext cx="5242560" cy="2499360"/>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4696A9B6-7EA8-4ABF-A6D3-764477489365}"/>
              </a:ext>
            </a:extLst>
          </p:cNvPr>
          <p:cNvSpPr>
            <a:spLocks noGrp="1"/>
          </p:cNvSpPr>
          <p:nvPr/>
        </p:nvSpPr>
        <p:spPr>
          <a:xfrm>
            <a:off x="6949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Douro (RDD)</a:t>
            </a:r>
          </a:p>
        </p:txBody>
      </p:sp>
      <p:sp>
        <p:nvSpPr>
          <p:cNvPr id="8" name="Text 6">
            <a:extLst>
              <a:ext uri="{FF2B5EF4-FFF2-40B4-BE49-F238E27FC236}">
                <a16:creationId xmlns:a16="http://schemas.microsoft.com/office/drawing/2014/main" id="{BDC2AD2E-00D7-48EE-8A86-AE6BAA7C165D}"/>
              </a:ext>
            </a:extLst>
          </p:cNvPr>
          <p:cNvSpPr>
            <a:spLocks noGrp="1"/>
          </p:cNvSpPr>
          <p:nvPr/>
        </p:nvSpPr>
        <p:spPr>
          <a:xfrm>
            <a:off x="7680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1934–2022</a:t>
            </a:r>
          </a:p>
        </p:txBody>
      </p:sp>
      <p:sp>
        <p:nvSpPr>
          <p:cNvPr id="9" name="Text 7">
            <a:extLst>
              <a:ext uri="{FF2B5EF4-FFF2-40B4-BE49-F238E27FC236}">
                <a16:creationId xmlns:a16="http://schemas.microsoft.com/office/drawing/2014/main" id="{1A385527-6A0F-4A63-BB5E-25139BD3AB79}"/>
              </a:ext>
            </a:extLst>
          </p:cNvPr>
          <p:cNvSpPr>
            <a:spLocks noGrp="1"/>
          </p:cNvSpPr>
          <p:nvPr/>
        </p:nvSpPr>
        <p:spPr>
          <a:xfrm>
            <a:off x="7680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89 observations</a:t>
            </a:r>
          </a:p>
        </p:txBody>
      </p:sp>
      <p:sp>
        <p:nvSpPr>
          <p:cNvPr id="10" name="Text 8">
            <a:extLst>
              <a:ext uri="{FF2B5EF4-FFF2-40B4-BE49-F238E27FC236}">
                <a16:creationId xmlns:a16="http://schemas.microsoft.com/office/drawing/2014/main" id="{0DBCFCBE-7ED6-4739-AC74-CAB9CF4AE9F1}"/>
              </a:ext>
            </a:extLst>
          </p:cNvPr>
          <p:cNvSpPr>
            <a:spLocks noGrp="1"/>
          </p:cNvSpPr>
          <p:nvPr/>
        </p:nvSpPr>
        <p:spPr>
          <a:xfrm>
            <a:off x="7680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1,116 mhl</a:t>
            </a:r>
          </a:p>
        </p:txBody>
      </p:sp>
      <p:sp>
        <p:nvSpPr>
          <p:cNvPr id="11" name="Text 9">
            <a:extLst>
              <a:ext uri="{FF2B5EF4-FFF2-40B4-BE49-F238E27FC236}">
                <a16:creationId xmlns:a16="http://schemas.microsoft.com/office/drawing/2014/main" id="{A1255ECD-8D32-4856-BB11-70C0A77E6852}"/>
              </a:ext>
            </a:extLst>
          </p:cNvPr>
          <p:cNvSpPr>
            <a:spLocks noGrp="1"/>
          </p:cNvSpPr>
          <p:nvPr/>
        </p:nvSpPr>
        <p:spPr>
          <a:xfrm>
            <a:off x="7680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Upward trend</a:t>
            </a:r>
          </a:p>
        </p:txBody>
      </p:sp>
      <p:sp>
        <p:nvSpPr>
          <p:cNvPr id="12" name="Text 10">
            <a:extLst>
              <a:ext uri="{FF2B5EF4-FFF2-40B4-BE49-F238E27FC236}">
                <a16:creationId xmlns:a16="http://schemas.microsoft.com/office/drawing/2014/main" id="{62AFA8AF-40CA-4BFE-8051-786C2EE4494F}"/>
              </a:ext>
            </a:extLst>
          </p:cNvPr>
          <p:cNvSpPr>
            <a:spLocks noGrp="1"/>
          </p:cNvSpPr>
          <p:nvPr/>
        </p:nvSpPr>
        <p:spPr>
          <a:xfrm>
            <a:off x="7680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~1990</a:t>
            </a:r>
          </a:p>
        </p:txBody>
      </p:sp>
      <p:sp>
        <p:nvSpPr>
          <p:cNvPr id="13" name="Shape 11">
            <a:extLst>
              <a:ext uri="{FF2B5EF4-FFF2-40B4-BE49-F238E27FC236}">
                <a16:creationId xmlns:a16="http://schemas.microsoft.com/office/drawing/2014/main" id="{351B3497-731F-4FD1-99C5-D1DE8ECCE035}"/>
              </a:ext>
            </a:extLst>
          </p:cNvPr>
          <p:cNvSpPr>
            <a:spLocks noGrp="1"/>
          </p:cNvSpPr>
          <p:nvPr/>
        </p:nvSpPr>
        <p:spPr>
          <a:xfrm>
            <a:off x="6339840" y="1341120"/>
            <a:ext cx="5242560" cy="2499360"/>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4" name="Text 12">
            <a:extLst>
              <a:ext uri="{FF2B5EF4-FFF2-40B4-BE49-F238E27FC236}">
                <a16:creationId xmlns:a16="http://schemas.microsoft.com/office/drawing/2014/main" id="{2B6FAB67-9B7E-4489-8E72-8B9AE2470DE6}"/>
              </a:ext>
            </a:extLst>
          </p:cNvPr>
          <p:cNvSpPr>
            <a:spLocks noGrp="1"/>
          </p:cNvSpPr>
          <p:nvPr/>
        </p:nvSpPr>
        <p:spPr>
          <a:xfrm>
            <a:off x="64861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Vinho Verde (RVV)</a:t>
            </a:r>
          </a:p>
        </p:txBody>
      </p:sp>
      <p:sp>
        <p:nvSpPr>
          <p:cNvPr id="15" name="Text 13">
            <a:extLst>
              <a:ext uri="{FF2B5EF4-FFF2-40B4-BE49-F238E27FC236}">
                <a16:creationId xmlns:a16="http://schemas.microsoft.com/office/drawing/2014/main" id="{8FC414EF-F210-41E7-AD12-8BB901E41EED}"/>
              </a:ext>
            </a:extLst>
          </p:cNvPr>
          <p:cNvSpPr>
            <a:spLocks noGrp="1"/>
          </p:cNvSpPr>
          <p:nvPr/>
        </p:nvSpPr>
        <p:spPr>
          <a:xfrm>
            <a:off x="65592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1942–2021</a:t>
            </a:r>
          </a:p>
        </p:txBody>
      </p:sp>
      <p:sp>
        <p:nvSpPr>
          <p:cNvPr id="16" name="Text 14">
            <a:extLst>
              <a:ext uri="{FF2B5EF4-FFF2-40B4-BE49-F238E27FC236}">
                <a16:creationId xmlns:a16="http://schemas.microsoft.com/office/drawing/2014/main" id="{8BE6ACE1-4BF7-4ABE-8246-57F52FD85504}"/>
              </a:ext>
            </a:extLst>
          </p:cNvPr>
          <p:cNvSpPr>
            <a:spLocks noGrp="1"/>
          </p:cNvSpPr>
          <p:nvPr/>
        </p:nvSpPr>
        <p:spPr>
          <a:xfrm>
            <a:off x="65592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80 observations</a:t>
            </a:r>
          </a:p>
        </p:txBody>
      </p:sp>
      <p:sp>
        <p:nvSpPr>
          <p:cNvPr id="17" name="Text 15">
            <a:extLst>
              <a:ext uri="{FF2B5EF4-FFF2-40B4-BE49-F238E27FC236}">
                <a16:creationId xmlns:a16="http://schemas.microsoft.com/office/drawing/2014/main" id="{B7845E70-8BA4-4862-B4AB-C380ADA97C8A}"/>
              </a:ext>
            </a:extLst>
          </p:cNvPr>
          <p:cNvSpPr>
            <a:spLocks noGrp="1"/>
          </p:cNvSpPr>
          <p:nvPr/>
        </p:nvSpPr>
        <p:spPr>
          <a:xfrm>
            <a:off x="65592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1,621 mhl</a:t>
            </a:r>
          </a:p>
        </p:txBody>
      </p:sp>
      <p:sp>
        <p:nvSpPr>
          <p:cNvPr id="18" name="Text 16">
            <a:extLst>
              <a:ext uri="{FF2B5EF4-FFF2-40B4-BE49-F238E27FC236}">
                <a16:creationId xmlns:a16="http://schemas.microsoft.com/office/drawing/2014/main" id="{29F8DD09-5A21-4611-9183-55A390433C33}"/>
              </a:ext>
            </a:extLst>
          </p:cNvPr>
          <p:cNvSpPr>
            <a:spLocks noGrp="1"/>
          </p:cNvSpPr>
          <p:nvPr/>
        </p:nvSpPr>
        <p:spPr>
          <a:xfrm>
            <a:off x="65592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Sharp decline since 1960s</a:t>
            </a:r>
          </a:p>
        </p:txBody>
      </p:sp>
      <p:sp>
        <p:nvSpPr>
          <p:cNvPr id="19" name="Text 17">
            <a:extLst>
              <a:ext uri="{FF2B5EF4-FFF2-40B4-BE49-F238E27FC236}">
                <a16:creationId xmlns:a16="http://schemas.microsoft.com/office/drawing/2014/main" id="{6FE88BE1-05F3-41FC-B079-4095EEDBE6AE}"/>
              </a:ext>
            </a:extLst>
          </p:cNvPr>
          <p:cNvSpPr>
            <a:spLocks noGrp="1"/>
          </p:cNvSpPr>
          <p:nvPr/>
        </p:nvSpPr>
        <p:spPr>
          <a:xfrm>
            <a:off x="65592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~1986 (EU)</a:t>
            </a:r>
          </a:p>
        </p:txBody>
      </p:sp>
      <p:sp>
        <p:nvSpPr>
          <p:cNvPr id="20" name="Text 18">
            <a:extLst>
              <a:ext uri="{FF2B5EF4-FFF2-40B4-BE49-F238E27FC236}">
                <a16:creationId xmlns:a16="http://schemas.microsoft.com/office/drawing/2014/main" id="{ACF0B574-2133-4D21-A6DA-2F2AF13AD214}"/>
              </a:ext>
            </a:extLst>
          </p:cNvPr>
          <p:cNvSpPr>
            <a:spLocks noGrp="1"/>
          </p:cNvSpPr>
          <p:nvPr/>
        </p:nvSpPr>
        <p:spPr>
          <a:xfrm>
            <a:off x="548640" y="3998976"/>
            <a:ext cx="11094720" cy="414528"/>
          </a:xfrm>
          <a:prstGeom prst="rect">
            <a:avLst/>
          </a:prstGeom>
          <a:noFill/>
        </p:spPr>
        <p:txBody>
          <a:bodyPr wrap="square" lIns="0" tIns="0" rIns="0" bIns="0" anchor="ctr"/>
          <a:lstStyle/>
          <a:p>
            <a:r>
              <a:rPr sz="1733" b="1">
                <a:solidFill>
                  <a:srgbClr val="1A2A3A"/>
                </a:solidFill>
                <a:latin typeface="Calibri"/>
                <a:ea typeface="Calibri"/>
                <a:cs typeface="Calibri"/>
              </a:rPr>
              <a:t>Feature Engineering Pipeline  (59 annual features per region)</a:t>
            </a:r>
          </a:p>
        </p:txBody>
      </p:sp>
      <p:sp>
        <p:nvSpPr>
          <p:cNvPr id="21" name="Shape 19">
            <a:extLst>
              <a:ext uri="{FF2B5EF4-FFF2-40B4-BE49-F238E27FC236}">
                <a16:creationId xmlns:a16="http://schemas.microsoft.com/office/drawing/2014/main" id="{B8D8BFDD-CDC5-43BD-8A3C-151BF24F0546}"/>
              </a:ext>
            </a:extLst>
          </p:cNvPr>
          <p:cNvSpPr>
            <a:spLocks noGrp="1"/>
          </p:cNvSpPr>
          <p:nvPr/>
        </p:nvSpPr>
        <p:spPr>
          <a:xfrm>
            <a:off x="487680" y="4535424"/>
            <a:ext cx="2560320" cy="1950720"/>
          </a:xfrm>
          <a:prstGeom prst="rect">
            <a:avLst/>
          </a:prstGeom>
          <a:solidFill>
            <a:srgbClr val="1B2B45"/>
          </a:solidFill>
          <a:ln w="12700">
            <a:solidFill>
              <a:srgbClr val="1B2B45"/>
            </a:solidFill>
            <a:prstDash val="solid"/>
          </a:ln>
        </p:spPr>
        <p:txBody>
          <a:bodyPr/>
          <a:lstStyle/>
          <a:p>
            <a:endParaRPr/>
          </a:p>
        </p:txBody>
      </p:sp>
      <p:sp>
        <p:nvSpPr>
          <p:cNvPr id="22" name="Text 20">
            <a:extLst>
              <a:ext uri="{FF2B5EF4-FFF2-40B4-BE49-F238E27FC236}">
                <a16:creationId xmlns:a16="http://schemas.microsoft.com/office/drawing/2014/main" id="{4C79F798-871B-4211-807D-1BDF41EB799B}"/>
              </a:ext>
            </a:extLst>
          </p:cNvPr>
          <p:cNvSpPr>
            <a:spLocks noGrp="1"/>
          </p:cNvSpPr>
          <p:nvPr/>
        </p:nvSpPr>
        <p:spPr>
          <a:xfrm>
            <a:off x="58521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Daily meteorological data</a:t>
            </a:r>
          </a:p>
          <a:p>
            <a:pPr algn="ctr">
              <a:buNone/>
            </a:pPr>
            <a:r>
              <a:rPr sz="1200">
                <a:solidFill>
                  <a:srgbClr val="FFFFFF"/>
                </a:solidFill>
                <a:latin typeface="Calibri"/>
                <a:ea typeface="Calibri"/>
                <a:cs typeface="Calibri"/>
              </a:rPr>
              <a:t>(Temp, Rainfall, SWA, LAI, ETo)</a:t>
            </a:r>
          </a:p>
          <a:p>
            <a:pPr algn="ctr">
              <a:buNone/>
            </a:pPr>
            <a:r>
              <a:rPr sz="1200">
                <a:solidFill>
                  <a:srgbClr val="FFFFFF"/>
                </a:solidFill>
                <a:latin typeface="Calibri"/>
                <a:ea typeface="Calibri"/>
                <a:cs typeface="Calibri"/>
              </a:rPr>
              <a:t>~30,000 records/region</a:t>
            </a:r>
          </a:p>
        </p:txBody>
      </p:sp>
      <p:sp>
        <p:nvSpPr>
          <p:cNvPr id="23" name="Text 21">
            <a:extLst>
              <a:ext uri="{FF2B5EF4-FFF2-40B4-BE49-F238E27FC236}">
                <a16:creationId xmlns:a16="http://schemas.microsoft.com/office/drawing/2014/main" id="{1137BCB1-33AF-4CAA-93F4-148BC04BDE1E}"/>
              </a:ext>
            </a:extLst>
          </p:cNvPr>
          <p:cNvSpPr>
            <a:spLocks noGrp="1"/>
          </p:cNvSpPr>
          <p:nvPr/>
        </p:nvSpPr>
        <p:spPr>
          <a:xfrm>
            <a:off x="304800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4" name="Shape 22">
            <a:extLst>
              <a:ext uri="{FF2B5EF4-FFF2-40B4-BE49-F238E27FC236}">
                <a16:creationId xmlns:a16="http://schemas.microsoft.com/office/drawing/2014/main" id="{AD9A2E41-7016-4F2A-8EE5-22C807216E69}"/>
              </a:ext>
            </a:extLst>
          </p:cNvPr>
          <p:cNvSpPr>
            <a:spLocks noGrp="1"/>
          </p:cNvSpPr>
          <p:nvPr/>
        </p:nvSpPr>
        <p:spPr>
          <a:xfrm>
            <a:off x="3352800" y="4535424"/>
            <a:ext cx="2560320" cy="1950720"/>
          </a:xfrm>
          <a:prstGeom prst="rect">
            <a:avLst/>
          </a:prstGeom>
          <a:solidFill>
            <a:srgbClr val="2E4A7C"/>
          </a:solidFill>
          <a:ln w="12700">
            <a:solidFill>
              <a:srgbClr val="2E4A7C"/>
            </a:solidFill>
            <a:prstDash val="solid"/>
          </a:ln>
        </p:spPr>
        <p:txBody>
          <a:bodyPr/>
          <a:lstStyle/>
          <a:p>
            <a:endParaRPr/>
          </a:p>
        </p:txBody>
      </p:sp>
      <p:sp>
        <p:nvSpPr>
          <p:cNvPr id="25" name="Text 23">
            <a:extLst>
              <a:ext uri="{FF2B5EF4-FFF2-40B4-BE49-F238E27FC236}">
                <a16:creationId xmlns:a16="http://schemas.microsoft.com/office/drawing/2014/main" id="{D62E4119-B1FF-4868-BF2A-B425E203A965}"/>
              </a:ext>
            </a:extLst>
          </p:cNvPr>
          <p:cNvSpPr>
            <a:spLocks noGrp="1"/>
          </p:cNvSpPr>
          <p:nvPr/>
        </p:nvSpPr>
        <p:spPr>
          <a:xfrm>
            <a:off x="345033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Phenological anchors</a:t>
            </a:r>
          </a:p>
          <a:p>
            <a:pPr algn="ctr">
              <a:buNone/>
            </a:pPr>
            <a:r>
              <a:rPr sz="1200">
                <a:solidFill>
                  <a:srgbClr val="FFFFFF"/>
                </a:solidFill>
                <a:latin typeface="Calibri"/>
                <a:ea typeface="Calibri"/>
                <a:cs typeface="Calibri"/>
              </a:rPr>
              <a:t>(Budburst, Flowering,</a:t>
            </a:r>
          </a:p>
          <a:p>
            <a:pPr algn="ctr">
              <a:buNone/>
            </a:pPr>
            <a:r>
              <a:rPr sz="1200">
                <a:solidFill>
                  <a:srgbClr val="FFFFFF"/>
                </a:solidFill>
                <a:latin typeface="Calibri"/>
                <a:ea typeface="Calibri"/>
                <a:cs typeface="Calibri"/>
              </a:rPr>
              <a:t>Veraison, Harvest)</a:t>
            </a:r>
          </a:p>
        </p:txBody>
      </p:sp>
      <p:sp>
        <p:nvSpPr>
          <p:cNvPr id="26" name="Text 24">
            <a:extLst>
              <a:ext uri="{FF2B5EF4-FFF2-40B4-BE49-F238E27FC236}">
                <a16:creationId xmlns:a16="http://schemas.microsoft.com/office/drawing/2014/main" id="{EDA1E464-6679-4FF2-83C4-FC8B1F3846EB}"/>
              </a:ext>
            </a:extLst>
          </p:cNvPr>
          <p:cNvSpPr>
            <a:spLocks noGrp="1"/>
          </p:cNvSpPr>
          <p:nvPr/>
        </p:nvSpPr>
        <p:spPr>
          <a:xfrm>
            <a:off x="591312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7" name="Shape 25">
            <a:extLst>
              <a:ext uri="{FF2B5EF4-FFF2-40B4-BE49-F238E27FC236}">
                <a16:creationId xmlns:a16="http://schemas.microsoft.com/office/drawing/2014/main" id="{CBE0CDC3-277B-4963-B2D3-BEF429DEA537}"/>
              </a:ext>
            </a:extLst>
          </p:cNvPr>
          <p:cNvSpPr>
            <a:spLocks noGrp="1"/>
          </p:cNvSpPr>
          <p:nvPr/>
        </p:nvSpPr>
        <p:spPr>
          <a:xfrm>
            <a:off x="6217920" y="4535424"/>
            <a:ext cx="2560320" cy="1950720"/>
          </a:xfrm>
          <a:prstGeom prst="rect">
            <a:avLst/>
          </a:prstGeom>
          <a:solidFill>
            <a:srgbClr val="0D7377"/>
          </a:solidFill>
          <a:ln w="12700">
            <a:solidFill>
              <a:srgbClr val="0D7377"/>
            </a:solidFill>
            <a:prstDash val="solid"/>
          </a:ln>
        </p:spPr>
        <p:txBody>
          <a:bodyPr/>
          <a:lstStyle/>
          <a:p>
            <a:endParaRPr/>
          </a:p>
        </p:txBody>
      </p:sp>
      <p:sp>
        <p:nvSpPr>
          <p:cNvPr id="28" name="Text 26">
            <a:extLst>
              <a:ext uri="{FF2B5EF4-FFF2-40B4-BE49-F238E27FC236}">
                <a16:creationId xmlns:a16="http://schemas.microsoft.com/office/drawing/2014/main" id="{17BBF0F4-267F-48A7-B380-1B0699EFB88A}"/>
              </a:ext>
            </a:extLst>
          </p:cNvPr>
          <p:cNvSpPr>
            <a:spLocks noGrp="1"/>
          </p:cNvSpPr>
          <p:nvPr/>
        </p:nvSpPr>
        <p:spPr>
          <a:xfrm>
            <a:off x="631545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Feature engineering</a:t>
            </a:r>
          </a:p>
          <a:p>
            <a:pPr algn="ctr">
              <a:buNone/>
            </a:pPr>
            <a:r>
              <a:rPr sz="1200">
                <a:solidFill>
                  <a:srgbClr val="FFFFFF"/>
                </a:solidFill>
                <a:latin typeface="Calibri"/>
                <a:ea typeface="Calibri"/>
                <a:cs typeface="Calibri"/>
              </a:rPr>
              <a:t>59 annual features:</a:t>
            </a:r>
          </a:p>
          <a:p>
            <a:pPr algn="ctr">
              <a:buNone/>
            </a:pPr>
            <a:r>
              <a:rPr sz="1200">
                <a:solidFill>
                  <a:srgbClr val="FFFFFF"/>
                </a:solidFill>
                <a:latin typeface="Calibri"/>
                <a:ea typeface="Calibri"/>
                <a:cs typeface="Calibri"/>
              </a:rPr>
              <a:t>variable × stage × window × year</a:t>
            </a:r>
          </a:p>
        </p:txBody>
      </p:sp>
      <p:sp>
        <p:nvSpPr>
          <p:cNvPr id="29" name="Text 27">
            <a:extLst>
              <a:ext uri="{FF2B5EF4-FFF2-40B4-BE49-F238E27FC236}">
                <a16:creationId xmlns:a16="http://schemas.microsoft.com/office/drawing/2014/main" id="{6EF9A8BA-51DE-412E-B320-0E54491D2E7E}"/>
              </a:ext>
            </a:extLst>
          </p:cNvPr>
          <p:cNvSpPr>
            <a:spLocks noGrp="1"/>
          </p:cNvSpPr>
          <p:nvPr/>
        </p:nvSpPr>
        <p:spPr>
          <a:xfrm>
            <a:off x="877824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30" name="Shape 28">
            <a:extLst>
              <a:ext uri="{FF2B5EF4-FFF2-40B4-BE49-F238E27FC236}">
                <a16:creationId xmlns:a16="http://schemas.microsoft.com/office/drawing/2014/main" id="{462DBFA2-4A7E-4496-8A6B-D8375B9B8EFC}"/>
              </a:ext>
            </a:extLst>
          </p:cNvPr>
          <p:cNvSpPr>
            <a:spLocks noGrp="1"/>
          </p:cNvSpPr>
          <p:nvPr/>
        </p:nvSpPr>
        <p:spPr>
          <a:xfrm>
            <a:off x="9083040" y="4535424"/>
            <a:ext cx="2560320" cy="1950720"/>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BCF11143-A319-42CA-9EC1-4C2CA3AAC258}"/>
              </a:ext>
            </a:extLst>
          </p:cNvPr>
          <p:cNvSpPr>
            <a:spLocks noGrp="1"/>
          </p:cNvSpPr>
          <p:nvPr/>
        </p:nvSpPr>
        <p:spPr>
          <a:xfrm>
            <a:off x="918057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Naming convention:</a:t>
            </a:r>
          </a:p>
          <a:p>
            <a:pPr algn="ctr">
              <a:buNone/>
            </a:pPr>
            <a:r>
              <a:rPr sz="1200">
                <a:solidFill>
                  <a:srgbClr val="FFFFFF"/>
                </a:solidFill>
                <a:latin typeface="Calibri"/>
                <a:ea typeface="Calibri"/>
                <a:cs typeface="Calibri"/>
              </a:rPr>
              <a:t>swa_hv_y1_b20</a:t>
            </a:r>
          </a:p>
          <a:p>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632296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CCD849-CD94-4D51-80BB-BA9573FAE8B8}"/>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451F650-1188-4BE6-A6F3-F21605331B4C}"/>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Methodological Framework</a:t>
            </a:r>
          </a:p>
        </p:txBody>
      </p:sp>
      <p:sp>
        <p:nvSpPr>
          <p:cNvPr id="4" name="Text 2">
            <a:extLst>
              <a:ext uri="{FF2B5EF4-FFF2-40B4-BE49-F238E27FC236}">
                <a16:creationId xmlns:a16="http://schemas.microsoft.com/office/drawing/2014/main" id="{0319A454-CFE8-4ACD-BAB3-2E18349E2C44}"/>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Complete pipeline from raw data to scientific findings</a:t>
            </a:r>
          </a:p>
        </p:txBody>
      </p:sp>
      <p:sp>
        <p:nvSpPr>
          <p:cNvPr id="5" name="Shape 3">
            <a:extLst>
              <a:ext uri="{FF2B5EF4-FFF2-40B4-BE49-F238E27FC236}">
                <a16:creationId xmlns:a16="http://schemas.microsoft.com/office/drawing/2014/main" id="{6195D3E7-2AD3-4902-9CE9-57F6D373CB16}"/>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239AC46E-95F8-4B7E-89B8-1C37C8406535}"/>
              </a:ext>
            </a:extLst>
          </p:cNvPr>
          <p:cNvSpPr>
            <a:spLocks noGrp="1"/>
          </p:cNvSpPr>
          <p:nvPr/>
        </p:nvSpPr>
        <p:spPr>
          <a:xfrm>
            <a:off x="438912"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D1B42204-8E21-4715-A77E-AC6A1D741FE1}"/>
              </a:ext>
            </a:extLst>
          </p:cNvPr>
          <p:cNvSpPr>
            <a:spLocks noGrp="1"/>
          </p:cNvSpPr>
          <p:nvPr/>
        </p:nvSpPr>
        <p:spPr>
          <a:xfrm>
            <a:off x="43891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AECE37E6-2F1C-4ABC-9676-2E912F5DEE5C}"/>
              </a:ext>
            </a:extLst>
          </p:cNvPr>
          <p:cNvSpPr>
            <a:spLocks noGrp="1"/>
          </p:cNvSpPr>
          <p:nvPr/>
        </p:nvSpPr>
        <p:spPr>
          <a:xfrm>
            <a:off x="49987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Raw Data</a:t>
            </a:r>
          </a:p>
          <a:p>
            <a:pPr algn="ctr">
              <a:buNone/>
            </a:pPr>
            <a:r>
              <a:rPr sz="1133">
                <a:solidFill>
                  <a:srgbClr val="FFFFFF"/>
                </a:solidFill>
                <a:latin typeface="Calibri"/>
                <a:ea typeface="Calibri"/>
                <a:cs typeface="Calibri"/>
              </a:rPr>
              <a:t>(Daily meteo,</a:t>
            </a:r>
          </a:p>
          <a:p>
            <a:pPr algn="ctr">
              <a:buNone/>
            </a:pPr>
            <a:r>
              <a:rPr sz="1133">
                <a:solidFill>
                  <a:srgbClr val="FFFFFF"/>
                </a:solidFill>
                <a:latin typeface="Calibri"/>
                <a:ea typeface="Calibri"/>
                <a:cs typeface="Calibri"/>
              </a:rPr>
              <a:t>phenology,</a:t>
            </a:r>
          </a:p>
          <a:p>
            <a:pPr algn="ctr">
              <a:buNone/>
            </a:pPr>
            <a:r>
              <a:rPr sz="1133">
                <a:solidFill>
                  <a:srgbClr val="FFFFFF"/>
                </a:solidFill>
                <a:latin typeface="Calibri"/>
                <a:ea typeface="Calibri"/>
                <a:cs typeface="Calibri"/>
              </a:rPr>
              <a:t>production)</a:t>
            </a:r>
          </a:p>
        </p:txBody>
      </p:sp>
      <p:sp>
        <p:nvSpPr>
          <p:cNvPr id="9" name="Text 7">
            <a:extLst>
              <a:ext uri="{FF2B5EF4-FFF2-40B4-BE49-F238E27FC236}">
                <a16:creationId xmlns:a16="http://schemas.microsoft.com/office/drawing/2014/main" id="{313A7D1C-C02D-48BE-9C1B-BF25BD929927}"/>
              </a:ext>
            </a:extLst>
          </p:cNvPr>
          <p:cNvSpPr>
            <a:spLocks noGrp="1"/>
          </p:cNvSpPr>
          <p:nvPr/>
        </p:nvSpPr>
        <p:spPr>
          <a:xfrm>
            <a:off x="2121408"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0" name="Shape 8">
            <a:extLst>
              <a:ext uri="{FF2B5EF4-FFF2-40B4-BE49-F238E27FC236}">
                <a16:creationId xmlns:a16="http://schemas.microsoft.com/office/drawing/2014/main" id="{85541EC4-9640-41BF-B61F-7FB8E0438F60}"/>
              </a:ext>
            </a:extLst>
          </p:cNvPr>
          <p:cNvSpPr>
            <a:spLocks noGrp="1"/>
          </p:cNvSpPr>
          <p:nvPr/>
        </p:nvSpPr>
        <p:spPr>
          <a:xfrm>
            <a:off x="2340864"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1" name="Text 9">
            <a:extLst>
              <a:ext uri="{FF2B5EF4-FFF2-40B4-BE49-F238E27FC236}">
                <a16:creationId xmlns:a16="http://schemas.microsoft.com/office/drawing/2014/main" id="{003B5E13-79D7-4E0A-A7EF-113AB783EC2C}"/>
              </a:ext>
            </a:extLst>
          </p:cNvPr>
          <p:cNvSpPr>
            <a:spLocks noGrp="1"/>
          </p:cNvSpPr>
          <p:nvPr/>
        </p:nvSpPr>
        <p:spPr>
          <a:xfrm>
            <a:off x="2340864"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2</a:t>
            </a:r>
          </a:p>
        </p:txBody>
      </p:sp>
      <p:sp>
        <p:nvSpPr>
          <p:cNvPr id="12" name="Text 10">
            <a:extLst>
              <a:ext uri="{FF2B5EF4-FFF2-40B4-BE49-F238E27FC236}">
                <a16:creationId xmlns:a16="http://schemas.microsoft.com/office/drawing/2014/main" id="{0779B188-9574-4969-9A9B-240DCCCF1D60}"/>
              </a:ext>
            </a:extLst>
          </p:cNvPr>
          <p:cNvSpPr>
            <a:spLocks noGrp="1"/>
          </p:cNvSpPr>
          <p:nvPr/>
        </p:nvSpPr>
        <p:spPr>
          <a:xfrm>
            <a:off x="2401824"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Linear</a:t>
            </a:r>
          </a:p>
          <a:p>
            <a:pPr algn="ctr">
              <a:buNone/>
            </a:pPr>
            <a:r>
              <a:rPr sz="1133">
                <a:solidFill>
                  <a:srgbClr val="FFFFFF"/>
                </a:solidFill>
                <a:latin typeface="Calibri"/>
                <a:ea typeface="Calibri"/>
                <a:cs typeface="Calibri"/>
              </a:rPr>
              <a:t>Detrending</a:t>
            </a:r>
          </a:p>
          <a:p>
            <a:pPr algn="ctr">
              <a:buNone/>
            </a:pPr>
            <a:r>
              <a:rPr sz="1133">
                <a:solidFill>
                  <a:srgbClr val="FFFFFF"/>
                </a:solidFill>
                <a:latin typeface="Calibri"/>
                <a:ea typeface="Calibri"/>
                <a:cs typeface="Calibri"/>
              </a:rPr>
              <a:t>(OLS within-fold,</a:t>
            </a:r>
          </a:p>
          <a:p>
            <a:pPr algn="ctr">
              <a:buNone/>
            </a:pPr>
            <a:r>
              <a:rPr sz="1133">
                <a:solidFill>
                  <a:srgbClr val="FFFFFF"/>
                </a:solidFill>
                <a:latin typeface="Calibri"/>
                <a:ea typeface="Calibri"/>
                <a:cs typeface="Calibri"/>
              </a:rPr>
              <a:t>residuals rt)</a:t>
            </a:r>
          </a:p>
        </p:txBody>
      </p:sp>
      <p:sp>
        <p:nvSpPr>
          <p:cNvPr id="13" name="Text 11">
            <a:extLst>
              <a:ext uri="{FF2B5EF4-FFF2-40B4-BE49-F238E27FC236}">
                <a16:creationId xmlns:a16="http://schemas.microsoft.com/office/drawing/2014/main" id="{5FB44C04-7B64-4ED2-9AEF-1957ACCB6EA2}"/>
              </a:ext>
            </a:extLst>
          </p:cNvPr>
          <p:cNvSpPr>
            <a:spLocks noGrp="1"/>
          </p:cNvSpPr>
          <p:nvPr/>
        </p:nvSpPr>
        <p:spPr>
          <a:xfrm>
            <a:off x="4023360"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4" name="Shape 12">
            <a:extLst>
              <a:ext uri="{FF2B5EF4-FFF2-40B4-BE49-F238E27FC236}">
                <a16:creationId xmlns:a16="http://schemas.microsoft.com/office/drawing/2014/main" id="{76167D48-C832-4844-A612-FD669EA2A54F}"/>
              </a:ext>
            </a:extLst>
          </p:cNvPr>
          <p:cNvSpPr>
            <a:spLocks noGrp="1"/>
          </p:cNvSpPr>
          <p:nvPr/>
        </p:nvSpPr>
        <p:spPr>
          <a:xfrm>
            <a:off x="4242816"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5" name="Text 13">
            <a:extLst>
              <a:ext uri="{FF2B5EF4-FFF2-40B4-BE49-F238E27FC236}">
                <a16:creationId xmlns:a16="http://schemas.microsoft.com/office/drawing/2014/main" id="{50DA42E9-DEDC-4E60-9F6A-64E22282F58B}"/>
              </a:ext>
            </a:extLst>
          </p:cNvPr>
          <p:cNvSpPr>
            <a:spLocks noGrp="1"/>
          </p:cNvSpPr>
          <p:nvPr/>
        </p:nvSpPr>
        <p:spPr>
          <a:xfrm>
            <a:off x="4242816"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3</a:t>
            </a:r>
          </a:p>
        </p:txBody>
      </p:sp>
      <p:sp>
        <p:nvSpPr>
          <p:cNvPr id="16" name="Text 14">
            <a:extLst>
              <a:ext uri="{FF2B5EF4-FFF2-40B4-BE49-F238E27FC236}">
                <a16:creationId xmlns:a16="http://schemas.microsoft.com/office/drawing/2014/main" id="{DF736D9B-C95C-444C-9229-04B9EDA578A4}"/>
              </a:ext>
            </a:extLst>
          </p:cNvPr>
          <p:cNvSpPr>
            <a:spLocks noGrp="1"/>
          </p:cNvSpPr>
          <p:nvPr/>
        </p:nvSpPr>
        <p:spPr>
          <a:xfrm>
            <a:off x="4303776"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Engineering</a:t>
            </a:r>
          </a:p>
          <a:p>
            <a:pPr algn="ctr">
              <a:buNone/>
            </a:pPr>
            <a:r>
              <a:rPr sz="1133">
                <a:solidFill>
                  <a:srgbClr val="FFFFFF"/>
                </a:solidFill>
                <a:latin typeface="Calibri"/>
                <a:ea typeface="Calibri"/>
                <a:cs typeface="Calibri"/>
              </a:rPr>
              <a:t>(59 annual</a:t>
            </a:r>
          </a:p>
          <a:p>
            <a:pPr algn="ctr">
              <a:buNone/>
            </a:pPr>
            <a:r>
              <a:rPr sz="1133">
                <a:solidFill>
                  <a:srgbClr val="FFFFFF"/>
                </a:solidFill>
                <a:latin typeface="Calibri"/>
                <a:ea typeface="Calibri"/>
                <a:cs typeface="Calibri"/>
              </a:rPr>
              <a:t>features)</a:t>
            </a:r>
          </a:p>
        </p:txBody>
      </p:sp>
      <p:sp>
        <p:nvSpPr>
          <p:cNvPr id="17" name="Text 15">
            <a:extLst>
              <a:ext uri="{FF2B5EF4-FFF2-40B4-BE49-F238E27FC236}">
                <a16:creationId xmlns:a16="http://schemas.microsoft.com/office/drawing/2014/main" id="{C4DC95DE-C31D-428B-A385-507160BCD484}"/>
              </a:ext>
            </a:extLst>
          </p:cNvPr>
          <p:cNvSpPr>
            <a:spLocks noGrp="1"/>
          </p:cNvSpPr>
          <p:nvPr/>
        </p:nvSpPr>
        <p:spPr>
          <a:xfrm>
            <a:off x="5925312"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8" name="Shape 16">
            <a:extLst>
              <a:ext uri="{FF2B5EF4-FFF2-40B4-BE49-F238E27FC236}">
                <a16:creationId xmlns:a16="http://schemas.microsoft.com/office/drawing/2014/main" id="{AB22C66E-6FFA-4746-9F6C-C5B80DEFBF72}"/>
              </a:ext>
            </a:extLst>
          </p:cNvPr>
          <p:cNvSpPr>
            <a:spLocks noGrp="1"/>
          </p:cNvSpPr>
          <p:nvPr/>
        </p:nvSpPr>
        <p:spPr>
          <a:xfrm>
            <a:off x="6144768"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43ECD211-81BE-4A48-A23C-15818FCA2E6E}"/>
              </a:ext>
            </a:extLst>
          </p:cNvPr>
          <p:cNvSpPr>
            <a:spLocks noGrp="1"/>
          </p:cNvSpPr>
          <p:nvPr/>
        </p:nvSpPr>
        <p:spPr>
          <a:xfrm>
            <a:off x="6144768"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4</a:t>
            </a:r>
          </a:p>
        </p:txBody>
      </p:sp>
      <p:sp>
        <p:nvSpPr>
          <p:cNvPr id="20" name="Text 18">
            <a:extLst>
              <a:ext uri="{FF2B5EF4-FFF2-40B4-BE49-F238E27FC236}">
                <a16:creationId xmlns:a16="http://schemas.microsoft.com/office/drawing/2014/main" id="{2FD273D5-09AD-4757-94E1-805B7C0E669C}"/>
              </a:ext>
            </a:extLst>
          </p:cNvPr>
          <p:cNvSpPr>
            <a:spLocks noGrp="1"/>
          </p:cNvSpPr>
          <p:nvPr/>
        </p:nvSpPr>
        <p:spPr>
          <a:xfrm>
            <a:off x="6205728"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Selection</a:t>
            </a:r>
          </a:p>
          <a:p>
            <a:pPr algn="ctr">
              <a:buNone/>
            </a:pPr>
            <a:r>
              <a:rPr sz="1133">
                <a:solidFill>
                  <a:srgbClr val="FFFFFF"/>
                </a:solidFill>
                <a:latin typeface="Calibri"/>
                <a:ea typeface="Calibri"/>
                <a:cs typeface="Calibri"/>
              </a:rPr>
              <a:t>(η², Pearson,</a:t>
            </a:r>
          </a:p>
          <a:p>
            <a:pPr algn="ctr">
              <a:buNone/>
            </a:pPr>
            <a:r>
              <a:rPr sz="1133">
                <a:solidFill>
                  <a:srgbClr val="FFFFFF"/>
                </a:solidFill>
                <a:latin typeface="Calibri"/>
                <a:ea typeface="Calibri"/>
                <a:cs typeface="Calibri"/>
              </a:rPr>
              <a:t>support filter)</a:t>
            </a:r>
          </a:p>
        </p:txBody>
      </p:sp>
      <p:sp>
        <p:nvSpPr>
          <p:cNvPr id="21" name="Text 19">
            <a:extLst>
              <a:ext uri="{FF2B5EF4-FFF2-40B4-BE49-F238E27FC236}">
                <a16:creationId xmlns:a16="http://schemas.microsoft.com/office/drawing/2014/main" id="{01B19292-F239-4C5F-9DCF-1B78EED4F94E}"/>
              </a:ext>
            </a:extLst>
          </p:cNvPr>
          <p:cNvSpPr>
            <a:spLocks noGrp="1"/>
          </p:cNvSpPr>
          <p:nvPr/>
        </p:nvSpPr>
        <p:spPr>
          <a:xfrm>
            <a:off x="7827264"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2" name="Shape 20">
            <a:extLst>
              <a:ext uri="{FF2B5EF4-FFF2-40B4-BE49-F238E27FC236}">
                <a16:creationId xmlns:a16="http://schemas.microsoft.com/office/drawing/2014/main" id="{B7FE060C-FEF2-4B64-ABFD-DB420E59CA9A}"/>
              </a:ext>
            </a:extLst>
          </p:cNvPr>
          <p:cNvSpPr>
            <a:spLocks noGrp="1"/>
          </p:cNvSpPr>
          <p:nvPr/>
        </p:nvSpPr>
        <p:spPr>
          <a:xfrm>
            <a:off x="8046720"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23" name="Text 21">
            <a:extLst>
              <a:ext uri="{FF2B5EF4-FFF2-40B4-BE49-F238E27FC236}">
                <a16:creationId xmlns:a16="http://schemas.microsoft.com/office/drawing/2014/main" id="{CDD7A19D-0C07-407A-AFC6-C65FCC868631}"/>
              </a:ext>
            </a:extLst>
          </p:cNvPr>
          <p:cNvSpPr>
            <a:spLocks noGrp="1"/>
          </p:cNvSpPr>
          <p:nvPr/>
        </p:nvSpPr>
        <p:spPr>
          <a:xfrm>
            <a:off x="8046720"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5</a:t>
            </a:r>
          </a:p>
        </p:txBody>
      </p:sp>
      <p:sp>
        <p:nvSpPr>
          <p:cNvPr id="24" name="Text 22">
            <a:extLst>
              <a:ext uri="{FF2B5EF4-FFF2-40B4-BE49-F238E27FC236}">
                <a16:creationId xmlns:a16="http://schemas.microsoft.com/office/drawing/2014/main" id="{0467713E-DAB5-4B22-8018-91BA988B81FA}"/>
              </a:ext>
            </a:extLst>
          </p:cNvPr>
          <p:cNvSpPr>
            <a:spLocks noGrp="1"/>
          </p:cNvSpPr>
          <p:nvPr/>
        </p:nvSpPr>
        <p:spPr>
          <a:xfrm>
            <a:off x="8107680"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Rule Induction</a:t>
            </a:r>
          </a:p>
          <a:p>
            <a:pPr algn="ctr">
              <a:buNone/>
            </a:pPr>
            <a:r>
              <a:rPr sz="1133">
                <a:solidFill>
                  <a:srgbClr val="FFFFFF"/>
                </a:solidFill>
                <a:latin typeface="Calibri"/>
                <a:ea typeface="Calibri"/>
                <a:cs typeface="Calibri"/>
              </a:rPr>
              <a:t>(CarenR KS-test,</a:t>
            </a:r>
          </a:p>
          <a:p>
            <a:pPr algn="ctr">
              <a:buNone/>
            </a:pPr>
            <a:r>
              <a:rPr sz="1133">
                <a:solidFill>
                  <a:srgbClr val="FFFFFF"/>
                </a:solidFill>
                <a:latin typeface="Calibri"/>
                <a:ea typeface="Calibri"/>
                <a:cs typeface="Calibri"/>
              </a:rPr>
              <a:t>RIPPER,</a:t>
            </a:r>
          </a:p>
          <a:p>
            <a:pPr algn="ctr">
              <a:buNone/>
            </a:pPr>
            <a:r>
              <a:rPr sz="1133">
                <a:solidFill>
                  <a:srgbClr val="FFFFFF"/>
                </a:solidFill>
                <a:latin typeface="Calibri"/>
                <a:ea typeface="Calibri"/>
                <a:cs typeface="Calibri"/>
              </a:rPr>
              <a:t>M5Rules)</a:t>
            </a:r>
          </a:p>
        </p:txBody>
      </p:sp>
      <p:sp>
        <p:nvSpPr>
          <p:cNvPr id="25" name="Text 23">
            <a:extLst>
              <a:ext uri="{FF2B5EF4-FFF2-40B4-BE49-F238E27FC236}">
                <a16:creationId xmlns:a16="http://schemas.microsoft.com/office/drawing/2014/main" id="{08D479E2-B976-4B34-902F-A8B1498E8BC6}"/>
              </a:ext>
            </a:extLst>
          </p:cNvPr>
          <p:cNvSpPr>
            <a:spLocks noGrp="1"/>
          </p:cNvSpPr>
          <p:nvPr/>
        </p:nvSpPr>
        <p:spPr>
          <a:xfrm>
            <a:off x="9729216"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6" name="Shape 24">
            <a:extLst>
              <a:ext uri="{FF2B5EF4-FFF2-40B4-BE49-F238E27FC236}">
                <a16:creationId xmlns:a16="http://schemas.microsoft.com/office/drawing/2014/main" id="{ACF39A90-F6E1-46FF-8A5F-7C121DDCF963}"/>
              </a:ext>
            </a:extLst>
          </p:cNvPr>
          <p:cNvSpPr>
            <a:spLocks noGrp="1"/>
          </p:cNvSpPr>
          <p:nvPr/>
        </p:nvSpPr>
        <p:spPr>
          <a:xfrm>
            <a:off x="9948672"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27" name="Text 25">
            <a:extLst>
              <a:ext uri="{FF2B5EF4-FFF2-40B4-BE49-F238E27FC236}">
                <a16:creationId xmlns:a16="http://schemas.microsoft.com/office/drawing/2014/main" id="{DA020A15-5184-4BAB-A074-B7552C3EA056}"/>
              </a:ext>
            </a:extLst>
          </p:cNvPr>
          <p:cNvSpPr>
            <a:spLocks noGrp="1"/>
          </p:cNvSpPr>
          <p:nvPr/>
        </p:nvSpPr>
        <p:spPr>
          <a:xfrm>
            <a:off x="994867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6</a:t>
            </a:r>
          </a:p>
        </p:txBody>
      </p:sp>
      <p:sp>
        <p:nvSpPr>
          <p:cNvPr id="28" name="Text 26">
            <a:extLst>
              <a:ext uri="{FF2B5EF4-FFF2-40B4-BE49-F238E27FC236}">
                <a16:creationId xmlns:a16="http://schemas.microsoft.com/office/drawing/2014/main" id="{199420EC-4A88-4F0D-9E66-51BF76221EAA}"/>
              </a:ext>
            </a:extLst>
          </p:cNvPr>
          <p:cNvSpPr>
            <a:spLocks noGrp="1"/>
          </p:cNvSpPr>
          <p:nvPr/>
        </p:nvSpPr>
        <p:spPr>
          <a:xfrm>
            <a:off x="1000963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Walk-Forward</a:t>
            </a:r>
          </a:p>
          <a:p>
            <a:pPr algn="ctr">
              <a:buNone/>
            </a:pPr>
            <a:r>
              <a:rPr sz="1133">
                <a:solidFill>
                  <a:srgbClr val="FFFFFF"/>
                </a:solidFill>
                <a:latin typeface="Calibri"/>
                <a:ea typeface="Calibri"/>
                <a:cs typeface="Calibri"/>
              </a:rPr>
              <a:t>Evaluation</a:t>
            </a:r>
          </a:p>
          <a:p>
            <a:pPr algn="ctr">
              <a:buNone/>
            </a:pPr>
            <a:r>
              <a:rPr sz="1133">
                <a:solidFill>
                  <a:srgbClr val="FFFFFF"/>
                </a:solidFill>
                <a:latin typeface="Calibri"/>
                <a:ea typeface="Calibri"/>
                <a:cs typeface="Calibri"/>
              </a:rPr>
              <a:t>(18/16 expanding</a:t>
            </a:r>
          </a:p>
          <a:p>
            <a:pPr algn="ctr">
              <a:buNone/>
            </a:pPr>
            <a:r>
              <a:rPr sz="1133">
                <a:solidFill>
                  <a:srgbClr val="FFFFFF"/>
                </a:solidFill>
                <a:latin typeface="Calibri"/>
                <a:ea typeface="Calibri"/>
                <a:cs typeface="Calibri"/>
              </a:rPr>
              <a:t>window scenarios)</a:t>
            </a:r>
          </a:p>
        </p:txBody>
      </p:sp>
      <p:sp>
        <p:nvSpPr>
          <p:cNvPr id="29" name="Shape 27">
            <a:extLst>
              <a:ext uri="{FF2B5EF4-FFF2-40B4-BE49-F238E27FC236}">
                <a16:creationId xmlns:a16="http://schemas.microsoft.com/office/drawing/2014/main" id="{C5145CA4-33EF-4BFF-B595-13E0754CD760}"/>
              </a:ext>
            </a:extLst>
          </p:cNvPr>
          <p:cNvSpPr>
            <a:spLocks noGrp="1"/>
          </p:cNvSpPr>
          <p:nvPr/>
        </p:nvSpPr>
        <p:spPr>
          <a:xfrm>
            <a:off x="438912" y="3560064"/>
            <a:ext cx="5120640" cy="36576"/>
          </a:xfrm>
          <a:prstGeom prst="rect">
            <a:avLst/>
          </a:prstGeom>
          <a:solidFill>
            <a:srgbClr val="1A7A4A"/>
          </a:solidFill>
          <a:ln w="12700">
            <a:solidFill>
              <a:srgbClr val="1A7A4A"/>
            </a:solidFill>
            <a:prstDash val="solid"/>
          </a:ln>
        </p:spPr>
        <p:txBody>
          <a:bodyPr/>
          <a:lstStyle/>
          <a:p>
            <a:endParaRPr/>
          </a:p>
        </p:txBody>
      </p:sp>
      <p:sp>
        <p:nvSpPr>
          <p:cNvPr id="30" name="Shape 28">
            <a:extLst>
              <a:ext uri="{FF2B5EF4-FFF2-40B4-BE49-F238E27FC236}">
                <a16:creationId xmlns:a16="http://schemas.microsoft.com/office/drawing/2014/main" id="{B0C25E01-6EB7-4F90-903D-0E71CF251D60}"/>
              </a:ext>
            </a:extLst>
          </p:cNvPr>
          <p:cNvSpPr>
            <a:spLocks noGrp="1"/>
          </p:cNvSpPr>
          <p:nvPr/>
        </p:nvSpPr>
        <p:spPr>
          <a:xfrm>
            <a:off x="6632448" y="3560064"/>
            <a:ext cx="5120640" cy="36576"/>
          </a:xfrm>
          <a:prstGeom prst="rect">
            <a:avLst/>
          </a:prstGeom>
          <a:solidFill>
            <a:srgbClr val="B03A2E"/>
          </a:solidFill>
          <a:ln w="12700">
            <a:solidFill>
              <a:srgbClr val="B03A2E"/>
            </a:solidFill>
            <a:prstDash val="solid"/>
          </a:ln>
        </p:spPr>
        <p:txBody>
          <a:bodyPr/>
          <a:lstStyle/>
          <a:p>
            <a:endParaRPr/>
          </a:p>
        </p:txBody>
      </p:sp>
      <p:sp>
        <p:nvSpPr>
          <p:cNvPr id="31" name="Shape 29">
            <a:extLst>
              <a:ext uri="{FF2B5EF4-FFF2-40B4-BE49-F238E27FC236}">
                <a16:creationId xmlns:a16="http://schemas.microsoft.com/office/drawing/2014/main" id="{0CA5DFD1-E140-4301-A32C-872B0A2A17E2}"/>
              </a:ext>
            </a:extLst>
          </p:cNvPr>
          <p:cNvSpPr>
            <a:spLocks noGrp="1"/>
          </p:cNvSpPr>
          <p:nvPr/>
        </p:nvSpPr>
        <p:spPr>
          <a:xfrm>
            <a:off x="438912" y="3633216"/>
            <a:ext cx="5120640" cy="1889760"/>
          </a:xfrm>
          <a:prstGeom prst="rect">
            <a:avLst/>
          </a:prstGeom>
          <a:solidFill>
            <a:srgbClr val="1A7A4A"/>
          </a:solidFill>
          <a:ln w="12700">
            <a:solidFill>
              <a:srgbClr val="1A7A4A"/>
            </a:solidFill>
            <a:prstDash val="solid"/>
          </a:ln>
        </p:spPr>
        <p:txBody>
          <a:bodyPr/>
          <a:lstStyle/>
          <a:p>
            <a:endParaRPr/>
          </a:p>
        </p:txBody>
      </p:sp>
      <p:sp>
        <p:nvSpPr>
          <p:cNvPr id="32" name="Text 30">
            <a:extLst>
              <a:ext uri="{FF2B5EF4-FFF2-40B4-BE49-F238E27FC236}">
                <a16:creationId xmlns:a16="http://schemas.microsoft.com/office/drawing/2014/main" id="{82A6A303-6926-49C7-BA82-BD9720FA4058}"/>
              </a:ext>
            </a:extLst>
          </p:cNvPr>
          <p:cNvSpPr>
            <a:spLocks noGrp="1"/>
          </p:cNvSpPr>
          <p:nvPr/>
        </p:nvSpPr>
        <p:spPr>
          <a:xfrm>
            <a:off x="560832"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1: Rule Discovery</a:t>
            </a:r>
          </a:p>
        </p:txBody>
      </p:sp>
      <p:sp>
        <p:nvSpPr>
          <p:cNvPr id="33" name="Text 31">
            <a:extLst>
              <a:ext uri="{FF2B5EF4-FFF2-40B4-BE49-F238E27FC236}">
                <a16:creationId xmlns:a16="http://schemas.microsoft.com/office/drawing/2014/main" id="{ADF5F88E-6010-4648-8C24-020CA611C414}"/>
              </a:ext>
            </a:extLst>
          </p:cNvPr>
          <p:cNvSpPr>
            <a:spLocks noGrp="1"/>
          </p:cNvSpPr>
          <p:nvPr/>
        </p:nvSpPr>
        <p:spPr>
          <a:xfrm>
            <a:off x="560832"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CarenR on FULL historical dataset</a:t>
            </a:r>
          </a:p>
          <a:p>
            <a:r>
              <a:rPr sz="1267">
                <a:solidFill>
                  <a:srgbClr val="F0F4F8"/>
                </a:solidFill>
                <a:latin typeface="Calibri"/>
                <a:ea typeface="Calibri"/>
                <a:cs typeface="Calibri"/>
              </a:rPr>
              <a:t>48 rules (Douro) · 20 rules (Vinho Verde)</a:t>
            </a:r>
          </a:p>
          <a:p>
            <a:r>
              <a:rPr sz="1267">
                <a:solidFill>
                  <a:srgbClr val="F0F4F8"/>
                </a:solidFill>
                <a:latin typeface="Calibri"/>
                <a:ea typeface="Calibri"/>
                <a:cs typeface="Calibri"/>
              </a:rPr>
              <a:t>Validated by LOESS detrending</a:t>
            </a:r>
          </a:p>
          <a:p>
            <a:r>
              <a:rPr sz="1267">
                <a:solidFill>
                  <a:srgbClr val="F0F4F8"/>
                </a:solidFill>
                <a:latin typeface="Calibri"/>
                <a:ea typeface="Calibri"/>
                <a:cs typeface="Calibri"/>
              </a:rPr>
              <a:t>Cross-algorithm comparison (RIPPER, M5Rules)</a:t>
            </a:r>
          </a:p>
        </p:txBody>
      </p:sp>
      <p:sp>
        <p:nvSpPr>
          <p:cNvPr id="34" name="Shape 32">
            <a:extLst>
              <a:ext uri="{FF2B5EF4-FFF2-40B4-BE49-F238E27FC236}">
                <a16:creationId xmlns:a16="http://schemas.microsoft.com/office/drawing/2014/main" id="{13A23CBB-4293-497B-8411-6EDAA9EB1CC6}"/>
              </a:ext>
            </a:extLst>
          </p:cNvPr>
          <p:cNvSpPr>
            <a:spLocks noGrp="1"/>
          </p:cNvSpPr>
          <p:nvPr/>
        </p:nvSpPr>
        <p:spPr>
          <a:xfrm>
            <a:off x="6632448" y="3633216"/>
            <a:ext cx="5120640" cy="1889760"/>
          </a:xfrm>
          <a:prstGeom prst="rect">
            <a:avLst/>
          </a:prstGeom>
          <a:solidFill>
            <a:srgbClr val="B03A2E"/>
          </a:solidFill>
          <a:ln w="12700">
            <a:solidFill>
              <a:srgbClr val="B03A2E"/>
            </a:solidFill>
            <a:prstDash val="solid"/>
          </a:ln>
        </p:spPr>
        <p:txBody>
          <a:bodyPr/>
          <a:lstStyle/>
          <a:p>
            <a:endParaRPr/>
          </a:p>
        </p:txBody>
      </p:sp>
      <p:sp>
        <p:nvSpPr>
          <p:cNvPr id="35" name="Text 33">
            <a:extLst>
              <a:ext uri="{FF2B5EF4-FFF2-40B4-BE49-F238E27FC236}">
                <a16:creationId xmlns:a16="http://schemas.microsoft.com/office/drawing/2014/main" id="{1D143EAE-6A07-4B0A-AA27-5B1BDE14CBA2}"/>
              </a:ext>
            </a:extLst>
          </p:cNvPr>
          <p:cNvSpPr>
            <a:spLocks noGrp="1"/>
          </p:cNvSpPr>
          <p:nvPr/>
        </p:nvSpPr>
        <p:spPr>
          <a:xfrm>
            <a:off x="6754368"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2: Predictive Validation</a:t>
            </a:r>
          </a:p>
        </p:txBody>
      </p:sp>
      <p:sp>
        <p:nvSpPr>
          <p:cNvPr id="36" name="Text 34">
            <a:extLst>
              <a:ext uri="{FF2B5EF4-FFF2-40B4-BE49-F238E27FC236}">
                <a16:creationId xmlns:a16="http://schemas.microsoft.com/office/drawing/2014/main" id="{DDF58409-3828-4FCC-8E27-EB5897F1A8CA}"/>
              </a:ext>
            </a:extLst>
          </p:cNvPr>
          <p:cNvSpPr>
            <a:spLocks noGrp="1"/>
          </p:cNvSpPr>
          <p:nvPr/>
        </p:nvSpPr>
        <p:spPr>
          <a:xfrm>
            <a:off x="6754368"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17 models · Expanding-window walk-forward</a:t>
            </a:r>
          </a:p>
          <a:p>
            <a:r>
              <a:rPr sz="1267">
                <a:solidFill>
                  <a:srgbClr val="F0F4F8"/>
                </a:solidFill>
                <a:latin typeface="Calibri"/>
                <a:ea typeface="Calibri"/>
                <a:cs typeface="Calibri"/>
              </a:rPr>
              <a:t>Weighted MAE vs Naive_Median baseline</a:t>
            </a:r>
          </a:p>
          <a:p>
            <a:r>
              <a:rPr sz="1267">
                <a:solidFill>
                  <a:srgbClr val="F0F4F8"/>
                </a:solidFill>
                <a:latin typeface="Calibri"/>
                <a:ea typeface="Calibri"/>
                <a:cs typeface="Calibri"/>
              </a:rPr>
              <a:t>Statistical tests: Wilcoxon, Binomial</a:t>
            </a:r>
          </a:p>
          <a:p>
            <a:r>
              <a:rPr sz="1267">
                <a:solidFill>
                  <a:srgbClr val="F0F4F8"/>
                </a:solidFill>
                <a:latin typeface="Calibri"/>
                <a:ea typeface="Calibri"/>
                <a:cs typeface="Calibri"/>
              </a:rPr>
              <a:t>Detrend sensitivity (LOESS)</a:t>
            </a:r>
          </a:p>
        </p:txBody>
      </p:sp>
      <p:sp>
        <p:nvSpPr>
          <p:cNvPr id="37" name="Text 35">
            <a:extLst>
              <a:ext uri="{FF2B5EF4-FFF2-40B4-BE49-F238E27FC236}">
                <a16:creationId xmlns:a16="http://schemas.microsoft.com/office/drawing/2014/main" id="{7200E152-9FB5-46B8-BC97-DC8D5027CEE6}"/>
              </a:ext>
            </a:extLst>
          </p:cNvPr>
          <p:cNvSpPr>
            <a:spLocks noGrp="1"/>
          </p:cNvSpPr>
          <p:nvPr/>
        </p:nvSpPr>
        <p:spPr>
          <a:xfrm>
            <a:off x="438912" y="5669280"/>
            <a:ext cx="11314176" cy="463296"/>
          </a:xfrm>
          <a:prstGeom prst="rect">
            <a:avLst/>
          </a:prstGeom>
          <a:noFill/>
        </p:spPr>
        <p:txBody>
          <a:bodyPr wrap="square" lIns="0" tIns="0" rIns="0" bIns="0" anchor="ctr"/>
          <a:lstStyle/>
          <a:p>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2034042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F367FA8-071C-4D72-B844-FF58F54DBD7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5657998-67E7-447D-8BE1-DAFBD417AFE0}"/>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Why Rule-Based Machine Learning?</a:t>
            </a:r>
          </a:p>
        </p:txBody>
      </p:sp>
      <p:sp>
        <p:nvSpPr>
          <p:cNvPr id="4" name="Text 2">
            <a:extLst>
              <a:ext uri="{FF2B5EF4-FFF2-40B4-BE49-F238E27FC236}">
                <a16:creationId xmlns:a16="http://schemas.microsoft.com/office/drawing/2014/main" id="{779AA72D-A512-43CD-8E88-475AEAF0FADD}"/>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a:ext uri="{FF2B5EF4-FFF2-40B4-BE49-F238E27FC236}">
                <a16:creationId xmlns:a16="http://schemas.microsoft.com/office/drawing/2014/main" id="{C241B38F-C50E-45F8-8265-6E6A04F374C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4E8EB174-1F34-41EC-9B79-524E03FD9A6A}"/>
              </a:ext>
            </a:extLst>
          </p:cNvPr>
          <p:cNvSpPr>
            <a:spLocks noGrp="1"/>
          </p:cNvSpPr>
          <p:nvPr/>
        </p:nvSpPr>
        <p:spPr>
          <a:xfrm>
            <a:off x="487680" y="1341120"/>
            <a:ext cx="3584448" cy="509625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2ABCB8BA-5423-481A-AE79-40CDFD0F686D}"/>
              </a:ext>
            </a:extLst>
          </p:cNvPr>
          <p:cNvSpPr>
            <a:spLocks noGrp="1"/>
          </p:cNvSpPr>
          <p:nvPr/>
        </p:nvSpPr>
        <p:spPr>
          <a:xfrm>
            <a:off x="609600"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CarenR</a:t>
            </a:r>
          </a:p>
        </p:txBody>
      </p:sp>
      <p:sp>
        <p:nvSpPr>
          <p:cNvPr id="8" name="Text 6">
            <a:extLst>
              <a:ext uri="{FF2B5EF4-FFF2-40B4-BE49-F238E27FC236}">
                <a16:creationId xmlns:a16="http://schemas.microsoft.com/office/drawing/2014/main" id="{70339C94-7142-450D-A521-16CB2E72F0AC}"/>
              </a:ext>
            </a:extLst>
          </p:cNvPr>
          <p:cNvSpPr>
            <a:spLocks noGrp="1"/>
          </p:cNvSpPr>
          <p:nvPr/>
        </p:nvSpPr>
        <p:spPr>
          <a:xfrm>
            <a:off x="609600"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Primary Algorithm</a:t>
            </a:r>
          </a:p>
        </p:txBody>
      </p:sp>
      <p:sp>
        <p:nvSpPr>
          <p:cNvPr id="9" name="Shape 7">
            <a:extLst>
              <a:ext uri="{FF2B5EF4-FFF2-40B4-BE49-F238E27FC236}">
                <a16:creationId xmlns:a16="http://schemas.microsoft.com/office/drawing/2014/main" id="{DF4F705E-C73F-4991-9D99-FDCC782B234E}"/>
              </a:ext>
            </a:extLst>
          </p:cNvPr>
          <p:cNvSpPr>
            <a:spLocks noGrp="1"/>
          </p:cNvSpPr>
          <p:nvPr/>
        </p:nvSpPr>
        <p:spPr>
          <a:xfrm>
            <a:off x="670560" y="2267712"/>
            <a:ext cx="3218688"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F9DD6121-0C1E-4FE3-B7E9-09376FD7EF1A}"/>
              </a:ext>
            </a:extLst>
          </p:cNvPr>
          <p:cNvSpPr>
            <a:spLocks noGrp="1"/>
          </p:cNvSpPr>
          <p:nvPr/>
        </p:nvSpPr>
        <p:spPr>
          <a:xfrm>
            <a:off x="633984"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11" name="Text 9">
            <a:extLst>
              <a:ext uri="{FF2B5EF4-FFF2-40B4-BE49-F238E27FC236}">
                <a16:creationId xmlns:a16="http://schemas.microsoft.com/office/drawing/2014/main" id="{E37A4747-4FF6-44C7-8765-42D55AB806C7}"/>
              </a:ext>
            </a:extLst>
          </p:cNvPr>
          <p:cNvSpPr>
            <a:spLocks noGrp="1"/>
          </p:cNvSpPr>
          <p:nvPr/>
        </p:nvSpPr>
        <p:spPr>
          <a:xfrm>
            <a:off x="1560576"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When does the shape of the</a:t>
            </a:r>
          </a:p>
          <a:p>
            <a:r>
              <a:rPr sz="1133">
                <a:solidFill>
                  <a:srgbClr val="D8E2EE"/>
                </a:solidFill>
                <a:latin typeface="Calibri"/>
                <a:ea typeface="Calibri"/>
                <a:cs typeface="Calibri"/>
              </a:rPr>
              <a:t>production distribution shift?</a:t>
            </a:r>
          </a:p>
        </p:txBody>
      </p:sp>
      <p:sp>
        <p:nvSpPr>
          <p:cNvPr id="12" name="Text 10">
            <a:extLst>
              <a:ext uri="{FF2B5EF4-FFF2-40B4-BE49-F238E27FC236}">
                <a16:creationId xmlns:a16="http://schemas.microsoft.com/office/drawing/2014/main" id="{94A15F68-45D3-4BEE-9788-71CAB98955E2}"/>
              </a:ext>
            </a:extLst>
          </p:cNvPr>
          <p:cNvSpPr>
            <a:spLocks noGrp="1"/>
          </p:cNvSpPr>
          <p:nvPr/>
        </p:nvSpPr>
        <p:spPr>
          <a:xfrm>
            <a:off x="633984"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13" name="Text 11">
            <a:extLst>
              <a:ext uri="{FF2B5EF4-FFF2-40B4-BE49-F238E27FC236}">
                <a16:creationId xmlns:a16="http://schemas.microsoft.com/office/drawing/2014/main" id="{0A42D7BB-C7B8-46EF-B6E8-B0729C378458}"/>
              </a:ext>
            </a:extLst>
          </p:cNvPr>
          <p:cNvSpPr>
            <a:spLocks noGrp="1"/>
          </p:cNvSpPr>
          <p:nvPr/>
        </p:nvSpPr>
        <p:spPr>
          <a:xfrm>
            <a:off x="1560576"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Kolmogorov–Smirnov test</a:t>
            </a:r>
          </a:p>
          <a:p>
            <a:r>
              <a:rPr sz="1133">
                <a:solidFill>
                  <a:srgbClr val="D8E2EE"/>
                </a:solidFill>
                <a:latin typeface="Calibri"/>
                <a:ea typeface="Calibri"/>
                <a:cs typeface="Calibri"/>
              </a:rPr>
              <a:t>(distributional shift)</a:t>
            </a:r>
          </a:p>
        </p:txBody>
      </p:sp>
      <p:sp>
        <p:nvSpPr>
          <p:cNvPr id="14" name="Text 12">
            <a:extLst>
              <a:ext uri="{FF2B5EF4-FFF2-40B4-BE49-F238E27FC236}">
                <a16:creationId xmlns:a16="http://schemas.microsoft.com/office/drawing/2014/main" id="{B736525E-F6D1-43AE-8D9F-8EB12C8B8AE1}"/>
              </a:ext>
            </a:extLst>
          </p:cNvPr>
          <p:cNvSpPr>
            <a:spLocks noGrp="1"/>
          </p:cNvSpPr>
          <p:nvPr/>
        </p:nvSpPr>
        <p:spPr>
          <a:xfrm>
            <a:off x="633984"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15" name="Text 13">
            <a:extLst>
              <a:ext uri="{FF2B5EF4-FFF2-40B4-BE49-F238E27FC236}">
                <a16:creationId xmlns:a16="http://schemas.microsoft.com/office/drawing/2014/main" id="{7FA3D3E0-F2AD-4F84-A747-0A4B25B44E89}"/>
              </a:ext>
            </a:extLst>
          </p:cNvPr>
          <p:cNvSpPr>
            <a:spLocks noGrp="1"/>
          </p:cNvSpPr>
          <p:nvPr/>
        </p:nvSpPr>
        <p:spPr>
          <a:xfrm>
            <a:off x="1560576"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distribution shifts ±X mhl</a:t>
            </a:r>
          </a:p>
        </p:txBody>
      </p:sp>
      <p:sp>
        <p:nvSpPr>
          <p:cNvPr id="16" name="Text 14">
            <a:extLst>
              <a:ext uri="{FF2B5EF4-FFF2-40B4-BE49-F238E27FC236}">
                <a16:creationId xmlns:a16="http://schemas.microsoft.com/office/drawing/2014/main" id="{D8FBECA2-1EB0-43A1-B7FE-7FE2DD8F66E5}"/>
              </a:ext>
            </a:extLst>
          </p:cNvPr>
          <p:cNvSpPr>
            <a:spLocks noGrp="1"/>
          </p:cNvSpPr>
          <p:nvPr/>
        </p:nvSpPr>
        <p:spPr>
          <a:xfrm>
            <a:off x="633984"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17" name="Text 15">
            <a:extLst>
              <a:ext uri="{FF2B5EF4-FFF2-40B4-BE49-F238E27FC236}">
                <a16:creationId xmlns:a16="http://schemas.microsoft.com/office/drawing/2014/main" id="{02430E6D-6CFF-4B15-AE21-4A87ECEB35CA}"/>
              </a:ext>
            </a:extLst>
          </p:cNvPr>
          <p:cNvSpPr>
            <a:spLocks noGrp="1"/>
          </p:cNvSpPr>
          <p:nvPr/>
        </p:nvSpPr>
        <p:spPr>
          <a:xfrm>
            <a:off x="1560576"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a:ext uri="{FF2B5EF4-FFF2-40B4-BE49-F238E27FC236}">
                <a16:creationId xmlns:a16="http://schemas.microsoft.com/office/drawing/2014/main" id="{82FD0C95-2D87-4545-B1D3-503814F2F133}"/>
              </a:ext>
            </a:extLst>
          </p:cNvPr>
          <p:cNvSpPr>
            <a:spLocks noGrp="1"/>
          </p:cNvSpPr>
          <p:nvPr/>
        </p:nvSpPr>
        <p:spPr>
          <a:xfrm>
            <a:off x="4315968" y="1341120"/>
            <a:ext cx="3584448" cy="509625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2203DBC8-C35A-443E-AAD1-43403BF8FE6E}"/>
              </a:ext>
            </a:extLst>
          </p:cNvPr>
          <p:cNvSpPr>
            <a:spLocks noGrp="1"/>
          </p:cNvSpPr>
          <p:nvPr/>
        </p:nvSpPr>
        <p:spPr>
          <a:xfrm>
            <a:off x="4437888"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RIPPER</a:t>
            </a:r>
          </a:p>
        </p:txBody>
      </p:sp>
      <p:sp>
        <p:nvSpPr>
          <p:cNvPr id="20" name="Text 18">
            <a:extLst>
              <a:ext uri="{FF2B5EF4-FFF2-40B4-BE49-F238E27FC236}">
                <a16:creationId xmlns:a16="http://schemas.microsoft.com/office/drawing/2014/main" id="{8F065C0F-E16F-491E-BBF5-7A6AE784ACD8}"/>
              </a:ext>
            </a:extLst>
          </p:cNvPr>
          <p:cNvSpPr>
            <a:spLocks noGrp="1"/>
          </p:cNvSpPr>
          <p:nvPr/>
        </p:nvSpPr>
        <p:spPr>
          <a:xfrm>
            <a:off x="4437888"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Classification Baseline</a:t>
            </a:r>
          </a:p>
        </p:txBody>
      </p:sp>
      <p:sp>
        <p:nvSpPr>
          <p:cNvPr id="21" name="Shape 19">
            <a:extLst>
              <a:ext uri="{FF2B5EF4-FFF2-40B4-BE49-F238E27FC236}">
                <a16:creationId xmlns:a16="http://schemas.microsoft.com/office/drawing/2014/main" id="{94D9A2A9-496C-4842-8B51-A8C8195CB16A}"/>
              </a:ext>
            </a:extLst>
          </p:cNvPr>
          <p:cNvSpPr>
            <a:spLocks noGrp="1"/>
          </p:cNvSpPr>
          <p:nvPr/>
        </p:nvSpPr>
        <p:spPr>
          <a:xfrm>
            <a:off x="4498848" y="2267712"/>
            <a:ext cx="3218688" cy="24384"/>
          </a:xfrm>
          <a:prstGeom prst="rect">
            <a:avLst/>
          </a:prstGeom>
          <a:solidFill>
            <a:srgbClr val="F5D78A"/>
          </a:solidFill>
          <a:ln w="12700">
            <a:solidFill>
              <a:srgbClr val="F5D78A"/>
            </a:solidFill>
            <a:prstDash val="solid"/>
          </a:ln>
        </p:spPr>
        <p:txBody>
          <a:bodyPr/>
          <a:lstStyle/>
          <a:p>
            <a:endParaRPr/>
          </a:p>
        </p:txBody>
      </p:sp>
      <p:sp>
        <p:nvSpPr>
          <p:cNvPr id="22" name="Text 20">
            <a:extLst>
              <a:ext uri="{FF2B5EF4-FFF2-40B4-BE49-F238E27FC236}">
                <a16:creationId xmlns:a16="http://schemas.microsoft.com/office/drawing/2014/main" id="{3898D782-63FC-405E-B060-8A675F1F9D28}"/>
              </a:ext>
            </a:extLst>
          </p:cNvPr>
          <p:cNvSpPr>
            <a:spLocks noGrp="1"/>
          </p:cNvSpPr>
          <p:nvPr/>
        </p:nvSpPr>
        <p:spPr>
          <a:xfrm>
            <a:off x="4462272"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23" name="Text 21">
            <a:extLst>
              <a:ext uri="{FF2B5EF4-FFF2-40B4-BE49-F238E27FC236}">
                <a16:creationId xmlns:a16="http://schemas.microsoft.com/office/drawing/2014/main" id="{2D3B6AA1-107A-4844-A70C-C3EA9B53F783}"/>
              </a:ext>
            </a:extLst>
          </p:cNvPr>
          <p:cNvSpPr>
            <a:spLocks noGrp="1"/>
          </p:cNvSpPr>
          <p:nvPr/>
        </p:nvSpPr>
        <p:spPr>
          <a:xfrm>
            <a:off x="5388864"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Which production class</a:t>
            </a:r>
          </a:p>
          <a:p>
            <a:r>
              <a:rPr sz="1133">
                <a:solidFill>
                  <a:srgbClr val="D8E2EE"/>
                </a:solidFill>
                <a:latin typeface="Calibri"/>
                <a:ea typeface="Calibri"/>
                <a:cs typeface="Calibri"/>
              </a:rPr>
              <a:t>does this year belong to?</a:t>
            </a:r>
          </a:p>
        </p:txBody>
      </p:sp>
      <p:sp>
        <p:nvSpPr>
          <p:cNvPr id="24" name="Text 22">
            <a:extLst>
              <a:ext uri="{FF2B5EF4-FFF2-40B4-BE49-F238E27FC236}">
                <a16:creationId xmlns:a16="http://schemas.microsoft.com/office/drawing/2014/main" id="{C78F360F-3E20-42F6-8C4D-023F4D9F0CDB}"/>
              </a:ext>
            </a:extLst>
          </p:cNvPr>
          <p:cNvSpPr>
            <a:spLocks noGrp="1"/>
          </p:cNvSpPr>
          <p:nvPr/>
        </p:nvSpPr>
        <p:spPr>
          <a:xfrm>
            <a:off x="4462272"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25" name="Text 23">
            <a:extLst>
              <a:ext uri="{FF2B5EF4-FFF2-40B4-BE49-F238E27FC236}">
                <a16:creationId xmlns:a16="http://schemas.microsoft.com/office/drawing/2014/main" id="{BE5CBBC7-F452-4731-9049-5874BE36B68B}"/>
              </a:ext>
            </a:extLst>
          </p:cNvPr>
          <p:cNvSpPr>
            <a:spLocks noGrp="1"/>
          </p:cNvSpPr>
          <p:nvPr/>
        </p:nvSpPr>
        <p:spPr>
          <a:xfrm>
            <a:off x="5388864"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FOIL gain</a:t>
            </a:r>
          </a:p>
          <a:p>
            <a:r>
              <a:rPr sz="1133">
                <a:solidFill>
                  <a:srgbClr val="D8E2EE"/>
                </a:solidFill>
                <a:latin typeface="Calibri"/>
                <a:ea typeface="Calibri"/>
                <a:cs typeface="Calibri"/>
              </a:rPr>
              <a:t>(information gain)</a:t>
            </a:r>
          </a:p>
        </p:txBody>
      </p:sp>
      <p:sp>
        <p:nvSpPr>
          <p:cNvPr id="26" name="Text 24">
            <a:extLst>
              <a:ext uri="{FF2B5EF4-FFF2-40B4-BE49-F238E27FC236}">
                <a16:creationId xmlns:a16="http://schemas.microsoft.com/office/drawing/2014/main" id="{BE599CE0-37EC-430E-9751-FF08AD7A68D4}"/>
              </a:ext>
            </a:extLst>
          </p:cNvPr>
          <p:cNvSpPr>
            <a:spLocks noGrp="1"/>
          </p:cNvSpPr>
          <p:nvPr/>
        </p:nvSpPr>
        <p:spPr>
          <a:xfrm>
            <a:off x="4462272"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27" name="Text 25">
            <a:extLst>
              <a:ext uri="{FF2B5EF4-FFF2-40B4-BE49-F238E27FC236}">
                <a16:creationId xmlns:a16="http://schemas.microsoft.com/office/drawing/2014/main" id="{AEDF4E17-5382-4D5D-ABA4-236441D516E5}"/>
              </a:ext>
            </a:extLst>
          </p:cNvPr>
          <p:cNvSpPr>
            <a:spLocks noGrp="1"/>
          </p:cNvSpPr>
          <p:nvPr/>
        </p:nvSpPr>
        <p:spPr>
          <a:xfrm>
            <a:off x="5388864"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class = Low / Med / High</a:t>
            </a:r>
          </a:p>
        </p:txBody>
      </p:sp>
      <p:sp>
        <p:nvSpPr>
          <p:cNvPr id="28" name="Text 26">
            <a:extLst>
              <a:ext uri="{FF2B5EF4-FFF2-40B4-BE49-F238E27FC236}">
                <a16:creationId xmlns:a16="http://schemas.microsoft.com/office/drawing/2014/main" id="{4DB73F66-BA7E-45B1-A325-51E03A542B5F}"/>
              </a:ext>
            </a:extLst>
          </p:cNvPr>
          <p:cNvSpPr>
            <a:spLocks noGrp="1"/>
          </p:cNvSpPr>
          <p:nvPr/>
        </p:nvSpPr>
        <p:spPr>
          <a:xfrm>
            <a:off x="4462272"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29" name="Text 27">
            <a:extLst>
              <a:ext uri="{FF2B5EF4-FFF2-40B4-BE49-F238E27FC236}">
                <a16:creationId xmlns:a16="http://schemas.microsoft.com/office/drawing/2014/main" id="{4E514C80-BE41-4AEF-ABB2-306A68C8AD4D}"/>
              </a:ext>
            </a:extLst>
          </p:cNvPr>
          <p:cNvSpPr>
            <a:spLocks noGrp="1"/>
          </p:cNvSpPr>
          <p:nvPr/>
        </p:nvSpPr>
        <p:spPr>
          <a:xfrm>
            <a:off x="5388864"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a:ext uri="{FF2B5EF4-FFF2-40B4-BE49-F238E27FC236}">
                <a16:creationId xmlns:a16="http://schemas.microsoft.com/office/drawing/2014/main" id="{70A53824-4BF1-4A0B-A9CC-A39671D813E6}"/>
              </a:ext>
            </a:extLst>
          </p:cNvPr>
          <p:cNvSpPr>
            <a:spLocks noGrp="1"/>
          </p:cNvSpPr>
          <p:nvPr/>
        </p:nvSpPr>
        <p:spPr>
          <a:xfrm>
            <a:off x="8144256" y="1341120"/>
            <a:ext cx="3584448" cy="509625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31" name="Text 29">
            <a:extLst>
              <a:ext uri="{FF2B5EF4-FFF2-40B4-BE49-F238E27FC236}">
                <a16:creationId xmlns:a16="http://schemas.microsoft.com/office/drawing/2014/main" id="{1EF74EB4-1C5C-4348-9241-972745364A2F}"/>
              </a:ext>
            </a:extLst>
          </p:cNvPr>
          <p:cNvSpPr>
            <a:spLocks noGrp="1"/>
          </p:cNvSpPr>
          <p:nvPr/>
        </p:nvSpPr>
        <p:spPr>
          <a:xfrm>
            <a:off x="8266176"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M5Rules</a:t>
            </a:r>
          </a:p>
        </p:txBody>
      </p:sp>
      <p:sp>
        <p:nvSpPr>
          <p:cNvPr id="32" name="Text 30">
            <a:extLst>
              <a:ext uri="{FF2B5EF4-FFF2-40B4-BE49-F238E27FC236}">
                <a16:creationId xmlns:a16="http://schemas.microsoft.com/office/drawing/2014/main" id="{207A7BF0-20A6-437E-89FB-FFCEE2805E70}"/>
              </a:ext>
            </a:extLst>
          </p:cNvPr>
          <p:cNvSpPr>
            <a:spLocks noGrp="1"/>
          </p:cNvSpPr>
          <p:nvPr/>
        </p:nvSpPr>
        <p:spPr>
          <a:xfrm>
            <a:off x="8266176"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Regression Baseline</a:t>
            </a:r>
          </a:p>
        </p:txBody>
      </p:sp>
      <p:sp>
        <p:nvSpPr>
          <p:cNvPr id="33" name="Shape 31">
            <a:extLst>
              <a:ext uri="{FF2B5EF4-FFF2-40B4-BE49-F238E27FC236}">
                <a16:creationId xmlns:a16="http://schemas.microsoft.com/office/drawing/2014/main" id="{E117B88F-BA2C-4F26-A6C4-E581D569D63C}"/>
              </a:ext>
            </a:extLst>
          </p:cNvPr>
          <p:cNvSpPr>
            <a:spLocks noGrp="1"/>
          </p:cNvSpPr>
          <p:nvPr/>
        </p:nvSpPr>
        <p:spPr>
          <a:xfrm>
            <a:off x="8327136" y="2267712"/>
            <a:ext cx="3218688" cy="24384"/>
          </a:xfrm>
          <a:prstGeom prst="rect">
            <a:avLst/>
          </a:prstGeom>
          <a:solidFill>
            <a:srgbClr val="F5D78A"/>
          </a:solidFill>
          <a:ln w="12700">
            <a:solidFill>
              <a:srgbClr val="F5D78A"/>
            </a:solidFill>
            <a:prstDash val="solid"/>
          </a:ln>
        </p:spPr>
        <p:txBody>
          <a:bodyPr/>
          <a:lstStyle/>
          <a:p>
            <a:endParaRPr/>
          </a:p>
        </p:txBody>
      </p:sp>
      <p:sp>
        <p:nvSpPr>
          <p:cNvPr id="34" name="Text 32">
            <a:extLst>
              <a:ext uri="{FF2B5EF4-FFF2-40B4-BE49-F238E27FC236}">
                <a16:creationId xmlns:a16="http://schemas.microsoft.com/office/drawing/2014/main" id="{86EB0654-042A-481C-93A1-51F2196534A7}"/>
              </a:ext>
            </a:extLst>
          </p:cNvPr>
          <p:cNvSpPr>
            <a:spLocks noGrp="1"/>
          </p:cNvSpPr>
          <p:nvPr/>
        </p:nvSpPr>
        <p:spPr>
          <a:xfrm>
            <a:off x="8290560"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35" name="Text 33">
            <a:extLst>
              <a:ext uri="{FF2B5EF4-FFF2-40B4-BE49-F238E27FC236}">
                <a16:creationId xmlns:a16="http://schemas.microsoft.com/office/drawing/2014/main" id="{2C08CDEF-DCC4-40F5-810C-7E38F9EEF5F4}"/>
              </a:ext>
            </a:extLst>
          </p:cNvPr>
          <p:cNvSpPr>
            <a:spLocks noGrp="1"/>
          </p:cNvSpPr>
          <p:nvPr/>
        </p:nvSpPr>
        <p:spPr>
          <a:xfrm>
            <a:off x="9217152"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What exact production level</a:t>
            </a:r>
          </a:p>
          <a:p>
            <a:r>
              <a:rPr sz="1133">
                <a:solidFill>
                  <a:srgbClr val="D8E2EE"/>
                </a:solidFill>
                <a:latin typeface="Calibri"/>
                <a:ea typeface="Calibri"/>
                <a:cs typeface="Calibri"/>
              </a:rPr>
              <a:t>does a year have?</a:t>
            </a:r>
          </a:p>
        </p:txBody>
      </p:sp>
      <p:sp>
        <p:nvSpPr>
          <p:cNvPr id="36" name="Text 34">
            <a:extLst>
              <a:ext uri="{FF2B5EF4-FFF2-40B4-BE49-F238E27FC236}">
                <a16:creationId xmlns:a16="http://schemas.microsoft.com/office/drawing/2014/main" id="{AA617072-8CE6-45B4-B972-0CEBD37B0B1F}"/>
              </a:ext>
            </a:extLst>
          </p:cNvPr>
          <p:cNvSpPr>
            <a:spLocks noGrp="1"/>
          </p:cNvSpPr>
          <p:nvPr/>
        </p:nvSpPr>
        <p:spPr>
          <a:xfrm>
            <a:off x="8290560"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37" name="Text 35">
            <a:extLst>
              <a:ext uri="{FF2B5EF4-FFF2-40B4-BE49-F238E27FC236}">
                <a16:creationId xmlns:a16="http://schemas.microsoft.com/office/drawing/2014/main" id="{7E4612CF-3F5C-4812-B69D-CE39B8A67C34}"/>
              </a:ext>
            </a:extLst>
          </p:cNvPr>
          <p:cNvSpPr>
            <a:spLocks noGrp="1"/>
          </p:cNvSpPr>
          <p:nvPr/>
        </p:nvSpPr>
        <p:spPr>
          <a:xfrm>
            <a:off x="9217152"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Standard deviation reduction</a:t>
            </a:r>
          </a:p>
          <a:p>
            <a:r>
              <a:rPr sz="1133">
                <a:solidFill>
                  <a:srgbClr val="D8E2EE"/>
                </a:solidFill>
                <a:latin typeface="Calibri"/>
                <a:ea typeface="Calibri"/>
                <a:cs typeface="Calibri"/>
              </a:rPr>
              <a:t>(MSE minimisation)</a:t>
            </a:r>
          </a:p>
        </p:txBody>
      </p:sp>
      <p:sp>
        <p:nvSpPr>
          <p:cNvPr id="38" name="Text 36">
            <a:extLst>
              <a:ext uri="{FF2B5EF4-FFF2-40B4-BE49-F238E27FC236}">
                <a16:creationId xmlns:a16="http://schemas.microsoft.com/office/drawing/2014/main" id="{C989FD8A-6A73-4915-A616-CB30B8713F28}"/>
              </a:ext>
            </a:extLst>
          </p:cNvPr>
          <p:cNvSpPr>
            <a:spLocks noGrp="1"/>
          </p:cNvSpPr>
          <p:nvPr/>
        </p:nvSpPr>
        <p:spPr>
          <a:xfrm>
            <a:off x="8290560"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39" name="Text 37">
            <a:extLst>
              <a:ext uri="{FF2B5EF4-FFF2-40B4-BE49-F238E27FC236}">
                <a16:creationId xmlns:a16="http://schemas.microsoft.com/office/drawing/2014/main" id="{BF5C568B-0DA3-495F-BADF-B719D6B41CE3}"/>
              </a:ext>
            </a:extLst>
          </p:cNvPr>
          <p:cNvSpPr>
            <a:spLocks noGrp="1"/>
          </p:cNvSpPr>
          <p:nvPr/>
        </p:nvSpPr>
        <p:spPr>
          <a:xfrm>
            <a:off x="9217152"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production = linear model</a:t>
            </a:r>
          </a:p>
        </p:txBody>
      </p:sp>
      <p:sp>
        <p:nvSpPr>
          <p:cNvPr id="40" name="Text 38">
            <a:extLst>
              <a:ext uri="{FF2B5EF4-FFF2-40B4-BE49-F238E27FC236}">
                <a16:creationId xmlns:a16="http://schemas.microsoft.com/office/drawing/2014/main" id="{432687FD-8DDE-47BD-A4E5-465AC5A2B8C2}"/>
              </a:ext>
            </a:extLst>
          </p:cNvPr>
          <p:cNvSpPr>
            <a:spLocks noGrp="1"/>
          </p:cNvSpPr>
          <p:nvPr/>
        </p:nvSpPr>
        <p:spPr>
          <a:xfrm>
            <a:off x="8290560"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41" name="Text 39">
            <a:extLst>
              <a:ext uri="{FF2B5EF4-FFF2-40B4-BE49-F238E27FC236}">
                <a16:creationId xmlns:a16="http://schemas.microsoft.com/office/drawing/2014/main" id="{105A70E3-414F-406F-AE55-9AA766494BA3}"/>
              </a:ext>
            </a:extLst>
          </p:cNvPr>
          <p:cNvSpPr>
            <a:spLocks noGrp="1"/>
          </p:cNvSpPr>
          <p:nvPr/>
        </p:nvSpPr>
        <p:spPr>
          <a:xfrm>
            <a:off x="9217152"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a:ext uri="{FF2B5EF4-FFF2-40B4-BE49-F238E27FC236}">
                <a16:creationId xmlns:a16="http://schemas.microsoft.com/office/drawing/2014/main" id="{20C685F1-CFDB-45FF-9F79-8EE2D279297B}"/>
              </a:ext>
            </a:extLst>
          </p:cNvPr>
          <p:cNvSpPr>
            <a:spLocks noGrp="1"/>
          </p:cNvSpPr>
          <p:nvPr/>
        </p:nvSpPr>
        <p:spPr>
          <a:xfrm>
            <a:off x="487680" y="6559296"/>
            <a:ext cx="11216640" cy="121920"/>
          </a:xfrm>
          <a:prstGeom prst="rect">
            <a:avLst/>
          </a:prstGeom>
          <a:solidFill>
            <a:srgbClr val="D4A853"/>
          </a:solidFill>
          <a:ln w="12700">
            <a:solidFill>
              <a:srgbClr val="D4A853"/>
            </a:solidFill>
            <a:prstDash val="solid"/>
          </a:ln>
        </p:spPr>
        <p:txBody>
          <a:bodyPr/>
          <a:lstStyle/>
          <a:p>
            <a:endParaRPr/>
          </a:p>
        </p:txBody>
      </p:sp>
    </p:spTree>
    <p:extLst>
      <p:ext uri="{BB962C8B-B14F-4D97-AF65-F5344CB8AC3E}">
        <p14:creationId xmlns:p14="http://schemas.microsoft.com/office/powerpoint/2010/main" val="1472335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E4BA176-E583-4C7A-AE09-C8B75C70B31E}"/>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668E726-42C8-497C-9497-9AA13AB2BD6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1 – Rule Discovery Results</a:t>
            </a:r>
          </a:p>
        </p:txBody>
      </p:sp>
      <p:sp>
        <p:nvSpPr>
          <p:cNvPr id="4" name="Text 2">
            <a:extLst>
              <a:ext uri="{FF2B5EF4-FFF2-40B4-BE49-F238E27FC236}">
                <a16:creationId xmlns:a16="http://schemas.microsoft.com/office/drawing/2014/main" id="{A30BEAA1-8A87-4565-9B16-A35F35F730E1}"/>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a:ext uri="{FF2B5EF4-FFF2-40B4-BE49-F238E27FC236}">
                <a16:creationId xmlns:a16="http://schemas.microsoft.com/office/drawing/2014/main" id="{B7575442-0772-414D-BDFA-4404376878D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19E4122-8B28-4331-9B66-F6A2712A5235}"/>
              </a:ext>
            </a:extLst>
          </p:cNvPr>
          <p:cNvSpPr>
            <a:spLocks noGrp="1"/>
          </p:cNvSpPr>
          <p:nvPr/>
        </p:nvSpPr>
        <p:spPr>
          <a:xfrm>
            <a:off x="548640" y="1341120"/>
            <a:ext cx="5120640" cy="4328160"/>
          </a:xfrm>
          <a:prstGeom prst="rect">
            <a:avLst/>
          </a:prstGeom>
          <a:solidFill>
            <a:srgbClr val="D8E2EE"/>
          </a:solidFill>
          <a:ln w="12700">
            <a:solidFill>
              <a:srgbClr val="D8E2EE"/>
            </a:solidFill>
            <a:prstDash val="solid"/>
          </a:ln>
        </p:spPr>
        <p:txBody>
          <a:bodyPr/>
          <a:lstStyle/>
          <a:p>
            <a:endParaRPr/>
          </a:p>
        </p:txBody>
      </p:sp>
      <p:sp>
        <p:nvSpPr>
          <p:cNvPr id="7" name="Shape 5">
            <a:extLst>
              <a:ext uri="{FF2B5EF4-FFF2-40B4-BE49-F238E27FC236}">
                <a16:creationId xmlns:a16="http://schemas.microsoft.com/office/drawing/2014/main" id="{E05B1313-EC6B-4EC6-9D03-42B8F8CF4316}"/>
              </a:ext>
            </a:extLst>
          </p:cNvPr>
          <p:cNvSpPr>
            <a:spLocks noGrp="1"/>
          </p:cNvSpPr>
          <p:nvPr/>
        </p:nvSpPr>
        <p:spPr>
          <a:xfrm>
            <a:off x="548640" y="1341120"/>
            <a:ext cx="5120640" cy="487680"/>
          </a:xfrm>
          <a:prstGeom prst="rect">
            <a:avLst/>
          </a:prstGeom>
          <a:solidFill>
            <a:srgbClr val="2E4A7C"/>
          </a:solidFill>
          <a:ln w="12700">
            <a:solidFill>
              <a:srgbClr val="2E4A7C"/>
            </a:solidFill>
            <a:prstDash val="solid"/>
          </a:ln>
        </p:spPr>
        <p:txBody>
          <a:bodyPr/>
          <a:lstStyle/>
          <a:p>
            <a:endParaRPr/>
          </a:p>
        </p:txBody>
      </p:sp>
      <p:sp>
        <p:nvSpPr>
          <p:cNvPr id="8" name="Text 6">
            <a:extLst>
              <a:ext uri="{FF2B5EF4-FFF2-40B4-BE49-F238E27FC236}">
                <a16:creationId xmlns:a16="http://schemas.microsoft.com/office/drawing/2014/main" id="{DF7A0800-53B2-4E4E-8B5C-EFE70DBF0A56}"/>
              </a:ext>
            </a:extLst>
          </p:cNvPr>
          <p:cNvSpPr>
            <a:spLocks noGrp="1"/>
          </p:cNvSpPr>
          <p:nvPr/>
        </p:nvSpPr>
        <p:spPr>
          <a:xfrm>
            <a:off x="67056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Douro (RDD)</a:t>
            </a:r>
          </a:p>
        </p:txBody>
      </p:sp>
      <p:sp>
        <p:nvSpPr>
          <p:cNvPr id="9" name="Text 7">
            <a:extLst>
              <a:ext uri="{FF2B5EF4-FFF2-40B4-BE49-F238E27FC236}">
                <a16:creationId xmlns:a16="http://schemas.microsoft.com/office/drawing/2014/main" id="{B7A95139-3C61-4594-8FE6-BC6FAB74E5E4}"/>
              </a:ext>
            </a:extLst>
          </p:cNvPr>
          <p:cNvSpPr>
            <a:spLocks noGrp="1"/>
          </p:cNvSpPr>
          <p:nvPr/>
        </p:nvSpPr>
        <p:spPr>
          <a:xfrm>
            <a:off x="69494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10" name="Text 8">
            <a:extLst>
              <a:ext uri="{FF2B5EF4-FFF2-40B4-BE49-F238E27FC236}">
                <a16:creationId xmlns:a16="http://schemas.microsoft.com/office/drawing/2014/main" id="{8C55A0E9-9485-436E-9721-98F5A7CC0C41}"/>
              </a:ext>
            </a:extLst>
          </p:cNvPr>
          <p:cNvSpPr>
            <a:spLocks noGrp="1"/>
          </p:cNvSpPr>
          <p:nvPr/>
        </p:nvSpPr>
        <p:spPr>
          <a:xfrm>
            <a:off x="240182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48 rules found</a:t>
            </a:r>
          </a:p>
        </p:txBody>
      </p:sp>
      <p:sp>
        <p:nvSpPr>
          <p:cNvPr id="11" name="Text 9">
            <a:extLst>
              <a:ext uri="{FF2B5EF4-FFF2-40B4-BE49-F238E27FC236}">
                <a16:creationId xmlns:a16="http://schemas.microsoft.com/office/drawing/2014/main" id="{CD0A401D-E6C0-4ADC-8879-77D68DCE3E19}"/>
              </a:ext>
            </a:extLst>
          </p:cNvPr>
          <p:cNvSpPr>
            <a:spLocks noGrp="1"/>
          </p:cNvSpPr>
          <p:nvPr/>
        </p:nvSpPr>
        <p:spPr>
          <a:xfrm>
            <a:off x="69494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12" name="Text 10">
            <a:extLst>
              <a:ext uri="{FF2B5EF4-FFF2-40B4-BE49-F238E27FC236}">
                <a16:creationId xmlns:a16="http://schemas.microsoft.com/office/drawing/2014/main" id="{C8AF615A-145B-47E3-94A3-42EAEFAF424D}"/>
              </a:ext>
            </a:extLst>
          </p:cNvPr>
          <p:cNvSpPr>
            <a:spLocks noGrp="1"/>
          </p:cNvSpPr>
          <p:nvPr/>
        </p:nvSpPr>
        <p:spPr>
          <a:xfrm>
            <a:off x="240182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Harvest soil water: 54% of rules</a:t>
            </a:r>
          </a:p>
          <a:p>
            <a:r>
              <a:rPr sz="1267">
                <a:solidFill>
                  <a:srgbClr val="1A2A3A"/>
                </a:solidFill>
                <a:latin typeface="Calibri"/>
                <a:ea typeface="Calibri"/>
                <a:cs typeface="Calibri"/>
              </a:rPr>
              <a:t>Post-flowering wet days: 2nd most frequent</a:t>
            </a:r>
          </a:p>
        </p:txBody>
      </p:sp>
      <p:sp>
        <p:nvSpPr>
          <p:cNvPr id="13" name="Text 11">
            <a:extLst>
              <a:ext uri="{FF2B5EF4-FFF2-40B4-BE49-F238E27FC236}">
                <a16:creationId xmlns:a16="http://schemas.microsoft.com/office/drawing/2014/main" id="{96221899-D634-4EAD-BBA8-7DA8421F3C06}"/>
              </a:ext>
            </a:extLst>
          </p:cNvPr>
          <p:cNvSpPr>
            <a:spLocks noGrp="1"/>
          </p:cNvSpPr>
          <p:nvPr/>
        </p:nvSpPr>
        <p:spPr>
          <a:xfrm>
            <a:off x="69494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14" name="Text 12">
            <a:extLst>
              <a:ext uri="{FF2B5EF4-FFF2-40B4-BE49-F238E27FC236}">
                <a16:creationId xmlns:a16="http://schemas.microsoft.com/office/drawing/2014/main" id="{F870C28D-6E3B-4FA4-B2E5-DFF42C5E30D2}"/>
              </a:ext>
            </a:extLst>
          </p:cNvPr>
          <p:cNvSpPr>
            <a:spLocks noGrp="1"/>
          </p:cNvSpPr>
          <p:nvPr/>
        </p:nvSpPr>
        <p:spPr>
          <a:xfrm>
            <a:off x="240182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31/48 rules → ABOVE-trend (65%)</a:t>
            </a:r>
          </a:p>
        </p:txBody>
      </p:sp>
      <p:sp>
        <p:nvSpPr>
          <p:cNvPr id="15" name="Text 13">
            <a:extLst>
              <a:ext uri="{FF2B5EF4-FFF2-40B4-BE49-F238E27FC236}">
                <a16:creationId xmlns:a16="http://schemas.microsoft.com/office/drawing/2014/main" id="{B0103F4F-F2BD-437D-B9D2-C083757C2809}"/>
              </a:ext>
            </a:extLst>
          </p:cNvPr>
          <p:cNvSpPr>
            <a:spLocks noGrp="1"/>
          </p:cNvSpPr>
          <p:nvPr/>
        </p:nvSpPr>
        <p:spPr>
          <a:xfrm>
            <a:off x="69494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16" name="Text 14">
            <a:extLst>
              <a:ext uri="{FF2B5EF4-FFF2-40B4-BE49-F238E27FC236}">
                <a16:creationId xmlns:a16="http://schemas.microsoft.com/office/drawing/2014/main" id="{751CFA4F-E161-4535-A8CF-D893DE32A358}"/>
              </a:ext>
            </a:extLst>
          </p:cNvPr>
          <p:cNvSpPr>
            <a:spLocks noGrp="1"/>
          </p:cNvSpPr>
          <p:nvPr/>
        </p:nvSpPr>
        <p:spPr>
          <a:xfrm>
            <a:off x="240182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Best rule: p = 0.0043, support 28%</a:t>
            </a:r>
          </a:p>
        </p:txBody>
      </p:sp>
      <p:sp>
        <p:nvSpPr>
          <p:cNvPr id="17" name="Shape 15">
            <a:extLst>
              <a:ext uri="{FF2B5EF4-FFF2-40B4-BE49-F238E27FC236}">
                <a16:creationId xmlns:a16="http://schemas.microsoft.com/office/drawing/2014/main" id="{31928870-14DF-4555-8C40-AC3CEBD9E970}"/>
              </a:ext>
            </a:extLst>
          </p:cNvPr>
          <p:cNvSpPr>
            <a:spLocks noGrp="1"/>
          </p:cNvSpPr>
          <p:nvPr/>
        </p:nvSpPr>
        <p:spPr>
          <a:xfrm>
            <a:off x="670560" y="3633216"/>
            <a:ext cx="4876800" cy="780288"/>
          </a:xfrm>
          <a:prstGeom prst="rect">
            <a:avLst/>
          </a:prstGeom>
          <a:solidFill>
            <a:srgbClr val="1B2B45"/>
          </a:solidFill>
          <a:ln w="12700">
            <a:solidFill>
              <a:srgbClr val="1B2B45"/>
            </a:solidFill>
            <a:prstDash val="solid"/>
          </a:ln>
        </p:spPr>
        <p:txBody>
          <a:bodyPr/>
          <a:lstStyle/>
          <a:p>
            <a:endParaRPr/>
          </a:p>
        </p:txBody>
      </p:sp>
      <p:sp>
        <p:nvSpPr>
          <p:cNvPr id="18" name="Text 16">
            <a:extLst>
              <a:ext uri="{FF2B5EF4-FFF2-40B4-BE49-F238E27FC236}">
                <a16:creationId xmlns:a16="http://schemas.microsoft.com/office/drawing/2014/main" id="{DAC5964B-3B82-4B5F-9F5F-67733418EF29}"/>
              </a:ext>
            </a:extLst>
          </p:cNvPr>
          <p:cNvSpPr>
            <a:spLocks noGrp="1"/>
          </p:cNvSpPr>
          <p:nvPr/>
        </p:nvSpPr>
        <p:spPr>
          <a:xfrm>
            <a:off x="73152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wet days post-Flowering ∈ [0–3.3d]</a:t>
            </a:r>
          </a:p>
          <a:p>
            <a:r>
              <a:rPr sz="1067">
                <a:solidFill>
                  <a:srgbClr val="F5D78A"/>
                </a:solidFill>
                <a:latin typeface="Calibri"/>
                <a:ea typeface="Calibri"/>
                <a:cs typeface="Calibri"/>
              </a:rPr>
              <a:t>AND wet days post-Maturity ∈ [0–3.5d]</a:t>
            </a:r>
          </a:p>
          <a:p>
            <a:r>
              <a:rPr sz="1067">
                <a:solidFill>
                  <a:srgbClr val="F5D78A"/>
                </a:solidFill>
                <a:latin typeface="Calibri"/>
                <a:ea typeface="Calibri"/>
                <a:cs typeface="Calibri"/>
              </a:rPr>
              <a:t>THEN production +121 mhl (support 28%, p=0.0043)</a:t>
            </a:r>
          </a:p>
        </p:txBody>
      </p:sp>
      <p:sp>
        <p:nvSpPr>
          <p:cNvPr id="19" name="Shape 17">
            <a:extLst>
              <a:ext uri="{FF2B5EF4-FFF2-40B4-BE49-F238E27FC236}">
                <a16:creationId xmlns:a16="http://schemas.microsoft.com/office/drawing/2014/main" id="{9DF05802-1B18-459A-8F7F-30F1352F8AB2}"/>
              </a:ext>
            </a:extLst>
          </p:cNvPr>
          <p:cNvSpPr>
            <a:spLocks noGrp="1"/>
          </p:cNvSpPr>
          <p:nvPr/>
        </p:nvSpPr>
        <p:spPr>
          <a:xfrm>
            <a:off x="6278880" y="1341120"/>
            <a:ext cx="5120640" cy="4328160"/>
          </a:xfrm>
          <a:prstGeom prst="rect">
            <a:avLst/>
          </a:prstGeom>
          <a:solidFill>
            <a:srgbClr val="D8E2EE"/>
          </a:solidFill>
          <a:ln w="12700">
            <a:solidFill>
              <a:srgbClr val="D8E2EE"/>
            </a:solidFill>
            <a:prstDash val="solid"/>
          </a:ln>
        </p:spPr>
        <p:txBody>
          <a:bodyPr/>
          <a:lstStyle/>
          <a:p>
            <a:endParaRPr/>
          </a:p>
        </p:txBody>
      </p:sp>
      <p:sp>
        <p:nvSpPr>
          <p:cNvPr id="20" name="Shape 18">
            <a:extLst>
              <a:ext uri="{FF2B5EF4-FFF2-40B4-BE49-F238E27FC236}">
                <a16:creationId xmlns:a16="http://schemas.microsoft.com/office/drawing/2014/main" id="{DB7C913C-326E-480B-9738-E278C6A37877}"/>
              </a:ext>
            </a:extLst>
          </p:cNvPr>
          <p:cNvSpPr>
            <a:spLocks noGrp="1"/>
          </p:cNvSpPr>
          <p:nvPr/>
        </p:nvSpPr>
        <p:spPr>
          <a:xfrm>
            <a:off x="6278880" y="1341120"/>
            <a:ext cx="5120640" cy="487680"/>
          </a:xfrm>
          <a:prstGeom prst="rect">
            <a:avLst/>
          </a:prstGeom>
          <a:solidFill>
            <a:srgbClr val="0D7377"/>
          </a:solidFill>
          <a:ln w="12700">
            <a:solidFill>
              <a:srgbClr val="0D7377"/>
            </a:solidFill>
            <a:prstDash val="solid"/>
          </a:ln>
        </p:spPr>
        <p:txBody>
          <a:bodyPr/>
          <a:lstStyle/>
          <a:p>
            <a:endParaRPr/>
          </a:p>
        </p:txBody>
      </p:sp>
      <p:sp>
        <p:nvSpPr>
          <p:cNvPr id="21" name="Text 19">
            <a:extLst>
              <a:ext uri="{FF2B5EF4-FFF2-40B4-BE49-F238E27FC236}">
                <a16:creationId xmlns:a16="http://schemas.microsoft.com/office/drawing/2014/main" id="{5FA5EB85-FA6D-49CF-AA54-0912B969C61B}"/>
              </a:ext>
            </a:extLst>
          </p:cNvPr>
          <p:cNvSpPr>
            <a:spLocks noGrp="1"/>
          </p:cNvSpPr>
          <p:nvPr/>
        </p:nvSpPr>
        <p:spPr>
          <a:xfrm>
            <a:off x="640080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Vinho Verde (RVV)</a:t>
            </a:r>
          </a:p>
        </p:txBody>
      </p:sp>
      <p:sp>
        <p:nvSpPr>
          <p:cNvPr id="22" name="Text 20">
            <a:extLst>
              <a:ext uri="{FF2B5EF4-FFF2-40B4-BE49-F238E27FC236}">
                <a16:creationId xmlns:a16="http://schemas.microsoft.com/office/drawing/2014/main" id="{3ADD51DC-76CB-4290-8421-C50E92190A9F}"/>
              </a:ext>
            </a:extLst>
          </p:cNvPr>
          <p:cNvSpPr>
            <a:spLocks noGrp="1"/>
          </p:cNvSpPr>
          <p:nvPr/>
        </p:nvSpPr>
        <p:spPr>
          <a:xfrm>
            <a:off x="642518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23" name="Text 21">
            <a:extLst>
              <a:ext uri="{FF2B5EF4-FFF2-40B4-BE49-F238E27FC236}">
                <a16:creationId xmlns:a16="http://schemas.microsoft.com/office/drawing/2014/main" id="{EB13DB31-E655-49D9-B80C-7A2FD860BF45}"/>
              </a:ext>
            </a:extLst>
          </p:cNvPr>
          <p:cNvSpPr>
            <a:spLocks noGrp="1"/>
          </p:cNvSpPr>
          <p:nvPr/>
        </p:nvSpPr>
        <p:spPr>
          <a:xfrm>
            <a:off x="813206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20 rules found</a:t>
            </a:r>
          </a:p>
        </p:txBody>
      </p:sp>
      <p:sp>
        <p:nvSpPr>
          <p:cNvPr id="24" name="Text 22">
            <a:extLst>
              <a:ext uri="{FF2B5EF4-FFF2-40B4-BE49-F238E27FC236}">
                <a16:creationId xmlns:a16="http://schemas.microsoft.com/office/drawing/2014/main" id="{6E2135FA-B2DE-40C8-AF95-613A52006559}"/>
              </a:ext>
            </a:extLst>
          </p:cNvPr>
          <p:cNvSpPr>
            <a:spLocks noGrp="1"/>
          </p:cNvSpPr>
          <p:nvPr/>
        </p:nvSpPr>
        <p:spPr>
          <a:xfrm>
            <a:off x="642518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25" name="Text 23">
            <a:extLst>
              <a:ext uri="{FF2B5EF4-FFF2-40B4-BE49-F238E27FC236}">
                <a16:creationId xmlns:a16="http://schemas.microsoft.com/office/drawing/2014/main" id="{07087633-30E8-4D47-87C4-05977C3850C3}"/>
              </a:ext>
            </a:extLst>
          </p:cNvPr>
          <p:cNvSpPr>
            <a:spLocks noGrp="1"/>
          </p:cNvSpPr>
          <p:nvPr/>
        </p:nvSpPr>
        <p:spPr>
          <a:xfrm>
            <a:off x="813206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Heat-stress days at maturity: ~50% of rules</a:t>
            </a:r>
          </a:p>
          <a:p>
            <a:r>
              <a:rPr sz="1267">
                <a:solidFill>
                  <a:srgbClr val="1A2A3A"/>
                </a:solidFill>
                <a:latin typeface="Calibri"/>
                <a:ea typeface="Calibri"/>
                <a:cs typeface="Calibri"/>
              </a:rPr>
              <a:t>LAI at harvest: present in all 20 rules</a:t>
            </a:r>
          </a:p>
        </p:txBody>
      </p:sp>
      <p:sp>
        <p:nvSpPr>
          <p:cNvPr id="26" name="Text 24">
            <a:extLst>
              <a:ext uri="{FF2B5EF4-FFF2-40B4-BE49-F238E27FC236}">
                <a16:creationId xmlns:a16="http://schemas.microsoft.com/office/drawing/2014/main" id="{E7C1435A-BEAE-4E34-9ABC-A2972EE42D20}"/>
              </a:ext>
            </a:extLst>
          </p:cNvPr>
          <p:cNvSpPr>
            <a:spLocks noGrp="1"/>
          </p:cNvSpPr>
          <p:nvPr/>
        </p:nvSpPr>
        <p:spPr>
          <a:xfrm>
            <a:off x="642518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27" name="Text 25">
            <a:extLst>
              <a:ext uri="{FF2B5EF4-FFF2-40B4-BE49-F238E27FC236}">
                <a16:creationId xmlns:a16="http://schemas.microsoft.com/office/drawing/2014/main" id="{C516B9F6-3F94-4788-AA9B-B4DDA48DAB7D}"/>
              </a:ext>
            </a:extLst>
          </p:cNvPr>
          <p:cNvSpPr>
            <a:spLocks noGrp="1"/>
          </p:cNvSpPr>
          <p:nvPr/>
        </p:nvSpPr>
        <p:spPr>
          <a:xfrm>
            <a:off x="813206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16/20 rules → BELOW-trend (80%)</a:t>
            </a:r>
          </a:p>
        </p:txBody>
      </p:sp>
      <p:sp>
        <p:nvSpPr>
          <p:cNvPr id="28" name="Text 26">
            <a:extLst>
              <a:ext uri="{FF2B5EF4-FFF2-40B4-BE49-F238E27FC236}">
                <a16:creationId xmlns:a16="http://schemas.microsoft.com/office/drawing/2014/main" id="{04E87938-E934-4146-A947-3157047EE1B0}"/>
              </a:ext>
            </a:extLst>
          </p:cNvPr>
          <p:cNvSpPr>
            <a:spLocks noGrp="1"/>
          </p:cNvSpPr>
          <p:nvPr/>
        </p:nvSpPr>
        <p:spPr>
          <a:xfrm>
            <a:off x="642518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29" name="Text 27">
            <a:extLst>
              <a:ext uri="{FF2B5EF4-FFF2-40B4-BE49-F238E27FC236}">
                <a16:creationId xmlns:a16="http://schemas.microsoft.com/office/drawing/2014/main" id="{EAD33139-C02B-473E-9B42-F0068D377ECE}"/>
              </a:ext>
            </a:extLst>
          </p:cNvPr>
          <p:cNvSpPr>
            <a:spLocks noGrp="1"/>
          </p:cNvSpPr>
          <p:nvPr/>
        </p:nvSpPr>
        <p:spPr>
          <a:xfrm>
            <a:off x="813206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Largest shift: −365 mhl (support 28%, p=0.029)</a:t>
            </a:r>
          </a:p>
        </p:txBody>
      </p:sp>
      <p:sp>
        <p:nvSpPr>
          <p:cNvPr id="30" name="Shape 28">
            <a:extLst>
              <a:ext uri="{FF2B5EF4-FFF2-40B4-BE49-F238E27FC236}">
                <a16:creationId xmlns:a16="http://schemas.microsoft.com/office/drawing/2014/main" id="{2A2D0EB7-EAD5-4BF5-862A-97E7E6CB2F18}"/>
              </a:ext>
            </a:extLst>
          </p:cNvPr>
          <p:cNvSpPr>
            <a:spLocks noGrp="1"/>
          </p:cNvSpPr>
          <p:nvPr/>
        </p:nvSpPr>
        <p:spPr>
          <a:xfrm>
            <a:off x="6400800" y="3633216"/>
            <a:ext cx="4876800" cy="780288"/>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9C187ED1-36A2-47C9-A94C-1B681969A206}"/>
              </a:ext>
            </a:extLst>
          </p:cNvPr>
          <p:cNvSpPr>
            <a:spLocks noGrp="1"/>
          </p:cNvSpPr>
          <p:nvPr/>
        </p:nvSpPr>
        <p:spPr>
          <a:xfrm>
            <a:off x="646176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soil water post-Flowering ∈ [143–234 mm]</a:t>
            </a:r>
          </a:p>
          <a:p>
            <a:r>
              <a:rPr sz="1067">
                <a:solidFill>
                  <a:srgbClr val="F5D78A"/>
                </a:solidFill>
                <a:latin typeface="Calibri"/>
                <a:ea typeface="Calibri"/>
                <a:cs typeface="Calibri"/>
              </a:rPr>
              <a:t>AND heat days post-Maturity ∈ [0–2.4d]</a:t>
            </a:r>
          </a:p>
          <a:p>
            <a:r>
              <a:rPr sz="1067">
                <a:solidFill>
                  <a:srgbClr val="F5D78A"/>
                </a:solidFill>
                <a:latin typeface="Calibri"/>
                <a:ea typeface="Calibri"/>
                <a:cs typeface="Calibri"/>
              </a:rPr>
              <a:t>THEN production −365 mhl (support 28%, p=0.029)</a:t>
            </a:r>
          </a:p>
        </p:txBody>
      </p:sp>
      <p:sp>
        <p:nvSpPr>
          <p:cNvPr id="32" name="Shape 30">
            <a:extLst>
              <a:ext uri="{FF2B5EF4-FFF2-40B4-BE49-F238E27FC236}">
                <a16:creationId xmlns:a16="http://schemas.microsoft.com/office/drawing/2014/main" id="{2E32BB3E-325E-41FD-ACDE-7AE68B77ADA6}"/>
              </a:ext>
            </a:extLst>
          </p:cNvPr>
          <p:cNvSpPr>
            <a:spLocks noGrp="1"/>
          </p:cNvSpPr>
          <p:nvPr/>
        </p:nvSpPr>
        <p:spPr>
          <a:xfrm>
            <a:off x="548640" y="5815584"/>
            <a:ext cx="11094720" cy="877824"/>
          </a:xfrm>
          <a:prstGeom prst="rect">
            <a:avLst/>
          </a:prstGeom>
          <a:solidFill>
            <a:srgbClr val="2E4A7C"/>
          </a:solidFill>
          <a:ln w="12700">
            <a:solidFill>
              <a:srgbClr val="2E4A7C"/>
            </a:solidFill>
            <a:prstDash val="solid"/>
          </a:ln>
        </p:spPr>
        <p:txBody>
          <a:bodyPr/>
          <a:lstStyle/>
          <a:p>
            <a:endParaRPr/>
          </a:p>
        </p:txBody>
      </p:sp>
      <p:sp>
        <p:nvSpPr>
          <p:cNvPr id="33" name="Text 31">
            <a:extLst>
              <a:ext uri="{FF2B5EF4-FFF2-40B4-BE49-F238E27FC236}">
                <a16:creationId xmlns:a16="http://schemas.microsoft.com/office/drawing/2014/main" id="{B2EA2721-90BF-429D-A9A9-7CCC410DA63C}"/>
              </a:ext>
            </a:extLst>
          </p:cNvPr>
          <p:cNvSpPr>
            <a:spLocks noGrp="1"/>
          </p:cNvSpPr>
          <p:nvPr/>
        </p:nvSpPr>
        <p:spPr>
          <a:xfrm>
            <a:off x="731520" y="5852160"/>
            <a:ext cx="2560320" cy="792480"/>
          </a:xfrm>
          <a:prstGeom prst="rect">
            <a:avLst/>
          </a:prstGeom>
          <a:noFill/>
        </p:spPr>
        <p:txBody>
          <a:bodyPr wrap="square" lIns="0" tIns="0" rIns="0" bIns="0" anchor="ctr"/>
          <a:lstStyle/>
          <a:p>
            <a:r>
              <a:rPr sz="1467" b="1">
                <a:solidFill>
                  <a:srgbClr val="F5D78A"/>
                </a:solidFill>
                <a:latin typeface="Calibri"/>
                <a:ea typeface="Calibri"/>
                <a:cs typeface="Calibri"/>
              </a:rPr>
              <a:t>Cross-Algorithm Convergence:</a:t>
            </a:r>
          </a:p>
        </p:txBody>
      </p:sp>
      <p:sp>
        <p:nvSpPr>
          <p:cNvPr id="34" name="Text 32">
            <a:extLst>
              <a:ext uri="{FF2B5EF4-FFF2-40B4-BE49-F238E27FC236}">
                <a16:creationId xmlns:a16="http://schemas.microsoft.com/office/drawing/2014/main" id="{ED53F494-1263-4F33-BD44-6DDF5D00AC37}"/>
              </a:ext>
            </a:extLst>
          </p:cNvPr>
          <p:cNvSpPr>
            <a:spLocks noGrp="1"/>
          </p:cNvSpPr>
          <p:nvPr/>
        </p:nvSpPr>
        <p:spPr>
          <a:xfrm>
            <a:off x="3340608" y="5852160"/>
            <a:ext cx="8107680" cy="792480"/>
          </a:xfrm>
          <a:prstGeom prst="rect">
            <a:avLst/>
          </a:prstGeom>
          <a:noFill/>
        </p:spPr>
        <p:txBody>
          <a:bodyPr wrap="square" lIns="0" tIns="0" rIns="0" bIns="0" anchor="ctr"/>
          <a:lstStyle/>
          <a:p>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181233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A5FD7E-E1E8-4DB0-B4D9-E9E3D5CAB124}"/>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9E4F46DD-2B3A-45AA-B7A8-27270D9701E3}"/>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Validation of Rule Discovery</a:t>
            </a:r>
          </a:p>
        </p:txBody>
      </p:sp>
      <p:sp>
        <p:nvSpPr>
          <p:cNvPr id="4" name="Text 2">
            <a:extLst>
              <a:ext uri="{FF2B5EF4-FFF2-40B4-BE49-F238E27FC236}">
                <a16:creationId xmlns:a16="http://schemas.microsoft.com/office/drawing/2014/main" id="{378DAC57-FB57-46EC-9E2F-9B3B1B3F2F0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LOESS stress test distinguishes genuine climate signal from era-membership artefacts</a:t>
            </a:r>
          </a:p>
        </p:txBody>
      </p:sp>
      <p:sp>
        <p:nvSpPr>
          <p:cNvPr id="5" name="Shape 3">
            <a:extLst>
              <a:ext uri="{FF2B5EF4-FFF2-40B4-BE49-F238E27FC236}">
                <a16:creationId xmlns:a16="http://schemas.microsoft.com/office/drawing/2014/main" id="{FF883E1B-F9C0-4252-A031-ECA2E3950E4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4B9BBDA-1D42-44F3-9454-E0808A333E39}"/>
              </a:ext>
            </a:extLst>
          </p:cNvPr>
          <p:cNvSpPr>
            <a:spLocks noGrp="1"/>
          </p:cNvSpPr>
          <p:nvPr/>
        </p:nvSpPr>
        <p:spPr>
          <a:xfrm>
            <a:off x="548640" y="1341120"/>
            <a:ext cx="11094720" cy="1121664"/>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6BD95C6-6961-4AF5-9C9C-C4908E4F7DDA}"/>
              </a:ext>
            </a:extLst>
          </p:cNvPr>
          <p:cNvSpPr>
            <a:spLocks noGrp="1"/>
          </p:cNvSpPr>
          <p:nvPr/>
        </p:nvSpPr>
        <p:spPr>
          <a:xfrm>
            <a:off x="731520" y="1365504"/>
            <a:ext cx="3657600" cy="463296"/>
          </a:xfrm>
          <a:prstGeom prst="rect">
            <a:avLst/>
          </a:prstGeom>
          <a:noFill/>
        </p:spPr>
        <p:txBody>
          <a:bodyPr wrap="square" lIns="0" tIns="0" rIns="0" bIns="0" anchor="ctr"/>
          <a:lstStyle/>
          <a:p>
            <a:r>
              <a:rPr sz="1600" b="1">
                <a:solidFill>
                  <a:srgbClr val="F5D78A"/>
                </a:solidFill>
                <a:latin typeface="Calibri"/>
                <a:ea typeface="Calibri"/>
                <a:cs typeface="Calibri"/>
              </a:rPr>
              <a:t>The Era Confound Problem</a:t>
            </a:r>
          </a:p>
        </p:txBody>
      </p:sp>
      <p:sp>
        <p:nvSpPr>
          <p:cNvPr id="8" name="Text 6">
            <a:extLst>
              <a:ext uri="{FF2B5EF4-FFF2-40B4-BE49-F238E27FC236}">
                <a16:creationId xmlns:a16="http://schemas.microsoft.com/office/drawing/2014/main" id="{088D6D97-F047-425A-88B4-07F1D6935F09}"/>
              </a:ext>
            </a:extLst>
          </p:cNvPr>
          <p:cNvSpPr>
            <a:spLocks noGrp="1"/>
          </p:cNvSpPr>
          <p:nvPr/>
        </p:nvSpPr>
        <p:spPr>
          <a:xfrm>
            <a:off x="731520" y="1828800"/>
            <a:ext cx="10728960" cy="585216"/>
          </a:xfrm>
          <a:prstGeom prst="rect">
            <a:avLst/>
          </a:prstGeom>
          <a:noFill/>
        </p:spPr>
        <p:txBody>
          <a:bodyPr wrap="square" lIns="0" tIns="0" rIns="0" bIns="0" anchor="t"/>
          <a:lstStyle/>
          <a:p>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a:ext uri="{FF2B5EF4-FFF2-40B4-BE49-F238E27FC236}">
                <a16:creationId xmlns:a16="http://schemas.microsoft.com/office/drawing/2014/main" id="{0D4A27AC-AD76-4737-9249-1225D9E392F6}"/>
              </a:ext>
            </a:extLst>
          </p:cNvPr>
          <p:cNvSpPr>
            <a:spLocks noGrp="1"/>
          </p:cNvSpPr>
          <p:nvPr/>
        </p:nvSpPr>
        <p:spPr>
          <a:xfrm>
            <a:off x="548640" y="2584704"/>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548640" y="3048001"/>
          <a:ext cx="11094720" cy="2706620"/>
        </p:xfrm>
        <a:graphic>
          <a:graphicData uri="http://schemas.openxmlformats.org/drawingml/2006/table">
            <a:tbl>
              <a:tblPr/>
              <a:tblGrid>
                <a:gridCol w="27432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158240">
                  <a:extLst>
                    <a:ext uri="{9D8B030D-6E8A-4147-A177-3AD203B41FA5}">
                      <a16:colId xmlns:a16="http://schemas.microsoft.com/office/drawing/2014/main" val="20004"/>
                    </a:ext>
                  </a:extLst>
                </a:gridCol>
                <a:gridCol w="4328160">
                  <a:extLst>
                    <a:ext uri="{9D8B030D-6E8A-4147-A177-3AD203B41FA5}">
                      <a16:colId xmlns:a16="http://schemas.microsoft.com/office/drawing/2014/main" val="20005"/>
                    </a:ext>
                  </a:extLst>
                </a:gridCol>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extLst>
                  <a:ext uri="{0D108BD9-81ED-4DB2-BD59-A6C34878D82A}">
                    <a16:rowId xmlns:a16="http://schemas.microsoft.com/office/drawing/2014/main" val="10000"/>
                  </a:ext>
                </a:extLst>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1"/>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2"/>
                  </a:ext>
                </a:extLst>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3"/>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4"/>
                  </a:ext>
                </a:extLst>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5"/>
                  </a:ext>
                </a:extLst>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6"/>
                  </a:ext>
                </a:extLst>
              </a:tr>
            </a:tbl>
          </a:graphicData>
        </a:graphic>
      </p:graphicFrame>
      <p:sp>
        <p:nvSpPr>
          <p:cNvPr id="11" name="Text 8">
            <a:extLst>
              <a:ext uri="{FF2B5EF4-FFF2-40B4-BE49-F238E27FC236}">
                <a16:creationId xmlns:a16="http://schemas.microsoft.com/office/drawing/2014/main" id="{A008B22D-EEDC-4762-BAA2-E6CEF21A2F2E}"/>
              </a:ext>
            </a:extLst>
          </p:cNvPr>
          <p:cNvSpPr>
            <a:spLocks noGrp="1"/>
          </p:cNvSpPr>
          <p:nvPr/>
        </p:nvSpPr>
        <p:spPr>
          <a:xfrm>
            <a:off x="548640" y="5900928"/>
            <a:ext cx="11094720" cy="536448"/>
          </a:xfrm>
          <a:prstGeom prst="rect">
            <a:avLst/>
          </a:prstGeom>
          <a:noFill/>
        </p:spPr>
        <p:txBody>
          <a:bodyPr wrap="square" lIns="0" tIns="0" rIns="0" bIns="0" anchor="ctr"/>
          <a:lstStyle/>
          <a:p>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6231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4F6C2E1-9F03-4716-A66B-7BA3B1CCCE0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DB677C-5DC8-4D31-B303-C6B9CDC38C2D}"/>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2 – Predictive Validation</a:t>
            </a:r>
          </a:p>
        </p:txBody>
      </p:sp>
      <p:sp>
        <p:nvSpPr>
          <p:cNvPr id="4" name="Text 2">
            <a:extLst>
              <a:ext uri="{FF2B5EF4-FFF2-40B4-BE49-F238E27FC236}">
                <a16:creationId xmlns:a16="http://schemas.microsoft.com/office/drawing/2014/main" id="{DEC554D8-2F19-47C5-B120-3FBB38FC7F7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Walk-forward results: 17 models, weighted MAE on original scale (mhl)</a:t>
            </a:r>
          </a:p>
        </p:txBody>
      </p:sp>
      <p:sp>
        <p:nvSpPr>
          <p:cNvPr id="5" name="Shape 3">
            <a:extLst>
              <a:ext uri="{FF2B5EF4-FFF2-40B4-BE49-F238E27FC236}">
                <a16:creationId xmlns:a16="http://schemas.microsoft.com/office/drawing/2014/main" id="{AA34EC6A-AD9F-4C76-8FEF-9234FD0396A7}"/>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Text 4">
            <a:extLst>
              <a:ext uri="{FF2B5EF4-FFF2-40B4-BE49-F238E27FC236}">
                <a16:creationId xmlns:a16="http://schemas.microsoft.com/office/drawing/2014/main" id="{63BF602C-6514-41BE-8F82-0D50EFB3B6A7}"/>
              </a:ext>
            </a:extLst>
          </p:cNvPr>
          <p:cNvSpPr>
            <a:spLocks noGrp="1"/>
          </p:cNvSpPr>
          <p:nvPr/>
        </p:nvSpPr>
        <p:spPr>
          <a:xfrm>
            <a:off x="48768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426720" y="1682496"/>
          <a:ext cx="5669280" cy="319430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FF2B5EF4-FFF2-40B4-BE49-F238E27FC236}">
                <a16:creationId xmlns:a16="http://schemas.microsoft.com/office/drawing/2014/main" id="{1362ACA1-99BB-4AFA-BEA9-632CF8320572}"/>
              </a:ext>
            </a:extLst>
          </p:cNvPr>
          <p:cNvSpPr>
            <a:spLocks noGrp="1"/>
          </p:cNvSpPr>
          <p:nvPr/>
        </p:nvSpPr>
        <p:spPr>
          <a:xfrm>
            <a:off x="621792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6156960" y="1682496"/>
          <a:ext cx="5669280" cy="319430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a:extLst>
              <a:ext uri="{FF2B5EF4-FFF2-40B4-BE49-F238E27FC236}">
                <a16:creationId xmlns:a16="http://schemas.microsoft.com/office/drawing/2014/main" id="{EBBC7138-C8CD-4342-A70F-D9C1400CA32D}"/>
              </a:ext>
            </a:extLst>
          </p:cNvPr>
          <p:cNvSpPr>
            <a:spLocks noGrp="1"/>
          </p:cNvSpPr>
          <p:nvPr/>
        </p:nvSpPr>
        <p:spPr>
          <a:xfrm>
            <a:off x="487680" y="4998720"/>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Statistical Tests</a:t>
            </a:r>
          </a:p>
        </p:txBody>
      </p:sp>
      <p:sp>
        <p:nvSpPr>
          <p:cNvPr id="11" name="Shape 7">
            <a:extLst>
              <a:ext uri="{FF2B5EF4-FFF2-40B4-BE49-F238E27FC236}">
                <a16:creationId xmlns:a16="http://schemas.microsoft.com/office/drawing/2014/main" id="{33FC7502-D913-43DF-854F-D8C412BE588D}"/>
              </a:ext>
            </a:extLst>
          </p:cNvPr>
          <p:cNvSpPr>
            <a:spLocks noGrp="1"/>
          </p:cNvSpPr>
          <p:nvPr/>
        </p:nvSpPr>
        <p:spPr>
          <a:xfrm>
            <a:off x="487680" y="5425440"/>
            <a:ext cx="11216640" cy="390144"/>
          </a:xfrm>
          <a:prstGeom prst="rect">
            <a:avLst/>
          </a:prstGeom>
          <a:solidFill>
            <a:srgbClr val="1B2B45"/>
          </a:solidFill>
          <a:ln w="12700">
            <a:solidFill>
              <a:srgbClr val="1B2B45"/>
            </a:solidFill>
            <a:prstDash val="solid"/>
          </a:ln>
        </p:spPr>
        <p:txBody>
          <a:bodyPr/>
          <a:lstStyle/>
          <a:p>
            <a:endParaRPr/>
          </a:p>
        </p:txBody>
      </p:sp>
      <p:sp>
        <p:nvSpPr>
          <p:cNvPr id="12" name="Text 8">
            <a:extLst>
              <a:ext uri="{FF2B5EF4-FFF2-40B4-BE49-F238E27FC236}">
                <a16:creationId xmlns:a16="http://schemas.microsoft.com/office/drawing/2014/main" id="{D29B8DAB-A14D-421F-BCF1-B0F2ED57EFF4}"/>
              </a:ext>
            </a:extLst>
          </p:cNvPr>
          <p:cNvSpPr>
            <a:spLocks noGrp="1"/>
          </p:cNvSpPr>
          <p:nvPr/>
        </p:nvSpPr>
        <p:spPr>
          <a:xfrm>
            <a:off x="670560" y="5425440"/>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overall — Wilcoxon, 18 scenarios</a:t>
            </a:r>
          </a:p>
        </p:txBody>
      </p:sp>
      <p:sp>
        <p:nvSpPr>
          <p:cNvPr id="13" name="Text 9">
            <a:extLst>
              <a:ext uri="{FF2B5EF4-FFF2-40B4-BE49-F238E27FC236}">
                <a16:creationId xmlns:a16="http://schemas.microsoft.com/office/drawing/2014/main" id="{186CF952-BE51-4FB3-BFE5-6075F61347AD}"/>
              </a:ext>
            </a:extLst>
          </p:cNvPr>
          <p:cNvSpPr>
            <a:spLocks noGrp="1"/>
          </p:cNvSpPr>
          <p:nvPr/>
        </p:nvSpPr>
        <p:spPr>
          <a:xfrm>
            <a:off x="6339840" y="5425440"/>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W=68, p=0.468 — Not significant (confirmatory)</a:t>
            </a:r>
          </a:p>
        </p:txBody>
      </p:sp>
      <p:sp>
        <p:nvSpPr>
          <p:cNvPr id="14" name="Shape 10">
            <a:extLst>
              <a:ext uri="{FF2B5EF4-FFF2-40B4-BE49-F238E27FC236}">
                <a16:creationId xmlns:a16="http://schemas.microsoft.com/office/drawing/2014/main" id="{086E0AD8-7C90-41E4-85E3-DCFEB72A9082}"/>
              </a:ext>
            </a:extLst>
          </p:cNvPr>
          <p:cNvSpPr>
            <a:spLocks noGrp="1"/>
          </p:cNvSpPr>
          <p:nvPr/>
        </p:nvSpPr>
        <p:spPr>
          <a:xfrm>
            <a:off x="487680" y="5864352"/>
            <a:ext cx="11216640" cy="390144"/>
          </a:xfrm>
          <a:prstGeom prst="rect">
            <a:avLst/>
          </a:prstGeom>
          <a:solidFill>
            <a:srgbClr val="D4A853"/>
          </a:solidFill>
          <a:ln w="12700">
            <a:solidFill>
              <a:srgbClr val="D4A853"/>
            </a:solidFill>
            <a:prstDash val="solid"/>
          </a:ln>
        </p:spPr>
        <p:txBody>
          <a:bodyPr/>
          <a:lstStyle/>
          <a:p>
            <a:endParaRPr/>
          </a:p>
        </p:txBody>
      </p:sp>
      <p:sp>
        <p:nvSpPr>
          <p:cNvPr id="15" name="Text 11">
            <a:extLst>
              <a:ext uri="{FF2B5EF4-FFF2-40B4-BE49-F238E27FC236}">
                <a16:creationId xmlns:a16="http://schemas.microsoft.com/office/drawing/2014/main" id="{14E04C1F-A08D-4420-8843-6FA2F0BD7B77}"/>
              </a:ext>
            </a:extLst>
          </p:cNvPr>
          <p:cNvSpPr>
            <a:spLocks noGrp="1"/>
          </p:cNvSpPr>
          <p:nvPr/>
        </p:nvSpPr>
        <p:spPr>
          <a:xfrm>
            <a:off x="670560" y="5864352"/>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era-balanced scen. 10–14 — Binomial, n=5</a:t>
            </a:r>
          </a:p>
        </p:txBody>
      </p:sp>
      <p:sp>
        <p:nvSpPr>
          <p:cNvPr id="16" name="Text 12">
            <a:extLst>
              <a:ext uri="{FF2B5EF4-FFF2-40B4-BE49-F238E27FC236}">
                <a16:creationId xmlns:a16="http://schemas.microsoft.com/office/drawing/2014/main" id="{BDB1FCE0-1AA5-4474-9AC6-3BD23D1305DC}"/>
              </a:ext>
            </a:extLst>
          </p:cNvPr>
          <p:cNvSpPr>
            <a:spLocks noGrp="1"/>
          </p:cNvSpPr>
          <p:nvPr/>
        </p:nvSpPr>
        <p:spPr>
          <a:xfrm>
            <a:off x="6339840" y="5864352"/>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a:ext uri="{FF2B5EF4-FFF2-40B4-BE49-F238E27FC236}">
                <a16:creationId xmlns:a16="http://schemas.microsoft.com/office/drawing/2014/main" id="{08E7E117-796F-4DD0-B2F1-86E1E296799E}"/>
              </a:ext>
            </a:extLst>
          </p:cNvPr>
          <p:cNvSpPr>
            <a:spLocks noGrp="1"/>
          </p:cNvSpPr>
          <p:nvPr/>
        </p:nvSpPr>
        <p:spPr>
          <a:xfrm>
            <a:off x="487680" y="6303264"/>
            <a:ext cx="11216640" cy="390144"/>
          </a:xfrm>
          <a:prstGeom prst="rect">
            <a:avLst/>
          </a:prstGeom>
          <a:solidFill>
            <a:srgbClr val="B03A2E"/>
          </a:solidFill>
          <a:ln w="12700">
            <a:solidFill>
              <a:srgbClr val="B03A2E"/>
            </a:solidFill>
            <a:prstDash val="solid"/>
          </a:ln>
        </p:spPr>
        <p:txBody>
          <a:bodyPr/>
          <a:lstStyle/>
          <a:p>
            <a:endParaRPr/>
          </a:p>
        </p:txBody>
      </p:sp>
      <p:sp>
        <p:nvSpPr>
          <p:cNvPr id="18" name="Text 14">
            <a:extLst>
              <a:ext uri="{FF2B5EF4-FFF2-40B4-BE49-F238E27FC236}">
                <a16:creationId xmlns:a16="http://schemas.microsoft.com/office/drawing/2014/main" id="{F35D2672-5957-45D9-AE70-21AE08FC96D4}"/>
              </a:ext>
            </a:extLst>
          </p:cNvPr>
          <p:cNvSpPr>
            <a:spLocks noGrp="1"/>
          </p:cNvSpPr>
          <p:nvPr/>
        </p:nvSpPr>
        <p:spPr>
          <a:xfrm>
            <a:off x="670560" y="6303264"/>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RVV rule-firing scen. — Wilcoxon, 9 scenarios</a:t>
            </a:r>
          </a:p>
        </p:txBody>
      </p:sp>
      <p:sp>
        <p:nvSpPr>
          <p:cNvPr id="19" name="Text 15">
            <a:extLst>
              <a:ext uri="{FF2B5EF4-FFF2-40B4-BE49-F238E27FC236}">
                <a16:creationId xmlns:a16="http://schemas.microsoft.com/office/drawing/2014/main" id="{B08C5386-C0CC-43FE-A910-8FDC704E3C5B}"/>
              </a:ext>
            </a:extLst>
          </p:cNvPr>
          <p:cNvSpPr>
            <a:spLocks noGrp="1"/>
          </p:cNvSpPr>
          <p:nvPr/>
        </p:nvSpPr>
        <p:spPr>
          <a:xfrm>
            <a:off x="6339840" y="6303264"/>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359849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192200D-9DA6-469E-BC29-0E4A7F8CB397}"/>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7EDAEF71-5248-4537-B60D-6E38B78891BF}"/>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FFFFFF"/>
                </a:solidFill>
                <a:latin typeface="Calibri"/>
                <a:ea typeface="Calibri"/>
                <a:cs typeface="Calibri"/>
              </a:rPr>
              <a:t>Why Did Prediction Fail?</a:t>
            </a:r>
          </a:p>
        </p:txBody>
      </p:sp>
      <p:sp>
        <p:nvSpPr>
          <p:cNvPr id="4" name="Text 2">
            <a:extLst>
              <a:ext uri="{FF2B5EF4-FFF2-40B4-BE49-F238E27FC236}">
                <a16:creationId xmlns:a16="http://schemas.microsoft.com/office/drawing/2014/main" id="{1191CD33-CEA5-429D-8042-A98288D983C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a:ext uri="{FF2B5EF4-FFF2-40B4-BE49-F238E27FC236}">
                <a16:creationId xmlns:a16="http://schemas.microsoft.com/office/drawing/2014/main" id="{0E3DCEE2-9B91-4090-BBC4-B00978DD2725}"/>
              </a:ext>
            </a:extLst>
          </p:cNvPr>
          <p:cNvSpPr>
            <a:spLocks noGrp="1"/>
          </p:cNvSpPr>
          <p:nvPr/>
        </p:nvSpPr>
        <p:spPr>
          <a:xfrm>
            <a:off x="609600" y="1194816"/>
            <a:ext cx="10972800" cy="24384"/>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E276D67C-D3DF-4F94-968C-94B6E021BF6D}"/>
              </a:ext>
            </a:extLst>
          </p:cNvPr>
          <p:cNvSpPr>
            <a:spLocks noGrp="1"/>
          </p:cNvSpPr>
          <p:nvPr/>
        </p:nvSpPr>
        <p:spPr>
          <a:xfrm>
            <a:off x="548640" y="1341120"/>
            <a:ext cx="5364480" cy="2377440"/>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DEF881C-C2B7-4847-B8E1-AAB5657ACAF3}"/>
              </a:ext>
            </a:extLst>
          </p:cNvPr>
          <p:cNvSpPr>
            <a:spLocks noGrp="1"/>
          </p:cNvSpPr>
          <p:nvPr/>
        </p:nvSpPr>
        <p:spPr>
          <a:xfrm>
            <a:off x="67056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F24E56A0-B4F9-4FFA-A8B8-A6EF7DC9EAAA}"/>
              </a:ext>
            </a:extLst>
          </p:cNvPr>
          <p:cNvSpPr>
            <a:spLocks noGrp="1"/>
          </p:cNvSpPr>
          <p:nvPr/>
        </p:nvSpPr>
        <p:spPr>
          <a:xfrm>
            <a:off x="123139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Signal Too Weak for Prediction</a:t>
            </a:r>
          </a:p>
        </p:txBody>
      </p:sp>
      <p:sp>
        <p:nvSpPr>
          <p:cNvPr id="9" name="Shape 7">
            <a:extLst>
              <a:ext uri="{FF2B5EF4-FFF2-40B4-BE49-F238E27FC236}">
                <a16:creationId xmlns:a16="http://schemas.microsoft.com/office/drawing/2014/main" id="{F4D11BDD-F2F3-48A8-BCE1-95DE03FC57C5}"/>
              </a:ext>
            </a:extLst>
          </p:cNvPr>
          <p:cNvSpPr>
            <a:spLocks noGrp="1"/>
          </p:cNvSpPr>
          <p:nvPr/>
        </p:nvSpPr>
        <p:spPr>
          <a:xfrm>
            <a:off x="670560" y="1950720"/>
            <a:ext cx="5120640"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8D1D90BD-2422-451E-9193-E015A13216FB}"/>
              </a:ext>
            </a:extLst>
          </p:cNvPr>
          <p:cNvSpPr>
            <a:spLocks noGrp="1"/>
          </p:cNvSpPr>
          <p:nvPr/>
        </p:nvSpPr>
        <p:spPr>
          <a:xfrm>
            <a:off x="69494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a:ext uri="{FF2B5EF4-FFF2-40B4-BE49-F238E27FC236}">
                <a16:creationId xmlns:a16="http://schemas.microsoft.com/office/drawing/2014/main" id="{FC08F117-1B4A-4EB2-BC3A-E9C45705B4E1}"/>
              </a:ext>
            </a:extLst>
          </p:cNvPr>
          <p:cNvSpPr>
            <a:spLocks noGrp="1"/>
          </p:cNvSpPr>
          <p:nvPr/>
        </p:nvSpPr>
        <p:spPr>
          <a:xfrm>
            <a:off x="6278880" y="1341120"/>
            <a:ext cx="5364480" cy="2377440"/>
          </a:xfrm>
          <a:prstGeom prst="rect">
            <a:avLst/>
          </a:prstGeom>
          <a:solidFill>
            <a:srgbClr val="0D7377"/>
          </a:solidFill>
          <a:ln w="12700">
            <a:solidFill>
              <a:srgbClr val="0D7377"/>
            </a:solidFill>
            <a:prstDash val="solid"/>
          </a:ln>
        </p:spPr>
        <p:txBody>
          <a:bodyPr/>
          <a:lstStyle/>
          <a:p>
            <a:endParaRPr/>
          </a:p>
        </p:txBody>
      </p:sp>
      <p:sp>
        <p:nvSpPr>
          <p:cNvPr id="12" name="Text 10">
            <a:extLst>
              <a:ext uri="{FF2B5EF4-FFF2-40B4-BE49-F238E27FC236}">
                <a16:creationId xmlns:a16="http://schemas.microsoft.com/office/drawing/2014/main" id="{0CBEC928-501E-463E-932E-462442ECDA12}"/>
              </a:ext>
            </a:extLst>
          </p:cNvPr>
          <p:cNvSpPr>
            <a:spLocks noGrp="1"/>
          </p:cNvSpPr>
          <p:nvPr/>
        </p:nvSpPr>
        <p:spPr>
          <a:xfrm>
            <a:off x="640080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2</a:t>
            </a:r>
          </a:p>
        </p:txBody>
      </p:sp>
      <p:sp>
        <p:nvSpPr>
          <p:cNvPr id="13" name="Text 11">
            <a:extLst>
              <a:ext uri="{FF2B5EF4-FFF2-40B4-BE49-F238E27FC236}">
                <a16:creationId xmlns:a16="http://schemas.microsoft.com/office/drawing/2014/main" id="{9F49BD36-4820-4BA4-A0E3-9F915F34BED9}"/>
              </a:ext>
            </a:extLst>
          </p:cNvPr>
          <p:cNvSpPr>
            <a:spLocks noGrp="1"/>
          </p:cNvSpPr>
          <p:nvPr/>
        </p:nvSpPr>
        <p:spPr>
          <a:xfrm>
            <a:off x="696163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Decision 1 / Decision 2 Structural Tension</a:t>
            </a:r>
          </a:p>
        </p:txBody>
      </p:sp>
      <p:sp>
        <p:nvSpPr>
          <p:cNvPr id="14" name="Shape 12">
            <a:extLst>
              <a:ext uri="{FF2B5EF4-FFF2-40B4-BE49-F238E27FC236}">
                <a16:creationId xmlns:a16="http://schemas.microsoft.com/office/drawing/2014/main" id="{698AD370-F48C-4882-A3D4-B6E08D666294}"/>
              </a:ext>
            </a:extLst>
          </p:cNvPr>
          <p:cNvSpPr>
            <a:spLocks noGrp="1"/>
          </p:cNvSpPr>
          <p:nvPr/>
        </p:nvSpPr>
        <p:spPr>
          <a:xfrm>
            <a:off x="6400800" y="1950720"/>
            <a:ext cx="5120640" cy="24384"/>
          </a:xfrm>
          <a:prstGeom prst="rect">
            <a:avLst/>
          </a:prstGeom>
          <a:solidFill>
            <a:srgbClr val="F5D78A"/>
          </a:solidFill>
          <a:ln w="12700">
            <a:solidFill>
              <a:srgbClr val="F5D78A"/>
            </a:solidFill>
            <a:prstDash val="solid"/>
          </a:ln>
        </p:spPr>
        <p:txBody>
          <a:bodyPr/>
          <a:lstStyle/>
          <a:p>
            <a:endParaRPr/>
          </a:p>
        </p:txBody>
      </p:sp>
      <p:sp>
        <p:nvSpPr>
          <p:cNvPr id="15" name="Text 13">
            <a:extLst>
              <a:ext uri="{FF2B5EF4-FFF2-40B4-BE49-F238E27FC236}">
                <a16:creationId xmlns:a16="http://schemas.microsoft.com/office/drawing/2014/main" id="{94E4B91E-002B-4032-8C32-79FDB4F469D6}"/>
              </a:ext>
            </a:extLst>
          </p:cNvPr>
          <p:cNvSpPr>
            <a:spLocks noGrp="1"/>
          </p:cNvSpPr>
          <p:nvPr/>
        </p:nvSpPr>
        <p:spPr>
          <a:xfrm>
            <a:off x="642518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a:ext uri="{FF2B5EF4-FFF2-40B4-BE49-F238E27FC236}">
                <a16:creationId xmlns:a16="http://schemas.microsoft.com/office/drawing/2014/main" id="{674CDE70-E527-410F-9279-A43D8C99ADFD}"/>
              </a:ext>
            </a:extLst>
          </p:cNvPr>
          <p:cNvSpPr>
            <a:spLocks noGrp="1"/>
          </p:cNvSpPr>
          <p:nvPr/>
        </p:nvSpPr>
        <p:spPr>
          <a:xfrm>
            <a:off x="548640" y="3901440"/>
            <a:ext cx="5364480" cy="2377440"/>
          </a:xfrm>
          <a:prstGeom prst="rect">
            <a:avLst/>
          </a:prstGeom>
          <a:solidFill>
            <a:srgbClr val="253756"/>
          </a:solidFill>
          <a:ln w="12700">
            <a:solidFill>
              <a:srgbClr val="253756"/>
            </a:solidFill>
            <a:prstDash val="solid"/>
          </a:ln>
        </p:spPr>
        <p:txBody>
          <a:bodyPr/>
          <a:lstStyle/>
          <a:p>
            <a:endParaRPr/>
          </a:p>
        </p:txBody>
      </p:sp>
      <p:sp>
        <p:nvSpPr>
          <p:cNvPr id="17" name="Text 15">
            <a:extLst>
              <a:ext uri="{FF2B5EF4-FFF2-40B4-BE49-F238E27FC236}">
                <a16:creationId xmlns:a16="http://schemas.microsoft.com/office/drawing/2014/main" id="{D160C880-9764-455E-88E3-DF18AE4C1C48}"/>
              </a:ext>
            </a:extLst>
          </p:cNvPr>
          <p:cNvSpPr>
            <a:spLocks noGrp="1"/>
          </p:cNvSpPr>
          <p:nvPr/>
        </p:nvSpPr>
        <p:spPr>
          <a:xfrm>
            <a:off x="67056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3</a:t>
            </a:r>
          </a:p>
        </p:txBody>
      </p:sp>
      <p:sp>
        <p:nvSpPr>
          <p:cNvPr id="18" name="Text 16">
            <a:extLst>
              <a:ext uri="{FF2B5EF4-FFF2-40B4-BE49-F238E27FC236}">
                <a16:creationId xmlns:a16="http://schemas.microsoft.com/office/drawing/2014/main" id="{1EDC3EA3-D429-4797-A3DF-0D9CBA3E554C}"/>
              </a:ext>
            </a:extLst>
          </p:cNvPr>
          <p:cNvSpPr>
            <a:spLocks noGrp="1"/>
          </p:cNvSpPr>
          <p:nvPr/>
        </p:nvSpPr>
        <p:spPr>
          <a:xfrm>
            <a:off x="123139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Era Contamination of Training Folds</a:t>
            </a:r>
          </a:p>
        </p:txBody>
      </p:sp>
      <p:sp>
        <p:nvSpPr>
          <p:cNvPr id="19" name="Shape 17">
            <a:extLst>
              <a:ext uri="{FF2B5EF4-FFF2-40B4-BE49-F238E27FC236}">
                <a16:creationId xmlns:a16="http://schemas.microsoft.com/office/drawing/2014/main" id="{C2B36FA1-32EC-467B-A7F8-2E7944C5CD89}"/>
              </a:ext>
            </a:extLst>
          </p:cNvPr>
          <p:cNvSpPr>
            <a:spLocks noGrp="1"/>
          </p:cNvSpPr>
          <p:nvPr/>
        </p:nvSpPr>
        <p:spPr>
          <a:xfrm>
            <a:off x="670560" y="4511040"/>
            <a:ext cx="5120640" cy="24384"/>
          </a:xfrm>
          <a:prstGeom prst="rect">
            <a:avLst/>
          </a:prstGeom>
          <a:solidFill>
            <a:srgbClr val="F5D78A"/>
          </a:solidFill>
          <a:ln w="12700">
            <a:solidFill>
              <a:srgbClr val="F5D78A"/>
            </a:solidFill>
            <a:prstDash val="solid"/>
          </a:ln>
        </p:spPr>
        <p:txBody>
          <a:bodyPr/>
          <a:lstStyle/>
          <a:p>
            <a:endParaRPr/>
          </a:p>
        </p:txBody>
      </p:sp>
      <p:sp>
        <p:nvSpPr>
          <p:cNvPr id="20" name="Text 18">
            <a:extLst>
              <a:ext uri="{FF2B5EF4-FFF2-40B4-BE49-F238E27FC236}">
                <a16:creationId xmlns:a16="http://schemas.microsoft.com/office/drawing/2014/main" id="{8171C9A5-31CF-455B-B45C-8481BA82D551}"/>
              </a:ext>
            </a:extLst>
          </p:cNvPr>
          <p:cNvSpPr>
            <a:spLocks noGrp="1"/>
          </p:cNvSpPr>
          <p:nvPr/>
        </p:nvSpPr>
        <p:spPr>
          <a:xfrm>
            <a:off x="69494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a:ext uri="{FF2B5EF4-FFF2-40B4-BE49-F238E27FC236}">
                <a16:creationId xmlns:a16="http://schemas.microsoft.com/office/drawing/2014/main" id="{4CF0D694-49C9-44DC-8EA7-6AEB680BA614}"/>
              </a:ext>
            </a:extLst>
          </p:cNvPr>
          <p:cNvSpPr>
            <a:spLocks noGrp="1"/>
          </p:cNvSpPr>
          <p:nvPr/>
        </p:nvSpPr>
        <p:spPr>
          <a:xfrm>
            <a:off x="6278880" y="3901440"/>
            <a:ext cx="5364480" cy="2377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6751A1E-888B-46BA-8D3B-3661DFB4DBDF}"/>
              </a:ext>
            </a:extLst>
          </p:cNvPr>
          <p:cNvSpPr>
            <a:spLocks noGrp="1"/>
          </p:cNvSpPr>
          <p:nvPr/>
        </p:nvSpPr>
        <p:spPr>
          <a:xfrm>
            <a:off x="640080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4</a:t>
            </a:r>
          </a:p>
        </p:txBody>
      </p:sp>
      <p:sp>
        <p:nvSpPr>
          <p:cNvPr id="23" name="Text 21">
            <a:extLst>
              <a:ext uri="{FF2B5EF4-FFF2-40B4-BE49-F238E27FC236}">
                <a16:creationId xmlns:a16="http://schemas.microsoft.com/office/drawing/2014/main" id="{B3400F75-F30A-4929-8FC3-39B88DD22CE9}"/>
              </a:ext>
            </a:extLst>
          </p:cNvPr>
          <p:cNvSpPr>
            <a:spLocks noGrp="1"/>
          </p:cNvSpPr>
          <p:nvPr/>
        </p:nvSpPr>
        <p:spPr>
          <a:xfrm>
            <a:off x="696163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Missing Structural Covariates</a:t>
            </a:r>
          </a:p>
        </p:txBody>
      </p:sp>
      <p:sp>
        <p:nvSpPr>
          <p:cNvPr id="24" name="Shape 22">
            <a:extLst>
              <a:ext uri="{FF2B5EF4-FFF2-40B4-BE49-F238E27FC236}">
                <a16:creationId xmlns:a16="http://schemas.microsoft.com/office/drawing/2014/main" id="{3F0BCCD1-B4F7-4646-A900-C43228BA3611}"/>
              </a:ext>
            </a:extLst>
          </p:cNvPr>
          <p:cNvSpPr>
            <a:spLocks noGrp="1"/>
          </p:cNvSpPr>
          <p:nvPr/>
        </p:nvSpPr>
        <p:spPr>
          <a:xfrm>
            <a:off x="6400800" y="4511040"/>
            <a:ext cx="5120640" cy="24384"/>
          </a:xfrm>
          <a:prstGeom prst="rect">
            <a:avLst/>
          </a:prstGeom>
          <a:solidFill>
            <a:srgbClr val="F5D78A"/>
          </a:solidFill>
          <a:ln w="12700">
            <a:solidFill>
              <a:srgbClr val="F5D78A"/>
            </a:solidFill>
            <a:prstDash val="solid"/>
          </a:ln>
        </p:spPr>
        <p:txBody>
          <a:bodyPr/>
          <a:lstStyle/>
          <a:p>
            <a:endParaRPr/>
          </a:p>
        </p:txBody>
      </p:sp>
      <p:sp>
        <p:nvSpPr>
          <p:cNvPr id="25" name="Text 23">
            <a:extLst>
              <a:ext uri="{FF2B5EF4-FFF2-40B4-BE49-F238E27FC236}">
                <a16:creationId xmlns:a16="http://schemas.microsoft.com/office/drawing/2014/main" id="{78FFFBEC-5052-442A-9A77-0CD0996FDE4D}"/>
              </a:ext>
            </a:extLst>
          </p:cNvPr>
          <p:cNvSpPr>
            <a:spLocks noGrp="1"/>
          </p:cNvSpPr>
          <p:nvPr/>
        </p:nvSpPr>
        <p:spPr>
          <a:xfrm>
            <a:off x="642518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a:ext uri="{FF2B5EF4-FFF2-40B4-BE49-F238E27FC236}">
                <a16:creationId xmlns:a16="http://schemas.microsoft.com/office/drawing/2014/main" id="{703043D2-526F-4B65-88AF-3B8EB6BB28D9}"/>
              </a:ext>
            </a:extLst>
          </p:cNvPr>
          <p:cNvSpPr>
            <a:spLocks noGrp="1"/>
          </p:cNvSpPr>
          <p:nvPr/>
        </p:nvSpPr>
        <p:spPr>
          <a:xfrm>
            <a:off x="548640" y="6437376"/>
            <a:ext cx="11094720" cy="304800"/>
          </a:xfrm>
          <a:prstGeom prst="rect">
            <a:avLst/>
          </a:prstGeom>
          <a:solidFill>
            <a:srgbClr val="D4A853"/>
          </a:solidFill>
          <a:ln w="12700">
            <a:solidFill>
              <a:srgbClr val="D4A853"/>
            </a:solidFill>
            <a:prstDash val="solid"/>
          </a:ln>
        </p:spPr>
        <p:txBody>
          <a:bodyPr/>
          <a:lstStyle/>
          <a:p>
            <a:endParaRPr/>
          </a:p>
        </p:txBody>
      </p:sp>
      <p:sp>
        <p:nvSpPr>
          <p:cNvPr id="27" name="Text 25">
            <a:extLst>
              <a:ext uri="{FF2B5EF4-FFF2-40B4-BE49-F238E27FC236}">
                <a16:creationId xmlns:a16="http://schemas.microsoft.com/office/drawing/2014/main" id="{EF07BEC1-343E-4CF5-849A-F95867B0F2F9}"/>
              </a:ext>
            </a:extLst>
          </p:cNvPr>
          <p:cNvSpPr>
            <a:spLocks noGrp="1"/>
          </p:cNvSpPr>
          <p:nvPr/>
        </p:nvSpPr>
        <p:spPr>
          <a:xfrm>
            <a:off x="548640" y="6437376"/>
            <a:ext cx="11094720" cy="304800"/>
          </a:xfrm>
          <a:prstGeom prst="rect">
            <a:avLst/>
          </a:prstGeom>
          <a:noFill/>
        </p:spPr>
        <p:txBody>
          <a:bodyPr wrap="square" lIns="0" tIns="0" rIns="0" bIns="0" anchor="ctr"/>
          <a:lstStyle/>
          <a:p>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964650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AD618D-7DC3-4339-AE24-D2A052D6F121}"/>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1FD7F7-5C49-4BC8-9185-7D4E82DE9FA9}"/>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Scientific Contributions</a:t>
            </a:r>
          </a:p>
        </p:txBody>
      </p:sp>
      <p:sp>
        <p:nvSpPr>
          <p:cNvPr id="4" name="Text 2">
            <a:extLst>
              <a:ext uri="{FF2B5EF4-FFF2-40B4-BE49-F238E27FC236}">
                <a16:creationId xmlns:a16="http://schemas.microsoft.com/office/drawing/2014/main" id="{0FE084B4-00F1-49A8-B282-A0AC227BB7D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Methodological advances transferable beyond wine production</a:t>
            </a:r>
          </a:p>
        </p:txBody>
      </p:sp>
      <p:sp>
        <p:nvSpPr>
          <p:cNvPr id="5" name="Shape 3">
            <a:extLst>
              <a:ext uri="{FF2B5EF4-FFF2-40B4-BE49-F238E27FC236}">
                <a16:creationId xmlns:a16="http://schemas.microsoft.com/office/drawing/2014/main" id="{A4062F0B-AB8F-4090-A962-035B1DE5469A}"/>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3031EC8E-C27E-415B-8F1A-0CEAC59A4FF6}"/>
              </a:ext>
            </a:extLst>
          </p:cNvPr>
          <p:cNvSpPr>
            <a:spLocks noGrp="1"/>
          </p:cNvSpPr>
          <p:nvPr/>
        </p:nvSpPr>
        <p:spPr>
          <a:xfrm>
            <a:off x="548640" y="1365504"/>
            <a:ext cx="85344" cy="877824"/>
          </a:xfrm>
          <a:prstGeom prst="rect">
            <a:avLst/>
          </a:prstGeom>
          <a:solidFill>
            <a:srgbClr val="0D7377"/>
          </a:solidFill>
          <a:ln w="12700">
            <a:solidFill>
              <a:srgbClr val="0D7377"/>
            </a:solidFill>
            <a:prstDash val="solid"/>
          </a:ln>
        </p:spPr>
        <p:txBody>
          <a:bodyPr/>
          <a:lstStyle/>
          <a:p>
            <a:endParaRPr/>
          </a:p>
        </p:txBody>
      </p:sp>
      <p:sp>
        <p:nvSpPr>
          <p:cNvPr id="7" name="Shape 5">
            <a:extLst>
              <a:ext uri="{FF2B5EF4-FFF2-40B4-BE49-F238E27FC236}">
                <a16:creationId xmlns:a16="http://schemas.microsoft.com/office/drawing/2014/main" id="{C6FE7320-C55D-40D5-96F3-4AC850D2908E}"/>
              </a:ext>
            </a:extLst>
          </p:cNvPr>
          <p:cNvSpPr>
            <a:spLocks noGrp="1"/>
          </p:cNvSpPr>
          <p:nvPr/>
        </p:nvSpPr>
        <p:spPr>
          <a:xfrm>
            <a:off x="633984" y="1365504"/>
            <a:ext cx="10997184" cy="877824"/>
          </a:xfrm>
          <a:prstGeom prst="rect">
            <a:avLst/>
          </a:prstGeom>
          <a:solidFill>
            <a:srgbClr val="D8E2EE"/>
          </a:solidFill>
          <a:ln w="12700">
            <a:solidFill>
              <a:srgbClr val="D8E2EE"/>
            </a:solidFill>
            <a:prstDash val="solid"/>
          </a:ln>
        </p:spPr>
        <p:txBody>
          <a:bodyPr/>
          <a:lstStyle/>
          <a:p>
            <a:endParaRPr/>
          </a:p>
        </p:txBody>
      </p:sp>
      <p:sp>
        <p:nvSpPr>
          <p:cNvPr id="8" name="Text 6">
            <a:extLst>
              <a:ext uri="{FF2B5EF4-FFF2-40B4-BE49-F238E27FC236}">
                <a16:creationId xmlns:a16="http://schemas.microsoft.com/office/drawing/2014/main" id="{1FF88E75-2F66-453C-9C1E-5B70AE34288C}"/>
              </a:ext>
            </a:extLst>
          </p:cNvPr>
          <p:cNvSpPr>
            <a:spLocks noGrp="1"/>
          </p:cNvSpPr>
          <p:nvPr/>
        </p:nvSpPr>
        <p:spPr>
          <a:xfrm>
            <a:off x="792480" y="1414272"/>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Two-Decision Decomposition Framework</a:t>
            </a:r>
          </a:p>
        </p:txBody>
      </p:sp>
      <p:sp>
        <p:nvSpPr>
          <p:cNvPr id="9" name="Text 7">
            <a:extLst>
              <a:ext uri="{FF2B5EF4-FFF2-40B4-BE49-F238E27FC236}">
                <a16:creationId xmlns:a16="http://schemas.microsoft.com/office/drawing/2014/main" id="{36C66360-E14F-44D5-A84D-FF4025EEE524}"/>
              </a:ext>
            </a:extLst>
          </p:cNvPr>
          <p:cNvSpPr>
            <a:spLocks noGrp="1"/>
          </p:cNvSpPr>
          <p:nvPr/>
        </p:nvSpPr>
        <p:spPr>
          <a:xfrm>
            <a:off x="9875520" y="1414272"/>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Novel Framework</a:t>
            </a:r>
          </a:p>
        </p:txBody>
      </p:sp>
      <p:sp>
        <p:nvSpPr>
          <p:cNvPr id="10" name="Text 8">
            <a:extLst>
              <a:ext uri="{FF2B5EF4-FFF2-40B4-BE49-F238E27FC236}">
                <a16:creationId xmlns:a16="http://schemas.microsoft.com/office/drawing/2014/main" id="{8BAEADEF-C6B4-4249-8500-15132FC8C290}"/>
              </a:ext>
            </a:extLst>
          </p:cNvPr>
          <p:cNvSpPr>
            <a:spLocks noGrp="1"/>
          </p:cNvSpPr>
          <p:nvPr/>
        </p:nvSpPr>
        <p:spPr>
          <a:xfrm>
            <a:off x="792480" y="1804416"/>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a:ext uri="{FF2B5EF4-FFF2-40B4-BE49-F238E27FC236}">
                <a16:creationId xmlns:a16="http://schemas.microsoft.com/office/drawing/2014/main" id="{D08D3B02-CBFE-4FC5-BA0E-69B0EDC7D75A}"/>
              </a:ext>
            </a:extLst>
          </p:cNvPr>
          <p:cNvSpPr>
            <a:spLocks noGrp="1"/>
          </p:cNvSpPr>
          <p:nvPr/>
        </p:nvSpPr>
        <p:spPr>
          <a:xfrm>
            <a:off x="548640" y="2365248"/>
            <a:ext cx="85344" cy="877824"/>
          </a:xfrm>
          <a:prstGeom prst="rect">
            <a:avLst/>
          </a:prstGeom>
          <a:solidFill>
            <a:srgbClr val="2E4A7C"/>
          </a:solidFill>
          <a:ln w="12700">
            <a:solidFill>
              <a:srgbClr val="2E4A7C"/>
            </a:solidFill>
            <a:prstDash val="solid"/>
          </a:ln>
        </p:spPr>
        <p:txBody>
          <a:bodyPr/>
          <a:lstStyle/>
          <a:p>
            <a:endParaRPr/>
          </a:p>
        </p:txBody>
      </p:sp>
      <p:sp>
        <p:nvSpPr>
          <p:cNvPr id="12" name="Shape 10">
            <a:extLst>
              <a:ext uri="{FF2B5EF4-FFF2-40B4-BE49-F238E27FC236}">
                <a16:creationId xmlns:a16="http://schemas.microsoft.com/office/drawing/2014/main" id="{174F589F-78E4-4C03-9B3D-A9C27698A56C}"/>
              </a:ext>
            </a:extLst>
          </p:cNvPr>
          <p:cNvSpPr>
            <a:spLocks noGrp="1"/>
          </p:cNvSpPr>
          <p:nvPr/>
        </p:nvSpPr>
        <p:spPr>
          <a:xfrm>
            <a:off x="633984" y="2365248"/>
            <a:ext cx="10997184" cy="877824"/>
          </a:xfrm>
          <a:prstGeom prst="rect">
            <a:avLst/>
          </a:prstGeom>
          <a:solidFill>
            <a:srgbClr val="D8E2EE"/>
          </a:solidFill>
          <a:ln w="12700">
            <a:solidFill>
              <a:srgbClr val="D8E2EE"/>
            </a:solidFill>
            <a:prstDash val="solid"/>
          </a:ln>
        </p:spPr>
        <p:txBody>
          <a:bodyPr/>
          <a:lstStyle/>
          <a:p>
            <a:endParaRPr/>
          </a:p>
        </p:txBody>
      </p:sp>
      <p:sp>
        <p:nvSpPr>
          <p:cNvPr id="13" name="Text 11">
            <a:extLst>
              <a:ext uri="{FF2B5EF4-FFF2-40B4-BE49-F238E27FC236}">
                <a16:creationId xmlns:a16="http://schemas.microsoft.com/office/drawing/2014/main" id="{D0544716-3ADD-45D0-8B80-17B0970BEDE7}"/>
              </a:ext>
            </a:extLst>
          </p:cNvPr>
          <p:cNvSpPr>
            <a:spLocks noGrp="1"/>
          </p:cNvSpPr>
          <p:nvPr/>
        </p:nvSpPr>
        <p:spPr>
          <a:xfrm>
            <a:off x="792480" y="2414016"/>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Systematic 11-Variant CarenR Sensitivity Analysis</a:t>
            </a:r>
          </a:p>
        </p:txBody>
      </p:sp>
      <p:sp>
        <p:nvSpPr>
          <p:cNvPr id="14" name="Text 12">
            <a:extLst>
              <a:ext uri="{FF2B5EF4-FFF2-40B4-BE49-F238E27FC236}">
                <a16:creationId xmlns:a16="http://schemas.microsoft.com/office/drawing/2014/main" id="{284A5D31-97D9-4BE9-83F8-C566EEDC4C06}"/>
              </a:ext>
            </a:extLst>
          </p:cNvPr>
          <p:cNvSpPr>
            <a:spLocks noGrp="1"/>
          </p:cNvSpPr>
          <p:nvPr/>
        </p:nvSpPr>
        <p:spPr>
          <a:xfrm>
            <a:off x="9875520" y="2414016"/>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Algorithm Analysis</a:t>
            </a:r>
          </a:p>
        </p:txBody>
      </p:sp>
      <p:sp>
        <p:nvSpPr>
          <p:cNvPr id="15" name="Text 13">
            <a:extLst>
              <a:ext uri="{FF2B5EF4-FFF2-40B4-BE49-F238E27FC236}">
                <a16:creationId xmlns:a16="http://schemas.microsoft.com/office/drawing/2014/main" id="{64FB09BB-2BE1-4657-B2B8-0F6865DDB24C}"/>
              </a:ext>
            </a:extLst>
          </p:cNvPr>
          <p:cNvSpPr>
            <a:spLocks noGrp="1"/>
          </p:cNvSpPr>
          <p:nvPr/>
        </p:nvSpPr>
        <p:spPr>
          <a:xfrm>
            <a:off x="792480" y="2804160"/>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a:ext uri="{FF2B5EF4-FFF2-40B4-BE49-F238E27FC236}">
                <a16:creationId xmlns:a16="http://schemas.microsoft.com/office/drawing/2014/main" id="{DE8F0F54-86D4-444C-94CA-0003B4EBCF52}"/>
              </a:ext>
            </a:extLst>
          </p:cNvPr>
          <p:cNvSpPr>
            <a:spLocks noGrp="1"/>
          </p:cNvSpPr>
          <p:nvPr/>
        </p:nvSpPr>
        <p:spPr>
          <a:xfrm>
            <a:off x="548640" y="3364992"/>
            <a:ext cx="85344" cy="877824"/>
          </a:xfrm>
          <a:prstGeom prst="rect">
            <a:avLst/>
          </a:prstGeom>
          <a:solidFill>
            <a:srgbClr val="1B2B45"/>
          </a:solidFill>
          <a:ln w="12700">
            <a:solidFill>
              <a:srgbClr val="1B2B45"/>
            </a:solidFill>
            <a:prstDash val="solid"/>
          </a:ln>
        </p:spPr>
        <p:txBody>
          <a:bodyPr/>
          <a:lstStyle/>
          <a:p>
            <a:endParaRPr/>
          </a:p>
        </p:txBody>
      </p:sp>
      <p:sp>
        <p:nvSpPr>
          <p:cNvPr id="17" name="Shape 15">
            <a:extLst>
              <a:ext uri="{FF2B5EF4-FFF2-40B4-BE49-F238E27FC236}">
                <a16:creationId xmlns:a16="http://schemas.microsoft.com/office/drawing/2014/main" id="{9C1241C3-221B-4795-A013-71525C6AC9EC}"/>
              </a:ext>
            </a:extLst>
          </p:cNvPr>
          <p:cNvSpPr>
            <a:spLocks noGrp="1"/>
          </p:cNvSpPr>
          <p:nvPr/>
        </p:nvSpPr>
        <p:spPr>
          <a:xfrm>
            <a:off x="633984" y="3364992"/>
            <a:ext cx="10997184" cy="877824"/>
          </a:xfrm>
          <a:prstGeom prst="rect">
            <a:avLst/>
          </a:prstGeom>
          <a:solidFill>
            <a:srgbClr val="D8E2EE"/>
          </a:solidFill>
          <a:ln w="12700">
            <a:solidFill>
              <a:srgbClr val="D8E2EE"/>
            </a:solidFill>
            <a:prstDash val="solid"/>
          </a:ln>
        </p:spPr>
        <p:txBody>
          <a:bodyPr/>
          <a:lstStyle/>
          <a:p>
            <a:endParaRPr/>
          </a:p>
        </p:txBody>
      </p:sp>
      <p:sp>
        <p:nvSpPr>
          <p:cNvPr id="18" name="Text 16">
            <a:extLst>
              <a:ext uri="{FF2B5EF4-FFF2-40B4-BE49-F238E27FC236}">
                <a16:creationId xmlns:a16="http://schemas.microsoft.com/office/drawing/2014/main" id="{952809D9-EA96-4F0D-9732-E70F43817827}"/>
              </a:ext>
            </a:extLst>
          </p:cNvPr>
          <p:cNvSpPr>
            <a:spLocks noGrp="1"/>
          </p:cNvSpPr>
          <p:nvPr/>
        </p:nvSpPr>
        <p:spPr>
          <a:xfrm>
            <a:off x="792480" y="3413760"/>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Era-Composition Analysis &amp; Conditional Regime Discovery</a:t>
            </a:r>
          </a:p>
        </p:txBody>
      </p:sp>
      <p:sp>
        <p:nvSpPr>
          <p:cNvPr id="19" name="Text 17">
            <a:extLst>
              <a:ext uri="{FF2B5EF4-FFF2-40B4-BE49-F238E27FC236}">
                <a16:creationId xmlns:a16="http://schemas.microsoft.com/office/drawing/2014/main" id="{472635E9-3055-40E5-82BD-DDF00908A5BE}"/>
              </a:ext>
            </a:extLst>
          </p:cNvPr>
          <p:cNvSpPr>
            <a:spLocks noGrp="1"/>
          </p:cNvSpPr>
          <p:nvPr/>
        </p:nvSpPr>
        <p:spPr>
          <a:xfrm>
            <a:off x="9875520" y="3413760"/>
            <a:ext cx="1645920" cy="365760"/>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Evaluation Design</a:t>
            </a:r>
          </a:p>
        </p:txBody>
      </p:sp>
      <p:sp>
        <p:nvSpPr>
          <p:cNvPr id="20" name="Text 18">
            <a:extLst>
              <a:ext uri="{FF2B5EF4-FFF2-40B4-BE49-F238E27FC236}">
                <a16:creationId xmlns:a16="http://schemas.microsoft.com/office/drawing/2014/main" id="{DF7DDB1E-5A39-4AA7-B41B-0D5C3B75EE59}"/>
              </a:ext>
            </a:extLst>
          </p:cNvPr>
          <p:cNvSpPr>
            <a:spLocks noGrp="1"/>
          </p:cNvSpPr>
          <p:nvPr/>
        </p:nvSpPr>
        <p:spPr>
          <a:xfrm>
            <a:off x="792480" y="3803904"/>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a:ext uri="{FF2B5EF4-FFF2-40B4-BE49-F238E27FC236}">
                <a16:creationId xmlns:a16="http://schemas.microsoft.com/office/drawing/2014/main" id="{7CDF66DA-EB99-4719-BC47-CBC7C5845324}"/>
              </a:ext>
            </a:extLst>
          </p:cNvPr>
          <p:cNvSpPr>
            <a:spLocks noGrp="1"/>
          </p:cNvSpPr>
          <p:nvPr/>
        </p:nvSpPr>
        <p:spPr>
          <a:xfrm>
            <a:off x="548640" y="4364736"/>
            <a:ext cx="85344" cy="877824"/>
          </a:xfrm>
          <a:prstGeom prst="rect">
            <a:avLst/>
          </a:prstGeom>
          <a:solidFill>
            <a:srgbClr val="0D7377"/>
          </a:solidFill>
          <a:ln w="12700">
            <a:solidFill>
              <a:srgbClr val="0D7377"/>
            </a:solidFill>
            <a:prstDash val="solid"/>
          </a:ln>
        </p:spPr>
        <p:txBody>
          <a:bodyPr/>
          <a:lstStyle/>
          <a:p>
            <a:endParaRPr/>
          </a:p>
        </p:txBody>
      </p:sp>
      <p:sp>
        <p:nvSpPr>
          <p:cNvPr id="22" name="Shape 20">
            <a:extLst>
              <a:ext uri="{FF2B5EF4-FFF2-40B4-BE49-F238E27FC236}">
                <a16:creationId xmlns:a16="http://schemas.microsoft.com/office/drawing/2014/main" id="{56ABA568-82B3-4F20-8C49-10FB1C2BDC1B}"/>
              </a:ext>
            </a:extLst>
          </p:cNvPr>
          <p:cNvSpPr>
            <a:spLocks noGrp="1"/>
          </p:cNvSpPr>
          <p:nvPr/>
        </p:nvSpPr>
        <p:spPr>
          <a:xfrm>
            <a:off x="633984" y="4364736"/>
            <a:ext cx="10997184" cy="877824"/>
          </a:xfrm>
          <a:prstGeom prst="rect">
            <a:avLst/>
          </a:prstGeom>
          <a:solidFill>
            <a:srgbClr val="D8E2EE"/>
          </a:solidFill>
          <a:ln w="12700">
            <a:solidFill>
              <a:srgbClr val="D8E2EE"/>
            </a:solidFill>
            <a:prstDash val="solid"/>
          </a:ln>
        </p:spPr>
        <p:txBody>
          <a:bodyPr/>
          <a:lstStyle/>
          <a:p>
            <a:endParaRPr/>
          </a:p>
        </p:txBody>
      </p:sp>
      <p:sp>
        <p:nvSpPr>
          <p:cNvPr id="23" name="Text 21">
            <a:extLst>
              <a:ext uri="{FF2B5EF4-FFF2-40B4-BE49-F238E27FC236}">
                <a16:creationId xmlns:a16="http://schemas.microsoft.com/office/drawing/2014/main" id="{6B262289-1878-4160-AA1D-B33F15186529}"/>
              </a:ext>
            </a:extLst>
          </p:cNvPr>
          <p:cNvSpPr>
            <a:spLocks noGrp="1"/>
          </p:cNvSpPr>
          <p:nvPr/>
        </p:nvSpPr>
        <p:spPr>
          <a:xfrm>
            <a:off x="792480" y="4413504"/>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Cross-Algorithm Feature Convergence Validation</a:t>
            </a:r>
          </a:p>
        </p:txBody>
      </p:sp>
      <p:sp>
        <p:nvSpPr>
          <p:cNvPr id="24" name="Text 22">
            <a:extLst>
              <a:ext uri="{FF2B5EF4-FFF2-40B4-BE49-F238E27FC236}">
                <a16:creationId xmlns:a16="http://schemas.microsoft.com/office/drawing/2014/main" id="{958BEDE3-A946-4F54-9483-57AEF3351A36}"/>
              </a:ext>
            </a:extLst>
          </p:cNvPr>
          <p:cNvSpPr>
            <a:spLocks noGrp="1"/>
          </p:cNvSpPr>
          <p:nvPr/>
        </p:nvSpPr>
        <p:spPr>
          <a:xfrm>
            <a:off x="9875520" y="4413504"/>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Validation Method</a:t>
            </a:r>
          </a:p>
        </p:txBody>
      </p:sp>
      <p:sp>
        <p:nvSpPr>
          <p:cNvPr id="25" name="Text 23">
            <a:extLst>
              <a:ext uri="{FF2B5EF4-FFF2-40B4-BE49-F238E27FC236}">
                <a16:creationId xmlns:a16="http://schemas.microsoft.com/office/drawing/2014/main" id="{94023402-C941-4190-9790-488070C6B64A}"/>
              </a:ext>
            </a:extLst>
          </p:cNvPr>
          <p:cNvSpPr>
            <a:spLocks noGrp="1"/>
          </p:cNvSpPr>
          <p:nvPr/>
        </p:nvSpPr>
        <p:spPr>
          <a:xfrm>
            <a:off x="792480" y="4803648"/>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a:ext uri="{FF2B5EF4-FFF2-40B4-BE49-F238E27FC236}">
                <a16:creationId xmlns:a16="http://schemas.microsoft.com/office/drawing/2014/main" id="{41B4C238-FE57-4590-894C-1FFCC9E23128}"/>
              </a:ext>
            </a:extLst>
          </p:cNvPr>
          <p:cNvSpPr>
            <a:spLocks noGrp="1"/>
          </p:cNvSpPr>
          <p:nvPr/>
        </p:nvSpPr>
        <p:spPr>
          <a:xfrm>
            <a:off x="548640" y="5364480"/>
            <a:ext cx="85344" cy="877824"/>
          </a:xfrm>
          <a:prstGeom prst="rect">
            <a:avLst/>
          </a:prstGeom>
          <a:solidFill>
            <a:srgbClr val="2E4A7C"/>
          </a:solidFill>
          <a:ln w="12700">
            <a:solidFill>
              <a:srgbClr val="2E4A7C"/>
            </a:solidFill>
            <a:prstDash val="solid"/>
          </a:ln>
        </p:spPr>
        <p:txBody>
          <a:bodyPr/>
          <a:lstStyle/>
          <a:p>
            <a:endParaRPr/>
          </a:p>
        </p:txBody>
      </p:sp>
      <p:sp>
        <p:nvSpPr>
          <p:cNvPr id="27" name="Shape 25">
            <a:extLst>
              <a:ext uri="{FF2B5EF4-FFF2-40B4-BE49-F238E27FC236}">
                <a16:creationId xmlns:a16="http://schemas.microsoft.com/office/drawing/2014/main" id="{6AECDAD8-4CBF-428A-923E-2A04E8A59D4F}"/>
              </a:ext>
            </a:extLst>
          </p:cNvPr>
          <p:cNvSpPr>
            <a:spLocks noGrp="1"/>
          </p:cNvSpPr>
          <p:nvPr/>
        </p:nvSpPr>
        <p:spPr>
          <a:xfrm>
            <a:off x="633984" y="5364480"/>
            <a:ext cx="10997184" cy="877824"/>
          </a:xfrm>
          <a:prstGeom prst="rect">
            <a:avLst/>
          </a:prstGeom>
          <a:solidFill>
            <a:srgbClr val="D8E2EE"/>
          </a:solidFill>
          <a:ln w="12700">
            <a:solidFill>
              <a:srgbClr val="D8E2EE"/>
            </a:solidFill>
            <a:prstDash val="solid"/>
          </a:ln>
        </p:spPr>
        <p:txBody>
          <a:bodyPr/>
          <a:lstStyle/>
          <a:p>
            <a:endParaRPr/>
          </a:p>
        </p:txBody>
      </p:sp>
      <p:sp>
        <p:nvSpPr>
          <p:cNvPr id="28" name="Text 26">
            <a:extLst>
              <a:ext uri="{FF2B5EF4-FFF2-40B4-BE49-F238E27FC236}">
                <a16:creationId xmlns:a16="http://schemas.microsoft.com/office/drawing/2014/main" id="{FC6A80C5-E70C-486B-9CEB-15E188DA4B69}"/>
              </a:ext>
            </a:extLst>
          </p:cNvPr>
          <p:cNvSpPr>
            <a:spLocks noGrp="1"/>
          </p:cNvSpPr>
          <p:nvPr/>
        </p:nvSpPr>
        <p:spPr>
          <a:xfrm>
            <a:off x="792480" y="5413248"/>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LOESS Era-Signal Validation Protocol</a:t>
            </a:r>
          </a:p>
        </p:txBody>
      </p:sp>
      <p:sp>
        <p:nvSpPr>
          <p:cNvPr id="29" name="Text 27">
            <a:extLst>
              <a:ext uri="{FF2B5EF4-FFF2-40B4-BE49-F238E27FC236}">
                <a16:creationId xmlns:a16="http://schemas.microsoft.com/office/drawing/2014/main" id="{ECB073F9-E53B-41DB-B336-37BB29A1A8B2}"/>
              </a:ext>
            </a:extLst>
          </p:cNvPr>
          <p:cNvSpPr>
            <a:spLocks noGrp="1"/>
          </p:cNvSpPr>
          <p:nvPr/>
        </p:nvSpPr>
        <p:spPr>
          <a:xfrm>
            <a:off x="9875520" y="5413248"/>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Validation Protocol</a:t>
            </a:r>
          </a:p>
        </p:txBody>
      </p:sp>
      <p:sp>
        <p:nvSpPr>
          <p:cNvPr id="30" name="Text 28">
            <a:extLst>
              <a:ext uri="{FF2B5EF4-FFF2-40B4-BE49-F238E27FC236}">
                <a16:creationId xmlns:a16="http://schemas.microsoft.com/office/drawing/2014/main" id="{C3A1EF9F-135B-421D-A388-EFC38652174A}"/>
              </a:ext>
            </a:extLst>
          </p:cNvPr>
          <p:cNvSpPr>
            <a:spLocks noGrp="1"/>
          </p:cNvSpPr>
          <p:nvPr/>
        </p:nvSpPr>
        <p:spPr>
          <a:xfrm>
            <a:off x="792480" y="5803392"/>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86987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A74E74D-B244-45F5-B604-8232B0EC8B6C}"/>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8D9FBAC-2168-4042-9EF0-C31429DA017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Limitations &amp; Future Work</a:t>
            </a:r>
          </a:p>
        </p:txBody>
      </p:sp>
      <p:sp>
        <p:nvSpPr>
          <p:cNvPr id="4" name="Text 2">
            <a:extLst>
              <a:ext uri="{FF2B5EF4-FFF2-40B4-BE49-F238E27FC236}">
                <a16:creationId xmlns:a16="http://schemas.microsoft.com/office/drawing/2014/main" id="{352C9878-7A03-4CFE-A621-E2AD1C2E05D3}"/>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Where the thesis stops — and the path forward</a:t>
            </a:r>
          </a:p>
        </p:txBody>
      </p:sp>
      <p:sp>
        <p:nvSpPr>
          <p:cNvPr id="5" name="Shape 3">
            <a:extLst>
              <a:ext uri="{FF2B5EF4-FFF2-40B4-BE49-F238E27FC236}">
                <a16:creationId xmlns:a16="http://schemas.microsoft.com/office/drawing/2014/main" id="{62E116B5-2AB7-4C12-A228-2B90E4C29FE4}"/>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C38D4EFE-0D80-4270-A2BD-7BF1DD717772}"/>
              </a:ext>
            </a:extLst>
          </p:cNvPr>
          <p:cNvSpPr>
            <a:spLocks noGrp="1"/>
          </p:cNvSpPr>
          <p:nvPr/>
        </p:nvSpPr>
        <p:spPr>
          <a:xfrm>
            <a:off x="548640" y="1341120"/>
            <a:ext cx="5242560" cy="463296"/>
          </a:xfrm>
          <a:prstGeom prst="rect">
            <a:avLst/>
          </a:prstGeom>
          <a:solidFill>
            <a:srgbClr val="B03A2E"/>
          </a:solidFill>
          <a:ln w="12700">
            <a:solidFill>
              <a:srgbClr val="B03A2E"/>
            </a:solidFill>
            <a:prstDash val="solid"/>
          </a:ln>
        </p:spPr>
        <p:txBody>
          <a:bodyPr/>
          <a:lstStyle/>
          <a:p>
            <a:endParaRPr/>
          </a:p>
        </p:txBody>
      </p:sp>
      <p:sp>
        <p:nvSpPr>
          <p:cNvPr id="7" name="Text 5">
            <a:extLst>
              <a:ext uri="{FF2B5EF4-FFF2-40B4-BE49-F238E27FC236}">
                <a16:creationId xmlns:a16="http://schemas.microsoft.com/office/drawing/2014/main" id="{AEE80619-3F7F-4F31-BC06-82A01463E6D5}"/>
              </a:ext>
            </a:extLst>
          </p:cNvPr>
          <p:cNvSpPr>
            <a:spLocks noGrp="1"/>
          </p:cNvSpPr>
          <p:nvPr/>
        </p:nvSpPr>
        <p:spPr>
          <a:xfrm>
            <a:off x="54864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Current Limitations</a:t>
            </a:r>
          </a:p>
        </p:txBody>
      </p:sp>
      <p:sp>
        <p:nvSpPr>
          <p:cNvPr id="8" name="Shape 6">
            <a:extLst>
              <a:ext uri="{FF2B5EF4-FFF2-40B4-BE49-F238E27FC236}">
                <a16:creationId xmlns:a16="http://schemas.microsoft.com/office/drawing/2014/main" id="{47015A0C-D0F4-40FA-89C7-811EF3394FF7}"/>
              </a:ext>
            </a:extLst>
          </p:cNvPr>
          <p:cNvSpPr>
            <a:spLocks noGrp="1"/>
          </p:cNvSpPr>
          <p:nvPr/>
        </p:nvSpPr>
        <p:spPr>
          <a:xfrm>
            <a:off x="548640" y="1901952"/>
            <a:ext cx="5242560" cy="853440"/>
          </a:xfrm>
          <a:prstGeom prst="rect">
            <a:avLst/>
          </a:prstGeom>
          <a:solidFill>
            <a:srgbClr val="D8E2EE"/>
          </a:solidFill>
          <a:ln w="12700">
            <a:solidFill>
              <a:srgbClr val="D8E2EE"/>
            </a:solidFill>
            <a:prstDash val="solid"/>
          </a:ln>
        </p:spPr>
        <p:txBody>
          <a:bodyPr/>
          <a:lstStyle/>
          <a:p>
            <a:endParaRPr/>
          </a:p>
        </p:txBody>
      </p:sp>
      <p:sp>
        <p:nvSpPr>
          <p:cNvPr id="9" name="Shape 7">
            <a:extLst>
              <a:ext uri="{FF2B5EF4-FFF2-40B4-BE49-F238E27FC236}">
                <a16:creationId xmlns:a16="http://schemas.microsoft.com/office/drawing/2014/main" id="{0D64B546-CB5D-4A44-9C5B-E26B86E2A0F6}"/>
              </a:ext>
            </a:extLst>
          </p:cNvPr>
          <p:cNvSpPr>
            <a:spLocks noGrp="1"/>
          </p:cNvSpPr>
          <p:nvPr/>
        </p:nvSpPr>
        <p:spPr>
          <a:xfrm>
            <a:off x="548640" y="1901952"/>
            <a:ext cx="73152" cy="853440"/>
          </a:xfrm>
          <a:prstGeom prst="rect">
            <a:avLst/>
          </a:prstGeom>
          <a:solidFill>
            <a:srgbClr val="B03A2E"/>
          </a:solidFill>
          <a:ln w="12700">
            <a:solidFill>
              <a:srgbClr val="B03A2E"/>
            </a:solidFill>
            <a:prstDash val="solid"/>
          </a:ln>
        </p:spPr>
        <p:txBody>
          <a:bodyPr/>
          <a:lstStyle/>
          <a:p>
            <a:endParaRPr/>
          </a:p>
        </p:txBody>
      </p:sp>
      <p:sp>
        <p:nvSpPr>
          <p:cNvPr id="10" name="Text 8">
            <a:extLst>
              <a:ext uri="{FF2B5EF4-FFF2-40B4-BE49-F238E27FC236}">
                <a16:creationId xmlns:a16="http://schemas.microsoft.com/office/drawing/2014/main" id="{7894F858-5BF1-4275-B735-BBA51DB0BADE}"/>
              </a:ext>
            </a:extLst>
          </p:cNvPr>
          <p:cNvSpPr>
            <a:spLocks noGrp="1"/>
          </p:cNvSpPr>
          <p:nvPr/>
        </p:nvSpPr>
        <p:spPr>
          <a:xfrm>
            <a:off x="69494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a:ext uri="{FF2B5EF4-FFF2-40B4-BE49-F238E27FC236}">
                <a16:creationId xmlns:a16="http://schemas.microsoft.com/office/drawing/2014/main" id="{965E1323-D6FA-40C4-BA88-4F5BF5F2EEC1}"/>
              </a:ext>
            </a:extLst>
          </p:cNvPr>
          <p:cNvSpPr>
            <a:spLocks noGrp="1"/>
          </p:cNvSpPr>
          <p:nvPr/>
        </p:nvSpPr>
        <p:spPr>
          <a:xfrm>
            <a:off x="548640" y="2816352"/>
            <a:ext cx="5242560" cy="853440"/>
          </a:xfrm>
          <a:prstGeom prst="rect">
            <a:avLst/>
          </a:prstGeom>
          <a:solidFill>
            <a:srgbClr val="D8E2EE"/>
          </a:solidFill>
          <a:ln w="12700">
            <a:solidFill>
              <a:srgbClr val="D8E2EE"/>
            </a:solidFill>
            <a:prstDash val="solid"/>
          </a:ln>
        </p:spPr>
        <p:txBody>
          <a:bodyPr/>
          <a:lstStyle/>
          <a:p>
            <a:endParaRPr/>
          </a:p>
        </p:txBody>
      </p:sp>
      <p:sp>
        <p:nvSpPr>
          <p:cNvPr id="12" name="Shape 10">
            <a:extLst>
              <a:ext uri="{FF2B5EF4-FFF2-40B4-BE49-F238E27FC236}">
                <a16:creationId xmlns:a16="http://schemas.microsoft.com/office/drawing/2014/main" id="{DA1DC140-B9A9-40F1-B345-C6EAC767BB12}"/>
              </a:ext>
            </a:extLst>
          </p:cNvPr>
          <p:cNvSpPr>
            <a:spLocks noGrp="1"/>
          </p:cNvSpPr>
          <p:nvPr/>
        </p:nvSpPr>
        <p:spPr>
          <a:xfrm>
            <a:off x="548640" y="2816352"/>
            <a:ext cx="73152" cy="853440"/>
          </a:xfrm>
          <a:prstGeom prst="rect">
            <a:avLst/>
          </a:prstGeom>
          <a:solidFill>
            <a:srgbClr val="B03A2E"/>
          </a:solidFill>
          <a:ln w="12700">
            <a:solidFill>
              <a:srgbClr val="B03A2E"/>
            </a:solidFill>
            <a:prstDash val="solid"/>
          </a:ln>
        </p:spPr>
        <p:txBody>
          <a:bodyPr/>
          <a:lstStyle/>
          <a:p>
            <a:endParaRPr/>
          </a:p>
        </p:txBody>
      </p:sp>
      <p:sp>
        <p:nvSpPr>
          <p:cNvPr id="13" name="Text 11">
            <a:extLst>
              <a:ext uri="{FF2B5EF4-FFF2-40B4-BE49-F238E27FC236}">
                <a16:creationId xmlns:a16="http://schemas.microsoft.com/office/drawing/2014/main" id="{AE251382-9056-4C80-8841-2C20D72B5556}"/>
              </a:ext>
            </a:extLst>
          </p:cNvPr>
          <p:cNvSpPr>
            <a:spLocks noGrp="1"/>
          </p:cNvSpPr>
          <p:nvPr/>
        </p:nvSpPr>
        <p:spPr>
          <a:xfrm>
            <a:off x="69494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a:ext uri="{FF2B5EF4-FFF2-40B4-BE49-F238E27FC236}">
                <a16:creationId xmlns:a16="http://schemas.microsoft.com/office/drawing/2014/main" id="{3A642EC7-B04B-47CA-AAFD-3F5FFAC114F7}"/>
              </a:ext>
            </a:extLst>
          </p:cNvPr>
          <p:cNvSpPr>
            <a:spLocks noGrp="1"/>
          </p:cNvSpPr>
          <p:nvPr/>
        </p:nvSpPr>
        <p:spPr>
          <a:xfrm>
            <a:off x="548640" y="3730752"/>
            <a:ext cx="5242560" cy="853440"/>
          </a:xfrm>
          <a:prstGeom prst="rect">
            <a:avLst/>
          </a:prstGeom>
          <a:solidFill>
            <a:srgbClr val="D8E2EE"/>
          </a:solidFill>
          <a:ln w="12700">
            <a:solidFill>
              <a:srgbClr val="D8E2EE"/>
            </a:solidFill>
            <a:prstDash val="solid"/>
          </a:ln>
        </p:spPr>
        <p:txBody>
          <a:bodyPr/>
          <a:lstStyle/>
          <a:p>
            <a:endParaRPr/>
          </a:p>
        </p:txBody>
      </p:sp>
      <p:sp>
        <p:nvSpPr>
          <p:cNvPr id="15" name="Shape 13">
            <a:extLst>
              <a:ext uri="{FF2B5EF4-FFF2-40B4-BE49-F238E27FC236}">
                <a16:creationId xmlns:a16="http://schemas.microsoft.com/office/drawing/2014/main" id="{1C294ABB-DD45-4CD6-AD84-E6E93D8006A3}"/>
              </a:ext>
            </a:extLst>
          </p:cNvPr>
          <p:cNvSpPr>
            <a:spLocks noGrp="1"/>
          </p:cNvSpPr>
          <p:nvPr/>
        </p:nvSpPr>
        <p:spPr>
          <a:xfrm>
            <a:off x="548640" y="3730752"/>
            <a:ext cx="73152" cy="853440"/>
          </a:xfrm>
          <a:prstGeom prst="rect">
            <a:avLst/>
          </a:prstGeom>
          <a:solidFill>
            <a:srgbClr val="B03A2E"/>
          </a:solidFill>
          <a:ln w="12700">
            <a:solidFill>
              <a:srgbClr val="B03A2E"/>
            </a:solidFill>
            <a:prstDash val="solid"/>
          </a:ln>
        </p:spPr>
        <p:txBody>
          <a:bodyPr/>
          <a:lstStyle/>
          <a:p>
            <a:endParaRPr/>
          </a:p>
        </p:txBody>
      </p:sp>
      <p:sp>
        <p:nvSpPr>
          <p:cNvPr id="16" name="Text 14">
            <a:extLst>
              <a:ext uri="{FF2B5EF4-FFF2-40B4-BE49-F238E27FC236}">
                <a16:creationId xmlns:a16="http://schemas.microsoft.com/office/drawing/2014/main" id="{E99D6C68-C499-4CD5-8DB4-A6FBEC9C8E34}"/>
              </a:ext>
            </a:extLst>
          </p:cNvPr>
          <p:cNvSpPr>
            <a:spLocks noGrp="1"/>
          </p:cNvSpPr>
          <p:nvPr/>
        </p:nvSpPr>
        <p:spPr>
          <a:xfrm>
            <a:off x="69494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a:ext uri="{FF2B5EF4-FFF2-40B4-BE49-F238E27FC236}">
                <a16:creationId xmlns:a16="http://schemas.microsoft.com/office/drawing/2014/main" id="{41D9B8DC-E007-4BFF-BAC3-1DE03AFFB77C}"/>
              </a:ext>
            </a:extLst>
          </p:cNvPr>
          <p:cNvSpPr>
            <a:spLocks noGrp="1"/>
          </p:cNvSpPr>
          <p:nvPr/>
        </p:nvSpPr>
        <p:spPr>
          <a:xfrm>
            <a:off x="548640" y="4645152"/>
            <a:ext cx="5242560" cy="853440"/>
          </a:xfrm>
          <a:prstGeom prst="rect">
            <a:avLst/>
          </a:prstGeom>
          <a:solidFill>
            <a:srgbClr val="D8E2EE"/>
          </a:solidFill>
          <a:ln w="12700">
            <a:solidFill>
              <a:srgbClr val="D8E2EE"/>
            </a:solidFill>
            <a:prstDash val="solid"/>
          </a:ln>
        </p:spPr>
        <p:txBody>
          <a:bodyPr/>
          <a:lstStyle/>
          <a:p>
            <a:endParaRPr/>
          </a:p>
        </p:txBody>
      </p:sp>
      <p:sp>
        <p:nvSpPr>
          <p:cNvPr id="18" name="Shape 16">
            <a:extLst>
              <a:ext uri="{FF2B5EF4-FFF2-40B4-BE49-F238E27FC236}">
                <a16:creationId xmlns:a16="http://schemas.microsoft.com/office/drawing/2014/main" id="{A3C6754B-3EE7-40D1-9698-C6C66216C063}"/>
              </a:ext>
            </a:extLst>
          </p:cNvPr>
          <p:cNvSpPr>
            <a:spLocks noGrp="1"/>
          </p:cNvSpPr>
          <p:nvPr/>
        </p:nvSpPr>
        <p:spPr>
          <a:xfrm>
            <a:off x="548640" y="4645152"/>
            <a:ext cx="73152" cy="853440"/>
          </a:xfrm>
          <a:prstGeom prst="rect">
            <a:avLst/>
          </a:prstGeom>
          <a:solidFill>
            <a:srgbClr val="B03A2E"/>
          </a:solidFill>
          <a:ln w="12700">
            <a:solidFill>
              <a:srgbClr val="B03A2E"/>
            </a:solidFill>
            <a:prstDash val="solid"/>
          </a:ln>
        </p:spPr>
        <p:txBody>
          <a:bodyPr/>
          <a:lstStyle/>
          <a:p>
            <a:endParaRPr/>
          </a:p>
        </p:txBody>
      </p:sp>
      <p:sp>
        <p:nvSpPr>
          <p:cNvPr id="19" name="Text 17">
            <a:extLst>
              <a:ext uri="{FF2B5EF4-FFF2-40B4-BE49-F238E27FC236}">
                <a16:creationId xmlns:a16="http://schemas.microsoft.com/office/drawing/2014/main" id="{58A7FDCF-F8F3-44E4-AED6-64666A5F1778}"/>
              </a:ext>
            </a:extLst>
          </p:cNvPr>
          <p:cNvSpPr>
            <a:spLocks noGrp="1"/>
          </p:cNvSpPr>
          <p:nvPr/>
        </p:nvSpPr>
        <p:spPr>
          <a:xfrm>
            <a:off x="69494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a:ext uri="{FF2B5EF4-FFF2-40B4-BE49-F238E27FC236}">
                <a16:creationId xmlns:a16="http://schemas.microsoft.com/office/drawing/2014/main" id="{3217083C-96C4-4F9F-89C5-966D781C3755}"/>
              </a:ext>
            </a:extLst>
          </p:cNvPr>
          <p:cNvSpPr>
            <a:spLocks noGrp="1"/>
          </p:cNvSpPr>
          <p:nvPr/>
        </p:nvSpPr>
        <p:spPr>
          <a:xfrm>
            <a:off x="548640" y="5559552"/>
            <a:ext cx="5242560" cy="853440"/>
          </a:xfrm>
          <a:prstGeom prst="rect">
            <a:avLst/>
          </a:prstGeom>
          <a:solidFill>
            <a:srgbClr val="D8E2EE"/>
          </a:solidFill>
          <a:ln w="12700">
            <a:solidFill>
              <a:srgbClr val="D8E2EE"/>
            </a:solidFill>
            <a:prstDash val="solid"/>
          </a:ln>
        </p:spPr>
        <p:txBody>
          <a:bodyPr/>
          <a:lstStyle/>
          <a:p>
            <a:endParaRPr/>
          </a:p>
        </p:txBody>
      </p:sp>
      <p:sp>
        <p:nvSpPr>
          <p:cNvPr id="21" name="Shape 19">
            <a:extLst>
              <a:ext uri="{FF2B5EF4-FFF2-40B4-BE49-F238E27FC236}">
                <a16:creationId xmlns:a16="http://schemas.microsoft.com/office/drawing/2014/main" id="{C554F780-3E9E-4109-AD13-F931F942F032}"/>
              </a:ext>
            </a:extLst>
          </p:cNvPr>
          <p:cNvSpPr>
            <a:spLocks noGrp="1"/>
          </p:cNvSpPr>
          <p:nvPr/>
        </p:nvSpPr>
        <p:spPr>
          <a:xfrm>
            <a:off x="548640" y="5559552"/>
            <a:ext cx="73152" cy="853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6C5B0B4A-72B8-4AF4-A4B2-61D35BD03C74}"/>
              </a:ext>
            </a:extLst>
          </p:cNvPr>
          <p:cNvSpPr>
            <a:spLocks noGrp="1"/>
          </p:cNvSpPr>
          <p:nvPr/>
        </p:nvSpPr>
        <p:spPr>
          <a:xfrm>
            <a:off x="69494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a:ext uri="{FF2B5EF4-FFF2-40B4-BE49-F238E27FC236}">
                <a16:creationId xmlns:a16="http://schemas.microsoft.com/office/drawing/2014/main" id="{463B2BB6-7A76-4708-B8F5-4DDEDFEC5F14}"/>
              </a:ext>
            </a:extLst>
          </p:cNvPr>
          <p:cNvSpPr>
            <a:spLocks noGrp="1"/>
          </p:cNvSpPr>
          <p:nvPr/>
        </p:nvSpPr>
        <p:spPr>
          <a:xfrm>
            <a:off x="6400800" y="1341120"/>
            <a:ext cx="5242560" cy="463296"/>
          </a:xfrm>
          <a:prstGeom prst="rect">
            <a:avLst/>
          </a:prstGeom>
          <a:solidFill>
            <a:srgbClr val="1A7A4A"/>
          </a:solidFill>
          <a:ln w="12700">
            <a:solidFill>
              <a:srgbClr val="1A7A4A"/>
            </a:solidFill>
            <a:prstDash val="solid"/>
          </a:ln>
        </p:spPr>
        <p:txBody>
          <a:bodyPr/>
          <a:lstStyle/>
          <a:p>
            <a:endParaRPr/>
          </a:p>
        </p:txBody>
      </p:sp>
      <p:sp>
        <p:nvSpPr>
          <p:cNvPr id="24" name="Text 22">
            <a:extLst>
              <a:ext uri="{FF2B5EF4-FFF2-40B4-BE49-F238E27FC236}">
                <a16:creationId xmlns:a16="http://schemas.microsoft.com/office/drawing/2014/main" id="{B5E95566-B263-4C91-BD51-B2620F24EB2F}"/>
              </a:ext>
            </a:extLst>
          </p:cNvPr>
          <p:cNvSpPr>
            <a:spLocks noGrp="1"/>
          </p:cNvSpPr>
          <p:nvPr/>
        </p:nvSpPr>
        <p:spPr>
          <a:xfrm>
            <a:off x="640080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Future Work</a:t>
            </a:r>
          </a:p>
        </p:txBody>
      </p:sp>
      <p:sp>
        <p:nvSpPr>
          <p:cNvPr id="25" name="Shape 23">
            <a:extLst>
              <a:ext uri="{FF2B5EF4-FFF2-40B4-BE49-F238E27FC236}">
                <a16:creationId xmlns:a16="http://schemas.microsoft.com/office/drawing/2014/main" id="{8CA1E50A-6B82-45D2-9484-F69BA92EA974}"/>
              </a:ext>
            </a:extLst>
          </p:cNvPr>
          <p:cNvSpPr>
            <a:spLocks noGrp="1"/>
          </p:cNvSpPr>
          <p:nvPr/>
        </p:nvSpPr>
        <p:spPr>
          <a:xfrm>
            <a:off x="6400800" y="1901952"/>
            <a:ext cx="5242560" cy="853440"/>
          </a:xfrm>
          <a:prstGeom prst="rect">
            <a:avLst/>
          </a:prstGeom>
          <a:solidFill>
            <a:srgbClr val="D8E2EE"/>
          </a:solidFill>
          <a:ln w="12700">
            <a:solidFill>
              <a:srgbClr val="D8E2EE"/>
            </a:solidFill>
            <a:prstDash val="solid"/>
          </a:ln>
        </p:spPr>
        <p:txBody>
          <a:bodyPr/>
          <a:lstStyle/>
          <a:p>
            <a:endParaRPr/>
          </a:p>
        </p:txBody>
      </p:sp>
      <p:sp>
        <p:nvSpPr>
          <p:cNvPr id="26" name="Shape 24">
            <a:extLst>
              <a:ext uri="{FF2B5EF4-FFF2-40B4-BE49-F238E27FC236}">
                <a16:creationId xmlns:a16="http://schemas.microsoft.com/office/drawing/2014/main" id="{CF829296-45DC-4994-911F-DB66E780E5F0}"/>
              </a:ext>
            </a:extLst>
          </p:cNvPr>
          <p:cNvSpPr>
            <a:spLocks noGrp="1"/>
          </p:cNvSpPr>
          <p:nvPr/>
        </p:nvSpPr>
        <p:spPr>
          <a:xfrm>
            <a:off x="6400800" y="1901952"/>
            <a:ext cx="73152" cy="853440"/>
          </a:xfrm>
          <a:prstGeom prst="rect">
            <a:avLst/>
          </a:prstGeom>
          <a:solidFill>
            <a:srgbClr val="1A7A4A"/>
          </a:solidFill>
          <a:ln w="12700">
            <a:solidFill>
              <a:srgbClr val="1A7A4A"/>
            </a:solidFill>
            <a:prstDash val="solid"/>
          </a:ln>
        </p:spPr>
        <p:txBody>
          <a:bodyPr/>
          <a:lstStyle/>
          <a:p>
            <a:endParaRPr/>
          </a:p>
        </p:txBody>
      </p:sp>
      <p:sp>
        <p:nvSpPr>
          <p:cNvPr id="27" name="Text 25">
            <a:extLst>
              <a:ext uri="{FF2B5EF4-FFF2-40B4-BE49-F238E27FC236}">
                <a16:creationId xmlns:a16="http://schemas.microsoft.com/office/drawing/2014/main" id="{FD782832-6086-4DA3-B73B-C1978F093FCF}"/>
              </a:ext>
            </a:extLst>
          </p:cNvPr>
          <p:cNvSpPr>
            <a:spLocks noGrp="1"/>
          </p:cNvSpPr>
          <p:nvPr/>
        </p:nvSpPr>
        <p:spPr>
          <a:xfrm>
            <a:off x="654710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a:ext uri="{FF2B5EF4-FFF2-40B4-BE49-F238E27FC236}">
                <a16:creationId xmlns:a16="http://schemas.microsoft.com/office/drawing/2014/main" id="{1BAFFC31-E43F-4B1D-BE58-59F432C2FC34}"/>
              </a:ext>
            </a:extLst>
          </p:cNvPr>
          <p:cNvSpPr>
            <a:spLocks noGrp="1"/>
          </p:cNvSpPr>
          <p:nvPr/>
        </p:nvSpPr>
        <p:spPr>
          <a:xfrm>
            <a:off x="6400800" y="2816352"/>
            <a:ext cx="5242560" cy="853440"/>
          </a:xfrm>
          <a:prstGeom prst="rect">
            <a:avLst/>
          </a:prstGeom>
          <a:solidFill>
            <a:srgbClr val="D8E2EE"/>
          </a:solidFill>
          <a:ln w="12700">
            <a:solidFill>
              <a:srgbClr val="D8E2EE"/>
            </a:solidFill>
            <a:prstDash val="solid"/>
          </a:ln>
        </p:spPr>
        <p:txBody>
          <a:bodyPr/>
          <a:lstStyle/>
          <a:p>
            <a:endParaRPr/>
          </a:p>
        </p:txBody>
      </p:sp>
      <p:sp>
        <p:nvSpPr>
          <p:cNvPr id="29" name="Shape 27">
            <a:extLst>
              <a:ext uri="{FF2B5EF4-FFF2-40B4-BE49-F238E27FC236}">
                <a16:creationId xmlns:a16="http://schemas.microsoft.com/office/drawing/2014/main" id="{BAE89E93-7397-4F38-8B25-A1597103B2C5}"/>
              </a:ext>
            </a:extLst>
          </p:cNvPr>
          <p:cNvSpPr>
            <a:spLocks noGrp="1"/>
          </p:cNvSpPr>
          <p:nvPr/>
        </p:nvSpPr>
        <p:spPr>
          <a:xfrm>
            <a:off x="6400800" y="2816352"/>
            <a:ext cx="73152" cy="853440"/>
          </a:xfrm>
          <a:prstGeom prst="rect">
            <a:avLst/>
          </a:prstGeom>
          <a:solidFill>
            <a:srgbClr val="1A7A4A"/>
          </a:solidFill>
          <a:ln w="12700">
            <a:solidFill>
              <a:srgbClr val="1A7A4A"/>
            </a:solidFill>
            <a:prstDash val="solid"/>
          </a:ln>
        </p:spPr>
        <p:txBody>
          <a:bodyPr/>
          <a:lstStyle/>
          <a:p>
            <a:endParaRPr/>
          </a:p>
        </p:txBody>
      </p:sp>
      <p:sp>
        <p:nvSpPr>
          <p:cNvPr id="30" name="Text 28">
            <a:extLst>
              <a:ext uri="{FF2B5EF4-FFF2-40B4-BE49-F238E27FC236}">
                <a16:creationId xmlns:a16="http://schemas.microsoft.com/office/drawing/2014/main" id="{D6AB3EB9-EC56-4EC8-B6BF-7E605F5BCBB5}"/>
              </a:ext>
            </a:extLst>
          </p:cNvPr>
          <p:cNvSpPr>
            <a:spLocks noGrp="1"/>
          </p:cNvSpPr>
          <p:nvPr/>
        </p:nvSpPr>
        <p:spPr>
          <a:xfrm>
            <a:off x="654710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a:ext uri="{FF2B5EF4-FFF2-40B4-BE49-F238E27FC236}">
                <a16:creationId xmlns:a16="http://schemas.microsoft.com/office/drawing/2014/main" id="{DDB7F46E-3BBF-46D7-ACE9-DE1795A3D441}"/>
              </a:ext>
            </a:extLst>
          </p:cNvPr>
          <p:cNvSpPr>
            <a:spLocks noGrp="1"/>
          </p:cNvSpPr>
          <p:nvPr/>
        </p:nvSpPr>
        <p:spPr>
          <a:xfrm>
            <a:off x="6400800" y="3730752"/>
            <a:ext cx="5242560" cy="853440"/>
          </a:xfrm>
          <a:prstGeom prst="rect">
            <a:avLst/>
          </a:prstGeom>
          <a:solidFill>
            <a:srgbClr val="D8E2EE"/>
          </a:solidFill>
          <a:ln w="12700">
            <a:solidFill>
              <a:srgbClr val="D8E2EE"/>
            </a:solidFill>
            <a:prstDash val="solid"/>
          </a:ln>
        </p:spPr>
        <p:txBody>
          <a:bodyPr/>
          <a:lstStyle/>
          <a:p>
            <a:endParaRPr/>
          </a:p>
        </p:txBody>
      </p:sp>
      <p:sp>
        <p:nvSpPr>
          <p:cNvPr id="32" name="Shape 30">
            <a:extLst>
              <a:ext uri="{FF2B5EF4-FFF2-40B4-BE49-F238E27FC236}">
                <a16:creationId xmlns:a16="http://schemas.microsoft.com/office/drawing/2014/main" id="{0BD4A996-0764-48A8-8EF4-BF42C9AC4580}"/>
              </a:ext>
            </a:extLst>
          </p:cNvPr>
          <p:cNvSpPr>
            <a:spLocks noGrp="1"/>
          </p:cNvSpPr>
          <p:nvPr/>
        </p:nvSpPr>
        <p:spPr>
          <a:xfrm>
            <a:off x="6400800" y="3730752"/>
            <a:ext cx="73152" cy="853440"/>
          </a:xfrm>
          <a:prstGeom prst="rect">
            <a:avLst/>
          </a:prstGeom>
          <a:solidFill>
            <a:srgbClr val="1A7A4A"/>
          </a:solidFill>
          <a:ln w="12700">
            <a:solidFill>
              <a:srgbClr val="1A7A4A"/>
            </a:solidFill>
            <a:prstDash val="solid"/>
          </a:ln>
        </p:spPr>
        <p:txBody>
          <a:bodyPr/>
          <a:lstStyle/>
          <a:p>
            <a:endParaRPr/>
          </a:p>
        </p:txBody>
      </p:sp>
      <p:sp>
        <p:nvSpPr>
          <p:cNvPr id="33" name="Text 31">
            <a:extLst>
              <a:ext uri="{FF2B5EF4-FFF2-40B4-BE49-F238E27FC236}">
                <a16:creationId xmlns:a16="http://schemas.microsoft.com/office/drawing/2014/main" id="{C9041B37-60B2-4A5B-B16E-E5FA287A8A11}"/>
              </a:ext>
            </a:extLst>
          </p:cNvPr>
          <p:cNvSpPr>
            <a:spLocks noGrp="1"/>
          </p:cNvSpPr>
          <p:nvPr/>
        </p:nvSpPr>
        <p:spPr>
          <a:xfrm>
            <a:off x="654710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a:ext uri="{FF2B5EF4-FFF2-40B4-BE49-F238E27FC236}">
                <a16:creationId xmlns:a16="http://schemas.microsoft.com/office/drawing/2014/main" id="{E4365035-338D-41F7-A6FA-4EE8DE4FE4D7}"/>
              </a:ext>
            </a:extLst>
          </p:cNvPr>
          <p:cNvSpPr>
            <a:spLocks noGrp="1"/>
          </p:cNvSpPr>
          <p:nvPr/>
        </p:nvSpPr>
        <p:spPr>
          <a:xfrm>
            <a:off x="6400800" y="4645152"/>
            <a:ext cx="5242560" cy="853440"/>
          </a:xfrm>
          <a:prstGeom prst="rect">
            <a:avLst/>
          </a:prstGeom>
          <a:solidFill>
            <a:srgbClr val="D8E2EE"/>
          </a:solidFill>
          <a:ln w="12700">
            <a:solidFill>
              <a:srgbClr val="D8E2EE"/>
            </a:solidFill>
            <a:prstDash val="solid"/>
          </a:ln>
        </p:spPr>
        <p:txBody>
          <a:bodyPr/>
          <a:lstStyle/>
          <a:p>
            <a:endParaRPr/>
          </a:p>
        </p:txBody>
      </p:sp>
      <p:sp>
        <p:nvSpPr>
          <p:cNvPr id="35" name="Shape 33">
            <a:extLst>
              <a:ext uri="{FF2B5EF4-FFF2-40B4-BE49-F238E27FC236}">
                <a16:creationId xmlns:a16="http://schemas.microsoft.com/office/drawing/2014/main" id="{E1DBF14A-2DAC-491E-A710-BA4F42E71312}"/>
              </a:ext>
            </a:extLst>
          </p:cNvPr>
          <p:cNvSpPr>
            <a:spLocks noGrp="1"/>
          </p:cNvSpPr>
          <p:nvPr/>
        </p:nvSpPr>
        <p:spPr>
          <a:xfrm>
            <a:off x="6400800" y="4645152"/>
            <a:ext cx="73152" cy="853440"/>
          </a:xfrm>
          <a:prstGeom prst="rect">
            <a:avLst/>
          </a:prstGeom>
          <a:solidFill>
            <a:srgbClr val="1A7A4A"/>
          </a:solidFill>
          <a:ln w="12700">
            <a:solidFill>
              <a:srgbClr val="1A7A4A"/>
            </a:solidFill>
            <a:prstDash val="solid"/>
          </a:ln>
        </p:spPr>
        <p:txBody>
          <a:bodyPr/>
          <a:lstStyle/>
          <a:p>
            <a:endParaRPr/>
          </a:p>
        </p:txBody>
      </p:sp>
      <p:sp>
        <p:nvSpPr>
          <p:cNvPr id="36" name="Text 34">
            <a:extLst>
              <a:ext uri="{FF2B5EF4-FFF2-40B4-BE49-F238E27FC236}">
                <a16:creationId xmlns:a16="http://schemas.microsoft.com/office/drawing/2014/main" id="{76DECC46-E991-470C-AA2C-BD772ED81575}"/>
              </a:ext>
            </a:extLst>
          </p:cNvPr>
          <p:cNvSpPr>
            <a:spLocks noGrp="1"/>
          </p:cNvSpPr>
          <p:nvPr/>
        </p:nvSpPr>
        <p:spPr>
          <a:xfrm>
            <a:off x="654710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a:ext uri="{FF2B5EF4-FFF2-40B4-BE49-F238E27FC236}">
                <a16:creationId xmlns:a16="http://schemas.microsoft.com/office/drawing/2014/main" id="{FCDF5B91-53C3-4660-92BA-C8730F49253D}"/>
              </a:ext>
            </a:extLst>
          </p:cNvPr>
          <p:cNvSpPr>
            <a:spLocks noGrp="1"/>
          </p:cNvSpPr>
          <p:nvPr/>
        </p:nvSpPr>
        <p:spPr>
          <a:xfrm>
            <a:off x="6400800" y="5559552"/>
            <a:ext cx="5242560" cy="853440"/>
          </a:xfrm>
          <a:prstGeom prst="rect">
            <a:avLst/>
          </a:prstGeom>
          <a:solidFill>
            <a:srgbClr val="D8E2EE"/>
          </a:solidFill>
          <a:ln w="12700">
            <a:solidFill>
              <a:srgbClr val="D8E2EE"/>
            </a:solidFill>
            <a:prstDash val="solid"/>
          </a:ln>
        </p:spPr>
        <p:txBody>
          <a:bodyPr/>
          <a:lstStyle/>
          <a:p>
            <a:endParaRPr/>
          </a:p>
        </p:txBody>
      </p:sp>
      <p:sp>
        <p:nvSpPr>
          <p:cNvPr id="38" name="Shape 36">
            <a:extLst>
              <a:ext uri="{FF2B5EF4-FFF2-40B4-BE49-F238E27FC236}">
                <a16:creationId xmlns:a16="http://schemas.microsoft.com/office/drawing/2014/main" id="{E93F09A8-0C2E-40D4-83F0-99EC02BF5E1E}"/>
              </a:ext>
            </a:extLst>
          </p:cNvPr>
          <p:cNvSpPr>
            <a:spLocks noGrp="1"/>
          </p:cNvSpPr>
          <p:nvPr/>
        </p:nvSpPr>
        <p:spPr>
          <a:xfrm>
            <a:off x="6400800" y="5559552"/>
            <a:ext cx="73152" cy="853440"/>
          </a:xfrm>
          <a:prstGeom prst="rect">
            <a:avLst/>
          </a:prstGeom>
          <a:solidFill>
            <a:srgbClr val="1A7A4A"/>
          </a:solidFill>
          <a:ln w="12700">
            <a:solidFill>
              <a:srgbClr val="1A7A4A"/>
            </a:solidFill>
            <a:prstDash val="solid"/>
          </a:ln>
        </p:spPr>
        <p:txBody>
          <a:bodyPr/>
          <a:lstStyle/>
          <a:p>
            <a:endParaRPr/>
          </a:p>
        </p:txBody>
      </p:sp>
      <p:sp>
        <p:nvSpPr>
          <p:cNvPr id="39" name="Text 37">
            <a:extLst>
              <a:ext uri="{FF2B5EF4-FFF2-40B4-BE49-F238E27FC236}">
                <a16:creationId xmlns:a16="http://schemas.microsoft.com/office/drawing/2014/main" id="{7FA774D8-2B9A-49C1-8821-44A10A575357}"/>
              </a:ext>
            </a:extLst>
          </p:cNvPr>
          <p:cNvSpPr>
            <a:spLocks noGrp="1"/>
          </p:cNvSpPr>
          <p:nvPr/>
        </p:nvSpPr>
        <p:spPr>
          <a:xfrm>
            <a:off x="654710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7465579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7ADE658-1115-441B-A3C0-F62D795FE96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FC088DA-D4B5-4E03-B6A8-45DAB5A2D5C9}"/>
              </a:ext>
            </a:extLst>
          </p:cNvPr>
          <p:cNvSpPr>
            <a:spLocks noGrp="1"/>
          </p:cNvSpPr>
          <p:nvPr/>
        </p:nvSpPr>
        <p:spPr>
          <a:xfrm>
            <a:off x="609600" y="146304"/>
            <a:ext cx="10972800" cy="670560"/>
          </a:xfrm>
          <a:prstGeom prst="rect">
            <a:avLst/>
          </a:prstGeom>
          <a:noFill/>
        </p:spPr>
        <p:txBody>
          <a:bodyPr wrap="square" lIns="0" tIns="0" rIns="0" bIns="0" anchor="ctr"/>
          <a:lstStyle/>
          <a:p>
            <a:r>
              <a:rPr sz="3467" b="1">
                <a:solidFill>
                  <a:srgbClr val="FFFFFF"/>
                </a:solidFill>
                <a:latin typeface="Calibri"/>
                <a:ea typeface="Calibri"/>
                <a:cs typeface="Calibri"/>
              </a:rPr>
              <a:t>Conclusions</a:t>
            </a:r>
          </a:p>
        </p:txBody>
      </p:sp>
      <p:sp>
        <p:nvSpPr>
          <p:cNvPr id="4" name="Shape 2">
            <a:extLst>
              <a:ext uri="{FF2B5EF4-FFF2-40B4-BE49-F238E27FC236}">
                <a16:creationId xmlns:a16="http://schemas.microsoft.com/office/drawing/2014/main" id="{99513285-E518-40D9-80D6-AB066BD80BC8}"/>
              </a:ext>
            </a:extLst>
          </p:cNvPr>
          <p:cNvSpPr>
            <a:spLocks noGrp="1"/>
          </p:cNvSpPr>
          <p:nvPr/>
        </p:nvSpPr>
        <p:spPr>
          <a:xfrm>
            <a:off x="609600" y="877824"/>
            <a:ext cx="10972800" cy="24384"/>
          </a:xfrm>
          <a:prstGeom prst="rect">
            <a:avLst/>
          </a:prstGeom>
          <a:solidFill>
            <a:srgbClr val="253756"/>
          </a:solidFill>
          <a:ln w="12700">
            <a:solidFill>
              <a:srgbClr val="253756"/>
            </a:solidFill>
            <a:prstDash val="solid"/>
          </a:ln>
        </p:spPr>
        <p:txBody>
          <a:bodyPr/>
          <a:lstStyle/>
          <a:p>
            <a:endParaRPr/>
          </a:p>
        </p:txBody>
      </p:sp>
      <p:sp>
        <p:nvSpPr>
          <p:cNvPr id="5" name="Shape 3">
            <a:extLst>
              <a:ext uri="{FF2B5EF4-FFF2-40B4-BE49-F238E27FC236}">
                <a16:creationId xmlns:a16="http://schemas.microsoft.com/office/drawing/2014/main" id="{E9044FEB-A239-4999-9B4E-900F1F5F076E}"/>
              </a:ext>
            </a:extLst>
          </p:cNvPr>
          <p:cNvSpPr>
            <a:spLocks noGrp="1"/>
          </p:cNvSpPr>
          <p:nvPr/>
        </p:nvSpPr>
        <p:spPr>
          <a:xfrm>
            <a:off x="548640" y="1024128"/>
            <a:ext cx="11094720" cy="1682496"/>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2F4DD92E-B266-4CBB-BD4C-31A217ECBA10}"/>
              </a:ext>
            </a:extLst>
          </p:cNvPr>
          <p:cNvSpPr>
            <a:spLocks noGrp="1"/>
          </p:cNvSpPr>
          <p:nvPr/>
        </p:nvSpPr>
        <p:spPr>
          <a:xfrm>
            <a:off x="548640" y="1024128"/>
            <a:ext cx="85344" cy="1682496"/>
          </a:xfrm>
          <a:prstGeom prst="rect">
            <a:avLst/>
          </a:prstGeom>
          <a:solidFill>
            <a:srgbClr val="1A7A4A"/>
          </a:solidFill>
          <a:ln w="12700">
            <a:solidFill>
              <a:srgbClr val="1A7A4A"/>
            </a:solidFill>
            <a:prstDash val="solid"/>
          </a:ln>
        </p:spPr>
        <p:txBody>
          <a:bodyPr/>
          <a:lstStyle/>
          <a:p>
            <a:endParaRPr/>
          </a:p>
        </p:txBody>
      </p:sp>
      <p:sp>
        <p:nvSpPr>
          <p:cNvPr id="7" name="Text 5">
            <a:extLst>
              <a:ext uri="{FF2B5EF4-FFF2-40B4-BE49-F238E27FC236}">
                <a16:creationId xmlns:a16="http://schemas.microsoft.com/office/drawing/2014/main" id="{CE0A10A9-7458-44AF-931F-B5E980F19507}"/>
              </a:ext>
            </a:extLst>
          </p:cNvPr>
          <p:cNvSpPr>
            <a:spLocks noGrp="1"/>
          </p:cNvSpPr>
          <p:nvPr/>
        </p:nvSpPr>
        <p:spPr>
          <a:xfrm>
            <a:off x="755904" y="1109472"/>
            <a:ext cx="3048000" cy="365760"/>
          </a:xfrm>
          <a:prstGeom prst="rect">
            <a:avLst/>
          </a:prstGeom>
          <a:noFill/>
        </p:spPr>
        <p:txBody>
          <a:bodyPr wrap="square" lIns="0" tIns="0" rIns="0" bIns="0" anchor="ctr"/>
          <a:lstStyle/>
          <a:p>
            <a:r>
              <a:rPr sz="1133" b="1">
                <a:solidFill>
                  <a:srgbClr val="1A7A4A"/>
                </a:solidFill>
                <a:latin typeface="Calibri"/>
                <a:ea typeface="Calibri"/>
                <a:cs typeface="Calibri"/>
              </a:rPr>
              <a:t>GOAL 1 ✓ ACHIEVED</a:t>
            </a:r>
          </a:p>
        </p:txBody>
      </p:sp>
      <p:sp>
        <p:nvSpPr>
          <p:cNvPr id="8" name="Text 6">
            <a:extLst>
              <a:ext uri="{FF2B5EF4-FFF2-40B4-BE49-F238E27FC236}">
                <a16:creationId xmlns:a16="http://schemas.microsoft.com/office/drawing/2014/main" id="{9816CD7B-85B0-4065-ABB9-A709D01958B2}"/>
              </a:ext>
            </a:extLst>
          </p:cNvPr>
          <p:cNvSpPr>
            <a:spLocks noGrp="1"/>
          </p:cNvSpPr>
          <p:nvPr/>
        </p:nvSpPr>
        <p:spPr>
          <a:xfrm>
            <a:off x="755904" y="1475232"/>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Rule Discovery Succeeds</a:t>
            </a:r>
          </a:p>
        </p:txBody>
      </p:sp>
      <p:sp>
        <p:nvSpPr>
          <p:cNvPr id="9" name="Text 7">
            <a:extLst>
              <a:ext uri="{FF2B5EF4-FFF2-40B4-BE49-F238E27FC236}">
                <a16:creationId xmlns:a16="http://schemas.microsoft.com/office/drawing/2014/main" id="{5E59E155-4BC2-4A16-94B0-82EE27AFFDC9}"/>
              </a:ext>
            </a:extLst>
          </p:cNvPr>
          <p:cNvSpPr>
            <a:spLocks noGrp="1"/>
          </p:cNvSpPr>
          <p:nvPr/>
        </p:nvSpPr>
        <p:spPr>
          <a:xfrm>
            <a:off x="755904" y="1938528"/>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a:ext uri="{FF2B5EF4-FFF2-40B4-BE49-F238E27FC236}">
                <a16:creationId xmlns:a16="http://schemas.microsoft.com/office/drawing/2014/main" id="{00DAA2F6-F972-45BC-ACB6-316A24988397}"/>
              </a:ext>
            </a:extLst>
          </p:cNvPr>
          <p:cNvSpPr>
            <a:spLocks noGrp="1"/>
          </p:cNvSpPr>
          <p:nvPr/>
        </p:nvSpPr>
        <p:spPr>
          <a:xfrm>
            <a:off x="548640" y="2828544"/>
            <a:ext cx="11094720" cy="1682496"/>
          </a:xfrm>
          <a:prstGeom prst="rect">
            <a:avLst/>
          </a:prstGeom>
          <a:solidFill>
            <a:srgbClr val="253756"/>
          </a:solidFill>
          <a:ln w="12700">
            <a:solidFill>
              <a:srgbClr val="253756"/>
            </a:solidFill>
            <a:prstDash val="solid"/>
          </a:ln>
        </p:spPr>
        <p:txBody>
          <a:bodyPr/>
          <a:lstStyle/>
          <a:p>
            <a:endParaRPr/>
          </a:p>
        </p:txBody>
      </p:sp>
      <p:sp>
        <p:nvSpPr>
          <p:cNvPr id="11" name="Shape 9">
            <a:extLst>
              <a:ext uri="{FF2B5EF4-FFF2-40B4-BE49-F238E27FC236}">
                <a16:creationId xmlns:a16="http://schemas.microsoft.com/office/drawing/2014/main" id="{2ED793A5-4B26-480B-B6E9-914DE8E74AEF}"/>
              </a:ext>
            </a:extLst>
          </p:cNvPr>
          <p:cNvSpPr>
            <a:spLocks noGrp="1"/>
          </p:cNvSpPr>
          <p:nvPr/>
        </p:nvSpPr>
        <p:spPr>
          <a:xfrm>
            <a:off x="548640" y="2828544"/>
            <a:ext cx="85344" cy="1682496"/>
          </a:xfrm>
          <a:prstGeom prst="rect">
            <a:avLst/>
          </a:prstGeom>
          <a:solidFill>
            <a:srgbClr val="B03A2E"/>
          </a:solidFill>
          <a:ln w="12700">
            <a:solidFill>
              <a:srgbClr val="B03A2E"/>
            </a:solidFill>
            <a:prstDash val="solid"/>
          </a:ln>
        </p:spPr>
        <p:txBody>
          <a:bodyPr/>
          <a:lstStyle/>
          <a:p>
            <a:endParaRPr/>
          </a:p>
        </p:txBody>
      </p:sp>
      <p:sp>
        <p:nvSpPr>
          <p:cNvPr id="12" name="Text 10">
            <a:extLst>
              <a:ext uri="{FF2B5EF4-FFF2-40B4-BE49-F238E27FC236}">
                <a16:creationId xmlns:a16="http://schemas.microsoft.com/office/drawing/2014/main" id="{480667CD-8EF0-4E95-87F9-096D4477A6CC}"/>
              </a:ext>
            </a:extLst>
          </p:cNvPr>
          <p:cNvSpPr>
            <a:spLocks noGrp="1"/>
          </p:cNvSpPr>
          <p:nvPr/>
        </p:nvSpPr>
        <p:spPr>
          <a:xfrm>
            <a:off x="755904" y="2913888"/>
            <a:ext cx="3048000" cy="365760"/>
          </a:xfrm>
          <a:prstGeom prst="rect">
            <a:avLst/>
          </a:prstGeom>
          <a:noFill/>
        </p:spPr>
        <p:txBody>
          <a:bodyPr wrap="square" lIns="0" tIns="0" rIns="0" bIns="0" anchor="ctr"/>
          <a:lstStyle/>
          <a:p>
            <a:r>
              <a:rPr sz="1133" b="1">
                <a:solidFill>
                  <a:srgbClr val="B03A2E"/>
                </a:solidFill>
                <a:latin typeface="Calibri"/>
                <a:ea typeface="Calibri"/>
                <a:cs typeface="Calibri"/>
              </a:rPr>
              <a:t>GOAL 2 ✗ NOT ACHIEVED</a:t>
            </a:r>
          </a:p>
        </p:txBody>
      </p:sp>
      <p:sp>
        <p:nvSpPr>
          <p:cNvPr id="13" name="Text 11">
            <a:extLst>
              <a:ext uri="{FF2B5EF4-FFF2-40B4-BE49-F238E27FC236}">
                <a16:creationId xmlns:a16="http://schemas.microsoft.com/office/drawing/2014/main" id="{9A443A67-79A5-45AC-81C4-01FDF96E93BC}"/>
              </a:ext>
            </a:extLst>
          </p:cNvPr>
          <p:cNvSpPr>
            <a:spLocks noGrp="1"/>
          </p:cNvSpPr>
          <p:nvPr/>
        </p:nvSpPr>
        <p:spPr>
          <a:xfrm>
            <a:off x="755904" y="3279648"/>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Prediction Fails in Aggregate — Structurally Explained</a:t>
            </a:r>
          </a:p>
        </p:txBody>
      </p:sp>
      <p:sp>
        <p:nvSpPr>
          <p:cNvPr id="14" name="Text 12">
            <a:extLst>
              <a:ext uri="{FF2B5EF4-FFF2-40B4-BE49-F238E27FC236}">
                <a16:creationId xmlns:a16="http://schemas.microsoft.com/office/drawing/2014/main" id="{C175AFCB-4C9C-47FD-BA88-5CF7067000A3}"/>
              </a:ext>
            </a:extLst>
          </p:cNvPr>
          <p:cNvSpPr>
            <a:spLocks noGrp="1"/>
          </p:cNvSpPr>
          <p:nvPr/>
        </p:nvSpPr>
        <p:spPr>
          <a:xfrm>
            <a:off x="755904" y="3742944"/>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a:ext uri="{FF2B5EF4-FFF2-40B4-BE49-F238E27FC236}">
                <a16:creationId xmlns:a16="http://schemas.microsoft.com/office/drawing/2014/main" id="{2473DF7C-5172-4F13-9842-FC24E64E4697}"/>
              </a:ext>
            </a:extLst>
          </p:cNvPr>
          <p:cNvSpPr>
            <a:spLocks noGrp="1"/>
          </p:cNvSpPr>
          <p:nvPr/>
        </p:nvSpPr>
        <p:spPr>
          <a:xfrm>
            <a:off x="548640" y="4632960"/>
            <a:ext cx="11094720" cy="1682496"/>
          </a:xfrm>
          <a:prstGeom prst="rect">
            <a:avLst/>
          </a:prstGeom>
          <a:solidFill>
            <a:srgbClr val="253756"/>
          </a:solidFill>
          <a:ln w="12700">
            <a:solidFill>
              <a:srgbClr val="253756"/>
            </a:solidFill>
            <a:prstDash val="solid"/>
          </a:ln>
        </p:spPr>
        <p:txBody>
          <a:bodyPr/>
          <a:lstStyle/>
          <a:p>
            <a:endParaRPr/>
          </a:p>
        </p:txBody>
      </p:sp>
      <p:sp>
        <p:nvSpPr>
          <p:cNvPr id="16" name="Shape 14">
            <a:extLst>
              <a:ext uri="{FF2B5EF4-FFF2-40B4-BE49-F238E27FC236}">
                <a16:creationId xmlns:a16="http://schemas.microsoft.com/office/drawing/2014/main" id="{F1A4B20B-6E31-4406-B43D-0EC7DEAA86D0}"/>
              </a:ext>
            </a:extLst>
          </p:cNvPr>
          <p:cNvSpPr>
            <a:spLocks noGrp="1"/>
          </p:cNvSpPr>
          <p:nvPr/>
        </p:nvSpPr>
        <p:spPr>
          <a:xfrm>
            <a:off x="548640" y="4632960"/>
            <a:ext cx="85344" cy="1682496"/>
          </a:xfrm>
          <a:prstGeom prst="rect">
            <a:avLst/>
          </a:prstGeom>
          <a:solidFill>
            <a:srgbClr val="D4A853"/>
          </a:solidFill>
          <a:ln w="12700">
            <a:solidFill>
              <a:srgbClr val="D4A853"/>
            </a:solidFill>
            <a:prstDash val="solid"/>
          </a:ln>
        </p:spPr>
        <p:txBody>
          <a:bodyPr/>
          <a:lstStyle/>
          <a:p>
            <a:endParaRPr/>
          </a:p>
        </p:txBody>
      </p:sp>
      <p:sp>
        <p:nvSpPr>
          <p:cNvPr id="17" name="Text 15">
            <a:extLst>
              <a:ext uri="{FF2B5EF4-FFF2-40B4-BE49-F238E27FC236}">
                <a16:creationId xmlns:a16="http://schemas.microsoft.com/office/drawing/2014/main" id="{19949820-85C1-4F51-9866-DB44B36139D3}"/>
              </a:ext>
            </a:extLst>
          </p:cNvPr>
          <p:cNvSpPr>
            <a:spLocks noGrp="1"/>
          </p:cNvSpPr>
          <p:nvPr/>
        </p:nvSpPr>
        <p:spPr>
          <a:xfrm>
            <a:off x="755904" y="4718304"/>
            <a:ext cx="3048000" cy="365760"/>
          </a:xfrm>
          <a:prstGeom prst="rect">
            <a:avLst/>
          </a:prstGeom>
          <a:noFill/>
        </p:spPr>
        <p:txBody>
          <a:bodyPr wrap="square" lIns="0" tIns="0" rIns="0" bIns="0" anchor="ctr"/>
          <a:lstStyle/>
          <a:p>
            <a:r>
              <a:rPr sz="1133" b="1">
                <a:solidFill>
                  <a:srgbClr val="D4A853"/>
                </a:solidFill>
                <a:latin typeface="Calibri"/>
                <a:ea typeface="Calibri"/>
                <a:cs typeface="Calibri"/>
              </a:rPr>
              <a:t>CORE INSIGHT</a:t>
            </a:r>
          </a:p>
        </p:txBody>
      </p:sp>
      <p:sp>
        <p:nvSpPr>
          <p:cNvPr id="18" name="Text 16">
            <a:extLst>
              <a:ext uri="{FF2B5EF4-FFF2-40B4-BE49-F238E27FC236}">
                <a16:creationId xmlns:a16="http://schemas.microsoft.com/office/drawing/2014/main" id="{E1C80DA3-DA85-47EF-BE9A-C9DB7B7EA076}"/>
              </a:ext>
            </a:extLst>
          </p:cNvPr>
          <p:cNvSpPr>
            <a:spLocks noGrp="1"/>
          </p:cNvSpPr>
          <p:nvPr/>
        </p:nvSpPr>
        <p:spPr>
          <a:xfrm>
            <a:off x="755904" y="5084064"/>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Explanation ≠ Prediction — and the Path Forward</a:t>
            </a:r>
          </a:p>
        </p:txBody>
      </p:sp>
      <p:sp>
        <p:nvSpPr>
          <p:cNvPr id="19" name="Text 17">
            <a:extLst>
              <a:ext uri="{FF2B5EF4-FFF2-40B4-BE49-F238E27FC236}">
                <a16:creationId xmlns:a16="http://schemas.microsoft.com/office/drawing/2014/main" id="{7689106A-DACA-4028-885C-5208D646B3C6}"/>
              </a:ext>
            </a:extLst>
          </p:cNvPr>
          <p:cNvSpPr>
            <a:spLocks noGrp="1"/>
          </p:cNvSpPr>
          <p:nvPr/>
        </p:nvSpPr>
        <p:spPr>
          <a:xfrm>
            <a:off x="755904" y="5547360"/>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a:ext uri="{FF2B5EF4-FFF2-40B4-BE49-F238E27FC236}">
                <a16:creationId xmlns:a16="http://schemas.microsoft.com/office/drawing/2014/main" id="{2DC57AB1-B99C-40E0-8A16-79FA5FC797C9}"/>
              </a:ext>
            </a:extLst>
          </p:cNvPr>
          <p:cNvSpPr>
            <a:spLocks noGrp="1"/>
          </p:cNvSpPr>
          <p:nvPr/>
        </p:nvSpPr>
        <p:spPr>
          <a:xfrm>
            <a:off x="548640" y="6437376"/>
            <a:ext cx="11094720" cy="292608"/>
          </a:xfrm>
          <a:prstGeom prst="rect">
            <a:avLst/>
          </a:prstGeom>
          <a:solidFill>
            <a:srgbClr val="D4A853"/>
          </a:solidFill>
          <a:ln w="12700">
            <a:solidFill>
              <a:srgbClr val="D4A853"/>
            </a:solidFill>
            <a:prstDash val="solid"/>
          </a:ln>
        </p:spPr>
        <p:txBody>
          <a:bodyPr/>
          <a:lstStyle/>
          <a:p>
            <a:endParaRPr/>
          </a:p>
        </p:txBody>
      </p:sp>
      <p:sp>
        <p:nvSpPr>
          <p:cNvPr id="21" name="Text 19">
            <a:extLst>
              <a:ext uri="{FF2B5EF4-FFF2-40B4-BE49-F238E27FC236}">
                <a16:creationId xmlns:a16="http://schemas.microsoft.com/office/drawing/2014/main" id="{298AA274-D46E-4C42-9E4D-31C48EBEEBDD}"/>
              </a:ext>
            </a:extLst>
          </p:cNvPr>
          <p:cNvSpPr>
            <a:spLocks noGrp="1"/>
          </p:cNvSpPr>
          <p:nvPr/>
        </p:nvSpPr>
        <p:spPr>
          <a:xfrm>
            <a:off x="548640" y="6437376"/>
            <a:ext cx="11094720" cy="292608"/>
          </a:xfrm>
          <a:prstGeom prst="rect">
            <a:avLst/>
          </a:prstGeom>
          <a:noFill/>
        </p:spPr>
        <p:txBody>
          <a:bodyPr wrap="square" lIns="0" tIns="0" rIns="0" bIns="0" anchor="ctr"/>
          <a:lstStyle/>
          <a:p>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1487480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187DF2-4294-4B90-B2EE-FDB74EA69798}"/>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492DCBC7-7914-4F90-98BC-BA1607E87493}"/>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The Research Problem</a:t>
            </a:r>
          </a:p>
        </p:txBody>
      </p:sp>
      <p:sp>
        <p:nvSpPr>
          <p:cNvPr id="4" name="Text 2">
            <a:extLst>
              <a:ext uri="{FF2B5EF4-FFF2-40B4-BE49-F238E27FC236}">
                <a16:creationId xmlns:a16="http://schemas.microsoft.com/office/drawing/2014/main" id="{C1CB786F-7C46-4F92-959B-22A830BA28DE}"/>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Why interpretable rules — not black-box models — matter here</a:t>
            </a:r>
          </a:p>
        </p:txBody>
      </p:sp>
      <p:sp>
        <p:nvSpPr>
          <p:cNvPr id="5" name="Shape 3">
            <a:extLst>
              <a:ext uri="{FF2B5EF4-FFF2-40B4-BE49-F238E27FC236}">
                <a16:creationId xmlns:a16="http://schemas.microsoft.com/office/drawing/2014/main" id="{2D919354-FAC0-42B5-9146-7FF8372E32AD}"/>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B66BE705-B63C-4956-8D25-B5B4A00860B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2 / 12</a:t>
            </a:r>
          </a:p>
        </p:txBody>
      </p:sp>
      <p:sp>
        <p:nvSpPr>
          <p:cNvPr id="7" name="Shape 5">
            <a:extLst>
              <a:ext uri="{FF2B5EF4-FFF2-40B4-BE49-F238E27FC236}">
                <a16:creationId xmlns:a16="http://schemas.microsoft.com/office/drawing/2014/main" id="{4F344E72-5EB1-4DA7-AD63-E0ABBE1710BA}"/>
              </a:ext>
            </a:extLst>
          </p:cNvPr>
          <p:cNvSpPr>
            <a:spLocks noGrp="1"/>
          </p:cNvSpPr>
          <p:nvPr/>
        </p:nvSpPr>
        <p:spPr>
          <a:xfrm>
            <a:off x="548640" y="1341120"/>
            <a:ext cx="5486400" cy="182880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8" name="Shape 6">
            <a:extLst>
              <a:ext uri="{FF2B5EF4-FFF2-40B4-BE49-F238E27FC236}">
                <a16:creationId xmlns:a16="http://schemas.microsoft.com/office/drawing/2014/main" id="{9A53112D-0AD1-466F-93E4-CC89F8494824}"/>
              </a:ext>
            </a:extLst>
          </p:cNvPr>
          <p:cNvSpPr>
            <a:spLocks noGrp="1"/>
          </p:cNvSpPr>
          <p:nvPr/>
        </p:nvSpPr>
        <p:spPr>
          <a:xfrm>
            <a:off x="548640" y="1341120"/>
            <a:ext cx="73152" cy="1828800"/>
          </a:xfrm>
          <a:prstGeom prst="rect">
            <a:avLst/>
          </a:prstGeom>
          <a:solidFill>
            <a:srgbClr val="6B2737"/>
          </a:solidFill>
          <a:ln w="12700">
            <a:solidFill>
              <a:srgbClr val="6B2737"/>
            </a:solidFill>
            <a:prstDash val="solid"/>
          </a:ln>
        </p:spPr>
        <p:txBody>
          <a:bodyPr/>
          <a:lstStyle/>
          <a:p>
            <a:endParaRPr/>
          </a:p>
        </p:txBody>
      </p:sp>
      <p:sp>
        <p:nvSpPr>
          <p:cNvPr id="9" name="Text 7">
            <a:extLst>
              <a:ext uri="{FF2B5EF4-FFF2-40B4-BE49-F238E27FC236}">
                <a16:creationId xmlns:a16="http://schemas.microsoft.com/office/drawing/2014/main" id="{81C18DD4-F790-435C-9B61-F88DD2A9B7E9}"/>
              </a:ext>
            </a:extLst>
          </p:cNvPr>
          <p:cNvSpPr>
            <a:spLocks noGrp="1"/>
          </p:cNvSpPr>
          <p:nvPr/>
        </p:nvSpPr>
        <p:spPr>
          <a:xfrm>
            <a:off x="755904" y="1389888"/>
            <a:ext cx="5120640" cy="365760"/>
          </a:xfrm>
          <a:prstGeom prst="rect">
            <a:avLst/>
          </a:prstGeom>
          <a:noFill/>
        </p:spPr>
        <p:txBody>
          <a:bodyPr wrap="square" lIns="0" tIns="0" rIns="0" bIns="0" anchor="ctr"/>
          <a:lstStyle/>
          <a:p>
            <a:r>
              <a:rPr sz="1600" b="1">
                <a:solidFill>
                  <a:srgbClr val="6B2737"/>
                </a:solidFill>
                <a:latin typeface="Georgia"/>
                <a:ea typeface="Georgia"/>
                <a:cs typeface="Georgia"/>
              </a:rPr>
              <a:t>The gap</a:t>
            </a:r>
          </a:p>
        </p:txBody>
      </p:sp>
      <p:sp>
        <p:nvSpPr>
          <p:cNvPr id="10" name="Text 8">
            <a:extLst>
              <a:ext uri="{FF2B5EF4-FFF2-40B4-BE49-F238E27FC236}">
                <a16:creationId xmlns:a16="http://schemas.microsoft.com/office/drawing/2014/main" id="{77E73EF9-9E5B-41DD-94AC-B0F153B3EC1E}"/>
              </a:ext>
            </a:extLst>
          </p:cNvPr>
          <p:cNvSpPr>
            <a:spLocks noGrp="1"/>
          </p:cNvSpPr>
          <p:nvPr/>
        </p:nvSpPr>
        <p:spPr>
          <a:xfrm>
            <a:off x="755904" y="1755648"/>
            <a:ext cx="5120640" cy="1280160"/>
          </a:xfrm>
          <a:prstGeom prst="rect">
            <a:avLst/>
          </a:prstGeom>
          <a:noFill/>
        </p:spPr>
        <p:txBody>
          <a:bodyPr wrap="square" lIns="0" tIns="0" rIns="0" bIns="0" anchor="ctr"/>
          <a:lstStyle/>
          <a:p>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a:ext uri="{FF2B5EF4-FFF2-40B4-BE49-F238E27FC236}">
                <a16:creationId xmlns:a16="http://schemas.microsoft.com/office/drawing/2014/main" id="{CE61E603-2C8A-48DE-8033-423627FE9095}"/>
              </a:ext>
            </a:extLst>
          </p:cNvPr>
          <p:cNvSpPr>
            <a:spLocks noGrp="1"/>
          </p:cNvSpPr>
          <p:nvPr/>
        </p:nvSpPr>
        <p:spPr>
          <a:xfrm>
            <a:off x="548640" y="3352800"/>
            <a:ext cx="5486400" cy="310896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10">
            <a:extLst>
              <a:ext uri="{FF2B5EF4-FFF2-40B4-BE49-F238E27FC236}">
                <a16:creationId xmlns:a16="http://schemas.microsoft.com/office/drawing/2014/main" id="{E67CCF24-94D9-43E4-B188-11EEC808B800}"/>
              </a:ext>
            </a:extLst>
          </p:cNvPr>
          <p:cNvSpPr>
            <a:spLocks noGrp="1"/>
          </p:cNvSpPr>
          <p:nvPr/>
        </p:nvSpPr>
        <p:spPr>
          <a:xfrm>
            <a:off x="755904" y="3438144"/>
            <a:ext cx="5120640" cy="341376"/>
          </a:xfrm>
          <a:prstGeom prst="rect">
            <a:avLst/>
          </a:prstGeom>
          <a:noFill/>
        </p:spPr>
        <p:txBody>
          <a:bodyPr wrap="square" lIns="0" tIns="0" rIns="0" bIns="0" anchor="ctr"/>
          <a:lstStyle/>
          <a:p>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670560" y="3803904"/>
          <a:ext cx="5120640" cy="1950720"/>
        </p:xfrm>
        <a:graphic>
          <a:graphicData uri="http://schemas.openxmlformats.org/drawingml/2006/table">
            <a:tbl>
              <a:tblPr/>
              <a:tblGrid>
                <a:gridCol w="2316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0"/>
                  </a:ext>
                </a:extLst>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1"/>
                  </a:ext>
                </a:extLst>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2"/>
                  </a:ext>
                </a:extLst>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3"/>
                  </a:ext>
                </a:extLst>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4"/>
                  </a:ext>
                </a:extLst>
              </a:tr>
            </a:tbl>
          </a:graphicData>
        </a:graphic>
      </p:graphicFrame>
      <p:sp>
        <p:nvSpPr>
          <p:cNvPr id="14" name="Shape 11">
            <a:extLst>
              <a:ext uri="{FF2B5EF4-FFF2-40B4-BE49-F238E27FC236}">
                <a16:creationId xmlns:a16="http://schemas.microsoft.com/office/drawing/2014/main" id="{72FC9325-4A28-4BBC-AAA4-13C68DDDED80}"/>
              </a:ext>
            </a:extLst>
          </p:cNvPr>
          <p:cNvSpPr>
            <a:spLocks noGrp="1"/>
          </p:cNvSpPr>
          <p:nvPr/>
        </p:nvSpPr>
        <p:spPr>
          <a:xfrm>
            <a:off x="6339840" y="1341120"/>
            <a:ext cx="5303520" cy="2255520"/>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5" name="Shape 12">
            <a:extLst>
              <a:ext uri="{FF2B5EF4-FFF2-40B4-BE49-F238E27FC236}">
                <a16:creationId xmlns:a16="http://schemas.microsoft.com/office/drawing/2014/main" id="{F64F1239-C661-4B63-99AE-07526EA53A0A}"/>
              </a:ext>
            </a:extLst>
          </p:cNvPr>
          <p:cNvSpPr>
            <a:spLocks noGrp="1"/>
          </p:cNvSpPr>
          <p:nvPr/>
        </p:nvSpPr>
        <p:spPr>
          <a:xfrm>
            <a:off x="6339840" y="1341120"/>
            <a:ext cx="73152" cy="2255520"/>
          </a:xfrm>
          <a:prstGeom prst="rect">
            <a:avLst/>
          </a:prstGeom>
          <a:solidFill>
            <a:srgbClr val="C4964A"/>
          </a:solidFill>
          <a:ln w="12700">
            <a:solidFill>
              <a:srgbClr val="C4964A"/>
            </a:solidFill>
            <a:prstDash val="solid"/>
          </a:ln>
        </p:spPr>
        <p:txBody>
          <a:bodyPr/>
          <a:lstStyle/>
          <a:p>
            <a:endParaRPr/>
          </a:p>
        </p:txBody>
      </p:sp>
      <p:sp>
        <p:nvSpPr>
          <p:cNvPr id="16" name="Text 13">
            <a:extLst>
              <a:ext uri="{FF2B5EF4-FFF2-40B4-BE49-F238E27FC236}">
                <a16:creationId xmlns:a16="http://schemas.microsoft.com/office/drawing/2014/main" id="{4CDF539A-1E03-472C-B944-7E7034EA2783}"/>
              </a:ext>
            </a:extLst>
          </p:cNvPr>
          <p:cNvSpPr>
            <a:spLocks noGrp="1"/>
          </p:cNvSpPr>
          <p:nvPr/>
        </p:nvSpPr>
        <p:spPr>
          <a:xfrm>
            <a:off x="6559296" y="1402080"/>
            <a:ext cx="4876800" cy="341376"/>
          </a:xfrm>
          <a:prstGeom prst="rect">
            <a:avLst/>
          </a:prstGeom>
          <a:noFill/>
        </p:spPr>
        <p:txBody>
          <a:bodyPr wrap="square" lIns="0" tIns="0" rIns="0" bIns="0" anchor="ctr"/>
          <a:lstStyle/>
          <a:p>
            <a:r>
              <a:rPr sz="1467" b="1">
                <a:solidFill>
                  <a:srgbClr val="C4964A"/>
                </a:solidFill>
                <a:latin typeface="Calibri"/>
                <a:ea typeface="Calibri"/>
                <a:cs typeface="Calibri"/>
              </a:rPr>
              <a:t>What a rule looks like:</a:t>
            </a:r>
          </a:p>
        </p:txBody>
      </p:sp>
      <p:sp>
        <p:nvSpPr>
          <p:cNvPr id="17" name="Text 14">
            <a:extLst>
              <a:ext uri="{FF2B5EF4-FFF2-40B4-BE49-F238E27FC236}">
                <a16:creationId xmlns:a16="http://schemas.microsoft.com/office/drawing/2014/main" id="{6F681206-A45F-4DED-94AE-74618758B32A}"/>
              </a:ext>
            </a:extLst>
          </p:cNvPr>
          <p:cNvSpPr>
            <a:spLocks noGrp="1"/>
          </p:cNvSpPr>
          <p:nvPr/>
        </p:nvSpPr>
        <p:spPr>
          <a:xfrm>
            <a:off x="6559296" y="1780032"/>
            <a:ext cx="4876800" cy="1682496"/>
          </a:xfrm>
          <a:prstGeom prst="rect">
            <a:avLst/>
          </a:prstGeom>
          <a:noFill/>
        </p:spPr>
        <p:txBody>
          <a:bodyPr wrap="square" lIns="0" tIns="0" rIns="0" bIns="0" anchor="ctr"/>
          <a:lstStyle/>
          <a:p>
            <a:r>
              <a:rPr sz="1467" i="1">
                <a:solidFill>
                  <a:srgbClr val="1C1214"/>
                </a:solidFill>
                <a:latin typeface="Calibri"/>
                <a:ea typeface="Calibri"/>
                <a:cs typeface="Calibri"/>
              </a:rPr>
              <a:t>"IF soil water at harvest ∈ [74–101 mm]</a:t>
            </a:r>
          </a:p>
          <a:p>
            <a:r>
              <a:rPr sz="1467" i="1">
                <a:solidFill>
                  <a:srgbClr val="1C1214"/>
                </a:solidFill>
                <a:latin typeface="Calibri"/>
                <a:ea typeface="Calibri"/>
                <a:cs typeface="Calibri"/>
              </a:rPr>
              <a:t>AND wet days post-flowering ≤ 3.3 d</a:t>
            </a:r>
          </a:p>
          <a:p>
            <a:r>
              <a:rPr sz="1467" i="1">
                <a:solidFill>
                  <a:srgbClr val="1C1214"/>
                </a:solidFill>
                <a:latin typeface="Calibri"/>
                <a:ea typeface="Calibri"/>
                <a:cs typeface="Calibri"/>
              </a:rPr>
              <a:t>THEN production is +192 mhl above trend</a:t>
            </a:r>
          </a:p>
          <a:p>
            <a:r>
              <a:rPr sz="1467" i="1">
                <a:solidFill>
                  <a:srgbClr val="1C1214"/>
                </a:solidFill>
                <a:latin typeface="Calibri"/>
                <a:ea typeface="Calibri"/>
                <a:cs typeface="Calibri"/>
              </a:rPr>
              <a:t>(support 21%, p = 0.010)"</a:t>
            </a:r>
          </a:p>
        </p:txBody>
      </p:sp>
      <p:sp>
        <p:nvSpPr>
          <p:cNvPr id="18" name="Shape 15">
            <a:extLst>
              <a:ext uri="{FF2B5EF4-FFF2-40B4-BE49-F238E27FC236}">
                <a16:creationId xmlns:a16="http://schemas.microsoft.com/office/drawing/2014/main" id="{86136142-9A6E-48F3-BF83-D040DC022D76}"/>
              </a:ext>
            </a:extLst>
          </p:cNvPr>
          <p:cNvSpPr>
            <a:spLocks noGrp="1"/>
          </p:cNvSpPr>
          <p:nvPr/>
        </p:nvSpPr>
        <p:spPr>
          <a:xfrm>
            <a:off x="6339840" y="3779520"/>
            <a:ext cx="5303520" cy="256032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Shape 16">
            <a:extLst>
              <a:ext uri="{FF2B5EF4-FFF2-40B4-BE49-F238E27FC236}">
                <a16:creationId xmlns:a16="http://schemas.microsoft.com/office/drawing/2014/main" id="{004AF75A-710C-4ADB-B4D0-F94BB8A6C8D0}"/>
              </a:ext>
            </a:extLst>
          </p:cNvPr>
          <p:cNvSpPr>
            <a:spLocks noGrp="1"/>
          </p:cNvSpPr>
          <p:nvPr/>
        </p:nvSpPr>
        <p:spPr>
          <a:xfrm>
            <a:off x="6339840" y="3779520"/>
            <a:ext cx="73152" cy="2560320"/>
          </a:xfrm>
          <a:prstGeom prst="rect">
            <a:avLst/>
          </a:prstGeom>
          <a:solidFill>
            <a:srgbClr val="2A7F7F"/>
          </a:solidFill>
          <a:ln w="12700">
            <a:solidFill>
              <a:srgbClr val="2A7F7F"/>
            </a:solidFill>
            <a:prstDash val="solid"/>
          </a:ln>
        </p:spPr>
        <p:txBody>
          <a:bodyPr/>
          <a:lstStyle/>
          <a:p>
            <a:endParaRPr/>
          </a:p>
        </p:txBody>
      </p:sp>
      <p:sp>
        <p:nvSpPr>
          <p:cNvPr id="20" name="Text 17">
            <a:extLst>
              <a:ext uri="{FF2B5EF4-FFF2-40B4-BE49-F238E27FC236}">
                <a16:creationId xmlns:a16="http://schemas.microsoft.com/office/drawing/2014/main" id="{66B9B50F-FC1D-43D8-AE1E-6DE2243960AB}"/>
              </a:ext>
            </a:extLst>
          </p:cNvPr>
          <p:cNvSpPr>
            <a:spLocks noGrp="1"/>
          </p:cNvSpPr>
          <p:nvPr/>
        </p:nvSpPr>
        <p:spPr>
          <a:xfrm>
            <a:off x="6559296" y="3840480"/>
            <a:ext cx="4876800" cy="341376"/>
          </a:xfrm>
          <a:prstGeom prst="rect">
            <a:avLst/>
          </a:prstGeom>
          <a:noFill/>
        </p:spPr>
        <p:txBody>
          <a:bodyPr wrap="square" lIns="0" tIns="0" rIns="0" bIns="0" anchor="ctr"/>
          <a:lstStyle/>
          <a:p>
            <a:r>
              <a:rPr sz="1467" b="1">
                <a:solidFill>
                  <a:srgbClr val="2A7F7F"/>
                </a:solidFill>
                <a:latin typeface="Calibri"/>
                <a:ea typeface="Calibri"/>
                <a:cs typeface="Calibri"/>
              </a:rPr>
              <a:t>Why interpretability matters:</a:t>
            </a:r>
          </a:p>
        </p:txBody>
      </p:sp>
      <p:sp>
        <p:nvSpPr>
          <p:cNvPr id="21" name="Text 18">
            <a:extLst>
              <a:ext uri="{FF2B5EF4-FFF2-40B4-BE49-F238E27FC236}">
                <a16:creationId xmlns:a16="http://schemas.microsoft.com/office/drawing/2014/main" id="{22558297-0EF4-44C4-A9B6-2556465706DD}"/>
              </a:ext>
            </a:extLst>
          </p:cNvPr>
          <p:cNvSpPr>
            <a:spLocks noGrp="1"/>
          </p:cNvSpPr>
          <p:nvPr/>
        </p:nvSpPr>
        <p:spPr>
          <a:xfrm>
            <a:off x="6559296" y="4218432"/>
            <a:ext cx="4876800" cy="1975104"/>
          </a:xfrm>
          <a:prstGeom prst="rect">
            <a:avLst/>
          </a:prstGeom>
          <a:noFill/>
        </p:spPr>
        <p:txBody>
          <a:bodyPr wrap="square" lIns="0" tIns="0" rIns="0" bIns="0" anchor="ctr"/>
          <a:lstStyle/>
          <a:p>
            <a:pPr marL="457189" indent="-457189">
              <a:buChar char="•"/>
            </a:pPr>
            <a:r>
              <a:rPr sz="1467">
                <a:solidFill>
                  <a:srgbClr val="1C1214"/>
                </a:solidFill>
                <a:latin typeface="Calibri"/>
                <a:ea typeface="Calibri"/>
                <a:cs typeface="Calibri"/>
              </a:rPr>
              <a:t>Readable by agronomists without ML knowledge</a:t>
            </a:r>
          </a:p>
          <a:p>
            <a:pPr marL="457189" indent="-457189">
              <a:buChar char="•"/>
            </a:pPr>
            <a:r>
              <a:rPr sz="1467">
                <a:solidFill>
                  <a:srgbClr val="1C1214"/>
                </a:solidFill>
                <a:latin typeface="Calibri"/>
                <a:ea typeface="Calibri"/>
                <a:cs typeface="Calibri"/>
              </a:rPr>
              <a:t>Each rule carries explicit support &amp; p-value</a:t>
            </a:r>
          </a:p>
          <a:p>
            <a:pPr marL="457189" indent="-457189">
              <a:buChar char="•"/>
            </a:pPr>
            <a:r>
              <a:rPr sz="1467">
                <a:solidFill>
                  <a:srgbClr val="1C1214"/>
                </a:solidFill>
                <a:latin typeface="Calibri"/>
                <a:ea typeface="Calibri"/>
                <a:cs typeface="Calibri"/>
              </a:rPr>
              <a:t>Can be challenged and domain-validated</a:t>
            </a:r>
          </a:p>
          <a:p>
            <a:pPr marL="457189" indent="-457189">
              <a:buChar char="•"/>
            </a:pPr>
            <a:r>
              <a:rPr sz="1467">
                <a:solidFill>
                  <a:srgbClr val="1C1214"/>
                </a:solidFill>
                <a:latin typeface="Calibri"/>
                <a:ea typeface="Calibri"/>
                <a:cs typeface="Calibri"/>
              </a:rPr>
              <a:t>Directly actionable for harvest planning</a:t>
            </a:r>
          </a:p>
        </p:txBody>
      </p:sp>
      <p:sp>
        <p:nvSpPr>
          <p:cNvPr id="22" name="Text 19">
            <a:extLst>
              <a:ext uri="{FF2B5EF4-FFF2-40B4-BE49-F238E27FC236}">
                <a16:creationId xmlns:a16="http://schemas.microsoft.com/office/drawing/2014/main" id="{7CE10234-4888-4F0C-9A30-B3B10D2B097C}"/>
              </a:ext>
            </a:extLst>
          </p:cNvPr>
          <p:cNvSpPr>
            <a:spLocks noGrp="1"/>
          </p:cNvSpPr>
          <p:nvPr/>
        </p:nvSpPr>
        <p:spPr>
          <a:xfrm>
            <a:off x="548640" y="6461760"/>
            <a:ext cx="11094720" cy="304800"/>
          </a:xfrm>
          <a:prstGeom prst="rect">
            <a:avLst/>
          </a:prstGeom>
          <a:noFill/>
        </p:spPr>
        <p:txBody>
          <a:bodyPr wrap="square" lIns="0" tIns="0" rIns="0" bIns="0" anchor="ctr"/>
          <a:lstStyle/>
          <a:p>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1423486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6372210-424A-4F54-8BA8-BE74844525B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8B8584F4-404F-43C8-B36E-8BE6848E3EE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442D19C9-FA58-498F-AC3D-2464DAFACAB0}"/>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4BEFB1F-C02C-4EB4-99EA-F98CE7E0265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8298E2D-F719-4CA8-9B2F-56EF75E18047}"/>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2BB04AE6-44E7-46F6-968F-3ABF9EEBF461}"/>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5F71FCF8-98E4-4438-B380-C22B536A9584}"/>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8EBE51EB-FCAC-4FD4-922C-E028A88B5B2A}"/>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54D96BC7-F43D-4723-91DE-B45ECEAE46A4}"/>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9D77925D-D0E7-48FF-A3FF-C403C62DCE93}"/>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1BF56E5E-11D3-4B0D-9691-5788DD0EA64C}"/>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32A4402D-65A0-4273-93B0-18B7A99B3769}"/>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4E785B6A-FC17-4604-B391-1BE52778DCF1}"/>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0547658A-4152-4999-B720-A1890473AB8E}"/>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FBB2C1C6-0F94-437B-BB7B-F2A842C05667}"/>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480822DC-6202-474D-B911-7BDADAFCF57B}"/>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D0D2B582-D581-46A7-B3FE-7821223AE8F1}"/>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447F7BF9-4BAE-4A6B-ACC0-F943A49B94B7}"/>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9B550369-D82C-4210-92AC-5B4767061A32}"/>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C22A2002-7EAD-4693-8141-2DC1880C6EE9}"/>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BF41982D-DBC6-4B02-BEA1-00088BEDE5ED}"/>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8D7BA1E-B268-403A-A754-AAAD63F52D97}"/>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B9E7D342-43B7-4850-B4C1-7969700FEBB6}"/>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A30C9C71-CF9B-420D-8BD5-7DA80DBE3785}"/>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4875B2C4-BCD1-4443-BCBB-2997D00D8272}"/>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23F068A0-C056-47E5-AEAF-3270476F9F9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1E4D1FAB-610B-4DEF-9D06-2E76F5B8BE8C}"/>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496271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BC41FD-FD66-BD55-8CBE-4F86A5FC997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C76943E3-5F4A-F628-74D7-94C314832AD1}"/>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61D5474E-B85F-CB36-708A-E6D460581028}"/>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0F85C39-2135-FC14-0A15-16834B64357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B733AF3-3885-7142-20DB-A17300C4AD00}"/>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D50C6D3D-514B-2212-0428-9DAD33D370DD}"/>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9C2DD699-8908-9753-A70B-CC95EEF13B53}"/>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336A8874-7C57-2EA8-DA84-C6BB3FC53F85}"/>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2601501F-B0DB-A2DE-E65E-9A371241A745}"/>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18BCE43C-B669-9FD9-4D08-7116FD80D71E}"/>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2DCDFD32-66AC-E6EF-353E-56FE3033BE39}"/>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4EF2F843-8FA6-4247-31CC-E63788522477}"/>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855814AC-7AB8-5B50-A56A-A6F99DCA40EF}"/>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6257D09F-F6D6-581B-A73A-B7AD8BF40EA0}"/>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D9D6DDF4-18E0-82F5-A14D-96E42D60B91C}"/>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CAC40BFD-C4E2-4AE3-0D08-CBA8CCE39719}"/>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570F2AAA-785F-C97C-89FD-608402ED5310}"/>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CE65445A-3D87-DB00-351C-3418D44CDBEE}"/>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BCD3C0B8-66F5-AB95-E6AB-347813F6B451}"/>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E489CD6F-A3F0-E121-1276-416914011DA1}"/>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06720412-0F36-BB73-762F-90A3357F6AF3}"/>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24002C7-3EEC-1829-7A33-9C97A3ADF32F}"/>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14F03383-7B7B-6C09-F153-F1C665953062}"/>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26C7B69D-77EA-4FF8-0297-B1C43C62609D}"/>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7B5125BD-1E33-0624-B751-5FB117B4674E}"/>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F8B36E63-9F22-19CE-B441-2D9A4DE4EDA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3D3FBFE4-9EE0-3916-28C7-1B3E1B6E75F1}"/>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3FBDC8-6DF0-4C39-896B-BAFFD046BBEC}"/>
              </a:ext>
            </a:extLst>
          </p:cNvPr>
          <p:cNvSpPr>
            <a:spLocks noGrp="1"/>
          </p:cNvSpPr>
          <p:nvPr/>
        </p:nvSpPr>
        <p:spPr>
          <a:xfrm>
            <a:off x="0" y="0"/>
            <a:ext cx="12192000" cy="67733"/>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EFDBA7F-1679-4FE6-AC32-9C65ED3F1F3D}"/>
              </a:ext>
            </a:extLst>
          </p:cNvPr>
          <p:cNvSpPr>
            <a:spLocks noGrp="1"/>
          </p:cNvSpPr>
          <p:nvPr/>
        </p:nvSpPr>
        <p:spPr>
          <a:xfrm>
            <a:off x="609600" y="152401"/>
            <a:ext cx="10972800" cy="584775"/>
          </a:xfrm>
          <a:prstGeom prst="rect">
            <a:avLst/>
          </a:prstGeom>
          <a:noFill/>
        </p:spPr>
        <p:txBody>
          <a:bodyPr wrap="square">
            <a:spAutoFit/>
          </a:bodyPr>
          <a:lstStyle/>
          <a:p>
            <a:pPr algn="l">
              <a:buNone/>
            </a:pPr>
            <a:r>
              <a:rPr sz="3200" b="1">
                <a:solidFill>
                  <a:srgbClr val="6B2737"/>
                </a:solidFill>
                <a:latin typeface="Georgia"/>
                <a:ea typeface="Georgia"/>
                <a:cs typeface="Georgia"/>
              </a:rPr>
              <a:t>Algorithm Comparison</a:t>
            </a:r>
          </a:p>
        </p:txBody>
      </p:sp>
      <p:sp>
        <p:nvSpPr>
          <p:cNvPr id="4" name="TextBox 3">
            <a:extLst>
              <a:ext uri="{FF2B5EF4-FFF2-40B4-BE49-F238E27FC236}">
                <a16:creationId xmlns:a16="http://schemas.microsoft.com/office/drawing/2014/main" id="{982EB558-B6B7-47BE-8E14-59D3EE2C3782}"/>
              </a:ext>
            </a:extLst>
          </p:cNvPr>
          <p:cNvSpPr>
            <a:spLocks noGrp="1"/>
          </p:cNvSpPr>
          <p:nvPr/>
        </p:nvSpPr>
        <p:spPr>
          <a:xfrm>
            <a:off x="609600" y="711200"/>
            <a:ext cx="10972800" cy="297454"/>
          </a:xfrm>
          <a:prstGeom prst="rect">
            <a:avLst/>
          </a:prstGeom>
          <a:noFill/>
        </p:spPr>
        <p:txBody>
          <a:bodyPr wrap="square">
            <a:spAutoFit/>
          </a:bodyPr>
          <a:lstStyle/>
          <a:p>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a:ext uri="{FF2B5EF4-FFF2-40B4-BE49-F238E27FC236}">
                <a16:creationId xmlns:a16="http://schemas.microsoft.com/office/drawing/2014/main" id="{6E05033F-312B-4DB2-A1C3-FFD4FA6AB3D3}"/>
              </a:ext>
            </a:extLst>
          </p:cNvPr>
          <p:cNvSpPr>
            <a:spLocks noGrp="1"/>
          </p:cNvSpPr>
          <p:nvPr/>
        </p:nvSpPr>
        <p:spPr>
          <a:xfrm>
            <a:off x="609600" y="982134"/>
            <a:ext cx="10972800" cy="16933"/>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862DB7DD-AB98-4533-93B8-C62869F1EAE0}"/>
              </a:ext>
            </a:extLst>
          </p:cNvPr>
          <p:cNvSpPr>
            <a:spLocks noGrp="1"/>
          </p:cNvSpPr>
          <p:nvPr/>
        </p:nvSpPr>
        <p:spPr>
          <a:xfrm>
            <a:off x="6096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FE0DEFB-9962-45DD-8DA9-9956CB21BDE1}"/>
              </a:ext>
            </a:extLst>
          </p:cNvPr>
          <p:cNvSpPr>
            <a:spLocks noGrp="1"/>
          </p:cNvSpPr>
          <p:nvPr/>
        </p:nvSpPr>
        <p:spPr>
          <a:xfrm>
            <a:off x="609600" y="1100667"/>
            <a:ext cx="3589867" cy="359009"/>
          </a:xfrm>
          <a:prstGeom prst="rect">
            <a:avLst/>
          </a:prstGeom>
          <a:noFill/>
        </p:spPr>
        <p:txBody>
          <a:bodyPr wrap="square">
            <a:spAutoFit/>
          </a:bodyPr>
          <a:lstStyle/>
          <a:p>
            <a:pPr algn="ctr">
              <a:buNone/>
            </a:pPr>
            <a:r>
              <a:rPr sz="1733" b="1">
                <a:solidFill>
                  <a:srgbClr val="C4964A"/>
                </a:solidFill>
                <a:latin typeface="Georgia"/>
                <a:ea typeface="Georgia"/>
                <a:cs typeface="Georgia"/>
              </a:rPr>
              <a:t>CarenR</a:t>
            </a:r>
          </a:p>
        </p:txBody>
      </p:sp>
      <p:sp>
        <p:nvSpPr>
          <p:cNvPr id="8" name="TextBox 7">
            <a:extLst>
              <a:ext uri="{FF2B5EF4-FFF2-40B4-BE49-F238E27FC236}">
                <a16:creationId xmlns:a16="http://schemas.microsoft.com/office/drawing/2014/main" id="{BA5C6F7D-4E57-4800-AE65-231741C9A2CD}"/>
              </a:ext>
            </a:extLst>
          </p:cNvPr>
          <p:cNvSpPr>
            <a:spLocks noGrp="1"/>
          </p:cNvSpPr>
          <p:nvPr/>
        </p:nvSpPr>
        <p:spPr>
          <a:xfrm>
            <a:off x="609600" y="1371601"/>
            <a:ext cx="3589867" cy="256545"/>
          </a:xfrm>
          <a:prstGeom prst="rect">
            <a:avLst/>
          </a:prstGeom>
          <a:noFill/>
        </p:spPr>
        <p:txBody>
          <a:bodyPr wrap="square">
            <a:spAutoFit/>
          </a:bodyPr>
          <a:lstStyle/>
          <a:p>
            <a:pPr algn="ctr">
              <a:buNone/>
            </a:pPr>
            <a:r>
              <a:rPr sz="1067" i="1">
                <a:solidFill>
                  <a:srgbClr val="C4964A"/>
                </a:solidFill>
                <a:latin typeface="Calibri"/>
                <a:ea typeface="Calibri"/>
                <a:cs typeface="Calibri"/>
              </a:rPr>
              <a:t>Primary algorithm</a:t>
            </a:r>
          </a:p>
        </p:txBody>
      </p:sp>
      <p:sp>
        <p:nvSpPr>
          <p:cNvPr id="9" name="Rectangle 8">
            <a:extLst>
              <a:ext uri="{FF2B5EF4-FFF2-40B4-BE49-F238E27FC236}">
                <a16:creationId xmlns:a16="http://schemas.microsoft.com/office/drawing/2014/main" id="{44A1A745-750B-43C2-A298-9658AA1BF74F}"/>
              </a:ext>
            </a:extLst>
          </p:cNvPr>
          <p:cNvSpPr>
            <a:spLocks noGrp="1"/>
          </p:cNvSpPr>
          <p:nvPr/>
        </p:nvSpPr>
        <p:spPr>
          <a:xfrm>
            <a:off x="42672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5497475B-6727-498D-B44F-5AE75DBBBD17}"/>
              </a:ext>
            </a:extLst>
          </p:cNvPr>
          <p:cNvSpPr>
            <a:spLocks noGrp="1"/>
          </p:cNvSpPr>
          <p:nvPr/>
        </p:nvSpPr>
        <p:spPr>
          <a:xfrm>
            <a:off x="42672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RIPPER</a:t>
            </a:r>
          </a:p>
        </p:txBody>
      </p:sp>
      <p:sp>
        <p:nvSpPr>
          <p:cNvPr id="11" name="TextBox 10">
            <a:extLst>
              <a:ext uri="{FF2B5EF4-FFF2-40B4-BE49-F238E27FC236}">
                <a16:creationId xmlns:a16="http://schemas.microsoft.com/office/drawing/2014/main" id="{8C3A07F6-FC37-4A96-BC8D-250081A24E70}"/>
              </a:ext>
            </a:extLst>
          </p:cNvPr>
          <p:cNvSpPr>
            <a:spLocks noGrp="1"/>
          </p:cNvSpPr>
          <p:nvPr/>
        </p:nvSpPr>
        <p:spPr>
          <a:xfrm>
            <a:off x="42672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Classification baseline</a:t>
            </a:r>
          </a:p>
        </p:txBody>
      </p:sp>
      <p:sp>
        <p:nvSpPr>
          <p:cNvPr id="12" name="Rectangle 11">
            <a:extLst>
              <a:ext uri="{FF2B5EF4-FFF2-40B4-BE49-F238E27FC236}">
                <a16:creationId xmlns:a16="http://schemas.microsoft.com/office/drawing/2014/main" id="{2814EAD7-0330-4778-8C2F-C8603B11311C}"/>
              </a:ext>
            </a:extLst>
          </p:cNvPr>
          <p:cNvSpPr>
            <a:spLocks noGrp="1"/>
          </p:cNvSpPr>
          <p:nvPr/>
        </p:nvSpPr>
        <p:spPr>
          <a:xfrm>
            <a:off x="79248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53D579A-1F38-482F-9414-8097FF18C048}"/>
              </a:ext>
            </a:extLst>
          </p:cNvPr>
          <p:cNvSpPr>
            <a:spLocks noGrp="1"/>
          </p:cNvSpPr>
          <p:nvPr/>
        </p:nvSpPr>
        <p:spPr>
          <a:xfrm>
            <a:off x="79248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M5Rules</a:t>
            </a:r>
          </a:p>
        </p:txBody>
      </p:sp>
      <p:sp>
        <p:nvSpPr>
          <p:cNvPr id="14" name="TextBox 13">
            <a:extLst>
              <a:ext uri="{FF2B5EF4-FFF2-40B4-BE49-F238E27FC236}">
                <a16:creationId xmlns:a16="http://schemas.microsoft.com/office/drawing/2014/main" id="{FF5AFC73-C5D4-441B-AEB0-226C1DFDD12D}"/>
              </a:ext>
            </a:extLst>
          </p:cNvPr>
          <p:cNvSpPr>
            <a:spLocks noGrp="1"/>
          </p:cNvSpPr>
          <p:nvPr/>
        </p:nvSpPr>
        <p:spPr>
          <a:xfrm>
            <a:off x="79248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Regression baseline</a:t>
            </a:r>
          </a:p>
        </p:txBody>
      </p:sp>
      <p:sp>
        <p:nvSpPr>
          <p:cNvPr id="15" name="Rectangle 14">
            <a:extLst>
              <a:ext uri="{FF2B5EF4-FFF2-40B4-BE49-F238E27FC236}">
                <a16:creationId xmlns:a16="http://schemas.microsoft.com/office/drawing/2014/main" id="{0A8E9B32-81C5-40AB-9954-9B509A8ED051}"/>
              </a:ext>
            </a:extLst>
          </p:cNvPr>
          <p:cNvSpPr>
            <a:spLocks noGrp="1"/>
          </p:cNvSpPr>
          <p:nvPr/>
        </p:nvSpPr>
        <p:spPr>
          <a:xfrm>
            <a:off x="609600" y="16933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B0EA3DEA-EC12-4494-8CDA-2D43ADBC0AAE}"/>
              </a:ext>
            </a:extLst>
          </p:cNvPr>
          <p:cNvSpPr>
            <a:spLocks noGrp="1"/>
          </p:cNvSpPr>
          <p:nvPr/>
        </p:nvSpPr>
        <p:spPr>
          <a:xfrm>
            <a:off x="609600" y="16933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E945E57-942A-4282-A301-9039B5994D00}"/>
              </a:ext>
            </a:extLst>
          </p:cNvPr>
          <p:cNvSpPr>
            <a:spLocks noGrp="1"/>
          </p:cNvSpPr>
          <p:nvPr/>
        </p:nvSpPr>
        <p:spPr>
          <a:xfrm>
            <a:off x="626533" y="17610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Research
question</a:t>
            </a:r>
          </a:p>
        </p:txBody>
      </p:sp>
      <p:sp>
        <p:nvSpPr>
          <p:cNvPr id="18" name="Rectangle 17">
            <a:extLst>
              <a:ext uri="{FF2B5EF4-FFF2-40B4-BE49-F238E27FC236}">
                <a16:creationId xmlns:a16="http://schemas.microsoft.com/office/drawing/2014/main" id="{7E343FED-A07F-4B40-9886-7415B4F41171}"/>
              </a:ext>
            </a:extLst>
          </p:cNvPr>
          <p:cNvSpPr>
            <a:spLocks noGrp="1"/>
          </p:cNvSpPr>
          <p:nvPr/>
        </p:nvSpPr>
        <p:spPr>
          <a:xfrm>
            <a:off x="42502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151F98B0-0B7E-424E-829F-AAE4F68E9981}"/>
              </a:ext>
            </a:extLst>
          </p:cNvPr>
          <p:cNvSpPr>
            <a:spLocks noGrp="1"/>
          </p:cNvSpPr>
          <p:nvPr/>
        </p:nvSpPr>
        <p:spPr>
          <a:xfrm>
            <a:off x="79078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EF17330-2A3F-46A9-B5FC-10BEC5B6818C}"/>
              </a:ext>
            </a:extLst>
          </p:cNvPr>
          <p:cNvSpPr>
            <a:spLocks noGrp="1"/>
          </p:cNvSpPr>
          <p:nvPr/>
        </p:nvSpPr>
        <p:spPr>
          <a:xfrm>
            <a:off x="1219200" y="17610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When does the shape of the
production distribution shift?</a:t>
            </a:r>
          </a:p>
        </p:txBody>
      </p:sp>
      <p:sp>
        <p:nvSpPr>
          <p:cNvPr id="21" name="TextBox 20">
            <a:extLst>
              <a:ext uri="{FF2B5EF4-FFF2-40B4-BE49-F238E27FC236}">
                <a16:creationId xmlns:a16="http://schemas.microsoft.com/office/drawing/2014/main" id="{A95B8F11-3194-4F6C-8005-DE63E62DE94E}"/>
              </a:ext>
            </a:extLst>
          </p:cNvPr>
          <p:cNvSpPr>
            <a:spLocks noGrp="1"/>
          </p:cNvSpPr>
          <p:nvPr/>
        </p:nvSpPr>
        <p:spPr>
          <a:xfrm>
            <a:off x="43010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Which production class
does this year belong to?</a:t>
            </a:r>
          </a:p>
        </p:txBody>
      </p:sp>
      <p:sp>
        <p:nvSpPr>
          <p:cNvPr id="22" name="TextBox 21">
            <a:extLst>
              <a:ext uri="{FF2B5EF4-FFF2-40B4-BE49-F238E27FC236}">
                <a16:creationId xmlns:a16="http://schemas.microsoft.com/office/drawing/2014/main" id="{A82FA33B-D11C-48EF-8CF0-734F85D47929}"/>
              </a:ext>
            </a:extLst>
          </p:cNvPr>
          <p:cNvSpPr>
            <a:spLocks noGrp="1"/>
          </p:cNvSpPr>
          <p:nvPr/>
        </p:nvSpPr>
        <p:spPr>
          <a:xfrm>
            <a:off x="79586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What exact production level
does a year have?</a:t>
            </a:r>
          </a:p>
        </p:txBody>
      </p:sp>
      <p:sp>
        <p:nvSpPr>
          <p:cNvPr id="23" name="Rectangle 22">
            <a:extLst>
              <a:ext uri="{FF2B5EF4-FFF2-40B4-BE49-F238E27FC236}">
                <a16:creationId xmlns:a16="http://schemas.microsoft.com/office/drawing/2014/main" id="{799D8840-3A68-4842-8BE5-DAA5CB0C6E05}"/>
              </a:ext>
            </a:extLst>
          </p:cNvPr>
          <p:cNvSpPr>
            <a:spLocks noGrp="1"/>
          </p:cNvSpPr>
          <p:nvPr/>
        </p:nvSpPr>
        <p:spPr>
          <a:xfrm>
            <a:off x="609600" y="25569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D04A2241-2C88-499A-B61C-D880445558CE}"/>
              </a:ext>
            </a:extLst>
          </p:cNvPr>
          <p:cNvSpPr>
            <a:spLocks noGrp="1"/>
          </p:cNvSpPr>
          <p:nvPr/>
        </p:nvSpPr>
        <p:spPr>
          <a:xfrm>
            <a:off x="609600" y="25569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9D33E6A-682D-49B2-B8A5-7F6086011AAC}"/>
              </a:ext>
            </a:extLst>
          </p:cNvPr>
          <p:cNvSpPr>
            <a:spLocks noGrp="1"/>
          </p:cNvSpPr>
          <p:nvPr/>
        </p:nvSpPr>
        <p:spPr>
          <a:xfrm>
            <a:off x="626533" y="26246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Induction
criterion</a:t>
            </a:r>
          </a:p>
        </p:txBody>
      </p:sp>
      <p:sp>
        <p:nvSpPr>
          <p:cNvPr id="26" name="Rectangle 25">
            <a:extLst>
              <a:ext uri="{FF2B5EF4-FFF2-40B4-BE49-F238E27FC236}">
                <a16:creationId xmlns:a16="http://schemas.microsoft.com/office/drawing/2014/main" id="{6AF72716-FF59-42AE-9F70-37FA2E8B4870}"/>
              </a:ext>
            </a:extLst>
          </p:cNvPr>
          <p:cNvSpPr>
            <a:spLocks noGrp="1"/>
          </p:cNvSpPr>
          <p:nvPr/>
        </p:nvSpPr>
        <p:spPr>
          <a:xfrm>
            <a:off x="42502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4FDBE823-16E1-4DC6-B470-E7A74B40F827}"/>
              </a:ext>
            </a:extLst>
          </p:cNvPr>
          <p:cNvSpPr>
            <a:spLocks noGrp="1"/>
          </p:cNvSpPr>
          <p:nvPr/>
        </p:nvSpPr>
        <p:spPr>
          <a:xfrm>
            <a:off x="79078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FA130EB4-5BFB-4676-9571-C353E69C6112}"/>
              </a:ext>
            </a:extLst>
          </p:cNvPr>
          <p:cNvSpPr>
            <a:spLocks noGrp="1"/>
          </p:cNvSpPr>
          <p:nvPr/>
        </p:nvSpPr>
        <p:spPr>
          <a:xfrm>
            <a:off x="1219200" y="26246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Kolmogorov–Smirnov
two-sample test</a:t>
            </a:r>
          </a:p>
        </p:txBody>
      </p:sp>
      <p:sp>
        <p:nvSpPr>
          <p:cNvPr id="29" name="TextBox 28">
            <a:extLst>
              <a:ext uri="{FF2B5EF4-FFF2-40B4-BE49-F238E27FC236}">
                <a16:creationId xmlns:a16="http://schemas.microsoft.com/office/drawing/2014/main" id="{3AA49CB3-7C15-45C5-BBE7-9D24953FE7C2}"/>
              </a:ext>
            </a:extLst>
          </p:cNvPr>
          <p:cNvSpPr>
            <a:spLocks noGrp="1"/>
          </p:cNvSpPr>
          <p:nvPr/>
        </p:nvSpPr>
        <p:spPr>
          <a:xfrm>
            <a:off x="43010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FOIL information gain
(classification)</a:t>
            </a:r>
          </a:p>
        </p:txBody>
      </p:sp>
      <p:sp>
        <p:nvSpPr>
          <p:cNvPr id="30" name="TextBox 29">
            <a:extLst>
              <a:ext uri="{FF2B5EF4-FFF2-40B4-BE49-F238E27FC236}">
                <a16:creationId xmlns:a16="http://schemas.microsoft.com/office/drawing/2014/main" id="{932C6AD3-DF8A-4181-A034-28E503F79DD4}"/>
              </a:ext>
            </a:extLst>
          </p:cNvPr>
          <p:cNvSpPr>
            <a:spLocks noGrp="1"/>
          </p:cNvSpPr>
          <p:nvPr/>
        </p:nvSpPr>
        <p:spPr>
          <a:xfrm>
            <a:off x="79586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MSE / standard deviation
reduction</a:t>
            </a:r>
          </a:p>
        </p:txBody>
      </p:sp>
      <p:sp>
        <p:nvSpPr>
          <p:cNvPr id="31" name="Rectangle 30">
            <a:extLst>
              <a:ext uri="{FF2B5EF4-FFF2-40B4-BE49-F238E27FC236}">
                <a16:creationId xmlns:a16="http://schemas.microsoft.com/office/drawing/2014/main" id="{270EF03C-F7EF-428F-8312-FFF626E829D7}"/>
              </a:ext>
            </a:extLst>
          </p:cNvPr>
          <p:cNvSpPr>
            <a:spLocks noGrp="1"/>
          </p:cNvSpPr>
          <p:nvPr/>
        </p:nvSpPr>
        <p:spPr>
          <a:xfrm>
            <a:off x="609600" y="34205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9679B9CD-D8B5-4FD0-81DF-8FA19EA1E434}"/>
              </a:ext>
            </a:extLst>
          </p:cNvPr>
          <p:cNvSpPr>
            <a:spLocks noGrp="1"/>
          </p:cNvSpPr>
          <p:nvPr/>
        </p:nvSpPr>
        <p:spPr>
          <a:xfrm>
            <a:off x="609600" y="34205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3969EA5-75D8-4C80-B838-F9E89414A6EF}"/>
              </a:ext>
            </a:extLst>
          </p:cNvPr>
          <p:cNvSpPr>
            <a:spLocks noGrp="1"/>
          </p:cNvSpPr>
          <p:nvPr/>
        </p:nvSpPr>
        <p:spPr>
          <a:xfrm>
            <a:off x="626533" y="3488267"/>
            <a:ext cx="541867" cy="379463"/>
          </a:xfrm>
          <a:prstGeom prst="rect">
            <a:avLst/>
          </a:prstGeom>
          <a:noFill/>
        </p:spPr>
        <p:txBody>
          <a:bodyPr wrap="square">
            <a:spAutoFit/>
          </a:bodyPr>
          <a:lstStyle/>
          <a:p>
            <a:pPr algn="ctr">
              <a:buNone/>
            </a:pPr>
            <a:r>
              <a:rPr sz="933" b="1">
                <a:solidFill>
                  <a:srgbClr val="C4964A"/>
                </a:solidFill>
                <a:latin typeface="Calibri"/>
                <a:ea typeface="Calibri"/>
                <a:cs typeface="Calibri"/>
              </a:rPr>
              <a:t>Output
format</a:t>
            </a:r>
          </a:p>
        </p:txBody>
      </p:sp>
      <p:sp>
        <p:nvSpPr>
          <p:cNvPr id="34" name="Rectangle 33">
            <a:extLst>
              <a:ext uri="{FF2B5EF4-FFF2-40B4-BE49-F238E27FC236}">
                <a16:creationId xmlns:a16="http://schemas.microsoft.com/office/drawing/2014/main" id="{B01A1AAA-CA21-48BD-B894-B2F5CD64819E}"/>
              </a:ext>
            </a:extLst>
          </p:cNvPr>
          <p:cNvSpPr>
            <a:spLocks noGrp="1"/>
          </p:cNvSpPr>
          <p:nvPr/>
        </p:nvSpPr>
        <p:spPr>
          <a:xfrm>
            <a:off x="42502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ectangle 34">
            <a:extLst>
              <a:ext uri="{FF2B5EF4-FFF2-40B4-BE49-F238E27FC236}">
                <a16:creationId xmlns:a16="http://schemas.microsoft.com/office/drawing/2014/main" id="{2FB3F774-6672-4E83-88EE-7BB2678A940A}"/>
              </a:ext>
            </a:extLst>
          </p:cNvPr>
          <p:cNvSpPr>
            <a:spLocks noGrp="1"/>
          </p:cNvSpPr>
          <p:nvPr/>
        </p:nvSpPr>
        <p:spPr>
          <a:xfrm>
            <a:off x="79078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85B37C50-E6D8-4433-9CB0-474AF07E85E1}"/>
              </a:ext>
            </a:extLst>
          </p:cNvPr>
          <p:cNvSpPr>
            <a:spLocks noGrp="1"/>
          </p:cNvSpPr>
          <p:nvPr/>
        </p:nvSpPr>
        <p:spPr>
          <a:xfrm>
            <a:off x="1219200" y="34882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IF conditions
THEN distribution shifts ±X mhl</a:t>
            </a:r>
          </a:p>
        </p:txBody>
      </p:sp>
      <p:sp>
        <p:nvSpPr>
          <p:cNvPr id="37" name="TextBox 36">
            <a:extLst>
              <a:ext uri="{FF2B5EF4-FFF2-40B4-BE49-F238E27FC236}">
                <a16:creationId xmlns:a16="http://schemas.microsoft.com/office/drawing/2014/main" id="{36E277C0-B7A9-4093-B46E-B1834D84888E}"/>
              </a:ext>
            </a:extLst>
          </p:cNvPr>
          <p:cNvSpPr>
            <a:spLocks noGrp="1"/>
          </p:cNvSpPr>
          <p:nvPr/>
        </p:nvSpPr>
        <p:spPr>
          <a:xfrm>
            <a:off x="43010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class = Low / Med / High</a:t>
            </a:r>
          </a:p>
        </p:txBody>
      </p:sp>
      <p:sp>
        <p:nvSpPr>
          <p:cNvPr id="38" name="TextBox 37">
            <a:extLst>
              <a:ext uri="{FF2B5EF4-FFF2-40B4-BE49-F238E27FC236}">
                <a16:creationId xmlns:a16="http://schemas.microsoft.com/office/drawing/2014/main" id="{19756890-F17D-478A-A2F9-AAF4AA1268AB}"/>
              </a:ext>
            </a:extLst>
          </p:cNvPr>
          <p:cNvSpPr>
            <a:spLocks noGrp="1"/>
          </p:cNvSpPr>
          <p:nvPr/>
        </p:nvSpPr>
        <p:spPr>
          <a:xfrm>
            <a:off x="79586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production = linear model</a:t>
            </a:r>
          </a:p>
        </p:txBody>
      </p:sp>
      <p:sp>
        <p:nvSpPr>
          <p:cNvPr id="39" name="Rectangle 38">
            <a:extLst>
              <a:ext uri="{FF2B5EF4-FFF2-40B4-BE49-F238E27FC236}">
                <a16:creationId xmlns:a16="http://schemas.microsoft.com/office/drawing/2014/main" id="{CACDBA87-2CD7-4D32-B47B-FBCE9E91938A}"/>
              </a:ext>
            </a:extLst>
          </p:cNvPr>
          <p:cNvSpPr>
            <a:spLocks noGrp="1"/>
          </p:cNvSpPr>
          <p:nvPr/>
        </p:nvSpPr>
        <p:spPr>
          <a:xfrm>
            <a:off x="609600" y="42841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5D918679-9247-4DDB-9002-A588673574A2}"/>
              </a:ext>
            </a:extLst>
          </p:cNvPr>
          <p:cNvSpPr>
            <a:spLocks noGrp="1"/>
          </p:cNvSpPr>
          <p:nvPr/>
        </p:nvSpPr>
        <p:spPr>
          <a:xfrm>
            <a:off x="609600" y="42841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6AE28A17-76A9-490D-992E-FFE068E883A1}"/>
              </a:ext>
            </a:extLst>
          </p:cNvPr>
          <p:cNvSpPr>
            <a:spLocks noGrp="1"/>
          </p:cNvSpPr>
          <p:nvPr/>
        </p:nvSpPr>
        <p:spPr>
          <a:xfrm>
            <a:off x="626533" y="43518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advantage</a:t>
            </a:r>
          </a:p>
        </p:txBody>
      </p:sp>
      <p:sp>
        <p:nvSpPr>
          <p:cNvPr id="42" name="Rectangle 41">
            <a:extLst>
              <a:ext uri="{FF2B5EF4-FFF2-40B4-BE49-F238E27FC236}">
                <a16:creationId xmlns:a16="http://schemas.microsoft.com/office/drawing/2014/main" id="{44656FB1-7686-48A9-B2A1-1ED449317387}"/>
              </a:ext>
            </a:extLst>
          </p:cNvPr>
          <p:cNvSpPr>
            <a:spLocks noGrp="1"/>
          </p:cNvSpPr>
          <p:nvPr/>
        </p:nvSpPr>
        <p:spPr>
          <a:xfrm>
            <a:off x="42502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8420FC96-1FB7-41D2-BF88-B14CDE97B319}"/>
              </a:ext>
            </a:extLst>
          </p:cNvPr>
          <p:cNvSpPr>
            <a:spLocks noGrp="1"/>
          </p:cNvSpPr>
          <p:nvPr/>
        </p:nvSpPr>
        <p:spPr>
          <a:xfrm>
            <a:off x="79078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C5E15C69-5AC2-4E10-892C-5850143D7EEA}"/>
              </a:ext>
            </a:extLst>
          </p:cNvPr>
          <p:cNvSpPr>
            <a:spLocks noGrp="1"/>
          </p:cNvSpPr>
          <p:nvPr/>
        </p:nvSpPr>
        <p:spPr>
          <a:xfrm>
            <a:off x="1219200" y="4351867"/>
            <a:ext cx="3014133" cy="420756"/>
          </a:xfrm>
          <a:prstGeom prst="rect">
            <a:avLst/>
          </a:prstGeom>
          <a:noFill/>
        </p:spPr>
        <p:txBody>
          <a:bodyPr wrap="square">
            <a:spAutoFit/>
          </a:bodyPr>
          <a:lstStyle/>
          <a:p>
            <a:pPr algn="l">
              <a:buNone/>
            </a:pPr>
            <a:r>
              <a:rPr sz="1067">
                <a:solidFill>
                  <a:srgbClr val="C4964A"/>
                </a:solidFill>
                <a:latin typeface="Calibri"/>
                <a:ea typeface="Calibri"/>
                <a:cs typeface="Calibri"/>
              </a:rPr>
              <a:t>Non-parametric; no normality
assumption; no discretisation</a:t>
            </a:r>
          </a:p>
        </p:txBody>
      </p:sp>
      <p:sp>
        <p:nvSpPr>
          <p:cNvPr id="45" name="TextBox 44">
            <a:extLst>
              <a:ext uri="{FF2B5EF4-FFF2-40B4-BE49-F238E27FC236}">
                <a16:creationId xmlns:a16="http://schemas.microsoft.com/office/drawing/2014/main" id="{93E82EFB-8484-476B-A347-2CEA94F85F3B}"/>
              </a:ext>
            </a:extLst>
          </p:cNvPr>
          <p:cNvSpPr>
            <a:spLocks noGrp="1"/>
          </p:cNvSpPr>
          <p:nvPr/>
        </p:nvSpPr>
        <p:spPr>
          <a:xfrm>
            <a:off x="43010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Well-established, readable;
strong classification baseline</a:t>
            </a:r>
          </a:p>
        </p:txBody>
      </p:sp>
      <p:sp>
        <p:nvSpPr>
          <p:cNvPr id="46" name="TextBox 45">
            <a:extLst>
              <a:ext uri="{FF2B5EF4-FFF2-40B4-BE49-F238E27FC236}">
                <a16:creationId xmlns:a16="http://schemas.microsoft.com/office/drawing/2014/main" id="{B82D6C69-7FE4-4E5A-86DF-F55C946CBC40}"/>
              </a:ext>
            </a:extLst>
          </p:cNvPr>
          <p:cNvSpPr>
            <a:spLocks noGrp="1"/>
          </p:cNvSpPr>
          <p:nvPr/>
        </p:nvSpPr>
        <p:spPr>
          <a:xfrm>
            <a:off x="79586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Piecewise regression;
quantitative predictions</a:t>
            </a:r>
          </a:p>
        </p:txBody>
      </p:sp>
      <p:sp>
        <p:nvSpPr>
          <p:cNvPr id="47" name="Rectangle 46">
            <a:extLst>
              <a:ext uri="{FF2B5EF4-FFF2-40B4-BE49-F238E27FC236}">
                <a16:creationId xmlns:a16="http://schemas.microsoft.com/office/drawing/2014/main" id="{552009FB-7C5A-4F1A-8B00-4705307D6FCB}"/>
              </a:ext>
            </a:extLst>
          </p:cNvPr>
          <p:cNvSpPr>
            <a:spLocks noGrp="1"/>
          </p:cNvSpPr>
          <p:nvPr/>
        </p:nvSpPr>
        <p:spPr>
          <a:xfrm>
            <a:off x="609600" y="51477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ectangle 47">
            <a:extLst>
              <a:ext uri="{FF2B5EF4-FFF2-40B4-BE49-F238E27FC236}">
                <a16:creationId xmlns:a16="http://schemas.microsoft.com/office/drawing/2014/main" id="{A9A780FC-01B5-44D3-A36C-202A8735BE45}"/>
              </a:ext>
            </a:extLst>
          </p:cNvPr>
          <p:cNvSpPr>
            <a:spLocks noGrp="1"/>
          </p:cNvSpPr>
          <p:nvPr/>
        </p:nvSpPr>
        <p:spPr>
          <a:xfrm>
            <a:off x="609600" y="51477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37348435-1F8A-4E7F-A035-3986D73EC9A9}"/>
              </a:ext>
            </a:extLst>
          </p:cNvPr>
          <p:cNvSpPr>
            <a:spLocks noGrp="1"/>
          </p:cNvSpPr>
          <p:nvPr/>
        </p:nvSpPr>
        <p:spPr>
          <a:xfrm>
            <a:off x="626533" y="52154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limitation</a:t>
            </a:r>
          </a:p>
        </p:txBody>
      </p:sp>
      <p:sp>
        <p:nvSpPr>
          <p:cNvPr id="50" name="Rectangle 49">
            <a:extLst>
              <a:ext uri="{FF2B5EF4-FFF2-40B4-BE49-F238E27FC236}">
                <a16:creationId xmlns:a16="http://schemas.microsoft.com/office/drawing/2014/main" id="{BE978BBC-158F-4CA1-84AF-3E555CD1E5E3}"/>
              </a:ext>
            </a:extLst>
          </p:cNvPr>
          <p:cNvSpPr>
            <a:spLocks noGrp="1"/>
          </p:cNvSpPr>
          <p:nvPr/>
        </p:nvSpPr>
        <p:spPr>
          <a:xfrm>
            <a:off x="42502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D08A2CA7-921E-4E0F-8F13-DBE9D622CF45}"/>
              </a:ext>
            </a:extLst>
          </p:cNvPr>
          <p:cNvSpPr>
            <a:spLocks noGrp="1"/>
          </p:cNvSpPr>
          <p:nvPr/>
        </p:nvSpPr>
        <p:spPr>
          <a:xfrm>
            <a:off x="79078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1F134924-0189-40C8-A3AC-CF1C3E972619}"/>
              </a:ext>
            </a:extLst>
          </p:cNvPr>
          <p:cNvSpPr>
            <a:spLocks noGrp="1"/>
          </p:cNvSpPr>
          <p:nvPr/>
        </p:nvSpPr>
        <p:spPr>
          <a:xfrm>
            <a:off x="1219200" y="5215467"/>
            <a:ext cx="3014133" cy="420756"/>
          </a:xfrm>
          <a:prstGeom prst="rect">
            <a:avLst/>
          </a:prstGeom>
          <a:noFill/>
        </p:spPr>
        <p:txBody>
          <a:bodyPr wrap="square">
            <a:spAutoFit/>
          </a:bodyPr>
          <a:lstStyle/>
          <a:p>
            <a:pPr algn="l">
              <a:buNone/>
            </a:pPr>
            <a:r>
              <a:rPr sz="1067">
                <a:solidFill>
                  <a:srgbClr val="8B2F2F"/>
                </a:solidFill>
                <a:latin typeface="Calibri"/>
                <a:ea typeface="Calibri"/>
                <a:cs typeface="Calibri"/>
              </a:rPr>
              <a:t>Finds distributional shift,
not magnitude prediction</a:t>
            </a:r>
          </a:p>
        </p:txBody>
      </p:sp>
      <p:sp>
        <p:nvSpPr>
          <p:cNvPr id="53" name="TextBox 52">
            <a:extLst>
              <a:ext uri="{FF2B5EF4-FFF2-40B4-BE49-F238E27FC236}">
                <a16:creationId xmlns:a16="http://schemas.microsoft.com/office/drawing/2014/main" id="{21DD9225-08C2-436F-898F-615F256A59C3}"/>
              </a:ext>
            </a:extLst>
          </p:cNvPr>
          <p:cNvSpPr>
            <a:spLocks noGrp="1"/>
          </p:cNvSpPr>
          <p:nvPr/>
        </p:nvSpPr>
        <p:spPr>
          <a:xfrm>
            <a:off x="43010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Requires tertile-discretised
target (loses information)</a:t>
            </a:r>
          </a:p>
        </p:txBody>
      </p:sp>
      <p:sp>
        <p:nvSpPr>
          <p:cNvPr id="54" name="TextBox 53">
            <a:extLst>
              <a:ext uri="{FF2B5EF4-FFF2-40B4-BE49-F238E27FC236}">
                <a16:creationId xmlns:a16="http://schemas.microsoft.com/office/drawing/2014/main" id="{6F203086-DB3E-4C10-BB3F-4FF876589C35}"/>
              </a:ext>
            </a:extLst>
          </p:cNvPr>
          <p:cNvSpPr>
            <a:spLocks noGrp="1"/>
          </p:cNvSpPr>
          <p:nvPr/>
        </p:nvSpPr>
        <p:spPr>
          <a:xfrm>
            <a:off x="79586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Collapses to global model
on small datasets (n&lt;89)</a:t>
            </a:r>
          </a:p>
        </p:txBody>
      </p:sp>
      <p:sp>
        <p:nvSpPr>
          <p:cNvPr id="55" name="Rectangle 54">
            <a:extLst>
              <a:ext uri="{FF2B5EF4-FFF2-40B4-BE49-F238E27FC236}">
                <a16:creationId xmlns:a16="http://schemas.microsoft.com/office/drawing/2014/main" id="{A80F32BB-5BC4-46EB-92D2-122540E5EEED}"/>
              </a:ext>
            </a:extLst>
          </p:cNvPr>
          <p:cNvSpPr>
            <a:spLocks noGrp="1"/>
          </p:cNvSpPr>
          <p:nvPr/>
        </p:nvSpPr>
        <p:spPr>
          <a:xfrm>
            <a:off x="609600" y="6112933"/>
            <a:ext cx="10972800" cy="6434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63727D9C-8039-4AF5-8155-EC9409C616E6}"/>
              </a:ext>
            </a:extLst>
          </p:cNvPr>
          <p:cNvSpPr>
            <a:spLocks noGrp="1"/>
          </p:cNvSpPr>
          <p:nvPr/>
        </p:nvSpPr>
        <p:spPr>
          <a:xfrm>
            <a:off x="609600" y="6180667"/>
            <a:ext cx="10972800" cy="276999"/>
          </a:xfrm>
          <a:prstGeom prst="rect">
            <a:avLst/>
          </a:prstGeom>
          <a:noFill/>
        </p:spPr>
        <p:txBody>
          <a:bodyPr wrap="square">
            <a:spAutoFit/>
          </a:bodyPr>
          <a:lstStyle/>
          <a:p>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a:ext uri="{FF2B5EF4-FFF2-40B4-BE49-F238E27FC236}">
                <a16:creationId xmlns:a16="http://schemas.microsoft.com/office/drawing/2014/main" id="{753CB96E-4E77-4C96-9374-54FCADEB9FB9}"/>
              </a:ext>
            </a:extLst>
          </p:cNvPr>
          <p:cNvSpPr>
            <a:spLocks noGrp="1"/>
          </p:cNvSpPr>
          <p:nvPr/>
        </p:nvSpPr>
        <p:spPr>
          <a:xfrm>
            <a:off x="609600" y="6451601"/>
            <a:ext cx="10972800" cy="256545"/>
          </a:xfrm>
          <a:prstGeom prst="rect">
            <a:avLst/>
          </a:prstGeom>
          <a:noFill/>
        </p:spPr>
        <p:txBody>
          <a:bodyPr wrap="square">
            <a:spAutoFit/>
          </a:bodyPr>
          <a:lstStyle/>
          <a:p>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177073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D33F51-6AC4-4F1B-8D24-7C1FFA1D145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D791F004-7DEB-407B-88E7-DF08197FB046}"/>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Cross-Algorithm Validation</a:t>
            </a:r>
          </a:p>
        </p:txBody>
      </p:sp>
      <p:sp>
        <p:nvSpPr>
          <p:cNvPr id="4" name="Text 2">
            <a:extLst>
              <a:ext uri="{FF2B5EF4-FFF2-40B4-BE49-F238E27FC236}">
                <a16:creationId xmlns:a16="http://schemas.microsoft.com/office/drawing/2014/main" id="{F9C37F91-1508-4556-880B-9CD4465F498A}"/>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Three independent optimisation criteria — same feature families</a:t>
            </a:r>
          </a:p>
        </p:txBody>
      </p:sp>
      <p:sp>
        <p:nvSpPr>
          <p:cNvPr id="5" name="Shape 3">
            <a:extLst>
              <a:ext uri="{FF2B5EF4-FFF2-40B4-BE49-F238E27FC236}">
                <a16:creationId xmlns:a16="http://schemas.microsoft.com/office/drawing/2014/main" id="{2971FE5A-03CC-45BA-AD00-0CB985C11A3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D07B0808-191B-425C-94B5-783C15A7F39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7 / 12</a:t>
            </a:r>
          </a:p>
        </p:txBody>
      </p:sp>
      <p:sp>
        <p:nvSpPr>
          <p:cNvPr id="7" name="Shape 5">
            <a:extLst>
              <a:ext uri="{FF2B5EF4-FFF2-40B4-BE49-F238E27FC236}">
                <a16:creationId xmlns:a16="http://schemas.microsoft.com/office/drawing/2014/main" id="{0A7F8C76-9D07-45DA-A099-9A402A509348}"/>
              </a:ext>
            </a:extLst>
          </p:cNvPr>
          <p:cNvSpPr>
            <a:spLocks noGrp="1"/>
          </p:cNvSpPr>
          <p:nvPr/>
        </p:nvSpPr>
        <p:spPr>
          <a:xfrm>
            <a:off x="548640" y="1316736"/>
            <a:ext cx="2499360" cy="426720"/>
          </a:xfrm>
          <a:prstGeom prst="rect">
            <a:avLst/>
          </a:prstGeom>
          <a:solidFill>
            <a:srgbClr val="6B2737"/>
          </a:solidFill>
          <a:ln w="12700">
            <a:solidFill>
              <a:srgbClr val="6B2737"/>
            </a:solidFill>
            <a:prstDash val="solid"/>
          </a:ln>
        </p:spPr>
        <p:txBody>
          <a:bodyPr/>
          <a:lstStyle/>
          <a:p>
            <a:endParaRPr/>
          </a:p>
        </p:txBody>
      </p:sp>
      <p:sp>
        <p:nvSpPr>
          <p:cNvPr id="8" name="Text 6">
            <a:extLst>
              <a:ext uri="{FF2B5EF4-FFF2-40B4-BE49-F238E27FC236}">
                <a16:creationId xmlns:a16="http://schemas.microsoft.com/office/drawing/2014/main" id="{B4E18EFE-BDE2-4A96-BA0F-296055E8455F}"/>
              </a:ext>
            </a:extLst>
          </p:cNvPr>
          <p:cNvSpPr>
            <a:spLocks noGrp="1"/>
          </p:cNvSpPr>
          <p:nvPr/>
        </p:nvSpPr>
        <p:spPr>
          <a:xfrm>
            <a:off x="609600" y="1341120"/>
            <a:ext cx="23774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Feature</a:t>
            </a:r>
          </a:p>
        </p:txBody>
      </p:sp>
      <p:sp>
        <p:nvSpPr>
          <p:cNvPr id="9" name="Shape 7">
            <a:extLst>
              <a:ext uri="{FF2B5EF4-FFF2-40B4-BE49-F238E27FC236}">
                <a16:creationId xmlns:a16="http://schemas.microsoft.com/office/drawing/2014/main" id="{ADD7C061-9C10-4E6A-AEEA-FA23D852B2C7}"/>
              </a:ext>
            </a:extLst>
          </p:cNvPr>
          <p:cNvSpPr>
            <a:spLocks noGrp="1"/>
          </p:cNvSpPr>
          <p:nvPr/>
        </p:nvSpPr>
        <p:spPr>
          <a:xfrm>
            <a:off x="3048000" y="1316736"/>
            <a:ext cx="2682240" cy="426720"/>
          </a:xfrm>
          <a:prstGeom prst="rect">
            <a:avLst/>
          </a:prstGeom>
          <a:solidFill>
            <a:srgbClr val="6B2737"/>
          </a:solidFill>
          <a:ln w="12700">
            <a:solidFill>
              <a:srgbClr val="6B2737"/>
            </a:solidFill>
            <a:prstDash val="solid"/>
          </a:ln>
        </p:spPr>
        <p:txBody>
          <a:bodyPr/>
          <a:lstStyle/>
          <a:p>
            <a:endParaRPr/>
          </a:p>
        </p:txBody>
      </p:sp>
      <p:sp>
        <p:nvSpPr>
          <p:cNvPr id="10" name="Text 8">
            <a:extLst>
              <a:ext uri="{FF2B5EF4-FFF2-40B4-BE49-F238E27FC236}">
                <a16:creationId xmlns:a16="http://schemas.microsoft.com/office/drawing/2014/main" id="{245E1D5D-9017-4475-B023-3B7F22A6FAED}"/>
              </a:ext>
            </a:extLst>
          </p:cNvPr>
          <p:cNvSpPr>
            <a:spLocks noGrp="1"/>
          </p:cNvSpPr>
          <p:nvPr/>
        </p:nvSpPr>
        <p:spPr>
          <a:xfrm>
            <a:off x="3108960" y="1341120"/>
            <a:ext cx="256032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CarenR (KS test)</a:t>
            </a:r>
          </a:p>
        </p:txBody>
      </p:sp>
      <p:sp>
        <p:nvSpPr>
          <p:cNvPr id="11" name="Shape 9">
            <a:extLst>
              <a:ext uri="{FF2B5EF4-FFF2-40B4-BE49-F238E27FC236}">
                <a16:creationId xmlns:a16="http://schemas.microsoft.com/office/drawing/2014/main" id="{E55D2CC6-2DC9-4DD5-B2A6-9E57D9DB4DA5}"/>
              </a:ext>
            </a:extLst>
          </p:cNvPr>
          <p:cNvSpPr>
            <a:spLocks noGrp="1"/>
          </p:cNvSpPr>
          <p:nvPr/>
        </p:nvSpPr>
        <p:spPr>
          <a:xfrm>
            <a:off x="5730240" y="1316736"/>
            <a:ext cx="2194560" cy="426720"/>
          </a:xfrm>
          <a:prstGeom prst="rect">
            <a:avLst/>
          </a:prstGeom>
          <a:solidFill>
            <a:srgbClr val="6B2737"/>
          </a:solidFill>
          <a:ln w="12700">
            <a:solidFill>
              <a:srgbClr val="6B2737"/>
            </a:solidFill>
            <a:prstDash val="solid"/>
          </a:ln>
        </p:spPr>
        <p:txBody>
          <a:bodyPr/>
          <a:lstStyle/>
          <a:p>
            <a:endParaRPr/>
          </a:p>
        </p:txBody>
      </p:sp>
      <p:sp>
        <p:nvSpPr>
          <p:cNvPr id="12" name="Text 10">
            <a:extLst>
              <a:ext uri="{FF2B5EF4-FFF2-40B4-BE49-F238E27FC236}">
                <a16:creationId xmlns:a16="http://schemas.microsoft.com/office/drawing/2014/main" id="{FFDAE6E3-D01C-4083-A294-E8D943A1DAA8}"/>
              </a:ext>
            </a:extLst>
          </p:cNvPr>
          <p:cNvSpPr>
            <a:spLocks noGrp="1"/>
          </p:cNvSpPr>
          <p:nvPr/>
        </p:nvSpPr>
        <p:spPr>
          <a:xfrm>
            <a:off x="579120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RIPPER (FOIL gain)</a:t>
            </a:r>
          </a:p>
        </p:txBody>
      </p:sp>
      <p:sp>
        <p:nvSpPr>
          <p:cNvPr id="13" name="Shape 11">
            <a:extLst>
              <a:ext uri="{FF2B5EF4-FFF2-40B4-BE49-F238E27FC236}">
                <a16:creationId xmlns:a16="http://schemas.microsoft.com/office/drawing/2014/main" id="{C73A7331-77EF-4ED5-B669-68EFDD4A4CDA}"/>
              </a:ext>
            </a:extLst>
          </p:cNvPr>
          <p:cNvSpPr>
            <a:spLocks noGrp="1"/>
          </p:cNvSpPr>
          <p:nvPr/>
        </p:nvSpPr>
        <p:spPr>
          <a:xfrm>
            <a:off x="7924800" y="1316736"/>
            <a:ext cx="2194560" cy="426720"/>
          </a:xfrm>
          <a:prstGeom prst="rect">
            <a:avLst/>
          </a:prstGeom>
          <a:solidFill>
            <a:srgbClr val="6B2737"/>
          </a:solidFill>
          <a:ln w="12700">
            <a:solidFill>
              <a:srgbClr val="6B2737"/>
            </a:solidFill>
            <a:prstDash val="solid"/>
          </a:ln>
        </p:spPr>
        <p:txBody>
          <a:bodyPr/>
          <a:lstStyle/>
          <a:p>
            <a:endParaRPr/>
          </a:p>
        </p:txBody>
      </p:sp>
      <p:sp>
        <p:nvSpPr>
          <p:cNvPr id="14" name="Text 12">
            <a:extLst>
              <a:ext uri="{FF2B5EF4-FFF2-40B4-BE49-F238E27FC236}">
                <a16:creationId xmlns:a16="http://schemas.microsoft.com/office/drawing/2014/main" id="{D51BDB27-C62D-477A-A621-6B4AC92165B2}"/>
              </a:ext>
            </a:extLst>
          </p:cNvPr>
          <p:cNvSpPr>
            <a:spLocks noGrp="1"/>
          </p:cNvSpPr>
          <p:nvPr/>
        </p:nvSpPr>
        <p:spPr>
          <a:xfrm>
            <a:off x="798576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M5Rules (MSE min.)</a:t>
            </a:r>
          </a:p>
        </p:txBody>
      </p:sp>
      <p:sp>
        <p:nvSpPr>
          <p:cNvPr id="15" name="Shape 13">
            <a:extLst>
              <a:ext uri="{FF2B5EF4-FFF2-40B4-BE49-F238E27FC236}">
                <a16:creationId xmlns:a16="http://schemas.microsoft.com/office/drawing/2014/main" id="{9E6CA229-BDCB-4E7E-ADAE-B7D26F1D208A}"/>
              </a:ext>
            </a:extLst>
          </p:cNvPr>
          <p:cNvSpPr>
            <a:spLocks noGrp="1"/>
          </p:cNvSpPr>
          <p:nvPr/>
        </p:nvSpPr>
        <p:spPr>
          <a:xfrm>
            <a:off x="10119360" y="1316736"/>
            <a:ext cx="1889760" cy="426720"/>
          </a:xfrm>
          <a:prstGeom prst="rect">
            <a:avLst/>
          </a:prstGeom>
          <a:solidFill>
            <a:srgbClr val="6B2737"/>
          </a:solidFill>
          <a:ln w="12700">
            <a:solidFill>
              <a:srgbClr val="6B2737"/>
            </a:solidFill>
            <a:prstDash val="solid"/>
          </a:ln>
        </p:spPr>
        <p:txBody>
          <a:bodyPr/>
          <a:lstStyle/>
          <a:p>
            <a:endParaRPr/>
          </a:p>
        </p:txBody>
      </p:sp>
      <p:sp>
        <p:nvSpPr>
          <p:cNvPr id="16" name="Text 14">
            <a:extLst>
              <a:ext uri="{FF2B5EF4-FFF2-40B4-BE49-F238E27FC236}">
                <a16:creationId xmlns:a16="http://schemas.microsoft.com/office/drawing/2014/main" id="{0A79DADE-2D4D-4591-8C27-9192F1A3C0BB}"/>
              </a:ext>
            </a:extLst>
          </p:cNvPr>
          <p:cNvSpPr>
            <a:spLocks noGrp="1"/>
          </p:cNvSpPr>
          <p:nvPr/>
        </p:nvSpPr>
        <p:spPr>
          <a:xfrm>
            <a:off x="10180320" y="1341120"/>
            <a:ext cx="17678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Confidence</a:t>
            </a:r>
          </a:p>
        </p:txBody>
      </p:sp>
      <p:sp>
        <p:nvSpPr>
          <p:cNvPr id="17" name="Shape 15">
            <a:extLst>
              <a:ext uri="{FF2B5EF4-FFF2-40B4-BE49-F238E27FC236}">
                <a16:creationId xmlns:a16="http://schemas.microsoft.com/office/drawing/2014/main" id="{4B50D9A7-FDA6-43C2-B6DE-44FDE17BCB96}"/>
              </a:ext>
            </a:extLst>
          </p:cNvPr>
          <p:cNvSpPr>
            <a:spLocks noGrp="1"/>
          </p:cNvSpPr>
          <p:nvPr/>
        </p:nvSpPr>
        <p:spPr>
          <a:xfrm>
            <a:off x="548640" y="1804416"/>
            <a:ext cx="2499360" cy="1072896"/>
          </a:xfrm>
          <a:prstGeom prst="rect">
            <a:avLst/>
          </a:prstGeom>
          <a:solidFill>
            <a:srgbClr val="EDE5DA"/>
          </a:solidFill>
          <a:ln w="6350">
            <a:solidFill>
              <a:srgbClr val="D4CACA"/>
            </a:solidFill>
            <a:prstDash val="solid"/>
          </a:ln>
        </p:spPr>
        <p:txBody>
          <a:bodyPr/>
          <a:lstStyle/>
          <a:p>
            <a:endParaRPr/>
          </a:p>
        </p:txBody>
      </p:sp>
      <p:sp>
        <p:nvSpPr>
          <p:cNvPr id="18" name="Shape 16">
            <a:extLst>
              <a:ext uri="{FF2B5EF4-FFF2-40B4-BE49-F238E27FC236}">
                <a16:creationId xmlns:a16="http://schemas.microsoft.com/office/drawing/2014/main" id="{7A43E2A4-BBF7-4D03-8F16-F0677AFED4A5}"/>
              </a:ext>
            </a:extLst>
          </p:cNvPr>
          <p:cNvSpPr>
            <a:spLocks noGrp="1"/>
          </p:cNvSpPr>
          <p:nvPr/>
        </p:nvSpPr>
        <p:spPr>
          <a:xfrm>
            <a:off x="548640" y="1804416"/>
            <a:ext cx="73152" cy="1072896"/>
          </a:xfrm>
          <a:prstGeom prst="rect">
            <a:avLst/>
          </a:prstGeom>
          <a:solidFill>
            <a:srgbClr val="6B2737"/>
          </a:solidFill>
          <a:ln w="12700">
            <a:solidFill>
              <a:srgbClr val="6B2737"/>
            </a:solidFill>
            <a:prstDash val="solid"/>
          </a:ln>
        </p:spPr>
        <p:txBody>
          <a:bodyPr/>
          <a:lstStyle/>
          <a:p>
            <a:endParaRPr/>
          </a:p>
        </p:txBody>
      </p:sp>
      <p:sp>
        <p:nvSpPr>
          <p:cNvPr id="19" name="Text 17">
            <a:extLst>
              <a:ext uri="{FF2B5EF4-FFF2-40B4-BE49-F238E27FC236}">
                <a16:creationId xmlns:a16="http://schemas.microsoft.com/office/drawing/2014/main" id="{E0844B0D-0101-4C20-BE0F-810B955A36CF}"/>
              </a:ext>
            </a:extLst>
          </p:cNvPr>
          <p:cNvSpPr>
            <a:spLocks noGrp="1"/>
          </p:cNvSpPr>
          <p:nvPr/>
        </p:nvSpPr>
        <p:spPr>
          <a:xfrm>
            <a:off x="719328" y="1877568"/>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Harvest soil water</a:t>
            </a:r>
          </a:p>
          <a:p>
            <a:r>
              <a:rPr sz="1333">
                <a:solidFill>
                  <a:srgbClr val="1C1214"/>
                </a:solidFill>
                <a:latin typeface="Calibri"/>
                <a:ea typeface="Calibri"/>
                <a:cs typeface="Calibri"/>
              </a:rPr>
              <a:t>(swa_hv_y1_b20)</a:t>
            </a:r>
          </a:p>
        </p:txBody>
      </p:sp>
      <p:sp>
        <p:nvSpPr>
          <p:cNvPr id="20" name="Shape 18">
            <a:extLst>
              <a:ext uri="{FF2B5EF4-FFF2-40B4-BE49-F238E27FC236}">
                <a16:creationId xmlns:a16="http://schemas.microsoft.com/office/drawing/2014/main" id="{8CEB2CBD-FF78-4FB9-AAA5-755D903B9A2A}"/>
              </a:ext>
            </a:extLst>
          </p:cNvPr>
          <p:cNvSpPr>
            <a:spLocks noGrp="1"/>
          </p:cNvSpPr>
          <p:nvPr/>
        </p:nvSpPr>
        <p:spPr>
          <a:xfrm>
            <a:off x="3048000" y="1804416"/>
            <a:ext cx="2682240" cy="1072896"/>
          </a:xfrm>
          <a:prstGeom prst="rect">
            <a:avLst/>
          </a:prstGeom>
          <a:solidFill>
            <a:srgbClr val="EDE5DA"/>
          </a:solidFill>
          <a:ln w="6350">
            <a:solidFill>
              <a:srgbClr val="D4CACA"/>
            </a:solidFill>
            <a:prstDash val="solid"/>
          </a:ln>
        </p:spPr>
        <p:txBody>
          <a:bodyPr/>
          <a:lstStyle/>
          <a:p>
            <a:endParaRPr/>
          </a:p>
        </p:txBody>
      </p:sp>
      <p:sp>
        <p:nvSpPr>
          <p:cNvPr id="21" name="Text 19">
            <a:extLst>
              <a:ext uri="{FF2B5EF4-FFF2-40B4-BE49-F238E27FC236}">
                <a16:creationId xmlns:a16="http://schemas.microsoft.com/office/drawing/2014/main" id="{C9B76C67-8B99-4263-8EC7-AF7C5A95DE0F}"/>
              </a:ext>
            </a:extLst>
          </p:cNvPr>
          <p:cNvSpPr>
            <a:spLocks noGrp="1"/>
          </p:cNvSpPr>
          <p:nvPr/>
        </p:nvSpPr>
        <p:spPr>
          <a:xfrm>
            <a:off x="3121152" y="1877568"/>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54% of RDD rules</a:t>
            </a:r>
          </a:p>
          <a:p>
            <a:r>
              <a:rPr sz="1267">
                <a:solidFill>
                  <a:srgbClr val="1C1214"/>
                </a:solidFill>
                <a:latin typeface="Calibri"/>
                <a:ea typeface="Calibri"/>
                <a:cs typeface="Calibri"/>
              </a:rPr>
              <a:t>✓  25% of RVV rules</a:t>
            </a:r>
          </a:p>
        </p:txBody>
      </p:sp>
      <p:sp>
        <p:nvSpPr>
          <p:cNvPr id="22" name="Shape 20">
            <a:extLst>
              <a:ext uri="{FF2B5EF4-FFF2-40B4-BE49-F238E27FC236}">
                <a16:creationId xmlns:a16="http://schemas.microsoft.com/office/drawing/2014/main" id="{EDF3C5D8-A7F1-4C46-9DA3-CDCD6E492526}"/>
              </a:ext>
            </a:extLst>
          </p:cNvPr>
          <p:cNvSpPr>
            <a:spLocks noGrp="1"/>
          </p:cNvSpPr>
          <p:nvPr/>
        </p:nvSpPr>
        <p:spPr>
          <a:xfrm>
            <a:off x="5730240" y="1804416"/>
            <a:ext cx="2194560" cy="1072896"/>
          </a:xfrm>
          <a:prstGeom prst="rect">
            <a:avLst/>
          </a:prstGeom>
          <a:solidFill>
            <a:srgbClr val="EDE5DA"/>
          </a:solidFill>
          <a:ln w="6350">
            <a:solidFill>
              <a:srgbClr val="D4CACA"/>
            </a:solidFill>
            <a:prstDash val="solid"/>
          </a:ln>
        </p:spPr>
        <p:txBody>
          <a:bodyPr/>
          <a:lstStyle/>
          <a:p>
            <a:endParaRPr/>
          </a:p>
        </p:txBody>
      </p:sp>
      <p:sp>
        <p:nvSpPr>
          <p:cNvPr id="23" name="Text 21">
            <a:extLst>
              <a:ext uri="{FF2B5EF4-FFF2-40B4-BE49-F238E27FC236}">
                <a16:creationId xmlns:a16="http://schemas.microsoft.com/office/drawing/2014/main" id="{50C42969-0978-41C8-93DC-FDA13179A792}"/>
              </a:ext>
            </a:extLst>
          </p:cNvPr>
          <p:cNvSpPr>
            <a:spLocks noGrp="1"/>
          </p:cNvSpPr>
          <p:nvPr/>
        </p:nvSpPr>
        <p:spPr>
          <a:xfrm>
            <a:off x="580339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24" name="Shape 22">
            <a:extLst>
              <a:ext uri="{FF2B5EF4-FFF2-40B4-BE49-F238E27FC236}">
                <a16:creationId xmlns:a16="http://schemas.microsoft.com/office/drawing/2014/main" id="{4E13DC51-3066-42D1-8D42-528F88A75D14}"/>
              </a:ext>
            </a:extLst>
          </p:cNvPr>
          <p:cNvSpPr>
            <a:spLocks noGrp="1"/>
          </p:cNvSpPr>
          <p:nvPr/>
        </p:nvSpPr>
        <p:spPr>
          <a:xfrm>
            <a:off x="7924800" y="1804416"/>
            <a:ext cx="2194560" cy="1072896"/>
          </a:xfrm>
          <a:prstGeom prst="rect">
            <a:avLst/>
          </a:prstGeom>
          <a:solidFill>
            <a:srgbClr val="EDE5DA"/>
          </a:solidFill>
          <a:ln w="6350">
            <a:solidFill>
              <a:srgbClr val="D4CACA"/>
            </a:solidFill>
            <a:prstDash val="solid"/>
          </a:ln>
        </p:spPr>
        <p:txBody>
          <a:bodyPr/>
          <a:lstStyle/>
          <a:p>
            <a:endParaRPr/>
          </a:p>
        </p:txBody>
      </p:sp>
      <p:sp>
        <p:nvSpPr>
          <p:cNvPr id="25" name="Text 23">
            <a:extLst>
              <a:ext uri="{FF2B5EF4-FFF2-40B4-BE49-F238E27FC236}">
                <a16:creationId xmlns:a16="http://schemas.microsoft.com/office/drawing/2014/main" id="{2883C409-8508-4D76-969E-0A1D560BD2BB}"/>
              </a:ext>
            </a:extLst>
          </p:cNvPr>
          <p:cNvSpPr>
            <a:spLocks noGrp="1"/>
          </p:cNvSpPr>
          <p:nvPr/>
        </p:nvSpPr>
        <p:spPr>
          <a:xfrm>
            <a:off x="799795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−2.3/mm RDD</a:t>
            </a:r>
          </a:p>
          <a:p>
            <a:r>
              <a:rPr sz="1267">
                <a:solidFill>
                  <a:srgbClr val="1C1214"/>
                </a:solidFill>
                <a:latin typeface="Calibri"/>
                <a:ea typeface="Calibri"/>
                <a:cs typeface="Calibri"/>
              </a:rPr>
              <a:t>✓  −8.1/mm RVV</a:t>
            </a:r>
          </a:p>
        </p:txBody>
      </p:sp>
      <p:sp>
        <p:nvSpPr>
          <p:cNvPr id="26" name="Shape 24">
            <a:extLst>
              <a:ext uri="{FF2B5EF4-FFF2-40B4-BE49-F238E27FC236}">
                <a16:creationId xmlns:a16="http://schemas.microsoft.com/office/drawing/2014/main" id="{2602490B-5326-412B-9205-8FF296504005}"/>
              </a:ext>
            </a:extLst>
          </p:cNvPr>
          <p:cNvSpPr>
            <a:spLocks noGrp="1"/>
          </p:cNvSpPr>
          <p:nvPr/>
        </p:nvSpPr>
        <p:spPr>
          <a:xfrm>
            <a:off x="10119360" y="1804416"/>
            <a:ext cx="1889760" cy="1072896"/>
          </a:xfrm>
          <a:prstGeom prst="rect">
            <a:avLst/>
          </a:prstGeom>
          <a:solidFill>
            <a:srgbClr val="EDE5DA"/>
          </a:solidFill>
          <a:ln w="6350">
            <a:solidFill>
              <a:srgbClr val="D4CACA"/>
            </a:solidFill>
            <a:prstDash val="solid"/>
          </a:ln>
        </p:spPr>
        <p:txBody>
          <a:bodyPr/>
          <a:lstStyle/>
          <a:p>
            <a:endParaRPr/>
          </a:p>
        </p:txBody>
      </p:sp>
      <p:sp>
        <p:nvSpPr>
          <p:cNvPr id="27" name="Text 25">
            <a:extLst>
              <a:ext uri="{FF2B5EF4-FFF2-40B4-BE49-F238E27FC236}">
                <a16:creationId xmlns:a16="http://schemas.microsoft.com/office/drawing/2014/main" id="{083DA8E2-59A1-406D-AED0-D984D55564D4}"/>
              </a:ext>
            </a:extLst>
          </p:cNvPr>
          <p:cNvSpPr>
            <a:spLocks noGrp="1"/>
          </p:cNvSpPr>
          <p:nvPr/>
        </p:nvSpPr>
        <p:spPr>
          <a:xfrm>
            <a:off x="10192512" y="1877568"/>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28" name="Shape 26">
            <a:extLst>
              <a:ext uri="{FF2B5EF4-FFF2-40B4-BE49-F238E27FC236}">
                <a16:creationId xmlns:a16="http://schemas.microsoft.com/office/drawing/2014/main" id="{2B66E355-3931-4B0C-AD06-377C8CAF9596}"/>
              </a:ext>
            </a:extLst>
          </p:cNvPr>
          <p:cNvSpPr>
            <a:spLocks noGrp="1"/>
          </p:cNvSpPr>
          <p:nvPr/>
        </p:nvSpPr>
        <p:spPr>
          <a:xfrm>
            <a:off x="548640" y="2950464"/>
            <a:ext cx="2499360" cy="1072896"/>
          </a:xfrm>
          <a:prstGeom prst="rect">
            <a:avLst/>
          </a:prstGeom>
          <a:solidFill>
            <a:srgbClr val="FFFFFF"/>
          </a:solidFill>
          <a:ln w="6350">
            <a:solidFill>
              <a:srgbClr val="D4CACA"/>
            </a:solidFill>
            <a:prstDash val="solid"/>
          </a:ln>
        </p:spPr>
        <p:txBody>
          <a:bodyPr/>
          <a:lstStyle/>
          <a:p>
            <a:endParaRPr/>
          </a:p>
        </p:txBody>
      </p:sp>
      <p:sp>
        <p:nvSpPr>
          <p:cNvPr id="29" name="Shape 27">
            <a:extLst>
              <a:ext uri="{FF2B5EF4-FFF2-40B4-BE49-F238E27FC236}">
                <a16:creationId xmlns:a16="http://schemas.microsoft.com/office/drawing/2014/main" id="{2DC6C5FA-8096-47BD-B786-9E09460EA8A3}"/>
              </a:ext>
            </a:extLst>
          </p:cNvPr>
          <p:cNvSpPr>
            <a:spLocks noGrp="1"/>
          </p:cNvSpPr>
          <p:nvPr/>
        </p:nvSpPr>
        <p:spPr>
          <a:xfrm>
            <a:off x="548640" y="2950464"/>
            <a:ext cx="73152" cy="1072896"/>
          </a:xfrm>
          <a:prstGeom prst="rect">
            <a:avLst/>
          </a:prstGeom>
          <a:solidFill>
            <a:srgbClr val="2A7F7F"/>
          </a:solidFill>
          <a:ln w="12700">
            <a:solidFill>
              <a:srgbClr val="2A7F7F"/>
            </a:solidFill>
            <a:prstDash val="solid"/>
          </a:ln>
        </p:spPr>
        <p:txBody>
          <a:bodyPr/>
          <a:lstStyle/>
          <a:p>
            <a:endParaRPr/>
          </a:p>
        </p:txBody>
      </p:sp>
      <p:sp>
        <p:nvSpPr>
          <p:cNvPr id="30" name="Text 28">
            <a:extLst>
              <a:ext uri="{FF2B5EF4-FFF2-40B4-BE49-F238E27FC236}">
                <a16:creationId xmlns:a16="http://schemas.microsoft.com/office/drawing/2014/main" id="{78A698DC-95DC-4382-A7F1-CFAA3DECD17E}"/>
              </a:ext>
            </a:extLst>
          </p:cNvPr>
          <p:cNvSpPr>
            <a:spLocks noGrp="1"/>
          </p:cNvSpPr>
          <p:nvPr/>
        </p:nvSpPr>
        <p:spPr>
          <a:xfrm>
            <a:off x="719328" y="3023616"/>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LAI family</a:t>
            </a:r>
          </a:p>
          <a:p>
            <a:r>
              <a:rPr sz="1333">
                <a:solidFill>
                  <a:srgbClr val="1C1214"/>
                </a:solidFill>
                <a:latin typeface="Calibri"/>
                <a:ea typeface="Calibri"/>
                <a:cs typeface="Calibri"/>
              </a:rPr>
              <a:t>(iaf_hv, iaf_fl)</a:t>
            </a:r>
          </a:p>
        </p:txBody>
      </p:sp>
      <p:sp>
        <p:nvSpPr>
          <p:cNvPr id="31" name="Shape 29">
            <a:extLst>
              <a:ext uri="{FF2B5EF4-FFF2-40B4-BE49-F238E27FC236}">
                <a16:creationId xmlns:a16="http://schemas.microsoft.com/office/drawing/2014/main" id="{FCC943C9-9AD1-427E-A3CC-E4AB6F4C94D1}"/>
              </a:ext>
            </a:extLst>
          </p:cNvPr>
          <p:cNvSpPr>
            <a:spLocks noGrp="1"/>
          </p:cNvSpPr>
          <p:nvPr/>
        </p:nvSpPr>
        <p:spPr>
          <a:xfrm>
            <a:off x="3048000" y="2950464"/>
            <a:ext cx="2682240" cy="1072896"/>
          </a:xfrm>
          <a:prstGeom prst="rect">
            <a:avLst/>
          </a:prstGeom>
          <a:solidFill>
            <a:srgbClr val="FFFFFF"/>
          </a:solidFill>
          <a:ln w="6350">
            <a:solidFill>
              <a:srgbClr val="D4CACA"/>
            </a:solidFill>
            <a:prstDash val="solid"/>
          </a:ln>
        </p:spPr>
        <p:txBody>
          <a:bodyPr/>
          <a:lstStyle/>
          <a:p>
            <a:endParaRPr/>
          </a:p>
        </p:txBody>
      </p:sp>
      <p:sp>
        <p:nvSpPr>
          <p:cNvPr id="32" name="Text 30">
            <a:extLst>
              <a:ext uri="{FF2B5EF4-FFF2-40B4-BE49-F238E27FC236}">
                <a16:creationId xmlns:a16="http://schemas.microsoft.com/office/drawing/2014/main" id="{50ECB441-368C-4A31-A5B3-E5807F9563A8}"/>
              </a:ext>
            </a:extLst>
          </p:cNvPr>
          <p:cNvSpPr>
            <a:spLocks noGrp="1"/>
          </p:cNvSpPr>
          <p:nvPr/>
        </p:nvSpPr>
        <p:spPr>
          <a:xfrm>
            <a:off x="3121152" y="3023616"/>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All 20 RVV rules</a:t>
            </a:r>
          </a:p>
          <a:p>
            <a:r>
              <a:rPr sz="1267">
                <a:solidFill>
                  <a:srgbClr val="1C1214"/>
                </a:solidFill>
                <a:latin typeface="Calibri"/>
                <a:ea typeface="Calibri"/>
                <a:cs typeface="Calibri"/>
              </a:rPr>
              <a:t>✓  Minor RDD signal</a:t>
            </a:r>
          </a:p>
        </p:txBody>
      </p:sp>
      <p:sp>
        <p:nvSpPr>
          <p:cNvPr id="33" name="Shape 31">
            <a:extLst>
              <a:ext uri="{FF2B5EF4-FFF2-40B4-BE49-F238E27FC236}">
                <a16:creationId xmlns:a16="http://schemas.microsoft.com/office/drawing/2014/main" id="{D89913B2-2334-43EC-86CD-F37E99D0A9B1}"/>
              </a:ext>
            </a:extLst>
          </p:cNvPr>
          <p:cNvSpPr>
            <a:spLocks noGrp="1"/>
          </p:cNvSpPr>
          <p:nvPr/>
        </p:nvSpPr>
        <p:spPr>
          <a:xfrm>
            <a:off x="5730240" y="2950464"/>
            <a:ext cx="2194560" cy="1072896"/>
          </a:xfrm>
          <a:prstGeom prst="rect">
            <a:avLst/>
          </a:prstGeom>
          <a:solidFill>
            <a:srgbClr val="FFFFFF"/>
          </a:solidFill>
          <a:ln w="6350">
            <a:solidFill>
              <a:srgbClr val="D4CACA"/>
            </a:solidFill>
            <a:prstDash val="solid"/>
          </a:ln>
        </p:spPr>
        <p:txBody>
          <a:bodyPr/>
          <a:lstStyle/>
          <a:p>
            <a:endParaRPr/>
          </a:p>
        </p:txBody>
      </p:sp>
      <p:sp>
        <p:nvSpPr>
          <p:cNvPr id="34" name="Text 32">
            <a:extLst>
              <a:ext uri="{FF2B5EF4-FFF2-40B4-BE49-F238E27FC236}">
                <a16:creationId xmlns:a16="http://schemas.microsoft.com/office/drawing/2014/main" id="{82C8F580-20F1-41CE-8566-6FB4AAE53281}"/>
              </a:ext>
            </a:extLst>
          </p:cNvPr>
          <p:cNvSpPr>
            <a:spLocks noGrp="1"/>
          </p:cNvSpPr>
          <p:nvPr/>
        </p:nvSpPr>
        <p:spPr>
          <a:xfrm>
            <a:off x="580339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Rules 1–2</a:t>
            </a:r>
          </a:p>
        </p:txBody>
      </p:sp>
      <p:sp>
        <p:nvSpPr>
          <p:cNvPr id="35" name="Shape 33">
            <a:extLst>
              <a:ext uri="{FF2B5EF4-FFF2-40B4-BE49-F238E27FC236}">
                <a16:creationId xmlns:a16="http://schemas.microsoft.com/office/drawing/2014/main" id="{B324D88F-38DA-4F7B-B2B3-477C871B8DD4}"/>
              </a:ext>
            </a:extLst>
          </p:cNvPr>
          <p:cNvSpPr>
            <a:spLocks noGrp="1"/>
          </p:cNvSpPr>
          <p:nvPr/>
        </p:nvSpPr>
        <p:spPr>
          <a:xfrm>
            <a:off x="7924800" y="2950464"/>
            <a:ext cx="2194560" cy="1072896"/>
          </a:xfrm>
          <a:prstGeom prst="rect">
            <a:avLst/>
          </a:prstGeom>
          <a:solidFill>
            <a:srgbClr val="FFFFFF"/>
          </a:solidFill>
          <a:ln w="6350">
            <a:solidFill>
              <a:srgbClr val="D4CACA"/>
            </a:solidFill>
            <a:prstDash val="solid"/>
          </a:ln>
        </p:spPr>
        <p:txBody>
          <a:bodyPr/>
          <a:lstStyle/>
          <a:p>
            <a:endParaRPr/>
          </a:p>
        </p:txBody>
      </p:sp>
      <p:sp>
        <p:nvSpPr>
          <p:cNvPr id="36" name="Text 34">
            <a:extLst>
              <a:ext uri="{FF2B5EF4-FFF2-40B4-BE49-F238E27FC236}">
                <a16:creationId xmlns:a16="http://schemas.microsoft.com/office/drawing/2014/main" id="{C4EE1D4B-9C45-4056-BE5D-7751E8571817}"/>
              </a:ext>
            </a:extLst>
          </p:cNvPr>
          <p:cNvSpPr>
            <a:spLocks noGrp="1"/>
          </p:cNvSpPr>
          <p:nvPr/>
        </p:nvSpPr>
        <p:spPr>
          <a:xfrm>
            <a:off x="799795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−2064/unit RVV</a:t>
            </a:r>
          </a:p>
        </p:txBody>
      </p:sp>
      <p:sp>
        <p:nvSpPr>
          <p:cNvPr id="37" name="Shape 35">
            <a:extLst>
              <a:ext uri="{FF2B5EF4-FFF2-40B4-BE49-F238E27FC236}">
                <a16:creationId xmlns:a16="http://schemas.microsoft.com/office/drawing/2014/main" id="{63313FFD-DAC3-4C18-83C7-B19EEB1DBD99}"/>
              </a:ext>
            </a:extLst>
          </p:cNvPr>
          <p:cNvSpPr>
            <a:spLocks noGrp="1"/>
          </p:cNvSpPr>
          <p:nvPr/>
        </p:nvSpPr>
        <p:spPr>
          <a:xfrm>
            <a:off x="10119360" y="2950464"/>
            <a:ext cx="1889760" cy="1072896"/>
          </a:xfrm>
          <a:prstGeom prst="rect">
            <a:avLst/>
          </a:prstGeom>
          <a:solidFill>
            <a:srgbClr val="FFFFFF"/>
          </a:solidFill>
          <a:ln w="6350">
            <a:solidFill>
              <a:srgbClr val="D4CACA"/>
            </a:solidFill>
            <a:prstDash val="solid"/>
          </a:ln>
        </p:spPr>
        <p:txBody>
          <a:bodyPr/>
          <a:lstStyle/>
          <a:p>
            <a:endParaRPr/>
          </a:p>
        </p:txBody>
      </p:sp>
      <p:sp>
        <p:nvSpPr>
          <p:cNvPr id="38" name="Text 36">
            <a:extLst>
              <a:ext uri="{FF2B5EF4-FFF2-40B4-BE49-F238E27FC236}">
                <a16:creationId xmlns:a16="http://schemas.microsoft.com/office/drawing/2014/main" id="{DA50DEB0-05FD-40B4-9CCB-E44851F6BEEC}"/>
              </a:ext>
            </a:extLst>
          </p:cNvPr>
          <p:cNvSpPr>
            <a:spLocks noGrp="1"/>
          </p:cNvSpPr>
          <p:nvPr/>
        </p:nvSpPr>
        <p:spPr>
          <a:xfrm>
            <a:off x="10192512" y="3023616"/>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39" name="Shape 37">
            <a:extLst>
              <a:ext uri="{FF2B5EF4-FFF2-40B4-BE49-F238E27FC236}">
                <a16:creationId xmlns:a16="http://schemas.microsoft.com/office/drawing/2014/main" id="{C151F180-EB51-462E-B14F-7206DEEFF024}"/>
              </a:ext>
            </a:extLst>
          </p:cNvPr>
          <p:cNvSpPr>
            <a:spLocks noGrp="1"/>
          </p:cNvSpPr>
          <p:nvPr/>
        </p:nvSpPr>
        <p:spPr>
          <a:xfrm>
            <a:off x="548640" y="4096512"/>
            <a:ext cx="2499360" cy="1072896"/>
          </a:xfrm>
          <a:prstGeom prst="rect">
            <a:avLst/>
          </a:prstGeom>
          <a:solidFill>
            <a:srgbClr val="EDE5DA"/>
          </a:solidFill>
          <a:ln w="6350">
            <a:solidFill>
              <a:srgbClr val="D4CACA"/>
            </a:solidFill>
            <a:prstDash val="solid"/>
          </a:ln>
        </p:spPr>
        <p:txBody>
          <a:bodyPr/>
          <a:lstStyle/>
          <a:p>
            <a:endParaRPr/>
          </a:p>
        </p:txBody>
      </p:sp>
      <p:sp>
        <p:nvSpPr>
          <p:cNvPr id="40" name="Shape 38">
            <a:extLst>
              <a:ext uri="{FF2B5EF4-FFF2-40B4-BE49-F238E27FC236}">
                <a16:creationId xmlns:a16="http://schemas.microsoft.com/office/drawing/2014/main" id="{3719DF8F-F367-4241-ABBA-CC316370C4BD}"/>
              </a:ext>
            </a:extLst>
          </p:cNvPr>
          <p:cNvSpPr>
            <a:spLocks noGrp="1"/>
          </p:cNvSpPr>
          <p:nvPr/>
        </p:nvSpPr>
        <p:spPr>
          <a:xfrm>
            <a:off x="548640" y="4096512"/>
            <a:ext cx="73152" cy="1072896"/>
          </a:xfrm>
          <a:prstGeom prst="rect">
            <a:avLst/>
          </a:prstGeom>
          <a:solidFill>
            <a:srgbClr val="C4964A"/>
          </a:solidFill>
          <a:ln w="12700">
            <a:solidFill>
              <a:srgbClr val="C4964A"/>
            </a:solidFill>
            <a:prstDash val="solid"/>
          </a:ln>
        </p:spPr>
        <p:txBody>
          <a:bodyPr/>
          <a:lstStyle/>
          <a:p>
            <a:endParaRPr/>
          </a:p>
        </p:txBody>
      </p:sp>
      <p:sp>
        <p:nvSpPr>
          <p:cNvPr id="41" name="Text 39">
            <a:extLst>
              <a:ext uri="{FF2B5EF4-FFF2-40B4-BE49-F238E27FC236}">
                <a16:creationId xmlns:a16="http://schemas.microsoft.com/office/drawing/2014/main" id="{58091A52-6318-4A6C-828C-3A5B6D1E586F}"/>
              </a:ext>
            </a:extLst>
          </p:cNvPr>
          <p:cNvSpPr>
            <a:spLocks noGrp="1"/>
          </p:cNvSpPr>
          <p:nvPr/>
        </p:nvSpPr>
        <p:spPr>
          <a:xfrm>
            <a:off x="719328" y="4169664"/>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Prev-yr summer temp</a:t>
            </a:r>
          </a:p>
          <a:p>
            <a:r>
              <a:rPr sz="1333">
                <a:solidFill>
                  <a:srgbClr val="1C1214"/>
                </a:solidFill>
                <a:latin typeface="Calibri"/>
                <a:ea typeface="Calibri"/>
                <a:cs typeface="Calibri"/>
              </a:rPr>
              <a:t>(tm_sm_y0_a20)</a:t>
            </a:r>
          </a:p>
        </p:txBody>
      </p:sp>
      <p:sp>
        <p:nvSpPr>
          <p:cNvPr id="42" name="Shape 40">
            <a:extLst>
              <a:ext uri="{FF2B5EF4-FFF2-40B4-BE49-F238E27FC236}">
                <a16:creationId xmlns:a16="http://schemas.microsoft.com/office/drawing/2014/main" id="{4655EE4A-4D5D-4AFE-941C-29EAFEA0BDD3}"/>
              </a:ext>
            </a:extLst>
          </p:cNvPr>
          <p:cNvSpPr>
            <a:spLocks noGrp="1"/>
          </p:cNvSpPr>
          <p:nvPr/>
        </p:nvSpPr>
        <p:spPr>
          <a:xfrm>
            <a:off x="3048000" y="4096512"/>
            <a:ext cx="2682240" cy="1072896"/>
          </a:xfrm>
          <a:prstGeom prst="rect">
            <a:avLst/>
          </a:prstGeom>
          <a:solidFill>
            <a:srgbClr val="EDE5DA"/>
          </a:solidFill>
          <a:ln w="6350">
            <a:solidFill>
              <a:srgbClr val="D4CACA"/>
            </a:solidFill>
            <a:prstDash val="solid"/>
          </a:ln>
        </p:spPr>
        <p:txBody>
          <a:bodyPr/>
          <a:lstStyle/>
          <a:p>
            <a:endParaRPr/>
          </a:p>
        </p:txBody>
      </p:sp>
      <p:sp>
        <p:nvSpPr>
          <p:cNvPr id="43" name="Text 41">
            <a:extLst>
              <a:ext uri="{FF2B5EF4-FFF2-40B4-BE49-F238E27FC236}">
                <a16:creationId xmlns:a16="http://schemas.microsoft.com/office/drawing/2014/main" id="{951E3AA1-5FB6-4FE0-AD83-FF26E841ED69}"/>
              </a:ext>
            </a:extLst>
          </p:cNvPr>
          <p:cNvSpPr>
            <a:spLocks noGrp="1"/>
          </p:cNvSpPr>
          <p:nvPr/>
        </p:nvSpPr>
        <p:spPr>
          <a:xfrm>
            <a:off x="3121152" y="4169664"/>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RVV carry-over</a:t>
            </a:r>
          </a:p>
        </p:txBody>
      </p:sp>
      <p:sp>
        <p:nvSpPr>
          <p:cNvPr id="44" name="Shape 42">
            <a:extLst>
              <a:ext uri="{FF2B5EF4-FFF2-40B4-BE49-F238E27FC236}">
                <a16:creationId xmlns:a16="http://schemas.microsoft.com/office/drawing/2014/main" id="{619632C1-287F-4C29-AA1D-84BE52D8D75D}"/>
              </a:ext>
            </a:extLst>
          </p:cNvPr>
          <p:cNvSpPr>
            <a:spLocks noGrp="1"/>
          </p:cNvSpPr>
          <p:nvPr/>
        </p:nvSpPr>
        <p:spPr>
          <a:xfrm>
            <a:off x="5730240" y="4096512"/>
            <a:ext cx="2194560" cy="1072896"/>
          </a:xfrm>
          <a:prstGeom prst="rect">
            <a:avLst/>
          </a:prstGeom>
          <a:solidFill>
            <a:srgbClr val="EDE5DA"/>
          </a:solidFill>
          <a:ln w="6350">
            <a:solidFill>
              <a:srgbClr val="D4CACA"/>
            </a:solidFill>
            <a:prstDash val="solid"/>
          </a:ln>
        </p:spPr>
        <p:txBody>
          <a:bodyPr/>
          <a:lstStyle/>
          <a:p>
            <a:endParaRPr/>
          </a:p>
        </p:txBody>
      </p:sp>
      <p:sp>
        <p:nvSpPr>
          <p:cNvPr id="45" name="Text 43">
            <a:extLst>
              <a:ext uri="{FF2B5EF4-FFF2-40B4-BE49-F238E27FC236}">
                <a16:creationId xmlns:a16="http://schemas.microsoft.com/office/drawing/2014/main" id="{478156A7-1260-422C-B05C-59A5D4707809}"/>
              </a:ext>
            </a:extLst>
          </p:cNvPr>
          <p:cNvSpPr>
            <a:spLocks noGrp="1"/>
          </p:cNvSpPr>
          <p:nvPr/>
        </p:nvSpPr>
        <p:spPr>
          <a:xfrm>
            <a:off x="580339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46" name="Shape 44">
            <a:extLst>
              <a:ext uri="{FF2B5EF4-FFF2-40B4-BE49-F238E27FC236}">
                <a16:creationId xmlns:a16="http://schemas.microsoft.com/office/drawing/2014/main" id="{27E6BBE7-3C29-4529-A151-6543B842425A}"/>
              </a:ext>
            </a:extLst>
          </p:cNvPr>
          <p:cNvSpPr>
            <a:spLocks noGrp="1"/>
          </p:cNvSpPr>
          <p:nvPr/>
        </p:nvSpPr>
        <p:spPr>
          <a:xfrm>
            <a:off x="7924800" y="4096512"/>
            <a:ext cx="2194560" cy="1072896"/>
          </a:xfrm>
          <a:prstGeom prst="rect">
            <a:avLst/>
          </a:prstGeom>
          <a:solidFill>
            <a:srgbClr val="EDE5DA"/>
          </a:solidFill>
          <a:ln w="6350">
            <a:solidFill>
              <a:srgbClr val="D4CACA"/>
            </a:solidFill>
            <a:prstDash val="solid"/>
          </a:ln>
        </p:spPr>
        <p:txBody>
          <a:bodyPr/>
          <a:lstStyle/>
          <a:p>
            <a:endParaRPr/>
          </a:p>
        </p:txBody>
      </p:sp>
      <p:sp>
        <p:nvSpPr>
          <p:cNvPr id="47" name="Text 45">
            <a:extLst>
              <a:ext uri="{FF2B5EF4-FFF2-40B4-BE49-F238E27FC236}">
                <a16:creationId xmlns:a16="http://schemas.microsoft.com/office/drawing/2014/main" id="{3B9EEF1C-6688-4C2A-BE21-0E897F0DA20A}"/>
              </a:ext>
            </a:extLst>
          </p:cNvPr>
          <p:cNvSpPr>
            <a:spLocks noGrp="1"/>
          </p:cNvSpPr>
          <p:nvPr/>
        </p:nvSpPr>
        <p:spPr>
          <a:xfrm>
            <a:off x="799795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+17.2/°C RVV</a:t>
            </a:r>
          </a:p>
        </p:txBody>
      </p:sp>
      <p:sp>
        <p:nvSpPr>
          <p:cNvPr id="48" name="Shape 46">
            <a:extLst>
              <a:ext uri="{FF2B5EF4-FFF2-40B4-BE49-F238E27FC236}">
                <a16:creationId xmlns:a16="http://schemas.microsoft.com/office/drawing/2014/main" id="{824AAFFA-88C4-448D-A29C-69B946A10A58}"/>
              </a:ext>
            </a:extLst>
          </p:cNvPr>
          <p:cNvSpPr>
            <a:spLocks noGrp="1"/>
          </p:cNvSpPr>
          <p:nvPr/>
        </p:nvSpPr>
        <p:spPr>
          <a:xfrm>
            <a:off x="10119360" y="4096512"/>
            <a:ext cx="1889760" cy="1072896"/>
          </a:xfrm>
          <a:prstGeom prst="rect">
            <a:avLst/>
          </a:prstGeom>
          <a:solidFill>
            <a:srgbClr val="EDE5DA"/>
          </a:solidFill>
          <a:ln w="6350">
            <a:solidFill>
              <a:srgbClr val="D4CACA"/>
            </a:solidFill>
            <a:prstDash val="solid"/>
          </a:ln>
        </p:spPr>
        <p:txBody>
          <a:bodyPr/>
          <a:lstStyle/>
          <a:p>
            <a:endParaRPr/>
          </a:p>
        </p:txBody>
      </p:sp>
      <p:sp>
        <p:nvSpPr>
          <p:cNvPr id="49" name="Text 47">
            <a:extLst>
              <a:ext uri="{FF2B5EF4-FFF2-40B4-BE49-F238E27FC236}">
                <a16:creationId xmlns:a16="http://schemas.microsoft.com/office/drawing/2014/main" id="{002807A3-BA2A-4995-8724-D955B18D1BD5}"/>
              </a:ext>
            </a:extLst>
          </p:cNvPr>
          <p:cNvSpPr>
            <a:spLocks noGrp="1"/>
          </p:cNvSpPr>
          <p:nvPr/>
        </p:nvSpPr>
        <p:spPr>
          <a:xfrm>
            <a:off x="10192512" y="4169664"/>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RVV focus</a:t>
            </a:r>
          </a:p>
        </p:txBody>
      </p:sp>
      <p:sp>
        <p:nvSpPr>
          <p:cNvPr id="50" name="Shape 48">
            <a:extLst>
              <a:ext uri="{FF2B5EF4-FFF2-40B4-BE49-F238E27FC236}">
                <a16:creationId xmlns:a16="http://schemas.microsoft.com/office/drawing/2014/main" id="{805B3CC1-7E9B-473B-BDAF-1164D1C53C47}"/>
              </a:ext>
            </a:extLst>
          </p:cNvPr>
          <p:cNvSpPr>
            <a:spLocks noGrp="1"/>
          </p:cNvSpPr>
          <p:nvPr/>
        </p:nvSpPr>
        <p:spPr>
          <a:xfrm>
            <a:off x="548640" y="5242560"/>
            <a:ext cx="2499360" cy="1072896"/>
          </a:xfrm>
          <a:prstGeom prst="rect">
            <a:avLst/>
          </a:prstGeom>
          <a:solidFill>
            <a:srgbClr val="FFFFFF"/>
          </a:solidFill>
          <a:ln w="6350">
            <a:solidFill>
              <a:srgbClr val="D4CACA"/>
            </a:solidFill>
            <a:prstDash val="solid"/>
          </a:ln>
        </p:spPr>
        <p:txBody>
          <a:bodyPr/>
          <a:lstStyle/>
          <a:p>
            <a:endParaRPr/>
          </a:p>
        </p:txBody>
      </p:sp>
      <p:sp>
        <p:nvSpPr>
          <p:cNvPr id="51" name="Shape 49">
            <a:extLst>
              <a:ext uri="{FF2B5EF4-FFF2-40B4-BE49-F238E27FC236}">
                <a16:creationId xmlns:a16="http://schemas.microsoft.com/office/drawing/2014/main" id="{1EBAD162-00A3-41C4-83D7-904B9DA8E0F3}"/>
              </a:ext>
            </a:extLst>
          </p:cNvPr>
          <p:cNvSpPr>
            <a:spLocks noGrp="1"/>
          </p:cNvSpPr>
          <p:nvPr/>
        </p:nvSpPr>
        <p:spPr>
          <a:xfrm>
            <a:off x="548640" y="5242560"/>
            <a:ext cx="73152" cy="1072896"/>
          </a:xfrm>
          <a:prstGeom prst="rect">
            <a:avLst/>
          </a:prstGeom>
          <a:solidFill>
            <a:srgbClr val="5A4042"/>
          </a:solidFill>
          <a:ln w="12700">
            <a:solidFill>
              <a:srgbClr val="5A4042"/>
            </a:solidFill>
            <a:prstDash val="solid"/>
          </a:ln>
        </p:spPr>
        <p:txBody>
          <a:bodyPr/>
          <a:lstStyle/>
          <a:p>
            <a:endParaRPr/>
          </a:p>
        </p:txBody>
      </p:sp>
      <p:sp>
        <p:nvSpPr>
          <p:cNvPr id="52" name="Text 50">
            <a:extLst>
              <a:ext uri="{FF2B5EF4-FFF2-40B4-BE49-F238E27FC236}">
                <a16:creationId xmlns:a16="http://schemas.microsoft.com/office/drawing/2014/main" id="{516CFFE9-9CEB-4D30-8C4C-AFB793A5915A}"/>
              </a:ext>
            </a:extLst>
          </p:cNvPr>
          <p:cNvSpPr>
            <a:spLocks noGrp="1"/>
          </p:cNvSpPr>
          <p:nvPr/>
        </p:nvSpPr>
        <p:spPr>
          <a:xfrm>
            <a:off x="719328" y="5315712"/>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Wet days post-flowering</a:t>
            </a:r>
          </a:p>
          <a:p>
            <a:r>
              <a:rPr sz="1333">
                <a:solidFill>
                  <a:srgbClr val="1C1214"/>
                </a:solidFill>
                <a:latin typeface="Calibri"/>
                <a:ea typeface="Calibri"/>
                <a:cs typeface="Calibri"/>
              </a:rPr>
              <a:t>(days.rf_fl)</a:t>
            </a:r>
          </a:p>
        </p:txBody>
      </p:sp>
      <p:sp>
        <p:nvSpPr>
          <p:cNvPr id="53" name="Shape 51">
            <a:extLst>
              <a:ext uri="{FF2B5EF4-FFF2-40B4-BE49-F238E27FC236}">
                <a16:creationId xmlns:a16="http://schemas.microsoft.com/office/drawing/2014/main" id="{D0D13A9E-1C76-4FA3-8292-173AF826A428}"/>
              </a:ext>
            </a:extLst>
          </p:cNvPr>
          <p:cNvSpPr>
            <a:spLocks noGrp="1"/>
          </p:cNvSpPr>
          <p:nvPr/>
        </p:nvSpPr>
        <p:spPr>
          <a:xfrm>
            <a:off x="3048000" y="5242560"/>
            <a:ext cx="2682240" cy="1072896"/>
          </a:xfrm>
          <a:prstGeom prst="rect">
            <a:avLst/>
          </a:prstGeom>
          <a:solidFill>
            <a:srgbClr val="FFFFFF"/>
          </a:solidFill>
          <a:ln w="6350">
            <a:solidFill>
              <a:srgbClr val="D4CACA"/>
            </a:solidFill>
            <a:prstDash val="solid"/>
          </a:ln>
        </p:spPr>
        <p:txBody>
          <a:bodyPr/>
          <a:lstStyle/>
          <a:p>
            <a:endParaRPr/>
          </a:p>
        </p:txBody>
      </p:sp>
      <p:sp>
        <p:nvSpPr>
          <p:cNvPr id="54" name="Text 52">
            <a:extLst>
              <a:ext uri="{FF2B5EF4-FFF2-40B4-BE49-F238E27FC236}">
                <a16:creationId xmlns:a16="http://schemas.microsoft.com/office/drawing/2014/main" id="{0BE84686-874A-4FAE-8FA0-C5331A784938}"/>
              </a:ext>
            </a:extLst>
          </p:cNvPr>
          <p:cNvSpPr>
            <a:spLocks noGrp="1"/>
          </p:cNvSpPr>
          <p:nvPr/>
        </p:nvSpPr>
        <p:spPr>
          <a:xfrm>
            <a:off x="3121152" y="5315712"/>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21% of RDD rules</a:t>
            </a:r>
          </a:p>
        </p:txBody>
      </p:sp>
      <p:sp>
        <p:nvSpPr>
          <p:cNvPr id="55" name="Shape 53">
            <a:extLst>
              <a:ext uri="{FF2B5EF4-FFF2-40B4-BE49-F238E27FC236}">
                <a16:creationId xmlns:a16="http://schemas.microsoft.com/office/drawing/2014/main" id="{E7A6C55F-555B-4DC9-8B78-85E6E8C5AF9E}"/>
              </a:ext>
            </a:extLst>
          </p:cNvPr>
          <p:cNvSpPr>
            <a:spLocks noGrp="1"/>
          </p:cNvSpPr>
          <p:nvPr/>
        </p:nvSpPr>
        <p:spPr>
          <a:xfrm>
            <a:off x="5730240" y="5242560"/>
            <a:ext cx="2194560" cy="1072896"/>
          </a:xfrm>
          <a:prstGeom prst="rect">
            <a:avLst/>
          </a:prstGeom>
          <a:solidFill>
            <a:srgbClr val="FFFFFF"/>
          </a:solidFill>
          <a:ln w="6350">
            <a:solidFill>
              <a:srgbClr val="D4CACA"/>
            </a:solidFill>
            <a:prstDash val="solid"/>
          </a:ln>
        </p:spPr>
        <p:txBody>
          <a:bodyPr/>
          <a:lstStyle/>
          <a:p>
            <a:endParaRPr/>
          </a:p>
        </p:txBody>
      </p:sp>
      <p:sp>
        <p:nvSpPr>
          <p:cNvPr id="56" name="Text 54">
            <a:extLst>
              <a:ext uri="{FF2B5EF4-FFF2-40B4-BE49-F238E27FC236}">
                <a16:creationId xmlns:a16="http://schemas.microsoft.com/office/drawing/2014/main" id="{DC66C6A8-3837-4FC3-BC3C-BA329C7FE37B}"/>
              </a:ext>
            </a:extLst>
          </p:cNvPr>
          <p:cNvSpPr>
            <a:spLocks noGrp="1"/>
          </p:cNvSpPr>
          <p:nvPr/>
        </p:nvSpPr>
        <p:spPr>
          <a:xfrm>
            <a:off x="580339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7" name="Shape 55">
            <a:extLst>
              <a:ext uri="{FF2B5EF4-FFF2-40B4-BE49-F238E27FC236}">
                <a16:creationId xmlns:a16="http://schemas.microsoft.com/office/drawing/2014/main" id="{B0E1496E-3C71-47E0-BB2F-756F1DAC7F50}"/>
              </a:ext>
            </a:extLst>
          </p:cNvPr>
          <p:cNvSpPr>
            <a:spLocks noGrp="1"/>
          </p:cNvSpPr>
          <p:nvPr/>
        </p:nvSpPr>
        <p:spPr>
          <a:xfrm>
            <a:off x="7924800" y="5242560"/>
            <a:ext cx="2194560" cy="1072896"/>
          </a:xfrm>
          <a:prstGeom prst="rect">
            <a:avLst/>
          </a:prstGeom>
          <a:solidFill>
            <a:srgbClr val="FFFFFF"/>
          </a:solidFill>
          <a:ln w="6350">
            <a:solidFill>
              <a:srgbClr val="D4CACA"/>
            </a:solidFill>
            <a:prstDash val="solid"/>
          </a:ln>
        </p:spPr>
        <p:txBody>
          <a:bodyPr/>
          <a:lstStyle/>
          <a:p>
            <a:endParaRPr/>
          </a:p>
        </p:txBody>
      </p:sp>
      <p:sp>
        <p:nvSpPr>
          <p:cNvPr id="58" name="Text 56">
            <a:extLst>
              <a:ext uri="{FF2B5EF4-FFF2-40B4-BE49-F238E27FC236}">
                <a16:creationId xmlns:a16="http://schemas.microsoft.com/office/drawing/2014/main" id="{C8B5B5DB-695E-4EE4-B87B-33705D39557A}"/>
              </a:ext>
            </a:extLst>
          </p:cNvPr>
          <p:cNvSpPr>
            <a:spLocks noGrp="1"/>
          </p:cNvSpPr>
          <p:nvPr/>
        </p:nvSpPr>
        <p:spPr>
          <a:xfrm>
            <a:off x="799795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9" name="Shape 57">
            <a:extLst>
              <a:ext uri="{FF2B5EF4-FFF2-40B4-BE49-F238E27FC236}">
                <a16:creationId xmlns:a16="http://schemas.microsoft.com/office/drawing/2014/main" id="{EEB6AE00-EEFB-46C1-8878-EB734C3D495B}"/>
              </a:ext>
            </a:extLst>
          </p:cNvPr>
          <p:cNvSpPr>
            <a:spLocks noGrp="1"/>
          </p:cNvSpPr>
          <p:nvPr/>
        </p:nvSpPr>
        <p:spPr>
          <a:xfrm>
            <a:off x="10119360" y="5242560"/>
            <a:ext cx="1889760" cy="1072896"/>
          </a:xfrm>
          <a:prstGeom prst="rect">
            <a:avLst/>
          </a:prstGeom>
          <a:solidFill>
            <a:srgbClr val="FFFFFF"/>
          </a:solidFill>
          <a:ln w="6350">
            <a:solidFill>
              <a:srgbClr val="D4CACA"/>
            </a:solidFill>
            <a:prstDash val="solid"/>
          </a:ln>
        </p:spPr>
        <p:txBody>
          <a:bodyPr/>
          <a:lstStyle/>
          <a:p>
            <a:endParaRPr/>
          </a:p>
        </p:txBody>
      </p:sp>
      <p:sp>
        <p:nvSpPr>
          <p:cNvPr id="60" name="Text 58">
            <a:extLst>
              <a:ext uri="{FF2B5EF4-FFF2-40B4-BE49-F238E27FC236}">
                <a16:creationId xmlns:a16="http://schemas.microsoft.com/office/drawing/2014/main" id="{5A07250C-EC1E-4CFB-B6A6-0D04C8EA0AFF}"/>
              </a:ext>
            </a:extLst>
          </p:cNvPr>
          <p:cNvSpPr>
            <a:spLocks noGrp="1"/>
          </p:cNvSpPr>
          <p:nvPr/>
        </p:nvSpPr>
        <p:spPr>
          <a:xfrm>
            <a:off x="10192512" y="5315712"/>
            <a:ext cx="1743456" cy="926592"/>
          </a:xfrm>
          <a:prstGeom prst="rect">
            <a:avLst/>
          </a:prstGeom>
          <a:noFill/>
        </p:spPr>
        <p:txBody>
          <a:bodyPr wrap="square" lIns="0" tIns="0" rIns="0" bIns="0" anchor="ctr"/>
          <a:lstStyle/>
          <a:p>
            <a:r>
              <a:rPr sz="1267" b="1">
                <a:solidFill>
                  <a:srgbClr val="5A4042"/>
                </a:solidFill>
                <a:latin typeface="Calibri"/>
                <a:ea typeface="Calibri"/>
                <a:cs typeface="Calibri"/>
              </a:rPr>
              <a:t>MODERATE</a:t>
            </a:r>
          </a:p>
          <a:p>
            <a:r>
              <a:rPr sz="1267" b="1">
                <a:solidFill>
                  <a:srgbClr val="5A4042"/>
                </a:solidFill>
                <a:latin typeface="Calibri"/>
                <a:ea typeface="Calibri"/>
                <a:cs typeface="Calibri"/>
              </a:rPr>
              <a:t>CarenR-specific</a:t>
            </a:r>
          </a:p>
        </p:txBody>
      </p:sp>
      <p:sp>
        <p:nvSpPr>
          <p:cNvPr id="61" name="Shape 59">
            <a:extLst>
              <a:ext uri="{FF2B5EF4-FFF2-40B4-BE49-F238E27FC236}">
                <a16:creationId xmlns:a16="http://schemas.microsoft.com/office/drawing/2014/main" id="{A2DE2173-FA3F-462A-B0FE-1F3FFCFF1958}"/>
              </a:ext>
            </a:extLst>
          </p:cNvPr>
          <p:cNvSpPr>
            <a:spLocks noGrp="1"/>
          </p:cNvSpPr>
          <p:nvPr/>
        </p:nvSpPr>
        <p:spPr>
          <a:xfrm>
            <a:off x="548640" y="6364224"/>
            <a:ext cx="11094720" cy="414528"/>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62" name="Text 60">
            <a:extLst>
              <a:ext uri="{FF2B5EF4-FFF2-40B4-BE49-F238E27FC236}">
                <a16:creationId xmlns:a16="http://schemas.microsoft.com/office/drawing/2014/main" id="{453B6605-9D34-4985-A287-8A976E2D55A3}"/>
              </a:ext>
            </a:extLst>
          </p:cNvPr>
          <p:cNvSpPr>
            <a:spLocks noGrp="1"/>
          </p:cNvSpPr>
          <p:nvPr/>
        </p:nvSpPr>
        <p:spPr>
          <a:xfrm>
            <a:off x="792480" y="6425184"/>
            <a:ext cx="10607040" cy="316992"/>
          </a:xfrm>
          <a:prstGeom prst="rect">
            <a:avLst/>
          </a:prstGeom>
          <a:noFill/>
        </p:spPr>
        <p:txBody>
          <a:bodyPr wrap="square" lIns="0" tIns="0" rIns="0" bIns="0" anchor="ctr"/>
          <a:lstStyle/>
          <a:p>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270335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24DCCB-F368-47EE-A1A6-110EFF3BE8D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E7E7AE53-EE08-4004-8A64-5ECA4279469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Predictive Validation Results (Goal 2)</a:t>
            </a:r>
          </a:p>
        </p:txBody>
      </p:sp>
      <p:sp>
        <p:nvSpPr>
          <p:cNvPr id="4" name="Text 2">
            <a:extLst>
              <a:ext uri="{FF2B5EF4-FFF2-40B4-BE49-F238E27FC236}">
                <a16:creationId xmlns:a16="http://schemas.microsoft.com/office/drawing/2014/main" id="{82FF94E9-F6CE-4971-9008-41FFA04121A1}"/>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Walk-forward · 17 models · 18 RDD scenarios · 16 RVV scenarios</a:t>
            </a:r>
          </a:p>
        </p:txBody>
      </p:sp>
      <p:sp>
        <p:nvSpPr>
          <p:cNvPr id="5" name="Shape 3">
            <a:extLst>
              <a:ext uri="{FF2B5EF4-FFF2-40B4-BE49-F238E27FC236}">
                <a16:creationId xmlns:a16="http://schemas.microsoft.com/office/drawing/2014/main" id="{831F0345-51A8-4A60-894E-9BED1BBFF58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1DC5BBF8-57A3-47BA-9F63-C8F32A33FD0D}"/>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8 / 12</a:t>
            </a:r>
          </a:p>
        </p:txBody>
      </p:sp>
      <p:sp>
        <p:nvSpPr>
          <p:cNvPr id="7" name="Text 5">
            <a:extLst>
              <a:ext uri="{FF2B5EF4-FFF2-40B4-BE49-F238E27FC236}">
                <a16:creationId xmlns:a16="http://schemas.microsoft.com/office/drawing/2014/main" id="{C1F10002-BAE2-407F-BB75-8DCAE7183AE6}"/>
              </a:ext>
            </a:extLst>
          </p:cNvPr>
          <p:cNvSpPr>
            <a:spLocks noGrp="1"/>
          </p:cNvSpPr>
          <p:nvPr/>
        </p:nvSpPr>
        <p:spPr>
          <a:xfrm>
            <a:off x="548640" y="1292352"/>
            <a:ext cx="5547360" cy="341376"/>
          </a:xfrm>
          <a:prstGeom prst="rect">
            <a:avLst/>
          </a:prstGeom>
          <a:noFill/>
        </p:spPr>
        <p:txBody>
          <a:bodyPr wrap="square" lIns="0" tIns="0" rIns="0" bIns="0" anchor="ctr"/>
          <a:lstStyle/>
          <a:p>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548640" y="1682496"/>
          <a:ext cx="5547360" cy="448665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a:extLst>
              <a:ext uri="{FF2B5EF4-FFF2-40B4-BE49-F238E27FC236}">
                <a16:creationId xmlns:a16="http://schemas.microsoft.com/office/drawing/2014/main" id="{FEAF6274-C41A-4F1B-83FD-C8527273C8FE}"/>
              </a:ext>
            </a:extLst>
          </p:cNvPr>
          <p:cNvSpPr>
            <a:spLocks noGrp="1"/>
          </p:cNvSpPr>
          <p:nvPr/>
        </p:nvSpPr>
        <p:spPr>
          <a:xfrm>
            <a:off x="6217920" y="1292352"/>
            <a:ext cx="5425440" cy="341376"/>
          </a:xfrm>
          <a:prstGeom prst="rect">
            <a:avLst/>
          </a:prstGeom>
          <a:noFill/>
        </p:spPr>
        <p:txBody>
          <a:bodyPr wrap="square" lIns="0" tIns="0" rIns="0" bIns="0" anchor="ctr"/>
          <a:lstStyle/>
          <a:p>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6217920" y="1682496"/>
          <a:ext cx="5425440" cy="4486656"/>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a:extLst>
              <a:ext uri="{FF2B5EF4-FFF2-40B4-BE49-F238E27FC236}">
                <a16:creationId xmlns:a16="http://schemas.microsoft.com/office/drawing/2014/main" id="{095CD427-358F-4D89-8CA3-7211D7B3CD9A}"/>
              </a:ext>
            </a:extLst>
          </p:cNvPr>
          <p:cNvSpPr>
            <a:spLocks noGrp="1"/>
          </p:cNvSpPr>
          <p:nvPr/>
        </p:nvSpPr>
        <p:spPr>
          <a:xfrm>
            <a:off x="548640" y="6278880"/>
            <a:ext cx="11094720" cy="512064"/>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8">
            <a:extLst>
              <a:ext uri="{FF2B5EF4-FFF2-40B4-BE49-F238E27FC236}">
                <a16:creationId xmlns:a16="http://schemas.microsoft.com/office/drawing/2014/main" id="{B5BFED85-FF84-4CAB-AE33-21E2A76E5B9C}"/>
              </a:ext>
            </a:extLst>
          </p:cNvPr>
          <p:cNvSpPr>
            <a:spLocks noGrp="1"/>
          </p:cNvSpPr>
          <p:nvPr/>
        </p:nvSpPr>
        <p:spPr>
          <a:xfrm>
            <a:off x="792480" y="6327648"/>
            <a:ext cx="10607040" cy="414528"/>
          </a:xfrm>
          <a:prstGeom prst="rect">
            <a:avLst/>
          </a:prstGeom>
          <a:noFill/>
        </p:spPr>
        <p:txBody>
          <a:bodyPr wrap="square" lIns="0" tIns="0" rIns="0" bIns="0" anchor="ctr"/>
          <a:lstStyle/>
          <a:p>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2069052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24150B-7A96-44FD-A921-925A7E44478E}"/>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5F4D2154-8ED5-4E92-9FF7-77A70E4D736B}"/>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Why the Two Regions Diverge</a:t>
            </a:r>
          </a:p>
        </p:txBody>
      </p:sp>
      <p:sp>
        <p:nvSpPr>
          <p:cNvPr id="4" name="Text 2">
            <a:extLst>
              <a:ext uri="{FF2B5EF4-FFF2-40B4-BE49-F238E27FC236}">
                <a16:creationId xmlns:a16="http://schemas.microsoft.com/office/drawing/2014/main" id="{AC685C8F-A364-4D3C-9852-35CEBB6D4C9B}"/>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A designed comparative experiment, not an inconvenient inconsistency</a:t>
            </a:r>
          </a:p>
        </p:txBody>
      </p:sp>
      <p:sp>
        <p:nvSpPr>
          <p:cNvPr id="5" name="Shape 3">
            <a:extLst>
              <a:ext uri="{FF2B5EF4-FFF2-40B4-BE49-F238E27FC236}">
                <a16:creationId xmlns:a16="http://schemas.microsoft.com/office/drawing/2014/main" id="{90778446-9097-4AB6-8F6B-3C915E77B86E}"/>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5F53EB9F-6F41-4FB4-B68D-0D713431749A}"/>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548640" y="1316736"/>
          <a:ext cx="11094720" cy="4535424"/>
        </p:xfrm>
        <a:graphic>
          <a:graphicData uri="http://schemas.openxmlformats.org/drawingml/2006/table">
            <a:tbl>
              <a:tblPr/>
              <a:tblGrid>
                <a:gridCol w="2316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gridCol w="3413760">
                  <a:extLst>
                    <a:ext uri="{9D8B030D-6E8A-4147-A177-3AD203B41FA5}">
                      <a16:colId xmlns:a16="http://schemas.microsoft.com/office/drawing/2014/main" val="20003"/>
                    </a:ext>
                  </a:extLst>
                </a:gridCol>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0"/>
                  </a:ext>
                </a:extLst>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1"/>
                  </a:ext>
                </a:extLst>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2"/>
                  </a:ext>
                </a:extLst>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3"/>
                  </a:ext>
                </a:extLst>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4"/>
                  </a:ext>
                </a:extLst>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Shape 5">
            <a:extLst>
              <a:ext uri="{FF2B5EF4-FFF2-40B4-BE49-F238E27FC236}">
                <a16:creationId xmlns:a16="http://schemas.microsoft.com/office/drawing/2014/main" id="{89F13545-87EA-4D79-851D-81A6B4E3CEE6}"/>
              </a:ext>
            </a:extLst>
          </p:cNvPr>
          <p:cNvSpPr>
            <a:spLocks noGrp="1"/>
          </p:cNvSpPr>
          <p:nvPr/>
        </p:nvSpPr>
        <p:spPr>
          <a:xfrm>
            <a:off x="548640" y="6291072"/>
            <a:ext cx="11094720" cy="463296"/>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9" name="Shape 6">
            <a:extLst>
              <a:ext uri="{FF2B5EF4-FFF2-40B4-BE49-F238E27FC236}">
                <a16:creationId xmlns:a16="http://schemas.microsoft.com/office/drawing/2014/main" id="{3C2F5F76-A0A7-4BF3-B754-5C738EBA7450}"/>
              </a:ext>
            </a:extLst>
          </p:cNvPr>
          <p:cNvSpPr>
            <a:spLocks noGrp="1"/>
          </p:cNvSpPr>
          <p:nvPr/>
        </p:nvSpPr>
        <p:spPr>
          <a:xfrm>
            <a:off x="548640" y="6291072"/>
            <a:ext cx="73152" cy="463296"/>
          </a:xfrm>
          <a:prstGeom prst="rect">
            <a:avLst/>
          </a:prstGeom>
          <a:solidFill>
            <a:srgbClr val="6B2737"/>
          </a:solidFill>
          <a:ln w="12700">
            <a:solidFill>
              <a:srgbClr val="6B2737"/>
            </a:solidFill>
            <a:prstDash val="solid"/>
          </a:ln>
        </p:spPr>
        <p:txBody>
          <a:bodyPr/>
          <a:lstStyle/>
          <a:p>
            <a:endParaRPr/>
          </a:p>
        </p:txBody>
      </p:sp>
      <p:sp>
        <p:nvSpPr>
          <p:cNvPr id="10" name="Text 7">
            <a:extLst>
              <a:ext uri="{FF2B5EF4-FFF2-40B4-BE49-F238E27FC236}">
                <a16:creationId xmlns:a16="http://schemas.microsoft.com/office/drawing/2014/main" id="{0E700668-7AD9-462E-8293-4435290B2458}"/>
              </a:ext>
            </a:extLst>
          </p:cNvPr>
          <p:cNvSpPr>
            <a:spLocks noGrp="1"/>
          </p:cNvSpPr>
          <p:nvPr/>
        </p:nvSpPr>
        <p:spPr>
          <a:xfrm>
            <a:off x="792480" y="6352032"/>
            <a:ext cx="10607040" cy="341376"/>
          </a:xfrm>
          <a:prstGeom prst="rect">
            <a:avLst/>
          </a:prstGeom>
          <a:noFill/>
        </p:spPr>
        <p:txBody>
          <a:bodyPr wrap="square" lIns="0" tIns="0" rIns="0" bIns="0" anchor="ctr"/>
          <a:lstStyle/>
          <a:p>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14996077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12898</Words>
  <Application>Microsoft Macintosh PowerPoint</Application>
  <DocSecurity>0</DocSecurity>
  <PresentationFormat>Widescreen</PresentationFormat>
  <Paragraphs>1355</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Nogueira</cp:lastModifiedBy>
  <cp:revision>5</cp:revision>
  <dcterms:created xsi:type="dcterms:W3CDTF">2026-07-14T00:04:33Z</dcterms:created>
  <dcterms:modified xsi:type="dcterms:W3CDTF">2026-07-14T00:51:49Z</dcterms:modified>
</cp:coreProperties>
</file>