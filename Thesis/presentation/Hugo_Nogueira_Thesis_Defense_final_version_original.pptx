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308" r:id="rId2"/>
    <p:sldId id="309" r:id="rId3"/>
    <p:sldId id="310" r:id="rId4"/>
    <p:sldId id="311" r:id="rId5"/>
    <p:sldId id="312" r:id="rId6"/>
    <p:sldId id="313" r:id="rId7"/>
    <p:sldId id="314" r:id="rId8"/>
    <p:sldId id="315" r:id="rId9"/>
    <p:sldId id="337" r:id="rId10"/>
    <p:sldId id="338" r:id="rId11"/>
    <p:sldId id="318" r:id="rId12"/>
    <p:sldId id="343" r:id="rId13"/>
    <p:sldId id="319" r:id="rId14"/>
    <p:sldId id="342" r:id="rId15"/>
    <p:sldId id="336" r:id="rId16"/>
    <p:sldId id="321" r:id="rId17"/>
    <p:sldId id="322" r:id="rId18"/>
    <p:sldId id="323" r:id="rId19"/>
    <p:sldId id="339" r:id="rId20"/>
    <p:sldId id="325" r:id="rId21"/>
    <p:sldId id="326" r:id="rId22"/>
    <p:sldId id="327" r:id="rId23"/>
    <p:sldId id="328" r:id="rId24"/>
    <p:sldId id="329" r:id="rId25"/>
    <p:sldId id="340" r:id="rId26"/>
    <p:sldId id="341" r:id="rId27"/>
    <p:sldId id="332" r:id="rId28"/>
    <p:sldId id="333" r:id="rId2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A2A1E82-A064-B748-A11E-E8BCC6FBCECB}">
          <p14:sldIdLst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37"/>
            <p14:sldId id="338"/>
            <p14:sldId id="318"/>
            <p14:sldId id="343"/>
            <p14:sldId id="319"/>
            <p14:sldId id="342"/>
            <p14:sldId id="336"/>
            <p14:sldId id="321"/>
            <p14:sldId id="322"/>
            <p14:sldId id="323"/>
            <p14:sldId id="339"/>
            <p14:sldId id="325"/>
            <p14:sldId id="326"/>
            <p14:sldId id="327"/>
            <p14:sldId id="328"/>
            <p14:sldId id="329"/>
            <p14:sldId id="340"/>
            <p14:sldId id="341"/>
            <p14:sldId id="332"/>
            <p14:sldId id="333"/>
          </p14:sldIdLst>
        </p14:section>
        <p14:section name="graveyard" id="{E4682D8D-643A-F049-9647-92932E89391B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8B57"/>
    <a:srgbClr val="B8860B"/>
    <a:srgbClr val="2E6F9F"/>
    <a:srgbClr val="7D1F3F"/>
    <a:srgbClr val="F4E9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94"/>
    <p:restoredTop sz="65443"/>
  </p:normalViewPr>
  <p:slideViewPr>
    <p:cSldViewPr snapToGrid="0">
      <p:cViewPr>
        <p:scale>
          <a:sx n="87" d="100"/>
          <a:sy n="87" d="100"/>
        </p:scale>
        <p:origin x="1960" y="-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45" d="100"/>
        <a:sy n="14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5" d="100"/>
          <a:sy n="95" d="100"/>
        </p:scale>
        <p:origin x="372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8FD504B-4A58-D4E0-ABAA-AA7AE6CF01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E961B9-58EB-D980-4D93-4CBFE7A1D4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B0BF68-44AF-3D4F-9720-F4A1C72C5459}" type="datetimeFigureOut">
              <a:rPr lang="en-US" smtClean="0"/>
              <a:t>7/17/26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24ECD-CCB4-B35C-BECD-E45D2C7412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AE7BB-C6D6-384A-AA34-F41A99D9E0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B80136-B131-154B-9B72-0E64B30BB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5191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A3F8CAD9-84C7-B67E-EBC2-EF44F37F6D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Notes Placeholder 9">
            <a:extLst>
              <a:ext uri="{FF2B5EF4-FFF2-40B4-BE49-F238E27FC236}">
                <a16:creationId xmlns:a16="http://schemas.microsoft.com/office/drawing/2014/main" id="{A1D965ED-3437-11E7-F567-854E99C68C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C05D16E-071F-3677-5C8B-050748613E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33545-DD7A-0741-9D4E-06439A4F496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PT" dirty="0"/>
              <a:t>⏱ ACUMULADO → 0:50 (~50 s)</a:t>
            </a:r>
          </a:p>
          <a:p>
            <a:endParaRPr lang="pt-PT" dirty="0"/>
          </a:p>
          <a:p>
            <a:r>
              <a:rPr lang="pt-PT" dirty="0"/>
              <a:t>A minha dissertação parte de uma pergunta simples sobre a produção de vinho em Portugal: </a:t>
            </a:r>
          </a:p>
          <a:p>
            <a:r>
              <a:rPr lang="pt-PT" b="1" dirty="0"/>
              <a:t>o que consegue o clima explicar sobre a produção anual e, sobretudo, o que consegue prever de forma fiável?</a:t>
            </a:r>
          </a:p>
          <a:p>
            <a:endParaRPr lang="pt-PT" dirty="0"/>
          </a:p>
          <a:p>
            <a:r>
              <a:rPr lang="pt-PT" b="1" dirty="0"/>
              <a:t>Estas duas questões não são equivalentes</a:t>
            </a:r>
            <a:r>
              <a:rPr lang="pt-PT" dirty="0"/>
              <a:t>. </a:t>
            </a:r>
            <a:br>
              <a:rPr lang="pt-PT" dirty="0"/>
            </a:br>
            <a:r>
              <a:rPr lang="pt-PT" dirty="0"/>
              <a:t>A diferença entre explicar e prever é o fio condutor de todo o trabalho.</a:t>
            </a:r>
          </a:p>
          <a:p>
            <a:endParaRPr lang="pt-PT" dirty="0"/>
          </a:p>
          <a:p>
            <a:r>
              <a:rPr lang="pt-PT" dirty="0"/>
              <a:t>Nos próximos minutos abordo 3 pontos: </a:t>
            </a:r>
          </a:p>
          <a:p>
            <a:pPr marL="228600" indent="-228600">
              <a:buAutoNum type="arabicPeriod"/>
            </a:pPr>
            <a:r>
              <a:rPr lang="pt-PT" dirty="0"/>
              <a:t>porque este problema de previsão é difícil; </a:t>
            </a:r>
          </a:p>
          <a:p>
            <a:pPr marL="228600" indent="-228600">
              <a:buAutoNum type="arabicPeriod"/>
            </a:pPr>
            <a:r>
              <a:rPr lang="pt-PT" dirty="0"/>
              <a:t>como construí uma avaliação baseada em regras em torno do algoritmo CAREN; </a:t>
            </a:r>
          </a:p>
          <a:p>
            <a:pPr marL="228600" indent="-228600">
              <a:buAutoNum type="arabicPeriod"/>
            </a:pPr>
            <a:r>
              <a:rPr lang="pt-PT" dirty="0"/>
              <a:t>e o que os resultados mostram.</a:t>
            </a:r>
          </a:p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PT" dirty="0"/>
              <a:t>⏱ ACUMULADO → 1:30 (~40 s)</a:t>
            </a:r>
          </a:p>
          <a:p>
            <a:endParaRPr lang="pt-PT" dirty="0"/>
          </a:p>
          <a:p>
            <a:r>
              <a:rPr lang="pt-PT" b="1" dirty="0"/>
              <a:t>Porque é prever a </a:t>
            </a:r>
            <a:r>
              <a:rPr lang="pt-PT" b="1" dirty="0" err="1"/>
              <a:t>Producao</a:t>
            </a:r>
            <a:r>
              <a:rPr lang="pt-PT" b="1" dirty="0"/>
              <a:t> anual de vinho é relevante?</a:t>
            </a:r>
            <a:r>
              <a:rPr lang="pt-PT" dirty="0"/>
              <a:t> </a:t>
            </a:r>
          </a:p>
          <a:p>
            <a:endParaRPr lang="pt-PT" dirty="0"/>
          </a:p>
          <a:p>
            <a:r>
              <a:rPr lang="pt-PT" b="1" u="sng" dirty="0"/>
              <a:t>A produção regional de vinho é uma variável de decisão</a:t>
            </a:r>
            <a:r>
              <a:rPr lang="pt-PT" dirty="0"/>
              <a:t>: </a:t>
            </a:r>
            <a:br>
              <a:rPr lang="pt-PT" dirty="0"/>
            </a:br>
            <a:r>
              <a:rPr lang="pt-PT" i="1" dirty="0"/>
              <a:t>as cooperativas planeiam a vindima, os reguladores definem quotas, as cadeias de abastecimento dimensionam armazenamento.</a:t>
            </a:r>
          </a:p>
          <a:p>
            <a:endParaRPr lang="pt-PT" dirty="0"/>
          </a:p>
          <a:p>
            <a:r>
              <a:rPr lang="pt-PT" b="1" u="sng" dirty="0"/>
              <a:t>O ponto essencial</a:t>
            </a:r>
            <a:r>
              <a:rPr lang="pt-PT" b="1" dirty="0"/>
              <a:t>: para apoiar decisões não basta um número. </a:t>
            </a:r>
          </a:p>
          <a:p>
            <a:r>
              <a:rPr lang="pt-PT" dirty="0"/>
              <a:t>Quando uma previsão falha, é preciso saber se o modelo captou um sinal climático real ou apenas seguiu a tendência histórica. </a:t>
            </a:r>
          </a:p>
          <a:p>
            <a:endParaRPr lang="pt-PT" dirty="0"/>
          </a:p>
          <a:p>
            <a:r>
              <a:rPr lang="pt-PT" dirty="0"/>
              <a:t>É IMPORTANTE A CAPACIDADE PREDITIVA CONJUGADA COM A INTERPRETABILIDADE – É AQUI QUE A TESE SE POSICIONA</a:t>
            </a:r>
          </a:p>
          <a:p>
            <a:endParaRPr lang="pt-PT" dirty="0"/>
          </a:p>
          <a:p>
            <a:endParaRPr lang="pt-PT" dirty="0"/>
          </a:p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PT" dirty="0"/>
              <a:t>⏱ ACUMULADO → 2:30 (~1 min)</a:t>
            </a:r>
          </a:p>
          <a:p>
            <a:endParaRPr lang="pt-PT" dirty="0"/>
          </a:p>
          <a:p>
            <a:r>
              <a:rPr lang="pt-PT" dirty="0"/>
              <a:t>ENTAO --- O PROBLEMA NÃO É SÓ PREVER. É PREVER DE FORMA AUDITÁVEL E INTERPRETÁVEL.</a:t>
            </a:r>
          </a:p>
          <a:p>
            <a:endParaRPr lang="pt-PT" dirty="0"/>
          </a:p>
          <a:p>
            <a:r>
              <a:rPr lang="pt-PT" dirty="0"/>
              <a:t>Os modelos modernos de Machine Learning preveem razoavelmente, mas nem sempre dão informação que um agrónomo interprete. </a:t>
            </a:r>
          </a:p>
          <a:p>
            <a:r>
              <a:rPr lang="pt-PT" dirty="0" err="1"/>
              <a:t>Maiorioa</a:t>
            </a:r>
            <a:r>
              <a:rPr lang="pt-PT" dirty="0"/>
              <a:t> dos modelos </a:t>
            </a:r>
            <a:r>
              <a:rPr lang="pt-PT" dirty="0" err="1"/>
              <a:t>dao</a:t>
            </a:r>
            <a:r>
              <a:rPr lang="pt-PT" dirty="0"/>
              <a:t> importância das </a:t>
            </a:r>
            <a:r>
              <a:rPr lang="pt-PT" dirty="0" err="1"/>
              <a:t>features</a:t>
            </a:r>
            <a:r>
              <a:rPr lang="pt-PT" dirty="0"/>
              <a:t> mas não regras</a:t>
            </a:r>
          </a:p>
          <a:p>
            <a:endParaRPr lang="pt-PT" dirty="0"/>
          </a:p>
          <a:p>
            <a:endParaRPr lang="pt-PT" dirty="0"/>
          </a:p>
          <a:p>
            <a:r>
              <a:rPr lang="pt-PT" dirty="0"/>
              <a:t>O CAREN ocupa esse espaço intermédio: identifica subgrupos que permitam a criação de </a:t>
            </a:r>
            <a:r>
              <a:rPr lang="pt-PT" dirty="0" err="1"/>
              <a:t>regrasdo</a:t>
            </a:r>
            <a:r>
              <a:rPr lang="pt-PT" dirty="0"/>
              <a:t> tipo IF ELSE que permitam discussão e avaliação por </a:t>
            </a:r>
            <a:r>
              <a:rPr lang="pt-PT" dirty="0" err="1"/>
              <a:t>parete</a:t>
            </a:r>
            <a:r>
              <a:rPr lang="pt-PT" dirty="0"/>
              <a:t> dos </a:t>
            </a:r>
            <a:r>
              <a:rPr lang="pt-PT" dirty="0" err="1"/>
              <a:t>agronomos</a:t>
            </a:r>
            <a:endParaRPr lang="pt-PT" dirty="0"/>
          </a:p>
          <a:p>
            <a:endParaRPr lang="pt-PT" dirty="0"/>
          </a:p>
          <a:p>
            <a:endParaRPr lang="pt-PT" dirty="0"/>
          </a:p>
          <a:p>
            <a:r>
              <a:rPr lang="pt-PT" dirty="0"/>
              <a:t>É ESTE O TIPO DE RESULTADO QUE PROCURAMOS NESTA TESE</a:t>
            </a:r>
          </a:p>
          <a:p>
            <a:r>
              <a:rPr lang="pt-PT" dirty="0"/>
              <a:t>EX: não a humidade importa, mas uma combinação concreta e testável de janelas fenológicas e limiares.</a:t>
            </a:r>
          </a:p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PT" dirty="0"/>
              <a:t>⏱ ACUMULADO → 3:20  (~50 s)</a:t>
            </a:r>
          </a:p>
          <a:p>
            <a:endParaRPr lang="pt-PT" dirty="0"/>
          </a:p>
          <a:p>
            <a:r>
              <a:rPr lang="pt-PT" dirty="0"/>
              <a:t>E porque é este problema tão difícil? </a:t>
            </a:r>
            <a:r>
              <a:rPr lang="pt-PT" b="1" dirty="0"/>
              <a:t>Por quatro razões.</a:t>
            </a:r>
          </a:p>
          <a:p>
            <a:endParaRPr lang="pt-PT" b="1"/>
          </a:p>
          <a:p>
            <a:endParaRPr lang="pt-PT"/>
          </a:p>
          <a:p>
            <a:endParaRPr lang="pt-PT"/>
          </a:p>
          <a:p>
            <a:endParaRPr lang="pt-PT" dirty="0"/>
          </a:p>
          <a:p>
            <a:r>
              <a:rPr lang="pt-PT" b="1" dirty="0"/>
              <a:t>Primeiro</a:t>
            </a:r>
            <a:r>
              <a:rPr lang="pt-PT" dirty="0"/>
              <a:t>, a biologia da videira estende-se por vários anos: o potencial do próximo ano é parcialmente definido no anterior, na formação dos gomos e nas reservas.</a:t>
            </a:r>
          </a:p>
          <a:p>
            <a:endParaRPr lang="pt-PT" dirty="0"/>
          </a:p>
          <a:p>
            <a:r>
              <a:rPr lang="pt-PT" b="1" dirty="0"/>
              <a:t>Segundo</a:t>
            </a:r>
            <a:r>
              <a:rPr lang="pt-PT" dirty="0"/>
              <a:t>, a agregação regional esconde enorme variabilidade — milhares de vinhas, solos e microclimas reduzidos a um único valor.</a:t>
            </a:r>
          </a:p>
          <a:p>
            <a:endParaRPr lang="pt-PT" dirty="0"/>
          </a:p>
          <a:p>
            <a:r>
              <a:rPr lang="pt-PT" b="1" dirty="0"/>
              <a:t>Terceiro</a:t>
            </a:r>
            <a:r>
              <a:rPr lang="pt-PT" dirty="0"/>
              <a:t>, a estrutura do setor muda ao longo do tempo: regulação, área plantada e mercado deslocam a baseline independentemente do clima.</a:t>
            </a:r>
          </a:p>
          <a:p>
            <a:endParaRPr lang="pt-PT" dirty="0"/>
          </a:p>
          <a:p>
            <a:r>
              <a:rPr lang="pt-PT" b="1" dirty="0"/>
              <a:t>Quarto</a:t>
            </a:r>
            <a:r>
              <a:rPr lang="pt-PT" dirty="0"/>
              <a:t>, a amostra é pequena — 80 a 89 observações anuais para 59 features.</a:t>
            </a:r>
          </a:p>
          <a:p>
            <a:endParaRPr lang="pt-PT" dirty="0"/>
          </a:p>
          <a:p>
            <a:endParaRPr lang="pt-PT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b="1" dirty="0"/>
              <a:t>A própria target </a:t>
            </a:r>
            <a:r>
              <a:rPr lang="pt-PT" b="1" dirty="0" err="1"/>
              <a:t>variable</a:t>
            </a:r>
            <a:r>
              <a:rPr lang="pt-PT" b="1" dirty="0"/>
              <a:t> combina diferentes climas, decisões </a:t>
            </a:r>
            <a:r>
              <a:rPr lang="pt-PT" b="1" dirty="0" err="1"/>
              <a:t>humans</a:t>
            </a:r>
            <a:r>
              <a:rPr lang="pt-PT" b="1" dirty="0"/>
              <a:t> e alterações de estrutura nas diferentes </a:t>
            </a:r>
            <a:r>
              <a:rPr lang="pt-PT" b="1" dirty="0" err="1"/>
              <a:t>sub</a:t>
            </a:r>
            <a:r>
              <a:rPr lang="pt-PT" b="1" dirty="0"/>
              <a:t> regiões da </a:t>
            </a:r>
            <a:r>
              <a:rPr lang="pt-PT" b="1" dirty="0" err="1"/>
              <a:t>regiao</a:t>
            </a:r>
            <a:endParaRPr lang="pt-PT" b="1" dirty="0"/>
          </a:p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PT" dirty="0"/>
              <a:t>⏱ ACUMULADO → 4:05  (~45 s)</a:t>
            </a:r>
          </a:p>
          <a:p>
            <a:endParaRPr lang="pt-PT" dirty="0"/>
          </a:p>
          <a:p>
            <a:r>
              <a:rPr lang="pt-PT" dirty="0"/>
              <a:t>Esta é a ideia de desenho experimental que sustenta a tese. </a:t>
            </a:r>
          </a:p>
          <a:p>
            <a:endParaRPr lang="pt-PT" dirty="0"/>
          </a:p>
          <a:p>
            <a:r>
              <a:rPr lang="pt-PT" dirty="0"/>
              <a:t>Em vez de uma região, estudo duas, aplicando exatamente o mesmo pipeline a histórias estruturais muito diferentes.</a:t>
            </a:r>
          </a:p>
          <a:p>
            <a:endParaRPr lang="pt-PT" dirty="0"/>
          </a:p>
          <a:p>
            <a:r>
              <a:rPr lang="pt-PT" dirty="0"/>
              <a:t>No Douro, um crescimento gradual de cerca de 80% em 89 anos e variabilidade baixa, com coeficiente de variação perto de 27%.</a:t>
            </a:r>
          </a:p>
          <a:p>
            <a:r>
              <a:rPr lang="pt-PT" dirty="0"/>
              <a:t>Nos Vinhos Verdes, um declínio estrutural acentuado em 80 anos e variabilidade muito maior, perto de 47%.</a:t>
            </a:r>
          </a:p>
          <a:p>
            <a:endParaRPr lang="pt-PT" dirty="0"/>
          </a:p>
          <a:p>
            <a:r>
              <a:rPr lang="pt-PT" b="1" dirty="0"/>
              <a:t>Duas formas opostas de não-estacionaridade</a:t>
            </a:r>
            <a:r>
              <a:rPr lang="pt-PT" dirty="0"/>
              <a:t>. </a:t>
            </a:r>
          </a:p>
          <a:p>
            <a:endParaRPr lang="pt-PT" dirty="0"/>
          </a:p>
          <a:p>
            <a:r>
              <a:rPr lang="pt-PT" dirty="0"/>
              <a:t>É isto que torna os dois casos numa experiência natural comparativa: quando os resultados divergem, a diferença lê-se à luz das trajetórias estruturais, não de escolhas arbitrárias de modelação.</a:t>
            </a:r>
          </a:p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PT" dirty="0"/>
              <a:t>⏱ ACUMULADO → 4:50   (~45 s)</a:t>
            </a:r>
          </a:p>
          <a:p>
            <a:endParaRPr lang="pt-PT" dirty="0"/>
          </a:p>
          <a:p>
            <a:r>
              <a:rPr lang="pt-PT" b="1" dirty="0"/>
              <a:t>ANTES DO MÉTODO, UM ASPETO BIOLÓGICO QUE MOLDA TODO O DESENHO</a:t>
            </a:r>
            <a:r>
              <a:rPr lang="pt-PT" dirty="0"/>
              <a:t>: </a:t>
            </a:r>
          </a:p>
          <a:p>
            <a:r>
              <a:rPr lang="pt-PT" dirty="0"/>
              <a:t>- a resposta da videira é SAZONAL, mas também DESFASADA no TEMPO.</a:t>
            </a:r>
          </a:p>
          <a:p>
            <a:endParaRPr lang="pt-PT" dirty="0"/>
          </a:p>
          <a:p>
            <a:r>
              <a:rPr lang="pt-PT" dirty="0"/>
              <a:t>A colheita concretiza-se no ano corrente— mas o seu potencial foi parcialmente determinado no ano anterior, quando a temperatura e a radiação fixaram o número potencial de cachos e o stress hídrico e térmico condicionou as reservas.</a:t>
            </a:r>
          </a:p>
          <a:p>
            <a:endParaRPr lang="pt-PT" dirty="0"/>
          </a:p>
          <a:p>
            <a:r>
              <a:rPr lang="pt-PT" dirty="0"/>
              <a:t>Este efeito de carry-over explica porque </a:t>
            </a:r>
            <a:r>
              <a:rPr lang="pt-PT" b="1" dirty="0"/>
              <a:t>cada feature foi associada a uma fase fenológica específica, no ano corrente e no anterior.</a:t>
            </a:r>
            <a:r>
              <a:rPr lang="pt-PT" dirty="0"/>
              <a:t> </a:t>
            </a:r>
          </a:p>
          <a:p>
            <a:r>
              <a:rPr lang="pt-PT" b="1" dirty="0"/>
              <a:t>Assim respeito a biologia e torno as regras interpretáveis </a:t>
            </a:r>
            <a:r>
              <a:rPr lang="pt-PT" dirty="0"/>
              <a:t>—e não um mês de calendário.</a:t>
            </a:r>
          </a:p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PT" dirty="0"/>
              <a:t>⏱ ACUMULADO → 5:30  (~40 s)</a:t>
            </a:r>
          </a:p>
          <a:p>
            <a:endParaRPr lang="pt-PT" dirty="0"/>
          </a:p>
          <a:p>
            <a:r>
              <a:rPr lang="pt-PT" b="1" dirty="0"/>
              <a:t>Este slide mostra o feature engineering que materializa essa ideia</a:t>
            </a:r>
            <a:r>
              <a:rPr lang="pt-PT" dirty="0"/>
              <a:t>, e reforça um ponto: </a:t>
            </a:r>
            <a:r>
              <a:rPr lang="pt-PT" b="1" u="sng" dirty="0"/>
              <a:t>em algoritmos deste tipo, os resultados dependem muito do conhecimento do domínio e da capacidade de construir boas features</a:t>
            </a:r>
            <a:r>
              <a:rPr lang="pt-PT" dirty="0"/>
              <a:t>.</a:t>
            </a:r>
          </a:p>
          <a:p>
            <a:endParaRPr lang="pt-PT" dirty="0"/>
          </a:p>
          <a:p>
            <a:r>
              <a:rPr lang="pt-PT" dirty="0"/>
              <a:t>Partimos de cerca de 30 mil registos meteorológicos diários por região e transformámo-los em 59 features anuais, estruturadas em torno de quatro âncoras fenológicas — abrolhamento, floração, pintor e vindima — calculadas para o ano corrente e o anterior.</a:t>
            </a:r>
          </a:p>
          <a:p>
            <a:endParaRPr lang="pt-PT" dirty="0"/>
          </a:p>
          <a:p>
            <a:r>
              <a:rPr lang="pt-PT" b="1" dirty="0"/>
              <a:t>Foi esta transformação, ao incorporar a memória biológica da videira, que permitiu que as condições de cada regra tenham significado reconhecível por um especialista.</a:t>
            </a:r>
          </a:p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PT" dirty="0"/>
              <a:t>⏱ ACUMULADO → 6:00   (~30 s)</a:t>
            </a:r>
          </a:p>
          <a:p>
            <a:endParaRPr lang="pt-PT" b="1" dirty="0"/>
          </a:p>
          <a:p>
            <a:endParaRPr lang="pt-PT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b="1" dirty="0"/>
              <a:t>O GAP que encontramos: </a:t>
            </a:r>
            <a:br>
              <a:rPr lang="pt-PT" b="1" dirty="0"/>
            </a:br>
            <a:r>
              <a:rPr lang="pt-PT" b="1" dirty="0"/>
              <a:t>Conseguimos, ao mesmo tempo, </a:t>
            </a:r>
            <a:r>
              <a:rPr lang="pt-PT" b="1" dirty="0" err="1"/>
              <a:t>interpretabilidade</a:t>
            </a:r>
            <a:r>
              <a:rPr lang="pt-PT" b="1" dirty="0"/>
              <a:t> e capacidade preditiva </a:t>
            </a:r>
            <a:r>
              <a:rPr lang="pt-PT" dirty="0"/>
              <a:t>— e, igualmente importante, o que aprendemos quando isso não acontece.</a:t>
            </a:r>
            <a:endParaRPr lang="pt-PT" b="1" dirty="0"/>
          </a:p>
          <a:p>
            <a:endParaRPr lang="pt-PT" b="1" dirty="0"/>
          </a:p>
          <a:p>
            <a:r>
              <a:rPr lang="pt-PT" b="1" dirty="0"/>
              <a:t>Estuda uma combinação pouco explorada: uma target contínua, séries não estacionárias, regras interpretáveis e validação preditiva, tudo no mesmo estudo.</a:t>
            </a:r>
          </a:p>
          <a:p>
            <a:endParaRPr lang="pt-PT" dirty="0"/>
          </a:p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PT" dirty="0"/>
              <a:t>⏱ ACUMULADO → 6:50  (~50 s)</a:t>
            </a:r>
          </a:p>
          <a:p>
            <a:endParaRPr lang="pt-PT" dirty="0"/>
          </a:p>
          <a:p>
            <a:r>
              <a:rPr lang="pt-PT" dirty="0"/>
              <a:t>A tese organiza-se em </a:t>
            </a:r>
            <a:r>
              <a:rPr lang="pt-PT" b="1" dirty="0"/>
              <a:t>dois objetivos com níveis de evidência diferentes.</a:t>
            </a:r>
          </a:p>
          <a:p>
            <a:endParaRPr lang="pt-PT" dirty="0"/>
          </a:p>
          <a:p>
            <a:r>
              <a:rPr lang="pt-PT" b="1" dirty="0"/>
              <a:t>O Objetivo 1 </a:t>
            </a:r>
            <a:r>
              <a:rPr lang="pt-PT" dirty="0"/>
              <a:t>é a </a:t>
            </a:r>
            <a:r>
              <a:rPr lang="pt-PT" b="1" dirty="0"/>
              <a:t>descoberta de padrões</a:t>
            </a:r>
            <a:r>
              <a:rPr lang="pt-PT" dirty="0"/>
              <a:t>: que condições agroclimáticas distinguem anos acima ou abaixo da tendência, e se representam relações climáticas genuínas dentro de cada fase histórica ou apenas artefactos de fase histórica.</a:t>
            </a:r>
          </a:p>
          <a:p>
            <a:endParaRPr lang="pt-PT" dirty="0"/>
          </a:p>
          <a:p>
            <a:r>
              <a:rPr lang="pt-PT" b="1" dirty="0"/>
              <a:t>O Objetivo 2 </a:t>
            </a:r>
            <a:r>
              <a:rPr lang="pt-PT" dirty="0"/>
              <a:t>é a </a:t>
            </a:r>
            <a:r>
              <a:rPr lang="pt-PT" b="1" dirty="0"/>
              <a:t>validação preditiva</a:t>
            </a:r>
            <a:r>
              <a:rPr lang="pt-PT" dirty="0"/>
              <a:t>, mais exigente: se essa estrutura reduz o erro em anos futuros, e em que condições produz previsões úteis.</a:t>
            </a:r>
          </a:p>
          <a:p>
            <a:endParaRPr lang="pt-PT" dirty="0"/>
          </a:p>
          <a:p>
            <a:r>
              <a:rPr lang="pt-PT" b="1" dirty="0"/>
              <a:t>Os mesmos dados servem os dois, mas a fasquia difere: </a:t>
            </a:r>
          </a:p>
          <a:p>
            <a:pPr marL="171450" indent="-171450">
              <a:buFontTx/>
              <a:buChar char="-"/>
            </a:pPr>
            <a:r>
              <a:rPr lang="pt-PT" dirty="0"/>
              <a:t>para descobrir basta uma associação; </a:t>
            </a:r>
          </a:p>
          <a:p>
            <a:pPr marL="171450" indent="-171450">
              <a:buFontTx/>
              <a:buChar char="-"/>
            </a:pPr>
            <a:r>
              <a:rPr lang="pt-PT" dirty="0"/>
              <a:t>para prever, tem de superar uma baseline out-of-sample. </a:t>
            </a:r>
            <a:br>
              <a:rPr lang="pt-PT" dirty="0"/>
            </a:br>
            <a:r>
              <a:rPr lang="pt-PT" dirty="0"/>
              <a:t>Antecipando: o Objetivo 1 é alcançado; o Objetivo 2 não, de forma agregada — e compreender porquê é uma das principais contribuições.</a:t>
            </a:r>
          </a:p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PT" dirty="0"/>
              <a:t>⏱ ACUMULADO → 7:10  (~20 s)</a:t>
            </a:r>
          </a:p>
          <a:p>
            <a:endParaRPr lang="pt-PT" dirty="0"/>
          </a:p>
          <a:p>
            <a:r>
              <a:rPr lang="pt-PT" b="1" dirty="0"/>
              <a:t>Reforçando o desenho experimental:</a:t>
            </a:r>
            <a:r>
              <a:rPr lang="pt-PT" dirty="0"/>
              <a:t> </a:t>
            </a:r>
          </a:p>
          <a:p>
            <a:pPr marL="228600" indent="-228600">
              <a:buFont typeface="+mj-lt"/>
              <a:buAutoNum type="arabicPeriod"/>
            </a:pPr>
            <a:r>
              <a:rPr lang="pt-PT" dirty="0"/>
              <a:t>mantêm-se constantes  - o feature engineering, o detrending, os algoritmos e a métrica; </a:t>
            </a:r>
          </a:p>
          <a:p>
            <a:pPr marL="228600" indent="-228600">
              <a:buFont typeface="+mj-lt"/>
              <a:buAutoNum type="arabicPeriod"/>
            </a:pPr>
            <a:r>
              <a:rPr lang="pt-PT" dirty="0"/>
              <a:t>variam o regime climático, a trajetória estrutural, o ruído e a composição das fases históricas.</a:t>
            </a:r>
          </a:p>
          <a:p>
            <a:endParaRPr lang="pt-PT" dirty="0"/>
          </a:p>
          <a:p>
            <a:r>
              <a:rPr lang="pt-PT" b="1" dirty="0"/>
              <a:t>Como o método é fixo, qualquer divergência nos resultados torna-se evidência interpretável sobre a estrutura dos dados, não um efeito de escolhas de modelação.</a:t>
            </a:r>
          </a:p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PT" dirty="0"/>
              <a:t>⏱ ACUMULADO → 8:05  (~55 s)</a:t>
            </a:r>
          </a:p>
          <a:p>
            <a:endParaRPr lang="pt-PT" dirty="0"/>
          </a:p>
          <a:p>
            <a:r>
              <a:rPr lang="pt-PT" b="1" dirty="0"/>
              <a:t>Avaliei cinco famílias de modelos, com um método central: o CarenR, que liga as duas partes da tese </a:t>
            </a:r>
            <a:r>
              <a:rPr lang="pt-PT" dirty="0"/>
              <a:t>— descobre regras interpretáveis e, nas suas variantes de seleção de features, funciona também como modelo preditivo.</a:t>
            </a:r>
          </a:p>
          <a:p>
            <a:endParaRPr lang="pt-PT" dirty="0"/>
          </a:p>
          <a:p>
            <a:r>
              <a:rPr lang="pt-PT" dirty="0"/>
              <a:t>O processo tem 4 etapas: </a:t>
            </a:r>
          </a:p>
          <a:p>
            <a:pPr marL="171450" indent="-171450">
              <a:buFontTx/>
              <a:buChar char="-"/>
            </a:pPr>
            <a:r>
              <a:rPr lang="pt-PT" b="1" dirty="0"/>
              <a:t>primeiro</a:t>
            </a:r>
            <a:r>
              <a:rPr lang="pt-PT" dirty="0"/>
              <a:t>, as features são discretizadas em bins de igual frequência; </a:t>
            </a:r>
          </a:p>
          <a:p>
            <a:pPr marL="171450" indent="-171450">
              <a:buFontTx/>
              <a:buChar char="-"/>
            </a:pPr>
            <a:r>
              <a:rPr lang="pt-PT" b="1" dirty="0"/>
              <a:t>segundo</a:t>
            </a:r>
            <a:r>
              <a:rPr lang="pt-PT" dirty="0"/>
              <a:t>, uma pesquisa de regras, combina progressivamente condições; </a:t>
            </a:r>
          </a:p>
          <a:p>
            <a:pPr marL="171450" indent="-171450">
              <a:buFontTx/>
              <a:buChar char="-"/>
            </a:pPr>
            <a:r>
              <a:rPr lang="pt-PT" b="1" dirty="0"/>
              <a:t>terceiro</a:t>
            </a:r>
            <a:r>
              <a:rPr lang="pt-PT" dirty="0"/>
              <a:t>, a distribuição de cada subgrupo é comparada com a distribuição global por um teste de Kolmogorov–Smirnov; </a:t>
            </a:r>
          </a:p>
          <a:p>
            <a:pPr marL="171450" indent="-171450">
              <a:buFontTx/>
              <a:buChar char="-"/>
            </a:pPr>
            <a:r>
              <a:rPr lang="pt-PT" b="1" dirty="0"/>
              <a:t>quarto</a:t>
            </a:r>
            <a:r>
              <a:rPr lang="pt-PT" dirty="0"/>
              <a:t>, retêm-se as regras com significância estatística e support suficiente.</a:t>
            </a:r>
          </a:p>
          <a:p>
            <a:endParaRPr lang="pt-PT" dirty="0"/>
          </a:p>
          <a:p>
            <a:r>
              <a:rPr lang="pt-PT" dirty="0"/>
              <a:t>Os restantes têm papéis específicos: </a:t>
            </a:r>
          </a:p>
          <a:p>
            <a:pPr marL="171450" indent="-171450">
              <a:buFontTx/>
              <a:buChar char="-"/>
            </a:pPr>
            <a:r>
              <a:rPr lang="pt-PT" dirty="0"/>
              <a:t>o RIPPER e o M5Rules, também baseados em regras, permitem verificar se as mesmas famílias de features surgem com critérios de otimização diferentes; </a:t>
            </a:r>
          </a:p>
          <a:p>
            <a:pPr marL="171450" indent="-171450">
              <a:buFontTx/>
              <a:buChar char="-"/>
            </a:pPr>
            <a:r>
              <a:rPr lang="pt-PT" dirty="0"/>
              <a:t>a Decision Tree é um </a:t>
            </a:r>
            <a:r>
              <a:rPr lang="pt-PT" dirty="0" err="1"/>
              <a:t>benchmark</a:t>
            </a:r>
            <a:r>
              <a:rPr lang="pt-PT" dirty="0"/>
              <a:t> preditivo; e a mediana, o último valor e a média móvel são </a:t>
            </a:r>
            <a:r>
              <a:rPr lang="pt-PT" b="1" dirty="0"/>
              <a:t>baselines</a:t>
            </a:r>
            <a:r>
              <a:rPr lang="pt-PT" dirty="0"/>
              <a:t> simples.</a:t>
            </a:r>
          </a:p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551D0-3726-9B4E-614B-F8B7C250D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0C9F5D-4319-2379-A7E7-5E3827908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606A8E-57CA-A375-CEA4-C5A0518E1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PT" dirty="0"/>
              <a:t>⏱ ACUMULADO → 8:05  (~55 s)</a:t>
            </a:r>
          </a:p>
          <a:p>
            <a:endParaRPr lang="pt-PT" dirty="0"/>
          </a:p>
          <a:p>
            <a:r>
              <a:rPr lang="pt-PT" b="1" dirty="0"/>
              <a:t>Avaliei cinco famílias de modelos, com um método central: o CarenR, que liga as duas partes da tese </a:t>
            </a:r>
            <a:r>
              <a:rPr lang="pt-PT" dirty="0"/>
              <a:t>— descobre regras interpretáveis e, nas suas variantes de seleção de features, funciona também como modelo preditivo.</a:t>
            </a:r>
          </a:p>
          <a:p>
            <a:endParaRPr lang="pt-PT" dirty="0"/>
          </a:p>
          <a:p>
            <a:r>
              <a:rPr lang="pt-PT" dirty="0"/>
              <a:t>O processo tem 4 etapas: </a:t>
            </a:r>
          </a:p>
          <a:p>
            <a:pPr marL="171450" indent="-171450">
              <a:buFontTx/>
              <a:buChar char="-"/>
            </a:pPr>
            <a:r>
              <a:rPr lang="pt-PT" b="1" dirty="0"/>
              <a:t>primeiro</a:t>
            </a:r>
            <a:r>
              <a:rPr lang="pt-PT" dirty="0"/>
              <a:t>, as features são discretizadas em bins de igual frequência; </a:t>
            </a:r>
          </a:p>
          <a:p>
            <a:pPr marL="171450" indent="-171450">
              <a:buFontTx/>
              <a:buChar char="-"/>
            </a:pPr>
            <a:r>
              <a:rPr lang="pt-PT" b="1" dirty="0"/>
              <a:t>segundo</a:t>
            </a:r>
            <a:r>
              <a:rPr lang="pt-PT" dirty="0"/>
              <a:t>, uma pesquisa de regras, combina progressivamente condições; </a:t>
            </a:r>
          </a:p>
          <a:p>
            <a:pPr marL="171450" indent="-171450">
              <a:buFontTx/>
              <a:buChar char="-"/>
            </a:pPr>
            <a:r>
              <a:rPr lang="pt-PT" b="1" dirty="0"/>
              <a:t>terceiro</a:t>
            </a:r>
            <a:r>
              <a:rPr lang="pt-PT" dirty="0"/>
              <a:t>, a distribuição de cada subgrupo é comparada com a distribuição global por um teste de Kolmogorov–Smirnov; </a:t>
            </a:r>
          </a:p>
          <a:p>
            <a:pPr marL="171450" indent="-171450">
              <a:buFontTx/>
              <a:buChar char="-"/>
            </a:pPr>
            <a:r>
              <a:rPr lang="pt-PT" b="1" dirty="0"/>
              <a:t>quarto</a:t>
            </a:r>
            <a:r>
              <a:rPr lang="pt-PT" dirty="0"/>
              <a:t>, retêm-se as regras com significância estatística e support suficiente.</a:t>
            </a:r>
          </a:p>
          <a:p>
            <a:endParaRPr lang="pt-PT" dirty="0"/>
          </a:p>
          <a:p>
            <a:r>
              <a:rPr lang="pt-PT" dirty="0"/>
              <a:t>Os restantes têm papéis específicos: </a:t>
            </a:r>
          </a:p>
          <a:p>
            <a:pPr marL="171450" indent="-171450">
              <a:buFontTx/>
              <a:buChar char="-"/>
            </a:pPr>
            <a:r>
              <a:rPr lang="pt-PT" dirty="0"/>
              <a:t>o RIPPER e o M5Rules, também baseados em regras, permitem verificar se as mesmas famílias de features surgem com critérios de otimização diferentes; </a:t>
            </a:r>
          </a:p>
          <a:p>
            <a:pPr marL="171450" indent="-171450">
              <a:buFontTx/>
              <a:buChar char="-"/>
            </a:pPr>
            <a:r>
              <a:rPr lang="pt-PT" dirty="0"/>
              <a:t>a Decision Tree é um </a:t>
            </a:r>
            <a:r>
              <a:rPr lang="pt-PT" dirty="0" err="1"/>
              <a:t>benchmark</a:t>
            </a:r>
            <a:r>
              <a:rPr lang="pt-PT" dirty="0"/>
              <a:t> preditivo; e a mediana, o último valor e a média móvel são </a:t>
            </a:r>
            <a:r>
              <a:rPr lang="pt-PT" b="1" dirty="0"/>
              <a:t>baselines</a:t>
            </a:r>
            <a:r>
              <a:rPr lang="pt-PT" dirty="0"/>
              <a:t> simples.</a:t>
            </a:r>
          </a:p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C7D39-AA3C-E0D9-F78E-726FAC457C03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976688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PT" dirty="0"/>
              <a:t>⏱ ACUMULADO → 9:00   (~55 s)</a:t>
            </a:r>
          </a:p>
          <a:p>
            <a:endParaRPr lang="pt-PT" dirty="0"/>
          </a:p>
          <a:p>
            <a:r>
              <a:rPr lang="pt-PT" b="1" dirty="0"/>
              <a:t>Este slide mostra o funcionamento conceptual do CarenR</a:t>
            </a:r>
            <a:r>
              <a:rPr lang="pt-PT" dirty="0"/>
              <a:t>. </a:t>
            </a:r>
          </a:p>
          <a:p>
            <a:r>
              <a:rPr lang="pt-PT" dirty="0"/>
              <a:t>À esquerda, note-se que as próprias variáveis climáticas têm tendência: no Douro, os dias de stress térmico aumentam ao longo do período.</a:t>
            </a:r>
          </a:p>
          <a:p>
            <a:endParaRPr lang="pt-PT" dirty="0"/>
          </a:p>
          <a:p>
            <a:r>
              <a:rPr lang="pt-PT" dirty="0"/>
              <a:t>Para cada regra candidata, o algoritmo pergunta: </a:t>
            </a:r>
            <a:r>
              <a:rPr lang="pt-PT" b="1" dirty="0"/>
              <a:t>os anos que cumprem estas condições têm uma distribuição de resíduos diferente da do conjunto de todos os anos? No gráfico, a curva preta é o total e a bordô os anos da regra.</a:t>
            </a:r>
          </a:p>
          <a:p>
            <a:endParaRPr lang="pt-PT" b="1" dirty="0"/>
          </a:p>
          <a:p>
            <a:r>
              <a:rPr lang="pt-PT" b="1" dirty="0"/>
              <a:t>O ponto importante é que não compara apenas médias:</a:t>
            </a:r>
            <a:r>
              <a:rPr lang="pt-PT" dirty="0"/>
              <a:t> o teste de Kolmogorov–Smirnov mede a distância máxima entre as distribuições cumulativas, detetando também mudanças na forma e nas caudas.</a:t>
            </a:r>
          </a:p>
          <a:p>
            <a:endParaRPr lang="pt-PT" dirty="0"/>
          </a:p>
          <a:p>
            <a:r>
              <a:rPr lang="pt-PT" b="1" dirty="0"/>
              <a:t>À direita vê-se o que torna isto auditável: </a:t>
            </a:r>
            <a:r>
              <a:rPr lang="pt-PT" dirty="0"/>
              <a:t>um agrónomo pode questionar as condições, ver que o subgrupo cobre 28% dos anos e analisar o p-value — aqui 0,004.</a:t>
            </a:r>
          </a:p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25068-7483-F303-C64C-0E56F0098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C0D482-5A9E-599A-12C5-BC91BD6216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7F0624-C4D6-EE2E-073E-219F3E935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PT" dirty="0"/>
              <a:t>⏱ ACUMULADO → 9:00   (~55 s)</a:t>
            </a:r>
          </a:p>
          <a:p>
            <a:endParaRPr lang="pt-PT" dirty="0"/>
          </a:p>
          <a:p>
            <a:r>
              <a:rPr lang="pt-PT" b="1" dirty="0"/>
              <a:t>ESTE SLIDE MOSTRA O FUNCIONAMENTO CONCEPTUAL DO CARENR</a:t>
            </a:r>
            <a:r>
              <a:rPr lang="pt-PT" dirty="0"/>
              <a:t>. </a:t>
            </a:r>
          </a:p>
          <a:p>
            <a:endParaRPr lang="pt-PT" dirty="0"/>
          </a:p>
          <a:p>
            <a:r>
              <a:rPr lang="pt-PT" dirty="0"/>
              <a:t>Para cada regra candidata, o algoritmo pergunta: </a:t>
            </a:r>
            <a:r>
              <a:rPr lang="pt-PT" b="1" dirty="0"/>
              <a:t>os anos que cumprem estas condições têm uma distribuição de resíduos diferente da do conjunto de todos os anos? No gráfico, a curva preta é o total e a bordô os anos da regra.</a:t>
            </a:r>
          </a:p>
          <a:p>
            <a:endParaRPr lang="pt-PT" b="1" dirty="0"/>
          </a:p>
          <a:p>
            <a:r>
              <a:rPr lang="pt-PT" b="1" dirty="0"/>
              <a:t>O ponto importante é que não compara apenas médias:</a:t>
            </a:r>
            <a:r>
              <a:rPr lang="pt-PT" dirty="0"/>
              <a:t> o teste de Kolmogorov–Smirnov mede a distância máxima entre as distribuições cumulativas, detetando também mudanças na forma e nas caudas.</a:t>
            </a:r>
          </a:p>
          <a:p>
            <a:endParaRPr lang="pt-PT" dirty="0"/>
          </a:p>
          <a:p>
            <a:r>
              <a:rPr lang="pt-PT" b="1" dirty="0"/>
              <a:t>À direita vê-se o que torna isto auditável: </a:t>
            </a:r>
            <a:r>
              <a:rPr lang="pt-PT" dirty="0"/>
              <a:t>um agrónomo pode questionar as condições, ver que o subgrupo cobre 28% dos anos e analisar o p-value — aqui 0,004.</a:t>
            </a:r>
          </a:p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A88D1B-71DC-BEC3-2844-E4829F097C42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91801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PT" dirty="0"/>
              <a:t>⏱ ACUMULADO → 9:55   (~55 s)</a:t>
            </a:r>
          </a:p>
          <a:p>
            <a:endParaRPr lang="pt-PT" dirty="0"/>
          </a:p>
          <a:p>
            <a:r>
              <a:rPr lang="pt-PT" b="1" dirty="0"/>
              <a:t>O Objetivo 1 foi alcançado, </a:t>
            </a:r>
            <a:endParaRPr lang="pt-PT" dirty="0"/>
          </a:p>
          <a:p>
            <a:r>
              <a:rPr lang="pt-PT" dirty="0"/>
              <a:t>No Douro, 48 regras. Onde a variável mais consistente é a água no solo à vindima, presente em 54% das regras, </a:t>
            </a:r>
          </a:p>
          <a:p>
            <a:endParaRPr lang="pt-PT" dirty="0"/>
          </a:p>
          <a:p>
            <a:endParaRPr lang="pt-PT" dirty="0"/>
          </a:p>
          <a:p>
            <a:r>
              <a:rPr lang="pt-PT" dirty="0"/>
              <a:t>Nos Vinhos Verdes, 20 regras, dominadas pelo stress térmico em 50% das regras e  pela cobertura Foliar LAI —</a:t>
            </a:r>
            <a:r>
              <a:rPr lang="pt-PT" b="0" u="sng" dirty="0"/>
              <a:t>presente nas 20 regras mas em várias fases fenológicas</a:t>
            </a:r>
            <a:r>
              <a:rPr lang="pt-PT" dirty="0"/>
              <a:t>,</a:t>
            </a:r>
          </a:p>
          <a:p>
            <a:endParaRPr lang="pt-PT" dirty="0"/>
          </a:p>
          <a:p>
            <a:r>
              <a:rPr lang="pt-PT" b="1" dirty="0"/>
              <a:t>E um resultado revelador: a mesma variável pode ter efeitos opostos nas duas regiões</a:t>
            </a:r>
            <a:r>
              <a:rPr lang="pt-PT" dirty="0"/>
              <a:t>. </a:t>
            </a:r>
            <a:br>
              <a:rPr lang="pt-PT" dirty="0"/>
            </a:br>
            <a:r>
              <a:rPr lang="pt-PT" u="sng" dirty="0"/>
              <a:t>A água no solo à vindima,, associa-se a produção acima da tendência no Douro seco e abaixo no Vinho Verde atlântico. </a:t>
            </a:r>
          </a:p>
          <a:p>
            <a:endParaRPr lang="pt-PT" dirty="0"/>
          </a:p>
          <a:p>
            <a:r>
              <a:rPr lang="pt-PT" dirty="0"/>
              <a:t>O CAREN deteta o sinal contrário em cada região sem nunca as ver juntas — capta estrutura de contexto, não uma correlação espúria global.</a:t>
            </a:r>
          </a:p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r>
              <a:rPr lang="en-GB" dirty="0"/>
              <a:t>------------------------------------------------------------------------------------------------------</a:t>
            </a:r>
          </a:p>
          <a:p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dirty="0">
                <a:highlight>
                  <a:srgbClr val="FFFF00"/>
                </a:highlight>
              </a:rPr>
              <a:t>Uma nota de rigor: </a:t>
            </a:r>
            <a:r>
              <a:rPr lang="pt-PT" b="1" dirty="0"/>
              <a:t>são associações estatisticamente validadas e agronomicamente coerentes, não experiências controladas — não afirmamos causalidade.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b="1" u="sng" dirty="0"/>
              <a:t>Nota </a:t>
            </a:r>
            <a:r>
              <a:rPr lang="en-GB" b="1" u="sng" dirty="0" err="1"/>
              <a:t>adicional</a:t>
            </a:r>
            <a:r>
              <a:rPr lang="en-GB" b="1" u="sng" dirty="0"/>
              <a:t>  (nao </a:t>
            </a:r>
            <a:r>
              <a:rPr lang="en-GB" b="1" u="sng" dirty="0" err="1"/>
              <a:t>conta</a:t>
            </a:r>
            <a:r>
              <a:rPr lang="en-GB" b="1" u="sng" dirty="0"/>
              <a:t> para a </a:t>
            </a:r>
            <a:r>
              <a:rPr lang="en-GB" b="1" u="sng" dirty="0" err="1"/>
              <a:t>apresentacao</a:t>
            </a:r>
            <a:r>
              <a:rPr lang="en-GB" b="1" u="sng" dirty="0"/>
              <a:t>)</a:t>
            </a:r>
          </a:p>
          <a:p>
            <a:r>
              <a:rPr lang="en-GB" b="0" i="1" dirty="0"/>
              <a:t>as </a:t>
            </a:r>
            <a:r>
              <a:rPr lang="en-GB" b="0" i="1" dirty="0" err="1"/>
              <a:t>gamas</a:t>
            </a:r>
            <a:r>
              <a:rPr lang="en-GB" b="0" i="1" dirty="0"/>
              <a:t> </a:t>
            </a:r>
            <a:r>
              <a:rPr lang="en-GB" b="0" i="1" dirty="0" err="1"/>
              <a:t>não</a:t>
            </a:r>
            <a:r>
              <a:rPr lang="en-GB" b="0" i="1" dirty="0"/>
              <a:t> </a:t>
            </a:r>
            <a:r>
              <a:rPr lang="en-GB" b="0" i="1" dirty="0" err="1"/>
              <a:t>são</a:t>
            </a:r>
            <a:r>
              <a:rPr lang="en-GB" b="0" i="1" dirty="0"/>
              <a:t> </a:t>
            </a:r>
            <a:r>
              <a:rPr lang="en-GB" b="0" i="1" dirty="0" err="1"/>
              <a:t>idênticas</a:t>
            </a:r>
            <a:r>
              <a:rPr lang="en-GB" b="0" i="1" dirty="0"/>
              <a:t> </a:t>
            </a:r>
            <a:r>
              <a:rPr lang="en-GB" b="0" i="1" dirty="0" err="1"/>
              <a:t>ao</a:t>
            </a:r>
            <a:r>
              <a:rPr lang="en-GB" b="0" i="1" dirty="0"/>
              <a:t> </a:t>
            </a:r>
            <a:r>
              <a:rPr lang="en-GB" b="0" i="1" dirty="0" err="1"/>
              <a:t>milímetro</a:t>
            </a:r>
            <a:r>
              <a:rPr lang="en-GB" b="0" i="1" dirty="0"/>
              <a:t> (74–101 vs 61–97), mas </a:t>
            </a:r>
            <a:r>
              <a:rPr lang="en-GB" b="0" i="1" dirty="0" err="1"/>
              <a:t>sobrepõem</a:t>
            </a:r>
            <a:r>
              <a:rPr lang="en-GB" b="0" i="1" dirty="0"/>
              <a:t>-se </a:t>
            </a:r>
            <a:r>
              <a:rPr lang="en-GB" b="0" i="1" dirty="0" err="1"/>
              <a:t>em</a:t>
            </a:r>
            <a:r>
              <a:rPr lang="en-GB" b="0" i="1" dirty="0"/>
              <a:t> 74–97 mm — </a:t>
            </a:r>
            <a:r>
              <a:rPr lang="en-GB" b="0" i="1" dirty="0" err="1"/>
              <a:t>por</a:t>
            </a:r>
            <a:r>
              <a:rPr lang="en-GB" b="0" i="1" dirty="0"/>
              <a:t> </a:t>
            </a:r>
            <a:r>
              <a:rPr lang="en-GB" b="0" i="1" dirty="0" err="1"/>
              <a:t>isso</a:t>
            </a:r>
            <a:r>
              <a:rPr lang="en-GB" b="0" i="1" dirty="0"/>
              <a:t> </a:t>
            </a:r>
            <a:r>
              <a:rPr lang="en-GB" b="0" i="1" dirty="0" err="1"/>
              <a:t>é</a:t>
            </a:r>
            <a:r>
              <a:rPr lang="en-GB" b="0" i="1" dirty="0"/>
              <a:t> </a:t>
            </a:r>
            <a:r>
              <a:rPr lang="en-GB" b="0" i="1" dirty="0" err="1"/>
              <a:t>honesto</a:t>
            </a:r>
            <a:r>
              <a:rPr lang="en-GB" b="0" i="1" dirty="0"/>
              <a:t> </a:t>
            </a:r>
            <a:r>
              <a:rPr lang="en-GB" b="0" i="1" dirty="0" err="1"/>
              <a:t>dizer</a:t>
            </a:r>
            <a:r>
              <a:rPr lang="en-GB" b="0" i="1" dirty="0"/>
              <a:t> "the same range". Se </a:t>
            </a:r>
            <a:r>
              <a:rPr lang="en-GB" b="0" i="1" dirty="0" err="1"/>
              <a:t>te</a:t>
            </a:r>
            <a:r>
              <a:rPr lang="en-GB" b="0" i="1" dirty="0"/>
              <a:t> </a:t>
            </a:r>
            <a:r>
              <a:rPr lang="en-GB" b="0" i="1" dirty="0" err="1"/>
              <a:t>apertarem</a:t>
            </a:r>
            <a:r>
              <a:rPr lang="en-GB" b="0" i="1" dirty="0"/>
              <a:t>, </a:t>
            </a:r>
            <a:r>
              <a:rPr lang="en-GB" b="0" i="1" dirty="0" err="1"/>
              <a:t>dizes</a:t>
            </a:r>
            <a:r>
              <a:rPr lang="en-GB" b="0" i="1" dirty="0"/>
              <a:t> </a:t>
            </a:r>
            <a:r>
              <a:rPr lang="en-GB" b="0" i="1" dirty="0" err="1"/>
              <a:t>exatamente</a:t>
            </a:r>
            <a:r>
              <a:rPr lang="en-GB" b="0" i="1" dirty="0"/>
              <a:t> </a:t>
            </a:r>
            <a:r>
              <a:rPr lang="en-GB" b="0" i="1" dirty="0" err="1"/>
              <a:t>isso</a:t>
            </a:r>
            <a:r>
              <a:rPr lang="en-GB" b="0" i="1" dirty="0"/>
              <a:t>: </a:t>
            </a:r>
            <a:r>
              <a:rPr lang="en-GB" b="0" i="1" dirty="0" err="1"/>
              <a:t>gamas</a:t>
            </a:r>
            <a:r>
              <a:rPr lang="en-GB" b="0" i="1" dirty="0"/>
              <a:t> </a:t>
            </a:r>
            <a:r>
              <a:rPr lang="en-GB" b="0" i="1" dirty="0" err="1"/>
              <a:t>sobrepostas</a:t>
            </a:r>
            <a:r>
              <a:rPr lang="en-GB" b="0" i="1" dirty="0"/>
              <a:t>, </a:t>
            </a:r>
            <a:r>
              <a:rPr lang="en-GB" b="0" i="1" dirty="0" err="1"/>
              <a:t>sinal</a:t>
            </a:r>
            <a:r>
              <a:rPr lang="en-GB" b="0" i="1" dirty="0"/>
              <a:t> </a:t>
            </a:r>
            <a:r>
              <a:rPr lang="en-GB" b="0" i="1" dirty="0" err="1"/>
              <a:t>oposto</a:t>
            </a:r>
            <a:r>
              <a:rPr lang="en-GB" b="0" i="1" dirty="0"/>
              <a:t>, </a:t>
            </a:r>
            <a:r>
              <a:rPr lang="en-GB" b="0" i="1" dirty="0" err="1"/>
              <a:t>porque</a:t>
            </a:r>
            <a:r>
              <a:rPr lang="en-GB" b="0" i="1" dirty="0"/>
              <a:t> a </a:t>
            </a:r>
            <a:r>
              <a:rPr lang="en-GB" b="0" i="1" dirty="0" err="1"/>
              <a:t>variável</a:t>
            </a:r>
            <a:r>
              <a:rPr lang="en-GB" b="0" i="1" dirty="0"/>
              <a:t> </a:t>
            </a:r>
            <a:r>
              <a:rPr lang="en-GB" b="0" i="1" dirty="0" err="1"/>
              <a:t>é</a:t>
            </a:r>
            <a:r>
              <a:rPr lang="en-GB" b="0" i="1" dirty="0"/>
              <a:t> um proxy de </a:t>
            </a:r>
            <a:r>
              <a:rPr lang="en-GB" b="0" i="1" dirty="0" err="1"/>
              <a:t>contextos</a:t>
            </a:r>
            <a:r>
              <a:rPr lang="en-GB" b="0" i="1" dirty="0"/>
              <a:t> </a:t>
            </a:r>
            <a:r>
              <a:rPr lang="en-GB" b="0" i="1" dirty="0" err="1"/>
              <a:t>climáticos</a:t>
            </a:r>
            <a:r>
              <a:rPr lang="en-GB" b="0" i="1" dirty="0"/>
              <a:t> </a:t>
            </a:r>
            <a:r>
              <a:rPr lang="en-GB" b="0" i="1" dirty="0" err="1"/>
              <a:t>diferentes</a:t>
            </a:r>
            <a:r>
              <a:rPr lang="en-GB" b="0" i="1" dirty="0"/>
              <a:t>.</a:t>
            </a:r>
          </a:p>
          <a:p>
            <a:endParaRPr lang="en-GB" b="0" i="1" dirty="0"/>
          </a:p>
          <a:p>
            <a:pPr marL="171450" indent="-171450">
              <a:buFontTx/>
              <a:buChar char="-"/>
            </a:pPr>
            <a:r>
              <a:rPr lang="en-GB" b="1" dirty="0"/>
              <a:t>Douro (</a:t>
            </a:r>
            <a:r>
              <a:rPr lang="en-GB" b="1" dirty="0" err="1"/>
              <a:t>clima</a:t>
            </a:r>
            <a:r>
              <a:rPr lang="en-GB" b="1" dirty="0"/>
              <a:t> seco): um </a:t>
            </a:r>
            <a:r>
              <a:rPr lang="en-GB" b="1" dirty="0" err="1"/>
              <a:t>défice</a:t>
            </a:r>
            <a:r>
              <a:rPr lang="en-GB" b="1" dirty="0"/>
              <a:t> </a:t>
            </a:r>
            <a:r>
              <a:rPr lang="en-GB" b="1" i="1" dirty="0" err="1"/>
              <a:t>moderado</a:t>
            </a:r>
            <a:r>
              <a:rPr lang="en-GB" b="1" dirty="0"/>
              <a:t> de </a:t>
            </a:r>
            <a:r>
              <a:rPr lang="en-GB" b="1" dirty="0" err="1"/>
              <a:t>água</a:t>
            </a:r>
            <a:r>
              <a:rPr lang="en-GB" b="1" dirty="0"/>
              <a:t> no solo → </a:t>
            </a:r>
            <a:r>
              <a:rPr lang="en-GB" b="1" dirty="0" err="1"/>
              <a:t>produção</a:t>
            </a:r>
            <a:r>
              <a:rPr lang="en-GB" b="1" dirty="0"/>
              <a:t> </a:t>
            </a:r>
            <a:r>
              <a:rPr lang="en-GB" b="1" dirty="0" err="1"/>
              <a:t>acima</a:t>
            </a:r>
            <a:r>
              <a:rPr lang="en-GB" b="1" dirty="0"/>
              <a:t> da </a:t>
            </a:r>
            <a:r>
              <a:rPr lang="en-GB" b="1" dirty="0" err="1"/>
              <a:t>tendência</a:t>
            </a:r>
            <a:r>
              <a:rPr lang="en-GB" b="1" dirty="0"/>
              <a:t> </a:t>
            </a:r>
            <a:br>
              <a:rPr lang="en-GB" b="1" dirty="0"/>
            </a:br>
            <a:r>
              <a:rPr lang="en-GB" dirty="0"/>
              <a:t>(</a:t>
            </a:r>
            <a:r>
              <a:rPr lang="en-GB" b="0" i="1" dirty="0" err="1"/>
              <a:t>concentra</a:t>
            </a:r>
            <a:r>
              <a:rPr lang="en-GB" b="0" i="1" dirty="0"/>
              <a:t> o </a:t>
            </a:r>
            <a:r>
              <a:rPr lang="en-GB" b="0" i="1" dirty="0" err="1"/>
              <a:t>bago</a:t>
            </a:r>
            <a:r>
              <a:rPr lang="en-GB" b="0" i="1" dirty="0"/>
              <a:t>; </a:t>
            </a:r>
            <a:r>
              <a:rPr lang="en-GB" b="0" i="1" dirty="0" err="1"/>
              <a:t>é</a:t>
            </a:r>
            <a:r>
              <a:rPr lang="en-GB" b="0" i="1" dirty="0"/>
              <a:t> o "sweet spot" do Douro). </a:t>
            </a:r>
            <a:r>
              <a:rPr lang="en-GB" b="0" i="1" dirty="0" err="1"/>
              <a:t>É</a:t>
            </a:r>
            <a:r>
              <a:rPr lang="en-GB" b="0" i="1" dirty="0"/>
              <a:t> a </a:t>
            </a:r>
            <a:r>
              <a:rPr lang="en-GB" b="0" i="1" dirty="0" err="1"/>
              <a:t>regra</a:t>
            </a:r>
            <a:r>
              <a:rPr lang="en-GB" b="0" i="1" dirty="0"/>
              <a:t> de </a:t>
            </a:r>
            <a:r>
              <a:rPr lang="en-GB" b="0" i="1" dirty="0" err="1"/>
              <a:t>maior</a:t>
            </a:r>
            <a:r>
              <a:rPr lang="en-GB" b="0" i="1" dirty="0"/>
              <a:t> </a:t>
            </a:r>
            <a:r>
              <a:rPr lang="en-GB" b="0" i="1" dirty="0" err="1"/>
              <a:t>desvio</a:t>
            </a:r>
            <a:r>
              <a:rPr lang="en-GB" b="0" i="1" dirty="0"/>
              <a:t> </a:t>
            </a:r>
            <a:r>
              <a:rPr lang="en-GB" b="0" i="1" dirty="0" err="1"/>
              <a:t>positivo</a:t>
            </a:r>
            <a:r>
              <a:rPr lang="en-GB" b="0" i="1" dirty="0"/>
              <a:t>, +192 </a:t>
            </a:r>
            <a:r>
              <a:rPr lang="en-GB" b="0" i="1" dirty="0" err="1"/>
              <a:t>mhl</a:t>
            </a:r>
            <a:r>
              <a:rPr lang="en-GB" b="0" i="1" dirty="0"/>
              <a:t>.</a:t>
            </a:r>
          </a:p>
          <a:p>
            <a:pPr marL="171450" indent="-171450">
              <a:buFontTx/>
              <a:buChar char="-"/>
            </a:pPr>
            <a:endParaRPr lang="en-GB" b="0" i="1" dirty="0"/>
          </a:p>
          <a:p>
            <a:pPr marL="171450" indent="-171450">
              <a:buFontTx/>
              <a:buChar char="-"/>
            </a:pPr>
            <a:r>
              <a:rPr lang="en-GB" b="1" dirty="0"/>
              <a:t>Vinho Verde (</a:t>
            </a:r>
            <a:r>
              <a:rPr lang="en-GB" b="1" dirty="0" err="1"/>
              <a:t>clima</a:t>
            </a:r>
            <a:r>
              <a:rPr lang="en-GB" b="1" dirty="0"/>
              <a:t> </a:t>
            </a:r>
            <a:r>
              <a:rPr lang="en-GB" b="1" dirty="0" err="1"/>
              <a:t>atlântico</a:t>
            </a:r>
            <a:r>
              <a:rPr lang="en-GB" b="1" dirty="0"/>
              <a:t>): a </a:t>
            </a:r>
            <a:r>
              <a:rPr lang="en-GB" b="1" i="1" dirty="0" err="1"/>
              <a:t>mesma</a:t>
            </a:r>
            <a:r>
              <a:rPr lang="en-GB" b="1" dirty="0"/>
              <a:t> gama de </a:t>
            </a:r>
            <a:r>
              <a:rPr lang="en-GB" b="1" dirty="0" err="1"/>
              <a:t>água</a:t>
            </a:r>
            <a:r>
              <a:rPr lang="en-GB" b="1" dirty="0"/>
              <a:t> no solo → </a:t>
            </a:r>
            <a:r>
              <a:rPr lang="en-GB" b="1" dirty="0" err="1"/>
              <a:t>produção</a:t>
            </a:r>
            <a:r>
              <a:rPr lang="en-GB" b="1" dirty="0"/>
              <a:t> </a:t>
            </a:r>
            <a:r>
              <a:rPr lang="en-GB" b="1" dirty="0" err="1"/>
              <a:t>abaixo</a:t>
            </a:r>
            <a:r>
              <a:rPr lang="en-GB" b="1" dirty="0"/>
              <a:t> da </a:t>
            </a:r>
            <a:r>
              <a:rPr lang="en-GB" b="1" dirty="0" err="1"/>
              <a:t>tendência</a:t>
            </a:r>
            <a:r>
              <a:rPr lang="en-GB" b="1" dirty="0"/>
              <a:t>,</a:t>
            </a:r>
            <a:r>
              <a:rPr lang="en-GB" dirty="0"/>
              <a:t> </a:t>
            </a:r>
            <a:br>
              <a:rPr lang="en-GB" dirty="0"/>
            </a:br>
            <a:r>
              <a:rPr lang="en-GB" b="0" i="1" dirty="0" err="1"/>
              <a:t>porque</a:t>
            </a:r>
            <a:r>
              <a:rPr lang="en-GB" b="0" i="1" dirty="0"/>
              <a:t> </a:t>
            </a:r>
            <a:r>
              <a:rPr lang="en-GB" b="0" i="1" dirty="0" err="1"/>
              <a:t>aí</a:t>
            </a:r>
            <a:r>
              <a:rPr lang="en-GB" b="0" i="1" dirty="0"/>
              <a:t> </a:t>
            </a:r>
            <a:r>
              <a:rPr lang="en-GB" b="0" i="1" dirty="0" err="1"/>
              <a:t>corresponde</a:t>
            </a:r>
            <a:r>
              <a:rPr lang="en-GB" b="0" i="1" dirty="0"/>
              <a:t> a </a:t>
            </a:r>
            <a:r>
              <a:rPr lang="en-GB" b="0" i="1" dirty="0" err="1"/>
              <a:t>anos</a:t>
            </a:r>
            <a:r>
              <a:rPr lang="en-GB" b="0" i="1" dirty="0"/>
              <a:t> frescos e </a:t>
            </a:r>
            <a:r>
              <a:rPr lang="en-GB" b="0" i="1" dirty="0" err="1"/>
              <a:t>húmidos</a:t>
            </a:r>
            <a:r>
              <a:rPr lang="en-GB" b="0" i="1" dirty="0"/>
              <a:t>, de </a:t>
            </a:r>
            <a:r>
              <a:rPr lang="en-GB" b="0" i="1" dirty="0" err="1"/>
              <a:t>baixa</a:t>
            </a:r>
            <a:r>
              <a:rPr lang="en-GB" b="0" i="1" dirty="0"/>
              <a:t> </a:t>
            </a:r>
            <a:r>
              <a:rPr lang="en-GB" b="0" i="1" dirty="0" err="1"/>
              <a:t>qualidade</a:t>
            </a:r>
            <a:r>
              <a:rPr lang="en-GB" b="0" i="1" dirty="0"/>
              <a:t> (</a:t>
            </a:r>
            <a:r>
              <a:rPr lang="en-GB" b="0" i="1" dirty="0" err="1"/>
              <a:t>por</a:t>
            </a:r>
            <a:r>
              <a:rPr lang="en-GB" b="0" i="1" dirty="0"/>
              <a:t> ex. −338 </a:t>
            </a:r>
            <a:r>
              <a:rPr lang="en-GB" b="0" i="1" dirty="0" err="1"/>
              <a:t>mhl</a:t>
            </a:r>
            <a:r>
              <a:rPr lang="en-GB" b="0" i="1" dirty="0"/>
              <a:t>).</a:t>
            </a:r>
          </a:p>
          <a:p>
            <a:endParaRPr lang="en-GB" b="0" i="1" dirty="0"/>
          </a:p>
          <a:p>
            <a:endParaRPr lang="en-GB" sz="1200" b="0" i="1" kern="1200" dirty="0">
              <a:effectLst/>
            </a:endParaRP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PT" dirty="0"/>
              <a:t>⏱ ACUMULADO → 10:45 (~50 s)</a:t>
            </a:r>
          </a:p>
          <a:p>
            <a:endParaRPr lang="pt-PT" dirty="0"/>
          </a:p>
          <a:p>
            <a:r>
              <a:rPr lang="pt-PT" b="1" dirty="0"/>
              <a:t>Aqui uma breve amostra das regras de maior significância</a:t>
            </a:r>
            <a:r>
              <a:rPr lang="pt-PT" dirty="0"/>
              <a:t>.</a:t>
            </a:r>
          </a:p>
          <a:p>
            <a:endParaRPr lang="pt-PT" dirty="0"/>
          </a:p>
          <a:p>
            <a:r>
              <a:rPr lang="pt-PT" u="sng" dirty="0"/>
              <a:t>No Douro, à esquerda, quatro das cinco principais associam-se a produção acima da tendência, </a:t>
            </a:r>
            <a:r>
              <a:rPr lang="pt-PT" dirty="0"/>
              <a:t>com uma narrativa coerente: condições relativamente secas na floração e na maturação, com calor controlado, marcam os anos mais produtivos.</a:t>
            </a:r>
          </a:p>
          <a:p>
            <a:endParaRPr lang="pt-PT" dirty="0"/>
          </a:p>
          <a:p>
            <a:r>
              <a:rPr lang="pt-PT" u="sng" dirty="0"/>
              <a:t>Nos Vinhos Verdes, à direita, os desvios são maiores em magnitude e quatro das cinco regras associam-se a produção abaixo da tendência </a:t>
            </a:r>
            <a:r>
              <a:rPr lang="pt-PT" dirty="0"/>
              <a:t>— consistente com o contexto atlântico, onde os anos fracos são mais frescos e húmidos.</a:t>
            </a:r>
          </a:p>
          <a:p>
            <a:endParaRPr lang="pt-PT" dirty="0"/>
          </a:p>
          <a:p>
            <a:r>
              <a:rPr lang="pt-PT" b="1" dirty="0"/>
              <a:t>O mais relevante: </a:t>
            </a:r>
            <a:r>
              <a:rPr lang="pt-PT" dirty="0"/>
              <a:t>as variáveis de disponibilidade de água e de stress térmico surgem repetidamente como famílias explicativas, e são selecionadas pelos três algoritmos que usamos.</a:t>
            </a:r>
          </a:p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r>
              <a:rPr lang="en-GB" dirty="0"/>
              <a:t>------------------------------------------------------------------------------------------------------</a:t>
            </a:r>
          </a:p>
          <a:p>
            <a:r>
              <a:rPr lang="en-GB" b="1" u="sng" dirty="0"/>
              <a:t>Nota </a:t>
            </a:r>
            <a:r>
              <a:rPr lang="en-GB" b="1" u="sng" dirty="0" err="1"/>
              <a:t>adicional</a:t>
            </a:r>
            <a:r>
              <a:rPr lang="en-GB" b="1" u="sng" dirty="0"/>
              <a:t>  (nao </a:t>
            </a:r>
            <a:r>
              <a:rPr lang="en-GB" b="1" u="sng" dirty="0" err="1"/>
              <a:t>conta</a:t>
            </a:r>
            <a:r>
              <a:rPr lang="en-GB" b="1" u="sng" dirty="0"/>
              <a:t> para a </a:t>
            </a:r>
            <a:r>
              <a:rPr lang="en-GB" b="1" u="sng" dirty="0" err="1"/>
              <a:t>apresentacao</a:t>
            </a:r>
            <a:r>
              <a:rPr lang="en-GB" b="1" u="sng" dirty="0"/>
              <a:t>)</a:t>
            </a:r>
          </a:p>
          <a:p>
            <a:r>
              <a:rPr lang="en-GB" sz="1200" b="0" i="0" kern="1200" dirty="0">
                <a:effectLst/>
              </a:rPr>
              <a:t>A </a:t>
            </a:r>
            <a:r>
              <a:rPr lang="en-GB" sz="1200" b="0" i="0" kern="1200" dirty="0" err="1">
                <a:effectLst/>
              </a:rPr>
              <a:t>regra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mais</a:t>
            </a:r>
            <a:r>
              <a:rPr lang="en-GB" sz="1200" b="0" i="0" kern="1200" dirty="0">
                <a:effectLst/>
              </a:rPr>
              <a:t> forte, a </a:t>
            </a:r>
            <a:r>
              <a:rPr lang="en-GB" sz="1200" b="0" i="0" kern="1200" dirty="0" err="1">
                <a:effectLst/>
              </a:rPr>
              <a:t>regra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quatro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combina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níveis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moderados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água</a:t>
            </a:r>
            <a:r>
              <a:rPr lang="en-GB" sz="1200" b="0" i="0" kern="1200" dirty="0">
                <a:effectLst/>
              </a:rPr>
              <a:t> no solo antes da </a:t>
            </a:r>
            <a:r>
              <a:rPr lang="en-GB" sz="1200" b="0" i="0" kern="1200" dirty="0" err="1">
                <a:effectLst/>
              </a:rPr>
              <a:t>vindima</a:t>
            </a:r>
            <a:r>
              <a:rPr lang="en-GB" sz="1200" b="0" i="0" kern="1200" dirty="0">
                <a:effectLst/>
              </a:rPr>
              <a:t> com </a:t>
            </a:r>
            <a:r>
              <a:rPr lang="en-GB" sz="1200" b="0" i="0" kern="1200" dirty="0" err="1">
                <a:effectLst/>
              </a:rPr>
              <a:t>condições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secas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provenientes</a:t>
            </a:r>
            <a:r>
              <a:rPr lang="en-GB" sz="1200" b="0" i="0" kern="1200" dirty="0">
                <a:effectLst/>
              </a:rPr>
              <a:t> do </a:t>
            </a:r>
            <a:r>
              <a:rPr lang="en-GB" sz="1200" b="0" i="0" kern="1200" dirty="0" err="1">
                <a:effectLst/>
              </a:rPr>
              <a:t>ano</a:t>
            </a:r>
            <a:r>
              <a:rPr lang="en-GB" sz="1200" b="0" i="0" kern="1200" dirty="0">
                <a:effectLst/>
              </a:rPr>
              <a:t> anterior. Este </a:t>
            </a:r>
            <a:r>
              <a:rPr lang="en-GB" sz="1200" b="0" i="0" kern="1200" dirty="0" err="1">
                <a:effectLst/>
              </a:rPr>
              <a:t>subgrupo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apresenta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produção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aproximadamente</a:t>
            </a:r>
            <a:r>
              <a:rPr lang="en-GB" sz="1200" b="0" i="0" kern="1200" dirty="0">
                <a:effectLst/>
              </a:rPr>
              <a:t> 192 mil </a:t>
            </a:r>
            <a:r>
              <a:rPr lang="en-GB" sz="1200" b="0" i="0" kern="1200" dirty="0" err="1">
                <a:effectLst/>
              </a:rPr>
              <a:t>hectolitros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acima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tendência</a:t>
            </a:r>
            <a:r>
              <a:rPr lang="en-GB" sz="1200" b="0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A </a:t>
            </a:r>
            <a:r>
              <a:rPr lang="en-GB" sz="1200" b="0" i="0" kern="1200" dirty="0" err="1">
                <a:effectLst/>
              </a:rPr>
              <a:t>única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regra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associada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produção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abaixo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tendência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combina</a:t>
            </a:r>
            <a:r>
              <a:rPr lang="en-GB" sz="1200" b="0" i="0" kern="1200" dirty="0">
                <a:effectLst/>
              </a:rPr>
              <a:t> um LAI </a:t>
            </a:r>
            <a:r>
              <a:rPr lang="en-GB" sz="1200" b="0" i="0" kern="1200" dirty="0" err="1">
                <a:effectLst/>
              </a:rPr>
              <a:t>elevado</a:t>
            </a:r>
            <a:r>
              <a:rPr lang="en-GB" sz="1200" b="0" i="0" kern="1200" dirty="0">
                <a:effectLst/>
              </a:rPr>
              <a:t> com </a:t>
            </a:r>
            <a:r>
              <a:rPr lang="en-GB" sz="1200" b="0" i="0" kern="1200" dirty="0" err="1">
                <a:effectLst/>
              </a:rPr>
              <a:t>condições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húmidas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durante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floração</a:t>
            </a:r>
            <a:r>
              <a:rPr lang="en-GB" sz="1200" b="0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Esta </a:t>
            </a:r>
            <a:r>
              <a:rPr lang="en-GB" sz="1200" b="0" i="0" kern="1200" dirty="0" err="1">
                <a:effectLst/>
              </a:rPr>
              <a:t>associação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agronomicamente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plausível</a:t>
            </a:r>
            <a:r>
              <a:rPr lang="en-GB" sz="1200" b="0" i="0" kern="1200" dirty="0">
                <a:effectLst/>
              </a:rPr>
              <a:t>: um </a:t>
            </a:r>
            <a:r>
              <a:rPr lang="en-GB" sz="1200" b="0" i="1" kern="1200" dirty="0">
                <a:effectLst/>
              </a:rPr>
              <a:t>canopy</a:t>
            </a:r>
            <a:r>
              <a:rPr lang="en-GB" sz="1200" b="0" i="0" kern="1200" dirty="0">
                <a:effectLst/>
              </a:rPr>
              <a:t> </a:t>
            </a:r>
            <a:r>
              <a:rPr lang="en-GB" sz="1200" b="0" i="0" kern="1200" dirty="0" err="1">
                <a:effectLst/>
              </a:rPr>
              <a:t>excessivamente</a:t>
            </a:r>
            <a:r>
              <a:rPr lang="en-GB" sz="1200" b="0" i="0" kern="1200" dirty="0">
                <a:effectLst/>
              </a:rPr>
              <a:t> vigoroso </a:t>
            </a:r>
            <a:r>
              <a:rPr lang="en-GB" sz="1200" b="0" i="0" kern="1200" dirty="0" err="1">
                <a:effectLst/>
              </a:rPr>
              <a:t>num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ano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húmido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pode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favorecer</a:t>
            </a:r>
            <a:r>
              <a:rPr lang="en-GB" sz="1200" b="0" i="0" kern="1200" dirty="0">
                <a:effectLst/>
              </a:rPr>
              <a:t> o </a:t>
            </a:r>
            <a:r>
              <a:rPr lang="en-GB" sz="1200" b="0" i="0" kern="1200" dirty="0" err="1">
                <a:effectLst/>
              </a:rPr>
              <a:t>crescimento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vegetativo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direcionando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recursos</a:t>
            </a:r>
            <a:r>
              <a:rPr lang="en-GB" sz="1200" b="0" i="0" kern="1200" dirty="0">
                <a:effectLst/>
              </a:rPr>
              <a:t> para as </a:t>
            </a:r>
            <a:r>
              <a:rPr lang="en-GB" sz="1200" b="0" i="0" kern="1200" dirty="0" err="1">
                <a:effectLst/>
              </a:rPr>
              <a:t>folhas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detrimento</a:t>
            </a:r>
            <a:r>
              <a:rPr lang="en-GB" sz="1200" b="0" i="0" kern="1200" dirty="0">
                <a:effectLst/>
              </a:rPr>
              <a:t> do </a:t>
            </a:r>
            <a:r>
              <a:rPr lang="en-GB" sz="1200" b="0" i="0" kern="1200" dirty="0" err="1">
                <a:effectLst/>
              </a:rPr>
              <a:t>desenvolvimento</a:t>
            </a:r>
            <a:r>
              <a:rPr lang="en-GB" sz="1200" b="0" i="0" kern="1200" dirty="0">
                <a:effectLst/>
              </a:rPr>
              <a:t> do </a:t>
            </a:r>
            <a:r>
              <a:rPr lang="en-GB" sz="1200" b="0" i="0" kern="1200" dirty="0" err="1">
                <a:effectLst/>
              </a:rPr>
              <a:t>fruto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As </a:t>
            </a:r>
            <a:r>
              <a:rPr lang="en-GB" sz="1200" b="0" i="0" kern="1200" dirty="0" err="1">
                <a:effectLst/>
              </a:rPr>
              <a:t>regras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dominadas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sobretudo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variáveis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relacionadas</a:t>
            </a:r>
            <a:r>
              <a:rPr lang="en-GB" sz="1200" b="0" i="0" kern="1200" dirty="0">
                <a:effectLst/>
              </a:rPr>
              <a:t> com </a:t>
            </a:r>
            <a:r>
              <a:rPr lang="en-GB" sz="1200" b="0" i="0" kern="1200" dirty="0" err="1">
                <a:effectLst/>
              </a:rPr>
              <a:t>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dias</a:t>
            </a:r>
            <a:r>
              <a:rPr lang="en-GB" sz="1200" b="0" i="0" kern="1200" dirty="0">
                <a:effectLst/>
              </a:rPr>
              <a:t> de stress </a:t>
            </a:r>
            <a:r>
              <a:rPr lang="en-GB" sz="1200" b="0" i="0" kern="1200" dirty="0" err="1">
                <a:effectLst/>
              </a:rPr>
              <a:t>térmico</a:t>
            </a:r>
            <a:r>
              <a:rPr lang="en-GB" sz="1200" b="0" i="0" kern="1200" dirty="0">
                <a:effectLst/>
              </a:rPr>
              <a:t> e com a </a:t>
            </a:r>
            <a:r>
              <a:rPr lang="en-GB" sz="1200" b="0" i="0" kern="1200" dirty="0" err="1">
                <a:effectLst/>
              </a:rPr>
              <a:t>água</a:t>
            </a:r>
            <a:r>
              <a:rPr lang="en-GB" sz="1200" b="0" i="0" kern="1200" dirty="0">
                <a:effectLst/>
              </a:rPr>
              <a:t> no solo.</a:t>
            </a:r>
          </a:p>
          <a:p>
            <a:r>
              <a:rPr lang="en-GB" sz="1200" b="0" i="0" kern="1200" dirty="0">
                <a:effectLst/>
              </a:rPr>
              <a:t>A principal </a:t>
            </a:r>
            <a:r>
              <a:rPr lang="en-GB" sz="1200" b="0" i="0" kern="1200" dirty="0" err="1">
                <a:effectLst/>
              </a:rPr>
              <a:t>conclusão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destas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regras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esteja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pronta</a:t>
            </a:r>
            <a:r>
              <a:rPr lang="en-GB" sz="1200" b="0" i="0" kern="1200" dirty="0">
                <a:effectLst/>
              </a:rPr>
              <a:t> para ser </a:t>
            </a:r>
            <a:r>
              <a:rPr lang="en-GB" sz="1200" b="0" i="0" kern="1200" dirty="0" err="1">
                <a:effectLst/>
              </a:rPr>
              <a:t>operacionalizada</a:t>
            </a:r>
            <a:r>
              <a:rPr lang="en-GB" sz="1200" b="0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O </a:t>
            </a:r>
            <a:r>
              <a:rPr lang="en-GB" sz="1200" b="0" i="0" kern="1200" dirty="0" err="1">
                <a:effectLst/>
              </a:rPr>
              <a:t>mais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relevante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as </a:t>
            </a:r>
            <a:r>
              <a:rPr lang="en-GB" sz="1200" b="0" i="0" kern="1200" dirty="0" err="1">
                <a:effectLst/>
              </a:rPr>
              <a:t>variáveis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relacionadas</a:t>
            </a:r>
            <a:r>
              <a:rPr lang="en-GB" sz="1200" b="0" i="0" kern="1200" dirty="0">
                <a:effectLst/>
              </a:rPr>
              <a:t> com </a:t>
            </a:r>
            <a:r>
              <a:rPr lang="en-GB" sz="1200" b="0" i="0" kern="1200" dirty="0" err="1">
                <a:effectLst/>
              </a:rPr>
              <a:t>disponibilidade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água</a:t>
            </a:r>
            <a:r>
              <a:rPr lang="en-GB" sz="1200" b="0" i="0" kern="1200" dirty="0">
                <a:effectLst/>
              </a:rPr>
              <a:t> e stress </a:t>
            </a:r>
            <a:r>
              <a:rPr lang="en-GB" sz="1200" b="0" i="0" kern="1200" dirty="0" err="1">
                <a:effectLst/>
              </a:rPr>
              <a:t>térmico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surgem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repetidamente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como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famílias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explicativas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importantes</a:t>
            </a:r>
            <a:r>
              <a:rPr lang="en-GB" sz="1200" b="0" i="0" kern="1200" dirty="0">
                <a:effectLst/>
              </a:rPr>
              <a:t> e </a:t>
            </a:r>
            <a:r>
              <a:rPr lang="en-GB" sz="1200" b="0" i="0" kern="1200" dirty="0" err="1">
                <a:effectLst/>
              </a:rPr>
              <a:t>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também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selecionadas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pelos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três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algoritmos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considerados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PT" dirty="0"/>
              <a:t>⏱ ACUMULADO → 11:25  (~40 s)</a:t>
            </a:r>
          </a:p>
          <a:p>
            <a:endParaRPr lang="pt-PT" dirty="0"/>
          </a:p>
          <a:p>
            <a:r>
              <a:rPr lang="pt-PT" b="1" dirty="0"/>
              <a:t>Esta é a versão de auditoria das regras:</a:t>
            </a:r>
            <a:r>
              <a:rPr lang="pt-PT" dirty="0"/>
              <a:t> em vez de uma linguagem resumida, </a:t>
            </a:r>
            <a:r>
              <a:rPr lang="pt-PT" b="1" dirty="0"/>
              <a:t>a saída exata do CarenR, com os intervalos que definem cada regra.</a:t>
            </a:r>
          </a:p>
          <a:p>
            <a:endParaRPr lang="pt-PT" dirty="0"/>
          </a:p>
          <a:p>
            <a:r>
              <a:rPr lang="pt-PT" b="1" dirty="0"/>
              <a:t>Do ponto de vista de negócio é das perspetivas mais importantes.</a:t>
            </a:r>
            <a:br>
              <a:rPr lang="pt-PT" b="1" dirty="0"/>
            </a:br>
            <a:r>
              <a:rPr lang="pt-PT" dirty="0"/>
              <a:t>O modelo não diz só que a água no solo importa; dá condições concretas — por exemplo, dias húmidos pós-floração entre 0 e 3,3, ou água no solo antes da vindima entre 74 e 101 mm.</a:t>
            </a:r>
          </a:p>
          <a:p>
            <a:endParaRPr lang="pt-PT" dirty="0"/>
          </a:p>
          <a:p>
            <a:r>
              <a:rPr lang="pt-PT" b="1" dirty="0"/>
              <a:t>Isto transforma uma explicação estatística numa conversa com especialistas:</a:t>
            </a:r>
            <a:r>
              <a:rPr lang="pt-PT" dirty="0"/>
              <a:t> cada limiar pode ser confrontado com o que se reconhece no campo, com o respetivo support, p-value e efeito observado.</a:t>
            </a:r>
          </a:p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71749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PT" dirty="0"/>
              <a:t>⏱ ACUMULADO → 12:05  (~40 s)</a:t>
            </a:r>
          </a:p>
          <a:p>
            <a:endParaRPr lang="pt-PT" dirty="0"/>
          </a:p>
          <a:p>
            <a:r>
              <a:rPr lang="pt-PT" b="1" dirty="0"/>
              <a:t>Serão estas regras apenas artefactos da pesquisa específica do CAREN? </a:t>
            </a:r>
          </a:p>
          <a:p>
            <a:r>
              <a:rPr lang="pt-PT" u="sng" dirty="0"/>
              <a:t>O CarenR, o RIPPER e o M5Rules otimizam objetivos fundamentalmente diferentes, por isso a sua convergência é evidência relevante</a:t>
            </a:r>
            <a:r>
              <a:rPr lang="pt-PT" dirty="0"/>
              <a:t>.</a:t>
            </a:r>
          </a:p>
          <a:p>
            <a:endParaRPr lang="pt-PT" dirty="0"/>
          </a:p>
          <a:p>
            <a:r>
              <a:rPr lang="pt-PT" b="1" dirty="0"/>
              <a:t>Duas famílias são confirmadas mais uma vez pelos três métodos</a:t>
            </a:r>
            <a:r>
              <a:rPr lang="pt-PT" dirty="0"/>
              <a:t>: a água no solo à vindima e as variáveis ligadas ao LAI, ou estrutura do coberto.</a:t>
            </a:r>
          </a:p>
          <a:p>
            <a:endParaRPr lang="pt-PT" dirty="0"/>
          </a:p>
          <a:p>
            <a:r>
              <a:rPr lang="pt-PT" b="1" dirty="0"/>
              <a:t>Também aqui não afirmamos causalidade; o que temos é evidência convergente de que estas famílias captam estrutura real dos dados, e não ruído de um único algoritmo.</a:t>
            </a:r>
          </a:p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r>
              <a:rPr lang="en-GB" dirty="0"/>
              <a:t>------------------------------------------------------------------------------------------------------</a:t>
            </a:r>
          </a:p>
          <a:p>
            <a:r>
              <a:rPr lang="en-GB" b="1" u="sng" dirty="0"/>
              <a:t>Nota </a:t>
            </a:r>
            <a:r>
              <a:rPr lang="en-GB" b="1" u="sng" dirty="0" err="1"/>
              <a:t>adicional</a:t>
            </a:r>
            <a:r>
              <a:rPr lang="en-GB" b="1" u="sng" dirty="0"/>
              <a:t>  (nao </a:t>
            </a:r>
            <a:r>
              <a:rPr lang="en-GB" b="1" u="sng" dirty="0" err="1"/>
              <a:t>conta</a:t>
            </a:r>
            <a:r>
              <a:rPr lang="en-GB" b="1" u="sng" dirty="0"/>
              <a:t> para a </a:t>
            </a:r>
            <a:r>
              <a:rPr lang="en-GB" b="1" u="sng" dirty="0" err="1"/>
              <a:t>apresentacao</a:t>
            </a:r>
            <a:r>
              <a:rPr lang="en-GB" b="1" u="sng" dirty="0"/>
              <a:t>)</a:t>
            </a:r>
          </a:p>
          <a:p>
            <a:br>
              <a:rPr lang="en-GB" dirty="0"/>
            </a:br>
            <a:br>
              <a:rPr lang="en-GB" dirty="0"/>
            </a:br>
            <a:r>
              <a:rPr lang="en-GB" sz="1200" b="0" i="1" kern="1200" dirty="0">
                <a:effectLst/>
              </a:rPr>
              <a:t>O CarenR </a:t>
            </a:r>
            <a:r>
              <a:rPr lang="en-GB" sz="1200" b="0" i="1" kern="1200" dirty="0" err="1">
                <a:effectLst/>
              </a:rPr>
              <a:t>utiliza</a:t>
            </a:r>
            <a:r>
              <a:rPr lang="en-GB" sz="1200" b="0" i="1" kern="1200" dirty="0">
                <a:effectLst/>
              </a:rPr>
              <a:t> um teste </a:t>
            </a:r>
            <a:r>
              <a:rPr lang="en-GB" sz="1200" b="0" i="1" kern="1200" dirty="0" err="1">
                <a:effectLst/>
              </a:rPr>
              <a:t>distribucional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baseado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na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estatística</a:t>
            </a:r>
            <a:r>
              <a:rPr lang="en-GB" sz="1200" b="0" i="1" kern="1200" dirty="0">
                <a:effectLst/>
              </a:rPr>
              <a:t> KS. O RIPPER </a:t>
            </a:r>
            <a:r>
              <a:rPr lang="en-GB" sz="1200" b="0" i="1" kern="1200" dirty="0" err="1">
                <a:effectLst/>
              </a:rPr>
              <a:t>utiliza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critérios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relacionados</a:t>
            </a:r>
            <a:r>
              <a:rPr lang="en-GB" sz="1200" b="0" i="1" kern="1200" dirty="0">
                <a:effectLst/>
              </a:rPr>
              <a:t> com </a:t>
            </a:r>
            <a:r>
              <a:rPr lang="en-GB" sz="1200" b="0" i="1" kern="1200" dirty="0" err="1">
                <a:effectLst/>
              </a:rPr>
              <a:t>ganho</a:t>
            </a:r>
            <a:r>
              <a:rPr lang="en-GB" sz="1200" b="0" i="1" kern="1200" dirty="0">
                <a:effectLst/>
              </a:rPr>
              <a:t> de </a:t>
            </a:r>
            <a:r>
              <a:rPr lang="en-GB" sz="1200" b="0" i="1" kern="1200" dirty="0" err="1">
                <a:effectLst/>
              </a:rPr>
              <a:t>informação</a:t>
            </a:r>
            <a:r>
              <a:rPr lang="en-GB" sz="1200" b="0" i="1" kern="1200" dirty="0">
                <a:effectLst/>
              </a:rPr>
              <a:t> para </a:t>
            </a:r>
            <a:r>
              <a:rPr lang="en-GB" sz="1200" b="0" i="1" kern="1200" dirty="0" err="1">
                <a:effectLst/>
              </a:rPr>
              <a:t>classificação</a:t>
            </a:r>
            <a:r>
              <a:rPr lang="en-GB" sz="1200" b="0" i="1" kern="1200" dirty="0">
                <a:effectLst/>
              </a:rPr>
              <a:t>. O M5Rules </a:t>
            </a:r>
            <a:r>
              <a:rPr lang="en-GB" sz="1200" b="0" i="1" kern="1200" dirty="0" err="1">
                <a:effectLst/>
              </a:rPr>
              <a:t>procura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reduzir</a:t>
            </a:r>
            <a:r>
              <a:rPr lang="en-GB" sz="1200" b="0" i="1" kern="1200" dirty="0">
                <a:effectLst/>
              </a:rPr>
              <a:t> o </a:t>
            </a:r>
            <a:r>
              <a:rPr lang="en-GB" sz="1200" b="0" i="1" kern="1200" dirty="0" err="1">
                <a:effectLst/>
              </a:rPr>
              <a:t>erro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quadrático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num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problema</a:t>
            </a:r>
            <a:r>
              <a:rPr lang="en-GB" sz="1200" b="0" i="1" kern="1200" dirty="0">
                <a:effectLst/>
              </a:rPr>
              <a:t> de </a:t>
            </a:r>
            <a:r>
              <a:rPr lang="en-GB" sz="1200" b="0" i="1" kern="1200" dirty="0" err="1">
                <a:effectLst/>
              </a:rPr>
              <a:t>regressão</a:t>
            </a:r>
            <a:r>
              <a:rPr lang="en-GB" sz="1200" b="0" i="1" kern="1200" dirty="0">
                <a:effectLst/>
              </a:rPr>
              <a:t>.</a:t>
            </a:r>
          </a:p>
          <a:p>
            <a:r>
              <a:rPr lang="en-GB" sz="1200" b="0" i="1" kern="1200" dirty="0">
                <a:effectLst/>
              </a:rPr>
              <a:t>Por </a:t>
            </a:r>
            <a:r>
              <a:rPr lang="en-GB" sz="1200" b="0" i="1" kern="1200" dirty="0" err="1">
                <a:effectLst/>
              </a:rPr>
              <a:t>isso</a:t>
            </a:r>
            <a:r>
              <a:rPr lang="en-GB" sz="1200" b="0" i="1" kern="1200" dirty="0">
                <a:effectLst/>
              </a:rPr>
              <a:t>, </a:t>
            </a:r>
            <a:r>
              <a:rPr lang="en-GB" sz="1200" b="0" i="1" kern="1200" dirty="0" err="1">
                <a:effectLst/>
              </a:rPr>
              <a:t>quando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os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três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algoritmos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selecionam</a:t>
            </a:r>
            <a:r>
              <a:rPr lang="en-GB" sz="1200" b="0" i="1" kern="1200" dirty="0">
                <a:effectLst/>
              </a:rPr>
              <a:t> a </a:t>
            </a:r>
            <a:r>
              <a:rPr lang="en-GB" sz="1200" b="0" i="1" kern="1200" dirty="0" err="1">
                <a:effectLst/>
              </a:rPr>
              <a:t>mesma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família</a:t>
            </a:r>
            <a:r>
              <a:rPr lang="en-GB" sz="1200" b="0" i="1" kern="1200" dirty="0">
                <a:effectLst/>
              </a:rPr>
              <a:t> de features, </a:t>
            </a:r>
            <a:r>
              <a:rPr lang="en-GB" sz="1200" b="0" i="1" kern="1200" dirty="0" err="1">
                <a:effectLst/>
              </a:rPr>
              <a:t>essa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convergência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constitui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evidência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relevante</a:t>
            </a:r>
            <a:r>
              <a:rPr lang="en-GB" sz="1200" b="0" i="1" kern="1200" dirty="0">
                <a:effectLst/>
              </a:rPr>
              <a:t>.</a:t>
            </a:r>
          </a:p>
          <a:p>
            <a:endParaRPr lang="en-GB" sz="1200" b="0" i="1" kern="1200" dirty="0">
              <a:effectLst/>
            </a:endParaRPr>
          </a:p>
          <a:p>
            <a:r>
              <a:rPr lang="en-GB" sz="1200" b="0" i="1" kern="1200" dirty="0">
                <a:effectLst/>
              </a:rPr>
              <a:t>- a </a:t>
            </a:r>
            <a:r>
              <a:rPr lang="en-GB" sz="1200" b="0" i="1" kern="1200" dirty="0" err="1">
                <a:effectLst/>
              </a:rPr>
              <a:t>água</a:t>
            </a:r>
            <a:r>
              <a:rPr lang="en-GB" sz="1200" b="0" i="1" kern="1200" dirty="0">
                <a:effectLst/>
              </a:rPr>
              <a:t> no solo </a:t>
            </a:r>
            <a:r>
              <a:rPr lang="en-GB" sz="1200" b="0" i="1" kern="1200" dirty="0" err="1">
                <a:effectLst/>
              </a:rPr>
              <a:t>durante</a:t>
            </a:r>
            <a:r>
              <a:rPr lang="en-GB" sz="1200" b="0" i="1" kern="1200" dirty="0">
                <a:effectLst/>
              </a:rPr>
              <a:t> a </a:t>
            </a:r>
            <a:r>
              <a:rPr lang="en-GB" sz="1200" b="0" i="1" kern="1200" dirty="0" err="1">
                <a:effectLst/>
              </a:rPr>
              <a:t>vindima</a:t>
            </a:r>
            <a:r>
              <a:rPr lang="en-GB" sz="1200" b="0" i="1" kern="1200" dirty="0">
                <a:effectLst/>
              </a:rPr>
              <a:t> e as </a:t>
            </a:r>
            <a:r>
              <a:rPr lang="en-GB" sz="1200" b="0" i="1" kern="1200" dirty="0" err="1">
                <a:effectLst/>
              </a:rPr>
              <a:t>variáveis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relacionadas</a:t>
            </a:r>
            <a:r>
              <a:rPr lang="en-GB" sz="1200" b="0" i="1" kern="1200" dirty="0">
                <a:effectLst/>
              </a:rPr>
              <a:t> com o LAI, </a:t>
            </a:r>
            <a:r>
              <a:rPr lang="en-GB" sz="1200" b="0" i="1" kern="1200" dirty="0" err="1">
                <a:effectLst/>
              </a:rPr>
              <a:t>ou</a:t>
            </a:r>
            <a:r>
              <a:rPr lang="en-GB" sz="1200" b="0" i="1" kern="1200" dirty="0">
                <a:effectLst/>
              </a:rPr>
              <a:t> com a </a:t>
            </a:r>
            <a:r>
              <a:rPr lang="en-GB" sz="1200" b="0" i="1" kern="1200" dirty="0" err="1">
                <a:effectLst/>
              </a:rPr>
              <a:t>estrutura</a:t>
            </a:r>
            <a:r>
              <a:rPr lang="en-GB" sz="1200" b="0" i="1" kern="1200" dirty="0">
                <a:effectLst/>
              </a:rPr>
              <a:t> do canopy .</a:t>
            </a:r>
          </a:p>
          <a:p>
            <a:r>
              <a:rPr lang="en-GB" sz="1200" b="0" i="1" kern="1200" dirty="0" err="1">
                <a:effectLst/>
              </a:rPr>
              <a:t>É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importante</a:t>
            </a:r>
            <a:r>
              <a:rPr lang="en-GB" sz="1200" b="0" i="1" kern="1200" dirty="0">
                <a:effectLst/>
              </a:rPr>
              <a:t> ser </a:t>
            </a:r>
            <a:r>
              <a:rPr lang="en-GB" sz="1200" b="0" i="1" kern="1200" dirty="0" err="1">
                <a:effectLst/>
              </a:rPr>
              <a:t>rigoroso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relativamente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ao</a:t>
            </a:r>
            <a:r>
              <a:rPr lang="en-GB" sz="1200" b="0" i="1" kern="1200" dirty="0">
                <a:effectLst/>
              </a:rPr>
              <a:t> LAI.</a:t>
            </a:r>
          </a:p>
          <a:p>
            <a:r>
              <a:rPr lang="en-GB" sz="1200" b="0" i="1" kern="1200" dirty="0">
                <a:effectLst/>
              </a:rPr>
              <a:t>Esta </a:t>
            </a:r>
            <a:r>
              <a:rPr lang="en-GB" sz="1200" b="0" i="1" kern="1200" dirty="0" err="1">
                <a:effectLst/>
              </a:rPr>
              <a:t>família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aparece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em</a:t>
            </a:r>
            <a:r>
              <a:rPr lang="en-GB" sz="1200" b="0" i="1" kern="1200" dirty="0">
                <a:effectLst/>
              </a:rPr>
              <a:t> 4 das 20 </a:t>
            </a:r>
            <a:r>
              <a:rPr lang="en-GB" sz="1200" b="0" i="1" kern="1200" dirty="0" err="1">
                <a:effectLst/>
              </a:rPr>
              <a:t>regras</a:t>
            </a:r>
            <a:r>
              <a:rPr lang="en-GB" sz="1200" b="0" i="1" kern="1200" dirty="0">
                <a:effectLst/>
              </a:rPr>
              <a:t> da </a:t>
            </a:r>
            <a:r>
              <a:rPr lang="en-GB" sz="1200" b="0" i="1" kern="1200" dirty="0" err="1">
                <a:effectLst/>
              </a:rPr>
              <a:t>Região</a:t>
            </a:r>
            <a:r>
              <a:rPr lang="en-GB" sz="1200" b="0" i="1" kern="1200" dirty="0">
                <a:effectLst/>
              </a:rPr>
              <a:t> dos Vinhos Verdes. A </a:t>
            </a:r>
            <a:r>
              <a:rPr lang="en-GB" sz="1200" b="0" i="1" kern="1200" dirty="0" err="1">
                <a:effectLst/>
              </a:rPr>
              <a:t>conclusão</a:t>
            </a:r>
            <a:r>
              <a:rPr lang="en-GB" sz="1200" b="0" i="1" kern="1200" dirty="0">
                <a:effectLst/>
              </a:rPr>
              <a:t> da </a:t>
            </a:r>
            <a:r>
              <a:rPr lang="en-GB" sz="1200" b="0" i="1" kern="1200" dirty="0" err="1">
                <a:effectLst/>
              </a:rPr>
              <a:t>análise</a:t>
            </a:r>
            <a:r>
              <a:rPr lang="en-GB" sz="1200" b="0" i="1" kern="1200" dirty="0">
                <a:effectLst/>
              </a:rPr>
              <a:t> entre </a:t>
            </a:r>
            <a:r>
              <a:rPr lang="en-GB" sz="1200" b="0" i="1" kern="1200" dirty="0" err="1">
                <a:effectLst/>
              </a:rPr>
              <a:t>algoritmos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é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que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os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três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métodos</a:t>
            </a:r>
            <a:r>
              <a:rPr lang="en-GB" sz="1200" b="0" i="1" kern="1200" dirty="0">
                <a:effectLst/>
              </a:rPr>
              <a:t> a </a:t>
            </a:r>
            <a:r>
              <a:rPr lang="en-GB" sz="1200" b="0" i="1" kern="1200" dirty="0" err="1">
                <a:effectLst/>
              </a:rPr>
              <a:t>selecionam</a:t>
            </a:r>
            <a:r>
              <a:rPr lang="en-GB" sz="1200" b="0" i="1" kern="1200" dirty="0">
                <a:effectLst/>
              </a:rPr>
              <a:t>, e </a:t>
            </a:r>
            <a:r>
              <a:rPr lang="en-GB" sz="1200" b="0" i="1" kern="1200" dirty="0" err="1">
                <a:effectLst/>
              </a:rPr>
              <a:t>não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que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seja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uma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variável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particularmente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frequente</a:t>
            </a:r>
            <a:r>
              <a:rPr lang="en-GB" sz="1200" b="0" i="1" kern="1200" dirty="0">
                <a:effectLst/>
              </a:rPr>
              <a:t> no conjunto de </a:t>
            </a:r>
            <a:r>
              <a:rPr lang="en-GB" sz="1200" b="0" i="1" kern="1200" dirty="0" err="1">
                <a:effectLst/>
              </a:rPr>
              <a:t>regras</a:t>
            </a:r>
            <a:r>
              <a:rPr lang="en-GB" sz="1200" b="0" i="1" kern="1200" dirty="0">
                <a:effectLst/>
              </a:rPr>
              <a:t>.</a:t>
            </a:r>
          </a:p>
          <a:p>
            <a:endParaRPr lang="en-GB" sz="1200" b="0" i="1" kern="1200" dirty="0">
              <a:effectLst/>
            </a:endParaRPr>
          </a:p>
          <a:p>
            <a:endParaRPr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PT" dirty="0"/>
              <a:t>⏱ ACUMULADO → 13:00  (~55 s)</a:t>
            </a:r>
          </a:p>
          <a:p>
            <a:endParaRPr lang="pt-PT" dirty="0"/>
          </a:p>
          <a:p>
            <a:r>
              <a:rPr lang="pt-PT" dirty="0"/>
              <a:t>Este slide responde ao risco de confundimento entre as features e as fases históricas: </a:t>
            </a:r>
            <a:r>
              <a:rPr lang="pt-PT" b="1" dirty="0"/>
              <a:t>uma variável que evolua como a produção pode parecer informativa após um detrending linear, mesmo sem relação climática dentro de cada fase histórica.</a:t>
            </a:r>
          </a:p>
          <a:p>
            <a:endParaRPr lang="pt-PT" dirty="0"/>
          </a:p>
          <a:p>
            <a:r>
              <a:rPr lang="pt-PT" b="1" dirty="0"/>
              <a:t>Para testar, apliquei um detrending LOESS, mais agressivo</a:t>
            </a:r>
            <a:r>
              <a:rPr lang="pt-PT" dirty="0"/>
              <a:t>, que remove grande parte da estrutura de fase histórica. </a:t>
            </a:r>
          </a:p>
          <a:p>
            <a:endParaRPr lang="pt-PT" dirty="0"/>
          </a:p>
          <a:p>
            <a:r>
              <a:rPr lang="pt-PT" b="1" dirty="0"/>
              <a:t>Os resultados divergem: </a:t>
            </a:r>
          </a:p>
          <a:p>
            <a:pPr marL="171450" indent="-171450">
              <a:buFontTx/>
              <a:buChar char="-"/>
            </a:pPr>
            <a:r>
              <a:rPr lang="pt-PT" dirty="0"/>
              <a:t>no Douro os sinais mantêm-se — são relações climáticas genuínas; </a:t>
            </a:r>
          </a:p>
          <a:p>
            <a:pPr marL="171450" indent="-171450">
              <a:buFontTx/>
              <a:buChar char="-"/>
            </a:pPr>
            <a:r>
              <a:rPr lang="pt-PT" dirty="0"/>
              <a:t>nos Vinhos Verdes o sinal dos dias húmidos permanece, mas as regras de LAI e de água no solo à vindima desaparecem, indicando que estavam parcialmente ligadas à mudança estrutural.</a:t>
            </a:r>
          </a:p>
          <a:p>
            <a:endParaRPr lang="pt-PT" dirty="0"/>
          </a:p>
          <a:p>
            <a:r>
              <a:rPr lang="pt-PT" b="1" dirty="0"/>
              <a:t>Esse desaparecimento não se esconde:</a:t>
            </a:r>
            <a:r>
              <a:rPr lang="pt-PT" dirty="0"/>
              <a:t> é um resultado importante e antecipa porque a previsão falha nesta região. Mas credibilidade explicativa não é o mesmo que utilidade preditiva — e é essa a transição para a parte seguinte.</a:t>
            </a:r>
          </a:p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PT" dirty="0"/>
              <a:t>⏱ ACUMULADO → 13:40    (~40 s)</a:t>
            </a:r>
          </a:p>
          <a:p>
            <a:endParaRPr lang="pt-PT" dirty="0"/>
          </a:p>
          <a:p>
            <a:r>
              <a:rPr lang="pt-PT" b="1" dirty="0"/>
              <a:t>Para o Objetivo 2,</a:t>
            </a:r>
            <a:r>
              <a:rPr lang="pt-PT" dirty="0"/>
              <a:t> </a:t>
            </a:r>
            <a:r>
              <a:rPr lang="pt-PT" u="sng" dirty="0"/>
              <a:t>reproduzi condições realistas de previsão com walk-forward validation de janela expansiva: 18 cenários no Douro e 16 nos Vinhos Verdes. Em cada cenário, o modelo treina só com o passado e é avaliado nos anos seguintes.</a:t>
            </a:r>
          </a:p>
          <a:p>
            <a:endParaRPr lang="pt-PT" dirty="0"/>
          </a:p>
          <a:p>
            <a:r>
              <a:rPr lang="pt-PT" dirty="0"/>
              <a:t>O ponto crítico é que todo o pré-processamento — detrending, discretização, seleção de features e indução de regras — é feito dentro de cada fold de treino, </a:t>
            </a:r>
            <a:r>
              <a:rPr lang="pt-PT" b="1" dirty="0"/>
              <a:t>evitando qualquer data leakage.</a:t>
            </a:r>
          </a:p>
          <a:p>
            <a:endParaRPr lang="pt-PT" dirty="0"/>
          </a:p>
          <a:p>
            <a:r>
              <a:rPr lang="pt-PT" b="1" dirty="0"/>
              <a:t>Comparei 17 modelos pelo erro absoluto médio ponderado</a:t>
            </a:r>
            <a:r>
              <a:rPr lang="pt-PT" dirty="0"/>
              <a:t>, tendo como baseline principal a mediana do treino.</a:t>
            </a:r>
          </a:p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r>
              <a:rPr lang="en-GB" dirty="0"/>
              <a:t>------------------------------------------------------------------------------------------------------</a:t>
            </a:r>
          </a:p>
          <a:p>
            <a:r>
              <a:rPr lang="en-GB" b="1" u="sng" dirty="0"/>
              <a:t>Nota </a:t>
            </a:r>
            <a:r>
              <a:rPr lang="en-GB" b="1" u="sng" dirty="0" err="1"/>
              <a:t>adicional</a:t>
            </a:r>
            <a:r>
              <a:rPr lang="en-GB" b="1" u="sng" dirty="0"/>
              <a:t>  (nao </a:t>
            </a:r>
            <a:r>
              <a:rPr lang="en-GB" b="1" u="sng" dirty="0" err="1"/>
              <a:t>conta</a:t>
            </a:r>
            <a:r>
              <a:rPr lang="en-GB" b="1" u="sng" dirty="0"/>
              <a:t> para a </a:t>
            </a:r>
            <a:r>
              <a:rPr lang="en-GB" b="1" u="sng" dirty="0" err="1"/>
              <a:t>apresentacao</a:t>
            </a:r>
            <a:r>
              <a:rPr lang="en-GB" b="1" u="sng" dirty="0"/>
              <a:t>)</a:t>
            </a:r>
          </a:p>
          <a:p>
            <a:r>
              <a:rPr lang="en-GB" sz="1200" b="0" i="0" kern="1200" dirty="0">
                <a:effectLst/>
              </a:rPr>
              <a:t>Esta </a:t>
            </a:r>
            <a:r>
              <a:rPr lang="en-GB" sz="1200" b="0" i="0" kern="1200" dirty="0" err="1">
                <a:effectLst/>
              </a:rPr>
              <a:t>escolha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deliberada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porque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mediana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previsão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constante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ótima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quando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função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perda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utilizada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o MAE.</a:t>
            </a:r>
          </a:p>
          <a:p>
            <a:r>
              <a:rPr lang="en-GB" sz="1200" b="0" i="0" kern="1200" dirty="0">
                <a:effectLst/>
              </a:rPr>
              <a:t>Assim, </a:t>
            </a:r>
            <a:r>
              <a:rPr lang="en-GB" sz="1200" b="0" i="0" kern="1200" dirty="0" err="1">
                <a:effectLst/>
              </a:rPr>
              <a:t>superar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esta</a:t>
            </a:r>
            <a:r>
              <a:rPr lang="en-GB" sz="1200" b="0" i="0" kern="1200" dirty="0">
                <a:effectLst/>
              </a:rPr>
              <a:t> </a:t>
            </a:r>
            <a:r>
              <a:rPr lang="en-GB" sz="1200" b="0" i="1" kern="1200" dirty="0">
                <a:effectLst/>
              </a:rPr>
              <a:t>baseline</a:t>
            </a:r>
            <a:r>
              <a:rPr lang="en-GB" sz="1200" b="0" i="0" kern="1200" dirty="0">
                <a:effectLst/>
              </a:rPr>
              <a:t> </a:t>
            </a:r>
            <a:r>
              <a:rPr lang="en-GB" sz="1200" b="0" i="0" kern="1200" dirty="0" err="1">
                <a:effectLst/>
              </a:rPr>
              <a:t>significa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demonstrar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as </a:t>
            </a:r>
            <a:r>
              <a:rPr lang="en-GB" sz="1200" b="0" i="1" kern="1200" dirty="0">
                <a:effectLst/>
              </a:rPr>
              <a:t>features</a:t>
            </a:r>
            <a:r>
              <a:rPr lang="en-GB" sz="1200" b="0" i="0" kern="1200" dirty="0">
                <a:effectLst/>
              </a:rPr>
              <a:t> </a:t>
            </a:r>
            <a:r>
              <a:rPr lang="en-GB" sz="1200" b="0" i="0" kern="1200" dirty="0" err="1">
                <a:effectLst/>
              </a:rPr>
              <a:t>climáticas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contêm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sinal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adicional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pode</a:t>
            </a:r>
            <a:r>
              <a:rPr lang="en-GB" sz="1200" b="0" i="0" kern="1200" dirty="0">
                <a:effectLst/>
              </a:rPr>
              <a:t> ser </a:t>
            </a:r>
            <a:r>
              <a:rPr lang="en-GB" sz="1200" b="0" i="0" kern="1200" dirty="0" err="1">
                <a:effectLst/>
              </a:rPr>
              <a:t>explorado</a:t>
            </a:r>
            <a:r>
              <a:rPr lang="en-GB" sz="1200" b="0" i="0" kern="1200" dirty="0">
                <a:effectLst/>
              </a:rPr>
              <a:t> para </a:t>
            </a:r>
            <a:r>
              <a:rPr lang="en-GB" sz="1200" b="0" i="0" kern="1200" dirty="0" err="1">
                <a:effectLst/>
              </a:rPr>
              <a:t>melhorar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previsão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1" i="0" kern="1200" dirty="0">
              <a:effectLst/>
            </a:endParaRPr>
          </a:p>
          <a:p>
            <a:endParaRPr lang="en-GB" sz="1200" b="1" i="0" kern="1200" dirty="0">
              <a:effectLst/>
            </a:endParaRP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4F091-8EBE-F7E8-A698-F01DBAA72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9BE20C-3F2F-EF61-4A06-B07AD238ED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7B0EB-0245-DB1C-47C3-533462BBB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PT" dirty="0"/>
              <a:t>⏱ ACUMULADO → 14:05   (~25 s)</a:t>
            </a:r>
          </a:p>
          <a:p>
            <a:endParaRPr lang="pt-PT" dirty="0"/>
          </a:p>
          <a:p>
            <a:r>
              <a:rPr lang="pt-PT" b="1" dirty="0"/>
              <a:t>Como passa o CarenR da descoberta para a previsão? </a:t>
            </a:r>
          </a:p>
          <a:p>
            <a:endParaRPr lang="pt-PT" dirty="0"/>
          </a:p>
          <a:p>
            <a:r>
              <a:rPr lang="pt-PT" dirty="0"/>
              <a:t>Em cada </a:t>
            </a:r>
            <a:r>
              <a:rPr lang="pt-PT" dirty="0" err="1"/>
              <a:t>fold</a:t>
            </a:r>
            <a:r>
              <a:rPr lang="pt-PT" dirty="0"/>
              <a:t>  de treino:</a:t>
            </a:r>
          </a:p>
          <a:p>
            <a:pPr marL="171450" indent="-171450">
              <a:buFontTx/>
              <a:buChar char="-"/>
            </a:pPr>
            <a:r>
              <a:rPr lang="pt-PT" dirty="0"/>
              <a:t>as variáveis climáticas são transformadas em intervalos, </a:t>
            </a:r>
          </a:p>
          <a:p>
            <a:pPr marL="171450" indent="-171450">
              <a:buFontTx/>
              <a:buChar char="-"/>
            </a:pPr>
            <a:r>
              <a:rPr lang="pt-PT" dirty="0"/>
              <a:t>o CAREN combina-os em subgrupos e retém as regras com support e evidência estatística pelo teste KS.</a:t>
            </a:r>
          </a:p>
          <a:p>
            <a:pPr marL="171450" indent="-171450">
              <a:buFontTx/>
              <a:buChar char="-"/>
            </a:pPr>
            <a:r>
              <a:rPr lang="pt-PT" dirty="0"/>
              <a:t>A previsão surge depois como uma mediana ponderada pelo support dessas regras no conjunto de teste.</a:t>
            </a:r>
          </a:p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F81AC-5260-9D8F-B8A4-E70737A554BF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441864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PT" dirty="0"/>
              <a:t>⏱ ACUMULADO → 15:00  (~55 s)</a:t>
            </a:r>
          </a:p>
          <a:p>
            <a:endParaRPr lang="pt-PT" dirty="0"/>
          </a:p>
          <a:p>
            <a:r>
              <a:rPr lang="pt-PT" b="1" dirty="0"/>
              <a:t>O resultado preditivo, de forma direta:</a:t>
            </a:r>
            <a:r>
              <a:rPr lang="pt-PT" dirty="0"/>
              <a:t> </a:t>
            </a:r>
            <a:r>
              <a:rPr lang="pt-PT" u="sng" dirty="0"/>
              <a:t>nenhum modelo baseado em regras supera globalmente a mediana, em qualquer das regiões.</a:t>
            </a:r>
          </a:p>
          <a:p>
            <a:endParaRPr lang="pt-PT" dirty="0"/>
          </a:p>
          <a:p>
            <a:r>
              <a:rPr lang="pt-PT" b="1" dirty="0"/>
              <a:t>No Douro, a melhor variante do CarenR erra 189 mil hectolitros contra 184 da mediana — cerca de 3% pior, </a:t>
            </a:r>
            <a:r>
              <a:rPr lang="pt-PT" dirty="0"/>
              <a:t>com Wilcoxon p igual a 0,468, não significativo.</a:t>
            </a:r>
          </a:p>
          <a:p>
            <a:endParaRPr lang="pt-PT" dirty="0"/>
          </a:p>
          <a:p>
            <a:r>
              <a:rPr lang="pt-PT" b="1" dirty="0"/>
              <a:t>Nos Vinhos Verdes a diferença é maior: 172 contra 140 mil hectolitros, 22% pior.</a:t>
            </a:r>
            <a:r>
              <a:rPr lang="pt-PT" dirty="0"/>
              <a:t> </a:t>
            </a:r>
            <a:r>
              <a:rPr lang="pt-PT" u="sng" dirty="0"/>
              <a:t>E nos nove cenários em que as regras dispararam, prejudicaram significativamente a previsão, com p igual a 0,004.</a:t>
            </a:r>
          </a:p>
          <a:p>
            <a:endParaRPr lang="pt-PT" dirty="0"/>
          </a:p>
          <a:p>
            <a:r>
              <a:rPr lang="pt-PT" b="1" u="sng" dirty="0"/>
              <a:t>Ou seja, na região mais difícil, quando ativadas, as regras produziram previsões piores</a:t>
            </a:r>
            <a:r>
              <a:rPr lang="pt-PT" dirty="0"/>
              <a:t>. </a:t>
            </a:r>
          </a:p>
          <a:p>
            <a:r>
              <a:rPr lang="pt-PT" dirty="0"/>
              <a:t>Isto sustenta a interpretação central: a descoberta pode revelar estrutura histórica, mas, perante um declínio estrutural forte, essa estrutura não se traduz em previsão futura.</a:t>
            </a:r>
          </a:p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PT" dirty="0"/>
              <a:t>⏱ ACUMULADO → 15:45   (~45 s)</a:t>
            </a:r>
          </a:p>
          <a:p>
            <a:endParaRPr lang="pt-PT" dirty="0"/>
          </a:p>
          <a:p>
            <a:r>
              <a:rPr lang="pt-PT" b="1" dirty="0"/>
              <a:t>É então preciso separar duas perguntas. </a:t>
            </a:r>
          </a:p>
          <a:p>
            <a:endParaRPr lang="pt-PT" dirty="0"/>
          </a:p>
          <a:p>
            <a:r>
              <a:rPr lang="pt-PT" dirty="0"/>
              <a:t>A descoberta pergunta se a distribuição de um subgrupo difere da global — e, ao longo de 89 anos, é claramente detetável.</a:t>
            </a:r>
          </a:p>
          <a:p>
            <a:endParaRPr lang="pt-PT" dirty="0"/>
          </a:p>
          <a:p>
            <a:r>
              <a:rPr lang="pt-PT" b="1" dirty="0"/>
              <a:t>A previsão é mais exigente:</a:t>
            </a:r>
            <a:r>
              <a:rPr lang="pt-PT" dirty="0"/>
              <a:t> usar essa regra reduz o erro em anos futuros? </a:t>
            </a:r>
            <a:br>
              <a:rPr lang="pt-PT" dirty="0"/>
            </a:br>
            <a:r>
              <a:rPr lang="pt-PT" b="1" dirty="0"/>
              <a:t>O clima explica cerca de 22% da variância dos resíduos</a:t>
            </a:r>
            <a:r>
              <a:rPr lang="pt-PT" dirty="0"/>
              <a:t>, o que deixa uns 78% por explicar, atribuíveis a fatores não observados ou a ruído.</a:t>
            </a:r>
          </a:p>
          <a:p>
            <a:endParaRPr lang="pt-PT" dirty="0"/>
          </a:p>
          <a:p>
            <a:r>
              <a:rPr lang="pt-PT" b="1" u="sng" dirty="0"/>
              <a:t>Para descobrir, basta que o sinal exista e seja detetável; </a:t>
            </a:r>
          </a:p>
          <a:p>
            <a:r>
              <a:rPr lang="pt-PT" b="1" u="sng" dirty="0"/>
              <a:t>Para prever, tem de ser forte e estável ao ponto de dominar as outras fontes de variabilidade.</a:t>
            </a:r>
          </a:p>
          <a:p>
            <a:endParaRPr lang="pt-PT" b="1" u="sng" dirty="0"/>
          </a:p>
          <a:p>
            <a:r>
              <a:rPr lang="pt-PT" dirty="0"/>
              <a:t>Por isso o resultado não é um fracasso — é o diagnóstico central, que o próximo slide transforma em framework.</a:t>
            </a:r>
          </a:p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PT" dirty="0"/>
              <a:t>⏱ ACUMULADO → 16:40   (~55 s)</a:t>
            </a:r>
          </a:p>
          <a:p>
            <a:endParaRPr lang="pt-PT" dirty="0"/>
          </a:p>
          <a:p>
            <a:r>
              <a:rPr lang="pt-PT" dirty="0"/>
              <a:t>Esta é a contribuição metodológica que gostaria que retivessem. </a:t>
            </a:r>
          </a:p>
          <a:p>
            <a:r>
              <a:rPr lang="pt-PT" b="1" dirty="0"/>
              <a:t>Qualquer previsão sobre uma série com tendência envolve, na prática, duas decisões.</a:t>
            </a:r>
          </a:p>
          <a:p>
            <a:endParaRPr lang="pt-PT" dirty="0"/>
          </a:p>
          <a:p>
            <a:r>
              <a:rPr lang="pt-PT" b="1" dirty="0"/>
              <a:t>A primeira é modelar a tendência estrutural:</a:t>
            </a:r>
            <a:r>
              <a:rPr lang="pt-PT" dirty="0"/>
              <a:t> quanto melhor a modelarmos, menores os resíduos e mais baixo o erro que uma baseline simples já atinge. </a:t>
            </a:r>
          </a:p>
          <a:p>
            <a:r>
              <a:rPr lang="pt-PT" b="1" dirty="0"/>
              <a:t>A segunda é extrair o sinal climático que resta nesses resíduos</a:t>
            </a:r>
            <a:r>
              <a:rPr lang="pt-PT" dirty="0"/>
              <a:t>, o que exige estrutura residual suficiente para as regras serem estáveis.</a:t>
            </a:r>
          </a:p>
          <a:p>
            <a:endParaRPr lang="pt-PT" dirty="0"/>
          </a:p>
          <a:p>
            <a:r>
              <a:rPr lang="pt-PT" b="1" dirty="0"/>
              <a:t>O problema é que as duas decisões entram em tensão.</a:t>
            </a:r>
            <a:r>
              <a:rPr lang="pt-PT" dirty="0"/>
              <a:t> </a:t>
            </a:r>
            <a:br>
              <a:rPr lang="pt-PT" dirty="0"/>
            </a:br>
            <a:r>
              <a:rPr lang="pt-PT" dirty="0"/>
              <a:t>Nos Vinhos Verdes, um detrending LOESS mais flexível melhora a baseline — o erro cai de cerca de 140 para 90 mil hectolitros — mas, ao mesmo tempo, a indução de regras cai a zero: todas desaparecem.</a:t>
            </a:r>
          </a:p>
          <a:p>
            <a:endParaRPr lang="pt-PT" dirty="0"/>
          </a:p>
          <a:p>
            <a:r>
              <a:rPr lang="pt-PT" b="1" dirty="0"/>
              <a:t>Ou seja, ao modelar melhor a tendência, removemos a estrutura residual de que o algoritmo precisava para gerar regras. A saída passa por incluir covariáveis estruturais no detrending, e não apenas o tempo.</a:t>
            </a:r>
          </a:p>
          <a:p>
            <a:endParaRPr lang="pt-PT" b="1" dirty="0"/>
          </a:p>
          <a:p>
            <a:endParaRPr lang="pt-PT" b="1" dirty="0"/>
          </a:p>
          <a:p>
            <a:endParaRPr lang="pt-PT" b="1" dirty="0"/>
          </a:p>
          <a:p>
            <a:endParaRPr lang="pt-PT" b="1" dirty="0"/>
          </a:p>
          <a:p>
            <a:endParaRPr lang="pt-PT" b="1" dirty="0"/>
          </a:p>
          <a:p>
            <a:endParaRPr lang="pt-PT" b="1" dirty="0"/>
          </a:p>
          <a:p>
            <a:endParaRPr lang="pt-PT" b="1" dirty="0"/>
          </a:p>
          <a:p>
            <a:endParaRPr lang="pt-PT" dirty="0"/>
          </a:p>
          <a:p>
            <a:r>
              <a:rPr lang="en-GB" dirty="0"/>
              <a:t>------------------------------------------------------------------------------------------------------</a:t>
            </a:r>
          </a:p>
          <a:p>
            <a:r>
              <a:rPr lang="en-GB" b="1" u="sng" dirty="0"/>
              <a:t>Nota </a:t>
            </a:r>
            <a:r>
              <a:rPr lang="en-GB" b="1" u="sng" dirty="0" err="1"/>
              <a:t>adicional</a:t>
            </a:r>
            <a:r>
              <a:rPr lang="en-GB" b="1" u="sng" dirty="0"/>
              <a:t>  (nao </a:t>
            </a:r>
            <a:r>
              <a:rPr lang="en-GB" b="1" u="sng" dirty="0" err="1"/>
              <a:t>conta</a:t>
            </a:r>
            <a:r>
              <a:rPr lang="en-GB" b="1" u="sng" dirty="0"/>
              <a:t> para a </a:t>
            </a:r>
            <a:r>
              <a:rPr lang="en-GB" b="1" u="sng" dirty="0" err="1"/>
              <a:t>apresentacao</a:t>
            </a:r>
            <a:r>
              <a:rPr lang="en-GB" b="1" u="sng" dirty="0"/>
              <a:t>)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b="1" u="sng" dirty="0"/>
              <a:t>O </a:t>
            </a:r>
            <a:r>
              <a:rPr lang="en-GB" b="1" u="sng" dirty="0" err="1"/>
              <a:t>que</a:t>
            </a:r>
            <a:r>
              <a:rPr lang="en-GB" b="1" u="sng" dirty="0"/>
              <a:t> </a:t>
            </a:r>
            <a:r>
              <a:rPr lang="en-GB" b="1" u="sng" dirty="0" err="1"/>
              <a:t>deveriams</a:t>
            </a:r>
            <a:r>
              <a:rPr lang="en-GB" b="1" u="sng" dirty="0"/>
              <a:t> </a:t>
            </a:r>
            <a:r>
              <a:rPr lang="en-GB" b="1" u="sng" dirty="0" err="1"/>
              <a:t>fazer</a:t>
            </a:r>
            <a:r>
              <a:rPr lang="en-GB" b="1" u="sng" dirty="0"/>
              <a:t> </a:t>
            </a:r>
            <a:r>
              <a:rPr lang="en-GB" b="1" u="sng" dirty="0" err="1"/>
              <a:t>em</a:t>
            </a:r>
            <a:r>
              <a:rPr lang="en-GB" b="1" u="sng" dirty="0"/>
              <a:t> </a:t>
            </a:r>
            <a:r>
              <a:rPr lang="en-GB" b="1" u="sng" dirty="0" err="1"/>
              <a:t>relacao</a:t>
            </a:r>
            <a:r>
              <a:rPr lang="en-GB" b="1" u="sng" dirty="0"/>
              <a:t> </a:t>
            </a:r>
            <a:r>
              <a:rPr lang="en-GB" b="1" u="sng" dirty="0" err="1"/>
              <a:t>ao</a:t>
            </a:r>
            <a:r>
              <a:rPr lang="en-GB" b="1" u="sng" dirty="0"/>
              <a:t> detrending</a:t>
            </a:r>
          </a:p>
          <a:p>
            <a:r>
              <a:rPr lang="en-GB" dirty="0"/>
              <a:t>Assim, </a:t>
            </a:r>
            <a:r>
              <a:rPr lang="en-GB" dirty="0" err="1"/>
              <a:t>em</a:t>
            </a:r>
            <a:r>
              <a:rPr lang="en-GB" dirty="0"/>
              <a:t> </a:t>
            </a:r>
            <a:r>
              <a:rPr lang="en-GB" dirty="0" err="1"/>
              <a:t>vez</a:t>
            </a:r>
            <a:r>
              <a:rPr lang="en-GB" dirty="0"/>
              <a:t> de:</a:t>
            </a:r>
          </a:p>
          <a:p>
            <a:r>
              <a:rPr lang="en-GB" sz="1200" b="1" kern="1200" dirty="0" err="1"/>
              <a:t>produção</a:t>
            </a:r>
            <a:r>
              <a:rPr lang="en-GB" sz="1200" b="1" kern="1200" dirty="0"/>
              <a:t> ~ </a:t>
            </a:r>
            <a:r>
              <a:rPr lang="en-GB" sz="1200" b="1" kern="1200" dirty="0" err="1"/>
              <a:t>ano</a:t>
            </a:r>
            <a:endParaRPr lang="en-GB" b="1" dirty="0"/>
          </a:p>
          <a:p>
            <a:r>
              <a:rPr lang="en-GB" dirty="0"/>
              <a:t>seria algo </a:t>
            </a:r>
            <a:r>
              <a:rPr lang="en-GB" dirty="0" err="1"/>
              <a:t>mais</a:t>
            </a:r>
            <a:r>
              <a:rPr lang="en-GB" dirty="0"/>
              <a:t> </a:t>
            </a:r>
            <a:r>
              <a:rPr lang="en-GB" dirty="0" err="1"/>
              <a:t>informativo</a:t>
            </a:r>
            <a:r>
              <a:rPr lang="en-GB" dirty="0"/>
              <a:t> </a:t>
            </a:r>
            <a:r>
              <a:rPr lang="en-GB" dirty="0" err="1"/>
              <a:t>como</a:t>
            </a:r>
            <a:r>
              <a:rPr lang="en-GB" dirty="0"/>
              <a:t>:</a:t>
            </a:r>
          </a:p>
          <a:p>
            <a:r>
              <a:rPr lang="en-GB" sz="1200" b="1" kern="1200" dirty="0" err="1"/>
              <a:t>produção</a:t>
            </a:r>
            <a:r>
              <a:rPr lang="en-GB" sz="1200" b="1" kern="1200" dirty="0"/>
              <a:t> ~ </a:t>
            </a:r>
            <a:r>
              <a:rPr lang="en-GB" sz="1200" b="1" kern="1200" dirty="0" err="1"/>
              <a:t>ano</a:t>
            </a:r>
            <a:r>
              <a:rPr lang="en-GB" sz="1200" b="1" kern="1200" dirty="0"/>
              <a:t> + </a:t>
            </a:r>
            <a:r>
              <a:rPr lang="en-GB" sz="1200" b="1" kern="1200" dirty="0" err="1"/>
              <a:t>área</a:t>
            </a:r>
            <a:r>
              <a:rPr lang="en-GB" sz="1200" b="1" kern="1200" dirty="0"/>
              <a:t> </a:t>
            </a:r>
            <a:r>
              <a:rPr lang="en-GB" sz="1200" b="1" kern="1200" dirty="0" err="1"/>
              <a:t>plantada</a:t>
            </a:r>
            <a:r>
              <a:rPr lang="en-GB" sz="1200" b="1" kern="1200" dirty="0"/>
              <a:t> + quotas + nº </a:t>
            </a:r>
            <a:r>
              <a:rPr lang="en-GB" sz="1200" b="1" kern="1200" dirty="0" err="1"/>
              <a:t>produtores</a:t>
            </a:r>
            <a:r>
              <a:rPr lang="en-GB" sz="1200" b="1" kern="1200" dirty="0"/>
              <a:t> + </a:t>
            </a:r>
            <a:r>
              <a:rPr lang="en-GB" sz="1200" b="1" kern="1200" dirty="0" err="1"/>
              <a:t>indicadores</a:t>
            </a:r>
            <a:r>
              <a:rPr lang="en-GB" sz="1200" b="1" kern="1200" dirty="0"/>
              <a:t> </a:t>
            </a:r>
            <a:r>
              <a:rPr lang="en-GB" sz="1200" b="1" kern="1200" dirty="0" err="1"/>
              <a:t>estruturais</a:t>
            </a:r>
            <a:endParaRPr lang="en-GB" b="1" dirty="0"/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A </a:t>
            </a:r>
            <a:r>
              <a:rPr lang="en-GB" sz="1200" b="0" i="0" kern="1200" dirty="0" err="1">
                <a:effectLst/>
              </a:rPr>
              <a:t>razão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estrutural</a:t>
            </a:r>
            <a:r>
              <a:rPr lang="en-GB" sz="1200" b="0" i="0" kern="1200" dirty="0">
                <a:effectLst/>
              </a:rPr>
              <a:t>: o tempo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única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covariável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utilizada</a:t>
            </a:r>
            <a:r>
              <a:rPr lang="en-GB" sz="1200" b="0" i="0" kern="1200" dirty="0">
                <a:effectLst/>
              </a:rPr>
              <a:t> no </a:t>
            </a:r>
            <a:r>
              <a:rPr lang="en-GB" sz="1200" b="0" i="1" kern="1200" dirty="0">
                <a:effectLst/>
              </a:rPr>
              <a:t>detrending</a:t>
            </a:r>
            <a:r>
              <a:rPr lang="en-GB" sz="1200" b="0" i="0" kern="1200" dirty="0">
                <a:effectLst/>
              </a:rPr>
              <a:t>. Por </a:t>
            </a:r>
            <a:r>
              <a:rPr lang="en-GB" sz="1200" b="0" i="0" kern="1200" dirty="0" err="1">
                <a:effectLst/>
              </a:rPr>
              <a:t>isso</a:t>
            </a:r>
            <a:r>
              <a:rPr lang="en-GB" sz="1200" b="0" i="0" kern="1200" dirty="0">
                <a:effectLst/>
              </a:rPr>
              <a:t>, o </a:t>
            </a:r>
            <a:r>
              <a:rPr lang="en-GB" sz="1200" b="0" i="0" kern="1200" dirty="0" err="1">
                <a:effectLst/>
              </a:rPr>
              <a:t>modelo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consegue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separar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adequadamente</a:t>
            </a:r>
            <a:r>
              <a:rPr lang="en-GB" sz="1200" b="0" i="0" kern="1200" dirty="0">
                <a:effectLst/>
              </a:rPr>
              <a:t> as </a:t>
            </a:r>
            <a:r>
              <a:rPr lang="en-GB" sz="1200" b="0" i="0" kern="1200" dirty="0" err="1">
                <a:effectLst/>
              </a:rPr>
              <a:t>transformações</a:t>
            </a:r>
            <a:r>
              <a:rPr lang="en-GB" sz="1200" b="0" i="0" kern="1200" dirty="0">
                <a:effectLst/>
              </a:rPr>
              <a:t> do </a:t>
            </a:r>
            <a:r>
              <a:rPr lang="en-GB" sz="1200" b="0" i="0" kern="1200" dirty="0" err="1">
                <a:effectLst/>
              </a:rPr>
              <a:t>setor</a:t>
            </a:r>
            <a:r>
              <a:rPr lang="en-GB" sz="1200" b="0" i="0" kern="1200" dirty="0">
                <a:effectLst/>
              </a:rPr>
              <a:t> dos </a:t>
            </a:r>
            <a:r>
              <a:rPr lang="en-GB" sz="1200" b="0" i="0" kern="1200" dirty="0" err="1">
                <a:effectLst/>
              </a:rPr>
              <a:t>efeitos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climáticos</a:t>
            </a:r>
            <a:r>
              <a:rPr lang="en-GB" sz="1200" b="0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Este framework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aplicável</a:t>
            </a:r>
            <a:r>
              <a:rPr lang="en-GB" sz="1200" b="0" i="0" kern="1200" dirty="0">
                <a:effectLst/>
              </a:rPr>
              <a:t> a outros </a:t>
            </a:r>
            <a:r>
              <a:rPr lang="en-GB" sz="1200" b="0" i="0" kern="1200" dirty="0" err="1">
                <a:effectLst/>
              </a:rPr>
              <a:t>problemas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previsão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agroclimática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utilizem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séries</a:t>
            </a:r>
            <a:r>
              <a:rPr lang="en-GB" sz="1200" b="0" i="0" kern="1200" dirty="0">
                <a:effectLst/>
              </a:rPr>
              <a:t> longas e </a:t>
            </a:r>
            <a:r>
              <a:rPr lang="en-GB" sz="1200" b="0" i="0" kern="1200" dirty="0" err="1">
                <a:effectLst/>
              </a:rPr>
              <a:t>estruturalmente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estacionárias</a:t>
            </a:r>
            <a:r>
              <a:rPr lang="en-GB" sz="1200" b="0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A </a:t>
            </a:r>
            <a:r>
              <a:rPr lang="en-GB" sz="1200" b="0" i="0" kern="1200" dirty="0" err="1">
                <a:effectLst/>
              </a:rPr>
              <a:t>tensão</a:t>
            </a:r>
            <a:r>
              <a:rPr lang="en-GB" sz="1200" b="0" i="0" kern="1200" dirty="0">
                <a:effectLst/>
              </a:rPr>
              <a:t> entre </a:t>
            </a:r>
            <a:r>
              <a:rPr lang="en-GB" sz="1200" b="0" i="0" kern="1200" dirty="0" err="1">
                <a:effectLst/>
              </a:rPr>
              <a:t>modelar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tendência</a:t>
            </a:r>
            <a:r>
              <a:rPr lang="en-GB" sz="1200" b="0" i="0" kern="1200" dirty="0">
                <a:effectLst/>
              </a:rPr>
              <a:t> e </a:t>
            </a:r>
            <a:r>
              <a:rPr lang="en-GB" sz="1200" b="0" i="0" kern="1200" dirty="0" err="1">
                <a:effectLst/>
              </a:rPr>
              <a:t>preservar</a:t>
            </a:r>
            <a:r>
              <a:rPr lang="en-GB" sz="1200" b="0" i="0" kern="1200" dirty="0">
                <a:effectLst/>
              </a:rPr>
              <a:t> o </a:t>
            </a:r>
            <a:r>
              <a:rPr lang="en-GB" sz="1200" b="0" i="0" kern="1200" dirty="0" err="1">
                <a:effectLst/>
              </a:rPr>
              <a:t>sinal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exclusiva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deste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caso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----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dirty="0"/>
              <a:t>Sim, </a:t>
            </a:r>
            <a:r>
              <a:rPr lang="en-GB" dirty="0" err="1"/>
              <a:t>exatamente</a:t>
            </a:r>
            <a:r>
              <a:rPr lang="en-GB" dirty="0"/>
              <a:t>. A </a:t>
            </a:r>
            <a:r>
              <a:rPr lang="en-GB" dirty="0" err="1"/>
              <a:t>ideia</a:t>
            </a:r>
            <a:r>
              <a:rPr lang="en-GB" dirty="0"/>
              <a:t> </a:t>
            </a:r>
            <a:r>
              <a:rPr lang="en-GB" dirty="0" err="1"/>
              <a:t>é</a:t>
            </a:r>
            <a:r>
              <a:rPr lang="en-GB" dirty="0"/>
              <a:t>: </a:t>
            </a:r>
            <a:r>
              <a:rPr lang="en-GB" b="1" dirty="0"/>
              <a:t>o detrending </a:t>
            </a:r>
            <a:r>
              <a:rPr lang="en-GB" b="1" dirty="0" err="1"/>
              <a:t>não</a:t>
            </a:r>
            <a:r>
              <a:rPr lang="en-GB" b="1" dirty="0"/>
              <a:t> </a:t>
            </a:r>
            <a:r>
              <a:rPr lang="en-GB" b="1" dirty="0" err="1"/>
              <a:t>devia</a:t>
            </a:r>
            <a:r>
              <a:rPr lang="en-GB" b="1" dirty="0"/>
              <a:t> </a:t>
            </a:r>
            <a:r>
              <a:rPr lang="en-GB" b="1" dirty="0" err="1"/>
              <a:t>depender</a:t>
            </a:r>
            <a:r>
              <a:rPr lang="en-GB" b="1" dirty="0"/>
              <a:t> </a:t>
            </a:r>
            <a:r>
              <a:rPr lang="en-GB" b="1" dirty="0" err="1"/>
              <a:t>apenas</a:t>
            </a:r>
            <a:r>
              <a:rPr lang="en-GB" b="1" dirty="0"/>
              <a:t> do tempo</a:t>
            </a:r>
            <a:r>
              <a:rPr lang="en-GB" dirty="0"/>
              <a:t>.</a:t>
            </a:r>
          </a:p>
          <a:p>
            <a:r>
              <a:rPr lang="en-GB" dirty="0"/>
              <a:t>Neste </a:t>
            </a:r>
            <a:r>
              <a:rPr lang="en-GB" dirty="0" err="1"/>
              <a:t>trabalho</a:t>
            </a:r>
            <a:r>
              <a:rPr lang="en-GB" dirty="0"/>
              <a:t>, a </a:t>
            </a:r>
            <a:r>
              <a:rPr lang="en-GB" dirty="0" err="1"/>
              <a:t>tendência</a:t>
            </a:r>
            <a:r>
              <a:rPr lang="en-GB" dirty="0"/>
              <a:t> </a:t>
            </a:r>
            <a:r>
              <a:rPr lang="en-GB" dirty="0" err="1"/>
              <a:t>estrutural</a:t>
            </a:r>
            <a:r>
              <a:rPr lang="en-GB" dirty="0"/>
              <a:t> </a:t>
            </a:r>
            <a:r>
              <a:rPr lang="en-GB" dirty="0" err="1"/>
              <a:t>foi</a:t>
            </a:r>
            <a:r>
              <a:rPr lang="en-GB" dirty="0"/>
              <a:t> </a:t>
            </a:r>
            <a:r>
              <a:rPr lang="en-GB" dirty="0" err="1"/>
              <a:t>modelada</a:t>
            </a:r>
            <a:r>
              <a:rPr lang="en-GB" dirty="0"/>
              <a:t> </a:t>
            </a:r>
            <a:r>
              <a:rPr lang="en-GB" dirty="0" err="1"/>
              <a:t>sobretudo</a:t>
            </a:r>
            <a:r>
              <a:rPr lang="en-GB" dirty="0"/>
              <a:t> </a:t>
            </a:r>
            <a:r>
              <a:rPr lang="en-GB" dirty="0" err="1"/>
              <a:t>como</a:t>
            </a:r>
            <a:r>
              <a:rPr lang="en-GB" dirty="0"/>
              <a:t> </a:t>
            </a:r>
            <a:r>
              <a:rPr lang="en-GB" dirty="0" err="1"/>
              <a:t>uma</a:t>
            </a:r>
            <a:r>
              <a:rPr lang="en-GB" dirty="0"/>
              <a:t> </a:t>
            </a:r>
            <a:r>
              <a:rPr lang="en-GB" dirty="0" err="1"/>
              <a:t>função</a:t>
            </a:r>
            <a:r>
              <a:rPr lang="en-GB" dirty="0"/>
              <a:t> do </a:t>
            </a:r>
            <a:r>
              <a:rPr lang="en-GB" dirty="0" err="1"/>
              <a:t>ano</a:t>
            </a:r>
            <a:r>
              <a:rPr lang="en-GB" dirty="0"/>
              <a:t>. </a:t>
            </a:r>
            <a:r>
              <a:rPr lang="en-GB" dirty="0" err="1"/>
              <a:t>Isso</a:t>
            </a:r>
            <a:r>
              <a:rPr lang="en-GB" dirty="0"/>
              <a:t> remove </a:t>
            </a:r>
            <a:r>
              <a:rPr lang="en-GB" dirty="0" err="1"/>
              <a:t>uma</a:t>
            </a:r>
            <a:r>
              <a:rPr lang="en-GB" dirty="0"/>
              <a:t> </a:t>
            </a:r>
            <a:r>
              <a:rPr lang="en-GB" dirty="0" err="1"/>
              <a:t>parte</a:t>
            </a:r>
            <a:r>
              <a:rPr lang="en-GB" dirty="0"/>
              <a:t> da </a:t>
            </a:r>
            <a:r>
              <a:rPr lang="en-GB" dirty="0" err="1"/>
              <a:t>evolução</a:t>
            </a:r>
            <a:r>
              <a:rPr lang="en-GB" dirty="0"/>
              <a:t> </a:t>
            </a:r>
            <a:r>
              <a:rPr lang="en-GB" dirty="0" err="1"/>
              <a:t>histórica</a:t>
            </a:r>
            <a:r>
              <a:rPr lang="en-GB" dirty="0"/>
              <a:t>, mas </a:t>
            </a:r>
            <a:r>
              <a:rPr lang="en-GB" dirty="0" err="1"/>
              <a:t>não</a:t>
            </a:r>
            <a:r>
              <a:rPr lang="en-GB" dirty="0"/>
              <a:t> sabe </a:t>
            </a:r>
            <a:r>
              <a:rPr lang="en-GB" i="1" dirty="0" err="1"/>
              <a:t>porquê</a:t>
            </a:r>
            <a:r>
              <a:rPr lang="en-GB" dirty="0"/>
              <a:t> a </a:t>
            </a:r>
            <a:r>
              <a:rPr lang="en-GB" dirty="0" err="1"/>
              <a:t>produção</a:t>
            </a:r>
            <a:r>
              <a:rPr lang="en-GB" dirty="0"/>
              <a:t> </a:t>
            </a:r>
            <a:r>
              <a:rPr lang="en-GB" dirty="0" err="1"/>
              <a:t>mudou</a:t>
            </a:r>
            <a:r>
              <a:rPr lang="en-GB" dirty="0"/>
              <a:t>. </a:t>
            </a:r>
            <a:r>
              <a:rPr lang="en-GB" dirty="0" err="1"/>
              <a:t>Portanto</a:t>
            </a:r>
            <a:r>
              <a:rPr lang="en-GB" dirty="0"/>
              <a:t>, </a:t>
            </a:r>
            <a:r>
              <a:rPr lang="en-GB" dirty="0" err="1"/>
              <a:t>pode</a:t>
            </a:r>
            <a:r>
              <a:rPr lang="en-GB" dirty="0"/>
              <a:t> </a:t>
            </a:r>
            <a:r>
              <a:rPr lang="en-GB" dirty="0" err="1"/>
              <a:t>misturar</a:t>
            </a:r>
            <a:r>
              <a:rPr lang="en-GB" dirty="0"/>
              <a:t> </a:t>
            </a:r>
            <a:r>
              <a:rPr lang="en-GB" dirty="0" err="1"/>
              <a:t>coisas</a:t>
            </a:r>
            <a:r>
              <a:rPr lang="en-GB" dirty="0"/>
              <a:t> </a:t>
            </a:r>
            <a:r>
              <a:rPr lang="en-GB" dirty="0" err="1"/>
              <a:t>muito</a:t>
            </a:r>
            <a:r>
              <a:rPr lang="en-GB" dirty="0"/>
              <a:t> </a:t>
            </a:r>
            <a:r>
              <a:rPr lang="en-GB" dirty="0" err="1"/>
              <a:t>diferentes</a:t>
            </a:r>
            <a:r>
              <a:rPr lang="en-GB" dirty="0"/>
              <a:t>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 err="1"/>
              <a:t>alterações</a:t>
            </a:r>
            <a:r>
              <a:rPr lang="en-GB" dirty="0"/>
              <a:t> de </a:t>
            </a:r>
            <a:r>
              <a:rPr lang="en-GB" dirty="0" err="1"/>
              <a:t>área</a:t>
            </a:r>
            <a:r>
              <a:rPr lang="en-GB" dirty="0"/>
              <a:t> </a:t>
            </a:r>
            <a:r>
              <a:rPr lang="en-GB" dirty="0" err="1"/>
              <a:t>plantada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 err="1"/>
              <a:t>número</a:t>
            </a:r>
            <a:r>
              <a:rPr lang="en-GB" dirty="0"/>
              <a:t> de </a:t>
            </a:r>
            <a:r>
              <a:rPr lang="en-GB" dirty="0" err="1"/>
              <a:t>produtores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/>
              <a:t>quotas / </a:t>
            </a:r>
            <a:r>
              <a:rPr lang="en-GB" dirty="0" err="1"/>
              <a:t>benefício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 err="1"/>
              <a:t>políticas</a:t>
            </a:r>
            <a:r>
              <a:rPr lang="en-GB" dirty="0"/>
              <a:t> </a:t>
            </a:r>
            <a:r>
              <a:rPr lang="en-GB" dirty="0" err="1"/>
              <a:t>agrícolas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 err="1"/>
              <a:t>mecanização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 err="1"/>
              <a:t>mudanças</a:t>
            </a:r>
            <a:r>
              <a:rPr lang="en-GB" dirty="0"/>
              <a:t> de </a:t>
            </a:r>
            <a:r>
              <a:rPr lang="en-GB" dirty="0" err="1"/>
              <a:t>castas</a:t>
            </a:r>
            <a:r>
              <a:rPr lang="en-GB" dirty="0"/>
              <a:t>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práticas</a:t>
            </a:r>
            <a:r>
              <a:rPr lang="en-GB" dirty="0"/>
              <a:t> </a:t>
            </a:r>
            <a:r>
              <a:rPr lang="en-GB" dirty="0" err="1"/>
              <a:t>vitícolas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 err="1"/>
              <a:t>abandono</a:t>
            </a:r>
            <a:r>
              <a:rPr lang="en-GB" dirty="0"/>
              <a:t> de </a:t>
            </a:r>
            <a:r>
              <a:rPr lang="en-GB" dirty="0" err="1"/>
              <a:t>vinha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 err="1"/>
              <a:t>produtividade</a:t>
            </a:r>
            <a:r>
              <a:rPr lang="en-GB" dirty="0"/>
              <a:t> </a:t>
            </a:r>
            <a:r>
              <a:rPr lang="en-GB" dirty="0" err="1"/>
              <a:t>estrutural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 err="1"/>
              <a:t>efeitos</a:t>
            </a:r>
            <a:r>
              <a:rPr lang="en-GB" dirty="0"/>
              <a:t> de mercado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O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poderia</a:t>
            </a:r>
            <a:r>
              <a:rPr lang="en-GB" dirty="0"/>
              <a:t> ser </a:t>
            </a:r>
            <a:r>
              <a:rPr lang="en-GB" dirty="0" err="1"/>
              <a:t>feito</a:t>
            </a:r>
            <a:r>
              <a:rPr lang="en-GB" dirty="0"/>
              <a:t> no </a:t>
            </a:r>
            <a:r>
              <a:rPr lang="en-GB" dirty="0" err="1"/>
              <a:t>futuro</a:t>
            </a:r>
            <a:r>
              <a:rPr lang="en-GB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dirty="0" err="1"/>
              <a:t>incluir</a:t>
            </a:r>
            <a:r>
              <a:rPr lang="en-GB" b="1" dirty="0"/>
              <a:t> </a:t>
            </a:r>
            <a:r>
              <a:rPr lang="en-GB" b="1" dirty="0" err="1"/>
              <a:t>covariáveis</a:t>
            </a:r>
            <a:r>
              <a:rPr lang="en-GB" b="1" dirty="0"/>
              <a:t> </a:t>
            </a:r>
            <a:r>
              <a:rPr lang="en-GB" b="1" dirty="0" err="1"/>
              <a:t>estruturais</a:t>
            </a:r>
            <a:r>
              <a:rPr lang="en-GB" b="1" dirty="0"/>
              <a:t> no </a:t>
            </a:r>
            <a:r>
              <a:rPr lang="en-GB" b="1" dirty="0" err="1"/>
              <a:t>modelo</a:t>
            </a:r>
            <a:r>
              <a:rPr lang="en-GB" b="1" dirty="0"/>
              <a:t> de </a:t>
            </a:r>
            <a:r>
              <a:rPr lang="en-GB" b="1" dirty="0" err="1"/>
              <a:t>tendência</a:t>
            </a:r>
            <a:r>
              <a:rPr lang="en-GB" dirty="0"/>
              <a:t>, </a:t>
            </a:r>
            <a:r>
              <a:rPr lang="en-GB" dirty="0" err="1"/>
              <a:t>por</a:t>
            </a:r>
            <a:r>
              <a:rPr lang="en-GB" dirty="0"/>
              <a:t> </a:t>
            </a:r>
            <a:r>
              <a:rPr lang="en-GB" dirty="0" err="1"/>
              <a:t>exemplo</a:t>
            </a:r>
            <a:r>
              <a:rPr lang="en-GB" dirty="0"/>
              <a:t>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 err="1"/>
              <a:t>área</a:t>
            </a:r>
            <a:r>
              <a:rPr lang="en-GB" dirty="0"/>
              <a:t> de </a:t>
            </a:r>
            <a:r>
              <a:rPr lang="en-GB" dirty="0" err="1"/>
              <a:t>vinha</a:t>
            </a:r>
            <a:r>
              <a:rPr lang="en-GB" dirty="0"/>
              <a:t> </a:t>
            </a:r>
            <a:r>
              <a:rPr lang="en-GB" dirty="0" err="1"/>
              <a:t>plantada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 err="1"/>
              <a:t>área</a:t>
            </a:r>
            <a:r>
              <a:rPr lang="en-GB" dirty="0"/>
              <a:t> </a:t>
            </a:r>
            <a:r>
              <a:rPr lang="en-GB" dirty="0" err="1"/>
              <a:t>em</a:t>
            </a:r>
            <a:r>
              <a:rPr lang="en-GB" dirty="0"/>
              <a:t> </a:t>
            </a:r>
            <a:r>
              <a:rPr lang="en-GB" dirty="0" err="1"/>
              <a:t>produção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 err="1"/>
              <a:t>número</a:t>
            </a:r>
            <a:r>
              <a:rPr lang="en-GB" dirty="0"/>
              <a:t> de </a:t>
            </a:r>
            <a:r>
              <a:rPr lang="en-GB" dirty="0" err="1"/>
              <a:t>produtores</a:t>
            </a:r>
            <a:r>
              <a:rPr lang="en-GB" dirty="0"/>
              <a:t> </a:t>
            </a:r>
            <a:r>
              <a:rPr lang="en-GB" dirty="0" err="1"/>
              <a:t>certificados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/>
              <a:t>quotas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benefício</a:t>
            </a:r>
            <a:r>
              <a:rPr lang="en-GB" dirty="0"/>
              <a:t> </a:t>
            </a:r>
            <a:r>
              <a:rPr lang="en-GB" dirty="0" err="1"/>
              <a:t>autorizado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/>
              <a:t>volume de </a:t>
            </a:r>
            <a:r>
              <a:rPr lang="en-GB" dirty="0" err="1"/>
              <a:t>produção</a:t>
            </a:r>
            <a:r>
              <a:rPr lang="en-GB" dirty="0"/>
              <a:t> </a:t>
            </a:r>
            <a:r>
              <a:rPr lang="en-GB" dirty="0" err="1"/>
              <a:t>autorizado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 err="1"/>
              <a:t>indicadores</a:t>
            </a:r>
            <a:r>
              <a:rPr lang="en-GB" dirty="0"/>
              <a:t> de </a:t>
            </a:r>
            <a:r>
              <a:rPr lang="en-GB" dirty="0" err="1"/>
              <a:t>política</a:t>
            </a:r>
            <a:r>
              <a:rPr lang="en-GB" dirty="0"/>
              <a:t> </a:t>
            </a:r>
            <a:r>
              <a:rPr lang="en-GB" dirty="0" err="1"/>
              <a:t>agrícola</a:t>
            </a:r>
            <a:r>
              <a:rPr lang="en-GB" dirty="0"/>
              <a:t> / </a:t>
            </a:r>
            <a:r>
              <a:rPr lang="en-GB" dirty="0" err="1"/>
              <a:t>adesão</a:t>
            </a:r>
            <a:r>
              <a:rPr lang="en-GB" dirty="0"/>
              <a:t> à UE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 err="1"/>
              <a:t>produtividade</a:t>
            </a:r>
            <a:r>
              <a:rPr lang="en-GB" dirty="0"/>
              <a:t> </a:t>
            </a:r>
            <a:r>
              <a:rPr lang="en-GB" dirty="0" err="1"/>
              <a:t>por</a:t>
            </a:r>
            <a:r>
              <a:rPr lang="en-GB" dirty="0"/>
              <a:t> hectare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 err="1"/>
              <a:t>idade</a:t>
            </a:r>
            <a:r>
              <a:rPr lang="en-GB" dirty="0"/>
              <a:t> </a:t>
            </a:r>
            <a:r>
              <a:rPr lang="en-GB" dirty="0" err="1"/>
              <a:t>média</a:t>
            </a:r>
            <a:r>
              <a:rPr lang="en-GB" dirty="0"/>
              <a:t> da </a:t>
            </a:r>
            <a:r>
              <a:rPr lang="en-GB" dirty="0" err="1"/>
              <a:t>vinha</a:t>
            </a:r>
            <a:r>
              <a:rPr lang="en-GB" dirty="0"/>
              <a:t>, se </a:t>
            </a:r>
            <a:r>
              <a:rPr lang="en-GB" dirty="0" err="1"/>
              <a:t>existir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/>
              <a:t>sub-</a:t>
            </a:r>
            <a:r>
              <a:rPr lang="en-GB" dirty="0" err="1"/>
              <a:t>região</a:t>
            </a:r>
            <a:r>
              <a:rPr lang="en-GB" dirty="0"/>
              <a:t> </a:t>
            </a:r>
            <a:r>
              <a:rPr lang="en-GB" dirty="0" err="1"/>
              <a:t>ou</a:t>
            </a:r>
            <a:r>
              <a:rPr lang="en-GB" dirty="0"/>
              <a:t> altitude, se </a:t>
            </a:r>
            <a:r>
              <a:rPr lang="en-GB" dirty="0" err="1"/>
              <a:t>houver</a:t>
            </a:r>
            <a:r>
              <a:rPr lang="en-GB" dirty="0"/>
              <a:t> dados </a:t>
            </a:r>
            <a:r>
              <a:rPr lang="en-GB" dirty="0" err="1"/>
              <a:t>espaciais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Assim, </a:t>
            </a:r>
            <a:r>
              <a:rPr lang="en-GB" dirty="0" err="1"/>
              <a:t>em</a:t>
            </a:r>
            <a:r>
              <a:rPr lang="en-GB" dirty="0"/>
              <a:t> </a:t>
            </a:r>
            <a:r>
              <a:rPr lang="en-GB" dirty="0" err="1"/>
              <a:t>vez</a:t>
            </a:r>
            <a:r>
              <a:rPr lang="en-GB" dirty="0"/>
              <a:t> de:</a:t>
            </a:r>
          </a:p>
          <a:p>
            <a:r>
              <a:rPr lang="en-GB" sz="1200" b="1" kern="1200" dirty="0" err="1"/>
              <a:t>produção</a:t>
            </a:r>
            <a:r>
              <a:rPr lang="en-GB" sz="1200" b="1" kern="1200" dirty="0"/>
              <a:t> ~ </a:t>
            </a:r>
            <a:r>
              <a:rPr lang="en-GB" sz="1200" b="1" kern="1200" dirty="0" err="1"/>
              <a:t>ano</a:t>
            </a:r>
            <a:endParaRPr lang="en-GB" b="1" dirty="0"/>
          </a:p>
          <a:p>
            <a:r>
              <a:rPr lang="en-GB" dirty="0"/>
              <a:t>seria algo </a:t>
            </a:r>
            <a:r>
              <a:rPr lang="en-GB" dirty="0" err="1"/>
              <a:t>mais</a:t>
            </a:r>
            <a:r>
              <a:rPr lang="en-GB" dirty="0"/>
              <a:t> </a:t>
            </a:r>
            <a:r>
              <a:rPr lang="en-GB" dirty="0" err="1"/>
              <a:t>informativo</a:t>
            </a:r>
            <a:r>
              <a:rPr lang="en-GB" dirty="0"/>
              <a:t> </a:t>
            </a:r>
            <a:r>
              <a:rPr lang="en-GB" dirty="0" err="1"/>
              <a:t>como</a:t>
            </a:r>
            <a:r>
              <a:rPr lang="en-GB" dirty="0"/>
              <a:t>:</a:t>
            </a:r>
          </a:p>
          <a:p>
            <a:r>
              <a:rPr lang="en-GB" sz="1200" b="1" kern="1200" dirty="0" err="1"/>
              <a:t>produção</a:t>
            </a:r>
            <a:r>
              <a:rPr lang="en-GB" sz="1200" b="1" kern="1200" dirty="0"/>
              <a:t> ~ </a:t>
            </a:r>
            <a:r>
              <a:rPr lang="en-GB" sz="1200" b="1" kern="1200" dirty="0" err="1"/>
              <a:t>ano</a:t>
            </a:r>
            <a:r>
              <a:rPr lang="en-GB" sz="1200" b="1" kern="1200" dirty="0"/>
              <a:t> + </a:t>
            </a:r>
            <a:r>
              <a:rPr lang="en-GB" sz="1200" b="1" kern="1200" dirty="0" err="1"/>
              <a:t>área</a:t>
            </a:r>
            <a:r>
              <a:rPr lang="en-GB" sz="1200" b="1" kern="1200" dirty="0"/>
              <a:t> </a:t>
            </a:r>
            <a:r>
              <a:rPr lang="en-GB" sz="1200" b="1" kern="1200" dirty="0" err="1"/>
              <a:t>plantada</a:t>
            </a:r>
            <a:r>
              <a:rPr lang="en-GB" sz="1200" b="1" kern="1200" dirty="0"/>
              <a:t> + quotas + nº </a:t>
            </a:r>
            <a:r>
              <a:rPr lang="en-GB" sz="1200" b="1" kern="1200" dirty="0" err="1"/>
              <a:t>produtores</a:t>
            </a:r>
            <a:r>
              <a:rPr lang="en-GB" sz="1200" b="1" kern="1200" dirty="0"/>
              <a:t> + </a:t>
            </a:r>
            <a:r>
              <a:rPr lang="en-GB" sz="1200" b="1" kern="1200" dirty="0" err="1"/>
              <a:t>indicadores</a:t>
            </a:r>
            <a:r>
              <a:rPr lang="en-GB" sz="1200" b="1" kern="1200" dirty="0"/>
              <a:t> </a:t>
            </a:r>
            <a:r>
              <a:rPr lang="en-GB" sz="1200" b="1" kern="1200" dirty="0" err="1"/>
              <a:t>estruturais</a:t>
            </a:r>
            <a:endParaRPr lang="en-GB" b="1" dirty="0"/>
          </a:p>
          <a:p>
            <a:r>
              <a:rPr lang="en-GB" dirty="0"/>
              <a:t>A </a:t>
            </a:r>
            <a:r>
              <a:rPr lang="en-GB" dirty="0" err="1"/>
              <a:t>frase</a:t>
            </a:r>
            <a:r>
              <a:rPr lang="en-GB" dirty="0"/>
              <a:t> para </a:t>
            </a:r>
            <a:r>
              <a:rPr lang="en-GB" dirty="0" err="1"/>
              <a:t>dizeres</a:t>
            </a:r>
            <a:r>
              <a:rPr lang="en-GB" dirty="0"/>
              <a:t> </a:t>
            </a:r>
            <a:r>
              <a:rPr lang="en-GB" dirty="0" err="1"/>
              <a:t>pode</a:t>
            </a:r>
            <a:r>
              <a:rPr lang="en-GB" dirty="0"/>
              <a:t> ser:</a:t>
            </a:r>
          </a:p>
          <a:p>
            <a:r>
              <a:rPr lang="en-GB" b="1" dirty="0"/>
              <a:t>O </a:t>
            </a:r>
            <a:r>
              <a:rPr lang="en-GB" b="1" dirty="0" err="1"/>
              <a:t>próximo</a:t>
            </a:r>
            <a:r>
              <a:rPr lang="en-GB" b="1" dirty="0"/>
              <a:t> </a:t>
            </a:r>
            <a:r>
              <a:rPr lang="en-GB" b="1" dirty="0" err="1"/>
              <a:t>passo</a:t>
            </a:r>
            <a:r>
              <a:rPr lang="en-GB" b="1" dirty="0"/>
              <a:t> seria </a:t>
            </a:r>
            <a:r>
              <a:rPr lang="en-GB" b="1" dirty="0" err="1"/>
              <a:t>substituir</a:t>
            </a:r>
            <a:r>
              <a:rPr lang="en-GB" b="1" dirty="0"/>
              <a:t> um detrending </a:t>
            </a:r>
            <a:r>
              <a:rPr lang="en-GB" b="1" dirty="0" err="1"/>
              <a:t>baseado</a:t>
            </a:r>
            <a:r>
              <a:rPr lang="en-GB" b="1" dirty="0"/>
              <a:t> </a:t>
            </a:r>
            <a:r>
              <a:rPr lang="en-GB" b="1" dirty="0" err="1"/>
              <a:t>apenas</a:t>
            </a:r>
            <a:r>
              <a:rPr lang="en-GB" b="1" dirty="0"/>
              <a:t> no tempo </a:t>
            </a:r>
            <a:r>
              <a:rPr lang="en-GB" b="1" dirty="0" err="1"/>
              <a:t>por</a:t>
            </a:r>
            <a:r>
              <a:rPr lang="en-GB" b="1" dirty="0"/>
              <a:t> um </a:t>
            </a:r>
            <a:r>
              <a:rPr lang="en-GB" b="1" dirty="0" err="1"/>
              <a:t>modelo</a:t>
            </a:r>
            <a:r>
              <a:rPr lang="en-GB" b="1" dirty="0"/>
              <a:t> </a:t>
            </a:r>
            <a:r>
              <a:rPr lang="en-GB" b="1" dirty="0" err="1"/>
              <a:t>estrutural</a:t>
            </a:r>
            <a:r>
              <a:rPr lang="en-GB" b="1" dirty="0"/>
              <a:t> da </a:t>
            </a:r>
            <a:r>
              <a:rPr lang="en-GB" b="1" dirty="0" err="1"/>
              <a:t>produção</a:t>
            </a:r>
            <a:r>
              <a:rPr lang="en-GB" b="1" dirty="0"/>
              <a:t>, </a:t>
            </a:r>
            <a:r>
              <a:rPr lang="en-GB" b="1" dirty="0" err="1"/>
              <a:t>incorporando</a:t>
            </a:r>
            <a:r>
              <a:rPr lang="en-GB" b="1" dirty="0"/>
              <a:t> </a:t>
            </a:r>
            <a:r>
              <a:rPr lang="en-GB" b="1" dirty="0" err="1"/>
              <a:t>variáveis</a:t>
            </a:r>
            <a:r>
              <a:rPr lang="en-GB" b="1" dirty="0"/>
              <a:t> </a:t>
            </a:r>
            <a:r>
              <a:rPr lang="en-GB" b="1" dirty="0" err="1"/>
              <a:t>como</a:t>
            </a:r>
            <a:r>
              <a:rPr lang="en-GB" b="1" dirty="0"/>
              <a:t> </a:t>
            </a:r>
            <a:r>
              <a:rPr lang="en-GB" b="1" dirty="0" err="1"/>
              <a:t>área</a:t>
            </a:r>
            <a:r>
              <a:rPr lang="en-GB" b="1" dirty="0"/>
              <a:t> </a:t>
            </a:r>
            <a:r>
              <a:rPr lang="en-GB" b="1" dirty="0" err="1"/>
              <a:t>plantada</a:t>
            </a:r>
            <a:r>
              <a:rPr lang="en-GB" b="1" dirty="0"/>
              <a:t>, quotas, </a:t>
            </a:r>
            <a:r>
              <a:rPr lang="en-GB" b="1" dirty="0" err="1"/>
              <a:t>número</a:t>
            </a:r>
            <a:r>
              <a:rPr lang="en-GB" b="1" dirty="0"/>
              <a:t> de </a:t>
            </a:r>
            <a:r>
              <a:rPr lang="en-GB" b="1" dirty="0" err="1"/>
              <a:t>produtores</a:t>
            </a:r>
            <a:r>
              <a:rPr lang="en-GB" b="1" dirty="0"/>
              <a:t> </a:t>
            </a:r>
            <a:r>
              <a:rPr lang="en-GB" b="1" dirty="0" err="1"/>
              <a:t>certificados</a:t>
            </a:r>
            <a:r>
              <a:rPr lang="en-GB" b="1" dirty="0"/>
              <a:t> </a:t>
            </a:r>
            <a:r>
              <a:rPr lang="en-GB" b="1" dirty="0" err="1"/>
              <a:t>ou</a:t>
            </a:r>
            <a:r>
              <a:rPr lang="en-GB" b="1" dirty="0"/>
              <a:t> outros </a:t>
            </a:r>
            <a:r>
              <a:rPr lang="en-GB" b="1" dirty="0" err="1"/>
              <a:t>indicadores</a:t>
            </a:r>
            <a:r>
              <a:rPr lang="en-GB" b="1" dirty="0"/>
              <a:t> do </a:t>
            </a:r>
            <a:r>
              <a:rPr lang="en-GB" b="1" dirty="0" err="1"/>
              <a:t>setor</a:t>
            </a:r>
            <a:r>
              <a:rPr lang="en-GB" b="1" dirty="0"/>
              <a:t>. </a:t>
            </a:r>
            <a:r>
              <a:rPr lang="en-GB" b="1" dirty="0" err="1"/>
              <a:t>Isso</a:t>
            </a:r>
            <a:r>
              <a:rPr lang="en-GB" b="1" dirty="0"/>
              <a:t> </a:t>
            </a:r>
            <a:r>
              <a:rPr lang="en-GB" b="1" dirty="0" err="1"/>
              <a:t>permitiria</a:t>
            </a:r>
            <a:r>
              <a:rPr lang="en-GB" b="1" dirty="0"/>
              <a:t> </a:t>
            </a:r>
            <a:r>
              <a:rPr lang="en-GB" b="1" dirty="0" err="1"/>
              <a:t>separar</a:t>
            </a:r>
            <a:r>
              <a:rPr lang="en-GB" b="1" dirty="0"/>
              <a:t> </a:t>
            </a:r>
            <a:r>
              <a:rPr lang="en-GB" b="1" dirty="0" err="1"/>
              <a:t>melhor</a:t>
            </a:r>
            <a:r>
              <a:rPr lang="en-GB" b="1" dirty="0"/>
              <a:t> a </a:t>
            </a:r>
            <a:r>
              <a:rPr lang="en-GB" b="1" dirty="0" err="1"/>
              <a:t>evolução</a:t>
            </a:r>
            <a:r>
              <a:rPr lang="en-GB" b="1" dirty="0"/>
              <a:t> </a:t>
            </a:r>
            <a:r>
              <a:rPr lang="en-GB" b="1" dirty="0" err="1"/>
              <a:t>estrutural</a:t>
            </a:r>
            <a:r>
              <a:rPr lang="en-GB" b="1" dirty="0"/>
              <a:t> da </a:t>
            </a:r>
            <a:r>
              <a:rPr lang="en-GB" b="1" dirty="0" err="1"/>
              <a:t>região</a:t>
            </a:r>
            <a:r>
              <a:rPr lang="en-GB" b="1" dirty="0"/>
              <a:t> do </a:t>
            </a:r>
            <a:r>
              <a:rPr lang="en-GB" b="1" dirty="0" err="1"/>
              <a:t>sinal</a:t>
            </a:r>
            <a:r>
              <a:rPr lang="en-GB" b="1" dirty="0"/>
              <a:t> </a:t>
            </a:r>
            <a:r>
              <a:rPr lang="en-GB" b="1" dirty="0" err="1"/>
              <a:t>climático</a:t>
            </a:r>
            <a:r>
              <a:rPr lang="en-GB" b="1" dirty="0"/>
              <a:t> residual </a:t>
            </a:r>
            <a:r>
              <a:rPr lang="en-GB" b="1" dirty="0" err="1"/>
              <a:t>que</a:t>
            </a:r>
            <a:r>
              <a:rPr lang="en-GB" b="1" dirty="0"/>
              <a:t> as </a:t>
            </a:r>
            <a:r>
              <a:rPr lang="en-GB" b="1" dirty="0" err="1"/>
              <a:t>regras</a:t>
            </a:r>
            <a:r>
              <a:rPr lang="en-GB" b="1" dirty="0"/>
              <a:t> </a:t>
            </a:r>
            <a:r>
              <a:rPr lang="en-GB" b="1" dirty="0" err="1"/>
              <a:t>tentam</a:t>
            </a:r>
            <a:r>
              <a:rPr lang="en-GB" b="1" dirty="0"/>
              <a:t> </a:t>
            </a:r>
            <a:r>
              <a:rPr lang="en-GB" b="1" dirty="0" err="1"/>
              <a:t>capturar</a:t>
            </a:r>
            <a:r>
              <a:rPr lang="en-GB" b="1" dirty="0"/>
              <a:t>.</a:t>
            </a:r>
            <a:endParaRPr lang="en-GB" dirty="0"/>
          </a:p>
          <a:p>
            <a:r>
              <a:rPr lang="en-GB" sz="1200" b="0" i="0" kern="1200" dirty="0">
                <a:effectLst/>
              </a:rPr>
              <a:t>NOTAS</a:t>
            </a: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-----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dirty="0" err="1"/>
              <a:t>Sobre</a:t>
            </a:r>
            <a:r>
              <a:rPr lang="en-GB" dirty="0"/>
              <a:t> a </a:t>
            </a:r>
            <a:r>
              <a:rPr lang="en-GB" dirty="0" err="1"/>
              <a:t>correlação</a:t>
            </a:r>
            <a:r>
              <a:rPr lang="en-GB" dirty="0"/>
              <a:t>:</a:t>
            </a:r>
          </a:p>
          <a:p>
            <a:r>
              <a:rPr lang="en-GB" dirty="0"/>
              <a:t>O </a:t>
            </a:r>
            <a:r>
              <a:rPr lang="en-GB" sz="1200" kern="1200" dirty="0"/>
              <a:t>|r| ≈ 0.47</a:t>
            </a:r>
            <a:r>
              <a:rPr lang="en-GB" dirty="0"/>
              <a:t> </a:t>
            </a:r>
            <a:r>
              <a:rPr lang="en-GB" dirty="0" err="1"/>
              <a:t>vem</a:t>
            </a:r>
            <a:r>
              <a:rPr lang="en-GB" dirty="0"/>
              <a:t> da </a:t>
            </a:r>
            <a:r>
              <a:rPr lang="en-GB" dirty="0" err="1"/>
              <a:t>análise</a:t>
            </a:r>
            <a:r>
              <a:rPr lang="en-GB" dirty="0"/>
              <a:t> </a:t>
            </a:r>
            <a:r>
              <a:rPr lang="en-GB" dirty="0" err="1"/>
              <a:t>exploratória</a:t>
            </a:r>
            <a:r>
              <a:rPr lang="en-GB" dirty="0"/>
              <a:t> das </a:t>
            </a:r>
            <a:r>
              <a:rPr lang="en-GB" b="1" dirty="0" err="1"/>
              <a:t>correlações</a:t>
            </a:r>
            <a:r>
              <a:rPr lang="en-GB" b="1" dirty="0"/>
              <a:t> de Pearson entre </a:t>
            </a:r>
            <a:r>
              <a:rPr lang="en-GB" b="1" dirty="0" err="1"/>
              <a:t>cada</a:t>
            </a:r>
            <a:r>
              <a:rPr lang="en-GB" b="1" dirty="0"/>
              <a:t> feature </a:t>
            </a:r>
            <a:r>
              <a:rPr lang="en-GB" b="1" dirty="0" err="1"/>
              <a:t>climática</a:t>
            </a:r>
            <a:r>
              <a:rPr lang="en-GB" b="1" dirty="0"/>
              <a:t> </a:t>
            </a:r>
            <a:r>
              <a:rPr lang="en-GB" b="1" dirty="0" err="1"/>
              <a:t>contínua</a:t>
            </a:r>
            <a:r>
              <a:rPr lang="en-GB" b="1" dirty="0"/>
              <a:t> e </a:t>
            </a:r>
            <a:r>
              <a:rPr lang="en-GB" b="1" dirty="0" err="1"/>
              <a:t>os</a:t>
            </a:r>
            <a:r>
              <a:rPr lang="en-GB" b="1" dirty="0"/>
              <a:t> </a:t>
            </a:r>
            <a:r>
              <a:rPr lang="en-GB" b="1" dirty="0" err="1"/>
              <a:t>resíduos</a:t>
            </a:r>
            <a:r>
              <a:rPr lang="en-GB" b="1" dirty="0"/>
              <a:t> da </a:t>
            </a:r>
            <a:r>
              <a:rPr lang="en-GB" b="1" dirty="0" err="1"/>
              <a:t>produção</a:t>
            </a:r>
            <a:r>
              <a:rPr lang="en-GB" b="1" dirty="0"/>
              <a:t> </a:t>
            </a:r>
            <a:r>
              <a:rPr lang="en-GB" b="1" dirty="0" err="1"/>
              <a:t>depois</a:t>
            </a:r>
            <a:r>
              <a:rPr lang="en-GB" b="1" dirty="0"/>
              <a:t> da </a:t>
            </a:r>
            <a:r>
              <a:rPr lang="en-GB" b="1" dirty="0" err="1"/>
              <a:t>remoção</a:t>
            </a:r>
            <a:r>
              <a:rPr lang="en-GB" b="1" dirty="0"/>
              <a:t> da </a:t>
            </a:r>
            <a:r>
              <a:rPr lang="en-GB" b="1" dirty="0" err="1"/>
              <a:t>tendência</a:t>
            </a:r>
            <a:r>
              <a:rPr lang="en-GB" b="1" dirty="0"/>
              <a:t> linear</a:t>
            </a:r>
            <a:r>
              <a:rPr lang="en-GB" dirty="0"/>
              <a:t>.</a:t>
            </a:r>
          </a:p>
          <a:p>
            <a:r>
              <a:rPr lang="en-GB" dirty="0"/>
              <a:t>Ou </a:t>
            </a:r>
            <a:r>
              <a:rPr lang="en-GB" dirty="0" err="1"/>
              <a:t>seja</a:t>
            </a:r>
            <a:r>
              <a:rPr lang="en-GB" dirty="0"/>
              <a:t>, o </a:t>
            </a:r>
            <a:r>
              <a:rPr lang="en-GB" dirty="0" err="1"/>
              <a:t>cálculo</a:t>
            </a:r>
            <a:r>
              <a:rPr lang="en-GB" dirty="0"/>
              <a:t> </a:t>
            </a:r>
            <a:r>
              <a:rPr lang="en-GB" dirty="0" err="1"/>
              <a:t>foi</a:t>
            </a:r>
            <a:r>
              <a:rPr lang="en-GB" dirty="0"/>
              <a:t>:</a:t>
            </a:r>
          </a:p>
          <a:p>
            <a:pPr lvl="0"/>
            <a:r>
              <a:rPr lang="en-GB" dirty="0" err="1"/>
              <a:t>Ajustaste</a:t>
            </a:r>
            <a:r>
              <a:rPr lang="en-GB" dirty="0"/>
              <a:t> </a:t>
            </a:r>
            <a:r>
              <a:rPr lang="en-GB" dirty="0" err="1"/>
              <a:t>uma</a:t>
            </a:r>
            <a:r>
              <a:rPr lang="en-GB" dirty="0"/>
              <a:t> </a:t>
            </a:r>
            <a:r>
              <a:rPr lang="en-GB" dirty="0" err="1"/>
              <a:t>tendência</a:t>
            </a:r>
            <a:r>
              <a:rPr lang="en-GB" dirty="0"/>
              <a:t> linear da </a:t>
            </a:r>
            <a:r>
              <a:rPr lang="en-GB" dirty="0" err="1"/>
              <a:t>produção</a:t>
            </a:r>
            <a:r>
              <a:rPr lang="en-GB" dirty="0"/>
              <a:t> </a:t>
            </a:r>
            <a:r>
              <a:rPr lang="en-GB" dirty="0" err="1"/>
              <a:t>ao</a:t>
            </a:r>
            <a:r>
              <a:rPr lang="en-GB" dirty="0"/>
              <a:t> </a:t>
            </a:r>
            <a:r>
              <a:rPr lang="en-GB" dirty="0" err="1"/>
              <a:t>longo</a:t>
            </a:r>
            <a:r>
              <a:rPr lang="en-GB" dirty="0"/>
              <a:t> do tempo:</a:t>
            </a:r>
            <a:br>
              <a:rPr lang="en-GB" dirty="0"/>
            </a:br>
            <a:r>
              <a:rPr lang="en-GB" sz="1200" kern="1200" dirty="0" err="1"/>
              <a:t>Wine_mhl</a:t>
            </a:r>
            <a:r>
              <a:rPr lang="en-GB" sz="1200" kern="1200" dirty="0"/>
              <a:t> ~ year</a:t>
            </a:r>
            <a:endParaRPr lang="en-GB" dirty="0"/>
          </a:p>
          <a:p>
            <a:pPr lvl="0"/>
            <a:r>
              <a:rPr lang="en-GB" dirty="0" err="1"/>
              <a:t>Ficaste</a:t>
            </a:r>
            <a:r>
              <a:rPr lang="en-GB" dirty="0"/>
              <a:t> com </a:t>
            </a:r>
            <a:r>
              <a:rPr lang="en-GB" dirty="0" err="1"/>
              <a:t>os</a:t>
            </a:r>
            <a:r>
              <a:rPr lang="en-GB" dirty="0"/>
              <a:t> </a:t>
            </a:r>
            <a:r>
              <a:rPr lang="en-GB" dirty="0" err="1"/>
              <a:t>resíduos</a:t>
            </a:r>
            <a:r>
              <a:rPr lang="en-GB" dirty="0"/>
              <a:t> dessa </a:t>
            </a:r>
            <a:r>
              <a:rPr lang="en-GB" dirty="0" err="1"/>
              <a:t>tendência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 err="1"/>
              <a:t>produção</a:t>
            </a:r>
            <a:r>
              <a:rPr lang="en-GB" dirty="0"/>
              <a:t> </a:t>
            </a:r>
            <a:r>
              <a:rPr lang="en-GB" dirty="0" err="1"/>
              <a:t>observada</a:t>
            </a:r>
            <a:r>
              <a:rPr lang="en-GB" dirty="0"/>
              <a:t> </a:t>
            </a:r>
            <a:r>
              <a:rPr lang="en-GB" dirty="0" err="1"/>
              <a:t>menos</a:t>
            </a:r>
            <a:r>
              <a:rPr lang="en-GB" dirty="0"/>
              <a:t> </a:t>
            </a:r>
            <a:r>
              <a:rPr lang="en-GB" dirty="0" err="1"/>
              <a:t>produção</a:t>
            </a:r>
            <a:r>
              <a:rPr lang="en-GB" dirty="0"/>
              <a:t> </a:t>
            </a:r>
            <a:r>
              <a:rPr lang="en-GB" dirty="0" err="1"/>
              <a:t>esperada</a:t>
            </a:r>
            <a:r>
              <a:rPr lang="en-GB" dirty="0"/>
              <a:t> pela </a:t>
            </a:r>
            <a:r>
              <a:rPr lang="en-GB" dirty="0" err="1"/>
              <a:t>tendência</a:t>
            </a:r>
            <a:r>
              <a:rPr lang="en-GB" dirty="0"/>
              <a:t>.</a:t>
            </a:r>
          </a:p>
          <a:p>
            <a:pPr lvl="0"/>
            <a:r>
              <a:rPr lang="en-GB" dirty="0"/>
              <a:t>Para </a:t>
            </a:r>
            <a:r>
              <a:rPr lang="en-GB" dirty="0" err="1"/>
              <a:t>cada</a:t>
            </a:r>
            <a:r>
              <a:rPr lang="en-GB" dirty="0"/>
              <a:t> feature </a:t>
            </a:r>
            <a:r>
              <a:rPr lang="en-GB" dirty="0" err="1"/>
              <a:t>climática</a:t>
            </a:r>
            <a:r>
              <a:rPr lang="en-GB" dirty="0"/>
              <a:t> </a:t>
            </a:r>
            <a:r>
              <a:rPr lang="en-GB" dirty="0" err="1"/>
              <a:t>contínua</a:t>
            </a:r>
            <a:r>
              <a:rPr lang="en-GB" dirty="0"/>
              <a:t>, </a:t>
            </a:r>
            <a:r>
              <a:rPr lang="en-GB" dirty="0" err="1"/>
              <a:t>calculaste</a:t>
            </a:r>
            <a:r>
              <a:rPr lang="en-GB" dirty="0"/>
              <a:t> a </a:t>
            </a:r>
            <a:r>
              <a:rPr lang="en-GB" dirty="0" err="1"/>
              <a:t>correlação</a:t>
            </a:r>
            <a:r>
              <a:rPr lang="en-GB" dirty="0"/>
              <a:t> de Pearson com esses </a:t>
            </a:r>
            <a:r>
              <a:rPr lang="en-GB" dirty="0" err="1"/>
              <a:t>resíduos</a:t>
            </a:r>
            <a:r>
              <a:rPr lang="en-GB" dirty="0"/>
              <a:t>.</a:t>
            </a:r>
          </a:p>
          <a:p>
            <a:pPr lvl="0"/>
            <a:r>
              <a:rPr lang="en-GB" dirty="0"/>
              <a:t>O </a:t>
            </a:r>
            <a:r>
              <a:rPr lang="en-GB" dirty="0" err="1"/>
              <a:t>valor</a:t>
            </a:r>
            <a:r>
              <a:rPr lang="en-GB" dirty="0"/>
              <a:t> </a:t>
            </a:r>
            <a:r>
              <a:rPr lang="en-GB" sz="1200" kern="1200" dirty="0"/>
              <a:t>|r| ≈ 0.47</a:t>
            </a:r>
            <a:r>
              <a:rPr lang="en-GB" dirty="0"/>
              <a:t> </a:t>
            </a:r>
            <a:r>
              <a:rPr lang="en-GB" dirty="0" err="1"/>
              <a:t>representa</a:t>
            </a:r>
            <a:r>
              <a:rPr lang="en-GB" dirty="0"/>
              <a:t> a </a:t>
            </a:r>
            <a:r>
              <a:rPr lang="en-GB" dirty="0" err="1"/>
              <a:t>ordem</a:t>
            </a:r>
            <a:r>
              <a:rPr lang="en-GB" dirty="0"/>
              <a:t> de </a:t>
            </a:r>
            <a:r>
              <a:rPr lang="en-GB" dirty="0" err="1"/>
              <a:t>grandeza</a:t>
            </a:r>
            <a:r>
              <a:rPr lang="en-GB" dirty="0"/>
              <a:t> da feature </a:t>
            </a:r>
            <a:r>
              <a:rPr lang="en-GB" dirty="0" err="1"/>
              <a:t>climática</a:t>
            </a:r>
            <a:r>
              <a:rPr lang="en-GB" dirty="0"/>
              <a:t> </a:t>
            </a:r>
            <a:r>
              <a:rPr lang="en-GB" dirty="0" err="1"/>
              <a:t>mais</a:t>
            </a:r>
            <a:r>
              <a:rPr lang="en-GB" dirty="0"/>
              <a:t> forte. No </a:t>
            </a:r>
            <a:r>
              <a:rPr lang="en-GB" dirty="0" err="1"/>
              <a:t>teu</a:t>
            </a:r>
            <a:r>
              <a:rPr lang="en-GB" dirty="0"/>
              <a:t> </a:t>
            </a:r>
            <a:r>
              <a:rPr lang="en-GB" dirty="0" err="1"/>
              <a:t>caso</a:t>
            </a:r>
            <a:r>
              <a:rPr lang="en-GB" dirty="0"/>
              <a:t>, </a:t>
            </a:r>
            <a:r>
              <a:rPr lang="en-GB" dirty="0" err="1"/>
              <a:t>em</a:t>
            </a:r>
            <a:r>
              <a:rPr lang="en-GB" dirty="0"/>
              <a:t> RVV, a </a:t>
            </a:r>
            <a:r>
              <a:rPr lang="en-GB" dirty="0" err="1"/>
              <a:t>água</a:t>
            </a:r>
            <a:r>
              <a:rPr lang="en-GB" dirty="0"/>
              <a:t> no solo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janela</a:t>
            </a:r>
            <a:r>
              <a:rPr lang="en-GB" dirty="0"/>
              <a:t> da </a:t>
            </a:r>
            <a:r>
              <a:rPr lang="en-GB" dirty="0" err="1"/>
              <a:t>floração</a:t>
            </a:r>
            <a:r>
              <a:rPr lang="en-GB" dirty="0"/>
              <a:t> </a:t>
            </a:r>
            <a:r>
              <a:rPr lang="en-GB" dirty="0" err="1"/>
              <a:t>teve</a:t>
            </a:r>
            <a:r>
              <a:rPr lang="en-GB" dirty="0"/>
              <a:t> </a:t>
            </a:r>
            <a:r>
              <a:rPr lang="en-GB" dirty="0" err="1"/>
              <a:t>cerca</a:t>
            </a:r>
            <a:r>
              <a:rPr lang="en-GB" dirty="0"/>
              <a:t> de </a:t>
            </a:r>
            <a:r>
              <a:rPr lang="en-GB" sz="1200" kern="1200" dirty="0"/>
              <a:t>r ≈ -0.48</a:t>
            </a:r>
            <a:r>
              <a:rPr lang="en-GB" dirty="0"/>
              <a:t>.</a:t>
            </a:r>
          </a:p>
          <a:p>
            <a:pPr lvl="0"/>
            <a:r>
              <a:rPr lang="en-GB" dirty="0" err="1"/>
              <a:t>Depois</a:t>
            </a:r>
            <a:r>
              <a:rPr lang="en-GB" dirty="0"/>
              <a:t>, </a:t>
            </a:r>
            <a:r>
              <a:rPr lang="en-GB" sz="1200" kern="1200" dirty="0"/>
              <a:t>r² ≈ 0.47² ≈ 0.22</a:t>
            </a:r>
            <a:r>
              <a:rPr lang="en-GB" dirty="0"/>
              <a:t>,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seja</a:t>
            </a:r>
            <a:r>
              <a:rPr lang="en-GB" dirty="0"/>
              <a:t>, </a:t>
            </a:r>
            <a:r>
              <a:rPr lang="en-GB" dirty="0" err="1"/>
              <a:t>cerca</a:t>
            </a:r>
            <a:r>
              <a:rPr lang="en-GB" dirty="0"/>
              <a:t> de </a:t>
            </a:r>
            <a:r>
              <a:rPr lang="en-GB" b="1" dirty="0"/>
              <a:t>22% da </a:t>
            </a:r>
            <a:r>
              <a:rPr lang="en-GB" b="1" dirty="0" err="1"/>
              <a:t>variância</a:t>
            </a:r>
            <a:r>
              <a:rPr lang="en-GB" b="1" dirty="0"/>
              <a:t> residual</a:t>
            </a:r>
            <a:r>
              <a:rPr lang="en-GB" dirty="0"/>
              <a:t>.</a:t>
            </a:r>
          </a:p>
          <a:p>
            <a:r>
              <a:rPr lang="en-GB" dirty="0" err="1"/>
              <a:t>Atenção</a:t>
            </a:r>
            <a:r>
              <a:rPr lang="en-GB" dirty="0"/>
              <a:t> à </a:t>
            </a:r>
            <a:r>
              <a:rPr lang="en-GB" dirty="0" err="1"/>
              <a:t>formulação</a:t>
            </a:r>
            <a:r>
              <a:rPr lang="en-GB" dirty="0"/>
              <a:t>: </a:t>
            </a:r>
            <a:r>
              <a:rPr lang="en-GB" dirty="0" err="1"/>
              <a:t>eu</a:t>
            </a:r>
            <a:r>
              <a:rPr lang="en-GB" dirty="0"/>
              <a:t> </a:t>
            </a:r>
            <a:r>
              <a:rPr lang="en-GB" dirty="0" err="1"/>
              <a:t>não</a:t>
            </a:r>
            <a:r>
              <a:rPr lang="en-GB" dirty="0"/>
              <a:t> </a:t>
            </a:r>
            <a:r>
              <a:rPr lang="en-GB" dirty="0" err="1"/>
              <a:t>diria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“o </a:t>
            </a:r>
            <a:r>
              <a:rPr lang="en-GB" dirty="0" err="1"/>
              <a:t>clima</a:t>
            </a:r>
            <a:r>
              <a:rPr lang="en-GB" dirty="0"/>
              <a:t> </a:t>
            </a:r>
            <a:r>
              <a:rPr lang="en-GB" dirty="0" err="1"/>
              <a:t>explica</a:t>
            </a:r>
            <a:r>
              <a:rPr lang="en-GB" dirty="0"/>
              <a:t> 22%” </a:t>
            </a:r>
            <a:r>
              <a:rPr lang="en-GB" dirty="0" err="1"/>
              <a:t>em</a:t>
            </a:r>
            <a:r>
              <a:rPr lang="en-GB" dirty="0"/>
              <a:t> </a:t>
            </a:r>
            <a:r>
              <a:rPr lang="en-GB" dirty="0" err="1"/>
              <a:t>geral</a:t>
            </a:r>
            <a:r>
              <a:rPr lang="en-GB" dirty="0"/>
              <a:t>. Mais </a:t>
            </a:r>
            <a:r>
              <a:rPr lang="en-GB" dirty="0" err="1"/>
              <a:t>defensável</a:t>
            </a:r>
            <a:r>
              <a:rPr lang="en-GB" dirty="0"/>
              <a:t> </a:t>
            </a:r>
            <a:r>
              <a:rPr lang="en-GB" dirty="0" err="1"/>
              <a:t>é</a:t>
            </a:r>
            <a:r>
              <a:rPr lang="en-GB" dirty="0"/>
              <a:t>:</a:t>
            </a:r>
          </a:p>
          <a:p>
            <a:r>
              <a:rPr lang="en-GB" b="1" dirty="0"/>
              <a:t>A </a:t>
            </a:r>
            <a:r>
              <a:rPr lang="en-GB" b="1" dirty="0" err="1"/>
              <a:t>melhor</a:t>
            </a:r>
            <a:r>
              <a:rPr lang="en-GB" b="1" dirty="0"/>
              <a:t> </a:t>
            </a:r>
            <a:r>
              <a:rPr lang="en-GB" b="1" dirty="0" err="1"/>
              <a:t>associação</a:t>
            </a:r>
            <a:r>
              <a:rPr lang="en-GB" b="1" dirty="0"/>
              <a:t> </a:t>
            </a:r>
            <a:r>
              <a:rPr lang="en-GB" b="1" dirty="0" err="1"/>
              <a:t>climática</a:t>
            </a:r>
            <a:r>
              <a:rPr lang="en-GB" b="1" dirty="0"/>
              <a:t> individual </a:t>
            </a:r>
            <a:r>
              <a:rPr lang="en-GB" b="1" dirty="0" err="1"/>
              <a:t>explica</a:t>
            </a:r>
            <a:r>
              <a:rPr lang="en-GB" b="1" dirty="0"/>
              <a:t> </a:t>
            </a:r>
            <a:r>
              <a:rPr lang="en-GB" b="1" dirty="0" err="1"/>
              <a:t>cerca</a:t>
            </a:r>
            <a:r>
              <a:rPr lang="en-GB" b="1" dirty="0"/>
              <a:t> de 22% da </a:t>
            </a:r>
            <a:r>
              <a:rPr lang="en-GB" b="1" dirty="0" err="1"/>
              <a:t>variância</a:t>
            </a:r>
            <a:r>
              <a:rPr lang="en-GB" b="1" dirty="0"/>
              <a:t> residual.</a:t>
            </a:r>
            <a:endParaRPr lang="en-GB" dirty="0"/>
          </a:p>
          <a:p>
            <a:r>
              <a:rPr lang="en-GB" dirty="0"/>
              <a:t>Ou, </a:t>
            </a:r>
            <a:r>
              <a:rPr lang="en-GB" dirty="0" err="1"/>
              <a:t>oralmente</a:t>
            </a:r>
            <a:r>
              <a:rPr lang="en-GB" dirty="0"/>
              <a:t>:</a:t>
            </a:r>
          </a:p>
          <a:p>
            <a:r>
              <a:rPr lang="en-GB" b="1" dirty="0" err="1"/>
              <a:t>Mesmo</a:t>
            </a:r>
            <a:r>
              <a:rPr lang="en-GB" b="1" dirty="0"/>
              <a:t> a </a:t>
            </a:r>
            <a:r>
              <a:rPr lang="en-GB" b="1" dirty="0" err="1"/>
              <a:t>melhor</a:t>
            </a:r>
            <a:r>
              <a:rPr lang="en-GB" b="1" dirty="0"/>
              <a:t> feature </a:t>
            </a:r>
            <a:r>
              <a:rPr lang="en-GB" b="1" dirty="0" err="1"/>
              <a:t>climática</a:t>
            </a:r>
            <a:r>
              <a:rPr lang="en-GB" b="1" dirty="0"/>
              <a:t>, </a:t>
            </a:r>
            <a:r>
              <a:rPr lang="en-GB" b="1" dirty="0" err="1"/>
              <a:t>depois</a:t>
            </a:r>
            <a:r>
              <a:rPr lang="en-GB" b="1" dirty="0"/>
              <a:t> de remover a </a:t>
            </a:r>
            <a:r>
              <a:rPr lang="en-GB" b="1" dirty="0" err="1"/>
              <a:t>tendência</a:t>
            </a:r>
            <a:r>
              <a:rPr lang="en-GB" b="1" dirty="0"/>
              <a:t> linear, </a:t>
            </a:r>
            <a:r>
              <a:rPr lang="en-GB" b="1" dirty="0" err="1"/>
              <a:t>explica</a:t>
            </a:r>
            <a:r>
              <a:rPr lang="en-GB" b="1" dirty="0"/>
              <a:t> </a:t>
            </a:r>
            <a:r>
              <a:rPr lang="en-GB" b="1" dirty="0" err="1"/>
              <a:t>apenas</a:t>
            </a:r>
            <a:r>
              <a:rPr lang="en-GB" b="1" dirty="0"/>
              <a:t> </a:t>
            </a:r>
            <a:r>
              <a:rPr lang="en-GB" b="1" dirty="0" err="1"/>
              <a:t>cerca</a:t>
            </a:r>
            <a:r>
              <a:rPr lang="en-GB" b="1" dirty="0"/>
              <a:t> de um quinto da </a:t>
            </a:r>
            <a:r>
              <a:rPr lang="en-GB" b="1" dirty="0" err="1"/>
              <a:t>variabilidade</a:t>
            </a:r>
            <a:r>
              <a:rPr lang="en-GB" b="1" dirty="0"/>
              <a:t> residual. </a:t>
            </a:r>
            <a:r>
              <a:rPr lang="en-GB" b="1" dirty="0" err="1"/>
              <a:t>Isso</a:t>
            </a:r>
            <a:r>
              <a:rPr lang="en-GB" b="1" dirty="0"/>
              <a:t> </a:t>
            </a:r>
            <a:r>
              <a:rPr lang="en-GB" b="1" dirty="0" err="1"/>
              <a:t>é</a:t>
            </a:r>
            <a:r>
              <a:rPr lang="en-GB" b="1" dirty="0"/>
              <a:t> </a:t>
            </a:r>
            <a:r>
              <a:rPr lang="en-GB" b="1" dirty="0" err="1"/>
              <a:t>suficiente</a:t>
            </a:r>
            <a:r>
              <a:rPr lang="en-GB" b="1" dirty="0"/>
              <a:t> para </a:t>
            </a:r>
            <a:r>
              <a:rPr lang="en-GB" b="1" dirty="0" err="1"/>
              <a:t>detectar</a:t>
            </a:r>
            <a:r>
              <a:rPr lang="en-GB" b="1" dirty="0"/>
              <a:t> um </a:t>
            </a:r>
            <a:r>
              <a:rPr lang="en-GB" b="1" dirty="0" err="1"/>
              <a:t>padrão</a:t>
            </a:r>
            <a:r>
              <a:rPr lang="en-GB" b="1" dirty="0"/>
              <a:t>, mas </a:t>
            </a:r>
            <a:r>
              <a:rPr lang="en-GB" b="1" dirty="0" err="1"/>
              <a:t>não</a:t>
            </a:r>
            <a:r>
              <a:rPr lang="en-GB" b="1" dirty="0"/>
              <a:t> </a:t>
            </a:r>
            <a:r>
              <a:rPr lang="en-GB" b="1" dirty="0" err="1"/>
              <a:t>necessariamente</a:t>
            </a:r>
            <a:r>
              <a:rPr lang="en-GB" b="1" dirty="0"/>
              <a:t> </a:t>
            </a:r>
            <a:r>
              <a:rPr lang="en-GB" b="1" dirty="0" err="1"/>
              <a:t>suficiente</a:t>
            </a:r>
            <a:r>
              <a:rPr lang="en-GB" b="1" dirty="0"/>
              <a:t> para </a:t>
            </a:r>
            <a:r>
              <a:rPr lang="en-GB" b="1" dirty="0" err="1"/>
              <a:t>prever</a:t>
            </a:r>
            <a:r>
              <a:rPr lang="en-GB" b="1" dirty="0"/>
              <a:t> </a:t>
            </a:r>
            <a:r>
              <a:rPr lang="en-GB" b="1" dirty="0" err="1"/>
              <a:t>bem</a:t>
            </a:r>
            <a:r>
              <a:rPr lang="en-GB" b="1"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PT" dirty="0"/>
              <a:t>⏱ ACUMULADO → 17:35  (~55 s)</a:t>
            </a:r>
          </a:p>
          <a:p>
            <a:endParaRPr lang="pt-PT" dirty="0"/>
          </a:p>
          <a:p>
            <a:r>
              <a:rPr lang="pt-PT" b="1" dirty="0"/>
              <a:t>O que fica como contribuição científica após um resultado preditivo negativo? 5 pontos.</a:t>
            </a:r>
          </a:p>
          <a:p>
            <a:endParaRPr lang="pt-PT" dirty="0"/>
          </a:p>
          <a:p>
            <a:pPr marL="228600" indent="-228600">
              <a:buAutoNum type="arabicPeriod"/>
            </a:pPr>
            <a:r>
              <a:rPr lang="pt-PT" b="1" dirty="0"/>
              <a:t>Primeiro</a:t>
            </a:r>
            <a:r>
              <a:rPr lang="pt-PT" dirty="0"/>
              <a:t>, e mais fundamental, a decomposição em duas decisões, que separa a modelação da tendência da extração do sinal e explica porque um modelo de regras pode falhar mesmo havendo sinal real.</a:t>
            </a:r>
          </a:p>
          <a:p>
            <a:pPr marL="228600" indent="-228600">
              <a:buAutoNum type="arabicPeriod"/>
            </a:pPr>
            <a:endParaRPr lang="pt-PT" dirty="0"/>
          </a:p>
          <a:p>
            <a:pPr marL="228600" indent="-228600">
              <a:buAutoNum type="arabicPeriod"/>
            </a:pPr>
            <a:r>
              <a:rPr lang="pt-PT" b="1" dirty="0"/>
              <a:t>Segundo</a:t>
            </a:r>
            <a:r>
              <a:rPr lang="pt-PT" dirty="0"/>
              <a:t>, uma avaliação walk-forward rigorosa: 17 modelos ao longo de 18 e 16 cenários, com todo o pré-processamento feito dentro de cada fold de treino.</a:t>
            </a:r>
          </a:p>
          <a:p>
            <a:pPr marL="228600" indent="-228600">
              <a:buAutoNum type="arabicPeriod"/>
            </a:pPr>
            <a:endParaRPr lang="pt-PT" dirty="0"/>
          </a:p>
          <a:p>
            <a:pPr marL="228600" indent="-228600">
              <a:buAutoNum type="arabicPeriod"/>
            </a:pPr>
            <a:r>
              <a:rPr lang="pt-PT" b="1" dirty="0"/>
              <a:t>Terceiro</a:t>
            </a:r>
            <a:r>
              <a:rPr lang="pt-PT" dirty="0"/>
              <a:t>, uma análise de sensibilidade com 11 variantes do CarenR, mostrando que a melhor estratégia de seleção de features depende do problema e não é universal.</a:t>
            </a:r>
            <a:br>
              <a:rPr lang="pt-PT" dirty="0"/>
            </a:br>
            <a:endParaRPr lang="pt-PT" dirty="0"/>
          </a:p>
          <a:p>
            <a:pPr marL="228600" indent="-228600">
              <a:buAutoNum type="arabicPeriod"/>
            </a:pPr>
            <a:r>
              <a:rPr lang="pt-PT" b="1" dirty="0"/>
              <a:t>Quarto</a:t>
            </a:r>
            <a:r>
              <a:rPr lang="pt-PT" dirty="0"/>
              <a:t>, a análise da composição por fases históricas, que diagnostica quando a capacidade preditiva aparente depende da composição histórica do treino e do teste.</a:t>
            </a:r>
            <a:br>
              <a:rPr lang="pt-PT" dirty="0"/>
            </a:br>
            <a:endParaRPr lang="pt-PT" dirty="0"/>
          </a:p>
          <a:p>
            <a:pPr marL="228600" indent="-228600">
              <a:buAutoNum type="arabicPeriod"/>
            </a:pPr>
            <a:r>
              <a:rPr lang="pt-PT" b="1" dirty="0"/>
              <a:t>Quinto</a:t>
            </a:r>
            <a:r>
              <a:rPr lang="pt-PT" dirty="0"/>
              <a:t>, a validação entre algoritmos, que mostra que famílias como a água no solo à vindima e o stress térmico não são artefactos de um só método.</a:t>
            </a:r>
          </a:p>
          <a:p>
            <a:endParaRPr lang="pt-PT" dirty="0"/>
          </a:p>
          <a:p>
            <a:r>
              <a:rPr lang="pt-PT" b="1" u="sng" dirty="0"/>
              <a:t>No Objetivo 2 o resultado é negativo; as contribuições metodológicas não são.</a:t>
            </a:r>
          </a:p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PT" dirty="0"/>
              <a:t>⏱ ACUMULADO → 18:35   (~1 min)</a:t>
            </a:r>
          </a:p>
          <a:p>
            <a:endParaRPr lang="pt-PT" dirty="0"/>
          </a:p>
          <a:p>
            <a:r>
              <a:rPr lang="pt-PT" b="1" dirty="0"/>
              <a:t>A transparência sobre as limitações faz parte da contribuição. Destaco 3.</a:t>
            </a:r>
          </a:p>
          <a:p>
            <a:endParaRPr lang="pt-PT" dirty="0"/>
          </a:p>
          <a:p>
            <a:pPr marL="228600" indent="-228600">
              <a:buAutoNum type="arabicPeriod"/>
            </a:pPr>
            <a:r>
              <a:rPr lang="pt-PT" b="1" dirty="0"/>
              <a:t>Primeira</a:t>
            </a:r>
            <a:r>
              <a:rPr lang="pt-PT" dirty="0"/>
              <a:t>: o tempo é a única covariável do detrending, pelo que mudança estrutural e efeitos climáticos ficam parcialmente misturados — a origem da tensão que percorre toda a tese.</a:t>
            </a:r>
          </a:p>
          <a:p>
            <a:pPr marL="228600" indent="-228600">
              <a:buAutoNum type="arabicPeriod"/>
            </a:pPr>
            <a:endParaRPr lang="pt-PT" dirty="0"/>
          </a:p>
          <a:p>
            <a:pPr marL="228600" indent="-228600">
              <a:buAutoNum type="arabicPeriod"/>
            </a:pPr>
            <a:r>
              <a:rPr lang="pt-PT" b="1" dirty="0"/>
              <a:t>Segunda</a:t>
            </a:r>
            <a:r>
              <a:rPr lang="pt-PT" dirty="0"/>
              <a:t>: a dimensão reduzida dos conjuntos de treino e teste. Com séries anuais longas mas poucas observações, o walk-forward gera apenas 18 e 16 cenários, e a deteção de regras assenta em poucos pontos. Por isso o resultado mais encorajador — a janela equilibrada entre fases históricas no Douro, cinco em cinco cenários ganhos — é exploratório, não confirmatório.</a:t>
            </a:r>
            <a:br>
              <a:rPr lang="pt-PT" dirty="0"/>
            </a:br>
            <a:endParaRPr lang="pt-PT" dirty="0"/>
          </a:p>
          <a:p>
            <a:pPr marL="228600" indent="-228600">
              <a:buAutoNum type="arabicPeriod"/>
            </a:pPr>
            <a:r>
              <a:rPr lang="pt-PT" b="1" dirty="0"/>
              <a:t>Terceira</a:t>
            </a:r>
            <a:r>
              <a:rPr lang="pt-PT" dirty="0"/>
              <a:t>: são agregados valores anuais de uma única região, sem resolução espacial nem intra-campanha.</a:t>
            </a:r>
          </a:p>
          <a:p>
            <a:endParaRPr lang="pt-PT" dirty="0"/>
          </a:p>
          <a:p>
            <a:r>
              <a:rPr lang="pt-PT" b="1" u="sng" dirty="0"/>
              <a:t>O trabalho futuro decorre daqui</a:t>
            </a:r>
            <a:r>
              <a:rPr lang="pt-PT" dirty="0"/>
              <a:t>: </a:t>
            </a:r>
            <a:br>
              <a:rPr lang="pt-PT" dirty="0"/>
            </a:br>
            <a:endParaRPr lang="pt-PT" dirty="0"/>
          </a:p>
          <a:p>
            <a:pPr marL="228600" indent="-228600">
              <a:buAutoNum type="arabicPeriod"/>
            </a:pPr>
            <a:r>
              <a:rPr lang="pt-PT" dirty="0"/>
              <a:t>incluir covariáveis estruturais — área plantada, quotas, número de produtores — para separar setor de clima;</a:t>
            </a:r>
            <a:br>
              <a:rPr lang="pt-PT" dirty="0"/>
            </a:br>
            <a:r>
              <a:rPr lang="pt-PT" dirty="0"/>
              <a:t> </a:t>
            </a:r>
          </a:p>
          <a:p>
            <a:pPr marL="228600" indent="-228600">
              <a:buAutoNum type="arabicPeriod"/>
            </a:pPr>
            <a:r>
              <a:rPr lang="pt-PT" dirty="0"/>
              <a:t>pré-registar e validar prospetivamente o critério de equilíbrio entre fases históricas; </a:t>
            </a:r>
            <a:br>
              <a:rPr lang="pt-PT" dirty="0"/>
            </a:br>
            <a:endParaRPr lang="pt-PT" dirty="0"/>
          </a:p>
          <a:p>
            <a:pPr marL="228600" indent="-228600">
              <a:buAutoNum type="arabicPeriod"/>
            </a:pPr>
            <a:r>
              <a:rPr lang="pt-PT" dirty="0"/>
              <a:t>e aplicar o método a séries com tendências menos acentuadas. </a:t>
            </a:r>
            <a:br>
              <a:rPr lang="pt-PT" dirty="0"/>
            </a:br>
            <a:br>
              <a:rPr lang="pt-PT" dirty="0"/>
            </a:br>
            <a:br>
              <a:rPr lang="pt-PT" dirty="0"/>
            </a:br>
            <a:r>
              <a:rPr lang="pt-PT" b="1" dirty="0"/>
              <a:t>A tese identifica concretamente o que é preciso resolver antes de estas regras servirem previsões operacionais.</a:t>
            </a:r>
          </a:p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PT" dirty="0"/>
              <a:t>⏱ ACUMULADO → 19:05  (~30 s)</a:t>
            </a:r>
          </a:p>
          <a:p>
            <a:endParaRPr lang="pt-PT" dirty="0"/>
          </a:p>
          <a:p>
            <a:r>
              <a:rPr lang="pt-PT" dirty="0"/>
              <a:t>Retomando a pergunta inicial: </a:t>
            </a:r>
          </a:p>
          <a:p>
            <a:endParaRPr lang="pt-PT" dirty="0"/>
          </a:p>
          <a:p>
            <a:r>
              <a:rPr lang="pt-PT" dirty="0"/>
              <a:t>?</a:t>
            </a:r>
            <a:r>
              <a:rPr lang="pt-PT" b="1" dirty="0"/>
              <a:t>Conseguimos prever a produção de vinho com modelos baseados em regras? </a:t>
            </a:r>
          </a:p>
          <a:p>
            <a:r>
              <a:rPr lang="pt-PT" dirty="0"/>
              <a:t>Ainda não de forma fiável, pelo menos apenas com séries regionais anuais — </a:t>
            </a:r>
            <a:r>
              <a:rPr lang="pt-PT" b="1" u="sng" dirty="0"/>
              <a:t>mas conseguimos explicar parte da relação clima-produção de forma </a:t>
            </a:r>
            <a:r>
              <a:rPr lang="pt-PT" b="1" u="sng" dirty="0" err="1"/>
              <a:t>auditável</a:t>
            </a:r>
            <a:r>
              <a:rPr lang="pt-PT" b="1" u="sng" dirty="0"/>
              <a:t> e agronomicamente relevante.</a:t>
            </a:r>
          </a:p>
          <a:p>
            <a:endParaRPr lang="pt-PT" dirty="0"/>
          </a:p>
          <a:p>
            <a:r>
              <a:rPr lang="pt-PT" dirty="0"/>
              <a:t>A mensagem que fica é simples: </a:t>
            </a:r>
          </a:p>
          <a:p>
            <a:r>
              <a:rPr lang="pt-PT" b="1" dirty="0"/>
              <a:t>- as regras explicam o passado; é a estrutura da série que determina se conseguem prever o futuro.</a:t>
            </a:r>
          </a:p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r>
              <a:rPr lang="en-GB" dirty="0"/>
              <a:t>------------------------------------------------------------------------------------------------------</a:t>
            </a:r>
          </a:p>
          <a:p>
            <a:r>
              <a:rPr lang="en-GB" b="1" u="sng" dirty="0"/>
              <a:t>Nota </a:t>
            </a:r>
            <a:r>
              <a:rPr lang="en-GB" b="1" u="sng" dirty="0" err="1"/>
              <a:t>adicional</a:t>
            </a:r>
            <a:r>
              <a:rPr lang="en-GB" b="1" u="sng" dirty="0"/>
              <a:t>  (nao </a:t>
            </a:r>
            <a:r>
              <a:rPr lang="en-GB" b="1" u="sng" dirty="0" err="1"/>
              <a:t>conta</a:t>
            </a:r>
            <a:r>
              <a:rPr lang="en-GB" b="1" u="sng" dirty="0"/>
              <a:t> para a </a:t>
            </a:r>
            <a:r>
              <a:rPr lang="en-GB" b="1" u="sng" dirty="0" err="1"/>
              <a:t>apresentacao</a:t>
            </a:r>
            <a:r>
              <a:rPr lang="en-GB" b="1" u="sng" dirty="0"/>
              <a:t>)</a:t>
            </a:r>
          </a:p>
          <a:p>
            <a:r>
              <a:rPr lang="en-GB" b="0" dirty="0"/>
              <a:t>Eu </a:t>
            </a:r>
            <a:r>
              <a:rPr lang="en-GB" b="0" dirty="0" err="1"/>
              <a:t>deixaria</a:t>
            </a:r>
            <a:r>
              <a:rPr lang="en-GB" b="0" dirty="0"/>
              <a:t> o EMM para </a:t>
            </a:r>
            <a:r>
              <a:rPr lang="en-GB" b="0" dirty="0" err="1"/>
              <a:t>perguntas</a:t>
            </a:r>
            <a:r>
              <a:rPr lang="en-GB" b="0" dirty="0"/>
              <a:t> </a:t>
            </a:r>
            <a:r>
              <a:rPr lang="en-GB" b="0" dirty="0" err="1"/>
              <a:t>ou</a:t>
            </a:r>
            <a:r>
              <a:rPr lang="en-GB" b="0" dirty="0"/>
              <a:t> para </a:t>
            </a:r>
            <a:r>
              <a:rPr lang="en-GB" b="0" dirty="0" err="1"/>
              <a:t>uma</a:t>
            </a:r>
            <a:r>
              <a:rPr lang="en-GB" b="0" dirty="0"/>
              <a:t> </a:t>
            </a:r>
            <a:r>
              <a:rPr lang="en-GB" b="0" dirty="0" err="1"/>
              <a:t>frase</a:t>
            </a:r>
            <a:r>
              <a:rPr lang="en-GB" b="0" dirty="0"/>
              <a:t> </a:t>
            </a:r>
            <a:r>
              <a:rPr lang="en-GB" b="0" dirty="0" err="1"/>
              <a:t>opcional</a:t>
            </a:r>
            <a:r>
              <a:rPr lang="en-GB" b="0" dirty="0"/>
              <a:t>:</a:t>
            </a:r>
          </a:p>
          <a:p>
            <a:r>
              <a:rPr lang="en-GB" b="0" dirty="0"/>
              <a:t>Uma </a:t>
            </a:r>
            <a:r>
              <a:rPr lang="en-GB" b="0" dirty="0" err="1"/>
              <a:t>extensão</a:t>
            </a:r>
            <a:r>
              <a:rPr lang="en-GB" b="0" dirty="0"/>
              <a:t> </a:t>
            </a:r>
            <a:r>
              <a:rPr lang="en-GB" b="0" dirty="0" err="1"/>
              <a:t>possível</a:t>
            </a:r>
            <a:r>
              <a:rPr lang="en-GB" b="0" dirty="0"/>
              <a:t> seria </a:t>
            </a:r>
            <a:r>
              <a:rPr lang="en-GB" b="0" dirty="0" err="1"/>
              <a:t>ainda</a:t>
            </a:r>
            <a:r>
              <a:rPr lang="en-GB" b="0" dirty="0"/>
              <a:t> usar Exceptional Model Mining para </a:t>
            </a:r>
            <a:r>
              <a:rPr lang="en-GB" b="0" dirty="0" err="1"/>
              <a:t>procurar</a:t>
            </a:r>
            <a:r>
              <a:rPr lang="en-GB" b="0" dirty="0"/>
              <a:t> </a:t>
            </a:r>
            <a:r>
              <a:rPr lang="en-GB" b="0" dirty="0" err="1"/>
              <a:t>contextos</a:t>
            </a:r>
            <a:r>
              <a:rPr lang="en-GB" b="0" dirty="0"/>
              <a:t> </a:t>
            </a:r>
            <a:r>
              <a:rPr lang="en-GB" b="0" dirty="0" err="1"/>
              <a:t>onde</a:t>
            </a:r>
            <a:r>
              <a:rPr lang="en-GB" b="0" dirty="0"/>
              <a:t> a </a:t>
            </a:r>
            <a:r>
              <a:rPr lang="en-GB" b="0" dirty="0" err="1"/>
              <a:t>relação</a:t>
            </a:r>
            <a:r>
              <a:rPr lang="en-GB" b="0" dirty="0"/>
              <a:t> </a:t>
            </a:r>
            <a:r>
              <a:rPr lang="en-GB" b="0" dirty="0" err="1"/>
              <a:t>clima</a:t>
            </a:r>
            <a:r>
              <a:rPr lang="en-GB" b="0" dirty="0"/>
              <a:t>–</a:t>
            </a:r>
            <a:r>
              <a:rPr lang="en-GB" b="0" dirty="0" err="1"/>
              <a:t>produção</a:t>
            </a:r>
            <a:r>
              <a:rPr lang="en-GB" b="0" dirty="0"/>
              <a:t> </a:t>
            </a:r>
            <a:r>
              <a:rPr lang="en-GB" b="0" dirty="0" err="1"/>
              <a:t>é</a:t>
            </a:r>
            <a:r>
              <a:rPr lang="en-GB" b="0" dirty="0"/>
              <a:t> </a:t>
            </a:r>
            <a:r>
              <a:rPr lang="en-GB" b="0" dirty="0" err="1"/>
              <a:t>excecional</a:t>
            </a:r>
            <a:r>
              <a:rPr lang="en-GB" b="0" dirty="0"/>
              <a:t>, mas </a:t>
            </a:r>
            <a:r>
              <a:rPr lang="en-GB" b="0" dirty="0" err="1"/>
              <a:t>isso</a:t>
            </a:r>
            <a:r>
              <a:rPr lang="en-GB" b="0" dirty="0"/>
              <a:t> </a:t>
            </a:r>
            <a:r>
              <a:rPr lang="en-GB" b="0" dirty="0" err="1"/>
              <a:t>fica</a:t>
            </a:r>
            <a:r>
              <a:rPr lang="en-GB" b="0" dirty="0"/>
              <a:t> </a:t>
            </a:r>
            <a:r>
              <a:rPr lang="en-GB" b="0" dirty="0" err="1"/>
              <a:t>como</a:t>
            </a:r>
            <a:r>
              <a:rPr lang="en-GB" b="0" dirty="0"/>
              <a:t> </a:t>
            </a:r>
            <a:r>
              <a:rPr lang="en-GB" b="0" dirty="0" err="1"/>
              <a:t>trabalho</a:t>
            </a:r>
            <a:r>
              <a:rPr lang="en-GB" b="0" dirty="0"/>
              <a:t> </a:t>
            </a:r>
            <a:r>
              <a:rPr lang="en-GB" b="0" dirty="0" err="1"/>
              <a:t>futuro</a:t>
            </a:r>
            <a:r>
              <a:rPr lang="en-GB" b="0" dirty="0"/>
              <a:t> </a:t>
            </a:r>
            <a:r>
              <a:rPr lang="en-GB" b="0" dirty="0" err="1"/>
              <a:t>metodológico</a:t>
            </a:r>
            <a:r>
              <a:rPr lang="en-GB" b="0" dirty="0"/>
              <a:t>.</a:t>
            </a:r>
          </a:p>
          <a:p>
            <a:endParaRPr lang="en-GB" dirty="0"/>
          </a:p>
          <a:p>
            <a:endParaRPr lang="en-GB" b="1" dirty="0"/>
          </a:p>
          <a:p>
            <a:pPr marL="171450" indent="-171450">
              <a:buFontTx/>
              <a:buChar char="-"/>
            </a:pPr>
            <a:endParaRPr lang="en-GB" b="1" dirty="0"/>
          </a:p>
          <a:p>
            <a:pPr marL="171450" indent="-171450">
              <a:buFontTx/>
              <a:buChar char="-"/>
            </a:pPr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PT" dirty="0"/>
              <a:t>⏱ ACUMULADO → 19:45    (~40 s)</a:t>
            </a:r>
          </a:p>
          <a:p>
            <a:endParaRPr lang="pt-PT" dirty="0"/>
          </a:p>
          <a:p>
            <a:r>
              <a:rPr lang="pt-PT" dirty="0"/>
              <a:t>Termino com a mensagem principal: </a:t>
            </a:r>
          </a:p>
          <a:p>
            <a:endParaRPr lang="pt-PT" dirty="0"/>
          </a:p>
          <a:p>
            <a:pPr marL="171450" indent="-171450">
              <a:buFontTx/>
              <a:buChar char="-"/>
            </a:pPr>
            <a:r>
              <a:rPr lang="pt-PT" b="1" dirty="0"/>
              <a:t>Compreender porque uma previsão falha é, em si, uma contribuição,</a:t>
            </a:r>
            <a:r>
              <a:rPr lang="pt-PT" dirty="0"/>
              <a:t> porque identifica com precisão que evidência ainda falta antes de estes métodos serem fiáveis.</a:t>
            </a:r>
            <a:br>
              <a:rPr lang="pt-PT" dirty="0"/>
            </a:br>
            <a:endParaRPr lang="pt-PT" dirty="0"/>
          </a:p>
          <a:p>
            <a:pPr marL="171450" indent="-171450">
              <a:buFontTx/>
              <a:buChar char="-"/>
            </a:pPr>
            <a:r>
              <a:rPr lang="pt-PT" b="1" dirty="0"/>
              <a:t>A interpretabilidade continua essencial</a:t>
            </a:r>
            <a:r>
              <a:rPr lang="pt-PT" dirty="0"/>
              <a:t>, mesmo em plena expansão da inteligência artificial. Em problemas aplicados como este, o valor não está só no algoritmo, mas na sua ligação ao conhecimento do domínio — são os especialistas que ajudam a validar se uma regra faz sentido e se uma associação corresponde a um mecanismo real.</a:t>
            </a:r>
          </a:p>
          <a:p>
            <a:endParaRPr lang="pt-PT" dirty="0"/>
          </a:p>
          <a:p>
            <a:r>
              <a:rPr lang="pt-PT" b="1" dirty="0"/>
              <a:t>Mais do que substituir essa expertise, estes métodos devem torná-la explícita, auditável e útil para a decisão. </a:t>
            </a:r>
          </a:p>
          <a:p>
            <a:endParaRPr lang="pt-PT" b="1" dirty="0"/>
          </a:p>
          <a:p>
            <a:r>
              <a:rPr lang="pt-PT" b="0" dirty="0"/>
              <a:t>Muito obrigado pela atenção; fico ao dispor para as vossas questões.</a:t>
            </a:r>
          </a:p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l="18097" t="34404" r="17656" b="35003"/>
          <a:stretch>
            <a:fillRect/>
          </a:stretch>
        </p:blipFill>
        <p:spPr>
          <a:xfrm>
            <a:off x="11342158" y="42144"/>
            <a:ext cx="804333" cy="31980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89590B-D6CB-1D0F-7FFF-78CED0890EFC}"/>
              </a:ext>
            </a:extLst>
          </p:cNvPr>
          <p:cNvSpPr>
            <a:spLocks noGrp="1"/>
          </p:cNvSpPr>
          <p:nvPr userDrawn="1"/>
        </p:nvSpPr>
        <p:spPr>
          <a:xfrm>
            <a:off x="2333625" y="6692630"/>
            <a:ext cx="7429500" cy="16537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3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pt-PT" sz="800" dirty="0">
                <a:solidFill>
                  <a:schemeClr val="bg1">
                    <a:lumMod val="65000"/>
                  </a:schemeClr>
                </a:solidFill>
              </a:rPr>
              <a:t>Hugo Nogueira</a:t>
            </a:r>
            <a:r>
              <a:rPr lang="en-GB" sz="800" dirty="0">
                <a:solidFill>
                  <a:schemeClr val="bg1">
                    <a:lumMod val="65000"/>
                  </a:schemeClr>
                </a:solidFill>
              </a:rPr>
              <a:t> · </a:t>
            </a:r>
            <a:r>
              <a:rPr sz="800" dirty="0">
                <a:solidFill>
                  <a:schemeClr val="bg1">
                    <a:lumMod val="65000"/>
                  </a:schemeClr>
                </a:solidFill>
              </a:rPr>
              <a:t>João Mendes Moreira · Mário Campos Cunha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8AAC14-D9D2-421D-87CA-74CBACF475D7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723900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MASTER'S DISSERTATION · FEUP ·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7BC4C7-9A32-42AC-8B68-758399A684C9}"/>
              </a:ext>
            </a:extLst>
          </p:cNvPr>
          <p:cNvSpPr>
            <a:spLocks noGrp="1"/>
          </p:cNvSpPr>
          <p:nvPr/>
        </p:nvSpPr>
        <p:spPr>
          <a:xfrm>
            <a:off x="400050" y="989647"/>
            <a:ext cx="6625589" cy="2706053"/>
          </a:xfrm>
          <a:prstGeom prst="rect">
            <a:avLst/>
          </a:prstGeom>
        </p:spPr>
        <p:txBody>
          <a:bodyPr lIns="0" tIns="0" rIns="0" bIns="0" anchor="b">
            <a:normAutofit fontScale="92500" lnSpcReduction="20000"/>
          </a:bodyPr>
          <a:lstStyle/>
          <a:p>
            <a:pPr algn="l">
              <a:buNone/>
              <a:defRPr sz="54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WINE PRODUCTION FORECASTING WITH INTERPRETABLE RULES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FA9A0A-E8FA-4A33-B80D-4EE9AF4FDBCA}"/>
              </a:ext>
            </a:extLst>
          </p:cNvPr>
          <p:cNvSpPr>
            <a:spLocks noGrp="1"/>
          </p:cNvSpPr>
          <p:nvPr/>
        </p:nvSpPr>
        <p:spPr>
          <a:xfrm>
            <a:off x="400050" y="4095750"/>
            <a:ext cx="8096250" cy="590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325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What can climate explain — and what can it reliably predict?</a:t>
            </a:r>
          </a:p>
        </p:txBody>
      </p:sp>
      <p:cxnSp>
        <p:nvCxnSpPr>
          <p:cNvPr id="155" name="Straight Arrow Connector 134"/>
          <p:cNvCxnSpPr/>
          <p:nvPr/>
        </p:nvCxnSpPr>
        <p:spPr>
          <a:xfrm>
            <a:off x="400050" y="5048250"/>
            <a:ext cx="11391900" cy="953"/>
          </a:xfrm>
          <a:prstGeom prst="straightConnector1">
            <a:avLst/>
          </a:prstGeom>
          <a:ln w="38100">
            <a:solidFill>
              <a:srgbClr val="7B1E3A"/>
            </a:solidFill>
            <a:prstDash val="solid"/>
          </a:ln>
        </p:spPr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020FEF38-FF70-441C-B96F-A52F19298A0B}"/>
              </a:ext>
            </a:extLst>
          </p:cNvPr>
          <p:cNvSpPr>
            <a:spLocks noGrp="1"/>
          </p:cNvSpPr>
          <p:nvPr/>
        </p:nvSpPr>
        <p:spPr>
          <a:xfrm>
            <a:off x="400050" y="5353050"/>
            <a:ext cx="495300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Hugo Filipe </a:t>
            </a:r>
            <a:r>
              <a:rPr lang="en-GB" noProof="0" dirty="0" err="1"/>
              <a:t>Queiróz</a:t>
            </a:r>
            <a:r>
              <a:rPr lang="en-GB" noProof="0" dirty="0"/>
              <a:t> Nogueira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389F8B-3B99-4B1C-8CBA-75729E826F04}"/>
              </a:ext>
            </a:extLst>
          </p:cNvPr>
          <p:cNvSpPr>
            <a:spLocks noGrp="1"/>
          </p:cNvSpPr>
          <p:nvPr/>
        </p:nvSpPr>
        <p:spPr>
          <a:xfrm>
            <a:off x="400050" y="5753100"/>
            <a:ext cx="74295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Supervisors: João Mendes Moreira · Mário Campos Cunha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B0F1BA-3A3B-4D80-A22A-B53E9AFC39DD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01</a:t>
            </a:r>
          </a:p>
        </p:txBody>
      </p:sp>
      <p:pic>
        <p:nvPicPr>
          <p:cNvPr id="159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787" y="989647"/>
            <a:ext cx="3036604" cy="3496420"/>
          </a:xfrm>
          <a:prstGeom prst="roundRect">
            <a:avLst>
              <a:gd name="adj" fmla="val 4167"/>
            </a:avLst>
          </a:prstGeom>
          <a:ln w="76200" cap="sq">
            <a:solidFill>
              <a:srgbClr val="292929"/>
            </a:solidFill>
            <a:miter/>
          </a:ln>
          <a:effectLst>
            <a:reflection blurRad="12700" stA="28000" endPos="28000" dist="5000" dir="5400000" sy="-100000" algn="bl" rotWithShape="0"/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28E2B39-5DED-5FC6-0590-CAA4BA62C1BC}"/>
              </a:ext>
            </a:extLst>
          </p:cNvPr>
          <p:cNvSpPr/>
          <p:nvPr/>
        </p:nvSpPr>
        <p:spPr>
          <a:xfrm>
            <a:off x="4114800" y="6572250"/>
            <a:ext cx="3966519" cy="285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991061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8C79E55-FD5E-4085-AC93-5DE540B8DE96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CONTEXT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142EE0-DD7B-4E64-A124-689FECFA3EBE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The business question is a decision question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48877D-50A3-43B8-AE9B-A0E241938788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81F049-5824-448C-BCEF-E7DB4C33261F}"/>
              </a:ext>
            </a:extLst>
          </p:cNvPr>
          <p:cNvSpPr>
            <a:spLocks noGrp="1"/>
          </p:cNvSpPr>
          <p:nvPr/>
        </p:nvSpPr>
        <p:spPr>
          <a:xfrm>
            <a:off x="638174" y="1859436"/>
            <a:ext cx="7713345" cy="1809750"/>
          </a:xfrm>
          <a:prstGeom prst="rect">
            <a:avLst/>
          </a:prstGeom>
        </p:spPr>
        <p:txBody>
          <a:bodyPr lIns="0" tIns="0" rIns="0" bIns="0" anchor="t">
            <a:normAutofit fontScale="86746"/>
          </a:bodyPr>
          <a:lstStyle/>
          <a:p>
            <a:pPr>
              <a:buNone/>
              <a:defRPr sz="31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accent2"/>
                </a:solidFill>
              </a:rPr>
              <a:t>CAN REGIONAL CLIMATE AND VINE DEVELOPMENT DATA IMPROVE THE ANNUAL PRODUCTION FORECAST — EARLY ENOUGH TO CHANGE A DECISION?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B1A66B-BE8A-4518-8CE2-97A96689A671}"/>
              </a:ext>
            </a:extLst>
          </p:cNvPr>
          <p:cNvSpPr>
            <a:spLocks noGrp="1"/>
          </p:cNvSpPr>
          <p:nvPr/>
        </p:nvSpPr>
        <p:spPr>
          <a:xfrm>
            <a:off x="8458200" y="1635083"/>
            <a:ext cx="3333750" cy="4000500"/>
          </a:xfrm>
          <a:prstGeom prst="rect">
            <a:avLst/>
          </a:prstGeom>
          <a:solidFill>
            <a:srgbClr val="F0F1F2"/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909464-0CE7-4D73-859B-2F8EA427FCD3}"/>
              </a:ext>
            </a:extLst>
          </p:cNvPr>
          <p:cNvSpPr>
            <a:spLocks noGrp="1"/>
          </p:cNvSpPr>
          <p:nvPr/>
        </p:nvSpPr>
        <p:spPr>
          <a:xfrm>
            <a:off x="8791575" y="1920833"/>
            <a:ext cx="2667000" cy="333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Who uses the answer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4E2884-2BC2-4896-AF19-268020E91848}"/>
              </a:ext>
            </a:extLst>
          </p:cNvPr>
          <p:cNvSpPr>
            <a:spLocks noGrp="1"/>
          </p:cNvSpPr>
          <p:nvPr/>
        </p:nvSpPr>
        <p:spPr>
          <a:xfrm>
            <a:off x="8791575" y="2444708"/>
            <a:ext cx="2667000" cy="11906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Producers and cooperatives
Regulatory bodies
Supply-chain planners</a:t>
            </a:r>
          </a:p>
        </p:txBody>
      </p:sp>
      <p:cxnSp>
        <p:nvCxnSpPr>
          <p:cNvPr id="301" name="Straight Arrow Connector 268"/>
          <p:cNvCxnSpPr/>
          <p:nvPr/>
        </p:nvCxnSpPr>
        <p:spPr>
          <a:xfrm>
            <a:off x="8791575" y="3844883"/>
            <a:ext cx="2667000" cy="953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1ADD122-BB52-4AC0-8D49-D42EE4937B80}"/>
              </a:ext>
            </a:extLst>
          </p:cNvPr>
          <p:cNvSpPr>
            <a:spLocks noGrp="1"/>
          </p:cNvSpPr>
          <p:nvPr/>
        </p:nvSpPr>
        <p:spPr>
          <a:xfrm>
            <a:off x="8791575" y="4111583"/>
            <a:ext cx="2667000" cy="333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Decisions affected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27EE99-1FFC-4DBD-A128-364BDB61554C}"/>
              </a:ext>
            </a:extLst>
          </p:cNvPr>
          <p:cNvSpPr>
            <a:spLocks noGrp="1"/>
          </p:cNvSpPr>
          <p:nvPr/>
        </p:nvSpPr>
        <p:spPr>
          <a:xfrm>
            <a:off x="8791575" y="4635458"/>
            <a:ext cx="2667000" cy="11906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Harvest planning
Storage and capacity
Risk assessment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F371CF-A98C-4C17-B82D-D696D74F99BA}"/>
              </a:ext>
            </a:extLst>
          </p:cNvPr>
          <p:cNvSpPr>
            <a:spLocks noGrp="1"/>
          </p:cNvSpPr>
          <p:nvPr/>
        </p:nvSpPr>
        <p:spPr>
          <a:xfrm>
            <a:off x="438150" y="4152652"/>
            <a:ext cx="6858000" cy="514350"/>
          </a:xfrm>
          <a:prstGeom prst="rect">
            <a:avLst/>
          </a:prstGeom>
        </p:spPr>
        <p:txBody>
          <a:bodyPr lIns="0" tIns="0" rIns="0" bIns="0" anchor="t">
            <a:normAutofit fontScale="85625"/>
          </a:bodyPr>
          <a:lstStyle/>
          <a:p>
            <a:pPr algn="l">
              <a:buNone/>
              <a:defRPr sz="22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useful model must add accuracy and preserve trust.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AC93E7-E0D3-418D-A665-D7BD9F465F88}"/>
              </a:ext>
            </a:extLst>
          </p:cNvPr>
          <p:cNvSpPr>
            <a:spLocks noGrp="1"/>
          </p:cNvSpPr>
          <p:nvPr/>
        </p:nvSpPr>
        <p:spPr>
          <a:xfrm>
            <a:off x="438150" y="4538231"/>
            <a:ext cx="6667500" cy="5238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Prediction alone is insufficient when the mechanism cannot be explained or challenged.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A4D57A-28E4-D61C-5D4E-709193211EFB}"/>
              </a:ext>
            </a:extLst>
          </p:cNvPr>
          <p:cNvSpPr txBox="1"/>
          <p:nvPr/>
        </p:nvSpPr>
        <p:spPr>
          <a:xfrm>
            <a:off x="3048990" y="3320734"/>
            <a:ext cx="60979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noProof="0" dirty="0"/>
              <a:t> · </a:t>
            </a:r>
            <a:endParaRPr lang="en-GB" noProof="0" dirty="0"/>
          </a:p>
        </p:txBody>
      </p:sp>
      <p:sp>
        <p:nvSpPr>
          <p:cNvPr id="20" name="gap-stripe">
            <a:extLst>
              <a:ext uri="{FF2B5EF4-FFF2-40B4-BE49-F238E27FC236}">
                <a16:creationId xmlns:a16="http://schemas.microsoft.com/office/drawing/2014/main" id="{F1887F76-E85F-7BCD-664A-5865463E708B}"/>
              </a:ext>
            </a:extLst>
          </p:cNvPr>
          <p:cNvSpPr>
            <a:spLocks noGrp="1"/>
          </p:cNvSpPr>
          <p:nvPr/>
        </p:nvSpPr>
        <p:spPr>
          <a:xfrm>
            <a:off x="400050" y="1825583"/>
            <a:ext cx="76200" cy="1619250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8592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>
            <a:extLst>
              <a:ext uri="{FF2B5EF4-FFF2-40B4-BE49-F238E27FC236}">
                <a16:creationId xmlns:a16="http://schemas.microsoft.com/office/drawing/2014/main" id="{4A4BD214-BDF3-4D1A-ACEE-97713EE1D52D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chemeClr val="bg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RESEARCH PROBLEM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6FB7E76-8173-490E-8DC3-AA953BB870B2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6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36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problem is not only forecasting, but auditable forecasting</a:t>
            </a:r>
          </a:p>
        </p:txBody>
      </p:sp>
      <p:sp>
        <p:nvSpPr>
          <p:cNvPr id="4" name="gap-panel">
            <a:extLst>
              <a:ext uri="{FF2B5EF4-FFF2-40B4-BE49-F238E27FC236}">
                <a16:creationId xmlns:a16="http://schemas.microsoft.com/office/drawing/2014/main" id="{D77A0810-E48F-4C7F-951D-98AB1B9564E7}"/>
              </a:ext>
            </a:extLst>
          </p:cNvPr>
          <p:cNvSpPr>
            <a:spLocks noGrp="1"/>
          </p:cNvSpPr>
          <p:nvPr/>
        </p:nvSpPr>
        <p:spPr>
          <a:xfrm>
            <a:off x="542554" y="2107606"/>
            <a:ext cx="5286375" cy="1619250"/>
          </a:xfrm>
          <a:prstGeom prst="rect">
            <a:avLst/>
          </a:prstGeom>
          <a:solidFill>
            <a:srgbClr val="F0F1F2"/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5" name="gap-stripe">
            <a:extLst>
              <a:ext uri="{FF2B5EF4-FFF2-40B4-BE49-F238E27FC236}">
                <a16:creationId xmlns:a16="http://schemas.microsoft.com/office/drawing/2014/main" id="{790A3E25-2C06-46A5-811C-4128039E70E0}"/>
              </a:ext>
            </a:extLst>
          </p:cNvPr>
          <p:cNvSpPr>
            <a:spLocks noGrp="1"/>
          </p:cNvSpPr>
          <p:nvPr/>
        </p:nvSpPr>
        <p:spPr>
          <a:xfrm>
            <a:off x="542554" y="2107606"/>
            <a:ext cx="76200" cy="1619250"/>
          </a:xfrm>
          <a:prstGeom prst="rect">
            <a:avLst/>
          </a:prstGeom>
          <a:solidFill>
            <a:schemeClr val="tx1"/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gap-title">
            <a:extLst>
              <a:ext uri="{FF2B5EF4-FFF2-40B4-BE49-F238E27FC236}">
                <a16:creationId xmlns:a16="http://schemas.microsoft.com/office/drawing/2014/main" id="{CEC84097-32CE-4459-A681-5DA46251C78D}"/>
              </a:ext>
            </a:extLst>
          </p:cNvPr>
          <p:cNvSpPr>
            <a:spLocks noGrp="1"/>
          </p:cNvSpPr>
          <p:nvPr/>
        </p:nvSpPr>
        <p:spPr>
          <a:xfrm>
            <a:off x="809254" y="2326681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500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THE GAP</a:t>
            </a:r>
          </a:p>
        </p:txBody>
      </p:sp>
      <p:sp>
        <p:nvSpPr>
          <p:cNvPr id="8" name="rule-panel">
            <a:extLst>
              <a:ext uri="{FF2B5EF4-FFF2-40B4-BE49-F238E27FC236}">
                <a16:creationId xmlns:a16="http://schemas.microsoft.com/office/drawing/2014/main" id="{3A28869A-E8C4-488B-B71B-0D3CDF960E51}"/>
              </a:ext>
            </a:extLst>
          </p:cNvPr>
          <p:cNvSpPr>
            <a:spLocks noGrp="1"/>
          </p:cNvSpPr>
          <p:nvPr/>
        </p:nvSpPr>
        <p:spPr>
          <a:xfrm>
            <a:off x="6257554" y="2107606"/>
            <a:ext cx="5667375" cy="161925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9" name="rule-stripe">
            <a:extLst>
              <a:ext uri="{FF2B5EF4-FFF2-40B4-BE49-F238E27FC236}">
                <a16:creationId xmlns:a16="http://schemas.microsoft.com/office/drawing/2014/main" id="{D0F61BE2-DEE5-4F30-9CEC-81DBA6836FDD}"/>
              </a:ext>
            </a:extLst>
          </p:cNvPr>
          <p:cNvSpPr>
            <a:spLocks noGrp="1"/>
          </p:cNvSpPr>
          <p:nvPr/>
        </p:nvSpPr>
        <p:spPr>
          <a:xfrm>
            <a:off x="6257554" y="2107606"/>
            <a:ext cx="76200" cy="16192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10" name="rule-title">
            <a:extLst>
              <a:ext uri="{FF2B5EF4-FFF2-40B4-BE49-F238E27FC236}">
                <a16:creationId xmlns:a16="http://schemas.microsoft.com/office/drawing/2014/main" id="{DB90714C-C28C-4644-BEF2-BAB5C9E5A66E}"/>
              </a:ext>
            </a:extLst>
          </p:cNvPr>
          <p:cNvSpPr>
            <a:spLocks noGrp="1"/>
          </p:cNvSpPr>
          <p:nvPr/>
        </p:nvSpPr>
        <p:spPr>
          <a:xfrm>
            <a:off x="6524254" y="2326681"/>
            <a:ext cx="366461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9A6A16"/>
                </a:solidFill>
                <a:latin typeface="Arial"/>
                <a:ea typeface="Arial"/>
                <a:cs typeface="Arial"/>
              </a:defRPr>
            </a:pPr>
            <a:r>
              <a:rPr lang="en-GB" sz="1500" b="1" noProof="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WHAT A RULE LOOKS LIKE</a:t>
            </a:r>
          </a:p>
        </p:txBody>
      </p:sp>
      <p:sp>
        <p:nvSpPr>
          <p:cNvPr id="12" name="properties-panel">
            <a:extLst>
              <a:ext uri="{FF2B5EF4-FFF2-40B4-BE49-F238E27FC236}">
                <a16:creationId xmlns:a16="http://schemas.microsoft.com/office/drawing/2014/main" id="{A962D9F2-EE8C-4A0F-B89A-EB27119CE4F5}"/>
              </a:ext>
            </a:extLst>
          </p:cNvPr>
          <p:cNvSpPr>
            <a:spLocks noGrp="1"/>
          </p:cNvSpPr>
          <p:nvPr/>
        </p:nvSpPr>
        <p:spPr>
          <a:xfrm>
            <a:off x="542554" y="4107856"/>
            <a:ext cx="5286375" cy="200025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13" name="properties-stripe">
            <a:extLst>
              <a:ext uri="{FF2B5EF4-FFF2-40B4-BE49-F238E27FC236}">
                <a16:creationId xmlns:a16="http://schemas.microsoft.com/office/drawing/2014/main" id="{77E43754-E203-491D-921A-6B9BF8ABDFD1}"/>
              </a:ext>
            </a:extLst>
          </p:cNvPr>
          <p:cNvSpPr>
            <a:spLocks noGrp="1"/>
          </p:cNvSpPr>
          <p:nvPr/>
        </p:nvSpPr>
        <p:spPr>
          <a:xfrm>
            <a:off x="542554" y="4107856"/>
            <a:ext cx="76200" cy="2000250"/>
          </a:xfrm>
          <a:prstGeom prst="rect">
            <a:avLst/>
          </a:prstGeom>
          <a:solidFill>
            <a:schemeClr val="accent2"/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14" name="properties-title">
            <a:extLst>
              <a:ext uri="{FF2B5EF4-FFF2-40B4-BE49-F238E27FC236}">
                <a16:creationId xmlns:a16="http://schemas.microsoft.com/office/drawing/2014/main" id="{4FC8F8CC-39AE-4591-92E1-D2CB07FAE1CF}"/>
              </a:ext>
            </a:extLst>
          </p:cNvPr>
          <p:cNvSpPr>
            <a:spLocks noGrp="1"/>
          </p:cNvSpPr>
          <p:nvPr/>
        </p:nvSpPr>
        <p:spPr>
          <a:xfrm>
            <a:off x="799729" y="4214824"/>
            <a:ext cx="506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500" b="1" noProof="0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NO PRIOR WORK COMBINES ALL FIVE PROPERTIES</a:t>
            </a:r>
          </a:p>
        </p:txBody>
      </p:sp>
      <p:sp>
        <p:nvSpPr>
          <p:cNvPr id="15" name="prop-0-0">
            <a:extLst>
              <a:ext uri="{FF2B5EF4-FFF2-40B4-BE49-F238E27FC236}">
                <a16:creationId xmlns:a16="http://schemas.microsoft.com/office/drawing/2014/main" id="{8A5DBD53-D4C9-4EB0-AC3D-A071893A0DE6}"/>
              </a:ext>
            </a:extLst>
          </p:cNvPr>
          <p:cNvSpPr>
            <a:spLocks noGrp="1"/>
          </p:cNvSpPr>
          <p:nvPr/>
        </p:nvSpPr>
        <p:spPr>
          <a:xfrm>
            <a:off x="809254" y="4707931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75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Interpretable</a:t>
            </a:r>
          </a:p>
        </p:txBody>
      </p:sp>
      <p:sp>
        <p:nvSpPr>
          <p:cNvPr id="16" name="prop-0-1">
            <a:extLst>
              <a:ext uri="{FF2B5EF4-FFF2-40B4-BE49-F238E27FC236}">
                <a16:creationId xmlns:a16="http://schemas.microsoft.com/office/drawing/2014/main" id="{605E9160-13F2-40B1-B96F-21DEDFF435D9}"/>
              </a:ext>
            </a:extLst>
          </p:cNvPr>
          <p:cNvSpPr>
            <a:spLocks noGrp="1"/>
          </p:cNvSpPr>
          <p:nvPr/>
        </p:nvSpPr>
        <p:spPr>
          <a:xfrm>
            <a:off x="2714254" y="4707931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75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Long-term</a:t>
            </a:r>
          </a:p>
        </p:txBody>
      </p:sp>
      <p:sp>
        <p:nvSpPr>
          <p:cNvPr id="17" name="prop-0-2">
            <a:extLst>
              <a:ext uri="{FF2B5EF4-FFF2-40B4-BE49-F238E27FC236}">
                <a16:creationId xmlns:a16="http://schemas.microsoft.com/office/drawing/2014/main" id="{A22FAC11-43E8-4CEC-8C8E-E9B63F35AE3E}"/>
              </a:ext>
            </a:extLst>
          </p:cNvPr>
          <p:cNvSpPr>
            <a:spLocks noGrp="1"/>
          </p:cNvSpPr>
          <p:nvPr/>
        </p:nvSpPr>
        <p:spPr>
          <a:xfrm>
            <a:off x="3857254" y="4707931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75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Predictive</a:t>
            </a:r>
          </a:p>
        </p:txBody>
      </p:sp>
      <p:sp>
        <p:nvSpPr>
          <p:cNvPr id="18" name="prop-0-3">
            <a:extLst>
              <a:ext uri="{FF2B5EF4-FFF2-40B4-BE49-F238E27FC236}">
                <a16:creationId xmlns:a16="http://schemas.microsoft.com/office/drawing/2014/main" id="{7C4A4A25-D213-45F9-B4D7-1F9776BB1967}"/>
              </a:ext>
            </a:extLst>
          </p:cNvPr>
          <p:cNvSpPr>
            <a:spLocks noGrp="1"/>
          </p:cNvSpPr>
          <p:nvPr/>
        </p:nvSpPr>
        <p:spPr>
          <a:xfrm>
            <a:off x="4952629" y="4707931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75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Wine region</a:t>
            </a:r>
          </a:p>
        </p:txBody>
      </p:sp>
      <p:sp>
        <p:nvSpPr>
          <p:cNvPr id="19" name="prop-1-0">
            <a:extLst>
              <a:ext uri="{FF2B5EF4-FFF2-40B4-BE49-F238E27FC236}">
                <a16:creationId xmlns:a16="http://schemas.microsoft.com/office/drawing/2014/main" id="{DBB12BD9-97DA-49B9-B235-E2C3B6789004}"/>
              </a:ext>
            </a:extLst>
          </p:cNvPr>
          <p:cNvSpPr>
            <a:spLocks noGrp="1"/>
          </p:cNvSpPr>
          <p:nvPr/>
        </p:nvSpPr>
        <p:spPr>
          <a:xfrm>
            <a:off x="809254" y="5022256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125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Modern ML</a:t>
            </a:r>
          </a:p>
        </p:txBody>
      </p:sp>
      <p:sp>
        <p:nvSpPr>
          <p:cNvPr id="20" name="prop-1-1">
            <a:extLst>
              <a:ext uri="{FF2B5EF4-FFF2-40B4-BE49-F238E27FC236}">
                <a16:creationId xmlns:a16="http://schemas.microsoft.com/office/drawing/2014/main" id="{FC2430EE-90C2-45B4-A8FE-5A20FFBC59DE}"/>
              </a:ext>
            </a:extLst>
          </p:cNvPr>
          <p:cNvSpPr>
            <a:spLocks noGrp="1"/>
          </p:cNvSpPr>
          <p:nvPr/>
        </p:nvSpPr>
        <p:spPr>
          <a:xfrm>
            <a:off x="2714254" y="5022256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125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1" name="prop-1-2">
            <a:extLst>
              <a:ext uri="{FF2B5EF4-FFF2-40B4-BE49-F238E27FC236}">
                <a16:creationId xmlns:a16="http://schemas.microsoft.com/office/drawing/2014/main" id="{FB6C4CD0-9D23-4B7B-A202-CF54C3F011C0}"/>
              </a:ext>
            </a:extLst>
          </p:cNvPr>
          <p:cNvSpPr>
            <a:spLocks noGrp="1"/>
          </p:cNvSpPr>
          <p:nvPr/>
        </p:nvSpPr>
        <p:spPr>
          <a:xfrm>
            <a:off x="3857254" y="5022256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125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partial</a:t>
            </a:r>
          </a:p>
        </p:txBody>
      </p:sp>
      <p:sp>
        <p:nvSpPr>
          <p:cNvPr id="22" name="prop-1-3">
            <a:extLst>
              <a:ext uri="{FF2B5EF4-FFF2-40B4-BE49-F238E27FC236}">
                <a16:creationId xmlns:a16="http://schemas.microsoft.com/office/drawing/2014/main" id="{FD02C65A-9A3A-4F65-89EE-DF1FC53EFE68}"/>
              </a:ext>
            </a:extLst>
          </p:cNvPr>
          <p:cNvSpPr>
            <a:spLocks noGrp="1"/>
          </p:cNvSpPr>
          <p:nvPr/>
        </p:nvSpPr>
        <p:spPr>
          <a:xfrm>
            <a:off x="4952629" y="5022256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125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23" name="prop-2-0">
            <a:extLst>
              <a:ext uri="{FF2B5EF4-FFF2-40B4-BE49-F238E27FC236}">
                <a16:creationId xmlns:a16="http://schemas.microsoft.com/office/drawing/2014/main" id="{FBF2D9BE-5EDF-42AE-8093-D23D43750D6F}"/>
              </a:ext>
            </a:extLst>
          </p:cNvPr>
          <p:cNvSpPr>
            <a:spLocks noGrp="1"/>
          </p:cNvSpPr>
          <p:nvPr/>
        </p:nvSpPr>
        <p:spPr>
          <a:xfrm>
            <a:off x="809254" y="5336581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125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Subgroup discovery</a:t>
            </a:r>
          </a:p>
        </p:txBody>
      </p:sp>
      <p:sp>
        <p:nvSpPr>
          <p:cNvPr id="24" name="prop-2-1">
            <a:extLst>
              <a:ext uri="{FF2B5EF4-FFF2-40B4-BE49-F238E27FC236}">
                <a16:creationId xmlns:a16="http://schemas.microsoft.com/office/drawing/2014/main" id="{F7772FCB-8E3C-4D9F-8469-468747E63FBE}"/>
              </a:ext>
            </a:extLst>
          </p:cNvPr>
          <p:cNvSpPr>
            <a:spLocks noGrp="1"/>
          </p:cNvSpPr>
          <p:nvPr/>
        </p:nvSpPr>
        <p:spPr>
          <a:xfrm>
            <a:off x="2714254" y="5336581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125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25" name="prop-2-2">
            <a:extLst>
              <a:ext uri="{FF2B5EF4-FFF2-40B4-BE49-F238E27FC236}">
                <a16:creationId xmlns:a16="http://schemas.microsoft.com/office/drawing/2014/main" id="{02E28D6E-D69E-42CD-AB93-B3BBDB9A28EE}"/>
              </a:ext>
            </a:extLst>
          </p:cNvPr>
          <p:cNvSpPr>
            <a:spLocks noGrp="1"/>
          </p:cNvSpPr>
          <p:nvPr/>
        </p:nvSpPr>
        <p:spPr>
          <a:xfrm>
            <a:off x="3857254" y="5336581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125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6" name="prop-2-3">
            <a:extLst>
              <a:ext uri="{FF2B5EF4-FFF2-40B4-BE49-F238E27FC236}">
                <a16:creationId xmlns:a16="http://schemas.microsoft.com/office/drawing/2014/main" id="{95BCAA5C-8534-4E6A-9860-8FE327BBF1C4}"/>
              </a:ext>
            </a:extLst>
          </p:cNvPr>
          <p:cNvSpPr>
            <a:spLocks noGrp="1"/>
          </p:cNvSpPr>
          <p:nvPr/>
        </p:nvSpPr>
        <p:spPr>
          <a:xfrm>
            <a:off x="4952629" y="5336581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125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7" name="prop-3-0">
            <a:extLst>
              <a:ext uri="{FF2B5EF4-FFF2-40B4-BE49-F238E27FC236}">
                <a16:creationId xmlns:a16="http://schemas.microsoft.com/office/drawing/2014/main" id="{B446589B-F740-4A12-8D43-3882BA561987}"/>
              </a:ext>
            </a:extLst>
          </p:cNvPr>
          <p:cNvSpPr>
            <a:spLocks noGrp="1"/>
          </p:cNvSpPr>
          <p:nvPr/>
        </p:nvSpPr>
        <p:spPr>
          <a:xfrm>
            <a:off x="809254" y="5650906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125" noProof="0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This thesis</a:t>
            </a:r>
          </a:p>
        </p:txBody>
      </p:sp>
      <p:sp>
        <p:nvSpPr>
          <p:cNvPr id="28" name="prop-3-1">
            <a:extLst>
              <a:ext uri="{FF2B5EF4-FFF2-40B4-BE49-F238E27FC236}">
                <a16:creationId xmlns:a16="http://schemas.microsoft.com/office/drawing/2014/main" id="{F459A0AB-C00F-4FD4-B01B-B0B13102B0CA}"/>
              </a:ext>
            </a:extLst>
          </p:cNvPr>
          <p:cNvSpPr>
            <a:spLocks noGrp="1"/>
          </p:cNvSpPr>
          <p:nvPr/>
        </p:nvSpPr>
        <p:spPr>
          <a:xfrm>
            <a:off x="2714254" y="5650906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125" noProof="0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29" name="prop-3-2">
            <a:extLst>
              <a:ext uri="{FF2B5EF4-FFF2-40B4-BE49-F238E27FC236}">
                <a16:creationId xmlns:a16="http://schemas.microsoft.com/office/drawing/2014/main" id="{E1CEA3EE-F592-4EED-BBB6-8B8D988B4932}"/>
              </a:ext>
            </a:extLst>
          </p:cNvPr>
          <p:cNvSpPr>
            <a:spLocks noGrp="1"/>
          </p:cNvSpPr>
          <p:nvPr/>
        </p:nvSpPr>
        <p:spPr>
          <a:xfrm>
            <a:off x="3857254" y="5650906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30" name="prop-3-3">
            <a:extLst>
              <a:ext uri="{FF2B5EF4-FFF2-40B4-BE49-F238E27FC236}">
                <a16:creationId xmlns:a16="http://schemas.microsoft.com/office/drawing/2014/main" id="{2AC03407-D545-4B55-A11C-D71F1BA09A80}"/>
              </a:ext>
            </a:extLst>
          </p:cNvPr>
          <p:cNvSpPr>
            <a:spLocks noGrp="1"/>
          </p:cNvSpPr>
          <p:nvPr/>
        </p:nvSpPr>
        <p:spPr>
          <a:xfrm>
            <a:off x="4952629" y="5650906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31" name="why-panel">
            <a:extLst>
              <a:ext uri="{FF2B5EF4-FFF2-40B4-BE49-F238E27FC236}">
                <a16:creationId xmlns:a16="http://schemas.microsoft.com/office/drawing/2014/main" id="{6102CF9C-5841-4F16-B22B-C0C972AB318A}"/>
              </a:ext>
            </a:extLst>
          </p:cNvPr>
          <p:cNvSpPr>
            <a:spLocks noGrp="1"/>
          </p:cNvSpPr>
          <p:nvPr/>
        </p:nvSpPr>
        <p:spPr>
          <a:xfrm>
            <a:off x="6257554" y="4107856"/>
            <a:ext cx="5667375" cy="200025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32" name="why-stripe">
            <a:extLst>
              <a:ext uri="{FF2B5EF4-FFF2-40B4-BE49-F238E27FC236}">
                <a16:creationId xmlns:a16="http://schemas.microsoft.com/office/drawing/2014/main" id="{447D9D22-5352-4F51-ADFA-1E12F42E3B2F}"/>
              </a:ext>
            </a:extLst>
          </p:cNvPr>
          <p:cNvSpPr>
            <a:spLocks noGrp="1"/>
          </p:cNvSpPr>
          <p:nvPr/>
        </p:nvSpPr>
        <p:spPr>
          <a:xfrm>
            <a:off x="6257554" y="4107856"/>
            <a:ext cx="76200" cy="20002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33" name="why-title">
            <a:extLst>
              <a:ext uri="{FF2B5EF4-FFF2-40B4-BE49-F238E27FC236}">
                <a16:creationId xmlns:a16="http://schemas.microsoft.com/office/drawing/2014/main" id="{EF1593B0-19F6-465F-BA55-7C9E6BC893EB}"/>
              </a:ext>
            </a:extLst>
          </p:cNvPr>
          <p:cNvSpPr>
            <a:spLocks noGrp="1"/>
          </p:cNvSpPr>
          <p:nvPr/>
        </p:nvSpPr>
        <p:spPr>
          <a:xfrm>
            <a:off x="6524254" y="4214824"/>
            <a:ext cx="409775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268A8A"/>
                </a:solidFill>
                <a:latin typeface="Arial"/>
                <a:ea typeface="Arial"/>
                <a:cs typeface="Arial"/>
              </a:defRPr>
            </a:pPr>
            <a:r>
              <a:rPr lang="en-GB" sz="1500" b="1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WHY INTERPRETABILITY MATTERS</a:t>
            </a:r>
          </a:p>
        </p:txBody>
      </p:sp>
      <p:sp>
        <p:nvSpPr>
          <p:cNvPr id="34" name="why-body">
            <a:extLst>
              <a:ext uri="{FF2B5EF4-FFF2-40B4-BE49-F238E27FC236}">
                <a16:creationId xmlns:a16="http://schemas.microsoft.com/office/drawing/2014/main" id="{A279BAF8-C4CF-4C0A-A723-62959C4F3CCD}"/>
              </a:ext>
            </a:extLst>
          </p:cNvPr>
          <p:cNvSpPr>
            <a:spLocks noGrp="1"/>
          </p:cNvSpPr>
          <p:nvPr/>
        </p:nvSpPr>
        <p:spPr>
          <a:xfrm>
            <a:off x="6524624" y="4744654"/>
            <a:ext cx="5267325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just">
              <a:buNone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5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Readable</a:t>
            </a:r>
            <a:r>
              <a:rPr lang="en-GB" sz="15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by agronomists </a:t>
            </a:r>
            <a:r>
              <a:rPr lang="en-GB" sz="15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without ML expertise</a:t>
            </a:r>
          </a:p>
          <a:p>
            <a:pPr algn="just">
              <a:buNone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5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Each rule carries </a:t>
            </a:r>
            <a:r>
              <a:rPr lang="en-GB" sz="15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support</a:t>
            </a:r>
            <a:r>
              <a:rPr lang="en-GB" sz="15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and a p-value</a:t>
            </a:r>
          </a:p>
          <a:p>
            <a:pPr algn="just">
              <a:buNone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5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Can be challenged and domain-validated</a:t>
            </a:r>
          </a:p>
          <a:p>
            <a:pPr algn="just">
              <a:buNone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5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Useful for </a:t>
            </a:r>
            <a:r>
              <a:rPr lang="en-GB" sz="15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diagnosis</a:t>
            </a:r>
            <a:r>
              <a:rPr lang="en-GB" sz="15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even when forecasting fails</a:t>
            </a:r>
          </a:p>
        </p:txBody>
      </p:sp>
      <p:sp>
        <p:nvSpPr>
          <p:cNvPr id="36" name="slide-number">
            <a:extLst>
              <a:ext uri="{FF2B5EF4-FFF2-40B4-BE49-F238E27FC236}">
                <a16:creationId xmlns:a16="http://schemas.microsoft.com/office/drawing/2014/main" id="{4D52E4B0-8C58-48A2-8164-DFE0BDB9B4F1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37" name="slide-number-03">
            <a:extLst>
              <a:ext uri="{FF2B5EF4-FFF2-40B4-BE49-F238E27FC236}">
                <a16:creationId xmlns:a16="http://schemas.microsoft.com/office/drawing/2014/main" id="{C18A7B2B-F2A8-47B0-B405-4CD7822C71EB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750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9" name="why-body">
            <a:extLst>
              <a:ext uri="{FF2B5EF4-FFF2-40B4-BE49-F238E27FC236}">
                <a16:creationId xmlns:a16="http://schemas.microsoft.com/office/drawing/2014/main" id="{820336AF-21B1-410A-AD8C-8F825485400E}"/>
              </a:ext>
            </a:extLst>
          </p:cNvPr>
          <p:cNvSpPr>
            <a:spLocks noGrp="1"/>
          </p:cNvSpPr>
          <p:nvPr/>
        </p:nvSpPr>
        <p:spPr>
          <a:xfrm>
            <a:off x="799729" y="2619897"/>
            <a:ext cx="4847309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just">
              <a:buNone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5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Modern</a:t>
            </a:r>
            <a:r>
              <a:rPr lang="en-GB" sz="15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sz="15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ML</a:t>
            </a:r>
            <a:r>
              <a:rPr lang="en-GB" sz="15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sz="15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can</a:t>
            </a:r>
            <a:r>
              <a:rPr lang="en-GB" sz="15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sz="15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predict</a:t>
            </a:r>
            <a:r>
              <a:rPr lang="en-GB" sz="15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wine yield, but decision makers need a </a:t>
            </a:r>
            <a:r>
              <a:rPr lang="en-GB" sz="15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readable rule they can challenge </a:t>
            </a:r>
            <a:r>
              <a:rPr lang="en-GB" sz="15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with </a:t>
            </a:r>
            <a:r>
              <a:rPr lang="en-GB" sz="15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domain</a:t>
            </a:r>
            <a:r>
              <a:rPr lang="en-GB" sz="15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sz="15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knowledge</a:t>
            </a:r>
          </a:p>
        </p:txBody>
      </p:sp>
      <p:sp>
        <p:nvSpPr>
          <p:cNvPr id="41" name="why-body">
            <a:extLst>
              <a:ext uri="{FF2B5EF4-FFF2-40B4-BE49-F238E27FC236}">
                <a16:creationId xmlns:a16="http://schemas.microsoft.com/office/drawing/2014/main" id="{30A445DB-B739-A470-8D86-D715B8F477F4}"/>
              </a:ext>
            </a:extLst>
          </p:cNvPr>
          <p:cNvSpPr>
            <a:spLocks noGrp="1"/>
          </p:cNvSpPr>
          <p:nvPr/>
        </p:nvSpPr>
        <p:spPr>
          <a:xfrm>
            <a:off x="6544962" y="2645768"/>
            <a:ext cx="4847309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5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IF</a:t>
            </a:r>
            <a:r>
              <a:rPr lang="en-GB" sz="15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harvest soil water is moderate</a:t>
            </a:r>
          </a:p>
          <a:p>
            <a:pPr>
              <a:buNone/>
              <a:defRPr sz="1425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5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</a:t>
            </a:r>
            <a:r>
              <a:rPr lang="en-GB" sz="15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post-maturity wet days are low</a:t>
            </a:r>
          </a:p>
          <a:p>
            <a:pPr>
              <a:buNone/>
              <a:defRPr sz="1425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5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THEN</a:t>
            </a:r>
            <a:r>
              <a:rPr lang="en-GB" sz="15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production is +192 </a:t>
            </a:r>
            <a:r>
              <a:rPr lang="en-GB" sz="150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mhl</a:t>
            </a:r>
            <a:r>
              <a:rPr lang="en-GB" sz="15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above trend</a:t>
            </a:r>
          </a:p>
          <a:p>
            <a:pPr>
              <a:buNone/>
              <a:defRPr sz="1425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i="1" dirty="0"/>
              <a:t>support 21% - p-value &lt; 0.001</a:t>
            </a:r>
            <a:endParaRPr lang="en-GB" sz="90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76177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D421323-B346-45E5-8EDF-5D04D7534FFB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PROBLEM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98D7D5-703B-45E1-B93A-BD9D4E27C658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</p:spPr>
        <p:txBody>
          <a:bodyPr lIns="0" tIns="0" rIns="0" bIns="0" anchor="t">
            <a:normAutofit fontScale="97493"/>
          </a:bodyPr>
          <a:lstStyle/>
          <a:p>
            <a:pPr algn="l">
              <a:buNone/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Why this is hard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D8FF44-D18B-4F9F-B6F8-697392C63D4A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82CCB1-1288-4841-9BD6-59E2CB024E10}"/>
              </a:ext>
            </a:extLst>
          </p:cNvPr>
          <p:cNvSpPr>
            <a:spLocks noGrp="1"/>
          </p:cNvSpPr>
          <p:nvPr/>
        </p:nvSpPr>
        <p:spPr>
          <a:xfrm>
            <a:off x="590550" y="1362075"/>
            <a:ext cx="11020425" cy="666750"/>
          </a:xfrm>
          <a:prstGeom prst="rect">
            <a:avLst/>
          </a:prstGeom>
        </p:spPr>
        <p:txBody>
          <a:bodyPr lIns="0" tIns="0" rIns="0" bIns="0" anchor="t">
            <a:normAutofit fontScale="97222" lnSpcReduction="10000"/>
          </a:bodyPr>
          <a:lstStyle/>
          <a:p>
            <a:pPr algn="l">
              <a:buNone/>
              <a:defRPr sz="22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The </a:t>
            </a:r>
            <a:r>
              <a:rPr lang="en-GB" u="sng" noProof="0" dirty="0"/>
              <a:t>target</a:t>
            </a:r>
            <a:r>
              <a:rPr lang="en-GB" noProof="0" dirty="0"/>
              <a:t> combines climate, physiology, human decisions and structural change in one annual regional number.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CF006F-92E9-4F4A-9BDC-F9A914396A36}"/>
              </a:ext>
            </a:extLst>
          </p:cNvPr>
          <p:cNvSpPr>
            <a:spLocks noGrp="1"/>
          </p:cNvSpPr>
          <p:nvPr/>
        </p:nvSpPr>
        <p:spPr>
          <a:xfrm>
            <a:off x="400050" y="2476500"/>
            <a:ext cx="2495550" cy="2857500"/>
          </a:xfrm>
          <a:prstGeom prst="rect">
            <a:avLst/>
          </a:prstGeom>
          <a:solidFill>
            <a:schemeClr val="bg2">
              <a:lumMod val="90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9C99F2-32E2-4BC9-A4C0-64529514F429}"/>
              </a:ext>
            </a:extLst>
          </p:cNvPr>
          <p:cNvSpPr>
            <a:spLocks noGrp="1"/>
          </p:cNvSpPr>
          <p:nvPr/>
        </p:nvSpPr>
        <p:spPr>
          <a:xfrm>
            <a:off x="590550" y="2714625"/>
            <a:ext cx="47625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15011A-FF6E-4E62-8717-3717386B2F42}"/>
              </a:ext>
            </a:extLst>
          </p:cNvPr>
          <p:cNvSpPr>
            <a:spLocks noGrp="1"/>
          </p:cNvSpPr>
          <p:nvPr/>
        </p:nvSpPr>
        <p:spPr>
          <a:xfrm>
            <a:off x="590550" y="3219450"/>
            <a:ext cx="211455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BIOLOGY SPANS YEARS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411935-BF4D-469F-A11C-02DB0F9CC3BC}"/>
              </a:ext>
            </a:extLst>
          </p:cNvPr>
          <p:cNvSpPr>
            <a:spLocks noGrp="1"/>
          </p:cNvSpPr>
          <p:nvPr/>
        </p:nvSpPr>
        <p:spPr>
          <a:xfrm>
            <a:off x="590550" y="4095750"/>
            <a:ext cx="2114550" cy="952500"/>
          </a:xfrm>
          <a:prstGeom prst="rect">
            <a:avLst/>
          </a:prstGeom>
        </p:spPr>
        <p:txBody>
          <a:bodyPr lIns="0" tIns="0" rIns="0" bIns="0" anchor="t">
            <a:normAutofit fontScale="99206" lnSpcReduction="10000"/>
          </a:bodyPr>
          <a:lstStyle/>
          <a:p>
            <a:pPr algn="l">
              <a:buNone/>
              <a:defRPr sz="1575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Yield potential is partly set in the previous season, before the harvest year begins.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7F519-54EC-4B05-B179-0DAD26BDBC2C}"/>
              </a:ext>
            </a:extLst>
          </p:cNvPr>
          <p:cNvSpPr>
            <a:spLocks noGrp="1"/>
          </p:cNvSpPr>
          <p:nvPr/>
        </p:nvSpPr>
        <p:spPr>
          <a:xfrm>
            <a:off x="3305175" y="2476500"/>
            <a:ext cx="2495550" cy="28575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8B20F4-FBBF-493B-B007-384398B030E6}"/>
              </a:ext>
            </a:extLst>
          </p:cNvPr>
          <p:cNvSpPr>
            <a:spLocks noGrp="1"/>
          </p:cNvSpPr>
          <p:nvPr/>
        </p:nvSpPr>
        <p:spPr>
          <a:xfrm>
            <a:off x="3495675" y="2714625"/>
            <a:ext cx="47625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9855F-071A-4689-A4E1-3A717C7C81F1}"/>
              </a:ext>
            </a:extLst>
          </p:cNvPr>
          <p:cNvSpPr>
            <a:spLocks noGrp="1"/>
          </p:cNvSpPr>
          <p:nvPr/>
        </p:nvSpPr>
        <p:spPr>
          <a:xfrm>
            <a:off x="3495675" y="3219450"/>
            <a:ext cx="2114550" cy="666750"/>
          </a:xfrm>
          <a:prstGeom prst="rect">
            <a:avLst/>
          </a:prstGeom>
        </p:spPr>
        <p:txBody>
          <a:bodyPr lIns="0" tIns="0" rIns="0" bIns="0" anchor="t">
            <a:normAutofit fontScale="92500"/>
          </a:bodyPr>
          <a:lstStyle/>
          <a:p>
            <a:pPr algn="l">
              <a:buNone/>
              <a:defRPr sz="19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1"/>
                </a:solidFill>
              </a:rPr>
              <a:t>AGGREGATION HIDES VARIATION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F9A7E6-61D9-4486-A6BD-6D99FBC02C2B}"/>
              </a:ext>
            </a:extLst>
          </p:cNvPr>
          <p:cNvSpPr>
            <a:spLocks noGrp="1"/>
          </p:cNvSpPr>
          <p:nvPr/>
        </p:nvSpPr>
        <p:spPr>
          <a:xfrm>
            <a:off x="3495675" y="4095750"/>
            <a:ext cx="2114550" cy="952500"/>
          </a:xfrm>
          <a:prstGeom prst="rect">
            <a:avLst/>
          </a:prstGeom>
        </p:spPr>
        <p:txBody>
          <a:bodyPr lIns="0" tIns="0" rIns="0" bIns="0" anchor="t">
            <a:normAutofit fontScale="99206" lnSpcReduction="10000"/>
          </a:bodyPr>
          <a:lstStyle/>
          <a:p>
            <a:pPr algn="l">
              <a:buNone/>
              <a:defRPr sz="1575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1"/>
                </a:solidFill>
              </a:rPr>
              <a:t>Thousands of vineyards differ in soil, altitude, practices and local weather.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5AC4D5-BA7D-478F-85F3-11EB53A4E31B}"/>
              </a:ext>
            </a:extLst>
          </p:cNvPr>
          <p:cNvSpPr>
            <a:spLocks noGrp="1"/>
          </p:cNvSpPr>
          <p:nvPr/>
        </p:nvSpPr>
        <p:spPr>
          <a:xfrm>
            <a:off x="6210300" y="2476500"/>
            <a:ext cx="2495550" cy="2857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1F6572-4A83-4B82-BA93-DB2283B30BAB}"/>
              </a:ext>
            </a:extLst>
          </p:cNvPr>
          <p:cNvSpPr>
            <a:spLocks noGrp="1"/>
          </p:cNvSpPr>
          <p:nvPr/>
        </p:nvSpPr>
        <p:spPr>
          <a:xfrm>
            <a:off x="6400800" y="2714625"/>
            <a:ext cx="47625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87EE950-D403-4613-BD8F-DB6DFD6A1463}"/>
              </a:ext>
            </a:extLst>
          </p:cNvPr>
          <p:cNvSpPr>
            <a:spLocks noGrp="1"/>
          </p:cNvSpPr>
          <p:nvPr/>
        </p:nvSpPr>
        <p:spPr>
          <a:xfrm>
            <a:off x="6400800" y="3219450"/>
            <a:ext cx="2305050" cy="666750"/>
          </a:xfrm>
          <a:prstGeom prst="rect">
            <a:avLst/>
          </a:prstGeom>
        </p:spPr>
        <p:txBody>
          <a:bodyPr lIns="0" tIns="0" rIns="0" bIns="0" anchor="t">
            <a:normAutofit fontScale="89794" lnSpcReduction="20000"/>
          </a:bodyPr>
          <a:lstStyle/>
          <a:p>
            <a:pPr algn="l">
              <a:buNone/>
              <a:defRPr sz="19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STRUCTURE CHANGES OVER TIME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28A929-187D-4CB4-9D3C-210211828C6C}"/>
              </a:ext>
            </a:extLst>
          </p:cNvPr>
          <p:cNvSpPr>
            <a:spLocks noGrp="1"/>
          </p:cNvSpPr>
          <p:nvPr/>
        </p:nvSpPr>
        <p:spPr>
          <a:xfrm>
            <a:off x="6400800" y="4095750"/>
            <a:ext cx="2114550" cy="952500"/>
          </a:xfrm>
          <a:prstGeom prst="rect">
            <a:avLst/>
          </a:prstGeom>
        </p:spPr>
        <p:txBody>
          <a:bodyPr lIns="0" tIns="0" rIns="0" bIns="0" anchor="t">
            <a:normAutofit fontScale="99206" lnSpcReduction="10000"/>
          </a:bodyPr>
          <a:lstStyle/>
          <a:p>
            <a:pPr algn="l">
              <a:buNone/>
              <a:defRPr sz="1575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Policy, planted area, producers and market conditions shift the production baseline.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793575-0FA8-4C0E-9F41-B59818F54372}"/>
              </a:ext>
            </a:extLst>
          </p:cNvPr>
          <p:cNvSpPr>
            <a:spLocks noGrp="1"/>
          </p:cNvSpPr>
          <p:nvPr/>
        </p:nvSpPr>
        <p:spPr>
          <a:xfrm>
            <a:off x="9115425" y="2476500"/>
            <a:ext cx="2495550" cy="28575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6DF157-CD5C-42F4-99F6-4CBDA3F84659}"/>
              </a:ext>
            </a:extLst>
          </p:cNvPr>
          <p:cNvSpPr>
            <a:spLocks noGrp="1"/>
          </p:cNvSpPr>
          <p:nvPr/>
        </p:nvSpPr>
        <p:spPr>
          <a:xfrm>
            <a:off x="9305925" y="2714625"/>
            <a:ext cx="47625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F451FE-73AA-4499-BF15-71945A663523}"/>
              </a:ext>
            </a:extLst>
          </p:cNvPr>
          <p:cNvSpPr>
            <a:spLocks noGrp="1"/>
          </p:cNvSpPr>
          <p:nvPr/>
        </p:nvSpPr>
        <p:spPr>
          <a:xfrm>
            <a:off x="9305925" y="3219450"/>
            <a:ext cx="211455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1"/>
                </a:solidFill>
              </a:rPr>
              <a:t>THE SAMPLE IS SMALL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B91F0A-DA05-4907-953A-97ED089079B1}"/>
              </a:ext>
            </a:extLst>
          </p:cNvPr>
          <p:cNvSpPr>
            <a:spLocks noGrp="1"/>
          </p:cNvSpPr>
          <p:nvPr/>
        </p:nvSpPr>
        <p:spPr>
          <a:xfrm>
            <a:off x="9305925" y="4095750"/>
            <a:ext cx="2114550" cy="952500"/>
          </a:xfrm>
          <a:prstGeom prst="rect">
            <a:avLst/>
          </a:prstGeom>
        </p:spPr>
        <p:txBody>
          <a:bodyPr lIns="0" tIns="0" rIns="0" bIns="0" anchor="t">
            <a:normAutofit fontScale="99206" lnSpcReduction="10000"/>
          </a:bodyPr>
          <a:lstStyle/>
          <a:p>
            <a:pPr algn="l">
              <a:buNone/>
              <a:defRPr sz="1575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1"/>
                </a:solidFill>
              </a:rPr>
              <a:t>Only 80–89 annual observations must support 59 engineered features.</a:t>
            </a:r>
          </a:p>
        </p:txBody>
      </p:sp>
      <p:sp>
        <p:nvSpPr>
          <p:cNvPr id="23" name="gap-stripe">
            <a:extLst>
              <a:ext uri="{FF2B5EF4-FFF2-40B4-BE49-F238E27FC236}">
                <a16:creationId xmlns:a16="http://schemas.microsoft.com/office/drawing/2014/main" id="{D158EE82-3ED1-B7BC-4249-06FE7256E9EC}"/>
              </a:ext>
            </a:extLst>
          </p:cNvPr>
          <p:cNvSpPr>
            <a:spLocks noGrp="1"/>
          </p:cNvSpPr>
          <p:nvPr/>
        </p:nvSpPr>
        <p:spPr>
          <a:xfrm>
            <a:off x="444169" y="1301712"/>
            <a:ext cx="76200" cy="755392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15B1DC-7C8E-EB75-2F6B-7D43C155D135}"/>
              </a:ext>
            </a:extLst>
          </p:cNvPr>
          <p:cNvSpPr>
            <a:spLocks noGrp="1"/>
          </p:cNvSpPr>
          <p:nvPr/>
        </p:nvSpPr>
        <p:spPr>
          <a:xfrm>
            <a:off x="390720" y="5905500"/>
            <a:ext cx="11344274" cy="400050"/>
          </a:xfrm>
          <a:prstGeom prst="rect">
            <a:avLst/>
          </a:prstGeom>
        </p:spPr>
        <p:txBody>
          <a:bodyPr lIns="0" tIns="0" rIns="0" bIns="0" anchor="t">
            <a:normAutofit fontScale="67222" lnSpcReduction="20000"/>
          </a:bodyPr>
          <a:lstStyle/>
          <a:p>
            <a:pPr>
              <a:defRPr sz="22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Weak predictive performance does </a:t>
            </a:r>
            <a:r>
              <a:rPr lang="en-GB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not imply absence of climate signal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; it may mean that the signal is diluted or confounded by structural change in the production series</a:t>
            </a:r>
            <a:endParaRPr lang="en-GB" noProof="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158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0D917EC-6F72-45E3-8486-6E30511C9C05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NATURAL EXPERIMENT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1C5456-1906-4539-88B9-DF0FEB4F79EF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The </a:t>
            </a:r>
            <a:r>
              <a:rPr lang="en-GB" u="sng" noProof="0" dirty="0"/>
              <a:t>same pipeline</a:t>
            </a:r>
            <a:r>
              <a:rPr lang="en-GB" noProof="0" dirty="0"/>
              <a:t> meets </a:t>
            </a:r>
            <a:r>
              <a:rPr lang="en-GB" u="sng" noProof="0" dirty="0"/>
              <a:t>two</a:t>
            </a:r>
            <a:r>
              <a:rPr lang="en-GB" noProof="0" dirty="0"/>
              <a:t> different histories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F8E6DE-1640-4178-A5F0-71950DF53A7C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05</a:t>
            </a:r>
          </a:p>
        </p:txBody>
      </p:sp>
      <p:pic>
        <p:nvPicPr>
          <p:cNvPr id="27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1706860"/>
            <a:ext cx="5476875" cy="2282031"/>
          </a:xfrm>
          <a:prstGeom prst="rect">
            <a:avLst/>
          </a:prstGeom>
        </p:spPr>
      </p:pic>
      <p:pic>
        <p:nvPicPr>
          <p:cNvPr id="28" name="Picture 1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05550" y="1706860"/>
            <a:ext cx="5476875" cy="228203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176A673-3B6D-4E80-B7B2-325AA68A2A34}"/>
              </a:ext>
            </a:extLst>
          </p:cNvPr>
          <p:cNvSpPr>
            <a:spLocks noGrp="1"/>
          </p:cNvSpPr>
          <p:nvPr/>
        </p:nvSpPr>
        <p:spPr>
          <a:xfrm>
            <a:off x="207545" y="4459795"/>
            <a:ext cx="5476875" cy="1000125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68D9F2-1E44-413F-B220-2FEE780C8432}"/>
              </a:ext>
            </a:extLst>
          </p:cNvPr>
          <p:cNvSpPr>
            <a:spLocks noGrp="1"/>
          </p:cNvSpPr>
          <p:nvPr/>
        </p:nvSpPr>
        <p:spPr>
          <a:xfrm>
            <a:off x="6267450" y="4459795"/>
            <a:ext cx="5476875" cy="10001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E5A3E0-8854-4FC9-8E8C-B9BA83D637E2}"/>
              </a:ext>
            </a:extLst>
          </p:cNvPr>
          <p:cNvSpPr>
            <a:spLocks noGrp="1"/>
          </p:cNvSpPr>
          <p:nvPr/>
        </p:nvSpPr>
        <p:spPr>
          <a:xfrm>
            <a:off x="417095" y="4669345"/>
            <a:ext cx="219075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2563A6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DOURO · 89 years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DFC4E3-AD38-42FF-8715-8ABB72C2F1B6}"/>
              </a:ext>
            </a:extLst>
          </p:cNvPr>
          <p:cNvSpPr>
            <a:spLocks noGrp="1"/>
          </p:cNvSpPr>
          <p:nvPr/>
        </p:nvSpPr>
        <p:spPr>
          <a:xfrm>
            <a:off x="417095" y="5002720"/>
            <a:ext cx="4762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defRPr sz="15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Gradual +80% structural rise; CV 27% </a:t>
            </a:r>
            <a:r>
              <a:rPr lang="en-GB" sz="600" noProof="0" dirty="0"/>
              <a:t>(Coefficient of Variation)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0FC68F-3DD9-41F0-A4E4-075BF8D4A29F}"/>
              </a:ext>
            </a:extLst>
          </p:cNvPr>
          <p:cNvSpPr>
            <a:spLocks noGrp="1"/>
          </p:cNvSpPr>
          <p:nvPr/>
        </p:nvSpPr>
        <p:spPr>
          <a:xfrm>
            <a:off x="6477000" y="4669345"/>
            <a:ext cx="28575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VINHO VERDE · 80 years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43B952-EDAB-4F79-8E6F-FF13A84EBD9F}"/>
              </a:ext>
            </a:extLst>
          </p:cNvPr>
          <p:cNvSpPr>
            <a:spLocks noGrp="1"/>
          </p:cNvSpPr>
          <p:nvPr/>
        </p:nvSpPr>
        <p:spPr>
          <a:xfrm>
            <a:off x="6477000" y="5002720"/>
            <a:ext cx="4762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defRPr sz="15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Sharp structural decline; CV 47% </a:t>
            </a:r>
            <a:r>
              <a:rPr lang="en-GB" sz="800" noProof="0" dirty="0"/>
              <a:t>(Coefficient of Variation)</a:t>
            </a:r>
          </a:p>
          <a:p>
            <a:pPr algn="l">
              <a:buNone/>
              <a:defRPr sz="15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endParaRPr lang="en-GB" noProof="0" dirty="0"/>
          </a:p>
        </p:txBody>
      </p:sp>
      <p:sp>
        <p:nvSpPr>
          <p:cNvPr id="14" name="slide5-cover-old-left-figure">
            <a:extLst>
              <a:ext uri="{FF2B5EF4-FFF2-40B4-BE49-F238E27FC236}">
                <a16:creationId xmlns:a16="http://schemas.microsoft.com/office/drawing/2014/main" id="{1A1536CD-5913-4CC7-8101-6889F0320388}"/>
              </a:ext>
            </a:extLst>
          </p:cNvPr>
          <p:cNvSpPr>
            <a:spLocks noGrp="1"/>
          </p:cNvSpPr>
          <p:nvPr/>
        </p:nvSpPr>
        <p:spPr>
          <a:xfrm>
            <a:off x="400050" y="1706876"/>
            <a:ext cx="5476875" cy="2282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5" name="slide5-cover-old-right-figure">
            <a:extLst>
              <a:ext uri="{FF2B5EF4-FFF2-40B4-BE49-F238E27FC236}">
                <a16:creationId xmlns:a16="http://schemas.microsoft.com/office/drawing/2014/main" id="{AACEB57E-54FD-4B5A-B9E8-993E434B6D05}"/>
              </a:ext>
            </a:extLst>
          </p:cNvPr>
          <p:cNvSpPr>
            <a:spLocks noGrp="1"/>
          </p:cNvSpPr>
          <p:nvPr/>
        </p:nvSpPr>
        <p:spPr>
          <a:xfrm>
            <a:off x="6305550" y="1706876"/>
            <a:ext cx="5476875" cy="2282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8" name="slide5-cover-old-left-figure">
            <a:extLst>
              <a:ext uri="{FF2B5EF4-FFF2-40B4-BE49-F238E27FC236}">
                <a16:creationId xmlns:a16="http://schemas.microsoft.com/office/drawing/2014/main" id="{E4084D6D-EBC9-454A-8959-14B09CDC4A0A}"/>
              </a:ext>
            </a:extLst>
          </p:cNvPr>
          <p:cNvSpPr>
            <a:spLocks noGrp="1"/>
          </p:cNvSpPr>
          <p:nvPr/>
        </p:nvSpPr>
        <p:spPr>
          <a:xfrm>
            <a:off x="400050" y="1706876"/>
            <a:ext cx="5476875" cy="2282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9" name="slide5-cover-old-right-figure">
            <a:extLst>
              <a:ext uri="{FF2B5EF4-FFF2-40B4-BE49-F238E27FC236}">
                <a16:creationId xmlns:a16="http://schemas.microsoft.com/office/drawing/2014/main" id="{BB6969DA-4692-4451-BCD4-BC63513D9D45}"/>
              </a:ext>
            </a:extLst>
          </p:cNvPr>
          <p:cNvSpPr>
            <a:spLocks noGrp="1"/>
          </p:cNvSpPr>
          <p:nvPr/>
        </p:nvSpPr>
        <p:spPr>
          <a:xfrm>
            <a:off x="6305550" y="1706876"/>
            <a:ext cx="5476875" cy="2282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1328" y="1478260"/>
            <a:ext cx="6025477" cy="251061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028860" y="1478260"/>
            <a:ext cx="6025477" cy="251061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996766B-4BD2-7F05-15F1-6EEFF89CE64D}"/>
              </a:ext>
            </a:extLst>
          </p:cNvPr>
          <p:cNvSpPr>
            <a:spLocks noGrp="1"/>
          </p:cNvSpPr>
          <p:nvPr/>
        </p:nvSpPr>
        <p:spPr>
          <a:xfrm>
            <a:off x="356723" y="5857875"/>
            <a:ext cx="11425702" cy="502730"/>
          </a:xfrm>
          <a:prstGeom prst="rect">
            <a:avLst/>
          </a:prstGeom>
        </p:spPr>
        <p:txBody>
          <a:bodyPr lIns="0" tIns="0" rIns="0" bIns="0" anchor="t">
            <a:normAutofit fontScale="89722" lnSpcReduction="20000"/>
          </a:bodyPr>
          <a:lstStyle/>
          <a:p>
            <a:pPr>
              <a:defRPr sz="22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225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regional contrast turns two case studies into a natural experiment: divergence reflects structure, not arbitrary modelling</a:t>
            </a:r>
            <a:endParaRPr lang="en-GB" noProof="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908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CC556DB-F450-4F6C-BC5A-F9E5CD30B487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GRAPEVINE CYCLE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B5817A-BFE4-4C34-962D-0067E0F3441F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</p:spPr>
        <p:txBody>
          <a:bodyPr lIns="0" tIns="0" rIns="0" bIns="0" anchor="t">
            <a:normAutofit fontScale="89324"/>
          </a:bodyPr>
          <a:lstStyle/>
          <a:p>
            <a:pPr algn="l">
              <a:buNone/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Current production begins in the previous growing season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F656C4-456B-497C-A275-1CD0CD46BAF6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D940BD-92D4-4FC2-AE9D-04FCC326BE96}"/>
              </a:ext>
            </a:extLst>
          </p:cNvPr>
          <p:cNvSpPr>
            <a:spLocks noGrp="1"/>
          </p:cNvSpPr>
          <p:nvPr/>
        </p:nvSpPr>
        <p:spPr>
          <a:xfrm>
            <a:off x="400050" y="1836824"/>
            <a:ext cx="28575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YEAR y0 · POTENTIAL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B268A6-AF03-42FB-BE68-182059FD8CF1}"/>
              </a:ext>
            </a:extLst>
          </p:cNvPr>
          <p:cNvSpPr>
            <a:spLocks noGrp="1"/>
          </p:cNvSpPr>
          <p:nvPr/>
        </p:nvSpPr>
        <p:spPr>
          <a:xfrm>
            <a:off x="6381750" y="1836824"/>
            <a:ext cx="333375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YEAR y1 · REALISATION</a:t>
            </a:r>
          </a:p>
        </p:txBody>
      </p:sp>
      <p:cxnSp>
        <p:nvCxnSpPr>
          <p:cNvPr id="238" name="Straight Arrow Connector 213"/>
          <p:cNvCxnSpPr/>
          <p:nvPr/>
        </p:nvCxnSpPr>
        <p:spPr>
          <a:xfrm>
            <a:off x="666750" y="3143250"/>
            <a:ext cx="10668000" cy="953"/>
          </a:xfrm>
          <a:prstGeom prst="straightConnector1">
            <a:avLst/>
          </a:prstGeom>
          <a:ln w="19050">
            <a:solidFill>
              <a:srgbClr val="151515"/>
            </a:solidFill>
            <a:prstDash val="solid"/>
          </a:ln>
        </p:spPr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D4D0AC70-4D09-47CB-9E28-5A4B814C1AAC}"/>
              </a:ext>
            </a:extLst>
          </p:cNvPr>
          <p:cNvSpPr>
            <a:spLocks noGrp="1"/>
          </p:cNvSpPr>
          <p:nvPr/>
        </p:nvSpPr>
        <p:spPr>
          <a:xfrm>
            <a:off x="1047750" y="3048000"/>
            <a:ext cx="190500" cy="190500"/>
          </a:xfrm>
          <a:prstGeom prst="ellipse">
            <a:avLst/>
          </a:prstGeom>
          <a:solidFill>
            <a:srgbClr val="7B1E3A"/>
          </a:solidFill>
        </p:spPr>
        <p:txBody>
          <a:bodyPr/>
          <a:lstStyle/>
          <a:p>
            <a:endParaRPr lang="en-GB" noProof="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40A997A-01AB-4267-9843-C877E38A3B65}"/>
              </a:ext>
            </a:extLst>
          </p:cNvPr>
          <p:cNvSpPr>
            <a:spLocks noGrp="1"/>
          </p:cNvSpPr>
          <p:nvPr/>
        </p:nvSpPr>
        <p:spPr>
          <a:xfrm>
            <a:off x="3714750" y="3048000"/>
            <a:ext cx="190500" cy="190500"/>
          </a:xfrm>
          <a:prstGeom prst="ellipse">
            <a:avLst/>
          </a:prstGeom>
          <a:solidFill>
            <a:srgbClr val="7B1E3A"/>
          </a:solidFill>
        </p:spPr>
        <p:txBody>
          <a:bodyPr/>
          <a:lstStyle/>
          <a:p>
            <a:endParaRPr lang="en-GB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1E4AF41-9845-417B-AC0C-9BAAE4E81987}"/>
              </a:ext>
            </a:extLst>
          </p:cNvPr>
          <p:cNvSpPr>
            <a:spLocks noGrp="1"/>
          </p:cNvSpPr>
          <p:nvPr/>
        </p:nvSpPr>
        <p:spPr>
          <a:xfrm>
            <a:off x="6715125" y="3048000"/>
            <a:ext cx="190500" cy="190500"/>
          </a:xfrm>
          <a:prstGeom prst="ellipse">
            <a:avLst/>
          </a:prstGeom>
          <a:solidFill>
            <a:srgbClr val="7B1E3A"/>
          </a:solidFill>
        </p:spPr>
        <p:txBody>
          <a:bodyPr/>
          <a:lstStyle/>
          <a:p>
            <a:endParaRPr lang="en-GB" noProof="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23CB1F9-16B8-49CF-ABBE-CF9BE4807DA8}"/>
              </a:ext>
            </a:extLst>
          </p:cNvPr>
          <p:cNvSpPr>
            <a:spLocks noGrp="1"/>
          </p:cNvSpPr>
          <p:nvPr/>
        </p:nvSpPr>
        <p:spPr>
          <a:xfrm>
            <a:off x="8858250" y="3048000"/>
            <a:ext cx="190500" cy="190500"/>
          </a:xfrm>
          <a:prstGeom prst="ellipse">
            <a:avLst/>
          </a:prstGeom>
          <a:solidFill>
            <a:srgbClr val="7B1E3A"/>
          </a:solidFill>
        </p:spPr>
        <p:txBody>
          <a:bodyPr/>
          <a:lstStyle/>
          <a:p>
            <a:endParaRPr lang="en-GB" noProof="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56DA865-E87D-4B4F-A879-37FE08ACEC1C}"/>
              </a:ext>
            </a:extLst>
          </p:cNvPr>
          <p:cNvSpPr>
            <a:spLocks noGrp="1"/>
          </p:cNvSpPr>
          <p:nvPr/>
        </p:nvSpPr>
        <p:spPr>
          <a:xfrm>
            <a:off x="11049000" y="3048000"/>
            <a:ext cx="190500" cy="190500"/>
          </a:xfrm>
          <a:prstGeom prst="ellipse">
            <a:avLst/>
          </a:prstGeom>
          <a:solidFill>
            <a:srgbClr val="7B1E3A"/>
          </a:solidFill>
        </p:spPr>
        <p:txBody>
          <a:bodyPr/>
          <a:lstStyle/>
          <a:p>
            <a:endParaRPr lang="en-GB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708AAF-9A48-4B46-AC39-732BC6FBD6FD}"/>
              </a:ext>
            </a:extLst>
          </p:cNvPr>
          <p:cNvSpPr>
            <a:spLocks noGrp="1"/>
          </p:cNvSpPr>
          <p:nvPr/>
        </p:nvSpPr>
        <p:spPr>
          <a:xfrm>
            <a:off x="762000" y="2333625"/>
            <a:ext cx="1524000" cy="619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7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Primordia
formation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218A72-6673-4418-9540-9F0295897B14}"/>
              </a:ext>
            </a:extLst>
          </p:cNvPr>
          <p:cNvSpPr>
            <a:spLocks noGrp="1"/>
          </p:cNvSpPr>
          <p:nvPr/>
        </p:nvSpPr>
        <p:spPr>
          <a:xfrm>
            <a:off x="3333750" y="3476625"/>
            <a:ext cx="1333500" cy="619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7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Reserve
building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FF02B0-F366-4A5D-9876-658705489C08}"/>
              </a:ext>
            </a:extLst>
          </p:cNvPr>
          <p:cNvSpPr>
            <a:spLocks noGrp="1"/>
          </p:cNvSpPr>
          <p:nvPr/>
        </p:nvSpPr>
        <p:spPr>
          <a:xfrm>
            <a:off x="6286500" y="2333625"/>
            <a:ext cx="1143000" cy="333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7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Bud break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256DB5-0030-44F3-B624-2F54A14D545E}"/>
              </a:ext>
            </a:extLst>
          </p:cNvPr>
          <p:cNvSpPr>
            <a:spLocks noGrp="1"/>
          </p:cNvSpPr>
          <p:nvPr/>
        </p:nvSpPr>
        <p:spPr>
          <a:xfrm>
            <a:off x="8286750" y="3476625"/>
            <a:ext cx="1428750" cy="619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7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Flowering &amp;
fruit set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BC41E2-6ACD-4622-9CE4-8D3434719865}"/>
              </a:ext>
            </a:extLst>
          </p:cNvPr>
          <p:cNvSpPr>
            <a:spLocks noGrp="1"/>
          </p:cNvSpPr>
          <p:nvPr/>
        </p:nvSpPr>
        <p:spPr>
          <a:xfrm>
            <a:off x="10477500" y="2333625"/>
            <a:ext cx="1428750" cy="619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7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 err="1"/>
              <a:t>Veraison</a:t>
            </a:r>
            <a:r>
              <a:rPr lang="en-GB" noProof="0" dirty="0"/>
              <a:t> to
harvest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7693FB-C01D-43A7-8FD0-B7863B4CA36B}"/>
              </a:ext>
            </a:extLst>
          </p:cNvPr>
          <p:cNvSpPr>
            <a:spLocks noGrp="1"/>
          </p:cNvSpPr>
          <p:nvPr/>
        </p:nvSpPr>
        <p:spPr>
          <a:xfrm>
            <a:off x="740449" y="4109852"/>
            <a:ext cx="3905250" cy="590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sz="1600" noProof="0" dirty="0"/>
              <a:t>Temperature and light set the upper bound on bunch number.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54E540-9AB1-4ABE-8F76-BC24FFF00897}"/>
              </a:ext>
            </a:extLst>
          </p:cNvPr>
          <p:cNvSpPr>
            <a:spLocks noGrp="1"/>
          </p:cNvSpPr>
          <p:nvPr/>
        </p:nvSpPr>
        <p:spPr>
          <a:xfrm>
            <a:off x="740449" y="4867730"/>
            <a:ext cx="3905250" cy="590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sz="1600" noProof="0" dirty="0"/>
              <a:t>Prior water and thermal stress shape carbohydrate reserves.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76E74B-E32A-4244-8031-BA143E297E2E}"/>
              </a:ext>
            </a:extLst>
          </p:cNvPr>
          <p:cNvSpPr>
            <a:spLocks noGrp="1"/>
          </p:cNvSpPr>
          <p:nvPr/>
        </p:nvSpPr>
        <p:spPr>
          <a:xfrm>
            <a:off x="6405814" y="4168154"/>
            <a:ext cx="4953000" cy="952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sz="1600" noProof="0" dirty="0"/>
              <a:t>Current-year temperature, rain, canopy and soil water determine fruit set and berry development.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50513E-AC46-450E-BA43-FBBFD43FFB90}"/>
              </a:ext>
            </a:extLst>
          </p:cNvPr>
          <p:cNvSpPr>
            <a:spLocks noGrp="1"/>
          </p:cNvSpPr>
          <p:nvPr/>
        </p:nvSpPr>
        <p:spPr>
          <a:xfrm>
            <a:off x="4953000" y="1482810"/>
            <a:ext cx="904875" cy="4561745"/>
          </a:xfrm>
          <a:prstGeom prst="rect">
            <a:avLst/>
          </a:prstGeom>
          <a:solidFill>
            <a:srgbClr val="F0F1F2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B6926A-835E-4BB3-9E59-017C60377BD5}"/>
              </a:ext>
            </a:extLst>
          </p:cNvPr>
          <p:cNvSpPr>
            <a:spLocks noGrp="1"/>
          </p:cNvSpPr>
          <p:nvPr/>
        </p:nvSpPr>
        <p:spPr>
          <a:xfrm>
            <a:off x="5048250" y="2952750"/>
            <a:ext cx="714375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CARRY-
OVER</a:t>
            </a:r>
          </a:p>
        </p:txBody>
      </p:sp>
      <p:sp>
        <p:nvSpPr>
          <p:cNvPr id="22" name="gap-stripe">
            <a:extLst>
              <a:ext uri="{FF2B5EF4-FFF2-40B4-BE49-F238E27FC236}">
                <a16:creationId xmlns:a16="http://schemas.microsoft.com/office/drawing/2014/main" id="{FA12628C-0ECE-9D05-B99F-76C8873E3D54}"/>
              </a:ext>
            </a:extLst>
          </p:cNvPr>
          <p:cNvSpPr>
            <a:spLocks noGrp="1"/>
          </p:cNvSpPr>
          <p:nvPr/>
        </p:nvSpPr>
        <p:spPr>
          <a:xfrm>
            <a:off x="550950" y="4109852"/>
            <a:ext cx="76200" cy="567537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26" name="gap-stripe">
            <a:extLst>
              <a:ext uri="{FF2B5EF4-FFF2-40B4-BE49-F238E27FC236}">
                <a16:creationId xmlns:a16="http://schemas.microsoft.com/office/drawing/2014/main" id="{7CC50F84-A90B-D537-58FC-B505CFD2EA59}"/>
              </a:ext>
            </a:extLst>
          </p:cNvPr>
          <p:cNvSpPr>
            <a:spLocks noGrp="1"/>
          </p:cNvSpPr>
          <p:nvPr/>
        </p:nvSpPr>
        <p:spPr>
          <a:xfrm>
            <a:off x="547743" y="4867730"/>
            <a:ext cx="76200" cy="567537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27" name="gap-stripe">
            <a:extLst>
              <a:ext uri="{FF2B5EF4-FFF2-40B4-BE49-F238E27FC236}">
                <a16:creationId xmlns:a16="http://schemas.microsoft.com/office/drawing/2014/main" id="{4736ECBC-467A-6359-25CE-39EEB43E259F}"/>
              </a:ext>
            </a:extLst>
          </p:cNvPr>
          <p:cNvSpPr>
            <a:spLocks noGrp="1"/>
          </p:cNvSpPr>
          <p:nvPr/>
        </p:nvSpPr>
        <p:spPr>
          <a:xfrm>
            <a:off x="6210300" y="4168154"/>
            <a:ext cx="76200" cy="567537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AE008D-76DA-84C4-24AD-05940F23CC97}"/>
              </a:ext>
            </a:extLst>
          </p:cNvPr>
          <p:cNvSpPr>
            <a:spLocks noGrp="1"/>
          </p:cNvSpPr>
          <p:nvPr/>
        </p:nvSpPr>
        <p:spPr>
          <a:xfrm>
            <a:off x="520261" y="5721136"/>
            <a:ext cx="4999064" cy="323420"/>
          </a:xfrm>
          <a:prstGeom prst="rect">
            <a:avLst/>
          </a:prstGeom>
          <a:solidFill>
            <a:srgbClr val="F0F1F2"/>
          </a:solidFill>
          <a:ln w="0">
            <a:noFill/>
            <a:prstDash val="solid"/>
          </a:ln>
        </p:spPr>
        <p:txBody>
          <a:bodyPr/>
          <a:lstStyle/>
          <a:p>
            <a:pPr algn="ctr"/>
            <a:r>
              <a:rPr lang="en-GB" b="1" noProof="0" dirty="0"/>
              <a:t>Potential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9CE36C2-34B6-EFC8-9DE7-EE37C7DB51B8}"/>
              </a:ext>
            </a:extLst>
          </p:cNvPr>
          <p:cNvSpPr>
            <a:spLocks noGrp="1"/>
          </p:cNvSpPr>
          <p:nvPr/>
        </p:nvSpPr>
        <p:spPr>
          <a:xfrm>
            <a:off x="5858478" y="5676164"/>
            <a:ext cx="5918482" cy="371049"/>
          </a:xfrm>
          <a:prstGeom prst="rect">
            <a:avLst/>
          </a:prstGeom>
          <a:solidFill>
            <a:srgbClr val="F0F1F2"/>
          </a:solidFill>
          <a:ln w="0">
            <a:noFill/>
            <a:prstDash val="solid"/>
          </a:ln>
        </p:spPr>
        <p:txBody>
          <a:bodyPr/>
          <a:lstStyle/>
          <a:p>
            <a:pPr algn="ctr"/>
            <a:r>
              <a:rPr lang="en-GB" b="1" noProof="0" dirty="0"/>
              <a:t>Dependence</a:t>
            </a:r>
          </a:p>
        </p:txBody>
      </p:sp>
    </p:spTree>
    <p:extLst>
      <p:ext uri="{BB962C8B-B14F-4D97-AF65-F5344CB8AC3E}">
        <p14:creationId xmlns:p14="http://schemas.microsoft.com/office/powerpoint/2010/main" val="2970767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15EAE2-EEC0-4E1A-8935-E7CDD9FCCC02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FEATURE ENGINEERING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279752-B484-4AF2-A91D-719CFE162F26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Features follow the biology, not the calendar</a:t>
            </a:r>
          </a:p>
        </p:txBody>
      </p:sp>
      <p:pic>
        <p:nvPicPr>
          <p:cNvPr id="33" name="Picture 10"/>
          <p:cNvPicPr>
            <a:picLocks noChangeAspect="1"/>
          </p:cNvPicPr>
          <p:nvPr/>
        </p:nvPicPr>
        <p:blipFill>
          <a:blip r:embed="rId3"/>
          <a:srcRect b="24053"/>
          <a:stretch>
            <a:fillRect/>
          </a:stretch>
        </p:blipFill>
        <p:spPr>
          <a:xfrm>
            <a:off x="8984040" y="2953902"/>
            <a:ext cx="3087426" cy="1320554"/>
          </a:xfrm>
          <a:prstGeom prst="rect">
            <a:avLst/>
          </a:prstGeom>
        </p:spPr>
      </p:pic>
      <p:pic>
        <p:nvPicPr>
          <p:cNvPr id="34" name="Picture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00050" y="1307060"/>
            <a:ext cx="8295666" cy="46142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2" name="slide7-band-repair-records">
            <a:extLst>
              <a:ext uri="{FF2B5EF4-FFF2-40B4-BE49-F238E27FC236}">
                <a16:creationId xmlns:a16="http://schemas.microsoft.com/office/drawing/2014/main" id="{22BD4752-FAF0-4E9C-BBB5-10480FA48B99}"/>
              </a:ext>
            </a:extLst>
          </p:cNvPr>
          <p:cNvSpPr>
            <a:spLocks noGrp="1"/>
          </p:cNvSpPr>
          <p:nvPr/>
        </p:nvSpPr>
        <p:spPr>
          <a:xfrm>
            <a:off x="1002143" y="5961582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sz="1100" b="1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32,842 / 29,902 </a:t>
            </a:r>
            <a:br>
              <a:rPr lang="en-GB" sz="1100" b="1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</a:br>
            <a:r>
              <a:rPr lang="en-GB" sz="1100" b="1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daily Wheater records</a:t>
            </a:r>
          </a:p>
        </p:txBody>
      </p:sp>
      <p:sp>
        <p:nvSpPr>
          <p:cNvPr id="23" name="slide7-band-repair-predictors">
            <a:extLst>
              <a:ext uri="{FF2B5EF4-FFF2-40B4-BE49-F238E27FC236}">
                <a16:creationId xmlns:a16="http://schemas.microsoft.com/office/drawing/2014/main" id="{7085D20E-47F3-4E69-AFFE-5BEC46CFAD8E}"/>
              </a:ext>
            </a:extLst>
          </p:cNvPr>
          <p:cNvSpPr>
            <a:spLocks noGrp="1"/>
          </p:cNvSpPr>
          <p:nvPr/>
        </p:nvSpPr>
        <p:spPr>
          <a:xfrm>
            <a:off x="3429762" y="5961582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EE6A2E"/>
                </a:solidFill>
                <a:latin typeface="Arial"/>
                <a:ea typeface="Arial"/>
                <a:cs typeface="Arial"/>
              </a:defRPr>
            </a:pPr>
            <a:r>
              <a:rPr lang="en-GB" sz="1100" b="1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59 annual </a:t>
            </a:r>
            <a:br>
              <a:rPr lang="en-GB" sz="1100" b="1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</a:br>
            <a:r>
              <a:rPr lang="en-GB" sz="1100" b="1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predictors</a:t>
            </a:r>
          </a:p>
        </p:txBody>
      </p:sp>
      <p:sp>
        <p:nvSpPr>
          <p:cNvPr id="24" name="slide7-band-repair-anchors">
            <a:extLst>
              <a:ext uri="{FF2B5EF4-FFF2-40B4-BE49-F238E27FC236}">
                <a16:creationId xmlns:a16="http://schemas.microsoft.com/office/drawing/2014/main" id="{6C38BA8C-60BA-476F-8EA2-6A64643236C1}"/>
              </a:ext>
            </a:extLst>
          </p:cNvPr>
          <p:cNvSpPr>
            <a:spLocks noGrp="1"/>
          </p:cNvSpPr>
          <p:nvPr/>
        </p:nvSpPr>
        <p:spPr>
          <a:xfrm>
            <a:off x="5285202" y="5961582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sz="1100" b="1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phenological </a:t>
            </a:r>
            <a:br>
              <a:rPr lang="en-GB" sz="1100" b="1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</a:br>
            <a:r>
              <a:rPr lang="en-GB" sz="1100" b="1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anchors</a:t>
            </a:r>
          </a:p>
        </p:txBody>
      </p:sp>
      <p:sp>
        <p:nvSpPr>
          <p:cNvPr id="25" name="slide7-band-repair-years">
            <a:extLst>
              <a:ext uri="{FF2B5EF4-FFF2-40B4-BE49-F238E27FC236}">
                <a16:creationId xmlns:a16="http://schemas.microsoft.com/office/drawing/2014/main" id="{D1500B64-3D66-4232-B257-0347FABB7313}"/>
              </a:ext>
            </a:extLst>
          </p:cNvPr>
          <p:cNvSpPr>
            <a:spLocks noGrp="1"/>
          </p:cNvSpPr>
          <p:nvPr/>
        </p:nvSpPr>
        <p:spPr>
          <a:xfrm>
            <a:off x="7276585" y="5961582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sz="1100" b="1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current + </a:t>
            </a:r>
          </a:p>
          <a:p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sz="1100" b="1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previous year</a:t>
            </a:r>
          </a:p>
        </p:txBody>
      </p:sp>
      <p:sp>
        <p:nvSpPr>
          <p:cNvPr id="3" name="gap-stripe">
            <a:extLst>
              <a:ext uri="{FF2B5EF4-FFF2-40B4-BE49-F238E27FC236}">
                <a16:creationId xmlns:a16="http://schemas.microsoft.com/office/drawing/2014/main" id="{6F24B00F-D629-057C-7D4C-8F1FC553E0DB}"/>
              </a:ext>
            </a:extLst>
          </p:cNvPr>
          <p:cNvSpPr>
            <a:spLocks noGrp="1"/>
          </p:cNvSpPr>
          <p:nvPr/>
        </p:nvSpPr>
        <p:spPr>
          <a:xfrm rot="5400000">
            <a:off x="705530" y="5923232"/>
            <a:ext cx="76200" cy="515943"/>
          </a:xfrm>
          <a:prstGeom prst="rect">
            <a:avLst/>
          </a:prstGeom>
          <a:solidFill>
            <a:schemeClr val="bg1">
              <a:lumMod val="6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sz="1600" noProof="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DF8E6DE-1640-4178-A5F0-71950DF53A7C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07</a:t>
            </a:r>
          </a:p>
        </p:txBody>
      </p:sp>
      <p:sp>
        <p:nvSpPr>
          <p:cNvPr id="11" name="gap-stripe">
            <a:extLst>
              <a:ext uri="{FF2B5EF4-FFF2-40B4-BE49-F238E27FC236}">
                <a16:creationId xmlns:a16="http://schemas.microsoft.com/office/drawing/2014/main" id="{220832A4-1703-F3A1-BDB7-8FDC169A053C}"/>
              </a:ext>
            </a:extLst>
          </p:cNvPr>
          <p:cNvSpPr>
            <a:spLocks noGrp="1"/>
          </p:cNvSpPr>
          <p:nvPr/>
        </p:nvSpPr>
        <p:spPr>
          <a:xfrm rot="5400000">
            <a:off x="3114695" y="5923232"/>
            <a:ext cx="76200" cy="515943"/>
          </a:xfrm>
          <a:prstGeom prst="rect">
            <a:avLst/>
          </a:prstGeom>
          <a:solidFill>
            <a:schemeClr val="bg1">
              <a:lumMod val="6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sz="1600" noProof="0" dirty="0"/>
          </a:p>
        </p:txBody>
      </p:sp>
      <p:sp>
        <p:nvSpPr>
          <p:cNvPr id="12" name="gap-stripe">
            <a:extLst>
              <a:ext uri="{FF2B5EF4-FFF2-40B4-BE49-F238E27FC236}">
                <a16:creationId xmlns:a16="http://schemas.microsoft.com/office/drawing/2014/main" id="{5D79494C-A4FE-9C92-1F2B-C7C02127126B}"/>
              </a:ext>
            </a:extLst>
          </p:cNvPr>
          <p:cNvSpPr>
            <a:spLocks noGrp="1"/>
          </p:cNvSpPr>
          <p:nvPr/>
        </p:nvSpPr>
        <p:spPr>
          <a:xfrm rot="5400000">
            <a:off x="4985645" y="5923232"/>
            <a:ext cx="76200" cy="515943"/>
          </a:xfrm>
          <a:prstGeom prst="rect">
            <a:avLst/>
          </a:prstGeom>
          <a:solidFill>
            <a:schemeClr val="bg1">
              <a:lumMod val="6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sz="1600" noProof="0" dirty="0"/>
          </a:p>
        </p:txBody>
      </p:sp>
      <p:sp>
        <p:nvSpPr>
          <p:cNvPr id="13" name="gap-stripe">
            <a:extLst>
              <a:ext uri="{FF2B5EF4-FFF2-40B4-BE49-F238E27FC236}">
                <a16:creationId xmlns:a16="http://schemas.microsoft.com/office/drawing/2014/main" id="{E798F72E-AE11-39AB-D43F-B8968991162F}"/>
              </a:ext>
            </a:extLst>
          </p:cNvPr>
          <p:cNvSpPr>
            <a:spLocks noGrp="1"/>
          </p:cNvSpPr>
          <p:nvPr/>
        </p:nvSpPr>
        <p:spPr>
          <a:xfrm rot="5400000">
            <a:off x="6980513" y="5923232"/>
            <a:ext cx="76200" cy="515943"/>
          </a:xfrm>
          <a:prstGeom prst="rect">
            <a:avLst/>
          </a:prstGeom>
          <a:solidFill>
            <a:schemeClr val="bg1">
              <a:lumMod val="6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sz="1600" noProof="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219FAD-D3BA-695A-6028-5F25EAC5FC66}"/>
              </a:ext>
            </a:extLst>
          </p:cNvPr>
          <p:cNvSpPr>
            <a:spLocks noGrp="1"/>
          </p:cNvSpPr>
          <p:nvPr/>
        </p:nvSpPr>
        <p:spPr>
          <a:xfrm>
            <a:off x="8968882" y="1809651"/>
            <a:ext cx="3102584" cy="110661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/>
            <a:r>
              <a:rPr lang="en-GB" b="1" dirty="0"/>
              <a:t>From daily data to biologically anchored predictors — </a:t>
            </a:r>
            <a:r>
              <a:rPr lang="en-GB" b="1" dirty="0">
                <a:solidFill>
                  <a:schemeClr val="accent2"/>
                </a:solidFill>
              </a:rPr>
              <a:t>so each rule has agronomic meaning.</a:t>
            </a:r>
            <a:endParaRPr lang="en-GB" dirty="0">
              <a:solidFill>
                <a:schemeClr val="accent2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5F2C6B2-AA18-8490-1254-4AA4EBE51863}"/>
              </a:ext>
            </a:extLst>
          </p:cNvPr>
          <p:cNvCxnSpPr>
            <a:cxnSpLocks/>
            <a:stCxn id="34" idx="3"/>
            <a:endCxn id="33" idx="1"/>
          </p:cNvCxnSpPr>
          <p:nvPr/>
        </p:nvCxnSpPr>
        <p:spPr>
          <a:xfrm>
            <a:off x="8695716" y="3614179"/>
            <a:ext cx="28832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FEB48F9-1ECD-3EB3-B017-0E7035B405AB}"/>
              </a:ext>
            </a:extLst>
          </p:cNvPr>
          <p:cNvSpPr txBox="1"/>
          <p:nvPr/>
        </p:nvSpPr>
        <p:spPr>
          <a:xfrm>
            <a:off x="8984041" y="4412008"/>
            <a:ext cx="3087426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900" b="1" dirty="0">
                <a:solidFill>
                  <a:schemeClr val="bg1">
                    <a:lumMod val="50000"/>
                  </a:schemeClr>
                </a:solidFill>
              </a:rPr>
              <a:t>Daily weather and vine-state data were transformed into annual predictors that preserve biological memory and follow the vine calendar.</a:t>
            </a:r>
          </a:p>
          <a:p>
            <a:pPr algn="just"/>
            <a:endParaRPr lang="en-GB" sz="900" b="1" dirty="0">
              <a:solidFill>
                <a:schemeClr val="bg1">
                  <a:lumMod val="50000"/>
                </a:schemeClr>
              </a:solidFill>
            </a:endParaRPr>
          </a:p>
          <a:p>
            <a:pPr algn="just"/>
            <a:r>
              <a:rPr lang="en-GB" sz="900" b="1" dirty="0">
                <a:solidFill>
                  <a:schemeClr val="bg1">
                    <a:lumMod val="50000"/>
                  </a:schemeClr>
                </a:solidFill>
              </a:rPr>
              <a:t>That makes each rule agronomically interpretable, not just statistically selected.</a:t>
            </a:r>
            <a:endParaRPr lang="en-GB" sz="900" dirty="0">
              <a:solidFill>
                <a:schemeClr val="bg1">
                  <a:lumMod val="50000"/>
                </a:schemeClr>
              </a:solidFill>
            </a:endParaRPr>
          </a:p>
          <a:p>
            <a:pPr algn="just"/>
            <a:endParaRPr lang="en-GB" sz="9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1414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3029C1A-AD73-4E86-AE48-41FDA9425EEA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POSITIONING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3F188D-AC5D-4429-9B17-71710734DEAC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791950" cy="7810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3600" noProof="0" dirty="0"/>
              <a:t>The research gap sits between explanation and prediction – </a:t>
            </a:r>
            <a:r>
              <a:rPr lang="en-GB" sz="3600" noProof="0" dirty="0">
                <a:solidFill>
                  <a:schemeClr val="accent2"/>
                </a:solidFill>
              </a:rPr>
              <a:t>Caren as approach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9CB3F4-C705-4602-9FEB-0455FD8A0555}"/>
              </a:ext>
            </a:extLst>
          </p:cNvPr>
          <p:cNvSpPr>
            <a:spLocks noGrp="1"/>
          </p:cNvSpPr>
          <p:nvPr/>
        </p:nvSpPr>
        <p:spPr>
          <a:xfrm>
            <a:off x="11287125" y="6646448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E6283D-6CA5-4574-B02B-1C5CBA4EF20D}"/>
              </a:ext>
            </a:extLst>
          </p:cNvPr>
          <p:cNvSpPr>
            <a:spLocks noGrp="1"/>
          </p:cNvSpPr>
          <p:nvPr/>
        </p:nvSpPr>
        <p:spPr>
          <a:xfrm>
            <a:off x="400050" y="2087887"/>
            <a:ext cx="4953000" cy="3124488"/>
          </a:xfrm>
          <a:prstGeom prst="rect">
            <a:avLst/>
          </a:prstGeom>
          <a:solidFill>
            <a:srgbClr val="F0F1F2"/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808345-5AB2-46FF-B149-FECA926C74C0}"/>
              </a:ext>
            </a:extLst>
          </p:cNvPr>
          <p:cNvSpPr>
            <a:spLocks noGrp="1"/>
          </p:cNvSpPr>
          <p:nvPr/>
        </p:nvSpPr>
        <p:spPr>
          <a:xfrm>
            <a:off x="6838950" y="2087887"/>
            <a:ext cx="4953000" cy="3124488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4A3BBD-B4A6-4ABC-B28F-BDDD14A30DF4}"/>
              </a:ext>
            </a:extLst>
          </p:cNvPr>
          <p:cNvSpPr>
            <a:spLocks noGrp="1"/>
          </p:cNvSpPr>
          <p:nvPr/>
        </p:nvSpPr>
        <p:spPr>
          <a:xfrm>
            <a:off x="714375" y="2300946"/>
            <a:ext cx="4000500" cy="400050"/>
          </a:xfrm>
          <a:prstGeom prst="rect">
            <a:avLst/>
          </a:prstGeom>
        </p:spPr>
        <p:txBody>
          <a:bodyPr lIns="0" tIns="0" rIns="0" bIns="0" anchor="t">
            <a:normAutofit fontScale="85000" lnSpcReduction="10000"/>
          </a:bodyPr>
          <a:lstStyle/>
          <a:p>
            <a:pPr algn="l">
              <a:buNone/>
              <a:defRPr sz="23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MODERN MACHINE LEARNING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70ED02-65B2-472A-B023-24EE9C77D89E}"/>
              </a:ext>
            </a:extLst>
          </p:cNvPr>
          <p:cNvSpPr>
            <a:spLocks noGrp="1"/>
          </p:cNvSpPr>
          <p:nvPr/>
        </p:nvSpPr>
        <p:spPr>
          <a:xfrm>
            <a:off x="714375" y="3025153"/>
            <a:ext cx="4591050" cy="1428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Handles </a:t>
            </a:r>
            <a:r>
              <a:rPr lang="en-GB" b="1" noProof="0" dirty="0"/>
              <a:t>nonlinear interactions</a:t>
            </a:r>
            <a:r>
              <a:rPr lang="en-GB" noProof="0" dirty="0"/>
              <a:t>
Often </a:t>
            </a:r>
            <a:r>
              <a:rPr lang="en-GB" b="1" noProof="0" dirty="0"/>
              <a:t>strong predictive </a:t>
            </a:r>
            <a:r>
              <a:rPr lang="en-GB" noProof="0" dirty="0"/>
              <a:t>accuracy
Sometimes decision </a:t>
            </a:r>
            <a:r>
              <a:rPr lang="en-GB" b="1" noProof="0" dirty="0"/>
              <a:t>logic remains opaque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865458-5055-47B9-AFCB-E6CF5FD0B05D}"/>
              </a:ext>
            </a:extLst>
          </p:cNvPr>
          <p:cNvSpPr>
            <a:spLocks noGrp="1"/>
          </p:cNvSpPr>
          <p:nvPr/>
        </p:nvSpPr>
        <p:spPr>
          <a:xfrm>
            <a:off x="7143750" y="2300946"/>
            <a:ext cx="4000500" cy="400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3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accent2"/>
                </a:solidFill>
              </a:rPr>
              <a:t>RULE-BASED DISCOVERY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022B84-614B-411B-AE7C-C67CDCC1F378}"/>
              </a:ext>
            </a:extLst>
          </p:cNvPr>
          <p:cNvSpPr>
            <a:spLocks noGrp="1"/>
          </p:cNvSpPr>
          <p:nvPr/>
        </p:nvSpPr>
        <p:spPr>
          <a:xfrm>
            <a:off x="7143750" y="3025153"/>
            <a:ext cx="4000500" cy="1428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Produces explicit </a:t>
            </a:r>
            <a:r>
              <a:rPr lang="en-GB" b="1" noProof="0" dirty="0"/>
              <a:t>IF–THEN rules</a:t>
            </a:r>
            <a:r>
              <a:rPr lang="en-GB" noProof="0" dirty="0"/>
              <a:t>
</a:t>
            </a:r>
            <a:r>
              <a:rPr lang="en-GB" b="1" noProof="0" dirty="0"/>
              <a:t>Auditable</a:t>
            </a:r>
            <a:r>
              <a:rPr lang="en-GB" noProof="0" dirty="0"/>
              <a:t> support and significance
</a:t>
            </a:r>
            <a:r>
              <a:rPr lang="en-GB" b="1" noProof="0" dirty="0"/>
              <a:t>Predictive value is unproven here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8A4DBE-D04A-46CD-90AA-60129E506804}"/>
              </a:ext>
            </a:extLst>
          </p:cNvPr>
          <p:cNvSpPr>
            <a:spLocks noGrp="1"/>
          </p:cNvSpPr>
          <p:nvPr/>
        </p:nvSpPr>
        <p:spPr>
          <a:xfrm>
            <a:off x="5211096" y="2824821"/>
            <a:ext cx="1799303" cy="1714500"/>
          </a:xfrm>
          <a:prstGeom prst="rect">
            <a:avLst/>
          </a:prstGeom>
          <a:solidFill>
            <a:srgbClr val="151515"/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BFDE12-413B-4856-813D-6D3A174F110E}"/>
              </a:ext>
            </a:extLst>
          </p:cNvPr>
          <p:cNvSpPr>
            <a:spLocks noGrp="1"/>
          </p:cNvSpPr>
          <p:nvPr/>
        </p:nvSpPr>
        <p:spPr>
          <a:xfrm>
            <a:off x="5283909" y="2939735"/>
            <a:ext cx="1704974" cy="1514168"/>
          </a:xfrm>
          <a:prstGeom prst="rect">
            <a:avLst/>
          </a:prstGeom>
        </p:spPr>
        <p:txBody>
          <a:bodyPr lIns="0" tIns="0" rIns="0" bIns="0" anchor="ctr">
            <a:normAutofit fontScale="95785"/>
          </a:bodyPr>
          <a:lstStyle/>
          <a:p>
            <a: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sz="3000" noProof="0" dirty="0"/>
              <a:t>CAN WE
HAVE
BOTH?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9A3A8B-D727-4A32-8A96-0E912EE90316}"/>
              </a:ext>
            </a:extLst>
          </p:cNvPr>
          <p:cNvSpPr>
            <a:spLocks noGrp="1"/>
          </p:cNvSpPr>
          <p:nvPr/>
        </p:nvSpPr>
        <p:spPr>
          <a:xfrm>
            <a:off x="654659" y="5659376"/>
            <a:ext cx="11137291" cy="4572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just">
              <a:buNone/>
              <a:defRPr sz="187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2000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 PRIOR WORK SYSTEMATICALLY EVALUATED DISTRIBUTIONAL SUBGROUP DISCOVERY IN WALK-FORWARD WINE PRODUCTION FORECASTING.</a:t>
            </a:r>
          </a:p>
        </p:txBody>
      </p:sp>
    </p:spTree>
    <p:extLst>
      <p:ext uri="{BB962C8B-B14F-4D97-AF65-F5344CB8AC3E}">
        <p14:creationId xmlns:p14="http://schemas.microsoft.com/office/powerpoint/2010/main" val="3468166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DD33668-8A5B-4D16-83E1-9969BC7A86C4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RESEARCH DESIGN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05EA40-7291-41D5-8960-9A31A145B09B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</p:spPr>
        <p:txBody>
          <a:bodyPr lIns="0" tIns="0" rIns="0" bIns="0" anchor="t">
            <a:normAutofit fontScale="95409"/>
          </a:bodyPr>
          <a:lstStyle/>
          <a:p>
            <a:pPr algn="l">
              <a:buNone/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Two goals separate historical insight from future utility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2FA34E-8C03-47C0-B5A4-5E08CC27979F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09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86F652-6877-4DF1-AA1B-D7307C5B6C25}"/>
              </a:ext>
            </a:extLst>
          </p:cNvPr>
          <p:cNvSpPr>
            <a:spLocks noGrp="1"/>
          </p:cNvSpPr>
          <p:nvPr/>
        </p:nvSpPr>
        <p:spPr>
          <a:xfrm>
            <a:off x="6305550" y="1571625"/>
            <a:ext cx="5476875" cy="3857625"/>
          </a:xfrm>
          <a:prstGeom prst="rect">
            <a:avLst/>
          </a:prstGeom>
          <a:solidFill>
            <a:srgbClr val="E8F3EB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39DEEF-CB24-4542-A28C-E29905560AE8}"/>
              </a:ext>
            </a:extLst>
          </p:cNvPr>
          <p:cNvSpPr>
            <a:spLocks noGrp="1"/>
          </p:cNvSpPr>
          <p:nvPr/>
        </p:nvSpPr>
        <p:spPr>
          <a:xfrm>
            <a:off x="714375" y="1905000"/>
            <a:ext cx="161925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2563A6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GOAL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8F5A80-4744-4506-8377-0467801053F3}"/>
              </a:ext>
            </a:extLst>
          </p:cNvPr>
          <p:cNvSpPr>
            <a:spLocks noGrp="1"/>
          </p:cNvSpPr>
          <p:nvPr/>
        </p:nvSpPr>
        <p:spPr>
          <a:xfrm>
            <a:off x="714375" y="2381250"/>
            <a:ext cx="4286250" cy="5238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1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Discover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60BDCC-3B84-47AD-AD85-255096D10049}"/>
              </a:ext>
            </a:extLst>
          </p:cNvPr>
          <p:cNvSpPr>
            <a:spLocks noGrp="1"/>
          </p:cNvSpPr>
          <p:nvPr/>
        </p:nvSpPr>
        <p:spPr>
          <a:xfrm>
            <a:off x="714375" y="3095625"/>
            <a:ext cx="4572000" cy="857250"/>
          </a:xfrm>
          <a:prstGeom prst="rect">
            <a:avLst/>
          </a:prstGeom>
        </p:spPr>
        <p:txBody>
          <a:bodyPr lIns="0" tIns="0" rIns="0" bIns="0" anchor="t">
            <a:normAutofit fontScale="94965"/>
          </a:bodyPr>
          <a:lstStyle/>
          <a:p>
            <a:pPr algn="l">
              <a:buNone/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Which agroclimatic conditions distinguish above- and below-trend production years?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43AB3D-E977-4666-9964-D5F0CE912BDB}"/>
              </a:ext>
            </a:extLst>
          </p:cNvPr>
          <p:cNvSpPr>
            <a:spLocks noGrp="1"/>
          </p:cNvSpPr>
          <p:nvPr/>
        </p:nvSpPr>
        <p:spPr>
          <a:xfrm>
            <a:off x="714375" y="4131849"/>
            <a:ext cx="4572000" cy="714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RQ1 · dominant variables
RQ2 · genuine signal or era confound?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75AB7E-9E72-4FBE-8CEC-4F52FAAE70BE}"/>
              </a:ext>
            </a:extLst>
          </p:cNvPr>
          <p:cNvSpPr>
            <a:spLocks noGrp="1"/>
          </p:cNvSpPr>
          <p:nvPr/>
        </p:nvSpPr>
        <p:spPr>
          <a:xfrm>
            <a:off x="6619875" y="1905000"/>
            <a:ext cx="161925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GOAL 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6B46AF-E04C-4B36-B9F0-A39228A0AA4E}"/>
              </a:ext>
            </a:extLst>
          </p:cNvPr>
          <p:cNvSpPr>
            <a:spLocks noGrp="1"/>
          </p:cNvSpPr>
          <p:nvPr/>
        </p:nvSpPr>
        <p:spPr>
          <a:xfrm>
            <a:off x="6619875" y="2381250"/>
            <a:ext cx="4286250" cy="5238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1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Validate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3BCECB-A95D-440D-B4AB-2D752425BA70}"/>
              </a:ext>
            </a:extLst>
          </p:cNvPr>
          <p:cNvSpPr>
            <a:spLocks noGrp="1"/>
          </p:cNvSpPr>
          <p:nvPr/>
        </p:nvSpPr>
        <p:spPr>
          <a:xfrm>
            <a:off x="6619875" y="3095625"/>
            <a:ext cx="4572000" cy="857250"/>
          </a:xfrm>
          <a:prstGeom prst="rect">
            <a:avLst/>
          </a:prstGeom>
        </p:spPr>
        <p:txBody>
          <a:bodyPr lIns="0" tIns="0" rIns="0" bIns="0" anchor="t">
            <a:normAutofit fontScale="96354" lnSpcReduction="10000"/>
          </a:bodyPr>
          <a:lstStyle/>
          <a:p>
            <a:pPr algn="l">
              <a:buNone/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Can rule-based models beat the historical median in genuine future periods?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871CD9-66BE-4434-BEDC-C59FD5456578}"/>
              </a:ext>
            </a:extLst>
          </p:cNvPr>
          <p:cNvSpPr>
            <a:spLocks noGrp="1"/>
          </p:cNvSpPr>
          <p:nvPr/>
        </p:nvSpPr>
        <p:spPr>
          <a:xfrm>
            <a:off x="6619875" y="4131849"/>
            <a:ext cx="4572000" cy="714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RQ3 · out-of-sample improvement
RQ4 · conditions for success or failure</a:t>
            </a:r>
          </a:p>
        </p:txBody>
      </p:sp>
      <p:sp>
        <p:nvSpPr>
          <p:cNvPr id="18" name="slide9-goal1-dark">
            <a:extLst>
              <a:ext uri="{FF2B5EF4-FFF2-40B4-BE49-F238E27FC236}">
                <a16:creationId xmlns:a16="http://schemas.microsoft.com/office/drawing/2014/main" id="{466FE326-6898-4530-8C4D-6BEA30863B56}"/>
              </a:ext>
            </a:extLst>
          </p:cNvPr>
          <p:cNvSpPr>
            <a:spLocks noGrp="1"/>
          </p:cNvSpPr>
          <p:nvPr/>
        </p:nvSpPr>
        <p:spPr>
          <a:xfrm>
            <a:off x="495300" y="1353912"/>
            <a:ext cx="5381625" cy="4553402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19" name="slide9-goal2-peach">
            <a:extLst>
              <a:ext uri="{FF2B5EF4-FFF2-40B4-BE49-F238E27FC236}">
                <a16:creationId xmlns:a16="http://schemas.microsoft.com/office/drawing/2014/main" id="{5F25A306-4642-4044-BF10-CBE32ECB4100}"/>
              </a:ext>
            </a:extLst>
          </p:cNvPr>
          <p:cNvSpPr>
            <a:spLocks noGrp="1"/>
          </p:cNvSpPr>
          <p:nvPr/>
        </p:nvSpPr>
        <p:spPr>
          <a:xfrm>
            <a:off x="6305550" y="1353912"/>
            <a:ext cx="5476875" cy="4553402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20" name="slide9-goal1-label">
            <a:extLst>
              <a:ext uri="{FF2B5EF4-FFF2-40B4-BE49-F238E27FC236}">
                <a16:creationId xmlns:a16="http://schemas.microsoft.com/office/drawing/2014/main" id="{AC9B2925-DBB0-4399-8679-C6BC6C85E900}"/>
              </a:ext>
            </a:extLst>
          </p:cNvPr>
          <p:cNvSpPr>
            <a:spLocks noGrp="1"/>
          </p:cNvSpPr>
          <p:nvPr/>
        </p:nvSpPr>
        <p:spPr>
          <a:xfrm>
            <a:off x="876300" y="1459593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sz="1350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GOAL 1</a:t>
            </a:r>
          </a:p>
        </p:txBody>
      </p:sp>
      <p:sp>
        <p:nvSpPr>
          <p:cNvPr id="21" name="slide9-goal1-title">
            <a:extLst>
              <a:ext uri="{FF2B5EF4-FFF2-40B4-BE49-F238E27FC236}">
                <a16:creationId xmlns:a16="http://schemas.microsoft.com/office/drawing/2014/main" id="{C72B301A-61FE-4470-AF8E-8D5855C5228F}"/>
              </a:ext>
            </a:extLst>
          </p:cNvPr>
          <p:cNvSpPr>
            <a:spLocks noGrp="1"/>
          </p:cNvSpPr>
          <p:nvPr/>
        </p:nvSpPr>
        <p:spPr>
          <a:xfrm>
            <a:off x="876300" y="1908466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sz="2775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DISCOVER (patterns)</a:t>
            </a:r>
          </a:p>
        </p:txBody>
      </p:sp>
      <p:sp>
        <p:nvSpPr>
          <p:cNvPr id="22" name="slide9-goal1-question">
            <a:extLst>
              <a:ext uri="{FF2B5EF4-FFF2-40B4-BE49-F238E27FC236}">
                <a16:creationId xmlns:a16="http://schemas.microsoft.com/office/drawing/2014/main" id="{2398521C-3516-48DA-A5A2-32366F6BD720}"/>
              </a:ext>
            </a:extLst>
          </p:cNvPr>
          <p:cNvSpPr>
            <a:spLocks noGrp="1"/>
          </p:cNvSpPr>
          <p:nvPr/>
        </p:nvSpPr>
        <p:spPr>
          <a:xfrm>
            <a:off x="876299" y="2624442"/>
            <a:ext cx="492442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just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Which agroclimatic conditions distinguish</a:t>
            </a:r>
          </a:p>
          <a:p>
            <a:pPr algn="just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above- and below-trend production</a:t>
            </a:r>
          </a:p>
          <a:p>
            <a:pPr algn="just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years?</a:t>
            </a:r>
          </a:p>
        </p:txBody>
      </p:sp>
      <p:sp>
        <p:nvSpPr>
          <p:cNvPr id="23" name="slide9-goal1-rqs">
            <a:extLst>
              <a:ext uri="{FF2B5EF4-FFF2-40B4-BE49-F238E27FC236}">
                <a16:creationId xmlns:a16="http://schemas.microsoft.com/office/drawing/2014/main" id="{16A1C21D-7336-45F9-AF37-73D62BF9C1DB}"/>
              </a:ext>
            </a:extLst>
          </p:cNvPr>
          <p:cNvSpPr>
            <a:spLocks noGrp="1"/>
          </p:cNvSpPr>
          <p:nvPr/>
        </p:nvSpPr>
        <p:spPr>
          <a:xfrm>
            <a:off x="855096" y="3799775"/>
            <a:ext cx="491943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RQ1 · </a:t>
            </a:r>
            <a:r>
              <a:rPr lang="en-GB" sz="1200" i="1" noProof="0" dirty="0">
                <a:solidFill>
                  <a:srgbClr val="1A2A3A"/>
                </a:solidFill>
                <a:latin typeface="Calibri"/>
                <a:ea typeface="Calibri"/>
                <a:cs typeface="Calibri"/>
              </a:rPr>
              <a:t>Can CarenR's KS-test-based distributional rule induction extract statistically validated, non-trivial patterns from non-stationary agricultural time series?</a:t>
            </a:r>
          </a:p>
          <a:p>
            <a:pPr>
              <a:buNone/>
              <a:defRPr sz="1425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endParaRPr lang="en-GB" sz="1200" b="1" noProof="0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425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endParaRPr lang="en-GB" sz="1400" b="1" noProof="0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 sz="1425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RQ2 · </a:t>
            </a:r>
            <a:r>
              <a:rPr lang="en-GB" sz="1200" i="1" noProof="0" dirty="0">
                <a:solidFill>
                  <a:srgbClr val="1A2A3A"/>
                </a:solidFill>
                <a:latin typeface="Calibri"/>
                <a:ea typeface="Calibri"/>
                <a:cs typeface="Calibri"/>
              </a:rPr>
              <a:t>Are the discovered rules genuine within-era climate signal, or are they era-membership artefacts introduced by imperfect linear detrending?</a:t>
            </a:r>
          </a:p>
          <a:p>
            <a:pPr>
              <a:buNone/>
              <a:defRPr sz="1425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endParaRPr lang="en-GB" sz="1400" b="1" noProof="0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slide9-goal2-label">
            <a:extLst>
              <a:ext uri="{FF2B5EF4-FFF2-40B4-BE49-F238E27FC236}">
                <a16:creationId xmlns:a16="http://schemas.microsoft.com/office/drawing/2014/main" id="{8D01C6DC-437D-46AB-8068-6C12199C2D08}"/>
              </a:ext>
            </a:extLst>
          </p:cNvPr>
          <p:cNvSpPr>
            <a:spLocks noGrp="1"/>
          </p:cNvSpPr>
          <p:nvPr/>
        </p:nvSpPr>
        <p:spPr>
          <a:xfrm>
            <a:off x="6686550" y="1459593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EE6A2E"/>
                </a:solidFill>
                <a:latin typeface="Arial"/>
                <a:ea typeface="Arial"/>
                <a:cs typeface="Arial"/>
              </a:defRPr>
            </a:pPr>
            <a:r>
              <a:rPr lang="en-GB" sz="1350" b="1" noProof="0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GOAL 2</a:t>
            </a:r>
          </a:p>
        </p:txBody>
      </p:sp>
      <p:sp>
        <p:nvSpPr>
          <p:cNvPr id="25" name="slide9-goal2-title">
            <a:extLst>
              <a:ext uri="{FF2B5EF4-FFF2-40B4-BE49-F238E27FC236}">
                <a16:creationId xmlns:a16="http://schemas.microsoft.com/office/drawing/2014/main" id="{22008273-BAF7-44C6-9043-44D5B6EC0837}"/>
              </a:ext>
            </a:extLst>
          </p:cNvPr>
          <p:cNvSpPr>
            <a:spLocks noGrp="1"/>
          </p:cNvSpPr>
          <p:nvPr/>
        </p:nvSpPr>
        <p:spPr>
          <a:xfrm>
            <a:off x="6686550" y="1908466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2775" b="1" noProof="0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VALIDATE (prediction)</a:t>
            </a:r>
          </a:p>
        </p:txBody>
      </p:sp>
      <p:sp>
        <p:nvSpPr>
          <p:cNvPr id="26" name="slide9-goal2-question">
            <a:extLst>
              <a:ext uri="{FF2B5EF4-FFF2-40B4-BE49-F238E27FC236}">
                <a16:creationId xmlns:a16="http://schemas.microsoft.com/office/drawing/2014/main" id="{A77FD0EF-0C0C-476D-8B54-164CDC6C09A7}"/>
              </a:ext>
            </a:extLst>
          </p:cNvPr>
          <p:cNvSpPr>
            <a:spLocks noGrp="1"/>
          </p:cNvSpPr>
          <p:nvPr/>
        </p:nvSpPr>
        <p:spPr>
          <a:xfrm>
            <a:off x="6686550" y="2624442"/>
            <a:ext cx="5036344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just">
              <a:buNone/>
              <a:defRPr sz="18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Can rule-based models beat the</a:t>
            </a:r>
          </a:p>
          <a:p>
            <a:pPr algn="just">
              <a:buNone/>
              <a:defRPr sz="18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historical median in genuine future</a:t>
            </a:r>
          </a:p>
          <a:p>
            <a:pPr algn="just">
              <a:buNone/>
              <a:defRPr sz="18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periods?</a:t>
            </a:r>
          </a:p>
        </p:txBody>
      </p:sp>
      <p:sp>
        <p:nvSpPr>
          <p:cNvPr id="27" name="slide9-goal2-rqs">
            <a:extLst>
              <a:ext uri="{FF2B5EF4-FFF2-40B4-BE49-F238E27FC236}">
                <a16:creationId xmlns:a16="http://schemas.microsoft.com/office/drawing/2014/main" id="{25DAFA97-702E-4AD4-B403-32677357FE90}"/>
              </a:ext>
            </a:extLst>
          </p:cNvPr>
          <p:cNvSpPr>
            <a:spLocks noGrp="1"/>
          </p:cNvSpPr>
          <p:nvPr/>
        </p:nvSpPr>
        <p:spPr>
          <a:xfrm>
            <a:off x="6686550" y="3689407"/>
            <a:ext cx="5010150" cy="19649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GB" sz="1400" b="1" noProof="0" dirty="0">
                <a:solidFill>
                  <a:srgbClr val="60656C"/>
                </a:solidFill>
                <a:latin typeface="Arial"/>
                <a:ea typeface="Arial"/>
                <a:cs typeface="Arial"/>
              </a:rPr>
              <a:t>RQ3 · </a:t>
            </a:r>
            <a:r>
              <a:rPr lang="en-GB" sz="1200" i="1" noProof="0" dirty="0">
                <a:solidFill>
                  <a:srgbClr val="1A2A3A"/>
                </a:solidFill>
              </a:rPr>
              <a:t>Can rule-based models (CarenR, RIPPER, M5Rules) outperform a Naive Median baseline in walk-forward prediction of detrended production residuals?</a:t>
            </a:r>
          </a:p>
          <a:p>
            <a:endParaRPr lang="en-GB" sz="1400" i="1" noProof="0" dirty="0">
              <a:solidFill>
                <a:srgbClr val="1A2A3A"/>
              </a:solidFill>
            </a:endParaRPr>
          </a:p>
          <a:p>
            <a:endParaRPr lang="en-GB" sz="1400" i="1" noProof="0" dirty="0">
              <a:solidFill>
                <a:srgbClr val="1A2A3A"/>
              </a:solidFill>
            </a:endParaRPr>
          </a:p>
          <a:p>
            <a:pPr>
              <a:defRPr sz="1425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60656C"/>
                </a:solidFill>
                <a:latin typeface="Arial"/>
                <a:ea typeface="Arial"/>
                <a:cs typeface="Arial"/>
              </a:rPr>
              <a:t>RQ4 · </a:t>
            </a:r>
            <a:r>
              <a:rPr lang="en-GB" sz="1200" i="1" noProof="0" dirty="0">
                <a:solidFill>
                  <a:srgbClr val="1A2A3A"/>
                </a:solidFill>
                <a:latin typeface="Calibri"/>
                <a:ea typeface="Calibri"/>
                <a:cs typeface="Calibri"/>
              </a:rPr>
              <a:t>What structural conditions (era composition, detrend quality, signal strength) determine when rule-based prediction succeeds or fails?</a:t>
            </a:r>
          </a:p>
          <a:p>
            <a:pPr>
              <a:buNone/>
              <a:defRPr sz="1425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endParaRPr lang="en-GB" sz="1400" b="1" noProof="0" dirty="0">
              <a:solidFill>
                <a:srgbClr val="60656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221938CC-400F-EFA7-AE18-430146CD6238}"/>
              </a:ext>
            </a:extLst>
          </p:cNvPr>
          <p:cNvSpPr>
            <a:spLocks noGrp="1"/>
          </p:cNvSpPr>
          <p:nvPr/>
        </p:nvSpPr>
        <p:spPr>
          <a:xfrm rot="16200000">
            <a:off x="330821" y="3793794"/>
            <a:ext cx="876301" cy="536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GB" sz="1067" b="1" i="1" noProof="0" dirty="0">
                <a:solidFill>
                  <a:srgbClr val="0D7377"/>
                </a:solidFill>
                <a:latin typeface="Calibri"/>
                <a:ea typeface="Calibri"/>
                <a:cs typeface="Calibri"/>
              </a:rPr>
              <a:t>Discovery </a:t>
            </a:r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0FEF3729-98BD-C591-6512-33BA93ED9F42}"/>
              </a:ext>
            </a:extLst>
          </p:cNvPr>
          <p:cNvSpPr>
            <a:spLocks noGrp="1"/>
          </p:cNvSpPr>
          <p:nvPr/>
        </p:nvSpPr>
        <p:spPr>
          <a:xfrm rot="16200000">
            <a:off x="278933" y="4738739"/>
            <a:ext cx="980077" cy="536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GB" sz="1067" b="1" i="1" noProof="0" dirty="0">
                <a:solidFill>
                  <a:srgbClr val="2E4A7C"/>
                </a:solidFill>
                <a:latin typeface="Calibri"/>
                <a:ea typeface="Calibri"/>
                <a:cs typeface="Calibri"/>
              </a:rPr>
              <a:t>Validation</a:t>
            </a:r>
          </a:p>
        </p:txBody>
      </p:sp>
      <p:sp>
        <p:nvSpPr>
          <p:cNvPr id="32" name="Text 18">
            <a:extLst>
              <a:ext uri="{FF2B5EF4-FFF2-40B4-BE49-F238E27FC236}">
                <a16:creationId xmlns:a16="http://schemas.microsoft.com/office/drawing/2014/main" id="{DA3416E1-8C0A-9C4D-3252-26290430A71D}"/>
              </a:ext>
            </a:extLst>
          </p:cNvPr>
          <p:cNvSpPr>
            <a:spLocks noGrp="1"/>
          </p:cNvSpPr>
          <p:nvPr/>
        </p:nvSpPr>
        <p:spPr>
          <a:xfrm rot="16200000">
            <a:off x="6111273" y="3698601"/>
            <a:ext cx="857250" cy="536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GB" sz="1067" b="1" i="1" noProof="0" dirty="0">
                <a:solidFill>
                  <a:srgbClr val="1B2B45"/>
                </a:solidFill>
                <a:latin typeface="Calibri"/>
                <a:ea typeface="Calibri"/>
                <a:cs typeface="Calibri"/>
              </a:rPr>
              <a:t>Prediction</a:t>
            </a: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C7CAB297-0421-ADC4-A91E-C54A2C208896}"/>
              </a:ext>
            </a:extLst>
          </p:cNvPr>
          <p:cNvSpPr>
            <a:spLocks noGrp="1"/>
          </p:cNvSpPr>
          <p:nvPr/>
        </p:nvSpPr>
        <p:spPr>
          <a:xfrm rot="16200000">
            <a:off x="6123546" y="4665110"/>
            <a:ext cx="857250" cy="536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GB" sz="1067" b="1" i="1" noProof="0" dirty="0">
                <a:solidFill>
                  <a:srgbClr val="B03A2E"/>
                </a:solidFill>
                <a:latin typeface="Calibri"/>
                <a:ea typeface="Calibri"/>
                <a:cs typeface="Calibri"/>
              </a:rPr>
              <a:t>Diagnosis</a:t>
            </a:r>
          </a:p>
        </p:txBody>
      </p:sp>
      <p:sp>
        <p:nvSpPr>
          <p:cNvPr id="40" name="Text 25">
            <a:extLst>
              <a:ext uri="{FF2B5EF4-FFF2-40B4-BE49-F238E27FC236}">
                <a16:creationId xmlns:a16="http://schemas.microsoft.com/office/drawing/2014/main" id="{24C978E9-AB08-DE07-3C03-391B43A6F663}"/>
              </a:ext>
            </a:extLst>
          </p:cNvPr>
          <p:cNvSpPr>
            <a:spLocks noGrp="1"/>
          </p:cNvSpPr>
          <p:nvPr/>
        </p:nvSpPr>
        <p:spPr>
          <a:xfrm>
            <a:off x="601980" y="5970864"/>
            <a:ext cx="11094720" cy="463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GB" sz="1400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RQ1 </a:t>
            </a:r>
            <a:r>
              <a:rPr lang="en-GB" sz="1400" b="1" noProof="0" dirty="0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✓ Achieved   </a:t>
            </a:r>
            <a:r>
              <a:rPr lang="en-GB" sz="1400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·   RQ2 </a:t>
            </a:r>
            <a:r>
              <a:rPr lang="en-GB" sz="1400" b="1" noProof="0" dirty="0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✓ Validated by LOESS  </a:t>
            </a:r>
            <a:r>
              <a:rPr lang="en-GB" sz="1400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 ·   RQ3 </a:t>
            </a:r>
            <a:r>
              <a:rPr lang="en-GB" sz="1400" b="1" noProof="0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✗ Not achieved in aggregate </a:t>
            </a:r>
            <a:r>
              <a:rPr lang="en-GB" sz="1400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  ·   RQ4 </a:t>
            </a:r>
            <a:r>
              <a:rPr lang="en-GB" sz="1400" b="1" noProof="0" dirty="0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✓ Explained by Two-Decision Framework</a:t>
            </a:r>
          </a:p>
        </p:txBody>
      </p:sp>
    </p:spTree>
    <p:extLst>
      <p:ext uri="{BB962C8B-B14F-4D97-AF65-F5344CB8AC3E}">
        <p14:creationId xmlns:p14="http://schemas.microsoft.com/office/powerpoint/2010/main" val="1758495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entagon 17">
            <a:extLst>
              <a:ext uri="{FF2B5EF4-FFF2-40B4-BE49-F238E27FC236}">
                <a16:creationId xmlns:a16="http://schemas.microsoft.com/office/drawing/2014/main" id="{0F772BBF-27BF-C93E-BE15-73A16566D339}"/>
              </a:ext>
            </a:extLst>
          </p:cNvPr>
          <p:cNvSpPr>
            <a:spLocks noGrp="1"/>
          </p:cNvSpPr>
          <p:nvPr/>
        </p:nvSpPr>
        <p:spPr>
          <a:xfrm>
            <a:off x="4309822" y="1926940"/>
            <a:ext cx="3572356" cy="2810410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en-GB" noProof="0" dirty="0"/>
          </a:p>
        </p:txBody>
      </p:sp>
      <p:sp>
        <p:nvSpPr>
          <p:cNvPr id="17" name="Pentagon 16">
            <a:extLst>
              <a:ext uri="{FF2B5EF4-FFF2-40B4-BE49-F238E27FC236}">
                <a16:creationId xmlns:a16="http://schemas.microsoft.com/office/drawing/2014/main" id="{465A2075-D300-23C6-8FA4-F90D2E944B83}"/>
              </a:ext>
            </a:extLst>
          </p:cNvPr>
          <p:cNvSpPr>
            <a:spLocks noGrp="1"/>
          </p:cNvSpPr>
          <p:nvPr/>
        </p:nvSpPr>
        <p:spPr>
          <a:xfrm>
            <a:off x="442060" y="1926940"/>
            <a:ext cx="3572356" cy="2810410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en-GB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DD2E6F-8C2E-4F2A-974B-DDDDC1B2CA2A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STUDY DESIGN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6B4D77-7C92-4747-8CFF-E037A732255B}"/>
              </a:ext>
            </a:extLst>
          </p:cNvPr>
          <p:cNvSpPr>
            <a:spLocks noGrp="1"/>
          </p:cNvSpPr>
          <p:nvPr/>
        </p:nvSpPr>
        <p:spPr>
          <a:xfrm>
            <a:off x="400049" y="552450"/>
            <a:ext cx="11643561" cy="7810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3600" noProof="0" dirty="0"/>
              <a:t>A controlled comparison isolates the role of data structure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48BE71-38CB-4488-8113-ECE3EA12E0E9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A84AED-9033-4229-9348-6C1737B8F9C7}"/>
              </a:ext>
            </a:extLst>
          </p:cNvPr>
          <p:cNvSpPr>
            <a:spLocks noGrp="1"/>
          </p:cNvSpPr>
          <p:nvPr/>
        </p:nvSpPr>
        <p:spPr>
          <a:xfrm>
            <a:off x="604466" y="2356100"/>
            <a:ext cx="171450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accent2"/>
                </a:solidFill>
              </a:rPr>
              <a:t>SAME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F1B518-CFC7-448A-ADB1-56AF71E33566}"/>
              </a:ext>
            </a:extLst>
          </p:cNvPr>
          <p:cNvSpPr>
            <a:spLocks noGrp="1"/>
          </p:cNvSpPr>
          <p:nvPr/>
        </p:nvSpPr>
        <p:spPr>
          <a:xfrm>
            <a:off x="604466" y="2927600"/>
            <a:ext cx="2952750" cy="1809750"/>
          </a:xfrm>
          <a:prstGeom prst="rect">
            <a:avLst/>
          </a:prstGeom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Feature engineering
Detrending logic
Rule learners
Evaluation metric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197C70-67D5-4C64-AF01-FC6A51E41321}"/>
              </a:ext>
            </a:extLst>
          </p:cNvPr>
          <p:cNvSpPr>
            <a:spLocks noGrp="1"/>
          </p:cNvSpPr>
          <p:nvPr/>
        </p:nvSpPr>
        <p:spPr>
          <a:xfrm>
            <a:off x="4639156" y="2356100"/>
            <a:ext cx="190500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accent2"/>
                </a:solidFill>
              </a:rPr>
              <a:t>DIFFERENT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B472A9-A525-4858-98B8-EB1452E86328}"/>
              </a:ext>
            </a:extLst>
          </p:cNvPr>
          <p:cNvSpPr>
            <a:spLocks noGrp="1"/>
          </p:cNvSpPr>
          <p:nvPr/>
        </p:nvSpPr>
        <p:spPr>
          <a:xfrm>
            <a:off x="4639156" y="2927600"/>
            <a:ext cx="2952750" cy="1809750"/>
          </a:xfrm>
          <a:prstGeom prst="rect">
            <a:avLst/>
          </a:prstGeom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Climate regime
Structural trajectory
Noise level
Era composition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D6DB48-E23A-443A-BE28-E108FFFDF07B}"/>
              </a:ext>
            </a:extLst>
          </p:cNvPr>
          <p:cNvSpPr>
            <a:spLocks noGrp="1"/>
          </p:cNvSpPr>
          <p:nvPr/>
        </p:nvSpPr>
        <p:spPr>
          <a:xfrm>
            <a:off x="8096250" y="1524000"/>
            <a:ext cx="3333750" cy="371475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8C0179-CD2E-4C56-8DEA-0201BABB399E}"/>
              </a:ext>
            </a:extLst>
          </p:cNvPr>
          <p:cNvSpPr>
            <a:spLocks noGrp="1"/>
          </p:cNvSpPr>
          <p:nvPr/>
        </p:nvSpPr>
        <p:spPr>
          <a:xfrm>
            <a:off x="8429625" y="1857375"/>
            <a:ext cx="2571750" cy="8572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353210-76A2-4998-95EA-CA4DDB493AAF}"/>
              </a:ext>
            </a:extLst>
          </p:cNvPr>
          <p:cNvSpPr>
            <a:spLocks noGrp="1"/>
          </p:cNvSpPr>
          <p:nvPr/>
        </p:nvSpPr>
        <p:spPr>
          <a:xfrm>
            <a:off x="8429625" y="2647950"/>
            <a:ext cx="2571750" cy="381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regions</a:t>
            </a:r>
          </a:p>
        </p:txBody>
      </p:sp>
      <p:cxnSp>
        <p:nvCxnSpPr>
          <p:cNvPr id="188" name="Straight Arrow Connector 135"/>
          <p:cNvCxnSpPr/>
          <p:nvPr/>
        </p:nvCxnSpPr>
        <p:spPr>
          <a:xfrm>
            <a:off x="8429625" y="3257550"/>
            <a:ext cx="2524125" cy="953"/>
          </a:xfrm>
          <a:prstGeom prst="straightConnector1">
            <a:avLst/>
          </a:prstGeom>
          <a:ln w="38100">
            <a:solidFill>
              <a:schemeClr val="accent2"/>
            </a:solidFill>
            <a:prstDash val="solid"/>
          </a:ln>
        </p:spPr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2A5AD17-3BB2-4150-BB73-3A1872B6D533}"/>
              </a:ext>
            </a:extLst>
          </p:cNvPr>
          <p:cNvSpPr>
            <a:spLocks noGrp="1"/>
          </p:cNvSpPr>
          <p:nvPr/>
        </p:nvSpPr>
        <p:spPr>
          <a:xfrm>
            <a:off x="8429625" y="3571875"/>
            <a:ext cx="2571750" cy="590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89 + 80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E6F9C4-9DBE-46A9-B730-BA02B1333379}"/>
              </a:ext>
            </a:extLst>
          </p:cNvPr>
          <p:cNvSpPr>
            <a:spLocks noGrp="1"/>
          </p:cNvSpPr>
          <p:nvPr/>
        </p:nvSpPr>
        <p:spPr>
          <a:xfrm>
            <a:off x="8429625" y="4238625"/>
            <a:ext cx="2571750" cy="333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annual observations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51DD13-E77D-4F48-A8BA-75749E2EAC78}"/>
              </a:ext>
            </a:extLst>
          </p:cNvPr>
          <p:cNvSpPr>
            <a:spLocks noGrp="1"/>
          </p:cNvSpPr>
          <p:nvPr/>
        </p:nvSpPr>
        <p:spPr>
          <a:xfrm>
            <a:off x="356142" y="5572660"/>
            <a:ext cx="11479716" cy="666750"/>
          </a:xfrm>
          <a:prstGeom prst="rect">
            <a:avLst/>
          </a:prstGeom>
        </p:spPr>
        <p:txBody>
          <a:bodyPr lIns="0" tIns="0" rIns="0" bIns="0" anchor="t">
            <a:normAutofit fontScale="98646"/>
          </a:bodyPr>
          <a:lstStyle/>
          <a:p>
            <a:pPr algn="l">
              <a:buNone/>
              <a:defRPr sz="24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accent2"/>
                </a:solidFill>
              </a:rPr>
              <a:t>THE CONTRAST TURNS TWO CASE STUDIES INTO A NATURAL EXPERIMENT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724364-CB5F-E925-2BBF-F43B23ED5044}"/>
              </a:ext>
            </a:extLst>
          </p:cNvPr>
          <p:cNvSpPr txBox="1"/>
          <p:nvPr/>
        </p:nvSpPr>
        <p:spPr>
          <a:xfrm>
            <a:off x="1720452" y="6014883"/>
            <a:ext cx="96474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DIVERGENT RESULTS BECOME EVIDENCE ABOUT DATA STRUCTURE, NOT MODELLING CHOICES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0112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A08FD44-1015-46D6-8F63-7C4C38682C2F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ALGORITHMS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07663B-C646-4431-9207-C6AEF67EACE1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</p:spPr>
        <p:txBody>
          <a:bodyPr lIns="0" tIns="0" rIns="0" bIns="0" anchor="t">
            <a:normAutofit fontScale="97916"/>
          </a:bodyPr>
          <a:lstStyle/>
          <a:p>
            <a:pPr algn="l">
              <a:buNone/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u="sng" noProof="0" dirty="0"/>
              <a:t>CarenR</a:t>
            </a:r>
            <a:r>
              <a:rPr lang="en-GB" noProof="0" dirty="0"/>
              <a:t> is the </a:t>
            </a:r>
            <a:r>
              <a:rPr lang="en-GB" u="sng" noProof="0" dirty="0"/>
              <a:t>primary</a:t>
            </a:r>
            <a:r>
              <a:rPr lang="en-GB" noProof="0" dirty="0"/>
              <a:t> lens among five model families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84679D-FD78-4A8C-B621-155288704D63}"/>
              </a:ext>
            </a:extLst>
          </p:cNvPr>
          <p:cNvSpPr>
            <a:spLocks noGrp="1"/>
          </p:cNvSpPr>
          <p:nvPr/>
        </p:nvSpPr>
        <p:spPr>
          <a:xfrm>
            <a:off x="400050" y="2023446"/>
            <a:ext cx="6858000" cy="4524375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98D154-78C0-4C70-A9D2-6DCC8E597B30}"/>
              </a:ext>
            </a:extLst>
          </p:cNvPr>
          <p:cNvSpPr>
            <a:spLocks noGrp="1"/>
          </p:cNvSpPr>
          <p:nvPr/>
        </p:nvSpPr>
        <p:spPr>
          <a:xfrm>
            <a:off x="590550" y="1689300"/>
            <a:ext cx="180975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563A6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PRIMARY METHOD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5071B9-8F1B-4FD7-B68E-0F36B2FDB7AC}"/>
              </a:ext>
            </a:extLst>
          </p:cNvPr>
          <p:cNvSpPr>
            <a:spLocks noGrp="1"/>
          </p:cNvSpPr>
          <p:nvPr/>
        </p:nvSpPr>
        <p:spPr>
          <a:xfrm>
            <a:off x="685800" y="2269591"/>
            <a:ext cx="2381250" cy="5238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1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CarenR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DD85E5-6D6B-4313-AD74-7AF7F037EF49}"/>
              </a:ext>
            </a:extLst>
          </p:cNvPr>
          <p:cNvSpPr>
            <a:spLocks noGrp="1"/>
          </p:cNvSpPr>
          <p:nvPr/>
        </p:nvSpPr>
        <p:spPr>
          <a:xfrm>
            <a:off x="3143250" y="2412466"/>
            <a:ext cx="3667125" cy="323850"/>
          </a:xfrm>
          <a:prstGeom prst="rect">
            <a:avLst/>
          </a:prstGeom>
        </p:spPr>
        <p:txBody>
          <a:bodyPr lIns="0" tIns="0" rIns="0" bIns="0" anchor="t">
            <a:normAutofit fontScale="91161"/>
          </a:bodyPr>
          <a:lstStyle/>
          <a:p>
            <a:pPr algn="l">
              <a:buNone/>
              <a:defRPr sz="1650" b="1">
                <a:solidFill>
                  <a:srgbClr val="2269AE"/>
                </a:solidFill>
                <a:latin typeface="Arial"/>
                <a:ea typeface="Arial"/>
                <a:cs typeface="Arial"/>
              </a:defRPr>
            </a:pPr>
            <a:r>
              <a:rPr lang="en-GB" sz="1650" b="1" noProof="0" dirty="0">
                <a:solidFill>
                  <a:srgbClr val="2269AE"/>
                </a:solidFill>
                <a:latin typeface="Arial"/>
                <a:ea typeface="Arial"/>
                <a:cs typeface="Arial"/>
              </a:rPr>
              <a:t>Distributional rules + prediction variants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04CF94-5D4E-48C8-A0D7-A2D78174BF55}"/>
              </a:ext>
            </a:extLst>
          </p:cNvPr>
          <p:cNvSpPr>
            <a:spLocks noGrp="1"/>
          </p:cNvSpPr>
          <p:nvPr/>
        </p:nvSpPr>
        <p:spPr>
          <a:xfrm>
            <a:off x="714375" y="3198527"/>
            <a:ext cx="285750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2563A6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3C315C-5E47-4AE3-95BC-7817F3F31D3B}"/>
              </a:ext>
            </a:extLst>
          </p:cNvPr>
          <p:cNvSpPr>
            <a:spLocks noGrp="1"/>
          </p:cNvSpPr>
          <p:nvPr/>
        </p:nvSpPr>
        <p:spPr>
          <a:xfrm>
            <a:off x="1066800" y="3198527"/>
            <a:ext cx="1285875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Discretise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007DEA-0229-4B80-B599-47E8F4D4411D}"/>
              </a:ext>
            </a:extLst>
          </p:cNvPr>
          <p:cNvSpPr>
            <a:spLocks noGrp="1"/>
          </p:cNvSpPr>
          <p:nvPr/>
        </p:nvSpPr>
        <p:spPr>
          <a:xfrm>
            <a:off x="2381250" y="3198527"/>
            <a:ext cx="4333875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Climate features become equal-frequency bins.</a:t>
            </a:r>
          </a:p>
        </p:txBody>
      </p:sp>
      <p:cxnSp>
        <p:nvCxnSpPr>
          <p:cNvPr id="731" name="Straight Arrow Connector 654"/>
          <p:cNvCxnSpPr/>
          <p:nvPr/>
        </p:nvCxnSpPr>
        <p:spPr>
          <a:xfrm>
            <a:off x="838200" y="3550952"/>
            <a:ext cx="953" cy="323850"/>
          </a:xfrm>
          <a:prstGeom prst="straightConnector1">
            <a:avLst/>
          </a:prstGeom>
          <a:ln w="28575">
            <a:solidFill>
              <a:srgbClr val="2563A6"/>
            </a:solidFill>
            <a:prstDash val="solid"/>
          </a:ln>
        </p:spPr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3A409D9-BA5F-4725-AD8C-83CB1A578202}"/>
              </a:ext>
            </a:extLst>
          </p:cNvPr>
          <p:cNvSpPr>
            <a:spLocks noGrp="1"/>
          </p:cNvSpPr>
          <p:nvPr/>
        </p:nvSpPr>
        <p:spPr>
          <a:xfrm>
            <a:off x="714375" y="3912902"/>
            <a:ext cx="285750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2563A6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72473F-CD40-4956-9705-24738BD5F900}"/>
              </a:ext>
            </a:extLst>
          </p:cNvPr>
          <p:cNvSpPr>
            <a:spLocks noGrp="1"/>
          </p:cNvSpPr>
          <p:nvPr/>
        </p:nvSpPr>
        <p:spPr>
          <a:xfrm>
            <a:off x="1066800" y="3912902"/>
            <a:ext cx="1285875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Search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510A53-7D6A-4C8A-84BB-D76D106A8126}"/>
              </a:ext>
            </a:extLst>
          </p:cNvPr>
          <p:cNvSpPr>
            <a:spLocks noGrp="1"/>
          </p:cNvSpPr>
          <p:nvPr/>
        </p:nvSpPr>
        <p:spPr>
          <a:xfrm>
            <a:off x="2381250" y="3912902"/>
            <a:ext cx="4333875" cy="3048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75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sz="1500" noProof="0" dirty="0"/>
              <a:t>Level-wise search (</a:t>
            </a:r>
            <a:r>
              <a:rPr lang="en-GB" sz="1500" noProof="0" dirty="0" err="1"/>
              <a:t>Apriori</a:t>
            </a:r>
            <a:r>
              <a:rPr lang="en-GB" sz="1500" noProof="0" dirty="0"/>
              <a:t>-style) combines feature-bin conditions.</a:t>
            </a:r>
          </a:p>
        </p:txBody>
      </p:sp>
      <p:cxnSp>
        <p:nvCxnSpPr>
          <p:cNvPr id="735" name="Straight Arrow Connector 658"/>
          <p:cNvCxnSpPr/>
          <p:nvPr/>
        </p:nvCxnSpPr>
        <p:spPr>
          <a:xfrm>
            <a:off x="838200" y="4265327"/>
            <a:ext cx="953" cy="323850"/>
          </a:xfrm>
          <a:prstGeom prst="straightConnector1">
            <a:avLst/>
          </a:prstGeom>
          <a:ln w="28575">
            <a:solidFill>
              <a:srgbClr val="2563A6"/>
            </a:solidFill>
            <a:prstDash val="solid"/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F17C4DE-6BD6-43DC-A7FF-2363E0A24B6A}"/>
              </a:ext>
            </a:extLst>
          </p:cNvPr>
          <p:cNvSpPr>
            <a:spLocks noGrp="1"/>
          </p:cNvSpPr>
          <p:nvPr/>
        </p:nvSpPr>
        <p:spPr>
          <a:xfrm>
            <a:off x="714375" y="4627277"/>
            <a:ext cx="285750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2563A6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5187112-7BE1-412B-BC25-ED899F4E4D5E}"/>
              </a:ext>
            </a:extLst>
          </p:cNvPr>
          <p:cNvSpPr>
            <a:spLocks noGrp="1"/>
          </p:cNvSpPr>
          <p:nvPr/>
        </p:nvSpPr>
        <p:spPr>
          <a:xfrm>
            <a:off x="1066800" y="4627277"/>
            <a:ext cx="1285875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Compare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E9CDE2-5E88-42B6-9AE2-3F956178F783}"/>
              </a:ext>
            </a:extLst>
          </p:cNvPr>
          <p:cNvSpPr>
            <a:spLocks noGrp="1"/>
          </p:cNvSpPr>
          <p:nvPr/>
        </p:nvSpPr>
        <p:spPr>
          <a:xfrm>
            <a:off x="2381250" y="4627277"/>
            <a:ext cx="4333875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KS test: subgroup residuals vs global residuals.</a:t>
            </a:r>
          </a:p>
        </p:txBody>
      </p:sp>
      <p:cxnSp>
        <p:nvCxnSpPr>
          <p:cNvPr id="739" name="Straight Arrow Connector 662"/>
          <p:cNvCxnSpPr/>
          <p:nvPr/>
        </p:nvCxnSpPr>
        <p:spPr>
          <a:xfrm>
            <a:off x="838200" y="4979702"/>
            <a:ext cx="953" cy="323850"/>
          </a:xfrm>
          <a:prstGeom prst="straightConnector1">
            <a:avLst/>
          </a:prstGeom>
          <a:ln w="28575">
            <a:solidFill>
              <a:srgbClr val="2563A6"/>
            </a:solidFill>
            <a:prstDash val="solid"/>
          </a:ln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38D01D2C-03BF-4DCB-B1D6-7DFFE9BAB247}"/>
              </a:ext>
            </a:extLst>
          </p:cNvPr>
          <p:cNvSpPr>
            <a:spLocks noGrp="1"/>
          </p:cNvSpPr>
          <p:nvPr/>
        </p:nvSpPr>
        <p:spPr>
          <a:xfrm>
            <a:off x="714375" y="5341652"/>
            <a:ext cx="285750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2563A6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996DFCF-5EFE-4C4E-AA2D-83FDD117F395}"/>
              </a:ext>
            </a:extLst>
          </p:cNvPr>
          <p:cNvSpPr>
            <a:spLocks noGrp="1"/>
          </p:cNvSpPr>
          <p:nvPr/>
        </p:nvSpPr>
        <p:spPr>
          <a:xfrm>
            <a:off x="1066800" y="5341652"/>
            <a:ext cx="1285875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Retain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FB3703-3680-476C-93C2-127A43164427}"/>
              </a:ext>
            </a:extLst>
          </p:cNvPr>
          <p:cNvSpPr>
            <a:spLocks noGrp="1"/>
          </p:cNvSpPr>
          <p:nvPr/>
        </p:nvSpPr>
        <p:spPr>
          <a:xfrm>
            <a:off x="2381250" y="5341652"/>
            <a:ext cx="4333875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Keep significant rules with sufficient support.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2445A9-DE58-4F17-865B-E18BD55DB754}"/>
              </a:ext>
            </a:extLst>
          </p:cNvPr>
          <p:cNvSpPr>
            <a:spLocks noGrp="1"/>
          </p:cNvSpPr>
          <p:nvPr/>
        </p:nvSpPr>
        <p:spPr>
          <a:xfrm>
            <a:off x="685800" y="5926688"/>
            <a:ext cx="6000750" cy="285750"/>
          </a:xfrm>
          <a:prstGeom prst="rect">
            <a:avLst/>
          </a:prstGeom>
          <a:solidFill>
            <a:srgbClr val="2563A6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919960-1641-490B-A9A3-55D306CE0C3C}"/>
              </a:ext>
            </a:extLst>
          </p:cNvPr>
          <p:cNvSpPr>
            <a:spLocks noGrp="1"/>
          </p:cNvSpPr>
          <p:nvPr/>
        </p:nvSpPr>
        <p:spPr>
          <a:xfrm>
            <a:off x="838200" y="5983838"/>
            <a:ext cx="57150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OUTPUT  ·  IF climate conditions  →  shifted production-residual distribution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6D4E54D-A5F1-4770-BD3C-2107D2655207}"/>
              </a:ext>
            </a:extLst>
          </p:cNvPr>
          <p:cNvSpPr>
            <a:spLocks noGrp="1"/>
          </p:cNvSpPr>
          <p:nvPr/>
        </p:nvSpPr>
        <p:spPr>
          <a:xfrm>
            <a:off x="7715249" y="1752737"/>
            <a:ext cx="3397399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COMPARATORS – specific roles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06037D9-DFEC-4812-808A-4E7CB7034B32}"/>
              </a:ext>
            </a:extLst>
          </p:cNvPr>
          <p:cNvSpPr>
            <a:spLocks noGrp="1"/>
          </p:cNvSpPr>
          <p:nvPr/>
        </p:nvSpPr>
        <p:spPr>
          <a:xfrm>
            <a:off x="7715250" y="2006400"/>
            <a:ext cx="4076700" cy="781050"/>
          </a:xfrm>
          <a:prstGeom prst="rect">
            <a:avLst/>
          </a:prstGeom>
          <a:solidFill>
            <a:srgbClr val="F0F1F2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0C4DF85-C753-4A16-86DA-2A92744FB260}"/>
              </a:ext>
            </a:extLst>
          </p:cNvPr>
          <p:cNvSpPr>
            <a:spLocks noGrp="1"/>
          </p:cNvSpPr>
          <p:nvPr/>
        </p:nvSpPr>
        <p:spPr>
          <a:xfrm>
            <a:off x="7953375" y="2273832"/>
            <a:ext cx="1095375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RIPPER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F90E92F-EB87-4359-AF83-5114DDBDD0DE}"/>
              </a:ext>
            </a:extLst>
          </p:cNvPr>
          <p:cNvSpPr>
            <a:spLocks noGrp="1"/>
          </p:cNvSpPr>
          <p:nvPr/>
        </p:nvSpPr>
        <p:spPr>
          <a:xfrm>
            <a:off x="9239250" y="2216682"/>
            <a:ext cx="2266950" cy="4953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38" b="0">
                <a:solidFill>
                  <a:srgbClr val="6B6E73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Rule learner + prediction comparator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F0CBD0F-FA7D-40BE-9D97-B4DBBCC28D47}"/>
              </a:ext>
            </a:extLst>
          </p:cNvPr>
          <p:cNvSpPr>
            <a:spLocks noGrp="1"/>
          </p:cNvSpPr>
          <p:nvPr/>
        </p:nvSpPr>
        <p:spPr>
          <a:xfrm>
            <a:off x="7715250" y="3002515"/>
            <a:ext cx="4076700" cy="781050"/>
          </a:xfrm>
          <a:prstGeom prst="rect">
            <a:avLst/>
          </a:prstGeom>
          <a:solidFill>
            <a:srgbClr val="F0F1F2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C13C4A-23B9-4127-A97B-424493CC4561}"/>
              </a:ext>
            </a:extLst>
          </p:cNvPr>
          <p:cNvSpPr>
            <a:spLocks noGrp="1"/>
          </p:cNvSpPr>
          <p:nvPr/>
        </p:nvSpPr>
        <p:spPr>
          <a:xfrm>
            <a:off x="7953375" y="3294012"/>
            <a:ext cx="114300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M5Rules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BA9B414-F435-49BB-BB79-57A48BCDB405}"/>
              </a:ext>
            </a:extLst>
          </p:cNvPr>
          <p:cNvSpPr>
            <a:spLocks noGrp="1"/>
          </p:cNvSpPr>
          <p:nvPr/>
        </p:nvSpPr>
        <p:spPr>
          <a:xfrm>
            <a:off x="9239250" y="3294012"/>
            <a:ext cx="2266950" cy="4286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38" b="0">
                <a:solidFill>
                  <a:srgbClr val="6B6E73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Rule learner + prediction comparator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3BE02B3-B024-4AD0-87DD-A91217473D7B}"/>
              </a:ext>
            </a:extLst>
          </p:cNvPr>
          <p:cNvSpPr>
            <a:spLocks noGrp="1"/>
          </p:cNvSpPr>
          <p:nvPr/>
        </p:nvSpPr>
        <p:spPr>
          <a:xfrm>
            <a:off x="7715250" y="3998630"/>
            <a:ext cx="4076700" cy="781050"/>
          </a:xfrm>
          <a:prstGeom prst="rect">
            <a:avLst/>
          </a:prstGeom>
          <a:solidFill>
            <a:srgbClr val="F5E9ED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9ACD4E6-3800-4991-8ACB-A435F5CB1445}"/>
              </a:ext>
            </a:extLst>
          </p:cNvPr>
          <p:cNvSpPr>
            <a:spLocks noGrp="1"/>
          </p:cNvSpPr>
          <p:nvPr/>
        </p:nvSpPr>
        <p:spPr>
          <a:xfrm>
            <a:off x="7953375" y="4300401"/>
            <a:ext cx="1285875" cy="247650"/>
          </a:xfrm>
          <a:prstGeom prst="rect">
            <a:avLst/>
          </a:prstGeom>
        </p:spPr>
        <p:txBody>
          <a:bodyPr lIns="0" tIns="0" rIns="0" bIns="0" anchor="t">
            <a:normAutofit fontScale="98064"/>
          </a:bodyPr>
          <a:lstStyle/>
          <a:p>
            <a:pPr algn="l">
              <a:buNone/>
              <a:defRPr sz="157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Decision Tree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3B99BAA-1081-4A8B-82B7-712236139009}"/>
              </a:ext>
            </a:extLst>
          </p:cNvPr>
          <p:cNvSpPr>
            <a:spLocks noGrp="1"/>
          </p:cNvSpPr>
          <p:nvPr/>
        </p:nvSpPr>
        <p:spPr>
          <a:xfrm>
            <a:off x="9429750" y="4243251"/>
            <a:ext cx="2076450" cy="4953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38" b="0">
                <a:solidFill>
                  <a:srgbClr val="6B6E73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Prediction-only non-rule ML comparator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E973BE0-90E9-4085-A534-FD2E2B8A754E}"/>
              </a:ext>
            </a:extLst>
          </p:cNvPr>
          <p:cNvSpPr>
            <a:spLocks noGrp="1"/>
          </p:cNvSpPr>
          <p:nvPr/>
        </p:nvSpPr>
        <p:spPr>
          <a:xfrm>
            <a:off x="7715250" y="4994746"/>
            <a:ext cx="4076700" cy="781050"/>
          </a:xfrm>
          <a:prstGeom prst="rect">
            <a:avLst/>
          </a:prstGeom>
          <a:solidFill>
            <a:srgbClr val="F4E9ED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1194DCF-3E0C-47F5-B24A-CAC77810E15A}"/>
              </a:ext>
            </a:extLst>
          </p:cNvPr>
          <p:cNvSpPr>
            <a:spLocks noGrp="1"/>
          </p:cNvSpPr>
          <p:nvPr/>
        </p:nvSpPr>
        <p:spPr>
          <a:xfrm>
            <a:off x="7953375" y="5274483"/>
            <a:ext cx="1381125" cy="247650"/>
          </a:xfrm>
          <a:prstGeom prst="rect">
            <a:avLst/>
          </a:prstGeom>
        </p:spPr>
        <p:txBody>
          <a:bodyPr lIns="0" tIns="0" rIns="0" bIns="0" anchor="t">
            <a:normAutofit fontScale="92036"/>
          </a:bodyPr>
          <a:lstStyle/>
          <a:p>
            <a:pPr algn="l">
              <a:buNone/>
              <a:defRPr sz="15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Naive baselines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2B7F7E4-6EE0-44A5-B19D-C67F3FAEC8A8}"/>
              </a:ext>
            </a:extLst>
          </p:cNvPr>
          <p:cNvSpPr>
            <a:spLocks noGrp="1"/>
          </p:cNvSpPr>
          <p:nvPr/>
        </p:nvSpPr>
        <p:spPr>
          <a:xfrm>
            <a:off x="9477375" y="5274483"/>
            <a:ext cx="2028825" cy="4953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38" b="0">
                <a:solidFill>
                  <a:srgbClr val="6B6E73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Prediction-only references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6207C93-AE02-41AD-9243-5078C18690B0}"/>
              </a:ext>
            </a:extLst>
          </p:cNvPr>
          <p:cNvSpPr>
            <a:spLocks noGrp="1"/>
          </p:cNvSpPr>
          <p:nvPr/>
        </p:nvSpPr>
        <p:spPr>
          <a:xfrm>
            <a:off x="7715250" y="5952257"/>
            <a:ext cx="4048125" cy="5143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76283E"/>
                </a:solidFill>
                <a:latin typeface="Arial"/>
                <a:ea typeface="Arial"/>
                <a:cs typeface="Arial"/>
              </a:defRPr>
            </a:pPr>
            <a:r>
              <a:rPr lang="en-GB" sz="105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Roles: CarenR links rules + prediction; RIPPER/M5Rules cross-check rules; Decision Tree and naïve baselines test prediction only.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F8E6DE-1640-4178-A5F0-71950DF53A7C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11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491E04-F868-3B96-685A-8644ED3DC42A}"/>
              </a:ext>
            </a:extLst>
          </p:cNvPr>
          <p:cNvSpPr txBox="1"/>
          <p:nvPr/>
        </p:nvSpPr>
        <p:spPr>
          <a:xfrm>
            <a:off x="400050" y="1024421"/>
            <a:ext cx="114871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defRPr/>
            </a:pPr>
            <a:r>
              <a:rPr lang="en-GB" sz="1100" b="1" i="0" kern="1200" dirty="0">
                <a:effectLst/>
              </a:rPr>
              <a:t>CAREN - Classification project Association Rule Engine </a:t>
            </a:r>
            <a:r>
              <a:rPr lang="en-GB" sz="1100" i="0" kern="1200" dirty="0">
                <a:effectLst/>
              </a:rPr>
              <a:t>– P</a:t>
            </a:r>
            <a:r>
              <a:rPr lang="en-GB" sz="1100" dirty="0"/>
              <a:t>aulo Azevedo -  Departamento de </a:t>
            </a:r>
            <a:r>
              <a:rPr lang="en-GB" sz="1100" dirty="0" err="1"/>
              <a:t>Informática</a:t>
            </a:r>
            <a:r>
              <a:rPr lang="en-GB" sz="1100" dirty="0"/>
              <a:t> da </a:t>
            </a:r>
            <a:r>
              <a:rPr lang="en-GB" sz="1100" dirty="0" err="1"/>
              <a:t>Universidade</a:t>
            </a:r>
            <a:r>
              <a:rPr lang="en-GB" sz="1100" dirty="0"/>
              <a:t> do Minho (</a:t>
            </a:r>
            <a:r>
              <a:rPr lang="en-GB" sz="1100" dirty="0" err="1"/>
              <a:t>UMinho</a:t>
            </a:r>
            <a:r>
              <a:rPr lang="en-GB" sz="1100" dirty="0"/>
              <a:t>) – 2003 + Alipio Jorge LIACC/</a:t>
            </a:r>
            <a:r>
              <a:rPr lang="en-GB" sz="1100" dirty="0" err="1"/>
              <a:t>Universidade</a:t>
            </a:r>
            <a:r>
              <a:rPr lang="en-GB" sz="1100" dirty="0"/>
              <a:t> do Porto 2006</a:t>
            </a:r>
            <a:endParaRPr lang="en-GB" sz="1100" i="0" kern="1200" dirty="0">
              <a:effectLst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3EFFAA-4FBD-742E-CCCB-DD9BFEBE6ACA}"/>
              </a:ext>
            </a:extLst>
          </p:cNvPr>
          <p:cNvSpPr>
            <a:spLocks noGrp="1"/>
          </p:cNvSpPr>
          <p:nvPr/>
        </p:nvSpPr>
        <p:spPr>
          <a:xfrm rot="16200000">
            <a:off x="6533398" y="2796484"/>
            <a:ext cx="1906501" cy="266700"/>
          </a:xfrm>
          <a:prstGeom prst="rect">
            <a:avLst/>
          </a:prstGeom>
          <a:solidFill>
            <a:srgbClr val="F0F1F2"/>
          </a:solidFill>
          <a:ln w="0">
            <a:noFill/>
            <a:prstDash val="solid"/>
          </a:ln>
        </p:spPr>
        <p:txBody>
          <a:bodyPr/>
          <a:lstStyle/>
          <a:p>
            <a:pPr algn="ctr"/>
            <a:r>
              <a:rPr lang="en-GB" sz="1100" i="1" noProof="0" dirty="0"/>
              <a:t>Rules &amp; Predictive validations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302B46B-83B6-2AE3-A5A7-5F36BD67AF97}"/>
              </a:ext>
            </a:extLst>
          </p:cNvPr>
          <p:cNvSpPr>
            <a:spLocks noGrp="1"/>
          </p:cNvSpPr>
          <p:nvPr/>
        </p:nvSpPr>
        <p:spPr>
          <a:xfrm rot="16200000">
            <a:off x="6598066" y="4753862"/>
            <a:ext cx="1777165" cy="266700"/>
          </a:xfrm>
          <a:prstGeom prst="rect">
            <a:avLst/>
          </a:prstGeom>
          <a:solidFill>
            <a:srgbClr val="F4E9EE"/>
          </a:solidFill>
          <a:ln w="0">
            <a:noFill/>
            <a:prstDash val="solid"/>
          </a:ln>
        </p:spPr>
        <p:txBody>
          <a:bodyPr/>
          <a:lstStyle/>
          <a:p>
            <a:pPr algn="ctr"/>
            <a:r>
              <a:rPr lang="en-GB" sz="1100" i="1" noProof="0" dirty="0"/>
              <a:t>Only predictive validation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34A80710-1479-7988-BC68-65D42FDFEE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618" b="-1"/>
          <a:stretch>
            <a:fillRect/>
          </a:stretch>
        </p:blipFill>
        <p:spPr>
          <a:xfrm>
            <a:off x="4388675" y="296682"/>
            <a:ext cx="7772400" cy="620406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017622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60013-F38C-665B-A99D-25CF346F4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7E18039B-99F4-18FA-6C32-8E612A18EA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8" t="-618" r="26524" b="22749"/>
          <a:stretch>
            <a:fillRect/>
          </a:stretch>
        </p:blipFill>
        <p:spPr>
          <a:xfrm>
            <a:off x="1314631" y="1348072"/>
            <a:ext cx="5600340" cy="4929680"/>
          </a:xfrm>
          <a:prstGeom prst="rect">
            <a:avLst/>
          </a:prstGeom>
          <a:effectLst/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A48D65D-10F6-1457-383D-82F5A270CEBF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ALGORITHMS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0C271F-493C-318F-D870-BE6BB7B099F9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</p:spPr>
        <p:txBody>
          <a:bodyPr lIns="0" tIns="0" rIns="0" bIns="0" anchor="t">
            <a:normAutofit fontScale="97916"/>
          </a:bodyPr>
          <a:lstStyle/>
          <a:p>
            <a:pPr algn="l">
              <a:buNone/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u="sng" noProof="0" dirty="0"/>
              <a:t>CarenR</a:t>
            </a:r>
            <a:r>
              <a:rPr lang="en-GB" noProof="0" dirty="0"/>
              <a:t> is the </a:t>
            </a:r>
            <a:r>
              <a:rPr lang="en-GB" u="sng" noProof="0" dirty="0"/>
              <a:t>primary</a:t>
            </a:r>
            <a:r>
              <a:rPr lang="en-GB" noProof="0" dirty="0"/>
              <a:t> lens among five model families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F63A0D-97C6-E8EF-AA25-C68C7DB2682B}"/>
              </a:ext>
            </a:extLst>
          </p:cNvPr>
          <p:cNvSpPr>
            <a:spLocks noGrp="1"/>
          </p:cNvSpPr>
          <p:nvPr/>
        </p:nvSpPr>
        <p:spPr>
          <a:xfrm>
            <a:off x="6459590" y="1369894"/>
            <a:ext cx="180975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563A6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PRIMARY METHOD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628688-D8D2-BB29-19A0-E49BC5926F76}"/>
              </a:ext>
            </a:extLst>
          </p:cNvPr>
          <p:cNvSpPr>
            <a:spLocks noGrp="1"/>
          </p:cNvSpPr>
          <p:nvPr/>
        </p:nvSpPr>
        <p:spPr>
          <a:xfrm>
            <a:off x="8077200" y="1350823"/>
            <a:ext cx="3667125" cy="323850"/>
          </a:xfrm>
          <a:prstGeom prst="rect">
            <a:avLst/>
          </a:prstGeom>
        </p:spPr>
        <p:txBody>
          <a:bodyPr lIns="0" tIns="0" rIns="0" bIns="0" anchor="t">
            <a:normAutofit fontScale="91161"/>
          </a:bodyPr>
          <a:lstStyle/>
          <a:p>
            <a:pPr algn="l">
              <a:buNone/>
              <a:defRPr sz="1650" b="1">
                <a:solidFill>
                  <a:srgbClr val="2269AE"/>
                </a:solidFill>
                <a:latin typeface="Arial"/>
                <a:ea typeface="Arial"/>
                <a:cs typeface="Arial"/>
              </a:defRPr>
            </a:pPr>
            <a:r>
              <a:rPr lang="en-GB" sz="1650" b="1" noProof="0" dirty="0">
                <a:solidFill>
                  <a:srgbClr val="2269AE"/>
                </a:solidFill>
                <a:latin typeface="Arial"/>
                <a:ea typeface="Arial"/>
                <a:cs typeface="Arial"/>
              </a:rPr>
              <a:t>Distributional rules + prediction variants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A28043-CD17-EF9C-6170-30CB19F94DB3}"/>
              </a:ext>
            </a:extLst>
          </p:cNvPr>
          <p:cNvSpPr>
            <a:spLocks noGrp="1"/>
          </p:cNvSpPr>
          <p:nvPr/>
        </p:nvSpPr>
        <p:spPr>
          <a:xfrm>
            <a:off x="184907" y="2106644"/>
            <a:ext cx="1285875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buNone/>
              <a:defRPr sz="17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1400" noProof="0" dirty="0">
                <a:solidFill>
                  <a:srgbClr val="7D1F3F"/>
                </a:solidFill>
              </a:rPr>
              <a:t>DISCRETISE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C42CCC-7CED-BA88-24DA-622251FA39F2}"/>
              </a:ext>
            </a:extLst>
          </p:cNvPr>
          <p:cNvSpPr>
            <a:spLocks noGrp="1"/>
          </p:cNvSpPr>
          <p:nvPr/>
        </p:nvSpPr>
        <p:spPr>
          <a:xfrm>
            <a:off x="184907" y="3315522"/>
            <a:ext cx="1285875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buNone/>
              <a:defRPr sz="17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1600" noProof="0" dirty="0">
                <a:solidFill>
                  <a:srgbClr val="2E6F9F"/>
                </a:solidFill>
              </a:rPr>
              <a:t>SEARCH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7D7408-FE49-B852-5216-C3F0FC577EE8}"/>
              </a:ext>
            </a:extLst>
          </p:cNvPr>
          <p:cNvSpPr>
            <a:spLocks noGrp="1"/>
          </p:cNvSpPr>
          <p:nvPr/>
        </p:nvSpPr>
        <p:spPr>
          <a:xfrm>
            <a:off x="184907" y="4570133"/>
            <a:ext cx="1285875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buNone/>
              <a:defRPr sz="17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1600" noProof="0" dirty="0">
                <a:solidFill>
                  <a:srgbClr val="B8860B"/>
                </a:solidFill>
              </a:rPr>
              <a:t>COMPARE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B01B8F2-C1C5-0307-4B34-1D83B090F138}"/>
              </a:ext>
            </a:extLst>
          </p:cNvPr>
          <p:cNvSpPr>
            <a:spLocks noGrp="1"/>
          </p:cNvSpPr>
          <p:nvPr/>
        </p:nvSpPr>
        <p:spPr>
          <a:xfrm>
            <a:off x="184907" y="5779011"/>
            <a:ext cx="1285875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buNone/>
              <a:defRPr sz="17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1600" noProof="0" dirty="0">
                <a:solidFill>
                  <a:srgbClr val="2E8B57"/>
                </a:solidFill>
              </a:rPr>
              <a:t>RETAIN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6BB989-D31A-7941-6C12-201B0532FA79}"/>
              </a:ext>
            </a:extLst>
          </p:cNvPr>
          <p:cNvSpPr>
            <a:spLocks noGrp="1"/>
          </p:cNvSpPr>
          <p:nvPr/>
        </p:nvSpPr>
        <p:spPr>
          <a:xfrm>
            <a:off x="1171575" y="6397147"/>
            <a:ext cx="6000750" cy="285750"/>
          </a:xfrm>
          <a:prstGeom prst="rect">
            <a:avLst/>
          </a:prstGeom>
          <a:solidFill>
            <a:srgbClr val="2563A6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B0135E8-99F5-FFEC-ACDD-C836DCA21591}"/>
              </a:ext>
            </a:extLst>
          </p:cNvPr>
          <p:cNvSpPr>
            <a:spLocks noGrp="1"/>
          </p:cNvSpPr>
          <p:nvPr/>
        </p:nvSpPr>
        <p:spPr>
          <a:xfrm>
            <a:off x="1323975" y="6454297"/>
            <a:ext cx="57150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OUTPUT  ·  IF climate conditions  →  shifted production-residual distribution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60D151-69B1-D446-8DBE-B6922F60E590}"/>
              </a:ext>
            </a:extLst>
          </p:cNvPr>
          <p:cNvSpPr>
            <a:spLocks noGrp="1"/>
          </p:cNvSpPr>
          <p:nvPr/>
        </p:nvSpPr>
        <p:spPr>
          <a:xfrm>
            <a:off x="7715249" y="1693745"/>
            <a:ext cx="3397399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COMPARATORS – specific roles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E8F719-75F2-B44E-460C-F2ECA452CB62}"/>
              </a:ext>
            </a:extLst>
          </p:cNvPr>
          <p:cNvSpPr>
            <a:spLocks noGrp="1"/>
          </p:cNvSpPr>
          <p:nvPr/>
        </p:nvSpPr>
        <p:spPr>
          <a:xfrm>
            <a:off x="7715250" y="1947408"/>
            <a:ext cx="4076700" cy="781050"/>
          </a:xfrm>
          <a:prstGeom prst="rect">
            <a:avLst/>
          </a:prstGeom>
          <a:solidFill>
            <a:srgbClr val="F0F1F2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1FD84B-3513-4B83-5F85-9E7CFB2ACB9B}"/>
              </a:ext>
            </a:extLst>
          </p:cNvPr>
          <p:cNvSpPr>
            <a:spLocks noGrp="1"/>
          </p:cNvSpPr>
          <p:nvPr/>
        </p:nvSpPr>
        <p:spPr>
          <a:xfrm>
            <a:off x="7953375" y="2214840"/>
            <a:ext cx="1095375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RIPPER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18D26A-E1A9-EB71-3B7D-5E08D9DCC35A}"/>
              </a:ext>
            </a:extLst>
          </p:cNvPr>
          <p:cNvSpPr>
            <a:spLocks noGrp="1"/>
          </p:cNvSpPr>
          <p:nvPr/>
        </p:nvSpPr>
        <p:spPr>
          <a:xfrm>
            <a:off x="9239250" y="2157690"/>
            <a:ext cx="2266950" cy="4953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38" b="0">
                <a:solidFill>
                  <a:srgbClr val="6B6E73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Rule learner + prediction comparator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F2F2F4-C43B-061F-C913-C749E805BDD0}"/>
              </a:ext>
            </a:extLst>
          </p:cNvPr>
          <p:cNvSpPr>
            <a:spLocks noGrp="1"/>
          </p:cNvSpPr>
          <p:nvPr/>
        </p:nvSpPr>
        <p:spPr>
          <a:xfrm>
            <a:off x="7715250" y="2943523"/>
            <a:ext cx="4076700" cy="781050"/>
          </a:xfrm>
          <a:prstGeom prst="rect">
            <a:avLst/>
          </a:prstGeom>
          <a:solidFill>
            <a:srgbClr val="F0F1F2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85066A5-FB19-F56C-1301-381C44951928}"/>
              </a:ext>
            </a:extLst>
          </p:cNvPr>
          <p:cNvSpPr>
            <a:spLocks noGrp="1"/>
          </p:cNvSpPr>
          <p:nvPr/>
        </p:nvSpPr>
        <p:spPr>
          <a:xfrm>
            <a:off x="7953375" y="3235020"/>
            <a:ext cx="114300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M5Rules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3332854-FA30-4223-F13E-33DE61F2B5AB}"/>
              </a:ext>
            </a:extLst>
          </p:cNvPr>
          <p:cNvSpPr>
            <a:spLocks noGrp="1"/>
          </p:cNvSpPr>
          <p:nvPr/>
        </p:nvSpPr>
        <p:spPr>
          <a:xfrm>
            <a:off x="9239250" y="3235020"/>
            <a:ext cx="2266950" cy="4286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38" b="0">
                <a:solidFill>
                  <a:srgbClr val="6B6E73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Rule learner + prediction comparator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ABEDA0-C085-3E07-C6C5-10C969839674}"/>
              </a:ext>
            </a:extLst>
          </p:cNvPr>
          <p:cNvSpPr>
            <a:spLocks noGrp="1"/>
          </p:cNvSpPr>
          <p:nvPr/>
        </p:nvSpPr>
        <p:spPr>
          <a:xfrm>
            <a:off x="7715250" y="3939638"/>
            <a:ext cx="4076700" cy="781050"/>
          </a:xfrm>
          <a:prstGeom prst="rect">
            <a:avLst/>
          </a:prstGeom>
          <a:solidFill>
            <a:srgbClr val="F5E9ED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5A5EA23-BA11-13C6-410B-69732895FF41}"/>
              </a:ext>
            </a:extLst>
          </p:cNvPr>
          <p:cNvSpPr>
            <a:spLocks noGrp="1"/>
          </p:cNvSpPr>
          <p:nvPr/>
        </p:nvSpPr>
        <p:spPr>
          <a:xfrm>
            <a:off x="7953375" y="4241409"/>
            <a:ext cx="1285875" cy="247650"/>
          </a:xfrm>
          <a:prstGeom prst="rect">
            <a:avLst/>
          </a:prstGeom>
        </p:spPr>
        <p:txBody>
          <a:bodyPr lIns="0" tIns="0" rIns="0" bIns="0" anchor="t">
            <a:normAutofit fontScale="98064"/>
          </a:bodyPr>
          <a:lstStyle/>
          <a:p>
            <a:pPr algn="l">
              <a:buNone/>
              <a:defRPr sz="157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Decision Tree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E3E25F-92CD-76C3-81C3-9474E53D0E72}"/>
              </a:ext>
            </a:extLst>
          </p:cNvPr>
          <p:cNvSpPr>
            <a:spLocks noGrp="1"/>
          </p:cNvSpPr>
          <p:nvPr/>
        </p:nvSpPr>
        <p:spPr>
          <a:xfrm>
            <a:off x="9429750" y="4184259"/>
            <a:ext cx="2076450" cy="4953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38" b="0">
                <a:solidFill>
                  <a:srgbClr val="6B6E73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Prediction-only non-rule ML comparator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F626884-04B3-8B37-1245-93EA36B76A72}"/>
              </a:ext>
            </a:extLst>
          </p:cNvPr>
          <p:cNvSpPr>
            <a:spLocks noGrp="1"/>
          </p:cNvSpPr>
          <p:nvPr/>
        </p:nvSpPr>
        <p:spPr>
          <a:xfrm>
            <a:off x="7715250" y="4935754"/>
            <a:ext cx="4076700" cy="781050"/>
          </a:xfrm>
          <a:prstGeom prst="rect">
            <a:avLst/>
          </a:prstGeom>
          <a:solidFill>
            <a:srgbClr val="F4E9ED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3BC6E60-ECC7-DAF8-1E1D-8A415298C02B}"/>
              </a:ext>
            </a:extLst>
          </p:cNvPr>
          <p:cNvSpPr>
            <a:spLocks noGrp="1"/>
          </p:cNvSpPr>
          <p:nvPr/>
        </p:nvSpPr>
        <p:spPr>
          <a:xfrm>
            <a:off x="7953375" y="5215491"/>
            <a:ext cx="1381125" cy="247650"/>
          </a:xfrm>
          <a:prstGeom prst="rect">
            <a:avLst/>
          </a:prstGeom>
        </p:spPr>
        <p:txBody>
          <a:bodyPr lIns="0" tIns="0" rIns="0" bIns="0" anchor="t">
            <a:normAutofit fontScale="92036"/>
          </a:bodyPr>
          <a:lstStyle/>
          <a:p>
            <a:pPr algn="l">
              <a:buNone/>
              <a:defRPr sz="15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Naive baselines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9E54C36-DB0F-29B9-DD77-5124ACFC3986}"/>
              </a:ext>
            </a:extLst>
          </p:cNvPr>
          <p:cNvSpPr>
            <a:spLocks noGrp="1"/>
          </p:cNvSpPr>
          <p:nvPr/>
        </p:nvSpPr>
        <p:spPr>
          <a:xfrm>
            <a:off x="9477375" y="5215491"/>
            <a:ext cx="2028825" cy="4953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38" b="0">
                <a:solidFill>
                  <a:srgbClr val="6B6E73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Prediction-only references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7C4B217-429C-E4BA-7F20-298EF8DCE38C}"/>
              </a:ext>
            </a:extLst>
          </p:cNvPr>
          <p:cNvSpPr>
            <a:spLocks noGrp="1"/>
          </p:cNvSpPr>
          <p:nvPr/>
        </p:nvSpPr>
        <p:spPr>
          <a:xfrm>
            <a:off x="7715250" y="5893265"/>
            <a:ext cx="4048125" cy="5143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76283E"/>
                </a:solidFill>
                <a:latin typeface="Arial"/>
                <a:ea typeface="Arial"/>
                <a:cs typeface="Arial"/>
              </a:defRPr>
            </a:pPr>
            <a:r>
              <a:rPr lang="en-GB" sz="105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Roles: CarenR links rules + prediction; RIPPER/M5Rules cross-check rules; Decision Tree and naïve baselines test prediction only.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9BB784-395E-E59B-EEA2-A1A68441CD9F}"/>
              </a:ext>
            </a:extLst>
          </p:cNvPr>
          <p:cNvSpPr>
            <a:spLocks noGrp="1"/>
          </p:cNvSpPr>
          <p:nvPr/>
        </p:nvSpPr>
        <p:spPr>
          <a:xfrm>
            <a:off x="11287125" y="6322758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11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D66CB3-B4B9-2CC9-7374-36ED48C468AD}"/>
              </a:ext>
            </a:extLst>
          </p:cNvPr>
          <p:cNvSpPr txBox="1"/>
          <p:nvPr/>
        </p:nvSpPr>
        <p:spPr>
          <a:xfrm>
            <a:off x="400050" y="1024421"/>
            <a:ext cx="114871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defRPr/>
            </a:pPr>
            <a:r>
              <a:rPr lang="en-GB" sz="1100" b="1" i="0" kern="1200" dirty="0">
                <a:effectLst/>
              </a:rPr>
              <a:t>CAREN - Classification project Association Rule Engine </a:t>
            </a:r>
            <a:r>
              <a:rPr lang="en-GB" sz="1100" i="0" kern="1200" dirty="0">
                <a:effectLst/>
              </a:rPr>
              <a:t>– P</a:t>
            </a:r>
            <a:r>
              <a:rPr lang="en-GB" sz="1100" dirty="0"/>
              <a:t>aulo Azevedo -  Departamento de </a:t>
            </a:r>
            <a:r>
              <a:rPr lang="en-GB" sz="1100" dirty="0" err="1"/>
              <a:t>Informática</a:t>
            </a:r>
            <a:r>
              <a:rPr lang="en-GB" sz="1100" dirty="0"/>
              <a:t> da </a:t>
            </a:r>
            <a:r>
              <a:rPr lang="en-GB" sz="1100" dirty="0" err="1"/>
              <a:t>Universidade</a:t>
            </a:r>
            <a:r>
              <a:rPr lang="en-GB" sz="1100" dirty="0"/>
              <a:t> do Minho (</a:t>
            </a:r>
            <a:r>
              <a:rPr lang="en-GB" sz="1100" dirty="0" err="1"/>
              <a:t>UMinho</a:t>
            </a:r>
            <a:r>
              <a:rPr lang="en-GB" sz="1100" dirty="0"/>
              <a:t>) – 2003 + Alipio Jorge LIACC/</a:t>
            </a:r>
            <a:r>
              <a:rPr lang="en-GB" sz="1100" dirty="0" err="1"/>
              <a:t>Universidade</a:t>
            </a:r>
            <a:r>
              <a:rPr lang="en-GB" sz="1100" dirty="0"/>
              <a:t> do Porto 2006</a:t>
            </a:r>
            <a:endParaRPr lang="en-GB" sz="1100" i="0" kern="1200" dirty="0">
              <a:effectLst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9C4E8E-6F00-D6F3-141B-351087B194F9}"/>
              </a:ext>
            </a:extLst>
          </p:cNvPr>
          <p:cNvSpPr>
            <a:spLocks noGrp="1"/>
          </p:cNvSpPr>
          <p:nvPr/>
        </p:nvSpPr>
        <p:spPr>
          <a:xfrm rot="16200000">
            <a:off x="6533398" y="2737492"/>
            <a:ext cx="1906501" cy="266700"/>
          </a:xfrm>
          <a:prstGeom prst="rect">
            <a:avLst/>
          </a:prstGeom>
          <a:solidFill>
            <a:srgbClr val="F0F1F2"/>
          </a:solidFill>
          <a:ln w="0">
            <a:noFill/>
            <a:prstDash val="solid"/>
          </a:ln>
        </p:spPr>
        <p:txBody>
          <a:bodyPr/>
          <a:lstStyle/>
          <a:p>
            <a:pPr algn="ctr"/>
            <a:r>
              <a:rPr lang="en-GB" sz="1100" i="1" noProof="0" dirty="0"/>
              <a:t>Rules &amp; Predictive validations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8108820-702D-296E-34CB-C25F14DF2525}"/>
              </a:ext>
            </a:extLst>
          </p:cNvPr>
          <p:cNvSpPr>
            <a:spLocks noGrp="1"/>
          </p:cNvSpPr>
          <p:nvPr/>
        </p:nvSpPr>
        <p:spPr>
          <a:xfrm rot="16200000">
            <a:off x="6598066" y="4694870"/>
            <a:ext cx="1777165" cy="266700"/>
          </a:xfrm>
          <a:prstGeom prst="rect">
            <a:avLst/>
          </a:prstGeom>
          <a:solidFill>
            <a:srgbClr val="F4E9EE"/>
          </a:solidFill>
          <a:ln w="0">
            <a:noFill/>
            <a:prstDash val="solid"/>
          </a:ln>
        </p:spPr>
        <p:txBody>
          <a:bodyPr/>
          <a:lstStyle/>
          <a:p>
            <a:pPr algn="ctr"/>
            <a:r>
              <a:rPr lang="en-GB" sz="1100" i="1" noProof="0" dirty="0"/>
              <a:t>Only predictive validation</a:t>
            </a:r>
          </a:p>
        </p:txBody>
      </p:sp>
    </p:spTree>
    <p:extLst>
      <p:ext uri="{BB962C8B-B14F-4D97-AF65-F5344CB8AC3E}">
        <p14:creationId xmlns:p14="http://schemas.microsoft.com/office/powerpoint/2010/main" val="3307523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325144A-1585-4407-BE50-12168B67CBDA}"/>
              </a:ext>
            </a:extLst>
          </p:cNvPr>
          <p:cNvSpPr>
            <a:spLocks noGrp="1"/>
          </p:cNvSpPr>
          <p:nvPr/>
        </p:nvSpPr>
        <p:spPr>
          <a:xfrm>
            <a:off x="660600" y="1252096"/>
            <a:ext cx="10870799" cy="685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600" noProof="0" dirty="0">
                <a:solidFill>
                  <a:schemeClr val="accent2"/>
                </a:solidFill>
              </a:rPr>
              <a:t>DO YEARS MATCHING THESE CLIMATE CONDITIONS HAVE A PRODUCTION-RESIDUAL DISTRIBUTION THAT DIFFERS FROM ALL YEARS?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974E71-CB8D-4FB8-9877-3808ABB7797D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Goal 1 finds statistically exceptional subgroups</a:t>
            </a:r>
          </a:p>
        </p:txBody>
      </p:sp>
      <p:sp>
        <p:nvSpPr>
          <p:cNvPr id="60" name="slide11-stray-text-cover">
            <a:extLst>
              <a:ext uri="{FF2B5EF4-FFF2-40B4-BE49-F238E27FC236}">
                <a16:creationId xmlns:a16="http://schemas.microsoft.com/office/drawing/2014/main" id="{49FBF974-8943-4348-B3EA-528B119FDF90}"/>
              </a:ext>
            </a:extLst>
          </p:cNvPr>
          <p:cNvSpPr>
            <a:spLocks noGrp="1"/>
          </p:cNvSpPr>
          <p:nvPr/>
        </p:nvSpPr>
        <p:spPr>
          <a:xfrm>
            <a:off x="6843070" y="5094983"/>
            <a:ext cx="5191125" cy="3619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pic>
        <p:nvPicPr>
          <p:cNvPr id="124" name="Picture 8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9629" y="2536934"/>
            <a:ext cx="4857489" cy="28122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5" name="slide11-clean-audit-card">
            <a:extLst>
              <a:ext uri="{FF2B5EF4-FFF2-40B4-BE49-F238E27FC236}">
                <a16:creationId xmlns:a16="http://schemas.microsoft.com/office/drawing/2014/main" id="{C8B5CCD5-ACF4-41BA-AAB1-C35C67B28D34}"/>
              </a:ext>
            </a:extLst>
          </p:cNvPr>
          <p:cNvSpPr>
            <a:spLocks noGrp="1"/>
          </p:cNvSpPr>
          <p:nvPr/>
        </p:nvSpPr>
        <p:spPr>
          <a:xfrm>
            <a:off x="479630" y="5517712"/>
            <a:ext cx="10871580" cy="1019050"/>
          </a:xfrm>
          <a:prstGeom prst="roundRect">
            <a:avLst>
              <a:gd name="adj" fmla="val 3947"/>
            </a:avLst>
          </a:prstGeom>
          <a:solidFill>
            <a:schemeClr val="tx1">
              <a:lumMod val="50000"/>
              <a:lumOff val="50000"/>
              <a:alpha val="13374"/>
            </a:schemeClr>
          </a:solidFill>
          <a:ln w="1143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96A13C2-82FD-4BE3-B3A7-CAC763BA7FC3}"/>
              </a:ext>
            </a:extLst>
          </p:cNvPr>
          <p:cNvSpPr>
            <a:spLocks noGrp="1"/>
          </p:cNvSpPr>
          <p:nvPr/>
        </p:nvSpPr>
        <p:spPr>
          <a:xfrm>
            <a:off x="655662" y="5596365"/>
            <a:ext cx="2910004" cy="2928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C99A3E"/>
                </a:solidFill>
              </a:defRPr>
            </a:pPr>
            <a:r>
              <a:rPr lang="en-GB" sz="1600" b="1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RULE YOU CAN AUDIT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2C196E9-289E-42D7-B941-70F9D0E60781}"/>
              </a:ext>
            </a:extLst>
          </p:cNvPr>
          <p:cNvSpPr>
            <a:spLocks noGrp="1"/>
          </p:cNvSpPr>
          <p:nvPr/>
        </p:nvSpPr>
        <p:spPr>
          <a:xfrm>
            <a:off x="1199957" y="5889187"/>
            <a:ext cx="5109178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>
                <a:solidFill>
                  <a:srgbClr val="171313"/>
                </a:solidFill>
              </a:defRPr>
            </a:pPr>
            <a:r>
              <a:rPr lang="en-GB" sz="2000" b="1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IF</a:t>
            </a:r>
            <a:r>
              <a:rPr lang="en-GB" sz="1400" noProof="0" dirty="0">
                <a:solidFill>
                  <a:srgbClr val="171313"/>
                </a:solidFill>
              </a:rPr>
              <a:t> </a:t>
            </a:r>
            <a:r>
              <a:rPr lang="en-GB" sz="1400" noProof="0" dirty="0">
                <a:solidFill>
                  <a:srgbClr val="C00000"/>
                </a:solidFill>
              </a:rPr>
              <a:t>dry post-flowering </a:t>
            </a:r>
            <a:r>
              <a:rPr lang="en-GB" sz="2000" b="1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AND</a:t>
            </a:r>
            <a:r>
              <a:rPr lang="en-GB" sz="1400" noProof="0" dirty="0">
                <a:solidFill>
                  <a:srgbClr val="171313"/>
                </a:solidFill>
              </a:rPr>
              <a:t> </a:t>
            </a:r>
            <a:r>
              <a:rPr lang="en-GB" sz="1400" noProof="0" dirty="0">
                <a:solidFill>
                  <a:srgbClr val="00B0F0"/>
                </a:solidFill>
              </a:rPr>
              <a:t>dry post-maturity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9C3ACF3-58DC-41AD-AEA7-835146124EF4}"/>
              </a:ext>
            </a:extLst>
          </p:cNvPr>
          <p:cNvSpPr>
            <a:spLocks noGrp="1"/>
          </p:cNvSpPr>
          <p:nvPr/>
        </p:nvSpPr>
        <p:spPr>
          <a:xfrm>
            <a:off x="6843070" y="5970252"/>
            <a:ext cx="31560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2F7D4D"/>
                </a:solidFill>
              </a:defRPr>
            </a:pPr>
            <a:r>
              <a:rPr lang="en-GB" sz="2000" b="1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THEN</a:t>
            </a:r>
            <a:r>
              <a:rPr lang="en-GB" sz="1400" b="1" noProof="0" dirty="0">
                <a:solidFill>
                  <a:srgbClr val="2F7D4D"/>
                </a:solidFill>
              </a:rPr>
              <a:t> +121 mhl above trend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304F2A1-B38D-4F3B-BC02-B8AA7A947CA4}"/>
              </a:ext>
            </a:extLst>
          </p:cNvPr>
          <p:cNvSpPr>
            <a:spLocks noGrp="1"/>
          </p:cNvSpPr>
          <p:nvPr/>
        </p:nvSpPr>
        <p:spPr>
          <a:xfrm>
            <a:off x="4900757" y="6216922"/>
            <a:ext cx="2029326" cy="1463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63" i="1">
                <a:solidFill>
                  <a:srgbClr val="6F6761"/>
                </a:solidFill>
              </a:defRPr>
            </a:pPr>
            <a:r>
              <a:rPr lang="en-GB" sz="1200" i="1" noProof="0" dirty="0">
                <a:solidFill>
                  <a:srgbClr val="6F6761"/>
                </a:solidFill>
              </a:rPr>
              <a:t>support 28% · p = 0.004</a:t>
            </a:r>
          </a:p>
        </p:txBody>
      </p:sp>
      <p:pic>
        <p:nvPicPr>
          <p:cNvPr id="131" name="Picture 18"/>
          <p:cNvPicPr>
            <a:picLocks noChangeAspect="1"/>
          </p:cNvPicPr>
          <p:nvPr/>
        </p:nvPicPr>
        <p:blipFill>
          <a:blip r:embed="rId4"/>
          <a:srcRect t="9066"/>
          <a:stretch>
            <a:fillRect/>
          </a:stretch>
        </p:blipFill>
        <p:spPr>
          <a:xfrm>
            <a:off x="6369766" y="2747826"/>
            <a:ext cx="4981443" cy="25572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32" name="Elbow Connector 21"/>
          <p:cNvCxnSpPr>
            <a:cxnSpLocks/>
          </p:cNvCxnSpPr>
          <p:nvPr/>
        </p:nvCxnSpPr>
        <p:spPr>
          <a:xfrm rot="5400000" flipH="1" flipV="1">
            <a:off x="7571794" y="4764259"/>
            <a:ext cx="1544740" cy="867247"/>
          </a:xfrm>
          <a:prstGeom prst="bentConnector3">
            <a:avLst>
              <a:gd name="adj1" fmla="val 18054"/>
            </a:avLst>
          </a:prstGeom>
          <a:ln>
            <a:solidFill>
              <a:schemeClr val="accent2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Elbow Connector 24"/>
          <p:cNvCxnSpPr>
            <a:cxnSpLocks/>
            <a:endCxn id="131" idx="0"/>
          </p:cNvCxnSpPr>
          <p:nvPr/>
        </p:nvCxnSpPr>
        <p:spPr>
          <a:xfrm flipV="1">
            <a:off x="4796636" y="2747826"/>
            <a:ext cx="4063852" cy="3364155"/>
          </a:xfrm>
          <a:prstGeom prst="bentConnector4">
            <a:avLst>
              <a:gd name="adj1" fmla="val 24436"/>
              <a:gd name="adj2" fmla="val 104165"/>
            </a:avLst>
          </a:prstGeom>
          <a:ln>
            <a:solidFill>
              <a:schemeClr val="accent2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gap-stripe">
            <a:extLst>
              <a:ext uri="{FF2B5EF4-FFF2-40B4-BE49-F238E27FC236}">
                <a16:creationId xmlns:a16="http://schemas.microsoft.com/office/drawing/2014/main" id="{29C6DDA8-B007-16ED-6E86-58E0D90C2150}"/>
              </a:ext>
            </a:extLst>
          </p:cNvPr>
          <p:cNvSpPr>
            <a:spLocks noGrp="1"/>
          </p:cNvSpPr>
          <p:nvPr/>
        </p:nvSpPr>
        <p:spPr>
          <a:xfrm>
            <a:off x="479629" y="1186555"/>
            <a:ext cx="76200" cy="567537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F8E6DE-1640-4178-A5F0-71950DF53A7C}"/>
              </a:ext>
            </a:extLst>
          </p:cNvPr>
          <p:cNvSpPr>
            <a:spLocks noGrp="1"/>
          </p:cNvSpPr>
          <p:nvPr/>
        </p:nvSpPr>
        <p:spPr>
          <a:xfrm>
            <a:off x="11247066" y="6216922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12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F0C377-5AEE-C3AA-9CA8-5D1372D0EF1B}"/>
              </a:ext>
            </a:extLst>
          </p:cNvPr>
          <p:cNvSpPr txBox="1"/>
          <p:nvPr/>
        </p:nvSpPr>
        <p:spPr>
          <a:xfrm>
            <a:off x="5731713" y="2180929"/>
            <a:ext cx="609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noProof="0" dirty="0">
                <a:solidFill>
                  <a:srgbClr val="C00000"/>
                </a:solidFill>
                <a:latin typeface="Courier New" panose="02070309020205020404" pitchFamily="49" charset="0"/>
              </a:rPr>
              <a:t>days.rf.above.1mm_fl_y1_a20 = [0 | 3.33]</a:t>
            </a:r>
            <a:r>
              <a:rPr lang="en-GB" sz="900" noProof="0" dirty="0">
                <a:solidFill>
                  <a:srgbClr val="C00000"/>
                </a:solidFill>
              </a:rPr>
              <a:t> → </a:t>
            </a:r>
            <a:r>
              <a:rPr lang="en-GB" sz="900" b="1" noProof="0" dirty="0">
                <a:solidFill>
                  <a:srgbClr val="C00000"/>
                </a:solidFill>
              </a:rPr>
              <a:t>wet days post - flowering ≤ 3,33</a:t>
            </a:r>
            <a:r>
              <a:rPr lang="en-GB" sz="900" noProof="0" dirty="0">
                <a:solidFill>
                  <a:srgbClr val="C00000"/>
                </a:solidFill>
              </a:rPr>
              <a:t> (dry post - flowering) ✓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963829-3F11-5D78-6E4A-006F433F2C1A}"/>
              </a:ext>
            </a:extLst>
          </p:cNvPr>
          <p:cNvSpPr txBox="1"/>
          <p:nvPr/>
        </p:nvSpPr>
        <p:spPr>
          <a:xfrm>
            <a:off x="5731713" y="2335828"/>
            <a:ext cx="609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noProof="0" dirty="0">
                <a:solidFill>
                  <a:srgbClr val="00B0F0"/>
                </a:solidFill>
                <a:latin typeface="Courier New" panose="02070309020205020404" pitchFamily="49" charset="0"/>
              </a:rPr>
              <a:t>days.rf.above.1mm_sm_y1_a20 = [0 | 3.46]</a:t>
            </a:r>
            <a:r>
              <a:rPr lang="en-GB" sz="900" noProof="0" dirty="0">
                <a:solidFill>
                  <a:srgbClr val="00B0F0"/>
                </a:solidFill>
              </a:rPr>
              <a:t> → </a:t>
            </a:r>
            <a:r>
              <a:rPr lang="en-GB" sz="900" b="1" noProof="0" dirty="0">
                <a:solidFill>
                  <a:srgbClr val="00B0F0"/>
                </a:solidFill>
              </a:rPr>
              <a:t>wet days post - maturity ≤ 3,46</a:t>
            </a:r>
            <a:r>
              <a:rPr lang="en-GB" sz="900" noProof="0" dirty="0">
                <a:solidFill>
                  <a:srgbClr val="00B0F0"/>
                </a:solidFill>
              </a:rPr>
              <a:t> (dry post  maturity)     ✓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D2983F-3FEE-1911-F758-9330D9AB2DC1}"/>
              </a:ext>
            </a:extLst>
          </p:cNvPr>
          <p:cNvSpPr>
            <a:spLocks noGrp="1"/>
          </p:cNvSpPr>
          <p:nvPr/>
        </p:nvSpPr>
        <p:spPr>
          <a:xfrm>
            <a:off x="6491788" y="1917791"/>
            <a:ext cx="4572000" cy="495300"/>
          </a:xfrm>
          <a:prstGeom prst="rect">
            <a:avLst/>
          </a:prstGeom>
        </p:spPr>
        <p:txBody>
          <a:bodyPr lIns="0" tIns="0" rIns="0" bIns="0" anchor="t">
            <a:normAutofit fontScale="96665"/>
          </a:bodyPr>
          <a:lstStyle/>
          <a:p>
            <a:pPr algn="ctr">
              <a:buNone/>
              <a:defRPr sz="22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1500" noProof="0" dirty="0">
                <a:solidFill>
                  <a:schemeClr val="bg1">
                    <a:lumMod val="50000"/>
                  </a:schemeClr>
                </a:solidFill>
              </a:rPr>
              <a:t>CarenR asks a distributional question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1CAB9B-0006-6CF6-7E09-40844A88A9FD}"/>
              </a:ext>
            </a:extLst>
          </p:cNvPr>
          <p:cNvSpPr>
            <a:spLocks noGrp="1"/>
          </p:cNvSpPr>
          <p:nvPr/>
        </p:nvSpPr>
        <p:spPr>
          <a:xfrm>
            <a:off x="400050" y="267724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RESULTS · DISCOVERY</a:t>
            </a:r>
          </a:p>
        </p:txBody>
      </p:sp>
    </p:spTree>
    <p:extLst>
      <p:ext uri="{BB962C8B-B14F-4D97-AF65-F5344CB8AC3E}">
        <p14:creationId xmlns:p14="http://schemas.microsoft.com/office/powerpoint/2010/main" val="4204323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35537-38C7-5126-D0CE-40640E108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7FAF4E2-C3CF-97D4-B406-871A8D86DEAE}"/>
              </a:ext>
            </a:extLst>
          </p:cNvPr>
          <p:cNvSpPr>
            <a:spLocks noGrp="1"/>
          </p:cNvSpPr>
          <p:nvPr/>
        </p:nvSpPr>
        <p:spPr>
          <a:xfrm>
            <a:off x="660600" y="1369663"/>
            <a:ext cx="10870799" cy="685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600" noProof="0" dirty="0">
                <a:solidFill>
                  <a:schemeClr val="accent2"/>
                </a:solidFill>
              </a:rPr>
              <a:t>DO YEARS MATCHING THESE CLIMATE CONDITIONS HAVE A PRODUCTION-RESIDUAL DISTRIBUTION THAT DIFFERS FROM ALL YEARS?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91F3CF-D279-BA9C-ACFA-C876B155D15A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Goal 1 finds statistically exceptional subgroups</a:t>
            </a:r>
          </a:p>
        </p:txBody>
      </p:sp>
      <p:sp>
        <p:nvSpPr>
          <p:cNvPr id="60" name="slide11-stray-text-cover">
            <a:extLst>
              <a:ext uri="{FF2B5EF4-FFF2-40B4-BE49-F238E27FC236}">
                <a16:creationId xmlns:a16="http://schemas.microsoft.com/office/drawing/2014/main" id="{49C97DFB-E338-A940-CF3C-7B5168D62334}"/>
              </a:ext>
            </a:extLst>
          </p:cNvPr>
          <p:cNvSpPr>
            <a:spLocks noGrp="1"/>
          </p:cNvSpPr>
          <p:nvPr/>
        </p:nvSpPr>
        <p:spPr>
          <a:xfrm>
            <a:off x="6843070" y="5343180"/>
            <a:ext cx="5191125" cy="3619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65" name="slide11-clean-audit-card">
            <a:extLst>
              <a:ext uri="{FF2B5EF4-FFF2-40B4-BE49-F238E27FC236}">
                <a16:creationId xmlns:a16="http://schemas.microsoft.com/office/drawing/2014/main" id="{E3DC9DDB-DE69-6E10-4474-F206670107B8}"/>
              </a:ext>
            </a:extLst>
          </p:cNvPr>
          <p:cNvSpPr>
            <a:spLocks noGrp="1"/>
          </p:cNvSpPr>
          <p:nvPr/>
        </p:nvSpPr>
        <p:spPr>
          <a:xfrm>
            <a:off x="517729" y="2813713"/>
            <a:ext cx="5386114" cy="2829677"/>
          </a:xfrm>
          <a:prstGeom prst="roundRect">
            <a:avLst>
              <a:gd name="adj" fmla="val 3947"/>
            </a:avLst>
          </a:prstGeom>
          <a:solidFill>
            <a:schemeClr val="tx1">
              <a:lumMod val="50000"/>
              <a:lumOff val="50000"/>
              <a:alpha val="13374"/>
            </a:schemeClr>
          </a:solidFill>
          <a:ln w="1143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1E446FF-E8A4-18B0-D505-92C59E3DB7A0}"/>
              </a:ext>
            </a:extLst>
          </p:cNvPr>
          <p:cNvSpPr>
            <a:spLocks noGrp="1"/>
          </p:cNvSpPr>
          <p:nvPr/>
        </p:nvSpPr>
        <p:spPr>
          <a:xfrm>
            <a:off x="660600" y="2885739"/>
            <a:ext cx="2910004" cy="2928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C99A3E"/>
                </a:solidFill>
              </a:defRPr>
            </a:pPr>
            <a:r>
              <a:rPr lang="en-GB" sz="1400" b="1" noProof="0" dirty="0">
                <a:solidFill>
                  <a:schemeClr val="accent2"/>
                </a:solidFill>
              </a:rPr>
              <a:t>A RULE YOU CAN AUDIT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3BDCC36-62C6-A412-5AC0-0011F8D42C75}"/>
              </a:ext>
            </a:extLst>
          </p:cNvPr>
          <p:cNvSpPr>
            <a:spLocks noGrp="1"/>
          </p:cNvSpPr>
          <p:nvPr/>
        </p:nvSpPr>
        <p:spPr>
          <a:xfrm>
            <a:off x="929148" y="3442477"/>
            <a:ext cx="5109178" cy="13515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>
                <a:solidFill>
                  <a:srgbClr val="171313"/>
                </a:solidFill>
              </a:defRPr>
            </a:pPr>
            <a:r>
              <a:rPr lang="en-GB" sz="4000" b="1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IF</a:t>
            </a:r>
            <a:r>
              <a:rPr lang="en-GB" sz="1100" noProof="0" dirty="0">
                <a:solidFill>
                  <a:srgbClr val="171313"/>
                </a:solidFill>
              </a:rPr>
              <a:t> </a:t>
            </a:r>
            <a:r>
              <a:rPr lang="en-GB" sz="1600" noProof="0" dirty="0">
                <a:solidFill>
                  <a:srgbClr val="C00000"/>
                </a:solidFill>
              </a:rPr>
              <a:t>dry post-flowering </a:t>
            </a:r>
            <a:r>
              <a:rPr lang="en-GB" sz="4000" b="1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AND</a:t>
            </a:r>
            <a:r>
              <a:rPr lang="en-GB" sz="1100" noProof="0" dirty="0">
                <a:solidFill>
                  <a:srgbClr val="171313"/>
                </a:solidFill>
              </a:rPr>
              <a:t> </a:t>
            </a:r>
            <a:r>
              <a:rPr lang="en-GB" sz="1600" noProof="0" dirty="0">
                <a:solidFill>
                  <a:srgbClr val="00B0F0"/>
                </a:solidFill>
              </a:rPr>
              <a:t>dry post-maturity</a:t>
            </a:r>
            <a:endParaRPr lang="en-GB" sz="1100" noProof="0" dirty="0">
              <a:solidFill>
                <a:srgbClr val="00B0F0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B3C38BE-00F3-7E56-CB60-1F8F9821E12A}"/>
              </a:ext>
            </a:extLst>
          </p:cNvPr>
          <p:cNvSpPr>
            <a:spLocks noGrp="1"/>
          </p:cNvSpPr>
          <p:nvPr/>
        </p:nvSpPr>
        <p:spPr>
          <a:xfrm>
            <a:off x="929148" y="4330820"/>
            <a:ext cx="3471402" cy="7114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2F7D4D"/>
                </a:solidFill>
              </a:defRPr>
            </a:pPr>
            <a:r>
              <a:rPr lang="en-GB" sz="4000" b="1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THEN</a:t>
            </a:r>
            <a:r>
              <a:rPr lang="en-GB" sz="1400" b="1" noProof="0" dirty="0">
                <a:solidFill>
                  <a:srgbClr val="2F7D4D"/>
                </a:solidFill>
              </a:rPr>
              <a:t> </a:t>
            </a:r>
            <a:r>
              <a:rPr lang="en-GB" sz="1600" b="1" noProof="0" dirty="0">
                <a:solidFill>
                  <a:srgbClr val="2F7D4D"/>
                </a:solidFill>
              </a:rPr>
              <a:t>+121 mhl above trend</a:t>
            </a:r>
            <a:endParaRPr lang="en-GB" sz="1400" b="1" noProof="0" dirty="0">
              <a:solidFill>
                <a:srgbClr val="2F7D4D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14B36C6-BFF0-3E7C-5263-1568E6E7C68C}"/>
              </a:ext>
            </a:extLst>
          </p:cNvPr>
          <p:cNvSpPr>
            <a:spLocks noGrp="1"/>
          </p:cNvSpPr>
          <p:nvPr/>
        </p:nvSpPr>
        <p:spPr>
          <a:xfrm>
            <a:off x="1015463" y="5214519"/>
            <a:ext cx="2655199" cy="3428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63" i="1">
                <a:solidFill>
                  <a:srgbClr val="6F6761"/>
                </a:solidFill>
              </a:defRPr>
            </a:pPr>
            <a:r>
              <a:rPr lang="en-GB" sz="1600" i="1" noProof="0" dirty="0">
                <a:solidFill>
                  <a:srgbClr val="6F6761"/>
                </a:solidFill>
              </a:rPr>
              <a:t>support 28% · p = 0.004</a:t>
            </a:r>
          </a:p>
        </p:txBody>
      </p:sp>
      <p:pic>
        <p:nvPicPr>
          <p:cNvPr id="131" name="Picture 18">
            <a:extLst>
              <a:ext uri="{FF2B5EF4-FFF2-40B4-BE49-F238E27FC236}">
                <a16:creationId xmlns:a16="http://schemas.microsoft.com/office/drawing/2014/main" id="{80F8719C-4769-10CD-8686-6835F7D1A6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066"/>
          <a:stretch>
            <a:fillRect/>
          </a:stretch>
        </p:blipFill>
        <p:spPr>
          <a:xfrm>
            <a:off x="6369766" y="2996023"/>
            <a:ext cx="4981443" cy="25572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32" name="Elbow Connector 21">
            <a:extLst>
              <a:ext uri="{FF2B5EF4-FFF2-40B4-BE49-F238E27FC236}">
                <a16:creationId xmlns:a16="http://schemas.microsoft.com/office/drawing/2014/main" id="{2C1BCD20-930F-02F0-0086-A157D482032D}"/>
              </a:ext>
            </a:extLst>
          </p:cNvPr>
          <p:cNvCxnSpPr>
            <a:cxnSpLocks/>
          </p:cNvCxnSpPr>
          <p:nvPr/>
        </p:nvCxnSpPr>
        <p:spPr>
          <a:xfrm>
            <a:off x="4180114" y="4673709"/>
            <a:ext cx="4597673" cy="12700"/>
          </a:xfrm>
          <a:prstGeom prst="bentConnector3">
            <a:avLst>
              <a:gd name="adj1" fmla="val 50000"/>
            </a:avLst>
          </a:prstGeom>
          <a:ln>
            <a:solidFill>
              <a:schemeClr val="accent2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Elbow Connector 24">
            <a:extLst>
              <a:ext uri="{FF2B5EF4-FFF2-40B4-BE49-F238E27FC236}">
                <a16:creationId xmlns:a16="http://schemas.microsoft.com/office/drawing/2014/main" id="{588263A6-E1F9-6046-14E5-8F5CCBD4FB79}"/>
              </a:ext>
            </a:extLst>
          </p:cNvPr>
          <p:cNvCxnSpPr>
            <a:cxnSpLocks/>
            <a:endCxn id="131" idx="0"/>
          </p:cNvCxnSpPr>
          <p:nvPr/>
        </p:nvCxnSpPr>
        <p:spPr>
          <a:xfrm flipV="1">
            <a:off x="4400550" y="2996023"/>
            <a:ext cx="4459938" cy="683417"/>
          </a:xfrm>
          <a:prstGeom prst="bentConnector4">
            <a:avLst>
              <a:gd name="adj1" fmla="val 22077"/>
              <a:gd name="adj2" fmla="val 133450"/>
            </a:avLst>
          </a:prstGeom>
          <a:ln>
            <a:solidFill>
              <a:schemeClr val="accent2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gap-stripe">
            <a:extLst>
              <a:ext uri="{FF2B5EF4-FFF2-40B4-BE49-F238E27FC236}">
                <a16:creationId xmlns:a16="http://schemas.microsoft.com/office/drawing/2014/main" id="{BACBA348-9AEA-081E-80E6-CD79541CF482}"/>
              </a:ext>
            </a:extLst>
          </p:cNvPr>
          <p:cNvSpPr>
            <a:spLocks noGrp="1"/>
          </p:cNvSpPr>
          <p:nvPr/>
        </p:nvSpPr>
        <p:spPr>
          <a:xfrm>
            <a:off x="479629" y="1304122"/>
            <a:ext cx="76200" cy="567537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474A56-E7BF-7F2B-7E16-E0C02A8AFCF2}"/>
              </a:ext>
            </a:extLst>
          </p:cNvPr>
          <p:cNvSpPr>
            <a:spLocks noGrp="1"/>
          </p:cNvSpPr>
          <p:nvPr/>
        </p:nvSpPr>
        <p:spPr>
          <a:xfrm>
            <a:off x="11247066" y="6216922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12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594EBA-C951-FEC0-EDB9-282FE5F3F7EB}"/>
              </a:ext>
            </a:extLst>
          </p:cNvPr>
          <p:cNvSpPr txBox="1"/>
          <p:nvPr/>
        </p:nvSpPr>
        <p:spPr>
          <a:xfrm>
            <a:off x="4938182" y="2312591"/>
            <a:ext cx="709601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noProof="0" dirty="0">
                <a:solidFill>
                  <a:srgbClr val="C00000"/>
                </a:solidFill>
                <a:latin typeface="Courier New" panose="02070309020205020404" pitchFamily="49" charset="0"/>
              </a:rPr>
              <a:t>days.rf.above.1mm_fl_y1_a20 = [0 | 3.33]</a:t>
            </a:r>
            <a:r>
              <a:rPr lang="en-GB" sz="1100" noProof="0" dirty="0">
                <a:solidFill>
                  <a:srgbClr val="C00000"/>
                </a:solidFill>
              </a:rPr>
              <a:t> → </a:t>
            </a:r>
            <a:r>
              <a:rPr lang="en-GB" sz="1100" b="1" noProof="0" dirty="0">
                <a:solidFill>
                  <a:srgbClr val="C00000"/>
                </a:solidFill>
              </a:rPr>
              <a:t>wet days post - flowering ≤ 3,33</a:t>
            </a:r>
            <a:r>
              <a:rPr lang="en-GB" sz="1100" noProof="0" dirty="0">
                <a:solidFill>
                  <a:srgbClr val="C00000"/>
                </a:solidFill>
              </a:rPr>
              <a:t> (dry post - flowering) ✓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4D2470-E441-4E86-951A-5FAC2E1EF20B}"/>
              </a:ext>
            </a:extLst>
          </p:cNvPr>
          <p:cNvSpPr txBox="1"/>
          <p:nvPr/>
        </p:nvSpPr>
        <p:spPr>
          <a:xfrm>
            <a:off x="4938182" y="2467490"/>
            <a:ext cx="709601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noProof="0" dirty="0">
                <a:solidFill>
                  <a:srgbClr val="00B0F0"/>
                </a:solidFill>
                <a:latin typeface="Courier New" panose="02070309020205020404" pitchFamily="49" charset="0"/>
              </a:rPr>
              <a:t>days.rf.above.1mm_sm_y1_a20 = [0 | 3.46]</a:t>
            </a:r>
            <a:r>
              <a:rPr lang="en-GB" sz="1100" noProof="0" dirty="0">
                <a:solidFill>
                  <a:srgbClr val="00B0F0"/>
                </a:solidFill>
              </a:rPr>
              <a:t> → </a:t>
            </a:r>
            <a:r>
              <a:rPr lang="en-GB" sz="1100" b="1" noProof="0" dirty="0">
                <a:solidFill>
                  <a:srgbClr val="00B0F0"/>
                </a:solidFill>
              </a:rPr>
              <a:t>wet days post - maturity ≤ 3,46</a:t>
            </a:r>
            <a:r>
              <a:rPr lang="en-GB" sz="1100" noProof="0" dirty="0">
                <a:solidFill>
                  <a:srgbClr val="00B0F0"/>
                </a:solidFill>
              </a:rPr>
              <a:t> (dry post  maturity)     ✓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D6003D-2662-9A50-4AF5-37B68E57EDD7}"/>
              </a:ext>
            </a:extLst>
          </p:cNvPr>
          <p:cNvSpPr>
            <a:spLocks noGrp="1"/>
          </p:cNvSpPr>
          <p:nvPr/>
        </p:nvSpPr>
        <p:spPr>
          <a:xfrm>
            <a:off x="6491787" y="1968617"/>
            <a:ext cx="4572000" cy="495300"/>
          </a:xfrm>
          <a:prstGeom prst="rect">
            <a:avLst/>
          </a:prstGeom>
        </p:spPr>
        <p:txBody>
          <a:bodyPr lIns="0" tIns="0" rIns="0" bIns="0" anchor="t">
            <a:normAutofit fontScale="96665"/>
          </a:bodyPr>
          <a:lstStyle/>
          <a:p>
            <a:pPr algn="ctr">
              <a:buNone/>
              <a:defRPr sz="22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1500" noProof="0" dirty="0">
                <a:solidFill>
                  <a:schemeClr val="bg1">
                    <a:lumMod val="50000"/>
                  </a:schemeClr>
                </a:solidFill>
              </a:rPr>
              <a:t>CarenR asks a distributional question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F2B46B-6CCC-80B0-43C9-19A9D26BD2B7}"/>
              </a:ext>
            </a:extLst>
          </p:cNvPr>
          <p:cNvSpPr>
            <a:spLocks noGrp="1"/>
          </p:cNvSpPr>
          <p:nvPr/>
        </p:nvSpPr>
        <p:spPr>
          <a:xfrm>
            <a:off x="400050" y="267724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RESULTS · DISCOVERY</a:t>
            </a:r>
          </a:p>
        </p:txBody>
      </p:sp>
    </p:spTree>
    <p:extLst>
      <p:ext uri="{BB962C8B-B14F-4D97-AF65-F5344CB8AC3E}">
        <p14:creationId xmlns:p14="http://schemas.microsoft.com/office/powerpoint/2010/main" val="21326822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10FADE3-346D-4C9C-92D8-2385CD70AC2B}"/>
              </a:ext>
            </a:extLst>
          </p:cNvPr>
          <p:cNvSpPr>
            <a:spLocks noGrp="1"/>
          </p:cNvSpPr>
          <p:nvPr/>
        </p:nvSpPr>
        <p:spPr>
          <a:xfrm>
            <a:off x="400050" y="267724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RESULTS · DISCOVERY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98F82D-A154-49FE-B5CA-B9D780AC6B7A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</p:spPr>
        <p:txBody>
          <a:bodyPr lIns="0" tIns="0" rIns="0" bIns="0" anchor="t">
            <a:normAutofit fontScale="92838"/>
          </a:bodyPr>
          <a:lstStyle/>
          <a:p>
            <a:pPr algn="l">
              <a:buNone/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Goal 1 succeeded: compact rules reveal regional drivers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819D24-836E-4D97-AD95-3A807E6F4448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13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42CDC2-01ED-4F16-BB24-C091C7E02657}"/>
              </a:ext>
            </a:extLst>
          </p:cNvPr>
          <p:cNvSpPr>
            <a:spLocks noGrp="1"/>
          </p:cNvSpPr>
          <p:nvPr/>
        </p:nvSpPr>
        <p:spPr>
          <a:xfrm>
            <a:off x="400050" y="1510367"/>
            <a:ext cx="5429250" cy="3945362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BE1F26-F9F2-4921-8726-9AA52BF62123}"/>
              </a:ext>
            </a:extLst>
          </p:cNvPr>
          <p:cNvSpPr>
            <a:spLocks noGrp="1"/>
          </p:cNvSpPr>
          <p:nvPr/>
        </p:nvSpPr>
        <p:spPr>
          <a:xfrm>
            <a:off x="6353175" y="1510367"/>
            <a:ext cx="5429250" cy="39453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DFDC61-914B-4D17-80FE-52EFBE1DB3AD}"/>
              </a:ext>
            </a:extLst>
          </p:cNvPr>
          <p:cNvSpPr>
            <a:spLocks noGrp="1"/>
          </p:cNvSpPr>
          <p:nvPr/>
        </p:nvSpPr>
        <p:spPr>
          <a:xfrm>
            <a:off x="714375" y="1606116"/>
            <a:ext cx="190500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2563A6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DOURO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A60B71-99B8-4335-8A75-9CBF6FE594D5}"/>
              </a:ext>
            </a:extLst>
          </p:cNvPr>
          <p:cNvSpPr>
            <a:spLocks noGrp="1"/>
          </p:cNvSpPr>
          <p:nvPr/>
        </p:nvSpPr>
        <p:spPr>
          <a:xfrm>
            <a:off x="714375" y="1927732"/>
            <a:ext cx="1619250" cy="7620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>
              <a:buNone/>
              <a:defRPr sz="5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6000" noProof="0" dirty="0"/>
              <a:t>48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8BAB65-D261-4E68-AA2F-A6D399971949}"/>
              </a:ext>
            </a:extLst>
          </p:cNvPr>
          <p:cNvSpPr>
            <a:spLocks noGrp="1"/>
          </p:cNvSpPr>
          <p:nvPr/>
        </p:nvSpPr>
        <p:spPr>
          <a:xfrm>
            <a:off x="1524000" y="2199195"/>
            <a:ext cx="142875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rules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E680C5-C0BD-4340-A796-AABBE6318478}"/>
              </a:ext>
            </a:extLst>
          </p:cNvPr>
          <p:cNvSpPr>
            <a:spLocks noGrp="1"/>
          </p:cNvSpPr>
          <p:nvPr/>
        </p:nvSpPr>
        <p:spPr>
          <a:xfrm>
            <a:off x="714375" y="2877417"/>
            <a:ext cx="4286250" cy="6096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2800" noProof="0" dirty="0"/>
              <a:t>HARVEST SOIL WATER APPEARS IN 54% OF RULES.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3417D7-82CC-474A-8B1F-016DC5043731}"/>
              </a:ext>
            </a:extLst>
          </p:cNvPr>
          <p:cNvSpPr>
            <a:spLocks noGrp="1"/>
          </p:cNvSpPr>
          <p:nvPr/>
        </p:nvSpPr>
        <p:spPr>
          <a:xfrm>
            <a:off x="704849" y="4496384"/>
            <a:ext cx="5030933" cy="7962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defRPr sz="1725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sz="1200" noProof="0" dirty="0"/>
              <a:t>A moderate deficit (74–101 mm) marks </a:t>
            </a:r>
            <a:r>
              <a:rPr lang="en-GB" sz="1200" b="1" noProof="0" dirty="0">
                <a:solidFill>
                  <a:schemeClr val="accent6"/>
                </a:solidFill>
              </a:rPr>
              <a:t>above-trend</a:t>
            </a:r>
            <a:r>
              <a:rPr lang="en-GB" sz="1200" noProof="0" dirty="0">
                <a:solidFill>
                  <a:schemeClr val="accent6"/>
                </a:solidFill>
              </a:rPr>
              <a:t> </a:t>
            </a:r>
            <a:r>
              <a:rPr lang="en-GB" sz="1200" noProof="0" dirty="0"/>
              <a:t>years — the strongest such rule reaches </a:t>
            </a:r>
            <a:r>
              <a:rPr lang="en-GB" sz="1200" noProof="0" dirty="0">
                <a:solidFill>
                  <a:schemeClr val="accent6"/>
                </a:solidFill>
              </a:rPr>
              <a:t>+192 mhl</a:t>
            </a:r>
            <a:r>
              <a:rPr lang="en-GB" sz="1200" noProof="0" dirty="0"/>
              <a:t>, reinforced by dry post-flowering and bounded heat.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3E4264-7562-493B-B638-FAE60078DC83}"/>
              </a:ext>
            </a:extLst>
          </p:cNvPr>
          <p:cNvSpPr>
            <a:spLocks noGrp="1"/>
          </p:cNvSpPr>
          <p:nvPr/>
        </p:nvSpPr>
        <p:spPr>
          <a:xfrm>
            <a:off x="6667500" y="1606116"/>
            <a:ext cx="209550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VINHO VERDE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3BFAAB-4DCE-4B1B-98FE-61FCDC28A918}"/>
              </a:ext>
            </a:extLst>
          </p:cNvPr>
          <p:cNvSpPr>
            <a:spLocks noGrp="1"/>
          </p:cNvSpPr>
          <p:nvPr/>
        </p:nvSpPr>
        <p:spPr>
          <a:xfrm>
            <a:off x="6667500" y="1927732"/>
            <a:ext cx="1619250" cy="7620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>
              <a:buNone/>
              <a:defRPr sz="5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6000" noProof="0" dirty="0"/>
              <a:t>20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3BFAA6-4079-4DC7-81E8-47F17D108B0D}"/>
              </a:ext>
            </a:extLst>
          </p:cNvPr>
          <p:cNvSpPr>
            <a:spLocks noGrp="1"/>
          </p:cNvSpPr>
          <p:nvPr/>
        </p:nvSpPr>
        <p:spPr>
          <a:xfrm>
            <a:off x="7477125" y="2194428"/>
            <a:ext cx="142875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rules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12E096-AEFD-4CC0-9752-BAB3607FBEA8}"/>
              </a:ext>
            </a:extLst>
          </p:cNvPr>
          <p:cNvSpPr>
            <a:spLocks noGrp="1"/>
          </p:cNvSpPr>
          <p:nvPr/>
        </p:nvSpPr>
        <p:spPr>
          <a:xfrm>
            <a:off x="6664668" y="2866599"/>
            <a:ext cx="4286250" cy="6096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2800" noProof="0" dirty="0"/>
              <a:t>HEAT-STRESS DAYS APPEAR IN UP TO 50% OF RULES.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D1C761-F1E4-462B-838A-FF2CEA27802F}"/>
              </a:ext>
            </a:extLst>
          </p:cNvPr>
          <p:cNvSpPr>
            <a:spLocks noGrp="1"/>
          </p:cNvSpPr>
          <p:nvPr/>
        </p:nvSpPr>
        <p:spPr>
          <a:xfrm>
            <a:off x="6667500" y="4496385"/>
            <a:ext cx="5076825" cy="7962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defRPr sz="1725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sz="1200" noProof="0" dirty="0"/>
              <a:t>Harvest soil water also recurs (25%) — but the </a:t>
            </a:r>
            <a:r>
              <a:rPr lang="en-GB" sz="1200" b="1" noProof="0" dirty="0"/>
              <a:t>same range (61–97 mm) marks cool, wet, </a:t>
            </a:r>
            <a:r>
              <a:rPr lang="en-GB" sz="1200" b="1" noProof="0" dirty="0">
                <a:solidFill>
                  <a:srgbClr val="C00000"/>
                </a:solidFill>
              </a:rPr>
              <a:t>below-trend</a:t>
            </a:r>
            <a:r>
              <a:rPr lang="en-GB" sz="1200" noProof="0" dirty="0"/>
              <a:t> years, down to </a:t>
            </a:r>
            <a:r>
              <a:rPr lang="en-GB" sz="1200" noProof="0" dirty="0">
                <a:solidFill>
                  <a:srgbClr val="C00000"/>
                </a:solidFill>
              </a:rPr>
              <a:t>−338 mhl</a:t>
            </a:r>
            <a:r>
              <a:rPr lang="en-GB" sz="1200" noProof="0" dirty="0"/>
              <a:t>: the opposite of the Douro. </a:t>
            </a:r>
          </a:p>
          <a:p>
            <a:pPr>
              <a:defRPr sz="1725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sz="1200" noProof="0" dirty="0"/>
              <a:t>LAI family: all 20 rules (at harvest: 4/20).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8B2983-02A9-68D1-FCB9-457D7C8CB555}"/>
              </a:ext>
            </a:extLst>
          </p:cNvPr>
          <p:cNvSpPr txBox="1"/>
          <p:nvPr/>
        </p:nvSpPr>
        <p:spPr>
          <a:xfrm>
            <a:off x="133935" y="5644545"/>
            <a:ext cx="122252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7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2000" noProof="0" dirty="0">
                <a:solidFill>
                  <a:schemeClr val="accent2"/>
                </a:solidFill>
              </a:rPr>
              <a:t>THE </a:t>
            </a:r>
            <a:r>
              <a:rPr lang="en-GB" sz="2000" u="sng" noProof="0" dirty="0">
                <a:solidFill>
                  <a:schemeClr val="accent2"/>
                </a:solidFill>
              </a:rPr>
              <a:t>SAME VARIABLE</a:t>
            </a:r>
            <a:r>
              <a:rPr lang="en-GB" sz="2000" noProof="0" dirty="0">
                <a:solidFill>
                  <a:schemeClr val="accent2"/>
                </a:solidFill>
              </a:rPr>
              <a:t> CAN HAVE A </a:t>
            </a:r>
            <a:r>
              <a:rPr lang="en-GB" sz="2000" u="sng" noProof="0" dirty="0">
                <a:solidFill>
                  <a:schemeClr val="accent2"/>
                </a:solidFill>
              </a:rPr>
              <a:t>DIFFERENT DIRECTION</a:t>
            </a:r>
            <a:r>
              <a:rPr lang="en-GB" sz="2000" noProof="0" dirty="0">
                <a:solidFill>
                  <a:schemeClr val="accent2"/>
                </a:solidFill>
              </a:rPr>
              <a:t> ACROSS REGIONS — INTERPRETATION MUST REMAIN CONTEXT-SPECIFIC.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09EE5B-D777-9A96-29CE-14426B2F80AB}"/>
              </a:ext>
            </a:extLst>
          </p:cNvPr>
          <p:cNvSpPr txBox="1"/>
          <p:nvPr/>
        </p:nvSpPr>
        <p:spPr>
          <a:xfrm>
            <a:off x="1866270" y="6348307"/>
            <a:ext cx="84594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noProof="0" dirty="0"/>
              <a:t>Harvest soil water     -     </a:t>
            </a:r>
            <a:r>
              <a:rPr lang="en-GB" sz="1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Douro above Trend</a:t>
            </a:r>
            <a:r>
              <a:rPr lang="en-GB" sz="1400" b="1" dirty="0"/>
              <a:t>       -     </a:t>
            </a:r>
            <a:r>
              <a:rPr lang="en-GB" sz="1400" b="1" dirty="0">
                <a:solidFill>
                  <a:srgbClr val="C00000"/>
                </a:solidFill>
              </a:rPr>
              <a:t>Vinhos Verdes Below Trend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857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>
            <a:extLst>
              <a:ext uri="{FF2B5EF4-FFF2-40B4-BE49-F238E27FC236}">
                <a16:creationId xmlns:a16="http://schemas.microsoft.com/office/drawing/2014/main" id="{AA3E5C72-18C4-4820-A946-3AFADD1B9D87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chemeClr val="bg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RESULTS · RULES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235780E-12D0-4C1A-A029-A99CA3019A2C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6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34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strongest CarenR rules point to water and canopy structure</a:t>
            </a:r>
          </a:p>
        </p:txBody>
      </p:sp>
      <p:sp>
        <p:nvSpPr>
          <p:cNvPr id="4" name="douro-panel">
            <a:extLst>
              <a:ext uri="{FF2B5EF4-FFF2-40B4-BE49-F238E27FC236}">
                <a16:creationId xmlns:a16="http://schemas.microsoft.com/office/drawing/2014/main" id="{DB3A9BFA-81C6-4691-9368-F9F7C131BC49}"/>
              </a:ext>
            </a:extLst>
          </p:cNvPr>
          <p:cNvSpPr>
            <a:spLocks noGrp="1"/>
          </p:cNvSpPr>
          <p:nvPr/>
        </p:nvSpPr>
        <p:spPr>
          <a:xfrm>
            <a:off x="400050" y="1761919"/>
            <a:ext cx="5476875" cy="3325472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5" name="rvv-panel">
            <a:extLst>
              <a:ext uri="{FF2B5EF4-FFF2-40B4-BE49-F238E27FC236}">
                <a16:creationId xmlns:a16="http://schemas.microsoft.com/office/drawing/2014/main" id="{5F21EEA4-8328-44C4-BCCB-EDEE6BE775BF}"/>
              </a:ext>
            </a:extLst>
          </p:cNvPr>
          <p:cNvSpPr>
            <a:spLocks noGrp="1"/>
          </p:cNvSpPr>
          <p:nvPr/>
        </p:nvSpPr>
        <p:spPr>
          <a:xfrm>
            <a:off x="6305550" y="1761919"/>
            <a:ext cx="5476875" cy="33254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6" name="douro-label">
            <a:extLst>
              <a:ext uri="{FF2B5EF4-FFF2-40B4-BE49-F238E27FC236}">
                <a16:creationId xmlns:a16="http://schemas.microsoft.com/office/drawing/2014/main" id="{25377249-CE38-488A-B5C9-0BA00F376236}"/>
              </a:ext>
            </a:extLst>
          </p:cNvPr>
          <p:cNvSpPr>
            <a:spLocks noGrp="1"/>
          </p:cNvSpPr>
          <p:nvPr/>
        </p:nvSpPr>
        <p:spPr>
          <a:xfrm>
            <a:off x="388018" y="182929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2B6F9A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rgbClr val="2B6F9A"/>
                </a:solidFill>
                <a:latin typeface="Arial"/>
                <a:ea typeface="Arial"/>
                <a:cs typeface="Arial"/>
              </a:rPr>
              <a:t>DOURO · top 5 CarenR rules</a:t>
            </a:r>
          </a:p>
        </p:txBody>
      </p:sp>
      <p:sp>
        <p:nvSpPr>
          <p:cNvPr id="7" name="douro-summary">
            <a:extLst>
              <a:ext uri="{FF2B5EF4-FFF2-40B4-BE49-F238E27FC236}">
                <a16:creationId xmlns:a16="http://schemas.microsoft.com/office/drawing/2014/main" id="{B0EE3D9C-DDB3-406D-9D3B-939E14A1EB8A}"/>
              </a:ext>
            </a:extLst>
          </p:cNvPr>
          <p:cNvSpPr>
            <a:spLocks noGrp="1"/>
          </p:cNvSpPr>
          <p:nvPr/>
        </p:nvSpPr>
        <p:spPr>
          <a:xfrm>
            <a:off x="714375" y="2237015"/>
            <a:ext cx="447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3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 of 5 are above-trend: dry flowering and bounded heat define good years.</a:t>
            </a:r>
          </a:p>
        </p:txBody>
      </p:sp>
      <p:sp>
        <p:nvSpPr>
          <p:cNvPr id="8" name="rule-douro-1-rank">
            <a:extLst>
              <a:ext uri="{FF2B5EF4-FFF2-40B4-BE49-F238E27FC236}">
                <a16:creationId xmlns:a16="http://schemas.microsoft.com/office/drawing/2014/main" id="{112D12CD-BA90-42C9-88B7-1E895D2F2C81}"/>
              </a:ext>
            </a:extLst>
          </p:cNvPr>
          <p:cNvSpPr>
            <a:spLocks noGrp="1"/>
          </p:cNvSpPr>
          <p:nvPr/>
        </p:nvSpPr>
        <p:spPr>
          <a:xfrm>
            <a:off x="714375" y="2808515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75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rule-douro-1-pattern">
            <a:extLst>
              <a:ext uri="{FF2B5EF4-FFF2-40B4-BE49-F238E27FC236}">
                <a16:creationId xmlns:a16="http://schemas.microsoft.com/office/drawing/2014/main" id="{55214A11-6F83-415F-8DA9-B3080B6E33DA}"/>
              </a:ext>
            </a:extLst>
          </p:cNvPr>
          <p:cNvSpPr>
            <a:spLocks noGrp="1"/>
          </p:cNvSpPr>
          <p:nvPr/>
        </p:nvSpPr>
        <p:spPr>
          <a:xfrm>
            <a:off x="1076325" y="2770415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163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Dry flowering + dry maturity</a:t>
            </a:r>
          </a:p>
        </p:txBody>
      </p:sp>
      <p:sp>
        <p:nvSpPr>
          <p:cNvPr id="10" name="rule-douro-1-delta">
            <a:extLst>
              <a:ext uri="{FF2B5EF4-FFF2-40B4-BE49-F238E27FC236}">
                <a16:creationId xmlns:a16="http://schemas.microsoft.com/office/drawing/2014/main" id="{DFDE73BD-FA63-4BAF-B9DC-3411C9E99A24}"/>
              </a:ext>
            </a:extLst>
          </p:cNvPr>
          <p:cNvSpPr>
            <a:spLocks noGrp="1"/>
          </p:cNvSpPr>
          <p:nvPr/>
        </p:nvSpPr>
        <p:spPr>
          <a:xfrm>
            <a:off x="4314825" y="277994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146C43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rgbClr val="146C43"/>
                </a:solidFill>
                <a:latin typeface="Arial"/>
                <a:ea typeface="Arial"/>
                <a:cs typeface="Arial"/>
              </a:rPr>
              <a:t>+121 mhl</a:t>
            </a:r>
          </a:p>
        </p:txBody>
      </p:sp>
      <p:sp>
        <p:nvSpPr>
          <p:cNvPr id="11" name="rule-douro-1-support">
            <a:extLst>
              <a:ext uri="{FF2B5EF4-FFF2-40B4-BE49-F238E27FC236}">
                <a16:creationId xmlns:a16="http://schemas.microsoft.com/office/drawing/2014/main" id="{196B7EFD-1B7D-43F6-A653-19032DEE096D}"/>
              </a:ext>
            </a:extLst>
          </p:cNvPr>
          <p:cNvSpPr>
            <a:spLocks noGrp="1"/>
          </p:cNvSpPr>
          <p:nvPr/>
        </p:nvSpPr>
        <p:spPr>
          <a:xfrm>
            <a:off x="1076325" y="2999015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788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28.1% support · p=0.0043</a:t>
            </a:r>
          </a:p>
        </p:txBody>
      </p:sp>
      <p:sp>
        <p:nvSpPr>
          <p:cNvPr id="12" name="rule-douro-2-rank">
            <a:extLst>
              <a:ext uri="{FF2B5EF4-FFF2-40B4-BE49-F238E27FC236}">
                <a16:creationId xmlns:a16="http://schemas.microsoft.com/office/drawing/2014/main" id="{4A24E729-C905-4488-911C-CF23826CA50C}"/>
              </a:ext>
            </a:extLst>
          </p:cNvPr>
          <p:cNvSpPr>
            <a:spLocks noGrp="1"/>
          </p:cNvSpPr>
          <p:nvPr/>
        </p:nvSpPr>
        <p:spPr>
          <a:xfrm>
            <a:off x="714375" y="3227615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75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rule-douro-2-pattern">
            <a:extLst>
              <a:ext uri="{FF2B5EF4-FFF2-40B4-BE49-F238E27FC236}">
                <a16:creationId xmlns:a16="http://schemas.microsoft.com/office/drawing/2014/main" id="{1AB09955-D902-451F-8068-D37DC71E7A90}"/>
              </a:ext>
            </a:extLst>
          </p:cNvPr>
          <p:cNvSpPr>
            <a:spLocks noGrp="1"/>
          </p:cNvSpPr>
          <p:nvPr/>
        </p:nvSpPr>
        <p:spPr>
          <a:xfrm>
            <a:off x="1076325" y="3189515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163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High LAI + wet flowering</a:t>
            </a:r>
          </a:p>
        </p:txBody>
      </p:sp>
      <p:sp>
        <p:nvSpPr>
          <p:cNvPr id="14" name="rule-douro-2-delta">
            <a:extLst>
              <a:ext uri="{FF2B5EF4-FFF2-40B4-BE49-F238E27FC236}">
                <a16:creationId xmlns:a16="http://schemas.microsoft.com/office/drawing/2014/main" id="{6E7B2FF2-119F-4F33-BFA5-AE072BABE6E6}"/>
              </a:ext>
            </a:extLst>
          </p:cNvPr>
          <p:cNvSpPr>
            <a:spLocks noGrp="1"/>
          </p:cNvSpPr>
          <p:nvPr/>
        </p:nvSpPr>
        <p:spPr>
          <a:xfrm>
            <a:off x="4314825" y="319904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-131 mhl</a:t>
            </a:r>
          </a:p>
        </p:txBody>
      </p:sp>
      <p:sp>
        <p:nvSpPr>
          <p:cNvPr id="15" name="rule-douro-2-support">
            <a:extLst>
              <a:ext uri="{FF2B5EF4-FFF2-40B4-BE49-F238E27FC236}">
                <a16:creationId xmlns:a16="http://schemas.microsoft.com/office/drawing/2014/main" id="{0B1B3A52-047D-4C39-A204-8601FE2E4945}"/>
              </a:ext>
            </a:extLst>
          </p:cNvPr>
          <p:cNvSpPr>
            <a:spLocks noGrp="1"/>
          </p:cNvSpPr>
          <p:nvPr/>
        </p:nvSpPr>
        <p:spPr>
          <a:xfrm>
            <a:off x="1076325" y="3418115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788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20.2% support · p=0.0084</a:t>
            </a:r>
          </a:p>
        </p:txBody>
      </p:sp>
      <p:sp>
        <p:nvSpPr>
          <p:cNvPr id="16" name="rule-douro-3-rank">
            <a:extLst>
              <a:ext uri="{FF2B5EF4-FFF2-40B4-BE49-F238E27FC236}">
                <a16:creationId xmlns:a16="http://schemas.microsoft.com/office/drawing/2014/main" id="{5019C0E2-BF17-4050-A65B-77E6958920F4}"/>
              </a:ext>
            </a:extLst>
          </p:cNvPr>
          <p:cNvSpPr>
            <a:spLocks noGrp="1"/>
          </p:cNvSpPr>
          <p:nvPr/>
        </p:nvSpPr>
        <p:spPr>
          <a:xfrm>
            <a:off x="714375" y="3646715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75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rule-douro-3-pattern">
            <a:extLst>
              <a:ext uri="{FF2B5EF4-FFF2-40B4-BE49-F238E27FC236}">
                <a16:creationId xmlns:a16="http://schemas.microsoft.com/office/drawing/2014/main" id="{09468597-E04A-42DB-9B94-D08BFF973430}"/>
              </a:ext>
            </a:extLst>
          </p:cNvPr>
          <p:cNvSpPr>
            <a:spLocks noGrp="1"/>
          </p:cNvSpPr>
          <p:nvPr/>
        </p:nvSpPr>
        <p:spPr>
          <a:xfrm>
            <a:off x="1076325" y="3608615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163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Dry + moderate heat after flowering</a:t>
            </a:r>
          </a:p>
        </p:txBody>
      </p:sp>
      <p:sp>
        <p:nvSpPr>
          <p:cNvPr id="18" name="rule-douro-3-delta">
            <a:extLst>
              <a:ext uri="{FF2B5EF4-FFF2-40B4-BE49-F238E27FC236}">
                <a16:creationId xmlns:a16="http://schemas.microsoft.com/office/drawing/2014/main" id="{4D2781A6-FD45-4BDD-96F8-F874F0309752}"/>
              </a:ext>
            </a:extLst>
          </p:cNvPr>
          <p:cNvSpPr>
            <a:spLocks noGrp="1"/>
          </p:cNvSpPr>
          <p:nvPr/>
        </p:nvSpPr>
        <p:spPr>
          <a:xfrm>
            <a:off x="4314825" y="361814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146C43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rgbClr val="146C43"/>
                </a:solidFill>
                <a:latin typeface="Arial"/>
                <a:ea typeface="Arial"/>
                <a:cs typeface="Arial"/>
              </a:rPr>
              <a:t>+113 mhl</a:t>
            </a:r>
          </a:p>
        </p:txBody>
      </p:sp>
      <p:sp>
        <p:nvSpPr>
          <p:cNvPr id="19" name="rule-douro-3-support">
            <a:extLst>
              <a:ext uri="{FF2B5EF4-FFF2-40B4-BE49-F238E27FC236}">
                <a16:creationId xmlns:a16="http://schemas.microsoft.com/office/drawing/2014/main" id="{52EB5F2F-8DDE-41DA-8315-A078CEE0AA96}"/>
              </a:ext>
            </a:extLst>
          </p:cNvPr>
          <p:cNvSpPr>
            <a:spLocks noGrp="1"/>
          </p:cNvSpPr>
          <p:nvPr/>
        </p:nvSpPr>
        <p:spPr>
          <a:xfrm>
            <a:off x="1076325" y="3837215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788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25.8% support · p=0.0089</a:t>
            </a:r>
          </a:p>
        </p:txBody>
      </p:sp>
      <p:sp>
        <p:nvSpPr>
          <p:cNvPr id="20" name="rule-douro-4-rank">
            <a:extLst>
              <a:ext uri="{FF2B5EF4-FFF2-40B4-BE49-F238E27FC236}">
                <a16:creationId xmlns:a16="http://schemas.microsoft.com/office/drawing/2014/main" id="{DE76DB4C-BA55-4BB0-9737-CAA4D7BA2841}"/>
              </a:ext>
            </a:extLst>
          </p:cNvPr>
          <p:cNvSpPr>
            <a:spLocks noGrp="1"/>
          </p:cNvSpPr>
          <p:nvPr/>
        </p:nvSpPr>
        <p:spPr>
          <a:xfrm>
            <a:off x="714375" y="4065815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75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rule-douro-4-pattern">
            <a:extLst>
              <a:ext uri="{FF2B5EF4-FFF2-40B4-BE49-F238E27FC236}">
                <a16:creationId xmlns:a16="http://schemas.microsoft.com/office/drawing/2014/main" id="{C449AB7D-C8C5-40C8-83FF-33A99F574C14}"/>
              </a:ext>
            </a:extLst>
          </p:cNvPr>
          <p:cNvSpPr>
            <a:spLocks noGrp="1"/>
          </p:cNvSpPr>
          <p:nvPr/>
        </p:nvSpPr>
        <p:spPr>
          <a:xfrm>
            <a:off x="1076325" y="4027715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163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Harvest water + carry-over dryness</a:t>
            </a:r>
          </a:p>
        </p:txBody>
      </p:sp>
      <p:sp>
        <p:nvSpPr>
          <p:cNvPr id="22" name="rule-douro-4-delta">
            <a:extLst>
              <a:ext uri="{FF2B5EF4-FFF2-40B4-BE49-F238E27FC236}">
                <a16:creationId xmlns:a16="http://schemas.microsoft.com/office/drawing/2014/main" id="{F9C4DCB7-D20F-4830-8BB0-2A0415B56461}"/>
              </a:ext>
            </a:extLst>
          </p:cNvPr>
          <p:cNvSpPr>
            <a:spLocks noGrp="1"/>
          </p:cNvSpPr>
          <p:nvPr/>
        </p:nvSpPr>
        <p:spPr>
          <a:xfrm>
            <a:off x="4314825" y="403724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146C43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rgbClr val="146C43"/>
                </a:solidFill>
                <a:latin typeface="Arial"/>
                <a:ea typeface="Arial"/>
                <a:cs typeface="Arial"/>
              </a:rPr>
              <a:t>+192 mhl</a:t>
            </a:r>
          </a:p>
        </p:txBody>
      </p:sp>
      <p:sp>
        <p:nvSpPr>
          <p:cNvPr id="23" name="rule-douro-4-support">
            <a:extLst>
              <a:ext uri="{FF2B5EF4-FFF2-40B4-BE49-F238E27FC236}">
                <a16:creationId xmlns:a16="http://schemas.microsoft.com/office/drawing/2014/main" id="{C121A40C-07E9-462B-B526-F3EDEBD3F21B}"/>
              </a:ext>
            </a:extLst>
          </p:cNvPr>
          <p:cNvSpPr>
            <a:spLocks noGrp="1"/>
          </p:cNvSpPr>
          <p:nvPr/>
        </p:nvSpPr>
        <p:spPr>
          <a:xfrm>
            <a:off x="1076325" y="4256315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788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21.3% support · p=0.0095</a:t>
            </a:r>
          </a:p>
        </p:txBody>
      </p:sp>
      <p:sp>
        <p:nvSpPr>
          <p:cNvPr id="24" name="rule-douro-5-rank">
            <a:extLst>
              <a:ext uri="{FF2B5EF4-FFF2-40B4-BE49-F238E27FC236}">
                <a16:creationId xmlns:a16="http://schemas.microsoft.com/office/drawing/2014/main" id="{49D74733-37B0-420C-8729-01C160AAC178}"/>
              </a:ext>
            </a:extLst>
          </p:cNvPr>
          <p:cNvSpPr>
            <a:spLocks noGrp="1"/>
          </p:cNvSpPr>
          <p:nvPr/>
        </p:nvSpPr>
        <p:spPr>
          <a:xfrm>
            <a:off x="714375" y="4484915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75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rule-douro-5-pattern">
            <a:extLst>
              <a:ext uri="{FF2B5EF4-FFF2-40B4-BE49-F238E27FC236}">
                <a16:creationId xmlns:a16="http://schemas.microsoft.com/office/drawing/2014/main" id="{C8E3B63F-C73E-4788-929A-032DCC57F794}"/>
              </a:ext>
            </a:extLst>
          </p:cNvPr>
          <p:cNvSpPr>
            <a:spLocks noGrp="1"/>
          </p:cNvSpPr>
          <p:nvPr/>
        </p:nvSpPr>
        <p:spPr>
          <a:xfrm>
            <a:off x="1076325" y="4446815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163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Dry flowering + bounded heat</a:t>
            </a:r>
          </a:p>
        </p:txBody>
      </p:sp>
      <p:sp>
        <p:nvSpPr>
          <p:cNvPr id="26" name="rule-douro-5-delta">
            <a:extLst>
              <a:ext uri="{FF2B5EF4-FFF2-40B4-BE49-F238E27FC236}">
                <a16:creationId xmlns:a16="http://schemas.microsoft.com/office/drawing/2014/main" id="{42274413-F26D-4849-976D-26C270D2A655}"/>
              </a:ext>
            </a:extLst>
          </p:cNvPr>
          <p:cNvSpPr>
            <a:spLocks noGrp="1"/>
          </p:cNvSpPr>
          <p:nvPr/>
        </p:nvSpPr>
        <p:spPr>
          <a:xfrm>
            <a:off x="4314825" y="445634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146C43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rgbClr val="146C43"/>
                </a:solidFill>
                <a:latin typeface="Arial"/>
                <a:ea typeface="Arial"/>
                <a:cs typeface="Arial"/>
              </a:rPr>
              <a:t>+115 mhl</a:t>
            </a:r>
          </a:p>
        </p:txBody>
      </p:sp>
      <p:sp>
        <p:nvSpPr>
          <p:cNvPr id="27" name="rule-douro-5-support">
            <a:extLst>
              <a:ext uri="{FF2B5EF4-FFF2-40B4-BE49-F238E27FC236}">
                <a16:creationId xmlns:a16="http://schemas.microsoft.com/office/drawing/2014/main" id="{71C78432-7F79-4E12-BE6A-133365A5EE81}"/>
              </a:ext>
            </a:extLst>
          </p:cNvPr>
          <p:cNvSpPr>
            <a:spLocks noGrp="1"/>
          </p:cNvSpPr>
          <p:nvPr/>
        </p:nvSpPr>
        <p:spPr>
          <a:xfrm>
            <a:off x="1076325" y="4675415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788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24.7% support · p=0.0110</a:t>
            </a:r>
          </a:p>
        </p:txBody>
      </p:sp>
      <p:sp>
        <p:nvSpPr>
          <p:cNvPr id="28" name="rvv-label">
            <a:extLst>
              <a:ext uri="{FF2B5EF4-FFF2-40B4-BE49-F238E27FC236}">
                <a16:creationId xmlns:a16="http://schemas.microsoft.com/office/drawing/2014/main" id="{2F1552A8-347D-481A-B089-9A9E082A767C}"/>
              </a:ext>
            </a:extLst>
          </p:cNvPr>
          <p:cNvSpPr>
            <a:spLocks noGrp="1"/>
          </p:cNvSpPr>
          <p:nvPr/>
        </p:nvSpPr>
        <p:spPr>
          <a:xfrm>
            <a:off x="6305550" y="182929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VINHO VERDE · top 5 CarenR rules</a:t>
            </a:r>
          </a:p>
        </p:txBody>
      </p:sp>
      <p:sp>
        <p:nvSpPr>
          <p:cNvPr id="29" name="rvv-summary">
            <a:extLst>
              <a:ext uri="{FF2B5EF4-FFF2-40B4-BE49-F238E27FC236}">
                <a16:creationId xmlns:a16="http://schemas.microsoft.com/office/drawing/2014/main" id="{82782C39-0358-4435-8058-3C41B3311F09}"/>
              </a:ext>
            </a:extLst>
          </p:cNvPr>
          <p:cNvSpPr>
            <a:spLocks noGrp="1"/>
          </p:cNvSpPr>
          <p:nvPr/>
        </p:nvSpPr>
        <p:spPr>
          <a:xfrm>
            <a:off x="6619875" y="2237015"/>
            <a:ext cx="447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3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 of 5 are below-trend: cool, moist conditions dominate the Atlantic region.</a:t>
            </a:r>
          </a:p>
        </p:txBody>
      </p:sp>
      <p:sp>
        <p:nvSpPr>
          <p:cNvPr id="30" name="rule-rvv-1-rank">
            <a:extLst>
              <a:ext uri="{FF2B5EF4-FFF2-40B4-BE49-F238E27FC236}">
                <a16:creationId xmlns:a16="http://schemas.microsoft.com/office/drawing/2014/main" id="{3BCE3140-0718-44A2-9391-55465FD76E5A}"/>
              </a:ext>
            </a:extLst>
          </p:cNvPr>
          <p:cNvSpPr>
            <a:spLocks noGrp="1"/>
          </p:cNvSpPr>
          <p:nvPr/>
        </p:nvSpPr>
        <p:spPr>
          <a:xfrm>
            <a:off x="6619875" y="2808515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75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1" name="rule-rvv-1-pattern">
            <a:extLst>
              <a:ext uri="{FF2B5EF4-FFF2-40B4-BE49-F238E27FC236}">
                <a16:creationId xmlns:a16="http://schemas.microsoft.com/office/drawing/2014/main" id="{AC8B2939-682F-4026-8C9A-F568819FE41A}"/>
              </a:ext>
            </a:extLst>
          </p:cNvPr>
          <p:cNvSpPr>
            <a:spLocks noGrp="1"/>
          </p:cNvSpPr>
          <p:nvPr/>
        </p:nvSpPr>
        <p:spPr>
          <a:xfrm>
            <a:off x="6981825" y="2770415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163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Moist harvest + no heat stress</a:t>
            </a:r>
          </a:p>
        </p:txBody>
      </p:sp>
      <p:sp>
        <p:nvSpPr>
          <p:cNvPr id="32" name="rule-rvv-1-delta">
            <a:extLst>
              <a:ext uri="{FF2B5EF4-FFF2-40B4-BE49-F238E27FC236}">
                <a16:creationId xmlns:a16="http://schemas.microsoft.com/office/drawing/2014/main" id="{AECDF222-280F-462E-AE28-34B618414F5A}"/>
              </a:ext>
            </a:extLst>
          </p:cNvPr>
          <p:cNvSpPr>
            <a:spLocks noGrp="1"/>
          </p:cNvSpPr>
          <p:nvPr/>
        </p:nvSpPr>
        <p:spPr>
          <a:xfrm>
            <a:off x="10220325" y="277994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-338 mhl</a:t>
            </a:r>
          </a:p>
        </p:txBody>
      </p:sp>
      <p:sp>
        <p:nvSpPr>
          <p:cNvPr id="33" name="rule-rvv-1-support">
            <a:extLst>
              <a:ext uri="{FF2B5EF4-FFF2-40B4-BE49-F238E27FC236}">
                <a16:creationId xmlns:a16="http://schemas.microsoft.com/office/drawing/2014/main" id="{6AA05EBD-8F11-4265-AEC8-64E1622BDE37}"/>
              </a:ext>
            </a:extLst>
          </p:cNvPr>
          <p:cNvSpPr>
            <a:spLocks noGrp="1"/>
          </p:cNvSpPr>
          <p:nvPr/>
        </p:nvSpPr>
        <p:spPr>
          <a:xfrm>
            <a:off x="6981825" y="2999015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788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21.2% support · p=0.0198</a:t>
            </a:r>
          </a:p>
        </p:txBody>
      </p:sp>
      <p:sp>
        <p:nvSpPr>
          <p:cNvPr id="34" name="rule-rvv-2-rank">
            <a:extLst>
              <a:ext uri="{FF2B5EF4-FFF2-40B4-BE49-F238E27FC236}">
                <a16:creationId xmlns:a16="http://schemas.microsoft.com/office/drawing/2014/main" id="{738E64DC-DFC6-4CB7-85B8-1C02D584C72F}"/>
              </a:ext>
            </a:extLst>
          </p:cNvPr>
          <p:cNvSpPr>
            <a:spLocks noGrp="1"/>
          </p:cNvSpPr>
          <p:nvPr/>
        </p:nvSpPr>
        <p:spPr>
          <a:xfrm>
            <a:off x="6619875" y="3227615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75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5" name="rule-rvv-2-pattern">
            <a:extLst>
              <a:ext uri="{FF2B5EF4-FFF2-40B4-BE49-F238E27FC236}">
                <a16:creationId xmlns:a16="http://schemas.microsoft.com/office/drawing/2014/main" id="{8444DC70-ED85-455B-813A-27A64FF0D9FB}"/>
              </a:ext>
            </a:extLst>
          </p:cNvPr>
          <p:cNvSpPr>
            <a:spLocks noGrp="1"/>
          </p:cNvSpPr>
          <p:nvPr/>
        </p:nvSpPr>
        <p:spPr>
          <a:xfrm>
            <a:off x="6981825" y="3189515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163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Cool flowering + prior soil saturation</a:t>
            </a:r>
          </a:p>
        </p:txBody>
      </p:sp>
      <p:sp>
        <p:nvSpPr>
          <p:cNvPr id="36" name="rule-rvv-2-delta">
            <a:extLst>
              <a:ext uri="{FF2B5EF4-FFF2-40B4-BE49-F238E27FC236}">
                <a16:creationId xmlns:a16="http://schemas.microsoft.com/office/drawing/2014/main" id="{76A3BD4A-EA20-42AE-8A16-A83432A04D26}"/>
              </a:ext>
            </a:extLst>
          </p:cNvPr>
          <p:cNvSpPr>
            <a:spLocks noGrp="1"/>
          </p:cNvSpPr>
          <p:nvPr/>
        </p:nvSpPr>
        <p:spPr>
          <a:xfrm>
            <a:off x="10220325" y="319904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-268 mhl</a:t>
            </a:r>
          </a:p>
        </p:txBody>
      </p:sp>
      <p:sp>
        <p:nvSpPr>
          <p:cNvPr id="37" name="rule-rvv-2-support">
            <a:extLst>
              <a:ext uri="{FF2B5EF4-FFF2-40B4-BE49-F238E27FC236}">
                <a16:creationId xmlns:a16="http://schemas.microsoft.com/office/drawing/2014/main" id="{1839A862-962D-43A2-AB77-AFC2EF3B472A}"/>
              </a:ext>
            </a:extLst>
          </p:cNvPr>
          <p:cNvSpPr>
            <a:spLocks noGrp="1"/>
          </p:cNvSpPr>
          <p:nvPr/>
        </p:nvSpPr>
        <p:spPr>
          <a:xfrm>
            <a:off x="6981825" y="3418115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788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21.2% support · p=0.0216</a:t>
            </a:r>
          </a:p>
        </p:txBody>
      </p:sp>
      <p:sp>
        <p:nvSpPr>
          <p:cNvPr id="38" name="rule-rvv-3-rank">
            <a:extLst>
              <a:ext uri="{FF2B5EF4-FFF2-40B4-BE49-F238E27FC236}">
                <a16:creationId xmlns:a16="http://schemas.microsoft.com/office/drawing/2014/main" id="{BC23706C-D096-49B9-BF6E-2D667716A79D}"/>
              </a:ext>
            </a:extLst>
          </p:cNvPr>
          <p:cNvSpPr>
            <a:spLocks noGrp="1"/>
          </p:cNvSpPr>
          <p:nvPr/>
        </p:nvSpPr>
        <p:spPr>
          <a:xfrm>
            <a:off x="6619875" y="3646715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75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9" name="rule-rvv-3-pattern">
            <a:extLst>
              <a:ext uri="{FF2B5EF4-FFF2-40B4-BE49-F238E27FC236}">
                <a16:creationId xmlns:a16="http://schemas.microsoft.com/office/drawing/2014/main" id="{03703D47-8B79-4A74-A005-5D985A06D48C}"/>
              </a:ext>
            </a:extLst>
          </p:cNvPr>
          <p:cNvSpPr>
            <a:spLocks noGrp="1"/>
          </p:cNvSpPr>
          <p:nvPr/>
        </p:nvSpPr>
        <p:spPr>
          <a:xfrm>
            <a:off x="6981825" y="3608615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163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Moist post-flowering + low heat</a:t>
            </a:r>
          </a:p>
        </p:txBody>
      </p:sp>
      <p:sp>
        <p:nvSpPr>
          <p:cNvPr id="40" name="rule-rvv-3-delta">
            <a:extLst>
              <a:ext uri="{FF2B5EF4-FFF2-40B4-BE49-F238E27FC236}">
                <a16:creationId xmlns:a16="http://schemas.microsoft.com/office/drawing/2014/main" id="{9E81AC55-F369-464A-B839-6D05261A07F8}"/>
              </a:ext>
            </a:extLst>
          </p:cNvPr>
          <p:cNvSpPr>
            <a:spLocks noGrp="1"/>
          </p:cNvSpPr>
          <p:nvPr/>
        </p:nvSpPr>
        <p:spPr>
          <a:xfrm>
            <a:off x="10220325" y="361814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-365 mhl</a:t>
            </a:r>
          </a:p>
        </p:txBody>
      </p:sp>
      <p:sp>
        <p:nvSpPr>
          <p:cNvPr id="41" name="rule-rvv-3-support">
            <a:extLst>
              <a:ext uri="{FF2B5EF4-FFF2-40B4-BE49-F238E27FC236}">
                <a16:creationId xmlns:a16="http://schemas.microsoft.com/office/drawing/2014/main" id="{43ABB15C-4475-4CB9-AC06-320D871F3853}"/>
              </a:ext>
            </a:extLst>
          </p:cNvPr>
          <p:cNvSpPr>
            <a:spLocks noGrp="1"/>
          </p:cNvSpPr>
          <p:nvPr/>
        </p:nvSpPr>
        <p:spPr>
          <a:xfrm>
            <a:off x="6981825" y="3837215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788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27.5% support · p=0.0294</a:t>
            </a:r>
          </a:p>
        </p:txBody>
      </p:sp>
      <p:sp>
        <p:nvSpPr>
          <p:cNvPr id="42" name="rule-rvv-4-rank">
            <a:extLst>
              <a:ext uri="{FF2B5EF4-FFF2-40B4-BE49-F238E27FC236}">
                <a16:creationId xmlns:a16="http://schemas.microsoft.com/office/drawing/2014/main" id="{7375654A-DC75-4FD7-8413-22DDF5606C78}"/>
              </a:ext>
            </a:extLst>
          </p:cNvPr>
          <p:cNvSpPr>
            <a:spLocks noGrp="1"/>
          </p:cNvSpPr>
          <p:nvPr/>
        </p:nvSpPr>
        <p:spPr>
          <a:xfrm>
            <a:off x="6619875" y="4065815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75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3" name="rule-rvv-4-pattern">
            <a:extLst>
              <a:ext uri="{FF2B5EF4-FFF2-40B4-BE49-F238E27FC236}">
                <a16:creationId xmlns:a16="http://schemas.microsoft.com/office/drawing/2014/main" id="{F0703326-34FD-4E0C-945A-3E0C98EC6E20}"/>
              </a:ext>
            </a:extLst>
          </p:cNvPr>
          <p:cNvSpPr>
            <a:spLocks noGrp="1"/>
          </p:cNvSpPr>
          <p:nvPr/>
        </p:nvSpPr>
        <p:spPr>
          <a:xfrm>
            <a:off x="6981825" y="4027715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163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Warm prior budburst + mild flowering</a:t>
            </a:r>
          </a:p>
        </p:txBody>
      </p:sp>
      <p:sp>
        <p:nvSpPr>
          <p:cNvPr id="44" name="rule-rvv-4-delta">
            <a:extLst>
              <a:ext uri="{FF2B5EF4-FFF2-40B4-BE49-F238E27FC236}">
                <a16:creationId xmlns:a16="http://schemas.microsoft.com/office/drawing/2014/main" id="{7FBDE785-9B3A-4AF6-8BB7-62F653682300}"/>
              </a:ext>
            </a:extLst>
          </p:cNvPr>
          <p:cNvSpPr>
            <a:spLocks noGrp="1"/>
          </p:cNvSpPr>
          <p:nvPr/>
        </p:nvSpPr>
        <p:spPr>
          <a:xfrm>
            <a:off x="10220325" y="403724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146C43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rgbClr val="146C43"/>
                </a:solidFill>
                <a:latin typeface="Arial"/>
                <a:ea typeface="Arial"/>
                <a:cs typeface="Arial"/>
              </a:rPr>
              <a:t>+311 mhl</a:t>
            </a:r>
          </a:p>
        </p:txBody>
      </p:sp>
      <p:sp>
        <p:nvSpPr>
          <p:cNvPr id="45" name="rule-rvv-4-support">
            <a:extLst>
              <a:ext uri="{FF2B5EF4-FFF2-40B4-BE49-F238E27FC236}">
                <a16:creationId xmlns:a16="http://schemas.microsoft.com/office/drawing/2014/main" id="{B8374B38-8FDB-4D74-86FF-CCA1FA2DAEFF}"/>
              </a:ext>
            </a:extLst>
          </p:cNvPr>
          <p:cNvSpPr>
            <a:spLocks noGrp="1"/>
          </p:cNvSpPr>
          <p:nvPr/>
        </p:nvSpPr>
        <p:spPr>
          <a:xfrm>
            <a:off x="6981825" y="4256315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788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25.0% support · p=0.0298</a:t>
            </a:r>
          </a:p>
        </p:txBody>
      </p:sp>
      <p:sp>
        <p:nvSpPr>
          <p:cNvPr id="46" name="rule-rvv-5-rank">
            <a:extLst>
              <a:ext uri="{FF2B5EF4-FFF2-40B4-BE49-F238E27FC236}">
                <a16:creationId xmlns:a16="http://schemas.microsoft.com/office/drawing/2014/main" id="{254E947A-560F-4CF9-A71D-7350BAE8F025}"/>
              </a:ext>
            </a:extLst>
          </p:cNvPr>
          <p:cNvSpPr>
            <a:spLocks noGrp="1"/>
          </p:cNvSpPr>
          <p:nvPr/>
        </p:nvSpPr>
        <p:spPr>
          <a:xfrm>
            <a:off x="6619875" y="4484915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75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7" name="rule-rvv-5-pattern">
            <a:extLst>
              <a:ext uri="{FF2B5EF4-FFF2-40B4-BE49-F238E27FC236}">
                <a16:creationId xmlns:a16="http://schemas.microsoft.com/office/drawing/2014/main" id="{E448A1AD-71F7-4D75-8D6D-6ADBACFDC21F}"/>
              </a:ext>
            </a:extLst>
          </p:cNvPr>
          <p:cNvSpPr>
            <a:spLocks noGrp="1"/>
          </p:cNvSpPr>
          <p:nvPr/>
        </p:nvSpPr>
        <p:spPr>
          <a:xfrm>
            <a:off x="6981825" y="4446815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163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Cool post-flowering + wet carry-over</a:t>
            </a:r>
          </a:p>
        </p:txBody>
      </p:sp>
      <p:sp>
        <p:nvSpPr>
          <p:cNvPr id="48" name="rule-rvv-5-delta">
            <a:extLst>
              <a:ext uri="{FF2B5EF4-FFF2-40B4-BE49-F238E27FC236}">
                <a16:creationId xmlns:a16="http://schemas.microsoft.com/office/drawing/2014/main" id="{E15D61DB-9A5A-4AA1-ADD4-7483AE220458}"/>
              </a:ext>
            </a:extLst>
          </p:cNvPr>
          <p:cNvSpPr>
            <a:spLocks noGrp="1"/>
          </p:cNvSpPr>
          <p:nvPr/>
        </p:nvSpPr>
        <p:spPr>
          <a:xfrm>
            <a:off x="10220325" y="445634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-292 mhl</a:t>
            </a:r>
          </a:p>
        </p:txBody>
      </p:sp>
      <p:sp>
        <p:nvSpPr>
          <p:cNvPr id="49" name="rule-rvv-5-support">
            <a:extLst>
              <a:ext uri="{FF2B5EF4-FFF2-40B4-BE49-F238E27FC236}">
                <a16:creationId xmlns:a16="http://schemas.microsoft.com/office/drawing/2014/main" id="{4C8426F4-53AD-4FFF-9552-78ABA5ADDFEC}"/>
              </a:ext>
            </a:extLst>
          </p:cNvPr>
          <p:cNvSpPr>
            <a:spLocks noGrp="1"/>
          </p:cNvSpPr>
          <p:nvPr/>
        </p:nvSpPr>
        <p:spPr>
          <a:xfrm>
            <a:off x="6981825" y="4675415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788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23.8% support · p=0.0299</a:t>
            </a:r>
          </a:p>
        </p:txBody>
      </p:sp>
      <p:sp>
        <p:nvSpPr>
          <p:cNvPr id="50" name="finding-band">
            <a:extLst>
              <a:ext uri="{FF2B5EF4-FFF2-40B4-BE49-F238E27FC236}">
                <a16:creationId xmlns:a16="http://schemas.microsoft.com/office/drawing/2014/main" id="{1C3A083A-E546-4493-B335-10679EDF5198}"/>
              </a:ext>
            </a:extLst>
          </p:cNvPr>
          <p:cNvSpPr>
            <a:spLocks noGrp="1"/>
          </p:cNvSpPr>
          <p:nvPr/>
        </p:nvSpPr>
        <p:spPr>
          <a:xfrm>
            <a:off x="400050" y="5286527"/>
            <a:ext cx="11382375" cy="838200"/>
          </a:xfrm>
          <a:prstGeom prst="rect">
            <a:avLst/>
          </a:prstGeom>
          <a:solidFill>
            <a:schemeClr val="bg2">
              <a:lumMod val="9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52" name="finding-main">
            <a:extLst>
              <a:ext uri="{FF2B5EF4-FFF2-40B4-BE49-F238E27FC236}">
                <a16:creationId xmlns:a16="http://schemas.microsoft.com/office/drawing/2014/main" id="{35900B4E-D9F9-4FB9-A88C-0B4F32F146D5}"/>
              </a:ext>
            </a:extLst>
          </p:cNvPr>
          <p:cNvSpPr>
            <a:spLocks noGrp="1"/>
          </p:cNvSpPr>
          <p:nvPr/>
        </p:nvSpPr>
        <p:spPr>
          <a:xfrm>
            <a:off x="1128634" y="5539348"/>
            <a:ext cx="9967991" cy="64681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2000" b="1" noProof="0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HARVEST SOIL WATER +  LAI/CANOPY </a:t>
            </a:r>
            <a:r>
              <a:rPr lang="en-GB" sz="2000" b="1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ARE THE MOST RELEVANT ONES</a:t>
            </a:r>
            <a:r>
              <a:rPr lang="en-GB" sz="2000" b="1" noProof="0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55" name="slide-number">
            <a:extLst>
              <a:ext uri="{FF2B5EF4-FFF2-40B4-BE49-F238E27FC236}">
                <a16:creationId xmlns:a16="http://schemas.microsoft.com/office/drawing/2014/main" id="{3EAB9F83-A019-4CC3-B7E0-33987C3A751C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750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44F8B6B-3465-E539-D32A-65C825FC528A}"/>
              </a:ext>
            </a:extLst>
          </p:cNvPr>
          <p:cNvSpPr/>
          <p:nvPr/>
        </p:nvSpPr>
        <p:spPr>
          <a:xfrm>
            <a:off x="4211585" y="2656115"/>
            <a:ext cx="1562100" cy="219075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83DD95C-1BDE-F619-E6C4-286A35F9ECE0}"/>
              </a:ext>
            </a:extLst>
          </p:cNvPr>
          <p:cNvSpPr/>
          <p:nvPr/>
        </p:nvSpPr>
        <p:spPr>
          <a:xfrm>
            <a:off x="10125075" y="2741840"/>
            <a:ext cx="1562100" cy="219075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2FB2A65-C00B-9CF5-9E11-FD37F5467D5F}"/>
              </a:ext>
            </a:extLst>
          </p:cNvPr>
          <p:cNvCxnSpPr/>
          <p:nvPr/>
        </p:nvCxnSpPr>
        <p:spPr>
          <a:xfrm flipV="1">
            <a:off x="4400550" y="3318102"/>
            <a:ext cx="0" cy="65722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61DFAC1-E4FF-5192-75F7-61ADC8462B00}"/>
              </a:ext>
            </a:extLst>
          </p:cNvPr>
          <p:cNvCxnSpPr>
            <a:cxnSpLocks/>
          </p:cNvCxnSpPr>
          <p:nvPr/>
        </p:nvCxnSpPr>
        <p:spPr>
          <a:xfrm>
            <a:off x="10349067" y="3337152"/>
            <a:ext cx="0" cy="73342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254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>
            <a:extLst>
              <a:ext uri="{FF2B5EF4-FFF2-40B4-BE49-F238E27FC236}">
                <a16:creationId xmlns:a16="http://schemas.microsoft.com/office/drawing/2014/main" id="{AA3E5C72-18C4-4820-A946-3AFADD1B9D87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RESULTS · RULES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235780E-12D0-4C1A-A029-A99CA3019A2C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6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2625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strongest CarenR rules point to water and canopy structure</a:t>
            </a:r>
          </a:p>
        </p:txBody>
      </p:sp>
      <p:sp>
        <p:nvSpPr>
          <p:cNvPr id="4" name="douro-panel">
            <a:extLst>
              <a:ext uri="{FF2B5EF4-FFF2-40B4-BE49-F238E27FC236}">
                <a16:creationId xmlns:a16="http://schemas.microsoft.com/office/drawing/2014/main" id="{DB3A9BFA-81C6-4691-9368-F9F7C131BC49}"/>
              </a:ext>
            </a:extLst>
          </p:cNvPr>
          <p:cNvSpPr>
            <a:spLocks noGrp="1"/>
          </p:cNvSpPr>
          <p:nvPr/>
        </p:nvSpPr>
        <p:spPr>
          <a:xfrm>
            <a:off x="447675" y="2760998"/>
            <a:ext cx="5476875" cy="3476625"/>
          </a:xfrm>
          <a:prstGeom prst="rect">
            <a:avLst/>
          </a:prstGeom>
          <a:solidFill>
            <a:srgbClr val="EAF4FB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5" name="rvv-panel">
            <a:extLst>
              <a:ext uri="{FF2B5EF4-FFF2-40B4-BE49-F238E27FC236}">
                <a16:creationId xmlns:a16="http://schemas.microsoft.com/office/drawing/2014/main" id="{5F21EEA4-8328-44C4-BCCB-EDEE6BE775BF}"/>
              </a:ext>
            </a:extLst>
          </p:cNvPr>
          <p:cNvSpPr>
            <a:spLocks noGrp="1"/>
          </p:cNvSpPr>
          <p:nvPr/>
        </p:nvSpPr>
        <p:spPr>
          <a:xfrm>
            <a:off x="6353175" y="2760998"/>
            <a:ext cx="5476875" cy="3476625"/>
          </a:xfrm>
          <a:prstGeom prst="rect">
            <a:avLst/>
          </a:prstGeom>
          <a:solidFill>
            <a:srgbClr val="F7EAF0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6" name="douro-label">
            <a:extLst>
              <a:ext uri="{FF2B5EF4-FFF2-40B4-BE49-F238E27FC236}">
                <a16:creationId xmlns:a16="http://schemas.microsoft.com/office/drawing/2014/main" id="{25377249-CE38-488A-B5C9-0BA00F376236}"/>
              </a:ext>
            </a:extLst>
          </p:cNvPr>
          <p:cNvSpPr>
            <a:spLocks noGrp="1"/>
          </p:cNvSpPr>
          <p:nvPr/>
        </p:nvSpPr>
        <p:spPr>
          <a:xfrm>
            <a:off x="762000" y="3037223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2B6F9A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rgbClr val="2B6F9A"/>
                </a:solidFill>
                <a:latin typeface="Arial"/>
                <a:ea typeface="Arial"/>
                <a:cs typeface="Arial"/>
              </a:rPr>
              <a:t>DOURO · top 5 CarenR rules</a:t>
            </a:r>
          </a:p>
        </p:txBody>
      </p:sp>
      <p:sp>
        <p:nvSpPr>
          <p:cNvPr id="7" name="douro-summary">
            <a:extLst>
              <a:ext uri="{FF2B5EF4-FFF2-40B4-BE49-F238E27FC236}">
                <a16:creationId xmlns:a16="http://schemas.microsoft.com/office/drawing/2014/main" id="{B0EE3D9C-DDB3-406D-9D3B-939E14A1EB8A}"/>
              </a:ext>
            </a:extLst>
          </p:cNvPr>
          <p:cNvSpPr>
            <a:spLocks noGrp="1"/>
          </p:cNvSpPr>
          <p:nvPr/>
        </p:nvSpPr>
        <p:spPr>
          <a:xfrm>
            <a:off x="762000" y="2793581"/>
            <a:ext cx="447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3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 of 5 are above-trend: dry flowering and bounded heat define good years.</a:t>
            </a:r>
          </a:p>
        </p:txBody>
      </p:sp>
      <p:sp>
        <p:nvSpPr>
          <p:cNvPr id="8" name="rule-douro-1-rank">
            <a:extLst>
              <a:ext uri="{FF2B5EF4-FFF2-40B4-BE49-F238E27FC236}">
                <a16:creationId xmlns:a16="http://schemas.microsoft.com/office/drawing/2014/main" id="{112D12CD-BA90-42C9-88B7-1E895D2F2C81}"/>
              </a:ext>
            </a:extLst>
          </p:cNvPr>
          <p:cNvSpPr>
            <a:spLocks noGrp="1"/>
          </p:cNvSpPr>
          <p:nvPr/>
        </p:nvSpPr>
        <p:spPr>
          <a:xfrm>
            <a:off x="762000" y="324633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05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rule-douro-1-pattern">
            <a:extLst>
              <a:ext uri="{FF2B5EF4-FFF2-40B4-BE49-F238E27FC236}">
                <a16:creationId xmlns:a16="http://schemas.microsoft.com/office/drawing/2014/main" id="{55214A11-6F83-415F-8DA9-B3080B6E33DA}"/>
              </a:ext>
            </a:extLst>
          </p:cNvPr>
          <p:cNvSpPr>
            <a:spLocks noGrp="1"/>
          </p:cNvSpPr>
          <p:nvPr/>
        </p:nvSpPr>
        <p:spPr>
          <a:xfrm>
            <a:off x="1123950" y="3208230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Dry flowering + dry maturity</a:t>
            </a:r>
          </a:p>
        </p:txBody>
      </p:sp>
      <p:sp>
        <p:nvSpPr>
          <p:cNvPr id="10" name="rule-douro-1-delta">
            <a:extLst>
              <a:ext uri="{FF2B5EF4-FFF2-40B4-BE49-F238E27FC236}">
                <a16:creationId xmlns:a16="http://schemas.microsoft.com/office/drawing/2014/main" id="{DFDE73BD-FA63-4BAF-B9DC-3411C9E99A24}"/>
              </a:ext>
            </a:extLst>
          </p:cNvPr>
          <p:cNvSpPr>
            <a:spLocks noGrp="1"/>
          </p:cNvSpPr>
          <p:nvPr/>
        </p:nvSpPr>
        <p:spPr>
          <a:xfrm>
            <a:off x="4362450" y="3217755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146C43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146C43"/>
                </a:solidFill>
                <a:latin typeface="Arial"/>
                <a:ea typeface="Arial"/>
                <a:cs typeface="Arial"/>
              </a:rPr>
              <a:t>+121 mhl</a:t>
            </a:r>
          </a:p>
        </p:txBody>
      </p:sp>
      <p:sp>
        <p:nvSpPr>
          <p:cNvPr id="11" name="rule-douro-1-support">
            <a:extLst>
              <a:ext uri="{FF2B5EF4-FFF2-40B4-BE49-F238E27FC236}">
                <a16:creationId xmlns:a16="http://schemas.microsoft.com/office/drawing/2014/main" id="{196B7EFD-1B7D-43F6-A653-19032DEE096D}"/>
              </a:ext>
            </a:extLst>
          </p:cNvPr>
          <p:cNvSpPr>
            <a:spLocks noGrp="1"/>
          </p:cNvSpPr>
          <p:nvPr/>
        </p:nvSpPr>
        <p:spPr>
          <a:xfrm>
            <a:off x="1123950" y="3436830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28.1% support · p=0.0043</a:t>
            </a:r>
          </a:p>
        </p:txBody>
      </p:sp>
      <p:sp>
        <p:nvSpPr>
          <p:cNvPr id="12" name="rule-douro-2-rank">
            <a:extLst>
              <a:ext uri="{FF2B5EF4-FFF2-40B4-BE49-F238E27FC236}">
                <a16:creationId xmlns:a16="http://schemas.microsoft.com/office/drawing/2014/main" id="{4A24E729-C905-4488-911C-CF23826CA50C}"/>
              </a:ext>
            </a:extLst>
          </p:cNvPr>
          <p:cNvSpPr>
            <a:spLocks noGrp="1"/>
          </p:cNvSpPr>
          <p:nvPr/>
        </p:nvSpPr>
        <p:spPr>
          <a:xfrm>
            <a:off x="762000" y="366543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05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rule-douro-2-pattern">
            <a:extLst>
              <a:ext uri="{FF2B5EF4-FFF2-40B4-BE49-F238E27FC236}">
                <a16:creationId xmlns:a16="http://schemas.microsoft.com/office/drawing/2014/main" id="{1AB09955-D902-451F-8068-D37DC71E7A90}"/>
              </a:ext>
            </a:extLst>
          </p:cNvPr>
          <p:cNvSpPr>
            <a:spLocks noGrp="1"/>
          </p:cNvSpPr>
          <p:nvPr/>
        </p:nvSpPr>
        <p:spPr>
          <a:xfrm>
            <a:off x="1123950" y="3627330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High LAI + wet flowering</a:t>
            </a:r>
          </a:p>
        </p:txBody>
      </p:sp>
      <p:sp>
        <p:nvSpPr>
          <p:cNvPr id="14" name="rule-douro-2-delta">
            <a:extLst>
              <a:ext uri="{FF2B5EF4-FFF2-40B4-BE49-F238E27FC236}">
                <a16:creationId xmlns:a16="http://schemas.microsoft.com/office/drawing/2014/main" id="{6E7B2FF2-119F-4F33-BFA5-AE072BABE6E6}"/>
              </a:ext>
            </a:extLst>
          </p:cNvPr>
          <p:cNvSpPr>
            <a:spLocks noGrp="1"/>
          </p:cNvSpPr>
          <p:nvPr/>
        </p:nvSpPr>
        <p:spPr>
          <a:xfrm>
            <a:off x="4362450" y="3636855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-131 mhl</a:t>
            </a:r>
          </a:p>
        </p:txBody>
      </p:sp>
      <p:sp>
        <p:nvSpPr>
          <p:cNvPr id="15" name="rule-douro-2-support">
            <a:extLst>
              <a:ext uri="{FF2B5EF4-FFF2-40B4-BE49-F238E27FC236}">
                <a16:creationId xmlns:a16="http://schemas.microsoft.com/office/drawing/2014/main" id="{0B1B3A52-047D-4C39-A204-8601FE2E4945}"/>
              </a:ext>
            </a:extLst>
          </p:cNvPr>
          <p:cNvSpPr>
            <a:spLocks noGrp="1"/>
          </p:cNvSpPr>
          <p:nvPr/>
        </p:nvSpPr>
        <p:spPr>
          <a:xfrm>
            <a:off x="1123950" y="3855930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20.2% support · p=0.0084</a:t>
            </a:r>
          </a:p>
        </p:txBody>
      </p:sp>
      <p:sp>
        <p:nvSpPr>
          <p:cNvPr id="16" name="rule-douro-3-rank">
            <a:extLst>
              <a:ext uri="{FF2B5EF4-FFF2-40B4-BE49-F238E27FC236}">
                <a16:creationId xmlns:a16="http://schemas.microsoft.com/office/drawing/2014/main" id="{5019C0E2-BF17-4050-A65B-77E6958920F4}"/>
              </a:ext>
            </a:extLst>
          </p:cNvPr>
          <p:cNvSpPr>
            <a:spLocks noGrp="1"/>
          </p:cNvSpPr>
          <p:nvPr/>
        </p:nvSpPr>
        <p:spPr>
          <a:xfrm>
            <a:off x="762000" y="408453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05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rule-douro-3-pattern">
            <a:extLst>
              <a:ext uri="{FF2B5EF4-FFF2-40B4-BE49-F238E27FC236}">
                <a16:creationId xmlns:a16="http://schemas.microsoft.com/office/drawing/2014/main" id="{09468597-E04A-42DB-9B94-D08BFF973430}"/>
              </a:ext>
            </a:extLst>
          </p:cNvPr>
          <p:cNvSpPr>
            <a:spLocks noGrp="1"/>
          </p:cNvSpPr>
          <p:nvPr/>
        </p:nvSpPr>
        <p:spPr>
          <a:xfrm>
            <a:off x="1123950" y="4046430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Dry + moderate heat after flowering</a:t>
            </a:r>
          </a:p>
        </p:txBody>
      </p:sp>
      <p:sp>
        <p:nvSpPr>
          <p:cNvPr id="18" name="rule-douro-3-delta">
            <a:extLst>
              <a:ext uri="{FF2B5EF4-FFF2-40B4-BE49-F238E27FC236}">
                <a16:creationId xmlns:a16="http://schemas.microsoft.com/office/drawing/2014/main" id="{4D2781A6-FD45-4BDD-96F8-F874F0309752}"/>
              </a:ext>
            </a:extLst>
          </p:cNvPr>
          <p:cNvSpPr>
            <a:spLocks noGrp="1"/>
          </p:cNvSpPr>
          <p:nvPr/>
        </p:nvSpPr>
        <p:spPr>
          <a:xfrm>
            <a:off x="4362450" y="4055955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146C43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146C43"/>
                </a:solidFill>
                <a:latin typeface="Arial"/>
                <a:ea typeface="Arial"/>
                <a:cs typeface="Arial"/>
              </a:rPr>
              <a:t>+113 mhl</a:t>
            </a:r>
          </a:p>
        </p:txBody>
      </p:sp>
      <p:sp>
        <p:nvSpPr>
          <p:cNvPr id="19" name="rule-douro-3-support">
            <a:extLst>
              <a:ext uri="{FF2B5EF4-FFF2-40B4-BE49-F238E27FC236}">
                <a16:creationId xmlns:a16="http://schemas.microsoft.com/office/drawing/2014/main" id="{52EB5F2F-8DDE-41DA-8315-A078CEE0AA96}"/>
              </a:ext>
            </a:extLst>
          </p:cNvPr>
          <p:cNvSpPr>
            <a:spLocks noGrp="1"/>
          </p:cNvSpPr>
          <p:nvPr/>
        </p:nvSpPr>
        <p:spPr>
          <a:xfrm>
            <a:off x="1123950" y="4275030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25.8% support · p=0.0089</a:t>
            </a:r>
          </a:p>
        </p:txBody>
      </p:sp>
      <p:sp>
        <p:nvSpPr>
          <p:cNvPr id="20" name="rule-douro-4-rank">
            <a:extLst>
              <a:ext uri="{FF2B5EF4-FFF2-40B4-BE49-F238E27FC236}">
                <a16:creationId xmlns:a16="http://schemas.microsoft.com/office/drawing/2014/main" id="{DE76DB4C-BA55-4BB0-9737-CAA4D7BA2841}"/>
              </a:ext>
            </a:extLst>
          </p:cNvPr>
          <p:cNvSpPr>
            <a:spLocks noGrp="1"/>
          </p:cNvSpPr>
          <p:nvPr/>
        </p:nvSpPr>
        <p:spPr>
          <a:xfrm>
            <a:off x="762000" y="450363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05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rule-douro-4-pattern">
            <a:extLst>
              <a:ext uri="{FF2B5EF4-FFF2-40B4-BE49-F238E27FC236}">
                <a16:creationId xmlns:a16="http://schemas.microsoft.com/office/drawing/2014/main" id="{C449AB7D-C8C5-40C8-83FF-33A99F574C14}"/>
              </a:ext>
            </a:extLst>
          </p:cNvPr>
          <p:cNvSpPr>
            <a:spLocks noGrp="1"/>
          </p:cNvSpPr>
          <p:nvPr/>
        </p:nvSpPr>
        <p:spPr>
          <a:xfrm>
            <a:off x="1123950" y="4465530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Harvest water + carry-over dryness</a:t>
            </a:r>
          </a:p>
        </p:txBody>
      </p:sp>
      <p:sp>
        <p:nvSpPr>
          <p:cNvPr id="22" name="rule-douro-4-delta">
            <a:extLst>
              <a:ext uri="{FF2B5EF4-FFF2-40B4-BE49-F238E27FC236}">
                <a16:creationId xmlns:a16="http://schemas.microsoft.com/office/drawing/2014/main" id="{F9C4DCB7-D20F-4830-8BB0-2A0415B56461}"/>
              </a:ext>
            </a:extLst>
          </p:cNvPr>
          <p:cNvSpPr>
            <a:spLocks noGrp="1"/>
          </p:cNvSpPr>
          <p:nvPr/>
        </p:nvSpPr>
        <p:spPr>
          <a:xfrm>
            <a:off x="4362450" y="4475055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146C43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146C43"/>
                </a:solidFill>
                <a:latin typeface="Arial"/>
                <a:ea typeface="Arial"/>
                <a:cs typeface="Arial"/>
              </a:rPr>
              <a:t>+192 mhl</a:t>
            </a:r>
          </a:p>
        </p:txBody>
      </p:sp>
      <p:sp>
        <p:nvSpPr>
          <p:cNvPr id="23" name="rule-douro-4-support">
            <a:extLst>
              <a:ext uri="{FF2B5EF4-FFF2-40B4-BE49-F238E27FC236}">
                <a16:creationId xmlns:a16="http://schemas.microsoft.com/office/drawing/2014/main" id="{C121A40C-07E9-462B-B526-F3EDEBD3F21B}"/>
              </a:ext>
            </a:extLst>
          </p:cNvPr>
          <p:cNvSpPr>
            <a:spLocks noGrp="1"/>
          </p:cNvSpPr>
          <p:nvPr/>
        </p:nvSpPr>
        <p:spPr>
          <a:xfrm>
            <a:off x="1123950" y="4694130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21.3% support · p=0.0095</a:t>
            </a:r>
          </a:p>
        </p:txBody>
      </p:sp>
      <p:sp>
        <p:nvSpPr>
          <p:cNvPr id="24" name="rule-douro-5-rank">
            <a:extLst>
              <a:ext uri="{FF2B5EF4-FFF2-40B4-BE49-F238E27FC236}">
                <a16:creationId xmlns:a16="http://schemas.microsoft.com/office/drawing/2014/main" id="{49D74733-37B0-420C-8729-01C160AAC178}"/>
              </a:ext>
            </a:extLst>
          </p:cNvPr>
          <p:cNvSpPr>
            <a:spLocks noGrp="1"/>
          </p:cNvSpPr>
          <p:nvPr/>
        </p:nvSpPr>
        <p:spPr>
          <a:xfrm>
            <a:off x="762000" y="492273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05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rule-douro-5-pattern">
            <a:extLst>
              <a:ext uri="{FF2B5EF4-FFF2-40B4-BE49-F238E27FC236}">
                <a16:creationId xmlns:a16="http://schemas.microsoft.com/office/drawing/2014/main" id="{C8E3B63F-C73E-4788-929A-032DCC57F794}"/>
              </a:ext>
            </a:extLst>
          </p:cNvPr>
          <p:cNvSpPr>
            <a:spLocks noGrp="1"/>
          </p:cNvSpPr>
          <p:nvPr/>
        </p:nvSpPr>
        <p:spPr>
          <a:xfrm>
            <a:off x="1123950" y="4884630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Dry flowering + bounded heat</a:t>
            </a:r>
          </a:p>
        </p:txBody>
      </p:sp>
      <p:sp>
        <p:nvSpPr>
          <p:cNvPr id="26" name="rule-douro-5-delta">
            <a:extLst>
              <a:ext uri="{FF2B5EF4-FFF2-40B4-BE49-F238E27FC236}">
                <a16:creationId xmlns:a16="http://schemas.microsoft.com/office/drawing/2014/main" id="{42274413-F26D-4849-976D-26C270D2A655}"/>
              </a:ext>
            </a:extLst>
          </p:cNvPr>
          <p:cNvSpPr>
            <a:spLocks noGrp="1"/>
          </p:cNvSpPr>
          <p:nvPr/>
        </p:nvSpPr>
        <p:spPr>
          <a:xfrm>
            <a:off x="4362450" y="4894155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146C43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146C43"/>
                </a:solidFill>
                <a:latin typeface="Arial"/>
                <a:ea typeface="Arial"/>
                <a:cs typeface="Arial"/>
              </a:rPr>
              <a:t>+115 mhl</a:t>
            </a:r>
          </a:p>
        </p:txBody>
      </p:sp>
      <p:sp>
        <p:nvSpPr>
          <p:cNvPr id="27" name="rule-douro-5-support">
            <a:extLst>
              <a:ext uri="{FF2B5EF4-FFF2-40B4-BE49-F238E27FC236}">
                <a16:creationId xmlns:a16="http://schemas.microsoft.com/office/drawing/2014/main" id="{71C78432-7F79-4E12-BE6A-133365A5EE81}"/>
              </a:ext>
            </a:extLst>
          </p:cNvPr>
          <p:cNvSpPr>
            <a:spLocks noGrp="1"/>
          </p:cNvSpPr>
          <p:nvPr/>
        </p:nvSpPr>
        <p:spPr>
          <a:xfrm>
            <a:off x="1123950" y="5113230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24.7% support · p=0.0110</a:t>
            </a:r>
          </a:p>
        </p:txBody>
      </p:sp>
      <p:sp>
        <p:nvSpPr>
          <p:cNvPr id="28" name="rvv-label">
            <a:extLst>
              <a:ext uri="{FF2B5EF4-FFF2-40B4-BE49-F238E27FC236}">
                <a16:creationId xmlns:a16="http://schemas.microsoft.com/office/drawing/2014/main" id="{2F1552A8-347D-481A-B089-9A9E082A767C}"/>
              </a:ext>
            </a:extLst>
          </p:cNvPr>
          <p:cNvSpPr>
            <a:spLocks noGrp="1"/>
          </p:cNvSpPr>
          <p:nvPr/>
        </p:nvSpPr>
        <p:spPr>
          <a:xfrm>
            <a:off x="6667500" y="3037223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VINHO VERDE · top 5 CarenR rules</a:t>
            </a:r>
          </a:p>
        </p:txBody>
      </p:sp>
      <p:sp>
        <p:nvSpPr>
          <p:cNvPr id="29" name="rvv-summary">
            <a:extLst>
              <a:ext uri="{FF2B5EF4-FFF2-40B4-BE49-F238E27FC236}">
                <a16:creationId xmlns:a16="http://schemas.microsoft.com/office/drawing/2014/main" id="{82782C39-0358-4435-8058-3C41B3311F09}"/>
              </a:ext>
            </a:extLst>
          </p:cNvPr>
          <p:cNvSpPr>
            <a:spLocks noGrp="1"/>
          </p:cNvSpPr>
          <p:nvPr/>
        </p:nvSpPr>
        <p:spPr>
          <a:xfrm>
            <a:off x="6667500" y="2793581"/>
            <a:ext cx="447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3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 of 5 are below-trend: cool, moist conditions dominate the Atlantic region.</a:t>
            </a:r>
          </a:p>
        </p:txBody>
      </p:sp>
      <p:sp>
        <p:nvSpPr>
          <p:cNvPr id="30" name="rule-rvv-1-rank">
            <a:extLst>
              <a:ext uri="{FF2B5EF4-FFF2-40B4-BE49-F238E27FC236}">
                <a16:creationId xmlns:a16="http://schemas.microsoft.com/office/drawing/2014/main" id="{3BCE3140-0718-44A2-9391-55465FD76E5A}"/>
              </a:ext>
            </a:extLst>
          </p:cNvPr>
          <p:cNvSpPr>
            <a:spLocks noGrp="1"/>
          </p:cNvSpPr>
          <p:nvPr/>
        </p:nvSpPr>
        <p:spPr>
          <a:xfrm>
            <a:off x="6667500" y="324633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05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1" name="rule-rvv-1-pattern">
            <a:extLst>
              <a:ext uri="{FF2B5EF4-FFF2-40B4-BE49-F238E27FC236}">
                <a16:creationId xmlns:a16="http://schemas.microsoft.com/office/drawing/2014/main" id="{AC8B2939-682F-4026-8C9A-F568819FE41A}"/>
              </a:ext>
            </a:extLst>
          </p:cNvPr>
          <p:cNvSpPr>
            <a:spLocks noGrp="1"/>
          </p:cNvSpPr>
          <p:nvPr/>
        </p:nvSpPr>
        <p:spPr>
          <a:xfrm>
            <a:off x="7029450" y="3208230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Moist harvest + no heat stress</a:t>
            </a:r>
          </a:p>
        </p:txBody>
      </p:sp>
      <p:sp>
        <p:nvSpPr>
          <p:cNvPr id="32" name="rule-rvv-1-delta">
            <a:extLst>
              <a:ext uri="{FF2B5EF4-FFF2-40B4-BE49-F238E27FC236}">
                <a16:creationId xmlns:a16="http://schemas.microsoft.com/office/drawing/2014/main" id="{AECDF222-280F-462E-AE28-34B618414F5A}"/>
              </a:ext>
            </a:extLst>
          </p:cNvPr>
          <p:cNvSpPr>
            <a:spLocks noGrp="1"/>
          </p:cNvSpPr>
          <p:nvPr/>
        </p:nvSpPr>
        <p:spPr>
          <a:xfrm>
            <a:off x="10267950" y="3217755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-338 mhl</a:t>
            </a:r>
          </a:p>
        </p:txBody>
      </p:sp>
      <p:sp>
        <p:nvSpPr>
          <p:cNvPr id="33" name="rule-rvv-1-support">
            <a:extLst>
              <a:ext uri="{FF2B5EF4-FFF2-40B4-BE49-F238E27FC236}">
                <a16:creationId xmlns:a16="http://schemas.microsoft.com/office/drawing/2014/main" id="{6AA05EBD-8F11-4265-AEC8-64E1622BDE37}"/>
              </a:ext>
            </a:extLst>
          </p:cNvPr>
          <p:cNvSpPr>
            <a:spLocks noGrp="1"/>
          </p:cNvSpPr>
          <p:nvPr/>
        </p:nvSpPr>
        <p:spPr>
          <a:xfrm>
            <a:off x="7029450" y="3436830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21.2% support · p=0.0198</a:t>
            </a:r>
          </a:p>
        </p:txBody>
      </p:sp>
      <p:sp>
        <p:nvSpPr>
          <p:cNvPr id="34" name="rule-rvv-2-rank">
            <a:extLst>
              <a:ext uri="{FF2B5EF4-FFF2-40B4-BE49-F238E27FC236}">
                <a16:creationId xmlns:a16="http://schemas.microsoft.com/office/drawing/2014/main" id="{738E64DC-DFC6-4CB7-85B8-1C02D584C72F}"/>
              </a:ext>
            </a:extLst>
          </p:cNvPr>
          <p:cNvSpPr>
            <a:spLocks noGrp="1"/>
          </p:cNvSpPr>
          <p:nvPr/>
        </p:nvSpPr>
        <p:spPr>
          <a:xfrm>
            <a:off x="6667500" y="366543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05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5" name="rule-rvv-2-pattern">
            <a:extLst>
              <a:ext uri="{FF2B5EF4-FFF2-40B4-BE49-F238E27FC236}">
                <a16:creationId xmlns:a16="http://schemas.microsoft.com/office/drawing/2014/main" id="{8444DC70-ED85-455B-813A-27A64FF0D9FB}"/>
              </a:ext>
            </a:extLst>
          </p:cNvPr>
          <p:cNvSpPr>
            <a:spLocks noGrp="1"/>
          </p:cNvSpPr>
          <p:nvPr/>
        </p:nvSpPr>
        <p:spPr>
          <a:xfrm>
            <a:off x="7029450" y="3627330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Cool flowering + prior soil saturation</a:t>
            </a:r>
          </a:p>
        </p:txBody>
      </p:sp>
      <p:sp>
        <p:nvSpPr>
          <p:cNvPr id="36" name="rule-rvv-2-delta">
            <a:extLst>
              <a:ext uri="{FF2B5EF4-FFF2-40B4-BE49-F238E27FC236}">
                <a16:creationId xmlns:a16="http://schemas.microsoft.com/office/drawing/2014/main" id="{76A3BD4A-EA20-42AE-8A16-A83432A04D26}"/>
              </a:ext>
            </a:extLst>
          </p:cNvPr>
          <p:cNvSpPr>
            <a:spLocks noGrp="1"/>
          </p:cNvSpPr>
          <p:nvPr/>
        </p:nvSpPr>
        <p:spPr>
          <a:xfrm>
            <a:off x="10267950" y="3636855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-268 mhl</a:t>
            </a:r>
          </a:p>
        </p:txBody>
      </p:sp>
      <p:sp>
        <p:nvSpPr>
          <p:cNvPr id="37" name="rule-rvv-2-support">
            <a:extLst>
              <a:ext uri="{FF2B5EF4-FFF2-40B4-BE49-F238E27FC236}">
                <a16:creationId xmlns:a16="http://schemas.microsoft.com/office/drawing/2014/main" id="{1839A862-962D-43A2-AB77-AFC2EF3B472A}"/>
              </a:ext>
            </a:extLst>
          </p:cNvPr>
          <p:cNvSpPr>
            <a:spLocks noGrp="1"/>
          </p:cNvSpPr>
          <p:nvPr/>
        </p:nvSpPr>
        <p:spPr>
          <a:xfrm>
            <a:off x="7029450" y="3855930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21.2% support · p=0.0216</a:t>
            </a:r>
          </a:p>
        </p:txBody>
      </p:sp>
      <p:sp>
        <p:nvSpPr>
          <p:cNvPr id="38" name="rule-rvv-3-rank">
            <a:extLst>
              <a:ext uri="{FF2B5EF4-FFF2-40B4-BE49-F238E27FC236}">
                <a16:creationId xmlns:a16="http://schemas.microsoft.com/office/drawing/2014/main" id="{BC23706C-D096-49B9-BF6E-2D667716A79D}"/>
              </a:ext>
            </a:extLst>
          </p:cNvPr>
          <p:cNvSpPr>
            <a:spLocks noGrp="1"/>
          </p:cNvSpPr>
          <p:nvPr/>
        </p:nvSpPr>
        <p:spPr>
          <a:xfrm>
            <a:off x="6667500" y="408453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05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9" name="rule-rvv-3-pattern">
            <a:extLst>
              <a:ext uri="{FF2B5EF4-FFF2-40B4-BE49-F238E27FC236}">
                <a16:creationId xmlns:a16="http://schemas.microsoft.com/office/drawing/2014/main" id="{03703D47-8B79-4A74-A005-5D985A06D48C}"/>
              </a:ext>
            </a:extLst>
          </p:cNvPr>
          <p:cNvSpPr>
            <a:spLocks noGrp="1"/>
          </p:cNvSpPr>
          <p:nvPr/>
        </p:nvSpPr>
        <p:spPr>
          <a:xfrm>
            <a:off x="7029450" y="4046430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Moist post-flowering + low heat</a:t>
            </a:r>
          </a:p>
        </p:txBody>
      </p:sp>
      <p:sp>
        <p:nvSpPr>
          <p:cNvPr id="40" name="rule-rvv-3-delta">
            <a:extLst>
              <a:ext uri="{FF2B5EF4-FFF2-40B4-BE49-F238E27FC236}">
                <a16:creationId xmlns:a16="http://schemas.microsoft.com/office/drawing/2014/main" id="{9E81AC55-F369-464A-B839-6D05261A07F8}"/>
              </a:ext>
            </a:extLst>
          </p:cNvPr>
          <p:cNvSpPr>
            <a:spLocks noGrp="1"/>
          </p:cNvSpPr>
          <p:nvPr/>
        </p:nvSpPr>
        <p:spPr>
          <a:xfrm>
            <a:off x="10267950" y="4055955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-365 mhl</a:t>
            </a:r>
          </a:p>
        </p:txBody>
      </p:sp>
      <p:sp>
        <p:nvSpPr>
          <p:cNvPr id="41" name="rule-rvv-3-support">
            <a:extLst>
              <a:ext uri="{FF2B5EF4-FFF2-40B4-BE49-F238E27FC236}">
                <a16:creationId xmlns:a16="http://schemas.microsoft.com/office/drawing/2014/main" id="{43ABB15C-4475-4CB9-AC06-320D871F3853}"/>
              </a:ext>
            </a:extLst>
          </p:cNvPr>
          <p:cNvSpPr>
            <a:spLocks noGrp="1"/>
          </p:cNvSpPr>
          <p:nvPr/>
        </p:nvSpPr>
        <p:spPr>
          <a:xfrm>
            <a:off x="7029450" y="4275030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27.5% support · p=0.0294</a:t>
            </a:r>
          </a:p>
        </p:txBody>
      </p:sp>
      <p:sp>
        <p:nvSpPr>
          <p:cNvPr id="42" name="rule-rvv-4-rank">
            <a:extLst>
              <a:ext uri="{FF2B5EF4-FFF2-40B4-BE49-F238E27FC236}">
                <a16:creationId xmlns:a16="http://schemas.microsoft.com/office/drawing/2014/main" id="{7375654A-DC75-4FD7-8413-22DDF5606C78}"/>
              </a:ext>
            </a:extLst>
          </p:cNvPr>
          <p:cNvSpPr>
            <a:spLocks noGrp="1"/>
          </p:cNvSpPr>
          <p:nvPr/>
        </p:nvSpPr>
        <p:spPr>
          <a:xfrm>
            <a:off x="6667500" y="450363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05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3" name="rule-rvv-4-pattern">
            <a:extLst>
              <a:ext uri="{FF2B5EF4-FFF2-40B4-BE49-F238E27FC236}">
                <a16:creationId xmlns:a16="http://schemas.microsoft.com/office/drawing/2014/main" id="{F0703326-34FD-4E0C-945A-3E0C98EC6E20}"/>
              </a:ext>
            </a:extLst>
          </p:cNvPr>
          <p:cNvSpPr>
            <a:spLocks noGrp="1"/>
          </p:cNvSpPr>
          <p:nvPr/>
        </p:nvSpPr>
        <p:spPr>
          <a:xfrm>
            <a:off x="7029450" y="4465530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Warm prior budburst + mild flowering</a:t>
            </a:r>
          </a:p>
        </p:txBody>
      </p:sp>
      <p:sp>
        <p:nvSpPr>
          <p:cNvPr id="44" name="rule-rvv-4-delta">
            <a:extLst>
              <a:ext uri="{FF2B5EF4-FFF2-40B4-BE49-F238E27FC236}">
                <a16:creationId xmlns:a16="http://schemas.microsoft.com/office/drawing/2014/main" id="{7FBDE785-9B3A-4AF6-8BB7-62F653682300}"/>
              </a:ext>
            </a:extLst>
          </p:cNvPr>
          <p:cNvSpPr>
            <a:spLocks noGrp="1"/>
          </p:cNvSpPr>
          <p:nvPr/>
        </p:nvSpPr>
        <p:spPr>
          <a:xfrm>
            <a:off x="10267950" y="4475055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146C43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146C43"/>
                </a:solidFill>
                <a:latin typeface="Arial"/>
                <a:ea typeface="Arial"/>
                <a:cs typeface="Arial"/>
              </a:rPr>
              <a:t>+311 mhl</a:t>
            </a:r>
          </a:p>
        </p:txBody>
      </p:sp>
      <p:sp>
        <p:nvSpPr>
          <p:cNvPr id="45" name="rule-rvv-4-support">
            <a:extLst>
              <a:ext uri="{FF2B5EF4-FFF2-40B4-BE49-F238E27FC236}">
                <a16:creationId xmlns:a16="http://schemas.microsoft.com/office/drawing/2014/main" id="{B8374B38-8FDB-4D74-86FF-CCA1FA2DAEFF}"/>
              </a:ext>
            </a:extLst>
          </p:cNvPr>
          <p:cNvSpPr>
            <a:spLocks noGrp="1"/>
          </p:cNvSpPr>
          <p:nvPr/>
        </p:nvSpPr>
        <p:spPr>
          <a:xfrm>
            <a:off x="7029450" y="4694130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25.0% support · p=0.0298</a:t>
            </a:r>
          </a:p>
        </p:txBody>
      </p:sp>
      <p:sp>
        <p:nvSpPr>
          <p:cNvPr id="46" name="rule-rvv-5-rank">
            <a:extLst>
              <a:ext uri="{FF2B5EF4-FFF2-40B4-BE49-F238E27FC236}">
                <a16:creationId xmlns:a16="http://schemas.microsoft.com/office/drawing/2014/main" id="{254E947A-560F-4CF9-A71D-7350BAE8F025}"/>
              </a:ext>
            </a:extLst>
          </p:cNvPr>
          <p:cNvSpPr>
            <a:spLocks noGrp="1"/>
          </p:cNvSpPr>
          <p:nvPr/>
        </p:nvSpPr>
        <p:spPr>
          <a:xfrm>
            <a:off x="6667500" y="492273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05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7" name="rule-rvv-5-pattern">
            <a:extLst>
              <a:ext uri="{FF2B5EF4-FFF2-40B4-BE49-F238E27FC236}">
                <a16:creationId xmlns:a16="http://schemas.microsoft.com/office/drawing/2014/main" id="{E448A1AD-71F7-4D75-8D6D-6ADBACFDC21F}"/>
              </a:ext>
            </a:extLst>
          </p:cNvPr>
          <p:cNvSpPr>
            <a:spLocks noGrp="1"/>
          </p:cNvSpPr>
          <p:nvPr/>
        </p:nvSpPr>
        <p:spPr>
          <a:xfrm>
            <a:off x="7029450" y="4884630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Cool post-flowering + wet carry-over</a:t>
            </a:r>
          </a:p>
        </p:txBody>
      </p:sp>
      <p:sp>
        <p:nvSpPr>
          <p:cNvPr id="48" name="rule-rvv-5-delta">
            <a:extLst>
              <a:ext uri="{FF2B5EF4-FFF2-40B4-BE49-F238E27FC236}">
                <a16:creationId xmlns:a16="http://schemas.microsoft.com/office/drawing/2014/main" id="{E15D61DB-9A5A-4AA1-ADD4-7483AE220458}"/>
              </a:ext>
            </a:extLst>
          </p:cNvPr>
          <p:cNvSpPr>
            <a:spLocks noGrp="1"/>
          </p:cNvSpPr>
          <p:nvPr/>
        </p:nvSpPr>
        <p:spPr>
          <a:xfrm>
            <a:off x="10267950" y="4894155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-292 mhl</a:t>
            </a:r>
          </a:p>
        </p:txBody>
      </p:sp>
      <p:sp>
        <p:nvSpPr>
          <p:cNvPr id="49" name="rule-rvv-5-support">
            <a:extLst>
              <a:ext uri="{FF2B5EF4-FFF2-40B4-BE49-F238E27FC236}">
                <a16:creationId xmlns:a16="http://schemas.microsoft.com/office/drawing/2014/main" id="{4C8426F4-53AD-4FFF-9552-78ABA5ADDFEC}"/>
              </a:ext>
            </a:extLst>
          </p:cNvPr>
          <p:cNvSpPr>
            <a:spLocks noGrp="1"/>
          </p:cNvSpPr>
          <p:nvPr/>
        </p:nvSpPr>
        <p:spPr>
          <a:xfrm>
            <a:off x="7029450" y="5113230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23.8% support · p=0.0299</a:t>
            </a:r>
          </a:p>
        </p:txBody>
      </p:sp>
      <p:sp>
        <p:nvSpPr>
          <p:cNvPr id="50" name="finding-band">
            <a:extLst>
              <a:ext uri="{FF2B5EF4-FFF2-40B4-BE49-F238E27FC236}">
                <a16:creationId xmlns:a16="http://schemas.microsoft.com/office/drawing/2014/main" id="{1C3A083A-E546-4493-B335-10679EDF5198}"/>
              </a:ext>
            </a:extLst>
          </p:cNvPr>
          <p:cNvSpPr>
            <a:spLocks noGrp="1"/>
          </p:cNvSpPr>
          <p:nvPr/>
        </p:nvSpPr>
        <p:spPr>
          <a:xfrm>
            <a:off x="485775" y="5258442"/>
            <a:ext cx="11382375" cy="838200"/>
          </a:xfrm>
          <a:prstGeom prst="rect">
            <a:avLst/>
          </a:prstGeom>
          <a:solidFill>
            <a:srgbClr val="EAF5EE"/>
          </a:solidFill>
          <a:ln w="0">
            <a:noFill/>
            <a:prstDash val="solid"/>
          </a:ln>
        </p:spPr>
        <p:txBody>
          <a:bodyPr/>
          <a:lstStyle/>
          <a:p>
            <a:endParaRPr lang="en-GB" sz="2400" noProof="0" dirty="0"/>
          </a:p>
        </p:txBody>
      </p:sp>
      <p:sp>
        <p:nvSpPr>
          <p:cNvPr id="51" name="finding-label">
            <a:extLst>
              <a:ext uri="{FF2B5EF4-FFF2-40B4-BE49-F238E27FC236}">
                <a16:creationId xmlns:a16="http://schemas.microsoft.com/office/drawing/2014/main" id="{D9F203B8-1FF5-4513-B24D-F012E26663F0}"/>
              </a:ext>
            </a:extLst>
          </p:cNvPr>
          <p:cNvSpPr>
            <a:spLocks noGrp="1"/>
          </p:cNvSpPr>
          <p:nvPr/>
        </p:nvSpPr>
        <p:spPr>
          <a:xfrm>
            <a:off x="800100" y="5694255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Cross-algorithm finding</a:t>
            </a:r>
          </a:p>
        </p:txBody>
      </p:sp>
      <p:sp>
        <p:nvSpPr>
          <p:cNvPr id="52" name="finding-main">
            <a:extLst>
              <a:ext uri="{FF2B5EF4-FFF2-40B4-BE49-F238E27FC236}">
                <a16:creationId xmlns:a16="http://schemas.microsoft.com/office/drawing/2014/main" id="{35900B4E-D9F9-4FB9-A88C-0B4F32F146D5}"/>
              </a:ext>
            </a:extLst>
          </p:cNvPr>
          <p:cNvSpPr>
            <a:spLocks noGrp="1"/>
          </p:cNvSpPr>
          <p:nvPr/>
        </p:nvSpPr>
        <p:spPr>
          <a:xfrm>
            <a:off x="3086100" y="5665680"/>
            <a:ext cx="8143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Across methods: harvest soil water and LAI/canopy survive.</a:t>
            </a:r>
          </a:p>
        </p:txBody>
      </p:sp>
      <p:sp>
        <p:nvSpPr>
          <p:cNvPr id="54" name="source">
            <a:extLst>
              <a:ext uri="{FF2B5EF4-FFF2-40B4-BE49-F238E27FC236}">
                <a16:creationId xmlns:a16="http://schemas.microsoft.com/office/drawing/2014/main" id="{1603C280-F355-46FB-A1B0-69AD0ABC7977}"/>
              </a:ext>
            </a:extLst>
          </p:cNvPr>
          <p:cNvSpPr>
            <a:spLocks noGrp="1"/>
          </p:cNvSpPr>
          <p:nvPr/>
        </p:nvSpPr>
        <p:spPr>
          <a:xfrm>
            <a:off x="417492" y="1499994"/>
            <a:ext cx="971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75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675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Source: Thesis, Tables 4.1-4.2 and 4.9</a:t>
            </a:r>
          </a:p>
        </p:txBody>
      </p:sp>
      <p:sp>
        <p:nvSpPr>
          <p:cNvPr id="57" name="exact-rules-cover">
            <a:extLst>
              <a:ext uri="{FF2B5EF4-FFF2-40B4-BE49-F238E27FC236}">
                <a16:creationId xmlns:a16="http://schemas.microsoft.com/office/drawing/2014/main" id="{A480573E-B841-4873-9728-D5491786324E}"/>
              </a:ext>
            </a:extLst>
          </p:cNvPr>
          <p:cNvSpPr>
            <a:spLocks noGrp="1"/>
          </p:cNvSpPr>
          <p:nvPr/>
        </p:nvSpPr>
        <p:spPr>
          <a:xfrm>
            <a:off x="0" y="495299"/>
            <a:ext cx="12192000" cy="6029429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58" name="exact-section-label">
            <a:extLst>
              <a:ext uri="{FF2B5EF4-FFF2-40B4-BE49-F238E27FC236}">
                <a16:creationId xmlns:a16="http://schemas.microsoft.com/office/drawing/2014/main" id="{BE0BF05B-C3B6-466C-8528-69B5ADCA2E06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chemeClr val="bg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RESULTS · RULES</a:t>
            </a:r>
          </a:p>
        </p:txBody>
      </p:sp>
      <p:sp>
        <p:nvSpPr>
          <p:cNvPr id="59" name="exact-title">
            <a:extLst>
              <a:ext uri="{FF2B5EF4-FFF2-40B4-BE49-F238E27FC236}">
                <a16:creationId xmlns:a16="http://schemas.microsoft.com/office/drawing/2014/main" id="{3BAFDCF3-4C41-451A-BC46-FFC1121DB351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99536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24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Exact CarenR rule output: intervals behind the top rules</a:t>
            </a:r>
          </a:p>
        </p:txBody>
      </p:sp>
      <p:sp>
        <p:nvSpPr>
          <p:cNvPr id="60" name="exact-subtitle">
            <a:extLst>
              <a:ext uri="{FF2B5EF4-FFF2-40B4-BE49-F238E27FC236}">
                <a16:creationId xmlns:a16="http://schemas.microsoft.com/office/drawing/2014/main" id="{178CD848-CA37-4AC5-B49D-517C5D6EFF33}"/>
              </a:ext>
            </a:extLst>
          </p:cNvPr>
          <p:cNvSpPr>
            <a:spLocks noGrp="1"/>
          </p:cNvSpPr>
          <p:nvPr/>
        </p:nvSpPr>
        <p:spPr>
          <a:xfrm>
            <a:off x="417492" y="194463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105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Each row is an IF condition set; Delta is the median production residual shift from trend.</a:t>
            </a:r>
          </a:p>
        </p:txBody>
      </p:sp>
      <p:sp>
        <p:nvSpPr>
          <p:cNvPr id="62" name="DOURO (RDD) · top 5 exact rules-title">
            <a:extLst>
              <a:ext uri="{FF2B5EF4-FFF2-40B4-BE49-F238E27FC236}">
                <a16:creationId xmlns:a16="http://schemas.microsoft.com/office/drawing/2014/main" id="{CC3BEF31-F023-4685-A7F5-96F9C5B51CB0}"/>
              </a:ext>
            </a:extLst>
          </p:cNvPr>
          <p:cNvSpPr>
            <a:spLocks noGrp="1"/>
          </p:cNvSpPr>
          <p:nvPr/>
        </p:nvSpPr>
        <p:spPr>
          <a:xfrm>
            <a:off x="464218" y="2323170"/>
            <a:ext cx="50196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88" b="1">
                <a:solidFill>
                  <a:srgbClr val="1E6F9F"/>
                </a:solidFill>
                <a:latin typeface="Arial"/>
                <a:ea typeface="Arial"/>
                <a:cs typeface="Arial"/>
              </a:defRPr>
            </a:pPr>
            <a:r>
              <a:rPr lang="en-GB" sz="1088" b="1" noProof="0" dirty="0">
                <a:solidFill>
                  <a:srgbClr val="1E6F9F"/>
                </a:solidFill>
                <a:latin typeface="Arial"/>
                <a:ea typeface="Arial"/>
                <a:cs typeface="Arial"/>
              </a:rPr>
              <a:t>DOURO (RDD) · top 5 exact rules</a:t>
            </a:r>
          </a:p>
        </p:txBody>
      </p:sp>
      <p:sp>
        <p:nvSpPr>
          <p:cNvPr id="63" name="DOURO (RDD) · top 5 exact rules-subtitle">
            <a:extLst>
              <a:ext uri="{FF2B5EF4-FFF2-40B4-BE49-F238E27FC236}">
                <a16:creationId xmlns:a16="http://schemas.microsoft.com/office/drawing/2014/main" id="{E4194728-3401-4413-8808-4DD6EAF12DD2}"/>
              </a:ext>
            </a:extLst>
          </p:cNvPr>
          <p:cNvSpPr>
            <a:spLocks noGrp="1"/>
          </p:cNvSpPr>
          <p:nvPr/>
        </p:nvSpPr>
        <p:spPr>
          <a:xfrm>
            <a:off x="619125" y="2477585"/>
            <a:ext cx="50196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9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9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Mostly above-trend: dry post-flowering / maturity windows and bounded heat.</a:t>
            </a:r>
          </a:p>
        </p:txBody>
      </p:sp>
      <p:sp>
        <p:nvSpPr>
          <p:cNvPr id="64" name="DOURO (RDD) · top 5 exact rules-header">
            <a:extLst>
              <a:ext uri="{FF2B5EF4-FFF2-40B4-BE49-F238E27FC236}">
                <a16:creationId xmlns:a16="http://schemas.microsoft.com/office/drawing/2014/main" id="{B6F6ECC0-2208-4D1E-A93D-CA2EE861AC74}"/>
              </a:ext>
            </a:extLst>
          </p:cNvPr>
          <p:cNvSpPr>
            <a:spLocks noGrp="1"/>
          </p:cNvSpPr>
          <p:nvPr/>
        </p:nvSpPr>
        <p:spPr>
          <a:xfrm>
            <a:off x="619125" y="2812131"/>
            <a:ext cx="5133975" cy="2476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1CB"/>
            </a:solidFill>
            <a:prstDash val="solid"/>
          </a:ln>
        </p:spPr>
        <p:txBody>
          <a:bodyPr/>
          <a:lstStyle/>
          <a:p>
            <a:endParaRPr lang="en-GB" sz="2400" noProof="0" dirty="0"/>
          </a:p>
        </p:txBody>
      </p:sp>
      <p:sp>
        <p:nvSpPr>
          <p:cNvPr id="65" name="DOURO (RDD) · top 5 exact rules-h1">
            <a:extLst>
              <a:ext uri="{FF2B5EF4-FFF2-40B4-BE49-F238E27FC236}">
                <a16:creationId xmlns:a16="http://schemas.microsoft.com/office/drawing/2014/main" id="{51B7EED1-975E-4FB4-9DC5-9CEA58FFA31E}"/>
              </a:ext>
            </a:extLst>
          </p:cNvPr>
          <p:cNvSpPr>
            <a:spLocks noGrp="1"/>
          </p:cNvSpPr>
          <p:nvPr/>
        </p:nvSpPr>
        <p:spPr>
          <a:xfrm>
            <a:off x="676275" y="2859756"/>
            <a:ext cx="247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13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b="1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#</a:t>
            </a:r>
          </a:p>
        </p:txBody>
      </p:sp>
      <p:sp>
        <p:nvSpPr>
          <p:cNvPr id="66" name="DOURO (RDD) · top 5 exact rules-h2">
            <a:extLst>
              <a:ext uri="{FF2B5EF4-FFF2-40B4-BE49-F238E27FC236}">
                <a16:creationId xmlns:a16="http://schemas.microsoft.com/office/drawing/2014/main" id="{7A72DB73-F4F2-48FE-A952-BD1BE402DC03}"/>
              </a:ext>
            </a:extLst>
          </p:cNvPr>
          <p:cNvSpPr>
            <a:spLocks noGrp="1"/>
          </p:cNvSpPr>
          <p:nvPr/>
        </p:nvSpPr>
        <p:spPr>
          <a:xfrm>
            <a:off x="1000125" y="2852136"/>
            <a:ext cx="3524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13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b="1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Exact conditions from CarenR output</a:t>
            </a:r>
          </a:p>
        </p:txBody>
      </p:sp>
      <p:sp>
        <p:nvSpPr>
          <p:cNvPr id="67" name="DOURO (RDD) · top 5 exact rules-h3">
            <a:extLst>
              <a:ext uri="{FF2B5EF4-FFF2-40B4-BE49-F238E27FC236}">
                <a16:creationId xmlns:a16="http://schemas.microsoft.com/office/drawing/2014/main" id="{C2B61C94-65FF-4D8B-925E-3FC1EDBB223E}"/>
              </a:ext>
            </a:extLst>
          </p:cNvPr>
          <p:cNvSpPr>
            <a:spLocks noGrp="1"/>
          </p:cNvSpPr>
          <p:nvPr/>
        </p:nvSpPr>
        <p:spPr>
          <a:xfrm>
            <a:off x="4360545" y="2836896"/>
            <a:ext cx="895350" cy="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13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b="1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support / p</a:t>
            </a:r>
          </a:p>
        </p:txBody>
      </p:sp>
      <p:sp>
        <p:nvSpPr>
          <p:cNvPr id="68" name="DOURO (RDD) · top 5 exact rules-h4">
            <a:extLst>
              <a:ext uri="{FF2B5EF4-FFF2-40B4-BE49-F238E27FC236}">
                <a16:creationId xmlns:a16="http://schemas.microsoft.com/office/drawing/2014/main" id="{42BE151A-E0FF-46F6-B487-43D947B9BCCB}"/>
              </a:ext>
            </a:extLst>
          </p:cNvPr>
          <p:cNvSpPr>
            <a:spLocks noGrp="1"/>
          </p:cNvSpPr>
          <p:nvPr/>
        </p:nvSpPr>
        <p:spPr>
          <a:xfrm>
            <a:off x="5257800" y="2844516"/>
            <a:ext cx="495300" cy="14404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13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b="1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Delta</a:t>
            </a:r>
          </a:p>
        </p:txBody>
      </p:sp>
      <p:sp>
        <p:nvSpPr>
          <p:cNvPr id="69" name="DOURO (RDD) · top 5 exact rules-row-1">
            <a:extLst>
              <a:ext uri="{FF2B5EF4-FFF2-40B4-BE49-F238E27FC236}">
                <a16:creationId xmlns:a16="http://schemas.microsoft.com/office/drawing/2014/main" id="{4E2E76A7-D4EB-4FFB-BD56-AF9BF9BCC8A4}"/>
              </a:ext>
            </a:extLst>
          </p:cNvPr>
          <p:cNvSpPr>
            <a:spLocks noGrp="1"/>
          </p:cNvSpPr>
          <p:nvPr/>
        </p:nvSpPr>
        <p:spPr>
          <a:xfrm>
            <a:off x="619125" y="3217755"/>
            <a:ext cx="5133975" cy="542925"/>
          </a:xfrm>
          <a:prstGeom prst="rect">
            <a:avLst/>
          </a:prstGeom>
          <a:solidFill>
            <a:srgbClr val="FFFFFF"/>
          </a:solidFill>
          <a:ln w="9525">
            <a:solidFill>
              <a:srgbClr val="D6D1CB"/>
            </a:solidFill>
            <a:prstDash val="solid"/>
          </a:ln>
        </p:spPr>
        <p:txBody>
          <a:bodyPr/>
          <a:lstStyle/>
          <a:p>
            <a:endParaRPr lang="en-GB" sz="2400" noProof="0" dirty="0"/>
          </a:p>
        </p:txBody>
      </p:sp>
      <p:sp>
        <p:nvSpPr>
          <p:cNvPr id="70" name="DOURO (RDD) · top 5 exact rules-rank-1">
            <a:extLst>
              <a:ext uri="{FF2B5EF4-FFF2-40B4-BE49-F238E27FC236}">
                <a16:creationId xmlns:a16="http://schemas.microsoft.com/office/drawing/2014/main" id="{1CFC4AF2-4349-4453-8504-0B83A595E410}"/>
              </a:ext>
            </a:extLst>
          </p:cNvPr>
          <p:cNvSpPr>
            <a:spLocks noGrp="1"/>
          </p:cNvSpPr>
          <p:nvPr/>
        </p:nvSpPr>
        <p:spPr>
          <a:xfrm>
            <a:off x="676275" y="3293955"/>
            <a:ext cx="247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88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0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1" name="DOURO (RDD) · top 5 exact rules-rule-1">
            <a:extLst>
              <a:ext uri="{FF2B5EF4-FFF2-40B4-BE49-F238E27FC236}">
                <a16:creationId xmlns:a16="http://schemas.microsoft.com/office/drawing/2014/main" id="{0E923B29-4C53-40D9-8E56-732DF19350F0}"/>
              </a:ext>
            </a:extLst>
          </p:cNvPr>
          <p:cNvSpPr>
            <a:spLocks noGrp="1"/>
          </p:cNvSpPr>
          <p:nvPr/>
        </p:nvSpPr>
        <p:spPr>
          <a:xfrm>
            <a:off x="1000125" y="328443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9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Wet days post-Flowering [0-3.3 d]</a:t>
            </a:r>
          </a:p>
          <a:p>
            <a:pPr>
              <a:buNone/>
              <a:defRPr sz="69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Wet days post-Maturity [0-3.5 d]</a:t>
            </a:r>
          </a:p>
        </p:txBody>
      </p:sp>
      <p:sp>
        <p:nvSpPr>
          <p:cNvPr id="72" name="DOURO (RDD) · top 5 exact rules-stats-1">
            <a:extLst>
              <a:ext uri="{FF2B5EF4-FFF2-40B4-BE49-F238E27FC236}">
                <a16:creationId xmlns:a16="http://schemas.microsoft.com/office/drawing/2014/main" id="{EE8940D4-E953-4845-9B07-36A11A95249C}"/>
              </a:ext>
            </a:extLst>
          </p:cNvPr>
          <p:cNvSpPr>
            <a:spLocks noGrp="1"/>
          </p:cNvSpPr>
          <p:nvPr/>
        </p:nvSpPr>
        <p:spPr>
          <a:xfrm>
            <a:off x="4519612" y="3239429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28.1%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~25 yr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p=0.0043</a:t>
            </a:r>
          </a:p>
        </p:txBody>
      </p:sp>
      <p:sp>
        <p:nvSpPr>
          <p:cNvPr id="73" name="DOURO (RDD) · top 5 exact rules-delta-1">
            <a:extLst>
              <a:ext uri="{FF2B5EF4-FFF2-40B4-BE49-F238E27FC236}">
                <a16:creationId xmlns:a16="http://schemas.microsoft.com/office/drawing/2014/main" id="{10912703-5FC6-4071-B1FA-A564DDCFE0E6}"/>
              </a:ext>
            </a:extLst>
          </p:cNvPr>
          <p:cNvSpPr>
            <a:spLocks noGrp="1"/>
          </p:cNvSpPr>
          <p:nvPr/>
        </p:nvSpPr>
        <p:spPr>
          <a:xfrm>
            <a:off x="5219700" y="336063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10" b="1">
                <a:solidFill>
                  <a:srgbClr val="006B45"/>
                </a:solidFill>
                <a:latin typeface="Arial"/>
                <a:ea typeface="Arial"/>
                <a:cs typeface="Arial"/>
              </a:defRPr>
            </a:pPr>
            <a:r>
              <a:rPr lang="en-GB" sz="1000" b="1" noProof="0" dirty="0">
                <a:solidFill>
                  <a:srgbClr val="006B45"/>
                </a:solidFill>
                <a:latin typeface="Arial"/>
                <a:ea typeface="Arial"/>
                <a:cs typeface="Arial"/>
              </a:rPr>
              <a:t>+121</a:t>
            </a:r>
          </a:p>
        </p:txBody>
      </p:sp>
      <p:sp>
        <p:nvSpPr>
          <p:cNvPr id="74" name="DOURO (RDD) · top 5 exact rules-row-2">
            <a:extLst>
              <a:ext uri="{FF2B5EF4-FFF2-40B4-BE49-F238E27FC236}">
                <a16:creationId xmlns:a16="http://schemas.microsoft.com/office/drawing/2014/main" id="{BD39772D-3005-462B-8951-2EE50CA47571}"/>
              </a:ext>
            </a:extLst>
          </p:cNvPr>
          <p:cNvSpPr>
            <a:spLocks noGrp="1"/>
          </p:cNvSpPr>
          <p:nvPr/>
        </p:nvSpPr>
        <p:spPr>
          <a:xfrm>
            <a:off x="619125" y="3779730"/>
            <a:ext cx="5133975" cy="542925"/>
          </a:xfrm>
          <a:prstGeom prst="rect">
            <a:avLst/>
          </a:prstGeom>
          <a:solidFill>
            <a:srgbClr val="FAFAFA"/>
          </a:solidFill>
          <a:ln w="9525">
            <a:solidFill>
              <a:srgbClr val="D6D1CB"/>
            </a:solidFill>
            <a:prstDash val="solid"/>
          </a:ln>
        </p:spPr>
        <p:txBody>
          <a:bodyPr/>
          <a:lstStyle/>
          <a:p>
            <a:endParaRPr lang="en-GB" sz="2400" noProof="0" dirty="0"/>
          </a:p>
        </p:txBody>
      </p:sp>
      <p:sp>
        <p:nvSpPr>
          <p:cNvPr id="75" name="DOURO (RDD) · top 5 exact rules-rank-2">
            <a:extLst>
              <a:ext uri="{FF2B5EF4-FFF2-40B4-BE49-F238E27FC236}">
                <a16:creationId xmlns:a16="http://schemas.microsoft.com/office/drawing/2014/main" id="{53170275-C534-44ED-A92D-7E1B14F00601}"/>
              </a:ext>
            </a:extLst>
          </p:cNvPr>
          <p:cNvSpPr>
            <a:spLocks noGrp="1"/>
          </p:cNvSpPr>
          <p:nvPr/>
        </p:nvSpPr>
        <p:spPr>
          <a:xfrm>
            <a:off x="676275" y="3855930"/>
            <a:ext cx="247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88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0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6" name="DOURO (RDD) · top 5 exact rules-rule-2">
            <a:extLst>
              <a:ext uri="{FF2B5EF4-FFF2-40B4-BE49-F238E27FC236}">
                <a16:creationId xmlns:a16="http://schemas.microsoft.com/office/drawing/2014/main" id="{043A64A2-F0E4-423C-81D1-8BF762BA1806}"/>
              </a:ext>
            </a:extLst>
          </p:cNvPr>
          <p:cNvSpPr>
            <a:spLocks noGrp="1"/>
          </p:cNvSpPr>
          <p:nvPr/>
        </p:nvSpPr>
        <p:spPr>
          <a:xfrm>
            <a:off x="1000125" y="3846405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9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LAI at Flowering [0.74-0.88 m2/m2]</a:t>
            </a:r>
          </a:p>
          <a:p>
            <a:pPr>
              <a:buNone/>
              <a:defRPr sz="69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Soil water post-Flowering [390-404 mm]</a:t>
            </a:r>
          </a:p>
        </p:txBody>
      </p:sp>
      <p:sp>
        <p:nvSpPr>
          <p:cNvPr id="77" name="DOURO (RDD) · top 5 exact rules-stats-2">
            <a:extLst>
              <a:ext uri="{FF2B5EF4-FFF2-40B4-BE49-F238E27FC236}">
                <a16:creationId xmlns:a16="http://schemas.microsoft.com/office/drawing/2014/main" id="{2F79A2C9-C627-4CAB-A66C-BF944A16D82D}"/>
              </a:ext>
            </a:extLst>
          </p:cNvPr>
          <p:cNvSpPr>
            <a:spLocks noGrp="1"/>
          </p:cNvSpPr>
          <p:nvPr/>
        </p:nvSpPr>
        <p:spPr>
          <a:xfrm>
            <a:off x="4519612" y="3829692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20.2%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~18 yr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p=0.0084</a:t>
            </a:r>
          </a:p>
        </p:txBody>
      </p:sp>
      <p:sp>
        <p:nvSpPr>
          <p:cNvPr id="78" name="DOURO (RDD) · top 5 exact rules-delta-2">
            <a:extLst>
              <a:ext uri="{FF2B5EF4-FFF2-40B4-BE49-F238E27FC236}">
                <a16:creationId xmlns:a16="http://schemas.microsoft.com/office/drawing/2014/main" id="{1184537D-7225-47C3-831C-7B9ADD431764}"/>
              </a:ext>
            </a:extLst>
          </p:cNvPr>
          <p:cNvSpPr>
            <a:spLocks noGrp="1"/>
          </p:cNvSpPr>
          <p:nvPr/>
        </p:nvSpPr>
        <p:spPr>
          <a:xfrm>
            <a:off x="5219700" y="392260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10" b="1">
                <a:solidFill>
                  <a:srgbClr val="8B1E3F"/>
                </a:solidFill>
                <a:latin typeface="Arial"/>
                <a:ea typeface="Arial"/>
                <a:cs typeface="Arial"/>
              </a:defRPr>
            </a:pPr>
            <a:r>
              <a:rPr lang="en-GB" sz="1000" b="1" noProof="0" dirty="0">
                <a:solidFill>
                  <a:srgbClr val="8B1E3F"/>
                </a:solidFill>
                <a:latin typeface="Arial"/>
                <a:ea typeface="Arial"/>
                <a:cs typeface="Arial"/>
              </a:rPr>
              <a:t>-131</a:t>
            </a:r>
          </a:p>
        </p:txBody>
      </p:sp>
      <p:sp>
        <p:nvSpPr>
          <p:cNvPr id="79" name="DOURO (RDD) · top 5 exact rules-row-3">
            <a:extLst>
              <a:ext uri="{FF2B5EF4-FFF2-40B4-BE49-F238E27FC236}">
                <a16:creationId xmlns:a16="http://schemas.microsoft.com/office/drawing/2014/main" id="{8D457A99-4D0B-456A-BB60-5BE581348E91}"/>
              </a:ext>
            </a:extLst>
          </p:cNvPr>
          <p:cNvSpPr>
            <a:spLocks noGrp="1"/>
          </p:cNvSpPr>
          <p:nvPr/>
        </p:nvSpPr>
        <p:spPr>
          <a:xfrm>
            <a:off x="619125" y="4341705"/>
            <a:ext cx="5133975" cy="542925"/>
          </a:xfrm>
          <a:prstGeom prst="rect">
            <a:avLst/>
          </a:prstGeom>
          <a:solidFill>
            <a:srgbClr val="FFFFFF"/>
          </a:solidFill>
          <a:ln w="9525">
            <a:solidFill>
              <a:srgbClr val="D6D1CB"/>
            </a:solidFill>
            <a:prstDash val="solid"/>
          </a:ln>
        </p:spPr>
        <p:txBody>
          <a:bodyPr/>
          <a:lstStyle/>
          <a:p>
            <a:endParaRPr lang="en-GB" sz="2400" noProof="0" dirty="0"/>
          </a:p>
        </p:txBody>
      </p:sp>
      <p:sp>
        <p:nvSpPr>
          <p:cNvPr id="80" name="DOURO (RDD) · top 5 exact rules-rank-3">
            <a:extLst>
              <a:ext uri="{FF2B5EF4-FFF2-40B4-BE49-F238E27FC236}">
                <a16:creationId xmlns:a16="http://schemas.microsoft.com/office/drawing/2014/main" id="{43FE6023-56D1-4C4A-9E9F-20D395EFAC9A}"/>
              </a:ext>
            </a:extLst>
          </p:cNvPr>
          <p:cNvSpPr>
            <a:spLocks noGrp="1"/>
          </p:cNvSpPr>
          <p:nvPr/>
        </p:nvSpPr>
        <p:spPr>
          <a:xfrm>
            <a:off x="676275" y="4417905"/>
            <a:ext cx="247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88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0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1" name="DOURO (RDD) · top 5 exact rules-rule-3">
            <a:extLst>
              <a:ext uri="{FF2B5EF4-FFF2-40B4-BE49-F238E27FC236}">
                <a16:creationId xmlns:a16="http://schemas.microsoft.com/office/drawing/2014/main" id="{DDEA01A3-D640-450A-A8A7-08DBCCAFDC8F}"/>
              </a:ext>
            </a:extLst>
          </p:cNvPr>
          <p:cNvSpPr>
            <a:spLocks noGrp="1"/>
          </p:cNvSpPr>
          <p:nvPr/>
        </p:nvSpPr>
        <p:spPr>
          <a:xfrm>
            <a:off x="1000125" y="4363092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5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Wet days post-Flowering [0-3.3 d]</a:t>
            </a:r>
          </a:p>
          <a:p>
            <a:pPr>
              <a:buNone/>
              <a:defRPr sz="65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Wet days post-Maturity [0-3.5 d]</a:t>
            </a:r>
          </a:p>
          <a:p>
            <a:pPr>
              <a:buNone/>
              <a:defRPr sz="65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Heat days post-Flowering [0-0.6 d]</a:t>
            </a:r>
          </a:p>
        </p:txBody>
      </p:sp>
      <p:sp>
        <p:nvSpPr>
          <p:cNvPr id="82" name="DOURO (RDD) · top 5 exact rules-stats-3">
            <a:extLst>
              <a:ext uri="{FF2B5EF4-FFF2-40B4-BE49-F238E27FC236}">
                <a16:creationId xmlns:a16="http://schemas.microsoft.com/office/drawing/2014/main" id="{5C0CE2EA-8D1E-40C4-A4AC-1767436D33C5}"/>
              </a:ext>
            </a:extLst>
          </p:cNvPr>
          <p:cNvSpPr>
            <a:spLocks noGrp="1"/>
          </p:cNvSpPr>
          <p:nvPr/>
        </p:nvSpPr>
        <p:spPr>
          <a:xfrm>
            <a:off x="4429125" y="4355904"/>
            <a:ext cx="8286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25.8%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~23 yr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p=0.0089</a:t>
            </a:r>
          </a:p>
        </p:txBody>
      </p:sp>
      <p:sp>
        <p:nvSpPr>
          <p:cNvPr id="83" name="DOURO (RDD) · top 5 exact rules-delta-3">
            <a:extLst>
              <a:ext uri="{FF2B5EF4-FFF2-40B4-BE49-F238E27FC236}">
                <a16:creationId xmlns:a16="http://schemas.microsoft.com/office/drawing/2014/main" id="{D7059098-9CD0-4937-9AA0-90D4B7C992A6}"/>
              </a:ext>
            </a:extLst>
          </p:cNvPr>
          <p:cNvSpPr>
            <a:spLocks noGrp="1"/>
          </p:cNvSpPr>
          <p:nvPr/>
        </p:nvSpPr>
        <p:spPr>
          <a:xfrm>
            <a:off x="5219700" y="448458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10" b="1">
                <a:solidFill>
                  <a:srgbClr val="006B45"/>
                </a:solidFill>
                <a:latin typeface="Arial"/>
                <a:ea typeface="Arial"/>
                <a:cs typeface="Arial"/>
              </a:defRPr>
            </a:pPr>
            <a:r>
              <a:rPr lang="en-GB" sz="1000" b="1" noProof="0" dirty="0">
                <a:solidFill>
                  <a:srgbClr val="006B45"/>
                </a:solidFill>
                <a:latin typeface="Arial"/>
                <a:ea typeface="Arial"/>
                <a:cs typeface="Arial"/>
              </a:rPr>
              <a:t>+113</a:t>
            </a:r>
          </a:p>
        </p:txBody>
      </p:sp>
      <p:sp>
        <p:nvSpPr>
          <p:cNvPr id="84" name="DOURO (RDD) · top 5 exact rules-row-4">
            <a:extLst>
              <a:ext uri="{FF2B5EF4-FFF2-40B4-BE49-F238E27FC236}">
                <a16:creationId xmlns:a16="http://schemas.microsoft.com/office/drawing/2014/main" id="{4038F29B-8BEB-4A64-8919-29DCF1AC505F}"/>
              </a:ext>
            </a:extLst>
          </p:cNvPr>
          <p:cNvSpPr>
            <a:spLocks noGrp="1"/>
          </p:cNvSpPr>
          <p:nvPr/>
        </p:nvSpPr>
        <p:spPr>
          <a:xfrm>
            <a:off x="619125" y="4903680"/>
            <a:ext cx="5133975" cy="542925"/>
          </a:xfrm>
          <a:prstGeom prst="rect">
            <a:avLst/>
          </a:prstGeom>
          <a:solidFill>
            <a:srgbClr val="FAFAFA"/>
          </a:solidFill>
          <a:ln w="9525">
            <a:solidFill>
              <a:srgbClr val="D6D1CB"/>
            </a:solidFill>
            <a:prstDash val="solid"/>
          </a:ln>
        </p:spPr>
        <p:txBody>
          <a:bodyPr/>
          <a:lstStyle/>
          <a:p>
            <a:endParaRPr lang="en-GB" sz="2400" noProof="0" dirty="0"/>
          </a:p>
        </p:txBody>
      </p:sp>
      <p:sp>
        <p:nvSpPr>
          <p:cNvPr id="85" name="DOURO (RDD) · top 5 exact rules-rank-4">
            <a:extLst>
              <a:ext uri="{FF2B5EF4-FFF2-40B4-BE49-F238E27FC236}">
                <a16:creationId xmlns:a16="http://schemas.microsoft.com/office/drawing/2014/main" id="{AE05A6E4-CEAD-4993-AF63-90EB2DDE4CAF}"/>
              </a:ext>
            </a:extLst>
          </p:cNvPr>
          <p:cNvSpPr>
            <a:spLocks noGrp="1"/>
          </p:cNvSpPr>
          <p:nvPr/>
        </p:nvSpPr>
        <p:spPr>
          <a:xfrm>
            <a:off x="676275" y="4979880"/>
            <a:ext cx="247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88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0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6" name="DOURO (RDD) · top 5 exact rules-rule-4">
            <a:extLst>
              <a:ext uri="{FF2B5EF4-FFF2-40B4-BE49-F238E27FC236}">
                <a16:creationId xmlns:a16="http://schemas.microsoft.com/office/drawing/2014/main" id="{3551F421-82DA-4337-A14C-B9FDFFB2064F}"/>
              </a:ext>
            </a:extLst>
          </p:cNvPr>
          <p:cNvSpPr>
            <a:spLocks noGrp="1"/>
          </p:cNvSpPr>
          <p:nvPr/>
        </p:nvSpPr>
        <p:spPr>
          <a:xfrm>
            <a:off x="1000125" y="4932255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5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Soil water pre-Harvest [74-101 mm]</a:t>
            </a:r>
          </a:p>
          <a:p>
            <a:pPr>
              <a:buNone/>
              <a:defRPr sz="65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Wet days post-Harvest </a:t>
            </a:r>
            <a:r>
              <a:rPr lang="en-GB" sz="900" noProof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prev.yr</a:t>
            </a: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[0-2.3 d]</a:t>
            </a:r>
          </a:p>
          <a:p>
            <a:pPr>
              <a:buNone/>
              <a:defRPr sz="65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Wet days post-Maturity [0-3.5 d]</a:t>
            </a:r>
          </a:p>
        </p:txBody>
      </p:sp>
      <p:sp>
        <p:nvSpPr>
          <p:cNvPr id="87" name="DOURO (RDD) · top 5 exact rules-stats-4">
            <a:extLst>
              <a:ext uri="{FF2B5EF4-FFF2-40B4-BE49-F238E27FC236}">
                <a16:creationId xmlns:a16="http://schemas.microsoft.com/office/drawing/2014/main" id="{BF7170E4-1E2E-4BC6-88D7-FD1B3ACE6800}"/>
              </a:ext>
            </a:extLst>
          </p:cNvPr>
          <p:cNvSpPr>
            <a:spLocks noGrp="1"/>
          </p:cNvSpPr>
          <p:nvPr/>
        </p:nvSpPr>
        <p:spPr>
          <a:xfrm>
            <a:off x="4519612" y="4955401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21.3%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~19 yr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p=0.0095</a:t>
            </a:r>
          </a:p>
        </p:txBody>
      </p:sp>
      <p:sp>
        <p:nvSpPr>
          <p:cNvPr id="88" name="DOURO (RDD) · top 5 exact rules-delta-4">
            <a:extLst>
              <a:ext uri="{FF2B5EF4-FFF2-40B4-BE49-F238E27FC236}">
                <a16:creationId xmlns:a16="http://schemas.microsoft.com/office/drawing/2014/main" id="{A769B487-565A-4CA7-A36F-B35031BC1005}"/>
              </a:ext>
            </a:extLst>
          </p:cNvPr>
          <p:cNvSpPr>
            <a:spLocks noGrp="1"/>
          </p:cNvSpPr>
          <p:nvPr/>
        </p:nvSpPr>
        <p:spPr>
          <a:xfrm>
            <a:off x="5219700" y="504655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10" b="1">
                <a:solidFill>
                  <a:srgbClr val="006B45"/>
                </a:solidFill>
                <a:latin typeface="Arial"/>
                <a:ea typeface="Arial"/>
                <a:cs typeface="Arial"/>
              </a:defRPr>
            </a:pPr>
            <a:r>
              <a:rPr lang="en-GB" sz="1000" b="1" noProof="0" dirty="0">
                <a:solidFill>
                  <a:srgbClr val="006B45"/>
                </a:solidFill>
                <a:latin typeface="Arial"/>
                <a:ea typeface="Arial"/>
                <a:cs typeface="Arial"/>
              </a:rPr>
              <a:t>+192</a:t>
            </a:r>
          </a:p>
        </p:txBody>
      </p:sp>
      <p:sp>
        <p:nvSpPr>
          <p:cNvPr id="89" name="DOURO (RDD) · top 5 exact rules-row-5">
            <a:extLst>
              <a:ext uri="{FF2B5EF4-FFF2-40B4-BE49-F238E27FC236}">
                <a16:creationId xmlns:a16="http://schemas.microsoft.com/office/drawing/2014/main" id="{B60DCC57-2871-4489-9260-23A6714D105E}"/>
              </a:ext>
            </a:extLst>
          </p:cNvPr>
          <p:cNvSpPr>
            <a:spLocks noGrp="1"/>
          </p:cNvSpPr>
          <p:nvPr/>
        </p:nvSpPr>
        <p:spPr>
          <a:xfrm>
            <a:off x="619125" y="5465655"/>
            <a:ext cx="5133975" cy="542925"/>
          </a:xfrm>
          <a:prstGeom prst="rect">
            <a:avLst/>
          </a:prstGeom>
          <a:solidFill>
            <a:srgbClr val="FFFFFF"/>
          </a:solidFill>
          <a:ln w="9525">
            <a:solidFill>
              <a:srgbClr val="D6D1CB"/>
            </a:solidFill>
            <a:prstDash val="solid"/>
          </a:ln>
        </p:spPr>
        <p:txBody>
          <a:bodyPr/>
          <a:lstStyle/>
          <a:p>
            <a:endParaRPr lang="en-GB" sz="2400" noProof="0" dirty="0"/>
          </a:p>
        </p:txBody>
      </p:sp>
      <p:sp>
        <p:nvSpPr>
          <p:cNvPr id="90" name="DOURO (RDD) · top 5 exact rules-rank-5">
            <a:extLst>
              <a:ext uri="{FF2B5EF4-FFF2-40B4-BE49-F238E27FC236}">
                <a16:creationId xmlns:a16="http://schemas.microsoft.com/office/drawing/2014/main" id="{6CFB75AF-055F-4945-9B14-2B789E41883C}"/>
              </a:ext>
            </a:extLst>
          </p:cNvPr>
          <p:cNvSpPr>
            <a:spLocks noGrp="1"/>
          </p:cNvSpPr>
          <p:nvPr/>
        </p:nvSpPr>
        <p:spPr>
          <a:xfrm>
            <a:off x="676275" y="5541855"/>
            <a:ext cx="247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88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0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1" name="DOURO (RDD) · top 5 exact rules-rule-5">
            <a:extLst>
              <a:ext uri="{FF2B5EF4-FFF2-40B4-BE49-F238E27FC236}">
                <a16:creationId xmlns:a16="http://schemas.microsoft.com/office/drawing/2014/main" id="{8A3DC211-FD85-416B-B943-6F80A95EB3C3}"/>
              </a:ext>
            </a:extLst>
          </p:cNvPr>
          <p:cNvSpPr>
            <a:spLocks noGrp="1"/>
          </p:cNvSpPr>
          <p:nvPr/>
        </p:nvSpPr>
        <p:spPr>
          <a:xfrm>
            <a:off x="1000125" y="553233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9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Wet days post-Flowering [0-3.3 d]</a:t>
            </a:r>
          </a:p>
          <a:p>
            <a:pPr>
              <a:buNone/>
              <a:defRPr sz="69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Heat days pre-Maturity [0-3.7 d]</a:t>
            </a:r>
          </a:p>
        </p:txBody>
      </p:sp>
      <p:sp>
        <p:nvSpPr>
          <p:cNvPr id="92" name="DOURO (RDD) · top 5 exact rules-stats-5">
            <a:extLst>
              <a:ext uri="{FF2B5EF4-FFF2-40B4-BE49-F238E27FC236}">
                <a16:creationId xmlns:a16="http://schemas.microsoft.com/office/drawing/2014/main" id="{25DEE235-4A2F-428D-9ED7-6A29E6AEF646}"/>
              </a:ext>
            </a:extLst>
          </p:cNvPr>
          <p:cNvSpPr>
            <a:spLocks noGrp="1"/>
          </p:cNvSpPr>
          <p:nvPr/>
        </p:nvSpPr>
        <p:spPr>
          <a:xfrm>
            <a:off x="4429125" y="5491893"/>
            <a:ext cx="809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24.7%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~22 yr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p=0.0110</a:t>
            </a:r>
          </a:p>
        </p:txBody>
      </p:sp>
      <p:sp>
        <p:nvSpPr>
          <p:cNvPr id="93" name="DOURO (RDD) · top 5 exact rules-delta-5">
            <a:extLst>
              <a:ext uri="{FF2B5EF4-FFF2-40B4-BE49-F238E27FC236}">
                <a16:creationId xmlns:a16="http://schemas.microsoft.com/office/drawing/2014/main" id="{2941ED15-9628-4E2E-9D47-E881274DF602}"/>
              </a:ext>
            </a:extLst>
          </p:cNvPr>
          <p:cNvSpPr>
            <a:spLocks noGrp="1"/>
          </p:cNvSpPr>
          <p:nvPr/>
        </p:nvSpPr>
        <p:spPr>
          <a:xfrm>
            <a:off x="5219700" y="560853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10" b="1">
                <a:solidFill>
                  <a:srgbClr val="006B45"/>
                </a:solidFill>
                <a:latin typeface="Arial"/>
                <a:ea typeface="Arial"/>
                <a:cs typeface="Arial"/>
              </a:defRPr>
            </a:pPr>
            <a:r>
              <a:rPr lang="en-GB" sz="1000" b="1" noProof="0" dirty="0">
                <a:solidFill>
                  <a:srgbClr val="006B45"/>
                </a:solidFill>
                <a:latin typeface="Arial"/>
                <a:ea typeface="Arial"/>
                <a:cs typeface="Arial"/>
              </a:rPr>
              <a:t>+115</a:t>
            </a:r>
          </a:p>
        </p:txBody>
      </p:sp>
      <p:sp>
        <p:nvSpPr>
          <p:cNvPr id="95" name="VINHO VERDE (RVV) · top 5 exact rules-title">
            <a:extLst>
              <a:ext uri="{FF2B5EF4-FFF2-40B4-BE49-F238E27FC236}">
                <a16:creationId xmlns:a16="http://schemas.microsoft.com/office/drawing/2014/main" id="{E4FF130D-2F13-40CC-8ABD-8D9C5062902F}"/>
              </a:ext>
            </a:extLst>
          </p:cNvPr>
          <p:cNvSpPr>
            <a:spLocks noGrp="1"/>
          </p:cNvSpPr>
          <p:nvPr/>
        </p:nvSpPr>
        <p:spPr>
          <a:xfrm>
            <a:off x="6369718" y="2323170"/>
            <a:ext cx="50196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88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088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VINHO VERDE (RVV) · top 5 exact rules</a:t>
            </a:r>
          </a:p>
        </p:txBody>
      </p:sp>
      <p:sp>
        <p:nvSpPr>
          <p:cNvPr id="96" name="VINHO VERDE (RVV) · top 5 exact rules-subtitle">
            <a:extLst>
              <a:ext uri="{FF2B5EF4-FFF2-40B4-BE49-F238E27FC236}">
                <a16:creationId xmlns:a16="http://schemas.microsoft.com/office/drawing/2014/main" id="{DB15BD91-EC28-4996-86DC-2E9BB6B7CBFD}"/>
              </a:ext>
            </a:extLst>
          </p:cNvPr>
          <p:cNvSpPr>
            <a:spLocks noGrp="1"/>
          </p:cNvSpPr>
          <p:nvPr/>
        </p:nvSpPr>
        <p:spPr>
          <a:xfrm>
            <a:off x="6524625" y="2477585"/>
            <a:ext cx="50196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9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9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Mostly below-trend: cool, moist conditions dominate the Atlantic region.</a:t>
            </a:r>
          </a:p>
        </p:txBody>
      </p:sp>
      <p:sp>
        <p:nvSpPr>
          <p:cNvPr id="97" name="VINHO VERDE (RVV) · top 5 exact rules-header">
            <a:extLst>
              <a:ext uri="{FF2B5EF4-FFF2-40B4-BE49-F238E27FC236}">
                <a16:creationId xmlns:a16="http://schemas.microsoft.com/office/drawing/2014/main" id="{F6527898-9793-4117-A67F-64E97FD453CA}"/>
              </a:ext>
            </a:extLst>
          </p:cNvPr>
          <p:cNvSpPr>
            <a:spLocks noGrp="1"/>
          </p:cNvSpPr>
          <p:nvPr/>
        </p:nvSpPr>
        <p:spPr>
          <a:xfrm>
            <a:off x="6524625" y="2812131"/>
            <a:ext cx="5133975" cy="2476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1CB"/>
            </a:solidFill>
            <a:prstDash val="solid"/>
          </a:ln>
        </p:spPr>
        <p:txBody>
          <a:bodyPr/>
          <a:lstStyle/>
          <a:p>
            <a:endParaRPr lang="en-GB" sz="2400" noProof="0" dirty="0"/>
          </a:p>
        </p:txBody>
      </p:sp>
      <p:sp>
        <p:nvSpPr>
          <p:cNvPr id="98" name="VINHO VERDE (RVV) · top 5 exact rules-h1">
            <a:extLst>
              <a:ext uri="{FF2B5EF4-FFF2-40B4-BE49-F238E27FC236}">
                <a16:creationId xmlns:a16="http://schemas.microsoft.com/office/drawing/2014/main" id="{32E01AC8-7921-467D-B0F8-AB21A99C1F50}"/>
              </a:ext>
            </a:extLst>
          </p:cNvPr>
          <p:cNvSpPr>
            <a:spLocks noGrp="1"/>
          </p:cNvSpPr>
          <p:nvPr/>
        </p:nvSpPr>
        <p:spPr>
          <a:xfrm>
            <a:off x="6581775" y="2859756"/>
            <a:ext cx="247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13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b="1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#</a:t>
            </a:r>
          </a:p>
        </p:txBody>
      </p:sp>
      <p:sp>
        <p:nvSpPr>
          <p:cNvPr id="99" name="VINHO VERDE (RVV) · top 5 exact rules-h2">
            <a:extLst>
              <a:ext uri="{FF2B5EF4-FFF2-40B4-BE49-F238E27FC236}">
                <a16:creationId xmlns:a16="http://schemas.microsoft.com/office/drawing/2014/main" id="{38ACC8F6-530C-4811-B6E3-D6BC9F4C966A}"/>
              </a:ext>
            </a:extLst>
          </p:cNvPr>
          <p:cNvSpPr>
            <a:spLocks noGrp="1"/>
          </p:cNvSpPr>
          <p:nvPr/>
        </p:nvSpPr>
        <p:spPr>
          <a:xfrm>
            <a:off x="6905625" y="2844516"/>
            <a:ext cx="3524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13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b="1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Exact conditions from CarenR output</a:t>
            </a:r>
          </a:p>
        </p:txBody>
      </p:sp>
      <p:sp>
        <p:nvSpPr>
          <p:cNvPr id="100" name="VINHO VERDE (RVV) · top 5 exact rules-h3">
            <a:extLst>
              <a:ext uri="{FF2B5EF4-FFF2-40B4-BE49-F238E27FC236}">
                <a16:creationId xmlns:a16="http://schemas.microsoft.com/office/drawing/2014/main" id="{55B8D43B-E474-4BCA-A049-74EA1BED8912}"/>
              </a:ext>
            </a:extLst>
          </p:cNvPr>
          <p:cNvSpPr>
            <a:spLocks noGrp="1"/>
          </p:cNvSpPr>
          <p:nvPr/>
        </p:nvSpPr>
        <p:spPr>
          <a:xfrm>
            <a:off x="10267950" y="2844516"/>
            <a:ext cx="847725" cy="1029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13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b="1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support / p</a:t>
            </a:r>
          </a:p>
        </p:txBody>
      </p:sp>
      <p:sp>
        <p:nvSpPr>
          <p:cNvPr id="101" name="VINHO VERDE (RVV) · top 5 exact rules-h4">
            <a:extLst>
              <a:ext uri="{FF2B5EF4-FFF2-40B4-BE49-F238E27FC236}">
                <a16:creationId xmlns:a16="http://schemas.microsoft.com/office/drawing/2014/main" id="{34B9BCE8-05ED-442D-B9B8-A2164DA4E2DF}"/>
              </a:ext>
            </a:extLst>
          </p:cNvPr>
          <p:cNvSpPr>
            <a:spLocks noGrp="1"/>
          </p:cNvSpPr>
          <p:nvPr/>
        </p:nvSpPr>
        <p:spPr>
          <a:xfrm>
            <a:off x="11163300" y="2844516"/>
            <a:ext cx="5238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13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b="1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Delta</a:t>
            </a:r>
          </a:p>
        </p:txBody>
      </p:sp>
      <p:sp>
        <p:nvSpPr>
          <p:cNvPr id="102" name="VINHO VERDE (RVV) · top 5 exact rules-row-1">
            <a:extLst>
              <a:ext uri="{FF2B5EF4-FFF2-40B4-BE49-F238E27FC236}">
                <a16:creationId xmlns:a16="http://schemas.microsoft.com/office/drawing/2014/main" id="{D7BD76E6-6821-43A6-8AE1-E20D277E1525}"/>
              </a:ext>
            </a:extLst>
          </p:cNvPr>
          <p:cNvSpPr>
            <a:spLocks noGrp="1"/>
          </p:cNvSpPr>
          <p:nvPr/>
        </p:nvSpPr>
        <p:spPr>
          <a:xfrm>
            <a:off x="6524625" y="3217755"/>
            <a:ext cx="5133975" cy="542925"/>
          </a:xfrm>
          <a:prstGeom prst="rect">
            <a:avLst/>
          </a:prstGeom>
          <a:solidFill>
            <a:srgbClr val="FFFFFF"/>
          </a:solidFill>
          <a:ln w="9525">
            <a:solidFill>
              <a:srgbClr val="D6D1CB"/>
            </a:solidFill>
            <a:prstDash val="solid"/>
          </a:ln>
        </p:spPr>
        <p:txBody>
          <a:bodyPr/>
          <a:lstStyle/>
          <a:p>
            <a:endParaRPr lang="en-GB" sz="2400" noProof="0" dirty="0"/>
          </a:p>
        </p:txBody>
      </p:sp>
      <p:sp>
        <p:nvSpPr>
          <p:cNvPr id="103" name="VINHO VERDE (RVV) · top 5 exact rules-rank-1">
            <a:extLst>
              <a:ext uri="{FF2B5EF4-FFF2-40B4-BE49-F238E27FC236}">
                <a16:creationId xmlns:a16="http://schemas.microsoft.com/office/drawing/2014/main" id="{3FEF6280-78A9-4E7E-A57F-A8E8EA6F0A3F}"/>
              </a:ext>
            </a:extLst>
          </p:cNvPr>
          <p:cNvSpPr>
            <a:spLocks noGrp="1"/>
          </p:cNvSpPr>
          <p:nvPr/>
        </p:nvSpPr>
        <p:spPr>
          <a:xfrm>
            <a:off x="6581775" y="3293955"/>
            <a:ext cx="247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88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0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4" name="VINHO VERDE (RVV) · top 5 exact rules-rule-1">
            <a:extLst>
              <a:ext uri="{FF2B5EF4-FFF2-40B4-BE49-F238E27FC236}">
                <a16:creationId xmlns:a16="http://schemas.microsoft.com/office/drawing/2014/main" id="{B9A8FD12-2CAE-4D4A-849A-41358D68AB93}"/>
              </a:ext>
            </a:extLst>
          </p:cNvPr>
          <p:cNvSpPr>
            <a:spLocks noGrp="1"/>
          </p:cNvSpPr>
          <p:nvPr/>
        </p:nvSpPr>
        <p:spPr>
          <a:xfrm>
            <a:off x="6905625" y="316251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5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Soil water pre-Harvest [61-97 mm]</a:t>
            </a:r>
          </a:p>
          <a:p>
            <a:pPr>
              <a:buNone/>
              <a:defRPr sz="65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Heat days pre-Maturity [0-1.9 d]</a:t>
            </a:r>
          </a:p>
          <a:p>
            <a:pPr>
              <a:buNone/>
              <a:defRPr sz="65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Heat days post-Maturity [0-2.4 d]</a:t>
            </a:r>
          </a:p>
          <a:p>
            <a:pPr>
              <a:buNone/>
              <a:defRPr sz="65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Heat days post-Flowering [0-1.1 d]</a:t>
            </a:r>
          </a:p>
        </p:txBody>
      </p:sp>
      <p:sp>
        <p:nvSpPr>
          <p:cNvPr id="105" name="VINHO VERDE (RVV) · top 5 exact rules-stats-1">
            <a:extLst>
              <a:ext uri="{FF2B5EF4-FFF2-40B4-BE49-F238E27FC236}">
                <a16:creationId xmlns:a16="http://schemas.microsoft.com/office/drawing/2014/main" id="{7F3E0124-A510-48D2-95CF-82530F0D6AE3}"/>
              </a:ext>
            </a:extLst>
          </p:cNvPr>
          <p:cNvSpPr>
            <a:spLocks noGrp="1"/>
          </p:cNvSpPr>
          <p:nvPr/>
        </p:nvSpPr>
        <p:spPr>
          <a:xfrm>
            <a:off x="10380345" y="3253950"/>
            <a:ext cx="71628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21.2%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~17 yr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p=0.0198</a:t>
            </a:r>
          </a:p>
        </p:txBody>
      </p:sp>
      <p:sp>
        <p:nvSpPr>
          <p:cNvPr id="106" name="VINHO VERDE (RVV) · top 5 exact rules-delta-1">
            <a:extLst>
              <a:ext uri="{FF2B5EF4-FFF2-40B4-BE49-F238E27FC236}">
                <a16:creationId xmlns:a16="http://schemas.microsoft.com/office/drawing/2014/main" id="{AF9FE562-0DCD-44DE-A1DF-EAA7C0609DE9}"/>
              </a:ext>
            </a:extLst>
          </p:cNvPr>
          <p:cNvSpPr>
            <a:spLocks noGrp="1"/>
          </p:cNvSpPr>
          <p:nvPr/>
        </p:nvSpPr>
        <p:spPr>
          <a:xfrm>
            <a:off x="11125200" y="336063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10" b="1">
                <a:solidFill>
                  <a:srgbClr val="8B1E3F"/>
                </a:solidFill>
                <a:latin typeface="Arial"/>
                <a:ea typeface="Arial"/>
                <a:cs typeface="Arial"/>
              </a:defRPr>
            </a:pPr>
            <a:r>
              <a:rPr lang="en-GB" sz="1000" b="1" noProof="0" dirty="0">
                <a:solidFill>
                  <a:srgbClr val="8B1E3F"/>
                </a:solidFill>
                <a:latin typeface="Arial"/>
                <a:ea typeface="Arial"/>
                <a:cs typeface="Arial"/>
              </a:rPr>
              <a:t>-338</a:t>
            </a:r>
          </a:p>
        </p:txBody>
      </p:sp>
      <p:sp>
        <p:nvSpPr>
          <p:cNvPr id="107" name="VINHO VERDE (RVV) · top 5 exact rules-row-2">
            <a:extLst>
              <a:ext uri="{FF2B5EF4-FFF2-40B4-BE49-F238E27FC236}">
                <a16:creationId xmlns:a16="http://schemas.microsoft.com/office/drawing/2014/main" id="{373D1EC2-BBAB-46B0-854D-EA275A5D83A5}"/>
              </a:ext>
            </a:extLst>
          </p:cNvPr>
          <p:cNvSpPr>
            <a:spLocks noGrp="1"/>
          </p:cNvSpPr>
          <p:nvPr/>
        </p:nvSpPr>
        <p:spPr>
          <a:xfrm>
            <a:off x="6524625" y="3779730"/>
            <a:ext cx="5133975" cy="542925"/>
          </a:xfrm>
          <a:prstGeom prst="rect">
            <a:avLst/>
          </a:prstGeom>
          <a:solidFill>
            <a:srgbClr val="FAFAFA"/>
          </a:solidFill>
          <a:ln w="9525">
            <a:solidFill>
              <a:srgbClr val="D6D1CB"/>
            </a:solidFill>
            <a:prstDash val="solid"/>
          </a:ln>
        </p:spPr>
        <p:txBody>
          <a:bodyPr/>
          <a:lstStyle/>
          <a:p>
            <a:endParaRPr lang="en-GB" sz="2400" noProof="0" dirty="0"/>
          </a:p>
        </p:txBody>
      </p:sp>
      <p:sp>
        <p:nvSpPr>
          <p:cNvPr id="108" name="VINHO VERDE (RVV) · top 5 exact rules-rank-2">
            <a:extLst>
              <a:ext uri="{FF2B5EF4-FFF2-40B4-BE49-F238E27FC236}">
                <a16:creationId xmlns:a16="http://schemas.microsoft.com/office/drawing/2014/main" id="{A4E68810-86DA-43E2-9F8A-A0A4961C36A6}"/>
              </a:ext>
            </a:extLst>
          </p:cNvPr>
          <p:cNvSpPr>
            <a:spLocks noGrp="1"/>
          </p:cNvSpPr>
          <p:nvPr/>
        </p:nvSpPr>
        <p:spPr>
          <a:xfrm>
            <a:off x="6581775" y="3855930"/>
            <a:ext cx="247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88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0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9" name="VINHO VERDE (RVV) · top 5 exact rules-rule-2">
            <a:extLst>
              <a:ext uri="{FF2B5EF4-FFF2-40B4-BE49-F238E27FC236}">
                <a16:creationId xmlns:a16="http://schemas.microsoft.com/office/drawing/2014/main" id="{6FF208B0-12A0-4F78-B688-A2C32692E926}"/>
              </a:ext>
            </a:extLst>
          </p:cNvPr>
          <p:cNvSpPr>
            <a:spLocks noGrp="1"/>
          </p:cNvSpPr>
          <p:nvPr/>
        </p:nvSpPr>
        <p:spPr>
          <a:xfrm>
            <a:off x="6905625" y="3800685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5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Temp at Flowering [13.8-17.1 </a:t>
            </a:r>
            <a:r>
              <a:rPr lang="en-GB" sz="900" noProof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deg</a:t>
            </a: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C]</a:t>
            </a:r>
          </a:p>
          <a:p>
            <a:pPr>
              <a:buNone/>
              <a:defRPr sz="65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Temp post-Flowering [12.6-17.5 </a:t>
            </a:r>
            <a:r>
              <a:rPr lang="en-GB" sz="900" noProof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deg</a:t>
            </a: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C]</a:t>
            </a:r>
          </a:p>
          <a:p>
            <a:pPr>
              <a:buNone/>
              <a:defRPr sz="65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Wet-soil days post-Flowering </a:t>
            </a:r>
            <a:r>
              <a:rPr lang="en-GB" sz="900" noProof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prev.yr</a:t>
            </a: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[17.5-20 d]</a:t>
            </a:r>
          </a:p>
        </p:txBody>
      </p:sp>
      <p:sp>
        <p:nvSpPr>
          <p:cNvPr id="110" name="VINHO VERDE (RVV) · top 5 exact rules-stats-2">
            <a:extLst>
              <a:ext uri="{FF2B5EF4-FFF2-40B4-BE49-F238E27FC236}">
                <a16:creationId xmlns:a16="http://schemas.microsoft.com/office/drawing/2014/main" id="{A00D6CA8-3B4D-4693-92FC-25EE8654DD1C}"/>
              </a:ext>
            </a:extLst>
          </p:cNvPr>
          <p:cNvSpPr>
            <a:spLocks noGrp="1"/>
          </p:cNvSpPr>
          <p:nvPr/>
        </p:nvSpPr>
        <p:spPr>
          <a:xfrm>
            <a:off x="10380345" y="3815925"/>
            <a:ext cx="71628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21.2%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~17 yr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p=0.0216</a:t>
            </a:r>
          </a:p>
        </p:txBody>
      </p:sp>
      <p:sp>
        <p:nvSpPr>
          <p:cNvPr id="111" name="VINHO VERDE (RVV) · top 5 exact rules-delta-2">
            <a:extLst>
              <a:ext uri="{FF2B5EF4-FFF2-40B4-BE49-F238E27FC236}">
                <a16:creationId xmlns:a16="http://schemas.microsoft.com/office/drawing/2014/main" id="{941CB26F-CCE5-40EE-A42B-C13290AFA9E7}"/>
              </a:ext>
            </a:extLst>
          </p:cNvPr>
          <p:cNvSpPr>
            <a:spLocks noGrp="1"/>
          </p:cNvSpPr>
          <p:nvPr/>
        </p:nvSpPr>
        <p:spPr>
          <a:xfrm>
            <a:off x="11125200" y="392260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10" b="1">
                <a:solidFill>
                  <a:srgbClr val="8B1E3F"/>
                </a:solidFill>
                <a:latin typeface="Arial"/>
                <a:ea typeface="Arial"/>
                <a:cs typeface="Arial"/>
              </a:defRPr>
            </a:pPr>
            <a:r>
              <a:rPr lang="en-GB" sz="1000" b="1" noProof="0" dirty="0">
                <a:solidFill>
                  <a:srgbClr val="8B1E3F"/>
                </a:solidFill>
                <a:latin typeface="Arial"/>
                <a:ea typeface="Arial"/>
                <a:cs typeface="Arial"/>
              </a:rPr>
              <a:t>-268</a:t>
            </a:r>
          </a:p>
        </p:txBody>
      </p:sp>
      <p:sp>
        <p:nvSpPr>
          <p:cNvPr id="112" name="VINHO VERDE (RVV) · top 5 exact rules-row-3">
            <a:extLst>
              <a:ext uri="{FF2B5EF4-FFF2-40B4-BE49-F238E27FC236}">
                <a16:creationId xmlns:a16="http://schemas.microsoft.com/office/drawing/2014/main" id="{C0D271DF-9622-40DD-AEFD-79DD728EFAE6}"/>
              </a:ext>
            </a:extLst>
          </p:cNvPr>
          <p:cNvSpPr>
            <a:spLocks noGrp="1"/>
          </p:cNvSpPr>
          <p:nvPr/>
        </p:nvSpPr>
        <p:spPr>
          <a:xfrm>
            <a:off x="6524625" y="4341705"/>
            <a:ext cx="5133975" cy="542925"/>
          </a:xfrm>
          <a:prstGeom prst="rect">
            <a:avLst/>
          </a:prstGeom>
          <a:solidFill>
            <a:srgbClr val="FFFFFF"/>
          </a:solidFill>
          <a:ln w="9525">
            <a:solidFill>
              <a:srgbClr val="D6D1CB"/>
            </a:solidFill>
            <a:prstDash val="solid"/>
          </a:ln>
        </p:spPr>
        <p:txBody>
          <a:bodyPr/>
          <a:lstStyle/>
          <a:p>
            <a:endParaRPr lang="en-GB" sz="2400" noProof="0" dirty="0"/>
          </a:p>
        </p:txBody>
      </p:sp>
      <p:sp>
        <p:nvSpPr>
          <p:cNvPr id="113" name="VINHO VERDE (RVV) · top 5 exact rules-rank-3">
            <a:extLst>
              <a:ext uri="{FF2B5EF4-FFF2-40B4-BE49-F238E27FC236}">
                <a16:creationId xmlns:a16="http://schemas.microsoft.com/office/drawing/2014/main" id="{2AF7C3BD-C819-4FE0-BA17-582FBCE8C350}"/>
              </a:ext>
            </a:extLst>
          </p:cNvPr>
          <p:cNvSpPr>
            <a:spLocks noGrp="1"/>
          </p:cNvSpPr>
          <p:nvPr/>
        </p:nvSpPr>
        <p:spPr>
          <a:xfrm>
            <a:off x="6581775" y="4417905"/>
            <a:ext cx="247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88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0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4" name="VINHO VERDE (RVV) · top 5 exact rules-rule-3">
            <a:extLst>
              <a:ext uri="{FF2B5EF4-FFF2-40B4-BE49-F238E27FC236}">
                <a16:creationId xmlns:a16="http://schemas.microsoft.com/office/drawing/2014/main" id="{428B43F6-F93F-4B8C-88E1-D615DF4D7676}"/>
              </a:ext>
            </a:extLst>
          </p:cNvPr>
          <p:cNvSpPr>
            <a:spLocks noGrp="1"/>
          </p:cNvSpPr>
          <p:nvPr/>
        </p:nvSpPr>
        <p:spPr>
          <a:xfrm>
            <a:off x="6905625" y="436266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9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Soil water post-Flowering [143-234 mm]</a:t>
            </a:r>
          </a:p>
          <a:p>
            <a:pPr>
              <a:buNone/>
              <a:defRPr sz="69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Heat days post-Maturity [0-2.4 d]</a:t>
            </a:r>
          </a:p>
        </p:txBody>
      </p:sp>
      <p:sp>
        <p:nvSpPr>
          <p:cNvPr id="115" name="VINHO VERDE (RVV) · top 5 exact rules-stats-3">
            <a:extLst>
              <a:ext uri="{FF2B5EF4-FFF2-40B4-BE49-F238E27FC236}">
                <a16:creationId xmlns:a16="http://schemas.microsoft.com/office/drawing/2014/main" id="{1F4B5520-16D5-4437-ABB5-D4BCB81A75C1}"/>
              </a:ext>
            </a:extLst>
          </p:cNvPr>
          <p:cNvSpPr>
            <a:spLocks noGrp="1"/>
          </p:cNvSpPr>
          <p:nvPr/>
        </p:nvSpPr>
        <p:spPr>
          <a:xfrm>
            <a:off x="10380345" y="4377900"/>
            <a:ext cx="71628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27.5%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~22 yr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p=0.0294</a:t>
            </a:r>
          </a:p>
        </p:txBody>
      </p:sp>
      <p:sp>
        <p:nvSpPr>
          <p:cNvPr id="116" name="VINHO VERDE (RVV) · top 5 exact rules-delta-3">
            <a:extLst>
              <a:ext uri="{FF2B5EF4-FFF2-40B4-BE49-F238E27FC236}">
                <a16:creationId xmlns:a16="http://schemas.microsoft.com/office/drawing/2014/main" id="{10845E78-9200-4353-9A9A-EA2F0AA445A4}"/>
              </a:ext>
            </a:extLst>
          </p:cNvPr>
          <p:cNvSpPr>
            <a:spLocks noGrp="1"/>
          </p:cNvSpPr>
          <p:nvPr/>
        </p:nvSpPr>
        <p:spPr>
          <a:xfrm>
            <a:off x="11125200" y="448458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10" b="1">
                <a:solidFill>
                  <a:srgbClr val="8B1E3F"/>
                </a:solidFill>
                <a:latin typeface="Arial"/>
                <a:ea typeface="Arial"/>
                <a:cs typeface="Arial"/>
              </a:defRPr>
            </a:pPr>
            <a:r>
              <a:rPr lang="en-GB" sz="1000" b="1" noProof="0" dirty="0">
                <a:solidFill>
                  <a:srgbClr val="8B1E3F"/>
                </a:solidFill>
                <a:latin typeface="Arial"/>
                <a:ea typeface="Arial"/>
                <a:cs typeface="Arial"/>
              </a:rPr>
              <a:t>-365</a:t>
            </a:r>
          </a:p>
        </p:txBody>
      </p:sp>
      <p:sp>
        <p:nvSpPr>
          <p:cNvPr id="117" name="VINHO VERDE (RVV) · top 5 exact rules-row-4">
            <a:extLst>
              <a:ext uri="{FF2B5EF4-FFF2-40B4-BE49-F238E27FC236}">
                <a16:creationId xmlns:a16="http://schemas.microsoft.com/office/drawing/2014/main" id="{075D8346-807F-4E72-837A-F3385F79D05F}"/>
              </a:ext>
            </a:extLst>
          </p:cNvPr>
          <p:cNvSpPr>
            <a:spLocks noGrp="1"/>
          </p:cNvSpPr>
          <p:nvPr/>
        </p:nvSpPr>
        <p:spPr>
          <a:xfrm>
            <a:off x="6524625" y="4903680"/>
            <a:ext cx="5133975" cy="542925"/>
          </a:xfrm>
          <a:prstGeom prst="rect">
            <a:avLst/>
          </a:prstGeom>
          <a:solidFill>
            <a:srgbClr val="FAFAFA"/>
          </a:solidFill>
          <a:ln w="9525">
            <a:solidFill>
              <a:srgbClr val="D6D1CB"/>
            </a:solidFill>
            <a:prstDash val="solid"/>
          </a:ln>
        </p:spPr>
        <p:txBody>
          <a:bodyPr/>
          <a:lstStyle/>
          <a:p>
            <a:endParaRPr lang="en-GB" sz="2400" noProof="0" dirty="0"/>
          </a:p>
        </p:txBody>
      </p:sp>
      <p:sp>
        <p:nvSpPr>
          <p:cNvPr id="118" name="VINHO VERDE (RVV) · top 5 exact rules-rank-4">
            <a:extLst>
              <a:ext uri="{FF2B5EF4-FFF2-40B4-BE49-F238E27FC236}">
                <a16:creationId xmlns:a16="http://schemas.microsoft.com/office/drawing/2014/main" id="{EFC3FE7D-F18B-45E5-8B09-5F83FD43BAB2}"/>
              </a:ext>
            </a:extLst>
          </p:cNvPr>
          <p:cNvSpPr>
            <a:spLocks noGrp="1"/>
          </p:cNvSpPr>
          <p:nvPr/>
        </p:nvSpPr>
        <p:spPr>
          <a:xfrm>
            <a:off x="6581775" y="4979880"/>
            <a:ext cx="247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88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0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9" name="VINHO VERDE (RVV) · top 5 exact rules-rule-4">
            <a:extLst>
              <a:ext uri="{FF2B5EF4-FFF2-40B4-BE49-F238E27FC236}">
                <a16:creationId xmlns:a16="http://schemas.microsoft.com/office/drawing/2014/main" id="{D47BE7F3-B4B5-411B-9414-C2751495F078}"/>
              </a:ext>
            </a:extLst>
          </p:cNvPr>
          <p:cNvSpPr>
            <a:spLocks noGrp="1"/>
          </p:cNvSpPr>
          <p:nvPr/>
        </p:nvSpPr>
        <p:spPr>
          <a:xfrm>
            <a:off x="6905625" y="4924635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5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Temp post-Budburst </a:t>
            </a:r>
            <a:r>
              <a:rPr lang="en-GB" sz="900" noProof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prev.yr</a:t>
            </a: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[11.2-13.5 </a:t>
            </a:r>
            <a:r>
              <a:rPr lang="en-GB" sz="900" noProof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deg</a:t>
            </a: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C]</a:t>
            </a:r>
          </a:p>
          <a:p>
            <a:pPr>
              <a:buNone/>
              <a:defRPr sz="65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Cold days at Flowering [0-3.4 d]</a:t>
            </a:r>
          </a:p>
          <a:p>
            <a:pPr>
              <a:buNone/>
              <a:defRPr sz="65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Heat days post-Flowering [0-1.1 d]</a:t>
            </a:r>
          </a:p>
        </p:txBody>
      </p:sp>
      <p:sp>
        <p:nvSpPr>
          <p:cNvPr id="120" name="VINHO VERDE (RVV) · top 5 exact rules-stats-4">
            <a:extLst>
              <a:ext uri="{FF2B5EF4-FFF2-40B4-BE49-F238E27FC236}">
                <a16:creationId xmlns:a16="http://schemas.microsoft.com/office/drawing/2014/main" id="{2508B91C-B98B-4574-B6A5-4C8959FBAE7A}"/>
              </a:ext>
            </a:extLst>
          </p:cNvPr>
          <p:cNvSpPr>
            <a:spLocks noGrp="1"/>
          </p:cNvSpPr>
          <p:nvPr/>
        </p:nvSpPr>
        <p:spPr>
          <a:xfrm>
            <a:off x="10380345" y="4939875"/>
            <a:ext cx="71628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25.0%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~20 yr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p=0.0298</a:t>
            </a:r>
          </a:p>
        </p:txBody>
      </p:sp>
      <p:sp>
        <p:nvSpPr>
          <p:cNvPr id="121" name="VINHO VERDE (RVV) · top 5 exact rules-delta-4">
            <a:extLst>
              <a:ext uri="{FF2B5EF4-FFF2-40B4-BE49-F238E27FC236}">
                <a16:creationId xmlns:a16="http://schemas.microsoft.com/office/drawing/2014/main" id="{A63417C1-8376-4A5A-96C8-8CCF9FD81DF7}"/>
              </a:ext>
            </a:extLst>
          </p:cNvPr>
          <p:cNvSpPr>
            <a:spLocks noGrp="1"/>
          </p:cNvSpPr>
          <p:nvPr/>
        </p:nvSpPr>
        <p:spPr>
          <a:xfrm>
            <a:off x="11125200" y="504655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10" b="1">
                <a:solidFill>
                  <a:srgbClr val="006B45"/>
                </a:solidFill>
                <a:latin typeface="Arial"/>
                <a:ea typeface="Arial"/>
                <a:cs typeface="Arial"/>
              </a:defRPr>
            </a:pPr>
            <a:r>
              <a:rPr lang="en-GB" sz="1000" b="1" noProof="0" dirty="0">
                <a:solidFill>
                  <a:srgbClr val="006B45"/>
                </a:solidFill>
                <a:latin typeface="Arial"/>
                <a:ea typeface="Arial"/>
                <a:cs typeface="Arial"/>
              </a:rPr>
              <a:t>+311</a:t>
            </a:r>
          </a:p>
        </p:txBody>
      </p:sp>
      <p:sp>
        <p:nvSpPr>
          <p:cNvPr id="122" name="VINHO VERDE (RVV) · top 5 exact rules-row-5">
            <a:extLst>
              <a:ext uri="{FF2B5EF4-FFF2-40B4-BE49-F238E27FC236}">
                <a16:creationId xmlns:a16="http://schemas.microsoft.com/office/drawing/2014/main" id="{BA18AF68-02F7-4E70-AC08-9AB15AA1948A}"/>
              </a:ext>
            </a:extLst>
          </p:cNvPr>
          <p:cNvSpPr>
            <a:spLocks noGrp="1"/>
          </p:cNvSpPr>
          <p:nvPr/>
        </p:nvSpPr>
        <p:spPr>
          <a:xfrm>
            <a:off x="6524625" y="5465655"/>
            <a:ext cx="5133975" cy="542925"/>
          </a:xfrm>
          <a:prstGeom prst="rect">
            <a:avLst/>
          </a:prstGeom>
          <a:solidFill>
            <a:srgbClr val="FFFFFF"/>
          </a:solidFill>
          <a:ln w="9525">
            <a:solidFill>
              <a:srgbClr val="D6D1CB"/>
            </a:solidFill>
            <a:prstDash val="solid"/>
          </a:ln>
        </p:spPr>
        <p:txBody>
          <a:bodyPr/>
          <a:lstStyle/>
          <a:p>
            <a:endParaRPr lang="en-GB" sz="2400" noProof="0" dirty="0"/>
          </a:p>
        </p:txBody>
      </p:sp>
      <p:sp>
        <p:nvSpPr>
          <p:cNvPr id="123" name="VINHO VERDE (RVV) · top 5 exact rules-rank-5">
            <a:extLst>
              <a:ext uri="{FF2B5EF4-FFF2-40B4-BE49-F238E27FC236}">
                <a16:creationId xmlns:a16="http://schemas.microsoft.com/office/drawing/2014/main" id="{8B7A3652-A3A9-4FBE-934D-F3A4FDCC9B94}"/>
              </a:ext>
            </a:extLst>
          </p:cNvPr>
          <p:cNvSpPr>
            <a:spLocks noGrp="1"/>
          </p:cNvSpPr>
          <p:nvPr/>
        </p:nvSpPr>
        <p:spPr>
          <a:xfrm>
            <a:off x="6581775" y="5541855"/>
            <a:ext cx="247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88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0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4" name="VINHO VERDE (RVV) · top 5 exact rules-rule-5">
            <a:extLst>
              <a:ext uri="{FF2B5EF4-FFF2-40B4-BE49-F238E27FC236}">
                <a16:creationId xmlns:a16="http://schemas.microsoft.com/office/drawing/2014/main" id="{00434A10-8EDF-4885-977A-A726DE335AD7}"/>
              </a:ext>
            </a:extLst>
          </p:cNvPr>
          <p:cNvSpPr>
            <a:spLocks noGrp="1"/>
          </p:cNvSpPr>
          <p:nvPr/>
        </p:nvSpPr>
        <p:spPr>
          <a:xfrm>
            <a:off x="6905625" y="548661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5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Temp post-Flowering [12.6-17.5 </a:t>
            </a:r>
            <a:r>
              <a:rPr lang="en-GB" sz="900" noProof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deg</a:t>
            </a: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C]</a:t>
            </a:r>
          </a:p>
          <a:p>
            <a:pPr>
              <a:buNone/>
              <a:defRPr sz="65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Heat days post-Maturity [0-2.4 d]</a:t>
            </a:r>
          </a:p>
          <a:p>
            <a:pPr>
              <a:buNone/>
              <a:defRPr sz="65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Wet-soil days post-Flowering </a:t>
            </a:r>
            <a:r>
              <a:rPr lang="en-GB" sz="900" noProof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prev.yr</a:t>
            </a: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[17.5-20 d]</a:t>
            </a:r>
          </a:p>
        </p:txBody>
      </p:sp>
      <p:sp>
        <p:nvSpPr>
          <p:cNvPr id="125" name="VINHO VERDE (RVV) · top 5 exact rules-stats-5">
            <a:extLst>
              <a:ext uri="{FF2B5EF4-FFF2-40B4-BE49-F238E27FC236}">
                <a16:creationId xmlns:a16="http://schemas.microsoft.com/office/drawing/2014/main" id="{52C52760-C72D-481A-8220-72974FD1C32D}"/>
              </a:ext>
            </a:extLst>
          </p:cNvPr>
          <p:cNvSpPr>
            <a:spLocks noGrp="1"/>
          </p:cNvSpPr>
          <p:nvPr/>
        </p:nvSpPr>
        <p:spPr>
          <a:xfrm>
            <a:off x="10380345" y="5501850"/>
            <a:ext cx="71628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23.8%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~19 yr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p=0.0299</a:t>
            </a:r>
          </a:p>
        </p:txBody>
      </p:sp>
      <p:sp>
        <p:nvSpPr>
          <p:cNvPr id="126" name="VINHO VERDE (RVV) · top 5 exact rules-delta-5">
            <a:extLst>
              <a:ext uri="{FF2B5EF4-FFF2-40B4-BE49-F238E27FC236}">
                <a16:creationId xmlns:a16="http://schemas.microsoft.com/office/drawing/2014/main" id="{2909253D-BEB3-4131-B532-E8036CCA2001}"/>
              </a:ext>
            </a:extLst>
          </p:cNvPr>
          <p:cNvSpPr>
            <a:spLocks noGrp="1"/>
          </p:cNvSpPr>
          <p:nvPr/>
        </p:nvSpPr>
        <p:spPr>
          <a:xfrm>
            <a:off x="11125200" y="560853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10" b="1">
                <a:solidFill>
                  <a:srgbClr val="8B1E3F"/>
                </a:solidFill>
                <a:latin typeface="Arial"/>
                <a:ea typeface="Arial"/>
                <a:cs typeface="Arial"/>
              </a:defRPr>
            </a:pPr>
            <a:r>
              <a:rPr lang="en-GB" sz="1000" b="1" noProof="0" dirty="0">
                <a:solidFill>
                  <a:srgbClr val="8B1E3F"/>
                </a:solidFill>
                <a:latin typeface="Arial"/>
                <a:ea typeface="Arial"/>
                <a:cs typeface="Arial"/>
              </a:rPr>
              <a:t>-292</a:t>
            </a:r>
          </a:p>
        </p:txBody>
      </p:sp>
      <p:sp>
        <p:nvSpPr>
          <p:cNvPr id="128" name="exact-reading-label">
            <a:extLst>
              <a:ext uri="{FF2B5EF4-FFF2-40B4-BE49-F238E27FC236}">
                <a16:creationId xmlns:a16="http://schemas.microsoft.com/office/drawing/2014/main" id="{B7419DBB-3FC5-412A-904D-228AC62E1C34}"/>
              </a:ext>
            </a:extLst>
          </p:cNvPr>
          <p:cNvSpPr>
            <a:spLocks noGrp="1"/>
          </p:cNvSpPr>
          <p:nvPr/>
        </p:nvSpPr>
        <p:spPr>
          <a:xfrm>
            <a:off x="1443038" y="6192936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88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088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How to read it</a:t>
            </a:r>
          </a:p>
        </p:txBody>
      </p:sp>
      <p:sp>
        <p:nvSpPr>
          <p:cNvPr id="129" name="exact-reading-main">
            <a:extLst>
              <a:ext uri="{FF2B5EF4-FFF2-40B4-BE49-F238E27FC236}">
                <a16:creationId xmlns:a16="http://schemas.microsoft.com/office/drawing/2014/main" id="{98556951-FCAE-4FC6-8D13-B394939FE914}"/>
              </a:ext>
            </a:extLst>
          </p:cNvPr>
          <p:cNvSpPr>
            <a:spLocks noGrp="1"/>
          </p:cNvSpPr>
          <p:nvPr/>
        </p:nvSpPr>
        <p:spPr>
          <a:xfrm>
            <a:off x="2824163" y="6218130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6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065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Support is the share of historical years matching the rule; p is the KS-test evidence that the subgroup distribution differs from the full distribution.</a:t>
            </a:r>
          </a:p>
        </p:txBody>
      </p:sp>
      <p:sp>
        <p:nvSpPr>
          <p:cNvPr id="55" name="slide-number">
            <a:extLst>
              <a:ext uri="{FF2B5EF4-FFF2-40B4-BE49-F238E27FC236}">
                <a16:creationId xmlns:a16="http://schemas.microsoft.com/office/drawing/2014/main" id="{3EAB9F83-A019-4CC3-B7E0-33987C3A751C}"/>
              </a:ext>
            </a:extLst>
          </p:cNvPr>
          <p:cNvSpPr>
            <a:spLocks noGrp="1"/>
          </p:cNvSpPr>
          <p:nvPr/>
        </p:nvSpPr>
        <p:spPr>
          <a:xfrm>
            <a:off x="11287125" y="6181402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750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3" name="finding-band">
            <a:extLst>
              <a:ext uri="{FF2B5EF4-FFF2-40B4-BE49-F238E27FC236}">
                <a16:creationId xmlns:a16="http://schemas.microsoft.com/office/drawing/2014/main" id="{74D89DC6-CE9D-57DE-BC35-295500D40854}"/>
              </a:ext>
            </a:extLst>
          </p:cNvPr>
          <p:cNvSpPr>
            <a:spLocks noGrp="1"/>
          </p:cNvSpPr>
          <p:nvPr/>
        </p:nvSpPr>
        <p:spPr>
          <a:xfrm>
            <a:off x="485775" y="1244415"/>
            <a:ext cx="11382375" cy="540050"/>
          </a:xfrm>
          <a:prstGeom prst="rect">
            <a:avLst/>
          </a:prstGeom>
          <a:solidFill>
            <a:schemeClr val="bg2">
              <a:lumMod val="9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56" name="finding-main">
            <a:extLst>
              <a:ext uri="{FF2B5EF4-FFF2-40B4-BE49-F238E27FC236}">
                <a16:creationId xmlns:a16="http://schemas.microsoft.com/office/drawing/2014/main" id="{8008EB98-FDBA-0445-81AC-D8945479140D}"/>
              </a:ext>
            </a:extLst>
          </p:cNvPr>
          <p:cNvSpPr>
            <a:spLocks noGrp="1"/>
          </p:cNvSpPr>
          <p:nvPr/>
        </p:nvSpPr>
        <p:spPr>
          <a:xfrm>
            <a:off x="762001" y="1321835"/>
            <a:ext cx="10880622" cy="64681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2000" b="1" noProof="0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AUDITABLE AND SPECIFIC, WITH THRESHOLDS AGRONOMISTS CAN EVALUATE</a:t>
            </a:r>
          </a:p>
        </p:txBody>
      </p:sp>
      <p:sp>
        <p:nvSpPr>
          <p:cNvPr id="130" name="exact-reading-label">
            <a:extLst>
              <a:ext uri="{FF2B5EF4-FFF2-40B4-BE49-F238E27FC236}">
                <a16:creationId xmlns:a16="http://schemas.microsoft.com/office/drawing/2014/main" id="{10866EB8-C08B-78E8-CD5E-817DEEA17DA9}"/>
              </a:ext>
            </a:extLst>
          </p:cNvPr>
          <p:cNvSpPr>
            <a:spLocks noGrp="1"/>
          </p:cNvSpPr>
          <p:nvPr/>
        </p:nvSpPr>
        <p:spPr>
          <a:xfrm rot="1602548">
            <a:off x="7077897" y="-229151"/>
            <a:ext cx="3199410" cy="5458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88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60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OUTPUT EXAMPLE</a:t>
            </a:r>
          </a:p>
        </p:txBody>
      </p:sp>
      <p:sp>
        <p:nvSpPr>
          <p:cNvPr id="132" name="exact-reading-label">
            <a:extLst>
              <a:ext uri="{FF2B5EF4-FFF2-40B4-BE49-F238E27FC236}">
                <a16:creationId xmlns:a16="http://schemas.microsoft.com/office/drawing/2014/main" id="{3D332D97-64F9-9EA8-EC66-E67EBC641396}"/>
              </a:ext>
            </a:extLst>
          </p:cNvPr>
          <p:cNvSpPr>
            <a:spLocks noGrp="1"/>
          </p:cNvSpPr>
          <p:nvPr/>
        </p:nvSpPr>
        <p:spPr>
          <a:xfrm rot="1602548">
            <a:off x="10754437" y="1616504"/>
            <a:ext cx="3199410" cy="5458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88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60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OUTPUT EXAMPLE</a:t>
            </a:r>
          </a:p>
        </p:txBody>
      </p:sp>
      <p:sp>
        <p:nvSpPr>
          <p:cNvPr id="131" name="exact-reading-label">
            <a:extLst>
              <a:ext uri="{FF2B5EF4-FFF2-40B4-BE49-F238E27FC236}">
                <a16:creationId xmlns:a16="http://schemas.microsoft.com/office/drawing/2014/main" id="{FFE4F70F-A496-340D-A0C5-C50FB8354806}"/>
              </a:ext>
            </a:extLst>
          </p:cNvPr>
          <p:cNvSpPr>
            <a:spLocks noGrp="1"/>
          </p:cNvSpPr>
          <p:nvPr/>
        </p:nvSpPr>
        <p:spPr>
          <a:xfrm rot="1602548">
            <a:off x="8882609" y="694998"/>
            <a:ext cx="3199410" cy="5458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88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60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OUTPUT EXAMPLE</a:t>
            </a:r>
          </a:p>
        </p:txBody>
      </p:sp>
    </p:spTree>
    <p:extLst>
      <p:ext uri="{BB962C8B-B14F-4D97-AF65-F5344CB8AC3E}">
        <p14:creationId xmlns:p14="http://schemas.microsoft.com/office/powerpoint/2010/main" val="4237732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>
            <a:extLst>
              <a:ext uri="{FF2B5EF4-FFF2-40B4-BE49-F238E27FC236}">
                <a16:creationId xmlns:a16="http://schemas.microsoft.com/office/drawing/2014/main" id="{B4A5072B-BA12-434A-B2E7-F18E8ED57BDF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chemeClr val="bg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CROSS-ALGORITHM VALIDATION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1F264F9-E6AB-45DA-AB03-06AFAE1D6A29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850336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6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32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Three optimization criteria converge to the same feature families</a:t>
            </a:r>
          </a:p>
        </p:txBody>
      </p:sp>
      <p:sp>
        <p:nvSpPr>
          <p:cNvPr id="4" name="head">
            <a:extLst>
              <a:ext uri="{FF2B5EF4-FFF2-40B4-BE49-F238E27FC236}">
                <a16:creationId xmlns:a16="http://schemas.microsoft.com/office/drawing/2014/main" id="{28004806-4E78-4306-98C7-16C76F2412D4}"/>
              </a:ext>
            </a:extLst>
          </p:cNvPr>
          <p:cNvSpPr>
            <a:spLocks noGrp="1"/>
          </p:cNvSpPr>
          <p:nvPr/>
        </p:nvSpPr>
        <p:spPr>
          <a:xfrm>
            <a:off x="400050" y="1738466"/>
            <a:ext cx="11061629" cy="47625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5" name="head-0">
            <a:extLst>
              <a:ext uri="{FF2B5EF4-FFF2-40B4-BE49-F238E27FC236}">
                <a16:creationId xmlns:a16="http://schemas.microsoft.com/office/drawing/2014/main" id="{240AE2D6-0698-4772-B9CD-DE99E2226137}"/>
              </a:ext>
            </a:extLst>
          </p:cNvPr>
          <p:cNvSpPr>
            <a:spLocks noGrp="1"/>
          </p:cNvSpPr>
          <p:nvPr/>
        </p:nvSpPr>
        <p:spPr>
          <a:xfrm>
            <a:off x="495300" y="1890866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sz="1275" b="1" noProof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Feature</a:t>
            </a:r>
          </a:p>
        </p:txBody>
      </p:sp>
      <p:sp>
        <p:nvSpPr>
          <p:cNvPr id="6" name="head-1">
            <a:extLst>
              <a:ext uri="{FF2B5EF4-FFF2-40B4-BE49-F238E27FC236}">
                <a16:creationId xmlns:a16="http://schemas.microsoft.com/office/drawing/2014/main" id="{ECD317BD-7E1A-45FC-92F8-56AFA066E63C}"/>
              </a:ext>
            </a:extLst>
          </p:cNvPr>
          <p:cNvSpPr>
            <a:spLocks noGrp="1"/>
          </p:cNvSpPr>
          <p:nvPr/>
        </p:nvSpPr>
        <p:spPr>
          <a:xfrm>
            <a:off x="2762250" y="1890866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sz="1275" b="1" noProof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CarenR</a:t>
            </a:r>
          </a:p>
        </p:txBody>
      </p:sp>
      <p:sp>
        <p:nvSpPr>
          <p:cNvPr id="7" name="head-2">
            <a:extLst>
              <a:ext uri="{FF2B5EF4-FFF2-40B4-BE49-F238E27FC236}">
                <a16:creationId xmlns:a16="http://schemas.microsoft.com/office/drawing/2014/main" id="{90CD6E49-F296-4D45-A364-D242FA0FE3A1}"/>
              </a:ext>
            </a:extLst>
          </p:cNvPr>
          <p:cNvSpPr>
            <a:spLocks noGrp="1"/>
          </p:cNvSpPr>
          <p:nvPr/>
        </p:nvSpPr>
        <p:spPr>
          <a:xfrm>
            <a:off x="5048250" y="1890866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sz="1275" b="1" noProof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RIPPER</a:t>
            </a:r>
          </a:p>
        </p:txBody>
      </p:sp>
      <p:sp>
        <p:nvSpPr>
          <p:cNvPr id="8" name="head-3">
            <a:extLst>
              <a:ext uri="{FF2B5EF4-FFF2-40B4-BE49-F238E27FC236}">
                <a16:creationId xmlns:a16="http://schemas.microsoft.com/office/drawing/2014/main" id="{0EC2B971-7971-4EE0-A0EA-A56FCF57593C}"/>
              </a:ext>
            </a:extLst>
          </p:cNvPr>
          <p:cNvSpPr>
            <a:spLocks noGrp="1"/>
          </p:cNvSpPr>
          <p:nvPr/>
        </p:nvSpPr>
        <p:spPr>
          <a:xfrm>
            <a:off x="7334250" y="1890866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sz="1275" b="1" noProof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M5Rules</a:t>
            </a:r>
          </a:p>
        </p:txBody>
      </p:sp>
      <p:sp>
        <p:nvSpPr>
          <p:cNvPr id="9" name="head-4">
            <a:extLst>
              <a:ext uri="{FF2B5EF4-FFF2-40B4-BE49-F238E27FC236}">
                <a16:creationId xmlns:a16="http://schemas.microsoft.com/office/drawing/2014/main" id="{B77E9BD3-1DD0-428B-A11B-E0AB12968431}"/>
              </a:ext>
            </a:extLst>
          </p:cNvPr>
          <p:cNvSpPr>
            <a:spLocks noGrp="1"/>
          </p:cNvSpPr>
          <p:nvPr/>
        </p:nvSpPr>
        <p:spPr>
          <a:xfrm>
            <a:off x="9525000" y="1890866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sz="1275" b="1" noProof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Confidence</a:t>
            </a:r>
          </a:p>
        </p:txBody>
      </p:sp>
      <p:sp>
        <p:nvSpPr>
          <p:cNvPr id="10" name="row-0">
            <a:extLst>
              <a:ext uri="{FF2B5EF4-FFF2-40B4-BE49-F238E27FC236}">
                <a16:creationId xmlns:a16="http://schemas.microsoft.com/office/drawing/2014/main" id="{3BF20E06-64D0-44E4-A5F0-36ECB195CBFF}"/>
              </a:ext>
            </a:extLst>
          </p:cNvPr>
          <p:cNvSpPr>
            <a:spLocks noGrp="1"/>
          </p:cNvSpPr>
          <p:nvPr/>
        </p:nvSpPr>
        <p:spPr>
          <a:xfrm>
            <a:off x="400050" y="2309966"/>
            <a:ext cx="11061629" cy="7810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1" name="row-stripe-0">
            <a:extLst>
              <a:ext uri="{FF2B5EF4-FFF2-40B4-BE49-F238E27FC236}">
                <a16:creationId xmlns:a16="http://schemas.microsoft.com/office/drawing/2014/main" id="{97066061-65EF-4749-90EC-18E090FD6823}"/>
              </a:ext>
            </a:extLst>
          </p:cNvPr>
          <p:cNvSpPr>
            <a:spLocks noGrp="1"/>
          </p:cNvSpPr>
          <p:nvPr/>
        </p:nvSpPr>
        <p:spPr>
          <a:xfrm>
            <a:off x="400050" y="2309966"/>
            <a:ext cx="76200" cy="78105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2" name="row-0-0">
            <a:extLst>
              <a:ext uri="{FF2B5EF4-FFF2-40B4-BE49-F238E27FC236}">
                <a16:creationId xmlns:a16="http://schemas.microsoft.com/office/drawing/2014/main" id="{AFD69B4A-BDEA-4746-954D-8A951C5FA76A}"/>
              </a:ext>
            </a:extLst>
          </p:cNvPr>
          <p:cNvSpPr>
            <a:spLocks noGrp="1"/>
          </p:cNvSpPr>
          <p:nvPr/>
        </p:nvSpPr>
        <p:spPr>
          <a:xfrm>
            <a:off x="514350" y="2500466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3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Harvest soil water</a:t>
            </a:r>
          </a:p>
        </p:txBody>
      </p:sp>
      <p:sp>
        <p:nvSpPr>
          <p:cNvPr id="13" name="row-0-1">
            <a:extLst>
              <a:ext uri="{FF2B5EF4-FFF2-40B4-BE49-F238E27FC236}">
                <a16:creationId xmlns:a16="http://schemas.microsoft.com/office/drawing/2014/main" id="{5983EA86-C875-438D-A7E0-A3B40416D5B2}"/>
              </a:ext>
            </a:extLst>
          </p:cNvPr>
          <p:cNvSpPr>
            <a:spLocks noGrp="1"/>
          </p:cNvSpPr>
          <p:nvPr/>
        </p:nvSpPr>
        <p:spPr>
          <a:xfrm>
            <a:off x="2781300" y="2500466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54% of RDD rules</a:t>
            </a:r>
          </a:p>
          <a:p>
            <a:pPr algn="ctr">
              <a:buNone/>
              <a:defRPr sz="12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25% of RVV rules</a:t>
            </a:r>
          </a:p>
        </p:txBody>
      </p:sp>
      <p:sp>
        <p:nvSpPr>
          <p:cNvPr id="14" name="row-0-2">
            <a:extLst>
              <a:ext uri="{FF2B5EF4-FFF2-40B4-BE49-F238E27FC236}">
                <a16:creationId xmlns:a16="http://schemas.microsoft.com/office/drawing/2014/main" id="{ED728A9F-94B2-478C-A0AC-4D37875D9033}"/>
              </a:ext>
            </a:extLst>
          </p:cNvPr>
          <p:cNvSpPr>
            <a:spLocks noGrp="1"/>
          </p:cNvSpPr>
          <p:nvPr/>
        </p:nvSpPr>
        <p:spPr>
          <a:xfrm>
            <a:off x="5067300" y="2500466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RVV Rule 3</a:t>
            </a:r>
          </a:p>
        </p:txBody>
      </p:sp>
      <p:sp>
        <p:nvSpPr>
          <p:cNvPr id="15" name="row-0-3">
            <a:extLst>
              <a:ext uri="{FF2B5EF4-FFF2-40B4-BE49-F238E27FC236}">
                <a16:creationId xmlns:a16="http://schemas.microsoft.com/office/drawing/2014/main" id="{3876A42C-1A63-441E-8CBE-9469A3C3BE45}"/>
              </a:ext>
            </a:extLst>
          </p:cNvPr>
          <p:cNvSpPr>
            <a:spLocks noGrp="1"/>
          </p:cNvSpPr>
          <p:nvPr/>
        </p:nvSpPr>
        <p:spPr>
          <a:xfrm>
            <a:off x="7353300" y="2500466"/>
            <a:ext cx="1771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-2.3/mm RDD</a:t>
            </a:r>
          </a:p>
          <a:p>
            <a:pPr algn="ctr">
              <a:buNone/>
              <a:defRPr sz="12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-8.1/mm RVV</a:t>
            </a:r>
          </a:p>
        </p:txBody>
      </p:sp>
      <p:sp>
        <p:nvSpPr>
          <p:cNvPr id="16" name="row-0-4">
            <a:extLst>
              <a:ext uri="{FF2B5EF4-FFF2-40B4-BE49-F238E27FC236}">
                <a16:creationId xmlns:a16="http://schemas.microsoft.com/office/drawing/2014/main" id="{CA77C176-376C-47DA-8128-292B2EE3CBA8}"/>
              </a:ext>
            </a:extLst>
          </p:cNvPr>
          <p:cNvSpPr>
            <a:spLocks noGrp="1"/>
          </p:cNvSpPr>
          <p:nvPr/>
        </p:nvSpPr>
        <p:spPr>
          <a:xfrm>
            <a:off x="9544050" y="2500466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2F7D50"/>
                </a:solidFill>
                <a:latin typeface="Arial"/>
                <a:ea typeface="Arial"/>
                <a:cs typeface="Arial"/>
              </a:defRPr>
            </a:pPr>
            <a:r>
              <a:rPr lang="en-GB" sz="1200" b="1" noProof="0" dirty="0">
                <a:solidFill>
                  <a:srgbClr val="2F7D50"/>
                </a:solidFill>
                <a:latin typeface="Arial"/>
                <a:ea typeface="Arial"/>
                <a:cs typeface="Arial"/>
              </a:rPr>
              <a:t>HIGH</a:t>
            </a:r>
          </a:p>
          <a:p>
            <a:pPr algn="ctr">
              <a:buNone/>
              <a:defRPr sz="1200" b="1">
                <a:solidFill>
                  <a:srgbClr val="2F7D50"/>
                </a:solidFill>
                <a:latin typeface="Arial"/>
                <a:ea typeface="Arial"/>
                <a:cs typeface="Arial"/>
              </a:defRPr>
            </a:pPr>
            <a:r>
              <a:rPr lang="en-GB" sz="1200" b="1" noProof="0" dirty="0">
                <a:solidFill>
                  <a:srgbClr val="2F7D50"/>
                </a:solidFill>
                <a:latin typeface="Arial"/>
                <a:ea typeface="Arial"/>
                <a:cs typeface="Arial"/>
              </a:rPr>
              <a:t>universal</a:t>
            </a:r>
          </a:p>
        </p:txBody>
      </p:sp>
      <p:sp>
        <p:nvSpPr>
          <p:cNvPr id="17" name="row-1">
            <a:extLst>
              <a:ext uri="{FF2B5EF4-FFF2-40B4-BE49-F238E27FC236}">
                <a16:creationId xmlns:a16="http://schemas.microsoft.com/office/drawing/2014/main" id="{9237A73F-35C1-4401-936C-C56A3468E4F7}"/>
              </a:ext>
            </a:extLst>
          </p:cNvPr>
          <p:cNvSpPr>
            <a:spLocks noGrp="1"/>
          </p:cNvSpPr>
          <p:nvPr/>
        </p:nvSpPr>
        <p:spPr>
          <a:xfrm>
            <a:off x="400050" y="3186266"/>
            <a:ext cx="11061629" cy="781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8" name="row-stripe-1">
            <a:extLst>
              <a:ext uri="{FF2B5EF4-FFF2-40B4-BE49-F238E27FC236}">
                <a16:creationId xmlns:a16="http://schemas.microsoft.com/office/drawing/2014/main" id="{D46B007F-3CF0-45B9-981E-E1E07D31E43D}"/>
              </a:ext>
            </a:extLst>
          </p:cNvPr>
          <p:cNvSpPr>
            <a:spLocks noGrp="1"/>
          </p:cNvSpPr>
          <p:nvPr/>
        </p:nvSpPr>
        <p:spPr>
          <a:xfrm>
            <a:off x="400050" y="3186266"/>
            <a:ext cx="76200" cy="7810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9" name="row-1-0">
            <a:extLst>
              <a:ext uri="{FF2B5EF4-FFF2-40B4-BE49-F238E27FC236}">
                <a16:creationId xmlns:a16="http://schemas.microsoft.com/office/drawing/2014/main" id="{FE0181AA-C614-4683-874C-6F120FA0F0B6}"/>
              </a:ext>
            </a:extLst>
          </p:cNvPr>
          <p:cNvSpPr>
            <a:spLocks noGrp="1"/>
          </p:cNvSpPr>
          <p:nvPr/>
        </p:nvSpPr>
        <p:spPr>
          <a:xfrm>
            <a:off x="514350" y="3376766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3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LAI / canopy family</a:t>
            </a:r>
          </a:p>
        </p:txBody>
      </p:sp>
      <p:sp>
        <p:nvSpPr>
          <p:cNvPr id="20" name="row-1-1">
            <a:extLst>
              <a:ext uri="{FF2B5EF4-FFF2-40B4-BE49-F238E27FC236}">
                <a16:creationId xmlns:a16="http://schemas.microsoft.com/office/drawing/2014/main" id="{4F54F749-F3E4-4106-9727-F344D6FACE27}"/>
              </a:ext>
            </a:extLst>
          </p:cNvPr>
          <p:cNvSpPr>
            <a:spLocks noGrp="1"/>
          </p:cNvSpPr>
          <p:nvPr/>
        </p:nvSpPr>
        <p:spPr>
          <a:xfrm>
            <a:off x="2781300" y="3376766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 of 20 RVV rules</a:t>
            </a:r>
          </a:p>
          <a:p>
            <a:pPr algn="ctr">
              <a:buNone/>
              <a:defRPr sz="12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minor RDD signal</a:t>
            </a:r>
          </a:p>
        </p:txBody>
      </p:sp>
      <p:sp>
        <p:nvSpPr>
          <p:cNvPr id="21" name="row-1-2">
            <a:extLst>
              <a:ext uri="{FF2B5EF4-FFF2-40B4-BE49-F238E27FC236}">
                <a16:creationId xmlns:a16="http://schemas.microsoft.com/office/drawing/2014/main" id="{0A881306-6D0F-4BFF-87DC-85958CE1BD9B}"/>
              </a:ext>
            </a:extLst>
          </p:cNvPr>
          <p:cNvSpPr>
            <a:spLocks noGrp="1"/>
          </p:cNvSpPr>
          <p:nvPr/>
        </p:nvSpPr>
        <p:spPr>
          <a:xfrm>
            <a:off x="5067300" y="3376766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RVV Rules 1-2</a:t>
            </a:r>
          </a:p>
        </p:txBody>
      </p:sp>
      <p:sp>
        <p:nvSpPr>
          <p:cNvPr id="22" name="row-1-3">
            <a:extLst>
              <a:ext uri="{FF2B5EF4-FFF2-40B4-BE49-F238E27FC236}">
                <a16:creationId xmlns:a16="http://schemas.microsoft.com/office/drawing/2014/main" id="{CD471D5F-AD30-4BF7-85AF-F48754C71FC4}"/>
              </a:ext>
            </a:extLst>
          </p:cNvPr>
          <p:cNvSpPr>
            <a:spLocks noGrp="1"/>
          </p:cNvSpPr>
          <p:nvPr/>
        </p:nvSpPr>
        <p:spPr>
          <a:xfrm>
            <a:off x="7353300" y="3376766"/>
            <a:ext cx="1771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-2064/unit RVV</a:t>
            </a:r>
          </a:p>
          <a:p>
            <a:pPr algn="ctr">
              <a:buNone/>
              <a:defRPr sz="12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variable selected</a:t>
            </a:r>
          </a:p>
        </p:txBody>
      </p:sp>
      <p:sp>
        <p:nvSpPr>
          <p:cNvPr id="23" name="row-1-4">
            <a:extLst>
              <a:ext uri="{FF2B5EF4-FFF2-40B4-BE49-F238E27FC236}">
                <a16:creationId xmlns:a16="http://schemas.microsoft.com/office/drawing/2014/main" id="{700F1BB6-3257-4BBB-9F08-B392C62F9890}"/>
              </a:ext>
            </a:extLst>
          </p:cNvPr>
          <p:cNvSpPr>
            <a:spLocks noGrp="1"/>
          </p:cNvSpPr>
          <p:nvPr/>
        </p:nvSpPr>
        <p:spPr>
          <a:xfrm>
            <a:off x="9544050" y="3376766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2F7D50"/>
                </a:solidFill>
                <a:latin typeface="Arial"/>
                <a:ea typeface="Arial"/>
                <a:cs typeface="Arial"/>
              </a:defRPr>
            </a:pPr>
            <a:r>
              <a:rPr lang="en-GB" sz="1200" b="1" noProof="0" dirty="0">
                <a:solidFill>
                  <a:srgbClr val="2F7D50"/>
                </a:solidFill>
                <a:latin typeface="Arial"/>
                <a:ea typeface="Arial"/>
                <a:cs typeface="Arial"/>
              </a:rPr>
              <a:t>HIGH</a:t>
            </a:r>
          </a:p>
          <a:p>
            <a:pPr algn="ctr">
              <a:buNone/>
              <a:defRPr sz="1200" b="1">
                <a:solidFill>
                  <a:srgbClr val="2F7D50"/>
                </a:solidFill>
                <a:latin typeface="Arial"/>
                <a:ea typeface="Arial"/>
                <a:cs typeface="Arial"/>
              </a:defRPr>
            </a:pPr>
            <a:r>
              <a:rPr lang="en-GB" sz="1200" b="1" noProof="0" dirty="0">
                <a:solidFill>
                  <a:srgbClr val="2F7D50"/>
                </a:solidFill>
                <a:latin typeface="Arial"/>
                <a:ea typeface="Arial"/>
                <a:cs typeface="Arial"/>
              </a:rPr>
              <a:t>universal</a:t>
            </a:r>
          </a:p>
        </p:txBody>
      </p:sp>
      <p:sp>
        <p:nvSpPr>
          <p:cNvPr id="24" name="row-2">
            <a:extLst>
              <a:ext uri="{FF2B5EF4-FFF2-40B4-BE49-F238E27FC236}">
                <a16:creationId xmlns:a16="http://schemas.microsoft.com/office/drawing/2014/main" id="{0AE1EFCF-7CCF-46E6-BFA1-4DCA2C293028}"/>
              </a:ext>
            </a:extLst>
          </p:cNvPr>
          <p:cNvSpPr>
            <a:spLocks noGrp="1"/>
          </p:cNvSpPr>
          <p:nvPr/>
        </p:nvSpPr>
        <p:spPr>
          <a:xfrm>
            <a:off x="400050" y="4062566"/>
            <a:ext cx="11061629" cy="781050"/>
          </a:xfrm>
          <a:prstGeom prst="rect">
            <a:avLst/>
          </a:prstGeom>
          <a:solidFill>
            <a:schemeClr val="bg1">
              <a:lumMod val="85000"/>
              <a:alpha val="29732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25" name="row-stripe-2">
            <a:extLst>
              <a:ext uri="{FF2B5EF4-FFF2-40B4-BE49-F238E27FC236}">
                <a16:creationId xmlns:a16="http://schemas.microsoft.com/office/drawing/2014/main" id="{FF693BBF-D29D-4FDE-95AB-F2021E0069E5}"/>
              </a:ext>
            </a:extLst>
          </p:cNvPr>
          <p:cNvSpPr>
            <a:spLocks noGrp="1"/>
          </p:cNvSpPr>
          <p:nvPr/>
        </p:nvSpPr>
        <p:spPr>
          <a:xfrm>
            <a:off x="400050" y="4062566"/>
            <a:ext cx="76200" cy="781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26" name="row-2-0">
            <a:extLst>
              <a:ext uri="{FF2B5EF4-FFF2-40B4-BE49-F238E27FC236}">
                <a16:creationId xmlns:a16="http://schemas.microsoft.com/office/drawing/2014/main" id="{7D4C0145-8EAD-4464-AC0B-2D6F0FB58694}"/>
              </a:ext>
            </a:extLst>
          </p:cNvPr>
          <p:cNvSpPr>
            <a:spLocks noGrp="1"/>
          </p:cNvSpPr>
          <p:nvPr/>
        </p:nvSpPr>
        <p:spPr>
          <a:xfrm>
            <a:off x="514350" y="4253066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3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Previous-year</a:t>
            </a:r>
          </a:p>
          <a:p>
            <a:pPr algn="l">
              <a:buNone/>
              <a:defRPr sz="123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summer temperature</a:t>
            </a:r>
          </a:p>
        </p:txBody>
      </p:sp>
      <p:sp>
        <p:nvSpPr>
          <p:cNvPr id="27" name="row-2-1">
            <a:extLst>
              <a:ext uri="{FF2B5EF4-FFF2-40B4-BE49-F238E27FC236}">
                <a16:creationId xmlns:a16="http://schemas.microsoft.com/office/drawing/2014/main" id="{7665B875-F9D1-4FB5-8DB5-0A8D5D0D008F}"/>
              </a:ext>
            </a:extLst>
          </p:cNvPr>
          <p:cNvSpPr>
            <a:spLocks noGrp="1"/>
          </p:cNvSpPr>
          <p:nvPr/>
        </p:nvSpPr>
        <p:spPr>
          <a:xfrm>
            <a:off x="2781300" y="4253066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RVV carry-over</a:t>
            </a:r>
          </a:p>
        </p:txBody>
      </p:sp>
      <p:sp>
        <p:nvSpPr>
          <p:cNvPr id="28" name="row-2-2">
            <a:extLst>
              <a:ext uri="{FF2B5EF4-FFF2-40B4-BE49-F238E27FC236}">
                <a16:creationId xmlns:a16="http://schemas.microsoft.com/office/drawing/2014/main" id="{268EF026-D849-4583-BA3D-2B457FF0E364}"/>
              </a:ext>
            </a:extLst>
          </p:cNvPr>
          <p:cNvSpPr>
            <a:spLocks noGrp="1"/>
          </p:cNvSpPr>
          <p:nvPr/>
        </p:nvSpPr>
        <p:spPr>
          <a:xfrm>
            <a:off x="5067300" y="4253066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RVV Rule 3</a:t>
            </a:r>
          </a:p>
        </p:txBody>
      </p:sp>
      <p:sp>
        <p:nvSpPr>
          <p:cNvPr id="29" name="row-2-3">
            <a:extLst>
              <a:ext uri="{FF2B5EF4-FFF2-40B4-BE49-F238E27FC236}">
                <a16:creationId xmlns:a16="http://schemas.microsoft.com/office/drawing/2014/main" id="{778F269B-027C-47CF-AB1F-6542C63BEE1D}"/>
              </a:ext>
            </a:extLst>
          </p:cNvPr>
          <p:cNvSpPr>
            <a:spLocks noGrp="1"/>
          </p:cNvSpPr>
          <p:nvPr/>
        </p:nvSpPr>
        <p:spPr>
          <a:xfrm>
            <a:off x="7353300" y="4253066"/>
            <a:ext cx="1771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+17.2/C RVV</a:t>
            </a:r>
          </a:p>
        </p:txBody>
      </p:sp>
      <p:sp>
        <p:nvSpPr>
          <p:cNvPr id="30" name="row-2-4">
            <a:extLst>
              <a:ext uri="{FF2B5EF4-FFF2-40B4-BE49-F238E27FC236}">
                <a16:creationId xmlns:a16="http://schemas.microsoft.com/office/drawing/2014/main" id="{786350BB-9810-468D-ACF9-D7BAE586E6DB}"/>
              </a:ext>
            </a:extLst>
          </p:cNvPr>
          <p:cNvSpPr>
            <a:spLocks noGrp="1"/>
          </p:cNvSpPr>
          <p:nvPr/>
        </p:nvSpPr>
        <p:spPr>
          <a:xfrm>
            <a:off x="9544050" y="4253066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2F7D50"/>
                </a:solidFill>
                <a:latin typeface="Arial"/>
                <a:ea typeface="Arial"/>
                <a:cs typeface="Arial"/>
              </a:defRPr>
            </a:pPr>
            <a:r>
              <a:rPr lang="en-GB" sz="1200" b="1" noProof="0" dirty="0">
                <a:solidFill>
                  <a:srgbClr val="2F7D50"/>
                </a:solidFill>
                <a:latin typeface="Arial"/>
                <a:ea typeface="Arial"/>
                <a:cs typeface="Arial"/>
              </a:rPr>
              <a:t>HIGH</a:t>
            </a:r>
          </a:p>
          <a:p>
            <a:pPr algn="ctr">
              <a:buNone/>
              <a:defRPr sz="1200" b="1">
                <a:solidFill>
                  <a:srgbClr val="2F7D50"/>
                </a:solidFill>
                <a:latin typeface="Arial"/>
                <a:ea typeface="Arial"/>
                <a:cs typeface="Arial"/>
              </a:defRPr>
            </a:pPr>
            <a:r>
              <a:rPr lang="en-GB" sz="1200" b="1" noProof="0" dirty="0">
                <a:solidFill>
                  <a:srgbClr val="2F7D50"/>
                </a:solidFill>
                <a:latin typeface="Arial"/>
                <a:ea typeface="Arial"/>
                <a:cs typeface="Arial"/>
              </a:rPr>
              <a:t>RVV focus</a:t>
            </a:r>
          </a:p>
        </p:txBody>
      </p:sp>
      <p:sp>
        <p:nvSpPr>
          <p:cNvPr id="31" name="row-3">
            <a:extLst>
              <a:ext uri="{FF2B5EF4-FFF2-40B4-BE49-F238E27FC236}">
                <a16:creationId xmlns:a16="http://schemas.microsoft.com/office/drawing/2014/main" id="{4B8BFF02-34BB-4A01-B8D4-B498C4C78FF0}"/>
              </a:ext>
            </a:extLst>
          </p:cNvPr>
          <p:cNvSpPr>
            <a:spLocks noGrp="1"/>
          </p:cNvSpPr>
          <p:nvPr/>
        </p:nvSpPr>
        <p:spPr>
          <a:xfrm>
            <a:off x="400050" y="4629150"/>
            <a:ext cx="11382375" cy="781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32" name="row-stripe-3">
            <a:extLst>
              <a:ext uri="{FF2B5EF4-FFF2-40B4-BE49-F238E27FC236}">
                <a16:creationId xmlns:a16="http://schemas.microsoft.com/office/drawing/2014/main" id="{E84A46B4-8578-47C4-9B49-EC9BB6B3396D}"/>
              </a:ext>
            </a:extLst>
          </p:cNvPr>
          <p:cNvSpPr>
            <a:spLocks noGrp="1"/>
          </p:cNvSpPr>
          <p:nvPr/>
        </p:nvSpPr>
        <p:spPr>
          <a:xfrm>
            <a:off x="400050" y="4938866"/>
            <a:ext cx="76200" cy="7810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33" name="row-3-0">
            <a:extLst>
              <a:ext uri="{FF2B5EF4-FFF2-40B4-BE49-F238E27FC236}">
                <a16:creationId xmlns:a16="http://schemas.microsoft.com/office/drawing/2014/main" id="{AE7ABD1F-D258-4210-8C3A-FA1645505525}"/>
              </a:ext>
            </a:extLst>
          </p:cNvPr>
          <p:cNvSpPr>
            <a:spLocks noGrp="1"/>
          </p:cNvSpPr>
          <p:nvPr/>
        </p:nvSpPr>
        <p:spPr>
          <a:xfrm>
            <a:off x="514350" y="5129366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3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Wet days</a:t>
            </a:r>
          </a:p>
          <a:p>
            <a:pPr algn="l">
              <a:buNone/>
              <a:defRPr sz="123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after flowering</a:t>
            </a:r>
          </a:p>
        </p:txBody>
      </p:sp>
      <p:sp>
        <p:nvSpPr>
          <p:cNvPr id="34" name="row-3-1">
            <a:extLst>
              <a:ext uri="{FF2B5EF4-FFF2-40B4-BE49-F238E27FC236}">
                <a16:creationId xmlns:a16="http://schemas.microsoft.com/office/drawing/2014/main" id="{3DE46D45-4A28-48D5-8C76-8AC9DE51FB62}"/>
              </a:ext>
            </a:extLst>
          </p:cNvPr>
          <p:cNvSpPr>
            <a:spLocks noGrp="1"/>
          </p:cNvSpPr>
          <p:nvPr/>
        </p:nvSpPr>
        <p:spPr>
          <a:xfrm>
            <a:off x="2781300" y="5164991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21% of RDD rules</a:t>
            </a:r>
          </a:p>
        </p:txBody>
      </p:sp>
      <p:sp>
        <p:nvSpPr>
          <p:cNvPr id="35" name="row-3-2">
            <a:extLst>
              <a:ext uri="{FF2B5EF4-FFF2-40B4-BE49-F238E27FC236}">
                <a16:creationId xmlns:a16="http://schemas.microsoft.com/office/drawing/2014/main" id="{E5399C0F-F883-4011-8C65-931B275145E7}"/>
              </a:ext>
            </a:extLst>
          </p:cNvPr>
          <p:cNvSpPr>
            <a:spLocks noGrp="1"/>
          </p:cNvSpPr>
          <p:nvPr/>
        </p:nvSpPr>
        <p:spPr>
          <a:xfrm>
            <a:off x="5067300" y="5129366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1" noProof="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not selected</a:t>
            </a:r>
          </a:p>
        </p:txBody>
      </p:sp>
      <p:sp>
        <p:nvSpPr>
          <p:cNvPr id="36" name="row-3-3">
            <a:extLst>
              <a:ext uri="{FF2B5EF4-FFF2-40B4-BE49-F238E27FC236}">
                <a16:creationId xmlns:a16="http://schemas.microsoft.com/office/drawing/2014/main" id="{E9F969D3-742F-4BC0-B12F-3F7075610ECC}"/>
              </a:ext>
            </a:extLst>
          </p:cNvPr>
          <p:cNvSpPr>
            <a:spLocks noGrp="1"/>
          </p:cNvSpPr>
          <p:nvPr/>
        </p:nvSpPr>
        <p:spPr>
          <a:xfrm>
            <a:off x="7353300" y="5129366"/>
            <a:ext cx="1771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1" noProof="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not selected</a:t>
            </a:r>
          </a:p>
        </p:txBody>
      </p:sp>
      <p:sp>
        <p:nvSpPr>
          <p:cNvPr id="37" name="row-3-4">
            <a:extLst>
              <a:ext uri="{FF2B5EF4-FFF2-40B4-BE49-F238E27FC236}">
                <a16:creationId xmlns:a16="http://schemas.microsoft.com/office/drawing/2014/main" id="{8D20C81B-C994-4B52-9CBE-C2CE856C6901}"/>
              </a:ext>
            </a:extLst>
          </p:cNvPr>
          <p:cNvSpPr>
            <a:spLocks noGrp="1"/>
          </p:cNvSpPr>
          <p:nvPr/>
        </p:nvSpPr>
        <p:spPr>
          <a:xfrm>
            <a:off x="9544050" y="5129366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MODERATE</a:t>
            </a:r>
          </a:p>
          <a:p>
            <a:pPr algn="ctr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CarenR-specific</a:t>
            </a:r>
          </a:p>
        </p:txBody>
      </p:sp>
      <p:sp>
        <p:nvSpPr>
          <p:cNvPr id="40" name="takeaway-text">
            <a:extLst>
              <a:ext uri="{FF2B5EF4-FFF2-40B4-BE49-F238E27FC236}">
                <a16:creationId xmlns:a16="http://schemas.microsoft.com/office/drawing/2014/main" id="{6FD1F178-A44F-45E9-8AB7-038F799C304B}"/>
              </a:ext>
            </a:extLst>
          </p:cNvPr>
          <p:cNvSpPr>
            <a:spLocks noGrp="1"/>
          </p:cNvSpPr>
          <p:nvPr/>
        </p:nvSpPr>
        <p:spPr>
          <a:xfrm>
            <a:off x="320040" y="6102047"/>
            <a:ext cx="1118044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2000" b="1" noProof="0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AGREEMENT ACROSS 3 INDEPENDENT METHODS IS THE STRONGEST EVIDENCE THAT THE RULE FEATURES REFLECT REAL DATA STRUCTURE, NOT ALGORITHMIC NOISE.</a:t>
            </a:r>
          </a:p>
        </p:txBody>
      </p:sp>
      <p:sp>
        <p:nvSpPr>
          <p:cNvPr id="42" name="slide-number">
            <a:extLst>
              <a:ext uri="{FF2B5EF4-FFF2-40B4-BE49-F238E27FC236}">
                <a16:creationId xmlns:a16="http://schemas.microsoft.com/office/drawing/2014/main" id="{EBDE243A-B4DD-443E-ACD1-156DBD25910E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E3E24E9-762C-F6A6-E13B-D740169DA6C8}"/>
              </a:ext>
            </a:extLst>
          </p:cNvPr>
          <p:cNvSpPr>
            <a:spLocks noGrp="1"/>
          </p:cNvSpPr>
          <p:nvPr/>
        </p:nvSpPr>
        <p:spPr>
          <a:xfrm>
            <a:off x="9760448" y="2252816"/>
            <a:ext cx="1526677" cy="2590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en-GB" noProof="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CA4A316-5C89-9931-7A24-0A9643A9BB1E}"/>
              </a:ext>
            </a:extLst>
          </p:cNvPr>
          <p:cNvSpPr>
            <a:spLocks noGrp="1"/>
          </p:cNvSpPr>
          <p:nvPr/>
        </p:nvSpPr>
        <p:spPr>
          <a:xfrm>
            <a:off x="9760447" y="5034116"/>
            <a:ext cx="1526677" cy="6857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en-GB" noProof="0" dirty="0"/>
          </a:p>
        </p:txBody>
      </p:sp>
      <p:sp>
        <p:nvSpPr>
          <p:cNvPr id="38" name="Rectangle 2">
            <a:extLst>
              <a:ext uri="{FF2B5EF4-FFF2-40B4-BE49-F238E27FC236}">
                <a16:creationId xmlns:a16="http://schemas.microsoft.com/office/drawing/2014/main" id="{7DF8E6DE-1640-4178-A5F0-71950DF53A7C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16</a:t>
            </a:r>
          </a:p>
        </p:txBody>
      </p:sp>
      <p:sp>
        <p:nvSpPr>
          <p:cNvPr id="39" name="row-2">
            <a:extLst>
              <a:ext uri="{FF2B5EF4-FFF2-40B4-BE49-F238E27FC236}">
                <a16:creationId xmlns:a16="http://schemas.microsoft.com/office/drawing/2014/main" id="{6833B2C3-89BE-A4FA-04B6-9DCDD227E7E3}"/>
              </a:ext>
            </a:extLst>
          </p:cNvPr>
          <p:cNvSpPr>
            <a:spLocks noGrp="1"/>
          </p:cNvSpPr>
          <p:nvPr/>
        </p:nvSpPr>
        <p:spPr>
          <a:xfrm>
            <a:off x="400050" y="3196410"/>
            <a:ext cx="11061629" cy="781050"/>
          </a:xfrm>
          <a:prstGeom prst="rect">
            <a:avLst/>
          </a:prstGeom>
          <a:solidFill>
            <a:schemeClr val="bg1">
              <a:lumMod val="85000"/>
              <a:alpha val="29732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41" name="row-2">
            <a:extLst>
              <a:ext uri="{FF2B5EF4-FFF2-40B4-BE49-F238E27FC236}">
                <a16:creationId xmlns:a16="http://schemas.microsoft.com/office/drawing/2014/main" id="{72E154EF-4DC2-F8BF-DC62-62785967FCA6}"/>
              </a:ext>
            </a:extLst>
          </p:cNvPr>
          <p:cNvSpPr>
            <a:spLocks noGrp="1"/>
          </p:cNvSpPr>
          <p:nvPr/>
        </p:nvSpPr>
        <p:spPr>
          <a:xfrm>
            <a:off x="400050" y="2348808"/>
            <a:ext cx="11061629" cy="781050"/>
          </a:xfrm>
          <a:prstGeom prst="rect">
            <a:avLst/>
          </a:prstGeom>
          <a:solidFill>
            <a:schemeClr val="bg1">
              <a:lumMod val="85000"/>
              <a:alpha val="29732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43" name="row-2">
            <a:extLst>
              <a:ext uri="{FF2B5EF4-FFF2-40B4-BE49-F238E27FC236}">
                <a16:creationId xmlns:a16="http://schemas.microsoft.com/office/drawing/2014/main" id="{9E86CE2B-B34D-D86A-7C5C-23766DD166D3}"/>
              </a:ext>
            </a:extLst>
          </p:cNvPr>
          <p:cNvSpPr>
            <a:spLocks noGrp="1"/>
          </p:cNvSpPr>
          <p:nvPr/>
        </p:nvSpPr>
        <p:spPr>
          <a:xfrm>
            <a:off x="400050" y="4949010"/>
            <a:ext cx="11061629" cy="781050"/>
          </a:xfrm>
          <a:prstGeom prst="rect">
            <a:avLst/>
          </a:prstGeom>
          <a:solidFill>
            <a:schemeClr val="bg1">
              <a:lumMod val="85000"/>
              <a:alpha val="29732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95749E7-12BF-891B-A457-4D28B96FB8BE}"/>
              </a:ext>
            </a:extLst>
          </p:cNvPr>
          <p:cNvSpPr/>
          <p:nvPr/>
        </p:nvSpPr>
        <p:spPr>
          <a:xfrm>
            <a:off x="514350" y="2395072"/>
            <a:ext cx="1562100" cy="579558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E636349-86B4-907D-2736-EE2E290DCE1E}"/>
              </a:ext>
            </a:extLst>
          </p:cNvPr>
          <p:cNvSpPr/>
          <p:nvPr/>
        </p:nvSpPr>
        <p:spPr>
          <a:xfrm>
            <a:off x="538316" y="3271372"/>
            <a:ext cx="1562100" cy="579558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4097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CAB6C1F-0607-4031-ABC5-0095DEF2528E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RESULTS · VALIDATION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8489AE-2FE7-4C5E-AF86-6DC162B3ECD7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Goal 1 - Two checks confirm the discovered signal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071813-178A-4668-B798-3B3BA67F7842}"/>
              </a:ext>
            </a:extLst>
          </p:cNvPr>
          <p:cNvSpPr>
            <a:spLocks noGrp="1"/>
          </p:cNvSpPr>
          <p:nvPr/>
        </p:nvSpPr>
        <p:spPr>
          <a:xfrm>
            <a:off x="400050" y="1571997"/>
            <a:ext cx="5334000" cy="354627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FFC28D-DB85-4E66-835D-59782951DDDC}"/>
              </a:ext>
            </a:extLst>
          </p:cNvPr>
          <p:cNvSpPr>
            <a:spLocks noGrp="1"/>
          </p:cNvSpPr>
          <p:nvPr/>
        </p:nvSpPr>
        <p:spPr>
          <a:xfrm>
            <a:off x="6457950" y="1571997"/>
            <a:ext cx="5334000" cy="3546270"/>
          </a:xfrm>
          <a:prstGeom prst="rect">
            <a:avLst/>
          </a:prstGeom>
          <a:solidFill>
            <a:srgbClr val="F0F1F2"/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28929C-D451-4275-8778-3921EC295B7D}"/>
              </a:ext>
            </a:extLst>
          </p:cNvPr>
          <p:cNvSpPr>
            <a:spLocks noGrp="1"/>
          </p:cNvSpPr>
          <p:nvPr/>
        </p:nvSpPr>
        <p:spPr>
          <a:xfrm>
            <a:off x="714375" y="1715372"/>
            <a:ext cx="523875" cy="333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4248E8-66EB-4F98-A8F6-BE829DC1CE16}"/>
              </a:ext>
            </a:extLst>
          </p:cNvPr>
          <p:cNvSpPr>
            <a:spLocks noGrp="1"/>
          </p:cNvSpPr>
          <p:nvPr/>
        </p:nvSpPr>
        <p:spPr>
          <a:xfrm>
            <a:off x="714375" y="2199425"/>
            <a:ext cx="4286250" cy="4286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3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1"/>
                </a:solidFill>
              </a:rPr>
              <a:t>AGGRESSIVE DETRENDING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EC56D5-02AF-4B5C-87FA-2B71BF7DDC75}"/>
              </a:ext>
            </a:extLst>
          </p:cNvPr>
          <p:cNvSpPr>
            <a:spLocks noGrp="1"/>
          </p:cNvSpPr>
          <p:nvPr/>
        </p:nvSpPr>
        <p:spPr>
          <a:xfrm>
            <a:off x="714375" y="2845993"/>
            <a:ext cx="4286250" cy="1095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1"/>
                </a:solidFill>
              </a:rPr>
              <a:t>RDD signals persist after </a:t>
            </a:r>
            <a:r>
              <a:rPr lang="en-GB" b="1" noProof="0" dirty="0">
                <a:solidFill>
                  <a:schemeClr val="bg1"/>
                </a:solidFill>
              </a:rPr>
              <a:t>LOESS</a:t>
            </a:r>
            <a:r>
              <a:rPr lang="en-GB" noProof="0" dirty="0">
                <a:solidFill>
                  <a:schemeClr val="bg1"/>
                </a:solidFill>
              </a:rPr>
              <a:t>; in RVV, wet-days persist while LAI and soil water are era-linked.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8B137C-1607-4469-8C8F-2479D534E651}"/>
              </a:ext>
            </a:extLst>
          </p:cNvPr>
          <p:cNvSpPr>
            <a:spLocks noGrp="1"/>
          </p:cNvSpPr>
          <p:nvPr/>
        </p:nvSpPr>
        <p:spPr>
          <a:xfrm>
            <a:off x="562490" y="4319413"/>
            <a:ext cx="4438135" cy="33337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lang="en-GB" sz="1700" noProof="0" dirty="0">
                <a:solidFill>
                  <a:schemeClr val="accent2"/>
                </a:solidFill>
              </a:rPr>
              <a:t>→ The signal is real, but not equally stable across regions.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BB8BF4-90C8-457C-BBB5-F8839C747709}"/>
              </a:ext>
            </a:extLst>
          </p:cNvPr>
          <p:cNvSpPr>
            <a:spLocks noGrp="1"/>
          </p:cNvSpPr>
          <p:nvPr/>
        </p:nvSpPr>
        <p:spPr>
          <a:xfrm>
            <a:off x="6762750" y="1715372"/>
            <a:ext cx="523875" cy="333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51A354-F60E-492D-B694-BDAEFB3BE9B0}"/>
              </a:ext>
            </a:extLst>
          </p:cNvPr>
          <p:cNvSpPr>
            <a:spLocks noGrp="1"/>
          </p:cNvSpPr>
          <p:nvPr/>
        </p:nvSpPr>
        <p:spPr>
          <a:xfrm>
            <a:off x="6762750" y="2199425"/>
            <a:ext cx="4286250" cy="4286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3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INDEPENDENT ALGORITHMS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2D1666-E110-43AC-85EF-E5775FEFDFDC}"/>
              </a:ext>
            </a:extLst>
          </p:cNvPr>
          <p:cNvSpPr>
            <a:spLocks noGrp="1"/>
          </p:cNvSpPr>
          <p:nvPr/>
        </p:nvSpPr>
        <p:spPr>
          <a:xfrm>
            <a:off x="6762750" y="2845993"/>
            <a:ext cx="4286250" cy="1095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2000" b="1" noProof="0" dirty="0"/>
              <a:t>RIPPER</a:t>
            </a:r>
            <a:r>
              <a:rPr lang="en-GB" sz="2000" noProof="0" dirty="0"/>
              <a:t> and </a:t>
            </a:r>
            <a:r>
              <a:rPr lang="en-GB" sz="2000" b="1" noProof="0" dirty="0"/>
              <a:t>M5Rules</a:t>
            </a:r>
            <a:r>
              <a:rPr lang="en-GB" sz="2000" noProof="0" dirty="0"/>
              <a:t> converge on harvest soil water, LAI and previous-year temperature.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8FDB59-49EE-4396-8FC6-4BC0D1F938AD}"/>
              </a:ext>
            </a:extLst>
          </p:cNvPr>
          <p:cNvSpPr>
            <a:spLocks noGrp="1"/>
          </p:cNvSpPr>
          <p:nvPr/>
        </p:nvSpPr>
        <p:spPr>
          <a:xfrm>
            <a:off x="6620390" y="4319413"/>
            <a:ext cx="4286250" cy="333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accent2"/>
                </a:solidFill>
              </a:rPr>
              <a:t>→ The signal is not CarenR-specific.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2C7B32-88CA-4491-9A68-8A0173A4B4FE}"/>
              </a:ext>
            </a:extLst>
          </p:cNvPr>
          <p:cNvSpPr>
            <a:spLocks noGrp="1"/>
          </p:cNvSpPr>
          <p:nvPr/>
        </p:nvSpPr>
        <p:spPr>
          <a:xfrm>
            <a:off x="409575" y="5632731"/>
            <a:ext cx="11382375" cy="457200"/>
          </a:xfrm>
          <a:prstGeom prst="rect">
            <a:avLst/>
          </a:prstGeom>
          <a:noFill/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22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DISCOVERY IS CREDIBLE — BUT CREDIBILITY IS NOT YET PREDICTIVE UTILITY.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F8E6DE-1640-4178-A5F0-71950DF53A7C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43159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C1475E-AA07-48A5-A121-AE8067E087C4}"/>
              </a:ext>
            </a:extLst>
          </p:cNvPr>
          <p:cNvSpPr>
            <a:spLocks noGrp="1"/>
          </p:cNvSpPr>
          <p:nvPr/>
        </p:nvSpPr>
        <p:spPr>
          <a:xfrm>
            <a:off x="449726" y="247650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METHOD · PREDICTION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96D8D4-2C78-44D0-B41C-8BF91500E80E}"/>
              </a:ext>
            </a:extLst>
          </p:cNvPr>
          <p:cNvSpPr>
            <a:spLocks noGrp="1"/>
          </p:cNvSpPr>
          <p:nvPr/>
        </p:nvSpPr>
        <p:spPr>
          <a:xfrm>
            <a:off x="449726" y="533400"/>
            <a:ext cx="9696450" cy="781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3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3600" noProof="0" dirty="0"/>
              <a:t>Goal 2 recreates prediction-time information</a:t>
            </a:r>
          </a:p>
        </p:txBody>
      </p:sp>
      <p:pic>
        <p:nvPicPr>
          <p:cNvPr id="124" name="Picture 9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88880" y="1127968"/>
            <a:ext cx="3406987" cy="4501468"/>
          </a:xfrm>
          <a:prstGeom prst="rect">
            <a:avLst/>
          </a:prstGeom>
          <a:effectLst/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0BDA2EE-48CB-4940-88FA-F58EC07A5994}"/>
              </a:ext>
            </a:extLst>
          </p:cNvPr>
          <p:cNvSpPr>
            <a:spLocks noGrp="1"/>
          </p:cNvSpPr>
          <p:nvPr/>
        </p:nvSpPr>
        <p:spPr>
          <a:xfrm>
            <a:off x="627716" y="1538106"/>
            <a:ext cx="4095750" cy="381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2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2100" noProof="0" dirty="0"/>
              <a:t>Expanding-window validation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548772-30AE-4830-9AA8-8EC2A201924D}"/>
              </a:ext>
            </a:extLst>
          </p:cNvPr>
          <p:cNvSpPr>
            <a:spLocks noGrp="1"/>
          </p:cNvSpPr>
          <p:nvPr/>
        </p:nvSpPr>
        <p:spPr>
          <a:xfrm>
            <a:off x="627716" y="2109606"/>
            <a:ext cx="4095750" cy="714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18 scenarios · Douro
16 scenarios · Vinho Verde</a:t>
            </a:r>
          </a:p>
        </p:txBody>
      </p:sp>
      <p:cxnSp>
        <p:nvCxnSpPr>
          <p:cNvPr id="127" name="Straight Arrow Connector 98"/>
          <p:cNvCxnSpPr/>
          <p:nvPr/>
        </p:nvCxnSpPr>
        <p:spPr>
          <a:xfrm>
            <a:off x="627716" y="3014606"/>
            <a:ext cx="4048125" cy="953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2FD7EC9F-0650-4FE7-8304-C12DB8F06B85}"/>
              </a:ext>
            </a:extLst>
          </p:cNvPr>
          <p:cNvSpPr>
            <a:spLocks noGrp="1"/>
          </p:cNvSpPr>
          <p:nvPr/>
        </p:nvSpPr>
        <p:spPr>
          <a:xfrm>
            <a:off x="627716" y="3205934"/>
            <a:ext cx="6397924" cy="52387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2100" noProof="0" dirty="0"/>
              <a:t>All preprocessing stays inside each training fold: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3301BF-604C-4A08-80C1-AF289490CAB4}"/>
              </a:ext>
            </a:extLst>
          </p:cNvPr>
          <p:cNvSpPr>
            <a:spLocks noGrp="1"/>
          </p:cNvSpPr>
          <p:nvPr/>
        </p:nvSpPr>
        <p:spPr>
          <a:xfrm>
            <a:off x="729342" y="3890781"/>
            <a:ext cx="3619500" cy="1381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• detrending
• discretization
• feature selection
• rule induction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CCFAD-A5E1-4FA7-815A-522733367088}"/>
              </a:ext>
            </a:extLst>
          </p:cNvPr>
          <p:cNvSpPr>
            <a:spLocks noGrp="1"/>
          </p:cNvSpPr>
          <p:nvPr/>
        </p:nvSpPr>
        <p:spPr>
          <a:xfrm>
            <a:off x="1247775" y="5819811"/>
            <a:ext cx="9696450" cy="77818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2800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17 MODELS ·</a:t>
            </a:r>
            <a:r>
              <a:rPr lang="en-GB" sz="2800" noProof="0" dirty="0">
                <a:solidFill>
                  <a:schemeClr val="accent2"/>
                </a:solidFill>
              </a:rPr>
              <a:t> </a:t>
            </a:r>
            <a:r>
              <a:rPr lang="en-GB" sz="2800" noProof="0" dirty="0">
                <a:solidFill>
                  <a:schemeClr val="bg1">
                    <a:lumMod val="50000"/>
                  </a:schemeClr>
                </a:solidFill>
              </a:rPr>
              <a:t>WEIGHTED MAE </a:t>
            </a:r>
            <a:r>
              <a:rPr lang="en-GB" sz="2800" noProof="0" dirty="0">
                <a:solidFill>
                  <a:schemeClr val="accent2"/>
                </a:solidFill>
              </a:rPr>
              <a:t>· LOWER IS BETTER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DA9966-D9BE-0465-779F-20DAF900DE6C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9637631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8F0ED-2650-19C7-B283-028E163BC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51328415-D7C4-A485-D986-F820E821A4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618" b="-1"/>
          <a:stretch>
            <a:fillRect/>
          </a:stretch>
        </p:blipFill>
        <p:spPr>
          <a:xfrm>
            <a:off x="4388675" y="296682"/>
            <a:ext cx="7772400" cy="6204068"/>
          </a:xfrm>
          <a:prstGeom prst="rect">
            <a:avLst/>
          </a:prstGeom>
          <a:effectLst/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3645BF4-98C2-59C9-6344-D53B2681044E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IMPLEMENTATION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10E26B-3A88-7757-726A-F01CEF230430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3699906" cy="781050"/>
          </a:xfrm>
          <a:prstGeom prst="rect">
            <a:avLst/>
          </a:prstGeom>
        </p:spPr>
        <p:txBody>
          <a:bodyPr lIns="0" tIns="0" rIns="0" bIns="0" anchor="t">
            <a:normAutofit fontScale="97916" lnSpcReduction="10000"/>
          </a:bodyPr>
          <a:lstStyle/>
          <a:p>
            <a:pPr algn="l">
              <a:buNone/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2800" noProof="0" dirty="0"/>
              <a:t>Our CarenR predictive implementation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40B46C-5258-D432-12E3-DCC561FCDD58}"/>
              </a:ext>
            </a:extLst>
          </p:cNvPr>
          <p:cNvSpPr>
            <a:spLocks noGrp="1"/>
          </p:cNvSpPr>
          <p:nvPr/>
        </p:nvSpPr>
        <p:spPr>
          <a:xfrm>
            <a:off x="11370252" y="6561318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11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BCE9FAD-2119-2885-81E4-6ACB8CCDC020}"/>
              </a:ext>
            </a:extLst>
          </p:cNvPr>
          <p:cNvSpPr txBox="1"/>
          <p:nvPr/>
        </p:nvSpPr>
        <p:spPr>
          <a:xfrm>
            <a:off x="186245" y="1786888"/>
            <a:ext cx="420243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CARENR FIRST DISCOVERS AUDITABLE DISTRIBUTIONAL RULES </a:t>
            </a:r>
            <a:r>
              <a:rPr lang="en-GB" sz="3200" dirty="0"/>
              <a:t>– </a:t>
            </a:r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PREDICTION FIRE THOSE RULES ON THE TEST SET </a:t>
            </a:r>
            <a:r>
              <a:rPr lang="en-GB" sz="3200" dirty="0"/>
              <a:t>– </a:t>
            </a:r>
            <a:r>
              <a:rPr lang="en-GB" sz="3200" b="1" dirty="0">
                <a:solidFill>
                  <a:schemeClr val="accent2"/>
                </a:solidFill>
              </a:rPr>
              <a:t>PREDICTION AS A SUPPORT WEIGHTED MEDIAN</a:t>
            </a:r>
            <a:endParaRPr lang="en-US" sz="3200" b="1" dirty="0">
              <a:solidFill>
                <a:schemeClr val="accent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CCE42F-A2B6-DC36-BD96-60B695E26470}"/>
              </a:ext>
            </a:extLst>
          </p:cNvPr>
          <p:cNvSpPr/>
          <p:nvPr/>
        </p:nvSpPr>
        <p:spPr>
          <a:xfrm>
            <a:off x="4388675" y="5558964"/>
            <a:ext cx="7772400" cy="971768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2731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833480A-D5B5-CB95-3714-532F7F8A8D00}"/>
              </a:ext>
            </a:extLst>
          </p:cNvPr>
          <p:cNvSpPr/>
          <p:nvPr/>
        </p:nvSpPr>
        <p:spPr>
          <a:xfrm>
            <a:off x="222999" y="1400938"/>
            <a:ext cx="5777180" cy="401044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1BCB88-0B26-3978-9EAD-10B14FE60DBB}"/>
              </a:ext>
            </a:extLst>
          </p:cNvPr>
          <p:cNvSpPr/>
          <p:nvPr/>
        </p:nvSpPr>
        <p:spPr>
          <a:xfrm>
            <a:off x="6205805" y="1400938"/>
            <a:ext cx="5777180" cy="401044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605CB5-20AB-4D1B-A9AB-5BB2D470786E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RESULTS · PREDICTION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F4DE52-70EC-45FD-A166-87B23FDA847E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No rule-based model beats the median overall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9958E5-E12D-48F2-B7ED-BAE8D85E8083}"/>
              </a:ext>
            </a:extLst>
          </p:cNvPr>
          <p:cNvSpPr>
            <a:spLocks noGrp="1"/>
          </p:cNvSpPr>
          <p:nvPr/>
        </p:nvSpPr>
        <p:spPr>
          <a:xfrm>
            <a:off x="407180" y="5598970"/>
            <a:ext cx="5476875" cy="7429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9431FB-F071-4400-96BA-62F55F67F8A7}"/>
              </a:ext>
            </a:extLst>
          </p:cNvPr>
          <p:cNvSpPr>
            <a:spLocks noGrp="1"/>
          </p:cNvSpPr>
          <p:nvPr/>
        </p:nvSpPr>
        <p:spPr>
          <a:xfrm>
            <a:off x="6372055" y="5598970"/>
            <a:ext cx="5476875" cy="7429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696288-430E-497B-8ECE-DB0DFD9AB1CC}"/>
              </a:ext>
            </a:extLst>
          </p:cNvPr>
          <p:cNvSpPr>
            <a:spLocks noGrp="1"/>
          </p:cNvSpPr>
          <p:nvPr/>
        </p:nvSpPr>
        <p:spPr>
          <a:xfrm>
            <a:off x="3645680" y="5837095"/>
            <a:ext cx="200025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1"/>
                </a:solidFill>
              </a:rPr>
              <a:t>3% worse · p = 0.468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031810-27B7-4323-A669-8C58F1A4516C}"/>
              </a:ext>
            </a:extLst>
          </p:cNvPr>
          <p:cNvSpPr>
            <a:spLocks noGrp="1"/>
          </p:cNvSpPr>
          <p:nvPr/>
        </p:nvSpPr>
        <p:spPr>
          <a:xfrm>
            <a:off x="6514930" y="5836667"/>
            <a:ext cx="295275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600" noProof="0" dirty="0">
                <a:solidFill>
                  <a:schemeClr val="accent2"/>
                </a:solidFill>
              </a:rPr>
              <a:t>RVV · 172 vs 140 mhl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5384AE-312E-4498-B684-F42A5ABE91E0}"/>
              </a:ext>
            </a:extLst>
          </p:cNvPr>
          <p:cNvSpPr>
            <a:spLocks noGrp="1"/>
          </p:cNvSpPr>
          <p:nvPr/>
        </p:nvSpPr>
        <p:spPr>
          <a:xfrm>
            <a:off x="9467680" y="5837095"/>
            <a:ext cx="200025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accent2"/>
                </a:solidFill>
              </a:rPr>
              <a:t>22% worse · p = 0.004*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19C283-6EE6-4747-8320-C61995F36CB0}"/>
              </a:ext>
            </a:extLst>
          </p:cNvPr>
          <p:cNvSpPr>
            <a:spLocks noGrp="1"/>
          </p:cNvSpPr>
          <p:nvPr/>
        </p:nvSpPr>
        <p:spPr>
          <a:xfrm>
            <a:off x="6638755" y="6380020"/>
            <a:ext cx="4953000" cy="209550"/>
          </a:xfrm>
          <a:prstGeom prst="rect">
            <a:avLst/>
          </a:prstGeom>
        </p:spPr>
        <p:txBody>
          <a:bodyPr lIns="0" tIns="0" rIns="0" bIns="0" anchor="t">
            <a:normAutofit fontScale="92500"/>
          </a:bodyPr>
          <a:lstStyle/>
          <a:p>
            <a:pPr algn="l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*Among the 9 scenarios where RVV rules fired, they significantly harmed prediction.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617478-F489-3DD4-6320-4BA7B1D7B7C3}"/>
              </a:ext>
            </a:extLst>
          </p:cNvPr>
          <p:cNvSpPr>
            <a:spLocks noGrp="1"/>
          </p:cNvSpPr>
          <p:nvPr/>
        </p:nvSpPr>
        <p:spPr>
          <a:xfrm>
            <a:off x="678696" y="5801168"/>
            <a:ext cx="27288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125" b="1">
                <a:solidFill>
                  <a:srgbClr val="2B6F9A"/>
                </a:solidFill>
                <a:latin typeface="Arial"/>
                <a:ea typeface="Arial"/>
                <a:cs typeface="Arial"/>
              </a:defRPr>
            </a:pPr>
            <a:r>
              <a:rPr lang="en-GB" sz="1600" b="1" noProof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RDD · 189 vs 184 mhl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88"/>
          <a:stretch>
            <a:fillRect/>
          </a:stretch>
        </p:blipFill>
        <p:spPr>
          <a:xfrm>
            <a:off x="354101" y="1582412"/>
            <a:ext cx="5563153" cy="3640672"/>
          </a:xfrm>
          <a:prstGeom prst="rect">
            <a:avLst/>
          </a:prstGeom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CA7E719-279D-84E1-2BFC-A8C0720EB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332"/>
          <a:stretch>
            <a:fillRect/>
          </a:stretch>
        </p:blipFill>
        <p:spPr>
          <a:xfrm>
            <a:off x="6501080" y="1618838"/>
            <a:ext cx="5130051" cy="3286125"/>
          </a:xfrm>
          <a:prstGeom prst="rect">
            <a:avLst/>
          </a:prstGeom>
          <a:effectLst/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883AE34-5A6A-1C76-27A4-D9702D4DAA23}"/>
              </a:ext>
            </a:extLst>
          </p:cNvPr>
          <p:cNvSpPr/>
          <p:nvPr/>
        </p:nvSpPr>
        <p:spPr>
          <a:xfrm>
            <a:off x="439657" y="4238832"/>
            <a:ext cx="5325028" cy="1847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i="1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611C75-6E16-F3A3-EF21-512F59F7F9D4}"/>
              </a:ext>
            </a:extLst>
          </p:cNvPr>
          <p:cNvSpPr/>
          <p:nvPr/>
        </p:nvSpPr>
        <p:spPr>
          <a:xfrm>
            <a:off x="6526931" y="3737452"/>
            <a:ext cx="4760193" cy="1814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i="1" noProof="0" dirty="0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7DF8E6DE-1640-4178-A5F0-71950DF53A7C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19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C7C2DB-7F4A-4E0F-8F5B-DA4C87A875B4}"/>
              </a:ext>
            </a:extLst>
          </p:cNvPr>
          <p:cNvSpPr txBox="1"/>
          <p:nvPr/>
        </p:nvSpPr>
        <p:spPr>
          <a:xfrm>
            <a:off x="4899716" y="4203207"/>
            <a:ext cx="8037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Best CAREN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34C770-8974-2844-7FC7-9F79153C7B2A}"/>
              </a:ext>
            </a:extLst>
          </p:cNvPr>
          <p:cNvSpPr txBox="1"/>
          <p:nvPr/>
        </p:nvSpPr>
        <p:spPr>
          <a:xfrm>
            <a:off x="10483356" y="3705044"/>
            <a:ext cx="8037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Best CAREN </a:t>
            </a:r>
          </a:p>
        </p:txBody>
      </p:sp>
    </p:spTree>
    <p:extLst>
      <p:ext uri="{BB962C8B-B14F-4D97-AF65-F5344CB8AC3E}">
        <p14:creationId xmlns:p14="http://schemas.microsoft.com/office/powerpoint/2010/main" val="15934630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5D4994E-4F6A-43E2-B4C4-68D09B2342AD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RESULTS INTERPRETATION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F1F2B7-A092-442F-AB6A-79B1EAE6FACB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A real association can still be too weak to forecast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FE415D-3A05-4B69-A477-7A1CD697F8CF}"/>
              </a:ext>
            </a:extLst>
          </p:cNvPr>
          <p:cNvSpPr>
            <a:spLocks noGrp="1"/>
          </p:cNvSpPr>
          <p:nvPr/>
        </p:nvSpPr>
        <p:spPr>
          <a:xfrm>
            <a:off x="636022" y="2247900"/>
            <a:ext cx="4638675" cy="37147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858FC4-7697-4E92-B650-F9EC88121D0B}"/>
              </a:ext>
            </a:extLst>
          </p:cNvPr>
          <p:cNvSpPr>
            <a:spLocks noGrp="1"/>
          </p:cNvSpPr>
          <p:nvPr/>
        </p:nvSpPr>
        <p:spPr>
          <a:xfrm>
            <a:off x="7074922" y="2247900"/>
            <a:ext cx="4638675" cy="3714750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15BA55-1E47-4124-B806-860D0D423CD9}"/>
              </a:ext>
            </a:extLst>
          </p:cNvPr>
          <p:cNvSpPr>
            <a:spLocks noGrp="1"/>
          </p:cNvSpPr>
          <p:nvPr/>
        </p:nvSpPr>
        <p:spPr>
          <a:xfrm>
            <a:off x="950347" y="2581275"/>
            <a:ext cx="190500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1"/>
                </a:solidFill>
              </a:rPr>
              <a:t>DISCOVERY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D2F47C-E20D-4F8F-BA12-01689F39A8F7}"/>
              </a:ext>
            </a:extLst>
          </p:cNvPr>
          <p:cNvSpPr>
            <a:spLocks noGrp="1"/>
          </p:cNvSpPr>
          <p:nvPr/>
        </p:nvSpPr>
        <p:spPr>
          <a:xfrm>
            <a:off x="950347" y="3464013"/>
            <a:ext cx="4000500" cy="857250"/>
          </a:xfrm>
          <a:prstGeom prst="rect">
            <a:avLst/>
          </a:prstGeom>
        </p:spPr>
        <p:txBody>
          <a:bodyPr lIns="0" tIns="0" rIns="0" bIns="0" anchor="t">
            <a:normAutofit fontScale="92500"/>
          </a:bodyPr>
          <a:lstStyle/>
          <a:p>
            <a:pPr algn="l">
              <a:buNone/>
              <a:defRPr sz="24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1"/>
                </a:solidFill>
              </a:rPr>
              <a:t>IS THE SUBGROUP DISTRIBUTION DIFFERENT?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2D3C7A-A6A7-4A98-9B7F-893F144238A9}"/>
              </a:ext>
            </a:extLst>
          </p:cNvPr>
          <p:cNvSpPr>
            <a:spLocks noGrp="1"/>
          </p:cNvSpPr>
          <p:nvPr/>
        </p:nvSpPr>
        <p:spPr>
          <a:xfrm>
            <a:off x="950347" y="4819650"/>
            <a:ext cx="4000500" cy="1000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1400" noProof="0" dirty="0">
                <a:solidFill>
                  <a:schemeClr val="bg1"/>
                </a:solidFill>
              </a:rPr>
              <a:t>The association is detectable across 80–89 historical years.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D7BDE0-AB5B-4F14-9E4C-12A2FBA1347D}"/>
              </a:ext>
            </a:extLst>
          </p:cNvPr>
          <p:cNvSpPr>
            <a:spLocks noGrp="1"/>
          </p:cNvSpPr>
          <p:nvPr/>
        </p:nvSpPr>
        <p:spPr>
          <a:xfrm>
            <a:off x="7379722" y="2581275"/>
            <a:ext cx="190500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PREDICTION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0F8BA4-9CCA-4088-BEAF-3B64DBAA0F0B}"/>
              </a:ext>
            </a:extLst>
          </p:cNvPr>
          <p:cNvSpPr>
            <a:spLocks noGrp="1"/>
          </p:cNvSpPr>
          <p:nvPr/>
        </p:nvSpPr>
        <p:spPr>
          <a:xfrm>
            <a:off x="7379722" y="3464013"/>
            <a:ext cx="4000500" cy="8572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4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DOES THE RULE REDUCE FUTURE ERROR?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5D3CB3-D4E2-4C4D-A94A-AB2B92029083}"/>
              </a:ext>
            </a:extLst>
          </p:cNvPr>
          <p:cNvSpPr>
            <a:spLocks noGrp="1"/>
          </p:cNvSpPr>
          <p:nvPr/>
        </p:nvSpPr>
        <p:spPr>
          <a:xfrm>
            <a:off x="7379722" y="4819650"/>
            <a:ext cx="4000500" cy="1000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1400" noProof="0" dirty="0"/>
              <a:t>Climate explains ≈22% of residual variance; ≈78% remains unobserved or noisy.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220AB4-C167-418C-B472-E1849859BD37}"/>
              </a:ext>
            </a:extLst>
          </p:cNvPr>
          <p:cNvSpPr>
            <a:spLocks noGrp="1"/>
          </p:cNvSpPr>
          <p:nvPr/>
        </p:nvSpPr>
        <p:spPr>
          <a:xfrm>
            <a:off x="5667375" y="3464013"/>
            <a:ext cx="857250" cy="857250"/>
          </a:xfrm>
          <a:prstGeom prst="rect">
            <a:avLst/>
          </a:prstGeom>
        </p:spPr>
        <p:txBody>
          <a:bodyPr lIns="0" tIns="0" rIns="0" bIns="0" anchor="t">
            <a:normAutofit lnSpcReduction="10000"/>
          </a:bodyPr>
          <a:lstStyle/>
          <a:p>
            <a:pPr algn="ctr">
              <a:buNone/>
              <a:defRPr sz="46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6000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≠</a:t>
            </a:r>
            <a:endParaRPr lang="en-GB" noProof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8905DB-DEB9-43D4-9DD5-279DF88602FB}"/>
              </a:ext>
            </a:extLst>
          </p:cNvPr>
          <p:cNvSpPr>
            <a:spLocks noGrp="1"/>
          </p:cNvSpPr>
          <p:nvPr/>
        </p:nvSpPr>
        <p:spPr>
          <a:xfrm>
            <a:off x="552449" y="1333500"/>
            <a:ext cx="11382375" cy="419100"/>
          </a:xfrm>
          <a:prstGeom prst="rect">
            <a:avLst/>
          </a:prstGeom>
          <a:noFill/>
        </p:spPr>
        <p:txBody>
          <a:bodyPr lIns="0" tIns="0" rIns="0" bIns="0" anchor="t">
            <a:normAutofit fontScale="92500"/>
          </a:bodyPr>
          <a:lstStyle/>
          <a:p>
            <a:pPr>
              <a:buNone/>
              <a:defRPr sz="22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2400" noProof="0" dirty="0">
                <a:solidFill>
                  <a:schemeClr val="accent2"/>
                </a:solidFill>
              </a:rPr>
              <a:t>PATTERN DISCOVERY AND FORECASTING ANSWER DIFFERENT QUESTIONS.</a:t>
            </a:r>
          </a:p>
        </p:txBody>
      </p:sp>
      <p:sp>
        <p:nvSpPr>
          <p:cNvPr id="3" name="gap-stripe">
            <a:extLst>
              <a:ext uri="{FF2B5EF4-FFF2-40B4-BE49-F238E27FC236}">
                <a16:creationId xmlns:a16="http://schemas.microsoft.com/office/drawing/2014/main" id="{B9C4EDCF-AAF0-4636-CAD6-82F5A670F39C}"/>
              </a:ext>
            </a:extLst>
          </p:cNvPr>
          <p:cNvSpPr>
            <a:spLocks noGrp="1"/>
          </p:cNvSpPr>
          <p:nvPr/>
        </p:nvSpPr>
        <p:spPr>
          <a:xfrm>
            <a:off x="400050" y="1261198"/>
            <a:ext cx="76200" cy="515943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7DF8E6DE-1640-4178-A5F0-71950DF53A7C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20</a:t>
            </a:r>
          </a:p>
        </p:txBody>
      </p:sp>
      <p:pic>
        <p:nvPicPr>
          <p:cNvPr id="17" name="Picture 16" descr="눈금 및 십자 기호가 있는 체크 스톡 벡터(로열티 프리) 2672825725 | Shutterstock">
            <a:extLst>
              <a:ext uri="{FF2B5EF4-FFF2-40B4-BE49-F238E27FC236}">
                <a16:creationId xmlns:a16="http://schemas.microsoft.com/office/drawing/2014/main" id="{01CA47D6-487E-CC10-F507-36C3DFA13D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070" t="16424" r="51030" b="27326"/>
          <a:stretch>
            <a:fillRect/>
          </a:stretch>
        </p:blipFill>
        <p:spPr>
          <a:xfrm>
            <a:off x="4753286" y="1801186"/>
            <a:ext cx="988142" cy="100012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8" name="Picture 17" descr="눈금 및 십자 기호가 있는 체크 스톡 벡터(로열티 프리) 2672825725 | Shutterstock">
            <a:extLst>
              <a:ext uri="{FF2B5EF4-FFF2-40B4-BE49-F238E27FC236}">
                <a16:creationId xmlns:a16="http://schemas.microsoft.com/office/drawing/2014/main" id="{7B26BC4E-5E0D-134B-D768-2FA1E16516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669" t="17382" r="9431" b="26368"/>
          <a:stretch>
            <a:fillRect/>
          </a:stretch>
        </p:blipFill>
        <p:spPr>
          <a:xfrm>
            <a:off x="11211848" y="1689144"/>
            <a:ext cx="988142" cy="100012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9788BB4-171C-EB56-655A-9EB04C14E998}"/>
              </a:ext>
            </a:extLst>
          </p:cNvPr>
          <p:cNvSpPr txBox="1"/>
          <p:nvPr/>
        </p:nvSpPr>
        <p:spPr>
          <a:xfrm>
            <a:off x="5326779" y="4197199"/>
            <a:ext cx="17479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accent2"/>
                </a:solidFill>
              </a:rPr>
              <a:t>QUESTIONS THEN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771543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DA36BE4-BBFE-4D78-9BF5-98D11E0943F9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TWO-DECISION FRAMEWORK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CDC068-9A32-407A-81A1-44024A380F1D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Better detrending can remove the signal rules need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E4EAA8-3F1D-4885-971E-2323BF8B9304}"/>
              </a:ext>
            </a:extLst>
          </p:cNvPr>
          <p:cNvSpPr>
            <a:spLocks noGrp="1"/>
          </p:cNvSpPr>
          <p:nvPr/>
        </p:nvSpPr>
        <p:spPr>
          <a:xfrm>
            <a:off x="400050" y="1666875"/>
            <a:ext cx="4762500" cy="3429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83656E-A5A6-4F0F-9CF1-EF641DADE2F2}"/>
              </a:ext>
            </a:extLst>
          </p:cNvPr>
          <p:cNvSpPr>
            <a:spLocks noGrp="1"/>
          </p:cNvSpPr>
          <p:nvPr/>
        </p:nvSpPr>
        <p:spPr>
          <a:xfrm>
            <a:off x="7029450" y="1666875"/>
            <a:ext cx="4762500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CC2023-DDFD-43CD-8AFC-9E49B38753E1}"/>
              </a:ext>
            </a:extLst>
          </p:cNvPr>
          <p:cNvSpPr>
            <a:spLocks noGrp="1"/>
          </p:cNvSpPr>
          <p:nvPr/>
        </p:nvSpPr>
        <p:spPr>
          <a:xfrm>
            <a:off x="714375" y="2000250"/>
            <a:ext cx="180975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2563A6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1"/>
                </a:solidFill>
              </a:rPr>
              <a:t>DECISION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6E2102-19C6-4BE8-B9CE-7A16B4C5C29A}"/>
              </a:ext>
            </a:extLst>
          </p:cNvPr>
          <p:cNvSpPr>
            <a:spLocks noGrp="1"/>
          </p:cNvSpPr>
          <p:nvPr/>
        </p:nvSpPr>
        <p:spPr>
          <a:xfrm>
            <a:off x="714375" y="2476500"/>
            <a:ext cx="3714750" cy="685800"/>
          </a:xfrm>
          <a:prstGeom prst="rect">
            <a:avLst/>
          </a:prstGeom>
        </p:spPr>
        <p:txBody>
          <a:bodyPr lIns="0" tIns="0" rIns="0" bIns="0" anchor="t">
            <a:normAutofit fontScale="98830" lnSpcReduction="10000"/>
          </a:bodyPr>
          <a:lstStyle/>
          <a:p>
            <a:pPr algn="l">
              <a:buNone/>
              <a:defRPr sz="24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1"/>
                </a:solidFill>
              </a:rPr>
              <a:t>MODEL THE STRUCTURAL TREND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BA25DB-8DBA-4BD2-BCE3-0F4454BEEDF7}"/>
              </a:ext>
            </a:extLst>
          </p:cNvPr>
          <p:cNvSpPr>
            <a:spLocks noGrp="1"/>
          </p:cNvSpPr>
          <p:nvPr/>
        </p:nvSpPr>
        <p:spPr>
          <a:xfrm>
            <a:off x="714375" y="3429000"/>
            <a:ext cx="3714750" cy="1000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1"/>
                </a:solidFill>
              </a:rPr>
              <a:t>A better trend leaves smaller test residuals and lowers the naive error floor.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1CD3D5-D969-4F52-9349-0C38FA89F7F4}"/>
              </a:ext>
            </a:extLst>
          </p:cNvPr>
          <p:cNvSpPr>
            <a:spLocks noGrp="1"/>
          </p:cNvSpPr>
          <p:nvPr/>
        </p:nvSpPr>
        <p:spPr>
          <a:xfrm>
            <a:off x="7334250" y="2476500"/>
            <a:ext cx="3714750" cy="685800"/>
          </a:xfrm>
          <a:prstGeom prst="rect">
            <a:avLst/>
          </a:prstGeom>
        </p:spPr>
        <p:txBody>
          <a:bodyPr lIns="0" tIns="0" rIns="0" bIns="0" anchor="t">
            <a:normAutofit lnSpcReduction="10000"/>
          </a:bodyPr>
          <a:lstStyle/>
          <a:p>
            <a:pPr algn="l">
              <a:buNone/>
              <a:defRPr sz="24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EXTRACT CLIMATE SIGNAL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2A5F92-F952-4540-A40F-1F6E892D0539}"/>
              </a:ext>
            </a:extLst>
          </p:cNvPr>
          <p:cNvSpPr>
            <a:spLocks noGrp="1"/>
          </p:cNvSpPr>
          <p:nvPr/>
        </p:nvSpPr>
        <p:spPr>
          <a:xfrm>
            <a:off x="7334250" y="3429000"/>
            <a:ext cx="3714750" cy="1000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Stable rules need residual structure that is large enough to detect and exploit.</a:t>
            </a:r>
          </a:p>
        </p:txBody>
      </p:sp>
      <p:cxnSp>
        <p:nvCxnSpPr>
          <p:cNvPr id="440" name="Straight Arrow Connector 399"/>
          <p:cNvCxnSpPr/>
          <p:nvPr/>
        </p:nvCxnSpPr>
        <p:spPr>
          <a:xfrm>
            <a:off x="5162550" y="3381375"/>
            <a:ext cx="1866900" cy="953"/>
          </a:xfrm>
          <a:prstGeom prst="straightConnector1">
            <a:avLst/>
          </a:prstGeom>
          <a:ln w="57150">
            <a:solidFill>
              <a:srgbClr val="7B1E3A"/>
            </a:solidFill>
            <a:prstDash val="solid"/>
          </a:ln>
        </p:spPr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0EBAFC5-D944-4E0E-9F2B-45BB9E5596FD}"/>
              </a:ext>
            </a:extLst>
          </p:cNvPr>
          <p:cNvSpPr>
            <a:spLocks noGrp="1"/>
          </p:cNvSpPr>
          <p:nvPr/>
        </p:nvSpPr>
        <p:spPr>
          <a:xfrm>
            <a:off x="5429250" y="2857500"/>
            <a:ext cx="1333500" cy="333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TENSION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F4F414-7897-4DD7-82FE-436AD013DBD6}"/>
              </a:ext>
            </a:extLst>
          </p:cNvPr>
          <p:cNvSpPr>
            <a:spLocks noGrp="1"/>
          </p:cNvSpPr>
          <p:nvPr/>
        </p:nvSpPr>
        <p:spPr>
          <a:xfrm>
            <a:off x="-103239" y="5476875"/>
            <a:ext cx="12295239" cy="4191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16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sz="2400" b="1" dirty="0">
                <a:solidFill>
                  <a:schemeClr val="accent2"/>
                </a:solidFill>
              </a:rPr>
              <a:t>TIME ALONE CANNOT CLEANLY SEPARATE INDUSTRY STRUCTURE FROM CLIMATE.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602A9B-5310-4527-BA9F-8C1CC7606304}"/>
              </a:ext>
            </a:extLst>
          </p:cNvPr>
          <p:cNvSpPr>
            <a:spLocks noGrp="1"/>
          </p:cNvSpPr>
          <p:nvPr/>
        </p:nvSpPr>
        <p:spPr>
          <a:xfrm>
            <a:off x="1619250" y="6318917"/>
            <a:ext cx="8953500" cy="285750"/>
          </a:xfrm>
          <a:prstGeom prst="rect">
            <a:avLst/>
          </a:prstGeom>
        </p:spPr>
        <p:txBody>
          <a:bodyPr lIns="0" tIns="0" rIns="0" bIns="0" anchor="t">
            <a:normAutofit fontScale="92500"/>
          </a:bodyPr>
          <a:lstStyle/>
          <a:p>
            <a:pPr algn="ctr">
              <a:buNone/>
              <a:defRPr sz="16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RVV LOESS: BASELINE IMPROVES 140 → 90 MHL, BUT RULE INDUCTION FALLS TO ZERO.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B5895F-AF0E-7EE7-E8D3-2EA5CF823749}"/>
              </a:ext>
            </a:extLst>
          </p:cNvPr>
          <p:cNvSpPr>
            <a:spLocks noGrp="1"/>
          </p:cNvSpPr>
          <p:nvPr/>
        </p:nvSpPr>
        <p:spPr>
          <a:xfrm>
            <a:off x="7257301" y="1938338"/>
            <a:ext cx="180975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2563A6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DECISION 2</a:t>
            </a:r>
          </a:p>
        </p:txBody>
      </p:sp>
      <p:pic>
        <p:nvPicPr>
          <p:cNvPr id="441" name="Picture 440" descr="two_decision_sees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72" y="3529584"/>
            <a:ext cx="1883664" cy="154502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DF8E6DE-1640-4178-A5F0-71950DF53A7C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2567649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4B1748-9637-1278-F744-DF9CBEF779C9}"/>
              </a:ext>
            </a:extLst>
          </p:cNvPr>
          <p:cNvSpPr>
            <a:spLocks noGrp="1"/>
          </p:cNvSpPr>
          <p:nvPr/>
        </p:nvSpPr>
        <p:spPr>
          <a:xfrm>
            <a:off x="400049" y="5211905"/>
            <a:ext cx="11391899" cy="733425"/>
          </a:xfrm>
          <a:prstGeom prst="rect">
            <a:avLst/>
          </a:prstGeom>
          <a:noFill/>
          <a:ln w="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8B3CCD-BBF6-4A7D-97D7-9DEC88DDD7D9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CONTRIBUTIONS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51F646-B2AD-4DBF-B76F-CCB6056254D1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</p:spPr>
        <p:txBody>
          <a:bodyPr lIns="0" tIns="0" rIns="0" bIns="0" anchor="t">
            <a:normAutofit fontScale="89680"/>
          </a:bodyPr>
          <a:lstStyle/>
          <a:p>
            <a:pPr algn="l">
              <a:buNone/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Five scientific contributions clarify why rules work and fail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FE3B55-C9E2-452F-A5D2-90C418208741}"/>
              </a:ext>
            </a:extLst>
          </p:cNvPr>
          <p:cNvSpPr>
            <a:spLocks noGrp="1"/>
          </p:cNvSpPr>
          <p:nvPr/>
        </p:nvSpPr>
        <p:spPr>
          <a:xfrm>
            <a:off x="400050" y="1379396"/>
            <a:ext cx="11391900" cy="1000125"/>
          </a:xfrm>
          <a:prstGeom prst="rect">
            <a:avLst/>
          </a:prstGeom>
          <a:solidFill>
            <a:schemeClr val="tx1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8C77BD-B1FA-42A9-BFF2-4F2F3D486305}"/>
              </a:ext>
            </a:extLst>
          </p:cNvPr>
          <p:cNvSpPr>
            <a:spLocks noGrp="1"/>
          </p:cNvSpPr>
          <p:nvPr/>
        </p:nvSpPr>
        <p:spPr>
          <a:xfrm>
            <a:off x="666750" y="1636571"/>
            <a:ext cx="1905000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FB01BD-348F-4839-88F5-DB2AB966025A}"/>
              </a:ext>
            </a:extLst>
          </p:cNvPr>
          <p:cNvSpPr>
            <a:spLocks noGrp="1"/>
          </p:cNvSpPr>
          <p:nvPr/>
        </p:nvSpPr>
        <p:spPr>
          <a:xfrm>
            <a:off x="1037690" y="1599969"/>
            <a:ext cx="10644027" cy="619125"/>
          </a:xfrm>
          <a:prstGeom prst="rect">
            <a:avLst/>
          </a:prstGeom>
        </p:spPr>
        <p:txBody>
          <a:bodyPr lIns="0" tIns="0" rIns="0" bIns="0" anchor="t">
            <a:normAutofit fontScale="89226" lnSpcReduction="10000"/>
          </a:bodyPr>
          <a:lstStyle/>
          <a:p>
            <a:pPr algn="l"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2400" noProof="0" dirty="0">
                <a:solidFill>
                  <a:schemeClr val="bg1"/>
                </a:solidFill>
              </a:rPr>
              <a:t>Two-decision framework separates trend quality from residual climate-signal extraction.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EEE4EF-77AE-4A6E-A862-5F43887DF8E7}"/>
              </a:ext>
            </a:extLst>
          </p:cNvPr>
          <p:cNvSpPr>
            <a:spLocks noGrp="1"/>
          </p:cNvSpPr>
          <p:nvPr/>
        </p:nvSpPr>
        <p:spPr>
          <a:xfrm>
            <a:off x="400050" y="2497280"/>
            <a:ext cx="3562350" cy="2571750"/>
          </a:xfrm>
          <a:prstGeom prst="rect">
            <a:avLst/>
          </a:prstGeom>
          <a:solidFill>
            <a:srgbClr val="F0F1F2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40441E-D4D3-472D-85DA-921CDF437656}"/>
              </a:ext>
            </a:extLst>
          </p:cNvPr>
          <p:cNvSpPr>
            <a:spLocks noGrp="1"/>
          </p:cNvSpPr>
          <p:nvPr/>
        </p:nvSpPr>
        <p:spPr>
          <a:xfrm>
            <a:off x="4314825" y="2497280"/>
            <a:ext cx="3562350" cy="2571750"/>
          </a:xfrm>
          <a:prstGeom prst="rect">
            <a:avLst/>
          </a:prstGeom>
          <a:solidFill>
            <a:srgbClr val="F0F1F2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44E28D-30B2-430E-8230-0199511556CE}"/>
              </a:ext>
            </a:extLst>
          </p:cNvPr>
          <p:cNvSpPr>
            <a:spLocks noGrp="1"/>
          </p:cNvSpPr>
          <p:nvPr/>
        </p:nvSpPr>
        <p:spPr>
          <a:xfrm>
            <a:off x="8229600" y="2497280"/>
            <a:ext cx="3562350" cy="2571750"/>
          </a:xfrm>
          <a:prstGeom prst="rect">
            <a:avLst/>
          </a:prstGeom>
          <a:solidFill>
            <a:srgbClr val="F0F1F2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CE255A-0E63-469B-9A1A-6760CFA843FA}"/>
              </a:ext>
            </a:extLst>
          </p:cNvPr>
          <p:cNvSpPr>
            <a:spLocks noGrp="1"/>
          </p:cNvSpPr>
          <p:nvPr/>
        </p:nvSpPr>
        <p:spPr>
          <a:xfrm>
            <a:off x="666750" y="2783030"/>
            <a:ext cx="2857500" cy="361950"/>
          </a:xfrm>
          <a:prstGeom prst="rect">
            <a:avLst/>
          </a:prstGeom>
        </p:spPr>
        <p:txBody>
          <a:bodyPr lIns="0" tIns="0" rIns="0" bIns="0" anchor="t">
            <a:normAutofit fontScale="88998"/>
          </a:bodyPr>
          <a:lstStyle/>
          <a:p>
            <a:pPr algn="l">
              <a:buNone/>
              <a:defRPr sz="19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2 · Walk-forward evaluation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2D578C-ED9E-435A-B32F-A6DC24DEDE39}"/>
              </a:ext>
            </a:extLst>
          </p:cNvPr>
          <p:cNvSpPr>
            <a:spLocks noGrp="1"/>
          </p:cNvSpPr>
          <p:nvPr/>
        </p:nvSpPr>
        <p:spPr>
          <a:xfrm>
            <a:off x="666750" y="3402155"/>
            <a:ext cx="2857500" cy="1047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17 models, 18/16 scenarios, and all preprocessing inside each fold.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812136-7E24-47A4-B38A-8044E4F5D8E2}"/>
              </a:ext>
            </a:extLst>
          </p:cNvPr>
          <p:cNvSpPr>
            <a:spLocks noGrp="1"/>
          </p:cNvSpPr>
          <p:nvPr/>
        </p:nvSpPr>
        <p:spPr>
          <a:xfrm>
            <a:off x="4581525" y="2783030"/>
            <a:ext cx="2857500" cy="361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3 · Sensitivity analysis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A20911-81BE-4313-A765-8CCC45847E8F}"/>
              </a:ext>
            </a:extLst>
          </p:cNvPr>
          <p:cNvSpPr>
            <a:spLocks noGrp="1"/>
          </p:cNvSpPr>
          <p:nvPr/>
        </p:nvSpPr>
        <p:spPr>
          <a:xfrm>
            <a:off x="4581525" y="3402155"/>
            <a:ext cx="2857500" cy="1047750"/>
          </a:xfrm>
          <a:prstGeom prst="rect">
            <a:avLst/>
          </a:prstGeom>
        </p:spPr>
        <p:txBody>
          <a:bodyPr lIns="0" tIns="0" rIns="0" bIns="0" anchor="t">
            <a:normAutofit fontScale="99638"/>
          </a:bodyPr>
          <a:lstStyle/>
          <a:p>
            <a:pPr algn="l">
              <a:buNone/>
              <a:defRPr sz="17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Eleven CarenR variants show the best feature-selection strategy is problem-specific.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78F694-D44F-4A1F-B704-D6083CB098E0}"/>
              </a:ext>
            </a:extLst>
          </p:cNvPr>
          <p:cNvSpPr>
            <a:spLocks noGrp="1"/>
          </p:cNvSpPr>
          <p:nvPr/>
        </p:nvSpPr>
        <p:spPr>
          <a:xfrm>
            <a:off x="8496300" y="2783030"/>
            <a:ext cx="2857500" cy="361950"/>
          </a:xfrm>
          <a:prstGeom prst="rect">
            <a:avLst/>
          </a:prstGeom>
        </p:spPr>
        <p:txBody>
          <a:bodyPr lIns="0" tIns="0" rIns="0" bIns="0" anchor="t">
            <a:normAutofit fontScale="77594" lnSpcReduction="10000"/>
          </a:bodyPr>
          <a:lstStyle/>
          <a:p>
            <a:pPr algn="l">
              <a:buNone/>
              <a:defRPr sz="19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4 · Era-composition analysis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D29018-33B7-40A9-BA1D-8FB3AC29B795}"/>
              </a:ext>
            </a:extLst>
          </p:cNvPr>
          <p:cNvSpPr>
            <a:spLocks noGrp="1"/>
          </p:cNvSpPr>
          <p:nvPr/>
        </p:nvSpPr>
        <p:spPr>
          <a:xfrm>
            <a:off x="8496300" y="3402155"/>
            <a:ext cx="2857500" cy="1047750"/>
          </a:xfrm>
          <a:prstGeom prst="rect">
            <a:avLst/>
          </a:prstGeom>
        </p:spPr>
        <p:txBody>
          <a:bodyPr lIns="0" tIns="0" rIns="0" bIns="0" anchor="t">
            <a:normAutofit fontScale="99638"/>
          </a:bodyPr>
          <a:lstStyle/>
          <a:p>
            <a:pPr algn="l">
              <a:buNone/>
              <a:defRPr sz="17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Identifies when rule-based prediction may become viable, as hypothesis for future work.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E3710C-F9B3-474F-A94E-0020A6EE1282}"/>
              </a:ext>
            </a:extLst>
          </p:cNvPr>
          <p:cNvSpPr>
            <a:spLocks noGrp="1"/>
          </p:cNvSpPr>
          <p:nvPr/>
        </p:nvSpPr>
        <p:spPr>
          <a:xfrm>
            <a:off x="685800" y="5450030"/>
            <a:ext cx="10810875" cy="495300"/>
          </a:xfrm>
          <a:prstGeom prst="rect">
            <a:avLst/>
          </a:prstGeom>
        </p:spPr>
        <p:txBody>
          <a:bodyPr lIns="0" tIns="0" rIns="0" bIns="0" anchor="t">
            <a:normAutofit fontScale="95338" lnSpcReduction="10000"/>
          </a:bodyPr>
          <a:lstStyle/>
          <a:p>
            <a:pPr algn="ctr">
              <a:buNone/>
              <a:defRPr sz="18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accent2"/>
                </a:solidFill>
              </a:rPr>
              <a:t>5 · CROSS-ALGORITHM VALIDATION: </a:t>
            </a:r>
            <a:r>
              <a:rPr lang="en-GB" u="sng" noProof="0" dirty="0">
                <a:solidFill>
                  <a:schemeClr val="accent2"/>
                </a:solidFill>
              </a:rPr>
              <a:t>RIPPER</a:t>
            </a:r>
            <a:r>
              <a:rPr lang="en-GB" noProof="0" dirty="0">
                <a:solidFill>
                  <a:schemeClr val="accent2"/>
                </a:solidFill>
              </a:rPr>
              <a:t> AND </a:t>
            </a:r>
            <a:r>
              <a:rPr lang="en-GB" u="sng" noProof="0" dirty="0">
                <a:solidFill>
                  <a:schemeClr val="accent2"/>
                </a:solidFill>
              </a:rPr>
              <a:t>M5RULES</a:t>
            </a:r>
            <a:r>
              <a:rPr lang="en-GB" noProof="0" dirty="0">
                <a:solidFill>
                  <a:schemeClr val="accent2"/>
                </a:solidFill>
              </a:rPr>
              <a:t> INDEPENDENTLY CONFIRM </a:t>
            </a:r>
          </a:p>
          <a:p>
            <a:pPr algn="ctr">
              <a:buNone/>
              <a:defRPr sz="18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u="sng" noProof="0" dirty="0">
                <a:solidFill>
                  <a:schemeClr val="accent2"/>
                </a:solidFill>
              </a:rPr>
              <a:t>CAREN</a:t>
            </a:r>
            <a:r>
              <a:rPr lang="en-GB" noProof="0" dirty="0">
                <a:solidFill>
                  <a:schemeClr val="accent2"/>
                </a:solidFill>
              </a:rPr>
              <a:t> FEATURE FAMILIES.</a:t>
            </a: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7DF8E6DE-1640-4178-A5F0-71950DF53A7C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1682841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>
            <a:extLst>
              <a:ext uri="{FF2B5EF4-FFF2-40B4-BE49-F238E27FC236}">
                <a16:creationId xmlns:a16="http://schemas.microsoft.com/office/drawing/2014/main" id="{D6CF26EF-1116-4AE5-8478-A5DF4FB99F21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chemeClr val="bg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LIMITATIONS &amp; FUTURE WORK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C9BDDB7-AD16-44DE-BDA5-B8ECF5D23631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6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2625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next evidence should separate climate from structure</a:t>
            </a:r>
          </a:p>
        </p:txBody>
      </p:sp>
      <p:sp>
        <p:nvSpPr>
          <p:cNvPr id="4" name="lim-panel">
            <a:extLst>
              <a:ext uri="{FF2B5EF4-FFF2-40B4-BE49-F238E27FC236}">
                <a16:creationId xmlns:a16="http://schemas.microsoft.com/office/drawing/2014/main" id="{B7FED3BD-051B-4B32-A0C5-6806280F4F20}"/>
              </a:ext>
            </a:extLst>
          </p:cNvPr>
          <p:cNvSpPr>
            <a:spLocks noGrp="1"/>
          </p:cNvSpPr>
          <p:nvPr/>
        </p:nvSpPr>
        <p:spPr>
          <a:xfrm>
            <a:off x="409575" y="1390649"/>
            <a:ext cx="5334000" cy="3930687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5" name="lim-stripe">
            <a:extLst>
              <a:ext uri="{FF2B5EF4-FFF2-40B4-BE49-F238E27FC236}">
                <a16:creationId xmlns:a16="http://schemas.microsoft.com/office/drawing/2014/main" id="{0C9A5068-F942-4EF4-933A-98FE5B54F8BB}"/>
              </a:ext>
            </a:extLst>
          </p:cNvPr>
          <p:cNvSpPr>
            <a:spLocks noGrp="1"/>
          </p:cNvSpPr>
          <p:nvPr/>
        </p:nvSpPr>
        <p:spPr>
          <a:xfrm>
            <a:off x="409575" y="1391225"/>
            <a:ext cx="76200" cy="3930111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6" name="lim-title">
            <a:extLst>
              <a:ext uri="{FF2B5EF4-FFF2-40B4-BE49-F238E27FC236}">
                <a16:creationId xmlns:a16="http://schemas.microsoft.com/office/drawing/2014/main" id="{60845F58-7EC2-4F2D-BACB-C199AEEC3BFA}"/>
              </a:ext>
            </a:extLst>
          </p:cNvPr>
          <p:cNvSpPr>
            <a:spLocks noGrp="1"/>
          </p:cNvSpPr>
          <p:nvPr/>
        </p:nvSpPr>
        <p:spPr>
          <a:xfrm>
            <a:off x="695325" y="1581151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 b="1">
                <a:solidFill>
                  <a:srgbClr val="C04B4B"/>
                </a:solidFill>
                <a:latin typeface="Arial"/>
                <a:ea typeface="Arial"/>
                <a:cs typeface="Arial"/>
              </a:defRPr>
            </a:pPr>
            <a:r>
              <a:rPr lang="en-GB" sz="1800" b="1" noProof="0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7" name="lim-body">
            <a:extLst>
              <a:ext uri="{FF2B5EF4-FFF2-40B4-BE49-F238E27FC236}">
                <a16:creationId xmlns:a16="http://schemas.microsoft.com/office/drawing/2014/main" id="{BBCC1286-35DC-4B95-B827-6D8189A654B6}"/>
              </a:ext>
            </a:extLst>
          </p:cNvPr>
          <p:cNvSpPr>
            <a:spLocks noGrp="1"/>
          </p:cNvSpPr>
          <p:nvPr/>
        </p:nvSpPr>
        <p:spPr>
          <a:xfrm>
            <a:off x="790574" y="2143126"/>
            <a:ext cx="4810125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600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Time is the only detrending covariate</a:t>
            </a:r>
            <a:r>
              <a:rPr lang="en-GB" sz="16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, so structural change and climate remain partly mixed.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1400" noProof="0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Arial"/>
              <a:cs typeface="Arial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6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The walk-forward </a:t>
            </a:r>
            <a:r>
              <a:rPr lang="en-GB" sz="1600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test is limited by the small amount of historical data available:</a:t>
            </a:r>
            <a:r>
              <a:rPr lang="en-GB" sz="16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 only 18 scenarios for RDD and 16 for RVV. Therefore, the 5/5 RDD era-balanced result should be treated as exploratory rather than confirmatory.</a:t>
            </a:r>
          </a:p>
          <a:p>
            <a:pPr algn="just"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endParaRPr lang="en-GB" sz="1200" noProof="0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Arial"/>
              <a:cs typeface="Arial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600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Regional annual aggregates hide sub-regional </a:t>
            </a:r>
            <a:r>
              <a:rPr lang="en-GB" sz="16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weather and vineyard heterogeneity.</a:t>
            </a:r>
          </a:p>
        </p:txBody>
      </p:sp>
      <p:sp>
        <p:nvSpPr>
          <p:cNvPr id="8" name="fw-panel">
            <a:extLst>
              <a:ext uri="{FF2B5EF4-FFF2-40B4-BE49-F238E27FC236}">
                <a16:creationId xmlns:a16="http://schemas.microsoft.com/office/drawing/2014/main" id="{1A07840C-9A0A-41B8-900B-22185D3D938D}"/>
              </a:ext>
            </a:extLst>
          </p:cNvPr>
          <p:cNvSpPr>
            <a:spLocks noGrp="1"/>
          </p:cNvSpPr>
          <p:nvPr/>
        </p:nvSpPr>
        <p:spPr>
          <a:xfrm>
            <a:off x="6124575" y="1390649"/>
            <a:ext cx="5667375" cy="3930687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9" name="fw-stripe">
            <a:extLst>
              <a:ext uri="{FF2B5EF4-FFF2-40B4-BE49-F238E27FC236}">
                <a16:creationId xmlns:a16="http://schemas.microsoft.com/office/drawing/2014/main" id="{26A857E4-49CB-4B9D-982E-F244C7B4E448}"/>
              </a:ext>
            </a:extLst>
          </p:cNvPr>
          <p:cNvSpPr>
            <a:spLocks noGrp="1"/>
          </p:cNvSpPr>
          <p:nvPr/>
        </p:nvSpPr>
        <p:spPr>
          <a:xfrm>
            <a:off x="6124575" y="1391225"/>
            <a:ext cx="76200" cy="3930111"/>
          </a:xfrm>
          <a:prstGeom prst="rect">
            <a:avLst/>
          </a:prstGeom>
          <a:solidFill>
            <a:srgbClr val="268A8A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0" name="fw-title">
            <a:extLst>
              <a:ext uri="{FF2B5EF4-FFF2-40B4-BE49-F238E27FC236}">
                <a16:creationId xmlns:a16="http://schemas.microsoft.com/office/drawing/2014/main" id="{11377E13-D7EF-47BC-BE62-C2415F25F0A9}"/>
              </a:ext>
            </a:extLst>
          </p:cNvPr>
          <p:cNvSpPr>
            <a:spLocks noGrp="1"/>
          </p:cNvSpPr>
          <p:nvPr/>
        </p:nvSpPr>
        <p:spPr>
          <a:xfrm>
            <a:off x="6410325" y="1581151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 b="1">
                <a:solidFill>
                  <a:srgbClr val="268A8A"/>
                </a:solidFill>
                <a:latin typeface="Arial"/>
                <a:ea typeface="Arial"/>
                <a:cs typeface="Arial"/>
              </a:defRPr>
            </a:pPr>
            <a:r>
              <a:rPr lang="en-GB" sz="1800" b="1" noProof="0" dirty="0">
                <a:solidFill>
                  <a:srgbClr val="268A8A"/>
                </a:solidFill>
                <a:latin typeface="Arial"/>
                <a:ea typeface="Arial"/>
                <a:cs typeface="Arial"/>
              </a:rPr>
              <a:t>FUTURE WORK</a:t>
            </a:r>
          </a:p>
        </p:txBody>
      </p:sp>
      <p:sp>
        <p:nvSpPr>
          <p:cNvPr id="11" name="fw-body">
            <a:extLst>
              <a:ext uri="{FF2B5EF4-FFF2-40B4-BE49-F238E27FC236}">
                <a16:creationId xmlns:a16="http://schemas.microsoft.com/office/drawing/2014/main" id="{D4D2FEB9-2CD8-448D-B525-ECD8FD4814D6}"/>
              </a:ext>
            </a:extLst>
          </p:cNvPr>
          <p:cNvSpPr>
            <a:spLocks noGrp="1"/>
          </p:cNvSpPr>
          <p:nvPr/>
        </p:nvSpPr>
        <p:spPr>
          <a:xfrm>
            <a:off x="6581775" y="2294263"/>
            <a:ext cx="5070646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6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Add structural covariates:</a:t>
            </a:r>
            <a:r>
              <a:rPr lang="en-GB" sz="16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planted area, quotas and certified producers.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400" noProof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6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Pre-register and prospectively </a:t>
            </a:r>
            <a:r>
              <a:rPr lang="en-GB" sz="16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validate the era-balanced hypothesis.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400" noProof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just"/>
            <a:endParaRPr lang="en-GB" sz="2400" noProof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6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Test other regional time series with weaker trends </a:t>
            </a:r>
            <a:r>
              <a:rPr lang="en-GB" sz="16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use higher-resolution climate data.</a:t>
            </a:r>
          </a:p>
        </p:txBody>
      </p:sp>
      <p:sp>
        <p:nvSpPr>
          <p:cNvPr id="14" name="close-text">
            <a:extLst>
              <a:ext uri="{FF2B5EF4-FFF2-40B4-BE49-F238E27FC236}">
                <a16:creationId xmlns:a16="http://schemas.microsoft.com/office/drawing/2014/main" id="{ADF9A72D-259B-4CAF-91E4-424FF94B6D44}"/>
              </a:ext>
            </a:extLst>
          </p:cNvPr>
          <p:cNvSpPr>
            <a:spLocks noGrp="1"/>
          </p:cNvSpPr>
          <p:nvPr/>
        </p:nvSpPr>
        <p:spPr>
          <a:xfrm>
            <a:off x="566737" y="5734050"/>
            <a:ext cx="11687175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2000" b="1" dirty="0">
                <a:solidFill>
                  <a:schemeClr val="accent2"/>
                </a:solidFill>
              </a:rPr>
              <a:t>NOT AN OPERATIONAL FORECAST YET </a:t>
            </a:r>
            <a:r>
              <a:rPr lang="en-GB" sz="2000" dirty="0"/>
              <a:t>–</a:t>
            </a:r>
            <a:r>
              <a:rPr lang="en-GB" sz="2000" b="1" dirty="0">
                <a:solidFill>
                  <a:schemeClr val="accent2"/>
                </a:solidFill>
              </a:rPr>
              <a:t> </a:t>
            </a:r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DIAGNOSIS OF WHEN INTERPRETABLE RULES WORK, FAIL, </a:t>
            </a:r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AND WHAT EVIDENCE COMES NEXT.</a:t>
            </a:r>
            <a:endParaRPr lang="en-GB" sz="2000" b="1" noProof="0" dirty="0">
              <a:solidFill>
                <a:schemeClr val="bg1">
                  <a:lumMod val="5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lide-number">
            <a:extLst>
              <a:ext uri="{FF2B5EF4-FFF2-40B4-BE49-F238E27FC236}">
                <a16:creationId xmlns:a16="http://schemas.microsoft.com/office/drawing/2014/main" id="{C0D54E7A-C4F2-4342-B771-5B9125A2FBC7}"/>
              </a:ext>
            </a:extLst>
          </p:cNvPr>
          <p:cNvSpPr>
            <a:spLocks noGrp="1"/>
          </p:cNvSpPr>
          <p:nvPr/>
        </p:nvSpPr>
        <p:spPr>
          <a:xfrm>
            <a:off x="11287125" y="6463942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7DF8E6DE-1640-4178-A5F0-71950DF53A7C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41264646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FC25070-4A33-46B8-8CA4-07D27372A63B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NEXT 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FDD097-DF00-49C9-AE63-44967556803E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Back to the Question:</a:t>
            </a:r>
          </a:p>
        </p:txBody>
      </p:sp>
      <p:cxnSp>
        <p:nvCxnSpPr>
          <p:cNvPr id="165" name="Straight Arrow Connector 152"/>
          <p:cNvCxnSpPr/>
          <p:nvPr/>
        </p:nvCxnSpPr>
        <p:spPr>
          <a:xfrm>
            <a:off x="742950" y="3242870"/>
            <a:ext cx="10382250" cy="953"/>
          </a:xfrm>
          <a:prstGeom prst="straightConnector1">
            <a:avLst/>
          </a:prstGeom>
          <a:ln w="19050">
            <a:solidFill>
              <a:srgbClr val="151515"/>
            </a:solidFill>
            <a:prstDash val="solid"/>
          </a:ln>
        </p:spPr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69E4A950-FCA3-4EAB-8930-E09FBC36715B}"/>
              </a:ext>
            </a:extLst>
          </p:cNvPr>
          <p:cNvSpPr>
            <a:spLocks noGrp="1"/>
          </p:cNvSpPr>
          <p:nvPr/>
        </p:nvSpPr>
        <p:spPr>
          <a:xfrm>
            <a:off x="1095375" y="3157145"/>
            <a:ext cx="190500" cy="190500"/>
          </a:xfrm>
          <a:prstGeom prst="ellipse">
            <a:avLst/>
          </a:prstGeom>
          <a:solidFill>
            <a:srgbClr val="7B1E3A"/>
          </a:solidFill>
        </p:spPr>
        <p:txBody>
          <a:bodyPr/>
          <a:lstStyle/>
          <a:p>
            <a:endParaRPr lang="en-GB" noProof="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BBF4214-A543-4AC5-9AB3-9660B08413B8}"/>
              </a:ext>
            </a:extLst>
          </p:cNvPr>
          <p:cNvSpPr>
            <a:spLocks noGrp="1"/>
          </p:cNvSpPr>
          <p:nvPr/>
        </p:nvSpPr>
        <p:spPr>
          <a:xfrm>
            <a:off x="3714750" y="3157145"/>
            <a:ext cx="190500" cy="190500"/>
          </a:xfrm>
          <a:prstGeom prst="ellipse">
            <a:avLst/>
          </a:prstGeom>
          <a:solidFill>
            <a:srgbClr val="7B1E3A"/>
          </a:solidFill>
        </p:spPr>
        <p:txBody>
          <a:bodyPr/>
          <a:lstStyle/>
          <a:p>
            <a:endParaRPr lang="en-GB" noProof="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C0E58BB-1179-4813-AF25-E9782CC0D1A4}"/>
              </a:ext>
            </a:extLst>
          </p:cNvPr>
          <p:cNvSpPr>
            <a:spLocks noGrp="1"/>
          </p:cNvSpPr>
          <p:nvPr/>
        </p:nvSpPr>
        <p:spPr>
          <a:xfrm>
            <a:off x="6334125" y="3157145"/>
            <a:ext cx="190500" cy="190500"/>
          </a:xfrm>
          <a:prstGeom prst="ellipse">
            <a:avLst/>
          </a:prstGeom>
          <a:solidFill>
            <a:srgbClr val="7B1E3A"/>
          </a:solidFill>
        </p:spPr>
        <p:txBody>
          <a:bodyPr/>
          <a:lstStyle/>
          <a:p>
            <a:endParaRPr lang="en-GB" noProof="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38D901D-E538-4E28-8163-1B111CC621AF}"/>
              </a:ext>
            </a:extLst>
          </p:cNvPr>
          <p:cNvSpPr>
            <a:spLocks noGrp="1"/>
          </p:cNvSpPr>
          <p:nvPr/>
        </p:nvSpPr>
        <p:spPr>
          <a:xfrm>
            <a:off x="8953500" y="3157145"/>
            <a:ext cx="190500" cy="190500"/>
          </a:xfrm>
          <a:prstGeom prst="ellipse">
            <a:avLst/>
          </a:prstGeom>
          <a:solidFill>
            <a:srgbClr val="7B1E3A"/>
          </a:solidFill>
        </p:spPr>
        <p:txBody>
          <a:bodyPr/>
          <a:lstStyle/>
          <a:p>
            <a:endParaRPr lang="en-GB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D5A3E2-F417-4EDC-9C3B-8B9F3035D0DB}"/>
              </a:ext>
            </a:extLst>
          </p:cNvPr>
          <p:cNvSpPr>
            <a:spLocks noGrp="1"/>
          </p:cNvSpPr>
          <p:nvPr/>
        </p:nvSpPr>
        <p:spPr>
          <a:xfrm>
            <a:off x="809625" y="2671370"/>
            <a:ext cx="7620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AC4739-A312-40E8-B2AA-6836D12D2582}"/>
              </a:ext>
            </a:extLst>
          </p:cNvPr>
          <p:cNvSpPr>
            <a:spLocks noGrp="1"/>
          </p:cNvSpPr>
          <p:nvPr/>
        </p:nvSpPr>
        <p:spPr>
          <a:xfrm>
            <a:off x="571500" y="3576245"/>
            <a:ext cx="123825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8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1400" noProof="0" dirty="0"/>
              <a:t>STRUCTURAL
COVARIATES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C5BF36-6660-4270-A3A2-054B7435617D}"/>
              </a:ext>
            </a:extLst>
          </p:cNvPr>
          <p:cNvSpPr>
            <a:spLocks noGrp="1"/>
          </p:cNvSpPr>
          <p:nvPr/>
        </p:nvSpPr>
        <p:spPr>
          <a:xfrm>
            <a:off x="381000" y="4433495"/>
            <a:ext cx="161925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Planted area, quotas, producers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9830D1-243B-4E6B-B9AC-2491F04CE5C3}"/>
              </a:ext>
            </a:extLst>
          </p:cNvPr>
          <p:cNvSpPr>
            <a:spLocks noGrp="1"/>
          </p:cNvSpPr>
          <p:nvPr/>
        </p:nvSpPr>
        <p:spPr>
          <a:xfrm>
            <a:off x="3429000" y="2671370"/>
            <a:ext cx="7620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713450-9B9B-4600-9A28-3DD765DF34E7}"/>
              </a:ext>
            </a:extLst>
          </p:cNvPr>
          <p:cNvSpPr>
            <a:spLocks noGrp="1"/>
          </p:cNvSpPr>
          <p:nvPr/>
        </p:nvSpPr>
        <p:spPr>
          <a:xfrm>
            <a:off x="2952750" y="3576245"/>
            <a:ext cx="171450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8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1400" noProof="0" dirty="0"/>
              <a:t>PROSPECTIVE
VALIDATION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CA9DF4-30C0-46B4-844A-3554C34BEA56}"/>
              </a:ext>
            </a:extLst>
          </p:cNvPr>
          <p:cNvSpPr>
            <a:spLocks noGrp="1"/>
          </p:cNvSpPr>
          <p:nvPr/>
        </p:nvSpPr>
        <p:spPr>
          <a:xfrm>
            <a:off x="2952750" y="4433495"/>
            <a:ext cx="171450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Pre-register the era-balanced hypothesis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BFB2A5-FFC1-4957-80A3-A648945EED22}"/>
              </a:ext>
            </a:extLst>
          </p:cNvPr>
          <p:cNvSpPr>
            <a:spLocks noGrp="1"/>
          </p:cNvSpPr>
          <p:nvPr/>
        </p:nvSpPr>
        <p:spPr>
          <a:xfrm>
            <a:off x="6048375" y="2671370"/>
            <a:ext cx="7620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1315B3-2FFD-4146-90ED-C8348E21F748}"/>
              </a:ext>
            </a:extLst>
          </p:cNvPr>
          <p:cNvSpPr>
            <a:spLocks noGrp="1"/>
          </p:cNvSpPr>
          <p:nvPr/>
        </p:nvSpPr>
        <p:spPr>
          <a:xfrm>
            <a:off x="5762625" y="3576245"/>
            <a:ext cx="1428750" cy="666750"/>
          </a:xfrm>
          <a:prstGeom prst="rect">
            <a:avLst/>
          </a:prstGeom>
        </p:spPr>
        <p:txBody>
          <a:bodyPr lIns="0" tIns="0" rIns="0" bIns="0" anchor="t">
            <a:normAutofit fontScale="94531"/>
          </a:bodyPr>
          <a:lstStyle/>
          <a:p>
            <a:pPr algn="ctr">
              <a:buNone/>
              <a:defRPr sz="18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1400" noProof="0" dirty="0"/>
              <a:t>HIGHER SPATIAL
RESOLUTION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1AEA6E-4B04-41E8-87F5-4F3A4924FD67}"/>
              </a:ext>
            </a:extLst>
          </p:cNvPr>
          <p:cNvSpPr>
            <a:spLocks noGrp="1"/>
          </p:cNvSpPr>
          <p:nvPr/>
        </p:nvSpPr>
        <p:spPr>
          <a:xfrm>
            <a:off x="5572125" y="4433495"/>
            <a:ext cx="180975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Capture within-region heterogeneity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518546-E672-49C8-8EE7-213071C7869B}"/>
              </a:ext>
            </a:extLst>
          </p:cNvPr>
          <p:cNvSpPr>
            <a:spLocks noGrp="1"/>
          </p:cNvSpPr>
          <p:nvPr/>
        </p:nvSpPr>
        <p:spPr>
          <a:xfrm>
            <a:off x="8667750" y="2671370"/>
            <a:ext cx="7620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F3AF262-EC64-4BF7-8EC4-6D7BBA893F1F}"/>
              </a:ext>
            </a:extLst>
          </p:cNvPr>
          <p:cNvSpPr>
            <a:spLocks noGrp="1"/>
          </p:cNvSpPr>
          <p:nvPr/>
        </p:nvSpPr>
        <p:spPr>
          <a:xfrm>
            <a:off x="8103870" y="3576245"/>
            <a:ext cx="1952625" cy="6667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18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1400" noProof="0" dirty="0"/>
              <a:t>OTHER REGIONS</a:t>
            </a:r>
          </a:p>
          <a:p>
            <a:pPr algn="ctr">
              <a:buNone/>
              <a:defRPr sz="18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1400" noProof="0" dirty="0"/>
              <a:t>&amp; LOWER TREND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9563B3-B8C4-478A-8442-79B04086F465}"/>
              </a:ext>
            </a:extLst>
          </p:cNvPr>
          <p:cNvSpPr>
            <a:spLocks noGrp="1"/>
          </p:cNvSpPr>
          <p:nvPr/>
        </p:nvSpPr>
        <p:spPr>
          <a:xfrm>
            <a:off x="8191500" y="4433495"/>
            <a:ext cx="190500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Test time series with weaker structural trends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EB2D02-5245-4EC2-AA43-4607816483A3}"/>
              </a:ext>
            </a:extLst>
          </p:cNvPr>
          <p:cNvSpPr>
            <a:spLocks noGrp="1"/>
          </p:cNvSpPr>
          <p:nvPr/>
        </p:nvSpPr>
        <p:spPr>
          <a:xfrm>
            <a:off x="10412730" y="2337995"/>
            <a:ext cx="1571625" cy="3000375"/>
          </a:xfrm>
          <a:prstGeom prst="rect">
            <a:avLst/>
          </a:prstGeom>
          <a:solidFill>
            <a:srgbClr val="151515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D3A802-E57F-412A-8554-AE874D75981B}"/>
              </a:ext>
            </a:extLst>
          </p:cNvPr>
          <p:cNvSpPr>
            <a:spLocks noGrp="1"/>
          </p:cNvSpPr>
          <p:nvPr/>
        </p:nvSpPr>
        <p:spPr>
          <a:xfrm>
            <a:off x="10586085" y="2652320"/>
            <a:ext cx="1143000" cy="2286000"/>
          </a:xfrm>
          <a:prstGeom prst="rect">
            <a:avLst/>
          </a:prstGeom>
        </p:spPr>
        <p:txBody>
          <a:bodyPr lIns="0" tIns="0" rIns="0" bIns="0" anchor="t">
            <a:normAutofit fontScale="84423" lnSpcReduction="10000"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Rules can
explain the
past.
Structure
determines
whether they
predict the
future.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F8E6DE-1640-4178-A5F0-71950DF53A7C}"/>
              </a:ext>
            </a:extLst>
          </p:cNvPr>
          <p:cNvSpPr>
            <a:spLocks noGrp="1"/>
          </p:cNvSpPr>
          <p:nvPr/>
        </p:nvSpPr>
        <p:spPr>
          <a:xfrm>
            <a:off x="11287125" y="657662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24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C63F77-3B4F-393F-12E7-A6C731A9399C}"/>
              </a:ext>
            </a:extLst>
          </p:cNvPr>
          <p:cNvSpPr>
            <a:spLocks noGrp="1"/>
          </p:cNvSpPr>
          <p:nvPr/>
        </p:nvSpPr>
        <p:spPr>
          <a:xfrm>
            <a:off x="1095375" y="5692355"/>
            <a:ext cx="11391900" cy="781050"/>
          </a:xfrm>
          <a:prstGeom prst="rect">
            <a:avLst/>
          </a:prstGeom>
        </p:spPr>
        <p:txBody>
          <a:bodyPr lIns="0" tIns="0" rIns="0" bIns="0" anchor="t">
            <a:normAutofit fontScale="92500"/>
          </a:bodyPr>
          <a:lstStyle/>
          <a:p>
            <a:pPr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1">
                    <a:lumMod val="50000"/>
                  </a:schemeClr>
                </a:solidFill>
              </a:rPr>
              <a:t>Not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y</a:t>
            </a:r>
            <a:r>
              <a:rPr lang="en-GB" noProof="0" dirty="0">
                <a:solidFill>
                  <a:schemeClr val="bg1">
                    <a:lumMod val="50000"/>
                  </a:schemeClr>
                </a:solidFill>
              </a:rPr>
              <a:t>et </a:t>
            </a:r>
            <a:r>
              <a:rPr lang="en-GB" sz="3600" dirty="0">
                <a:solidFill>
                  <a:schemeClr val="bg1">
                    <a:lumMod val="50000"/>
                  </a:schemeClr>
                </a:solidFill>
              </a:rPr>
              <a:t>–</a:t>
            </a:r>
            <a:r>
              <a:rPr lang="en-GB" noProof="0" dirty="0">
                <a:sym typeface="Wingdings" pitchFamily="2" charset="2"/>
              </a:rPr>
              <a:t> </a:t>
            </a:r>
            <a:r>
              <a:rPr lang="en-GB" noProof="0" dirty="0"/>
              <a:t>The next step is to model structure explicitly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EDC7206-2991-C186-ACF3-AA08BB68737E}"/>
              </a:ext>
            </a:extLst>
          </p:cNvPr>
          <p:cNvSpPr>
            <a:spLocks noGrp="1"/>
          </p:cNvSpPr>
          <p:nvPr/>
        </p:nvSpPr>
        <p:spPr>
          <a:xfrm>
            <a:off x="337185" y="1422035"/>
            <a:ext cx="11391900" cy="781050"/>
          </a:xfrm>
          <a:prstGeom prst="rect">
            <a:avLst/>
          </a:prstGeom>
        </p:spPr>
        <p:txBody>
          <a:bodyPr lIns="0" tIns="0" rIns="0" bIns="0" anchor="t">
            <a:normAutofit fontScale="85000" lnSpcReduction="20000"/>
          </a:bodyPr>
          <a:lstStyle/>
          <a:p>
            <a:pPr algn="l">
              <a:buNone/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accent2"/>
                </a:solidFill>
              </a:rPr>
              <a:t>CAN CLIMATE-BASED RULES EXPLAIN WINE PRODUCTION — AND RELIABLY FORECAST IT?</a:t>
            </a:r>
          </a:p>
        </p:txBody>
      </p:sp>
    </p:spTree>
    <p:extLst>
      <p:ext uri="{BB962C8B-B14F-4D97-AF65-F5344CB8AC3E}">
        <p14:creationId xmlns:p14="http://schemas.microsoft.com/office/powerpoint/2010/main" val="24227169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3EAD72F-8DA8-8AB9-7020-E5F29D4A7E6C}"/>
              </a:ext>
            </a:extLst>
          </p:cNvPr>
          <p:cNvSpPr>
            <a:spLocks noGrp="1"/>
          </p:cNvSpPr>
          <p:nvPr/>
        </p:nvSpPr>
        <p:spPr>
          <a:xfrm>
            <a:off x="471969" y="3119437"/>
            <a:ext cx="5715000" cy="619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9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Thank you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C5A768F-43B8-F657-4A5F-58110FAA8564}"/>
              </a:ext>
            </a:extLst>
          </p:cNvPr>
          <p:cNvSpPr>
            <a:spLocks noGrp="1"/>
          </p:cNvSpPr>
          <p:nvPr/>
        </p:nvSpPr>
        <p:spPr>
          <a:xfrm>
            <a:off x="538875" y="3671887"/>
            <a:ext cx="285750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Questions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F8E6DE-1640-4178-A5F0-71950DF53A7C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25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B3544F-2987-411F-A7F7-D2DEB65F2FF2}"/>
              </a:ext>
            </a:extLst>
          </p:cNvPr>
          <p:cNvSpPr>
            <a:spLocks noGrp="1"/>
          </p:cNvSpPr>
          <p:nvPr/>
        </p:nvSpPr>
        <p:spPr>
          <a:xfrm>
            <a:off x="400050" y="5353050"/>
            <a:ext cx="495300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Hugo Filipe </a:t>
            </a:r>
            <a:r>
              <a:rPr lang="en-GB" noProof="0" dirty="0" err="1"/>
              <a:t>Queiróz</a:t>
            </a:r>
            <a:r>
              <a:rPr lang="en-GB" noProof="0" dirty="0"/>
              <a:t> Nogueira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313789-C66C-9570-B037-BCA89AD98692}"/>
              </a:ext>
            </a:extLst>
          </p:cNvPr>
          <p:cNvSpPr>
            <a:spLocks noGrp="1"/>
          </p:cNvSpPr>
          <p:nvPr/>
        </p:nvSpPr>
        <p:spPr>
          <a:xfrm>
            <a:off x="400050" y="5753100"/>
            <a:ext cx="74295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Supervisors: João Mendes Moreira · Mário Campos Cunha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FEB9D8-CB15-A703-B257-31BD30BD1E22}"/>
              </a:ext>
            </a:extLst>
          </p:cNvPr>
          <p:cNvSpPr/>
          <p:nvPr/>
        </p:nvSpPr>
        <p:spPr>
          <a:xfrm>
            <a:off x="4114800" y="6572250"/>
            <a:ext cx="3966519" cy="285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99928975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F084A4F-A926-D348-ACDC-61ABDB483064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a605d7fb-cb33-45ff-a5a9-310e7230226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2793</TotalTime>
  <Words>8128</Words>
  <Application>Microsoft Macintosh PowerPoint</Application>
  <DocSecurity>0</DocSecurity>
  <PresentationFormat>Widescreen</PresentationFormat>
  <Paragraphs>1040</Paragraphs>
  <Slides>28</Slides>
  <Notes>28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Arial</vt:lpstr>
      <vt:lpstr>Calibri</vt:lpstr>
      <vt:lpstr>Courier New</vt:lpstr>
      <vt:lpstr>Wingdings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Hugo Filipe Nogueira</cp:lastModifiedBy>
  <cp:revision>66</cp:revision>
  <cp:lastPrinted>2026-07-16T21:38:26Z</cp:lastPrinted>
  <dcterms:created xsi:type="dcterms:W3CDTF">2026-07-14T00:04:33Z</dcterms:created>
  <dcterms:modified xsi:type="dcterms:W3CDTF">2026-07-17T10:11:22Z</dcterms:modified>
</cp:coreProperties>
</file>