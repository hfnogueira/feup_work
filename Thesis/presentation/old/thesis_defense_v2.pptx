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MAE (mhl)</c:v>
                </c:pt>
              </c:strCache>
            </c:strRef>
          </c:tx>
          <c:spPr>
            <a:solidFill>
              <a:srgbClr val="6B27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7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Naive_Median</c:v>
                  </c:pt>
                  <c:pt idx="1">
                    <c:v>CarenR_Eta2</c:v>
                  </c:pt>
                  <c:pt idx="2">
                    <c:v>CarenR_FS</c:v>
                  </c:pt>
                  <c:pt idx="3">
                    <c:v>Naive_MA</c:v>
                  </c:pt>
                  <c:pt idx="4">
                    <c:v>M5Rules</c:v>
                  </c:pt>
                  <c:pt idx="5">
                    <c:v>Decision Tree</c:v>
                  </c:pt>
                  <c:pt idx="6">
                    <c:v>RIPPER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184</c:v>
                </c:pt>
                <c:pt idx="1">
                  <c:v>189.2</c:v>
                </c:pt>
                <c:pt idx="2">
                  <c:v>193.5</c:v>
                </c:pt>
                <c:pt idx="3">
                  <c:v>194.6</c:v>
                </c:pt>
                <c:pt idx="4">
                  <c:v>200</c:v>
                </c:pt>
                <c:pt idx="5">
                  <c:v>249.7</c:v>
                </c:pt>
                <c:pt idx="6">
                  <c:v>279.4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60"/>
        </c:scaling>
        <c:delete val="0"/>
        <c:axPos val="b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MAE (mhl)</c:v>
                </c:pt>
              </c:strCache>
            </c:strRef>
          </c:tx>
          <c:spPr>
            <a:solidFill>
              <a:srgbClr val="2A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Naive_Median</c:v>
                  </c:pt>
                  <c:pt idx="1">
                    <c:v>Naive</c:v>
                  </c:pt>
                  <c:pt idx="2">
                    <c:v>Naive_MA</c:v>
                  </c:pt>
                  <c:pt idx="3">
                    <c:v>CarenR_Sup_FS</c:v>
                  </c:pt>
                  <c:pt idx="4">
                    <c:v>M5Rules</c:v>
                  </c:pt>
                  <c:pt idx="5">
                    <c:v>Decision Tree</c:v>
                  </c:pt>
                  <c:pt idx="6">
                    <c:v>RIPPER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140.4</c:v>
                </c:pt>
                <c:pt idx="1">
                  <c:v>143.8</c:v>
                </c:pt>
                <c:pt idx="2">
                  <c:v>170.5</c:v>
                </c:pt>
                <c:pt idx="3">
                  <c:v>171.6</c:v>
                </c:pt>
                <c:pt idx="4">
                  <c:v>267.5</c:v>
                </c:pt>
                <c:pt idx="5">
                  <c:v>479.3</c:v>
                </c:pt>
                <c:pt idx="6">
                  <c:v>508.2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0"/>
        </c:scaling>
        <c:delete val="0"/>
        <c:axPos val="b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Naive_Median</c:v>
                </c:pt>
              </c:strCache>
            </c:strRef>
          </c:tx>
          <c:spPr>
            <a:solidFill>
              <a:srgbClr val="6B2737"/>
            </a:solidFill>
            <a:ln w="25400" cap="flat">
              <a:solidFill>
                <a:srgbClr val="6B27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737"/>
              </a:solidFill>
              <a:ln w="9525" cap="flat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183.5</c:v>
                </c:pt>
                <c:pt idx="1">
                  <c:v>199.7</c:v>
                </c:pt>
                <c:pt idx="2">
                  <c:v>223.3</c:v>
                </c:pt>
                <c:pt idx="3">
                  <c:v>203.9</c:v>
                </c:pt>
                <c:pt idx="4">
                  <c:v>184.3</c:v>
                </c:pt>
                <c:pt idx="5">
                  <c:v>174.4</c:v>
                </c:pt>
                <c:pt idx="6">
                  <c:v>186.5</c:v>
                </c:pt>
                <c:pt idx="7">
                  <c:v>174.9</c:v>
                </c:pt>
                <c:pt idx="8">
                  <c:v>164</c:v>
                </c:pt>
                <c:pt idx="9">
                  <c:v>170.5</c:v>
                </c:pt>
                <c:pt idx="10">
                  <c:v>165.4</c:v>
                </c:pt>
                <c:pt idx="11">
                  <c:v>186.7</c:v>
                </c:pt>
                <c:pt idx="12">
                  <c:v>170.1</c:v>
                </c:pt>
                <c:pt idx="13">
                  <c:v>176.3</c:v>
                </c:pt>
                <c:pt idx="14">
                  <c:v>157.6</c:v>
                </c:pt>
                <c:pt idx="15">
                  <c:v>158.1</c:v>
                </c:pt>
                <c:pt idx="16">
                  <c:v>86.7</c:v>
                </c:pt>
                <c:pt idx="17">
                  <c:v>143.9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CarenR_Eta2</c:v>
                </c:pt>
              </c:strCache>
            </c:strRef>
          </c:tx>
          <c:spPr>
            <a:solidFill>
              <a:srgbClr val="C4964A"/>
            </a:solidFill>
            <a:ln w="25400" cap="flat">
              <a:solidFill>
                <a:srgbClr val="C496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964A"/>
              </a:solidFill>
              <a:ln w="9525" cap="flat">
                <a:solidFill>
                  <a:srgbClr val="C496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199.5</c:v>
                </c:pt>
                <c:pt idx="1">
                  <c:v>204.8</c:v>
                </c:pt>
                <c:pt idx="2">
                  <c:v>216</c:v>
                </c:pt>
                <c:pt idx="3">
                  <c:v>203.7</c:v>
                </c:pt>
                <c:pt idx="4">
                  <c:v>209.5</c:v>
                </c:pt>
                <c:pt idx="5">
                  <c:v>201.4</c:v>
                </c:pt>
                <c:pt idx="6">
                  <c:v>214.4</c:v>
                </c:pt>
                <c:pt idx="7">
                  <c:v>190.5</c:v>
                </c:pt>
                <c:pt idx="8">
                  <c:v>172.7</c:v>
                </c:pt>
                <c:pt idx="9">
                  <c:v>140.5</c:v>
                </c:pt>
                <c:pt idx="10">
                  <c:v>148.3</c:v>
                </c:pt>
                <c:pt idx="11">
                  <c:v>158.9</c:v>
                </c:pt>
                <c:pt idx="12">
                  <c:v>138.6</c:v>
                </c:pt>
                <c:pt idx="13">
                  <c:v>145</c:v>
                </c:pt>
                <c:pt idx="14">
                  <c:v>177</c:v>
                </c:pt>
                <c:pt idx="15">
                  <c:v>180.1</c:v>
                </c:pt>
                <c:pt idx="16">
                  <c:v>120.2</c:v>
                </c:pt>
                <c:pt idx="17">
                  <c:v>208.7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C4964A">
              <a:alpha val="15000"/>
            </a:srgbClr>
          </a:solidFill>
          <a:ln w="12700">
            <a:solidFill>
              <a:srgbClr val="C4964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108960"/>
            <a:ext cx="2560320" cy="2560320"/>
          </a:xfrm>
          <a:prstGeom prst="ellipse">
            <a:avLst/>
          </a:prstGeom>
          <a:solidFill>
            <a:srgbClr val="C4964A">
              <a:alpha val="10000"/>
            </a:srgbClr>
          </a:solidFill>
          <a:ln w="12700">
            <a:solidFill>
              <a:srgbClr val="C4964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Production Forecasting</a:t>
            </a:r>
            <a:endParaRPr lang="en-US" sz="3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Rule-Based Machine Learning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0" cy="27432"/>
          </a:xfrm>
          <a:prstGeom prst="rect">
            <a:avLst/>
          </a:prstGeom>
          <a:solidFill>
            <a:srgbClr val="C4964A">
              <a:alpha val="60000"/>
            </a:srgbClr>
          </a:solidFill>
          <a:ln w="12700">
            <a:solidFill>
              <a:srgbClr val="C4964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40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Distributional Subgroup Discovery Approach for Portuguese Wine Regions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Filipe Queiróz Nogueira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MECD, FEUP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</a:t>
            </a:r>
            <a:pPr algn="l"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João Paulo Moreira (FEUP)  ·  Prof. Mário Campos Cunha (FCUP)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005840"/>
            <a:ext cx="54864" cy="1005840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0607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1499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Douro (RDD)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increase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194560"/>
            <a:ext cx="54864" cy="1005840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494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37960" y="2688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Verde (RVV)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383280"/>
            <a:ext cx="54864" cy="1005840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4381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yrs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37960" y="3877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1934–2022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interpretable rules — not black-box models — matter here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114800" cy="137160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13716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1673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ML (RF, LSTM) predicts wine yield well — but cannot explain it. Agronomists, cooperatives, and policy bodies need readable, auditable rules.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4114800" cy="233172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combines all five properties: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52928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68580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Research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Interpretable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Long-term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Predictive val.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Statistical 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Modern ML (RF/LSTM)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Subgroup discovery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This thesis (CarenR)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54880" y="1005840"/>
            <a:ext cx="3977640" cy="1691640"/>
          </a:xfrm>
          <a:prstGeom prst="rect">
            <a:avLst/>
          </a:prstGeom>
          <a:solidFill>
            <a:srgbClr val="F2EBE9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005840"/>
            <a:ext cx="54864" cy="1691640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rule looks like: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1335024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soil water at harvest ∈ [74–101 mm]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wet days post-flowering ≤ 3.3 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production is +192 mhl above trend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(support 21%, p = 0.010)"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834640"/>
            <a:ext cx="3977640" cy="192024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834640"/>
            <a:ext cx="54864" cy="1920240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19472" y="3163824"/>
            <a:ext cx="3657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agronomists without ML knowledge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carries explicit support &amp; p-value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challenged and domain-validated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actionable for harvest planning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work has applied interpretable distributional rule discovery to multi-decade regional wine production records (cf. Table 2.1).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Goals, Four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1920240"/>
          </a:xfrm>
          <a:prstGeom prst="rect">
            <a:avLst/>
          </a:prstGeom>
          <a:solidFill>
            <a:srgbClr val="E8F4ED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54864" cy="1920240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GOAL 1 — Rule 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interpretable agroclimatic rules explaining above / below-trend production years in each region.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rules (RDD) · 20 rules (RVV)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114800" cy="1920240"/>
          </a:xfrm>
          <a:prstGeom prst="rect">
            <a:avLst/>
          </a:prstGeom>
          <a:solidFill>
            <a:srgbClr val="F9ECEC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54864" cy="1920240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51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GOAL 2 — Predictive 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discovered rules beat a naive baseline in rigorous walk-forward (expanding window) validation.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ACHIEVED in aggregate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finding in Douro (exploratory)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8321040" cy="178308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127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climate variables most consistently distinguish above/below-trend years?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895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895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identified variables genuine within-era signals or era-membership artefacts?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three independent algorithms converge on the same features?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895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895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discovered rules improve out-of-sample forecasts in walk-forward validation?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scientifically interesting finding was not that prediction failed — it was why it failed.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Experimental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· same algorithms · two structurally contrasting regions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Douro (RDD)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Vinho Verde (RVV)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Period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1934–2022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1942–2021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89 years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80 years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Climate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Continental / semi-arid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Temperate Atlantic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Production trend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+80% increase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−65% decline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Walk-forward scenarios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1005840"/>
            <a:ext cx="3566160" cy="12618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005840"/>
            <a:ext cx="54864" cy="12618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agroclimatic features / region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49240" y="133502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Rainfall · Soil water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· Heat/frost days · Prior-year lags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vine phenological dates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395728"/>
            <a:ext cx="54864" cy="89611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437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9437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(KS test)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2395728"/>
            <a:ext cx="54864" cy="896112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309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8309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(FOIL gain)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54380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43800" y="2395728"/>
            <a:ext cx="54864" cy="896112"/>
          </a:xfrm>
          <a:prstGeom prst="rect">
            <a:avLst/>
          </a:prstGeom>
          <a:solidFill>
            <a:srgbClr val="5A4042"/>
          </a:solidFill>
          <a:ln w="12700">
            <a:solidFill>
              <a:srgbClr val="5A4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7181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M5Rules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7181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 min.)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3310128"/>
            <a:ext cx="8321040" cy="150876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" y="33649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expanding-window validation  —  all preprocessing inside each training fold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" y="3703320"/>
            <a:ext cx="731520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3749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344168" y="3703320"/>
            <a:ext cx="502920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44168" y="3749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436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828800" y="3703320"/>
            <a:ext cx="850392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828800" y="374904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697480" y="3703320"/>
            <a:ext cx="438912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37490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82880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Sc.4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063240" y="3703320"/>
            <a:ext cx="969264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63240" y="37490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050792" y="3703320"/>
            <a:ext cx="374904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50792" y="3749040"/>
            <a:ext cx="374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06324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Sc.8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297680" y="3703320"/>
            <a:ext cx="1088136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97680" y="374904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404104" y="3703320"/>
            <a:ext cx="310896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04104" y="37490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29768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532120" y="3703320"/>
            <a:ext cx="1207008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32120" y="37490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757416" y="3703320"/>
            <a:ext cx="246888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57416" y="374904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3212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Sc.16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3703320"/>
            <a:ext cx="1325880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0" y="3749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8110728" y="3703320"/>
            <a:ext cx="182880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6656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Sc.18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 baseline: predicts training median residual — minimises MAE among all constant predictors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Two-Decision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conceptual contribution of this thesis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200400" cy="2377440"/>
          </a:xfrm>
          <a:prstGeom prst="rect">
            <a:avLst/>
          </a:prstGeom>
          <a:solidFill>
            <a:srgbClr val="1C1216"/>
          </a:solidFill>
          <a:ln w="25400">
            <a:solidFill>
              <a:srgbClr val="2A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does the training trend extrapolate to test years?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 MAE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floor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Naive_Median = better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2212848"/>
            <a:ext cx="1691640" cy="0"/>
          </a:xfrm>
          <a:prstGeom prst="line">
            <a:avLst/>
          </a:prstGeom>
          <a:noFill/>
          <a:ln w="31750">
            <a:solidFill>
              <a:srgbClr val="C4964A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416052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245059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 =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D1 error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less signal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0" y="1024128"/>
            <a:ext cx="3200400" cy="2377440"/>
          </a:xfrm>
          <a:prstGeom prst="rect">
            <a:avLst/>
          </a:prstGeom>
          <a:solidFill>
            <a:srgbClr val="1C1216"/>
          </a:solidFill>
          <a:ln w="25400">
            <a:solidFill>
              <a:srgbClr val="C49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Signal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17556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rule-based model predict detrended residuals better than zero?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322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MAE − Naive_Median MAE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model wins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2999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structured residuals to exploit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1261872"/>
          </a:xfrm>
          <a:prstGeom prst="rect">
            <a:avLst/>
          </a:prstGeom>
          <a:solidFill>
            <a:srgbClr val="140E10"/>
          </a:solidFill>
          <a:ln w="19050">
            <a:solidFill>
              <a:srgbClr val="6B27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example: LOESS detrending in Vinho Verde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9534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 vs. linear:  </a:t>
            </a:r>
            <a:pPr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improves  </a:t>
            </a:r>
            <a:pPr indent="0" marL="0">
              <a:buNone/>
            </a:pPr>
            <a:r>
              <a:rPr lang="en-US" sz="1200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Naive_Median: 140 → 90 mhl  (−36%)</a:t>
            </a:r>
            <a:pPr indent="0" marL="0">
              <a:buNone/>
            </a:pPr>
            <a:r>
              <a:rPr lang="en-US" sz="12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BUT   </a:t>
            </a:r>
            <a:pPr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collapses  </a:t>
            </a:r>
            <a:pPr indent="0" marL="0">
              <a:buNone/>
            </a:pPr>
            <a:r>
              <a:rPr lang="en-US" sz="120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rules fire in all 16 scenarios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2428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trend removes the very signal that rule induction depends 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4300"/>
            <a:ext cx="822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2737"/>
                </a:solidFill>
                <a:latin typeface="Georgia"/>
              </a:rPr>
              <a:t>Rule Discovery Results (Goal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4042"/>
                </a:solidFill>
                <a:latin typeface="Calibri"/>
              </a:rPr>
              <a:t>CarenR — 48 rules for Douro · 20 rules for Vinho Verde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6600"/>
            <a:ext cx="8229600" cy="1270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0100"/>
            <a:ext cx="412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2737"/>
                </a:solidFill>
                <a:latin typeface="Georgia"/>
              </a:rPr>
              <a:t>Douro (RDD) — top 5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0900" y="800100"/>
            <a:ext cx="4025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F7F"/>
                </a:solidFill>
                <a:latin typeface="Georgia"/>
              </a:rPr>
              <a:t>Vinho Verde (RVV) — top 5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9500"/>
            <a:ext cx="41275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9500"/>
            <a:ext cx="38100" cy="5588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1104900"/>
            <a:ext cx="327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Wet days post-Flowering [0–3.3d]  AND  Wet days post-Maturity [0–3.5d]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0" y="1143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7F7F"/>
                </a:solidFill>
                <a:latin typeface="Calibri"/>
              </a:rPr>
              <a:t>+121 mhl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511300"/>
            <a:ext cx="4038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28% · p=0.004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76400"/>
            <a:ext cx="41275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676400"/>
            <a:ext cx="38100" cy="5588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1701800"/>
            <a:ext cx="327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Wet days post-Flowering [0–3.3d]  AND  Wet days post-Maturity [0–3.5d]  AND  Heat days post-Flowering [0–0.6d]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4600" y="17399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7F7F"/>
                </a:solidFill>
                <a:latin typeface="Calibri"/>
              </a:rPr>
              <a:t>+113 mhl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108200"/>
            <a:ext cx="4038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26% · p=0.009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73300"/>
            <a:ext cx="41275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73300"/>
            <a:ext cx="38100" cy="5588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2298700"/>
            <a:ext cx="327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Soil water pre-Harvest [74–101 mm]  AND  Wet days post-Harvest prev.yr [0–2.3d]  AND  Wet days post-Maturity [0–3.5d]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4600" y="23368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7F7F"/>
                </a:solidFill>
                <a:latin typeface="Calibri"/>
              </a:rPr>
              <a:t>+192 mhl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2705100"/>
            <a:ext cx="4038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21% · p=0.010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70200"/>
            <a:ext cx="41275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70200"/>
            <a:ext cx="38100" cy="5588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2895600"/>
            <a:ext cx="327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Wet days post-Flowering [0–3.3d]  AND  Heat days pre-Maturity [0–3.7d]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4600" y="29337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7F7F"/>
                </a:solidFill>
                <a:latin typeface="Calibri"/>
              </a:rPr>
              <a:t>+115 mhl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3302000"/>
            <a:ext cx="4038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25% · p=0.011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67100"/>
            <a:ext cx="41275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67100"/>
            <a:ext cx="38100" cy="558800"/>
          </a:xfrm>
          <a:prstGeom prst="rect">
            <a:avLst/>
          </a:prstGeom>
          <a:solidFill>
            <a:srgbClr val="8B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" y="3492500"/>
            <a:ext cx="3276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LAI at Flowering [0.74–0.88 m²/m²]  AND  Soil water post-Flowering [390–404 mm]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4600" y="35306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2F2F"/>
                </a:solidFill>
                <a:latin typeface="Calibri"/>
              </a:rPr>
              <a:t>−131 mhl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898900"/>
            <a:ext cx="4038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20% · p=0.008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0900" y="1079500"/>
            <a:ext cx="40259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0900" y="1079500"/>
            <a:ext cx="38100" cy="558800"/>
          </a:xfrm>
          <a:prstGeom prst="rect">
            <a:avLst/>
          </a:prstGeom>
          <a:solidFill>
            <a:srgbClr val="8B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7100" y="1104900"/>
            <a:ext cx="3162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Soil water pre-Harvest [61–97 mm]  AND  Heat days pre-Maturity [0–1.9d]  AND  Heat days post-Maturity [0–2.4d]  AND  Heat days post-Flowering [0–1.1d]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9400" y="1143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2F2F"/>
                </a:solidFill>
                <a:latin typeface="Calibri"/>
              </a:rPr>
              <a:t>−338 mhl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7100" y="1511300"/>
            <a:ext cx="3911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21% · p=0.020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0900" y="1676400"/>
            <a:ext cx="40259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60900" y="1676400"/>
            <a:ext cx="38100" cy="558800"/>
          </a:xfrm>
          <a:prstGeom prst="rect">
            <a:avLst/>
          </a:prstGeom>
          <a:solidFill>
            <a:srgbClr val="8B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7100" y="1701800"/>
            <a:ext cx="3162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Temp at Flowering [13.8–17.1°C]  AND  Temp post-Flowering [12.6–17.5°C]  AND  Wet-soil days post-Flowering prev.yr [17.5–20d]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9400" y="17399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2F2F"/>
                </a:solidFill>
                <a:latin typeface="Calibri"/>
              </a:rPr>
              <a:t>−268 mhl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7100" y="2108200"/>
            <a:ext cx="3911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21% · p=0.022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0900" y="2273300"/>
            <a:ext cx="40259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0900" y="2273300"/>
            <a:ext cx="38100" cy="558800"/>
          </a:xfrm>
          <a:prstGeom prst="rect">
            <a:avLst/>
          </a:prstGeom>
          <a:solidFill>
            <a:srgbClr val="8B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7100" y="2298700"/>
            <a:ext cx="3162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Soil water post-Flowering [143–234 mm]  AND  Heat days post-Maturity [0–2.4d]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9400" y="23368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2F2F"/>
                </a:solidFill>
                <a:latin typeface="Calibri"/>
              </a:rPr>
              <a:t>−365 mhl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7100" y="2705100"/>
            <a:ext cx="3911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28% · p=0.029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0900" y="2870200"/>
            <a:ext cx="40259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60900" y="2870200"/>
            <a:ext cx="38100" cy="5588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7100" y="2895600"/>
            <a:ext cx="3162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Temp post-Budburst prev.yr [11.2–13.5°C]  AND  Cold days at Flowering [0–3.4d]  AND  Heat days post-Flowering [0–1.1d]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0" y="29337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A7F7F"/>
                </a:solidFill>
                <a:latin typeface="Calibri"/>
              </a:rPr>
              <a:t>+311 mhl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7100" y="3302000"/>
            <a:ext cx="3911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25% · p=0.030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0900" y="3467100"/>
            <a:ext cx="4025900" cy="55880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0900" y="3467100"/>
            <a:ext cx="38100" cy="558800"/>
          </a:xfrm>
          <a:prstGeom prst="rect">
            <a:avLst/>
          </a:prstGeom>
          <a:solidFill>
            <a:srgbClr val="8B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7100" y="3492500"/>
            <a:ext cx="3162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C1214"/>
                </a:solidFill>
                <a:latin typeface="Calibri"/>
              </a:rPr>
              <a:t>Temp post-Flowering [12.6–17.5°C]  AND  Heat days post-Maturity [0–2.4d]  AND  Wet-soil days post-Flowering prev.yr [17.5–20d]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9400" y="35306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2F2F"/>
                </a:solidFill>
                <a:latin typeface="Calibri"/>
              </a:rPr>
              <a:t>−292 mhl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7100" y="3898900"/>
            <a:ext cx="39116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A8E8B"/>
                </a:solidFill>
                <a:latin typeface="Calibri"/>
              </a:rPr>
              <a:t>24% · p=0.030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8229600" cy="7874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15290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964A"/>
                </a:solidFill>
                <a:latin typeface="Calibri"/>
              </a:rPr>
              <a:t>LOESS Validation (era-artefact check)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356100"/>
            <a:ext cx="8229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F2EA"/>
                </a:solidFill>
                <a:latin typeface="Calibri"/>
              </a:rPr>
              <a:t>RDD top features retain 90–125% of correlation after aggressive era-trend removal → genuine within-era signal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6101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AA"/>
                </a:solidFill>
                <a:latin typeface="Calibri"/>
              </a:rPr>
              <a:t>RVV: LAI at harvest retains only 15% → era-driven artefact. Harvest soil water: 16% → era-driven. RVV rules unreliable for prediction.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902200"/>
            <a:ext cx="8229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8E8B"/>
                </a:solidFill>
                <a:latin typeface="Calibri"/>
              </a:rPr>
              <a:t>Rule 4 RVV (+311 mhl) is the only above-trend RVV rule and the largest absolute deviation in either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Cross-Algorithm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optimisation criteria — same feature families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18745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987552"/>
            <a:ext cx="201168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0584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(KS test)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987552"/>
            <a:ext cx="16459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0058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 (FOIL gain)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987552"/>
            <a:ext cx="16459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058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M5Rules (MSE min.)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987552"/>
            <a:ext cx="14173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100584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353312"/>
            <a:ext cx="18745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353312"/>
            <a:ext cx="54864" cy="8046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40817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soil water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(swa_hv_y1_b20)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1353312"/>
            <a:ext cx="201168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1408176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54% of RDD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25% of RVV 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1353312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1408176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 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353312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8464" y="1408176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−2.3/mm 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−8.1/mm RVV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1353312"/>
            <a:ext cx="14173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408176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universal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212848"/>
            <a:ext cx="1874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212848"/>
            <a:ext cx="54864" cy="804672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26771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family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(iaf_hv, iaf_fl)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221284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40864" y="226771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20 RVV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Minor RDD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212848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226771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Rules 1–2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2212848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8464" y="226771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−2064/unit RVV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9520" y="2212848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4384" y="226771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universal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3072384"/>
            <a:ext cx="18745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072384"/>
            <a:ext cx="54864" cy="8046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3127248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Prev-yr summer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(tm_sm_y0_a20)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072384"/>
            <a:ext cx="201168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40864" y="3127248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carry-over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3072384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3127248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 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072384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98464" y="3127248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+17.2/°C RVV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89520" y="3072384"/>
            <a:ext cx="14173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44384" y="3127248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RVV focus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3931920"/>
            <a:ext cx="1874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3931920"/>
            <a:ext cx="54864" cy="804672"/>
          </a:xfrm>
          <a:prstGeom prst="rect">
            <a:avLst/>
          </a:prstGeom>
          <a:solidFill>
            <a:srgbClr val="5A4042"/>
          </a:solidFill>
          <a:ln w="12700">
            <a:solidFill>
              <a:srgbClr val="5A40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" y="3986784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days post-flowering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(days.rf_fl)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3931920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40864" y="3986784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21% of RDD rules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97680" y="3931920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3986784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selected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43600" y="3931920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98464" y="3986784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selected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9520" y="393192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44384" y="3986784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CarenR-specific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11480" y="4773168"/>
            <a:ext cx="8321040" cy="310896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94360" y="48188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across 3 independent algorithms = strongest available evidence that these features reflect genuine data structure, not algorithmic noise.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Validation Results (Goal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· 17 models · 18 RDD scenarios · 16 RVV scenarios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Douro (RDD) — Weighted MAE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261872"/>
          <a:ext cx="416052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9692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Vinho Verde (RVV) — Weighted MAE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663440" y="1261872"/>
          <a:ext cx="406908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4709160"/>
            <a:ext cx="8321040" cy="38404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47457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RDD: </a:t>
            </a:r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CarenR 189 vs Naive 184 mhl  (+3%)  Wilcoxon p = 0.468  (not significant)       </a:t>
            </a:r>
            <a:pPr indent="0" marL="0">
              <a:buNone/>
            </a:pPr>
            <a:r>
              <a:rPr lang="en-US" sz="10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RVV: </a:t>
            </a:r>
            <a:pPr indent="0" marL="0">
              <a:buNone/>
            </a:pPr>
            <a:r>
              <a:rPr lang="en-US" sz="100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CarenR 172 vs Naive 140 mhl  (+22%)  Rules actively harm prediction  p = 0.004 ✗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Prediction Failed: Era Composition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informative finding — and a path forward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Douro (RDD) — Per-scenario MAE: CarenR_Eta2 vs Naive_Median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261872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969264"/>
            <a:ext cx="2834640" cy="713232"/>
          </a:xfrm>
          <a:prstGeom prst="rect">
            <a:avLst/>
          </a:prstGeom>
          <a:solidFill>
            <a:srgbClr val="F7E0E0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969264"/>
            <a:ext cx="54864" cy="713232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62472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1–9: ERA-CONFOUNDED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62472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Post-1990 share &lt; 29%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loses in 7/9 scenarios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97880" y="1792224"/>
            <a:ext cx="2834640" cy="804672"/>
          </a:xfrm>
          <a:prstGeom prst="rect">
            <a:avLst/>
          </a:prstGeom>
          <a:solidFill>
            <a:srgbClr val="E3F2E8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1792224"/>
            <a:ext cx="54864" cy="804672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62472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10-14: ERA-BALANCED [*]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62472" y="2103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Post-1990 share ≈ 29%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wins ALL 5 scenarios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17–32 mhl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p = 0.031 (exploratory)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97880" y="2706624"/>
            <a:ext cx="2834640" cy="640080"/>
          </a:xfrm>
          <a:prstGeom prst="rect">
            <a:avLst/>
          </a:prstGeom>
          <a:solidFill>
            <a:srgbClr val="F2EFEE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706624"/>
            <a:ext cx="54864" cy="640080"/>
          </a:xfrm>
          <a:prstGeom prst="rect">
            <a:avLst/>
          </a:prstGeom>
          <a:solidFill>
            <a:srgbClr val="9A8E8B"/>
          </a:solidFill>
          <a:ln w="12700">
            <a:solidFill>
              <a:srgbClr val="9A8E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2472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15–18: SMALL TEST SETS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62472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test years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unreliable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97880" y="3456432"/>
            <a:ext cx="2834640" cy="841248"/>
          </a:xfrm>
          <a:prstGeom prst="rect">
            <a:avLst/>
          </a:prstGeom>
          <a:solidFill>
            <a:srgbClr val="F9ECEC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97880" y="3456432"/>
            <a:ext cx="54864" cy="841248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62472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Verde: 0/16 wins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62472" y="374904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modern-era data makes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worse, not better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p=0.031 is a post-hoc exploratory finding — 5 scenarios identified after observing the pattern. Requires prospective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Two Regions Diverge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 comparative experiment, not an inconvenient inconsistency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87552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10312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Douro (RDD)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Vinho Verde (RVV)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Production trend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+80%  (gradual)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−65%  (structural break)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confound is stronger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Era confound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Severe (EU policy 1986)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Rules more era-contaminated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Climate signal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after LOESS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Retained (90–125%)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Collapsed (15–16%)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signal is era-driven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Linear detrend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stationarity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Fully stationary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Partial only (ADF fails)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residuals still contain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structural drift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CarenR 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7A50"/>
                          </a:solidFill>
                        </a:rPr>
                        <a:t>3% gap  ·  5/18 wins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7A50"/>
                          </a:solidFill>
                        </a:rPr>
                        <a:t>(era-balanced window)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74A4A"/>
                          </a:solidFill>
                        </a:rPr>
                        <a:t>22% gap  ·  0/16 wins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74A4A"/>
                          </a:solidFill>
                        </a:rPr>
                        <a:t>Rules harmful (p=0.004)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Structural noise eliminates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climate advantage in RVV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718304"/>
            <a:ext cx="8321040" cy="347472"/>
          </a:xfrm>
          <a:prstGeom prst="rect">
            <a:avLst/>
          </a:prstGeom>
          <a:solidFill>
            <a:srgbClr val="F2EBE9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4718304"/>
            <a:ext cx="54864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64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algorithm produces qualitatively different outcomes depending entirely on the structural history of the production series.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Contributions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contributions to data science methodology and agroclimatic forecasting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060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Two-Decision Decomposition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prediction error into trend quality (Decision 1) and climate signal extraction (Decision 2). Transferable diagnostic for any agroclimatic problem with structural non-stationarity.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4028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877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1832" y="2295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Systematic Walk-Forward 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62432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models · 18/16 scenarios · all preprocessing inside each fold · confirmatory vs. exploratory findings explicitly classified.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7472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7472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221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11-Variant Sensitivity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85876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feature selection is problem-specific: η² (ANOVA effect size) for Douro; conservative Sup_FS for Vinho Verde. Motivates structured evaluation rather than a priori configuration.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1005840"/>
            <a:ext cx="3904488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00584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533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58384" y="106070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Era-Composition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58384" y="138988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Characterises not just whether rule-based prediction works, but under what data conditions — 29% modern-era threshold in RDD (post-hoc exploratory, p=0.031).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240280"/>
            <a:ext cx="3904488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24028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5877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58384" y="22951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Cross-Algorithm 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58384" y="262432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 and M5Rules independently confirm CarenR's feature selections. Three-algorithm agreement provides strong evidence of genuine data structure.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Future Work &amp; Closing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68096"/>
            <a:ext cx="4160520" cy="1920240"/>
          </a:xfrm>
          <a:prstGeom prst="rect">
            <a:avLst/>
          </a:prstGeom>
          <a:solidFill>
            <a:srgbClr val="1C1216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3931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Detrending uses time as sole covariate — conflates climate with structural industry changes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 (18/16 scenarios); post-hoc finding (n=5) underpowered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annual aggregates — no sub-regional or spatial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68096"/>
            <a:ext cx="4069080" cy="1920240"/>
          </a:xfrm>
          <a:prstGeom prst="rect">
            <a:avLst/>
          </a:prstGeom>
          <a:solidFill>
            <a:srgbClr val="1C1216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133856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detrending: add planted area, Port quota, no. of certified producers as explicit detrending covariates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 &amp; prospectively validate the 29% era-balanced threshold (RDD)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Model Mining (EMM): detect subgroups where the climate–production regression relationship is exceptional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34640"/>
            <a:ext cx="8321040" cy="1481328"/>
          </a:xfrm>
          <a:prstGeom prst="rect">
            <a:avLst/>
          </a:prstGeom>
          <a:solidFill>
            <a:srgbClr val="6B2737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machine learning cannot yet forecast Portuguese wine production reliably.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can explain it 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validated, auditable, agronomically meaningful rules that three independent algorithms agree 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forecasting fails has proven as scientifically valuable as forecasting itself would have been.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439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Nogueira  ·  MECD, FEUP  ·  June 2026  ·  Supervisors: Prof. J.P. Moreira &amp; Prof. M.C. Cunha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4300"/>
            <a:ext cx="822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2737"/>
                </a:solidFill>
                <a:latin typeface="Georgia"/>
              </a:rPr>
              <a:t>The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8229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4042"/>
                </a:solidFill>
                <a:latin typeface="Calibri"/>
              </a:rPr>
              <a:t>From industry challenge to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6600"/>
            <a:ext cx="8229600" cy="1270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12800"/>
            <a:ext cx="41275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2737"/>
                </a:solidFill>
                <a:latin typeface="Georgia"/>
              </a:rPr>
              <a:t>The Agro-Economic 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4100"/>
            <a:ext cx="1333500" cy="6985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66800"/>
            <a:ext cx="1333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964A"/>
                </a:solidFill>
                <a:latin typeface="Georgia"/>
              </a:rPr>
              <a:t>~6M hl/yr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33500"/>
            <a:ext cx="13335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8F2EA"/>
                </a:solidFill>
                <a:latin typeface="Calibri"/>
              </a:rPr>
              <a:t>Portuguese wine
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054100"/>
            <a:ext cx="1333500" cy="6985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1500" y="1066800"/>
            <a:ext cx="1333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964A"/>
                </a:solidFill>
                <a:latin typeface="Georgia"/>
              </a:rPr>
              <a:t>89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500" y="1333500"/>
            <a:ext cx="13335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8F2EA"/>
                </a:solidFill>
                <a:latin typeface="Calibri"/>
              </a:rPr>
              <a:t>Historical records
Douro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5800" y="1054100"/>
            <a:ext cx="1333500" cy="6985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5800" y="1066800"/>
            <a:ext cx="1333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964A"/>
                </a:solidFill>
                <a:latin typeface="Georgia"/>
              </a:rPr>
              <a:t>±30%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5800" y="1333500"/>
            <a:ext cx="13335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8F2EA"/>
                </a:solidFill>
                <a:latin typeface="Calibri"/>
              </a:rPr>
              <a:t>Year-on-year
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41500"/>
            <a:ext cx="4127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F7F"/>
                </a:solidFill>
                <a:latin typeface="Calibri"/>
              </a:rPr>
              <a:t>Who needs production forecasts?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70100"/>
            <a:ext cx="38100" cy="431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100" y="20828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Wine cooperatives &amp; bottlers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" y="22733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8E8B"/>
                </a:solidFill>
                <a:latin typeface="Calibri"/>
              </a:rPr>
              <a:t>Harvest logistics, pricing, storage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3500"/>
            <a:ext cx="38100" cy="431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100" y="26162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IVDP / CVRVV regulatory bodies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" y="28067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8E8B"/>
                </a:solidFill>
                <a:latin typeface="Calibri"/>
              </a:rPr>
              <a:t>EU quota compliance, certification volumes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36900"/>
            <a:ext cx="38100" cy="431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100" y="31496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Insurance &amp; financial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100" y="33401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8E8B"/>
                </a:solidFill>
                <a:latin typeface="Calibri"/>
              </a:rPr>
              <a:t>Crop risk modelling, yield derivatives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70300"/>
            <a:ext cx="38100" cy="431800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100" y="36830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EU CAP policy bodies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3873500"/>
            <a:ext cx="4000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8E8B"/>
                </a:solidFill>
                <a:latin typeface="Calibri"/>
              </a:rPr>
              <a:t>Annual support payments, market interventions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0900" y="812800"/>
            <a:ext cx="4025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2737"/>
                </a:solidFill>
                <a:latin typeface="Georgia"/>
              </a:rPr>
              <a:t>The Interpretability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0900" y="1054100"/>
            <a:ext cx="4025900" cy="812800"/>
          </a:xfrm>
          <a:prstGeom prst="rect">
            <a:avLst/>
          </a:prstGeom>
          <a:solidFill>
            <a:srgbClr val="E8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0900" y="1054100"/>
            <a:ext cx="38100" cy="8128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2500" y="1104900"/>
            <a:ext cx="3873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Statistical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0" y="1308100"/>
            <a:ext cx="1879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7F7F"/>
                </a:solidFill>
                <a:latin typeface="Calibri"/>
              </a:rPr>
              <a:t>✓ Interpretable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2100" y="1308100"/>
            <a:ext cx="2006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2F2F"/>
                </a:solidFill>
                <a:latin typeface="Calibri"/>
              </a:rPr>
              <a:t>✗ Cannot model non-linear
climate interactions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0900" y="1968500"/>
            <a:ext cx="4025900" cy="812800"/>
          </a:xfrm>
          <a:prstGeom prst="rect">
            <a:avLst/>
          </a:prstGeom>
          <a:solidFill>
            <a:srgbClr val="E8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0900" y="1968500"/>
            <a:ext cx="38100" cy="8128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2500" y="2019300"/>
            <a:ext cx="3873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Modern ML  (RF / LSTM)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0" y="2222500"/>
            <a:ext cx="1879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7F7F"/>
                </a:solidFill>
                <a:latin typeface="Calibri"/>
              </a:rPr>
              <a:t>✓ Accurate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2100" y="2222500"/>
            <a:ext cx="2006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2F2F"/>
                </a:solidFill>
                <a:latin typeface="Calibri"/>
              </a:rPr>
              <a:t>✗ Black-box — cannot be
challenged by domain experts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0900" y="2882900"/>
            <a:ext cx="4025900" cy="812800"/>
          </a:xfrm>
          <a:prstGeom prst="rect">
            <a:avLst/>
          </a:prstGeom>
          <a:solidFill>
            <a:srgbClr val="E8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0900" y="2882900"/>
            <a:ext cx="38100" cy="8128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2500" y="2933700"/>
            <a:ext cx="3873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214"/>
                </a:solidFill>
                <a:latin typeface="Calibri"/>
              </a:rPr>
              <a:t>Expert agronomist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0" y="3136900"/>
            <a:ext cx="1879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7F7F"/>
                </a:solidFill>
                <a:latin typeface="Calibri"/>
              </a:rPr>
              <a:t>✓ Readable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42100" y="3136900"/>
            <a:ext cx="2006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2F2F"/>
                </a:solidFill>
                <a:latin typeface="Calibri"/>
              </a:rPr>
              <a:t>✗ Not statistically validated;
poor out-of-sample performance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73500"/>
            <a:ext cx="8229600" cy="7874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9243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964A"/>
                </a:solidFill>
                <a:latin typeface="Calibri"/>
              </a:rPr>
              <a:t>What the field needs: rules that are  statistically grounded  ·  readable by agronomists  ·  validated on decades of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1783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8F2EA"/>
                </a:solidFill>
                <a:latin typeface="Calibri"/>
              </a:rPr>
              <a:t>→  CarenR's distributional (KS-test) rule induction is the first method to satisfy all three requirements simultaneously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432300"/>
            <a:ext cx="8229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DDAA"/>
                </a:solidFill>
                <a:latin typeface="Calibri"/>
              </a:rPr>
              <a:t>→  Applied here to 89 years of Douro and 80 years of Vinho Verde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Production Forecasting Using Rule-Based Machine Learning</dc:title>
  <dc:subject>PptxGenJS Presentation</dc:subject>
  <dc:creator>Hugo Filipe Queiróz Nogueira</dc:creator>
  <cp:lastModifiedBy>Hugo Filipe Queiróz Nogueira</cp:lastModifiedBy>
  <cp:revision>1</cp:revision>
  <dcterms:created xsi:type="dcterms:W3CDTF">2026-06-15T13:28:15Z</dcterms:created>
  <dcterms:modified xsi:type="dcterms:W3CDTF">2026-06-15T13:28:15Z</dcterms:modified>
</cp:coreProperties>
</file>