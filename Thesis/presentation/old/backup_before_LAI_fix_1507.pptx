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0286"/>
  </p:normalViewPr>
  <p:slideViewPr>
    <p:cSldViewPr snapToGrid="0">
      <p:cViewPr>
        <p:scale>
          <a:sx n="92" d="100"/>
          <a:sy n="92" d="100"/>
        </p:scale>
        <p:origin x="1112"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57174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What can climate explain — and what can it reliably predict?</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sp>
        <p:nvSpPr>
          <p:cNvPr id="7" name="Rectangle 6">
            <a:extLst>
              <a:ext uri="{FF2B5EF4-FFF2-40B4-BE49-F238E27FC236}">
                <a16:creationId xmlns:a16="http://schemas.microsoft.com/office/drawing/2014/main"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The business question is a decision question</a:t>
            </a:r>
          </a:p>
        </p:txBody>
      </p:sp>
      <p:sp>
        <p:nvSpPr>
          <p:cNvPr id="3" name="Rectangle 2">
            <a:extLst>
              <a:ext uri="{FF2B5EF4-FFF2-40B4-BE49-F238E27FC236}">
                <a16:creationId xmlns:a16="http://schemas.microsoft.com/office/drawing/2014/main"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2299707"/>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rPr dirty="0">
                <a:solidFill>
                  <a:schemeClr val="accent2"/>
                </a:solidFill>
              </a:rP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535991"/>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rPr dirty="0"/>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310187"/>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285981"/>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600" b="1" dirty="0">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2095731"/>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2095731"/>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2314806"/>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lang="en-GB" sz="1500" b="1" dirty="0">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749946"/>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dirty="0">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2095731"/>
            <a:ext cx="5667375" cy="1619250"/>
          </a:xfrm>
          <a:prstGeom prst="rect">
            <a:avLst/>
          </a:prstGeom>
          <a:solidFill>
            <a:schemeClr val="bg1">
              <a:lumMod val="95000"/>
            </a:schemeClr>
          </a:solidFill>
          <a:ln w="0">
            <a:noFill/>
            <a:prstDash val="solid"/>
          </a:ln>
        </p:spPr>
        <p:txBody>
          <a:bodyPr/>
          <a:lstStyle/>
          <a:p>
            <a:endParaRPr/>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2095731"/>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2314806"/>
            <a:ext cx="3664618" cy="238125"/>
          </a:xfrm>
          <a:prstGeom prst="rect">
            <a:avLst/>
          </a:prstGeom>
          <a:noFill/>
          <a:ln w="0">
            <a:noFill/>
            <a:prstDash val="solid"/>
          </a:ln>
        </p:spPr>
        <p:txBody>
          <a:bodyPr/>
          <a:lstStyle/>
          <a:p>
            <a:pPr>
              <a:buNone/>
              <a:defRPr sz="1500" b="1">
                <a:solidFill>
                  <a:srgbClr val="9A6A16"/>
                </a:solidFill>
                <a:latin typeface="Arial"/>
                <a:ea typeface="Arial"/>
                <a:cs typeface="Arial"/>
              </a:defRPr>
            </a:pPr>
            <a:r>
              <a:rPr lang="en-GB" sz="1500" b="1" dirty="0">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714856"/>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b="1" i="1" dirty="0">
                <a:solidFill>
                  <a:srgbClr val="111111"/>
                </a:solidFill>
                <a:latin typeface="Arial"/>
                <a:ea typeface="Arial"/>
                <a:cs typeface="Arial"/>
              </a:rPr>
              <a:t>IF</a:t>
            </a:r>
            <a:r>
              <a:rPr sz="1425" i="1" dirty="0">
                <a:solidFill>
                  <a:srgbClr val="111111"/>
                </a:solidFill>
                <a:latin typeface="Arial"/>
                <a:ea typeface="Arial"/>
                <a:cs typeface="Arial"/>
              </a:rPr>
              <a:t> harvest soil water is moderate</a:t>
            </a:r>
          </a:p>
          <a:p>
            <a:pPr>
              <a:buNone/>
              <a:defRPr sz="1425" i="1">
                <a:solidFill>
                  <a:srgbClr val="111111"/>
                </a:solidFill>
                <a:latin typeface="Arial"/>
                <a:ea typeface="Arial"/>
                <a:cs typeface="Arial"/>
              </a:defRPr>
            </a:pPr>
            <a:r>
              <a:rPr sz="1425" b="1" i="1" dirty="0">
                <a:solidFill>
                  <a:srgbClr val="111111"/>
                </a:solidFill>
                <a:latin typeface="Arial"/>
                <a:ea typeface="Arial"/>
                <a:cs typeface="Arial"/>
              </a:rPr>
              <a:t>AND</a:t>
            </a:r>
            <a:r>
              <a:rPr sz="1425" i="1" dirty="0">
                <a:solidFill>
                  <a:srgbClr val="111111"/>
                </a:solidFill>
                <a:latin typeface="Arial"/>
                <a:ea typeface="Arial"/>
                <a:cs typeface="Arial"/>
              </a:rPr>
              <a:t> post-maturity wet days are low</a:t>
            </a:r>
          </a:p>
          <a:p>
            <a:pPr>
              <a:buNone/>
              <a:defRPr sz="1425" i="1">
                <a:solidFill>
                  <a:srgbClr val="111111"/>
                </a:solidFill>
                <a:latin typeface="Arial"/>
                <a:ea typeface="Arial"/>
                <a:cs typeface="Arial"/>
              </a:defRPr>
            </a:pPr>
            <a:r>
              <a:rPr sz="1425" b="1" i="1" dirty="0">
                <a:solidFill>
                  <a:srgbClr val="111111"/>
                </a:solidFill>
                <a:latin typeface="Arial"/>
                <a:ea typeface="Arial"/>
                <a:cs typeface="Arial"/>
              </a:rPr>
              <a:t>THEN</a:t>
            </a:r>
            <a:r>
              <a:rPr sz="1425" i="1" dirty="0">
                <a:solidFill>
                  <a:srgbClr val="111111"/>
                </a:solidFill>
                <a:latin typeface="Arial"/>
                <a:ea typeface="Arial"/>
                <a:cs typeface="Arial"/>
              </a:rPr>
              <a:t> production is +192 </a:t>
            </a:r>
            <a:r>
              <a:rPr sz="1425" i="1" dirty="0" err="1">
                <a:solidFill>
                  <a:srgbClr val="111111"/>
                </a:solidFill>
                <a:latin typeface="Arial"/>
                <a:ea typeface="Arial"/>
                <a:cs typeface="Arial"/>
              </a:rPr>
              <a:t>mhl</a:t>
            </a:r>
            <a:endParaRPr sz="1425" i="1" dirty="0">
              <a:solidFill>
                <a:srgbClr val="111111"/>
              </a:solidFill>
              <a:latin typeface="Arial"/>
              <a:ea typeface="Arial"/>
              <a:cs typeface="Arial"/>
            </a:endParaRP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4095981"/>
            <a:ext cx="5286375" cy="2000250"/>
          </a:xfrm>
          <a:prstGeom prst="rect">
            <a:avLst/>
          </a:prstGeom>
          <a:solidFill>
            <a:schemeClr val="bg1">
              <a:lumMod val="95000"/>
            </a:schemeClr>
          </a:solidFill>
          <a:ln w="0">
            <a:noFill/>
            <a:prstDash val="solid"/>
          </a:ln>
        </p:spPr>
        <p:txBody>
          <a:bodyPr/>
          <a:lstStyle/>
          <a:p>
            <a:endParaRPr/>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4095981"/>
            <a:ext cx="76200" cy="2000250"/>
          </a:xfrm>
          <a:prstGeom prst="rect">
            <a:avLst/>
          </a:prstGeom>
          <a:solidFill>
            <a:schemeClr val="accent2"/>
          </a:solidFill>
          <a:ln w="0">
            <a:noFill/>
            <a:prstDash val="solid"/>
          </a:ln>
        </p:spPr>
        <p:txBody>
          <a:bodyPr/>
          <a:lstStyle/>
          <a:p>
            <a:endParaRPr/>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4315056"/>
            <a:ext cx="50673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lang="en-GB" sz="1500" b="1" dirty="0">
                <a:solidFill>
                  <a:schemeClr val="accent2"/>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696056"/>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696056"/>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5010381"/>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5010381"/>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5324706"/>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5324706"/>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639031"/>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dirty="0">
                <a:solidFill>
                  <a:schemeClr val="accent2"/>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dirty="0">
                <a:solidFill>
                  <a:schemeClr val="accent2"/>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dirty="0">
                <a:solidFill>
                  <a:schemeClr val="accent2"/>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639031"/>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dirty="0">
                <a:solidFill>
                  <a:schemeClr val="accent2"/>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4095981"/>
            <a:ext cx="5667375" cy="2000250"/>
          </a:xfrm>
          <a:prstGeom prst="rect">
            <a:avLst/>
          </a:prstGeom>
          <a:solidFill>
            <a:schemeClr val="bg1">
              <a:lumMod val="95000"/>
            </a:schemeClr>
          </a:solidFill>
          <a:ln w="0">
            <a:noFill/>
            <a:prstDash val="solid"/>
          </a:ln>
        </p:spPr>
        <p:txBody>
          <a:bodyPr/>
          <a:lstStyle/>
          <a:p>
            <a:endParaRPr/>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4095981"/>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49" y="4315056"/>
            <a:ext cx="4097755" cy="304800"/>
          </a:xfrm>
          <a:prstGeom prst="rect">
            <a:avLst/>
          </a:prstGeom>
          <a:noFill/>
          <a:ln w="0">
            <a:noFill/>
            <a:prstDash val="solid"/>
          </a:ln>
        </p:spPr>
        <p:txBody>
          <a:bodyPr/>
          <a:lstStyle/>
          <a:p>
            <a:pPr>
              <a:buNone/>
              <a:defRPr sz="1500" b="1">
                <a:solidFill>
                  <a:srgbClr val="268A8A"/>
                </a:solidFill>
                <a:latin typeface="Arial"/>
                <a:ea typeface="Arial"/>
                <a:cs typeface="Arial"/>
              </a:defRPr>
            </a:pPr>
            <a:r>
              <a:rPr lang="en-GB" sz="1500" b="1" dirty="0">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857981"/>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b="1" dirty="0">
                <a:solidFill>
                  <a:srgbClr val="111111"/>
                </a:solidFill>
                <a:latin typeface="Arial"/>
                <a:ea typeface="Arial"/>
                <a:cs typeface="Arial"/>
              </a:rPr>
              <a:t>Readable</a:t>
            </a:r>
            <a:r>
              <a:rPr sz="1425" dirty="0">
                <a:solidFill>
                  <a:srgbClr val="111111"/>
                </a:solidFill>
                <a:latin typeface="Arial"/>
                <a:ea typeface="Arial"/>
                <a:cs typeface="Arial"/>
              </a:rPr>
              <a:t> by agronomists </a:t>
            </a:r>
            <a:r>
              <a:rPr sz="1425" b="1" dirty="0">
                <a:solidFill>
                  <a:srgbClr val="111111"/>
                </a:solidFill>
                <a:latin typeface="Arial"/>
                <a:ea typeface="Arial"/>
                <a:cs typeface="Arial"/>
              </a:rPr>
              <a:t>without ML expertise</a:t>
            </a:r>
          </a:p>
          <a:p>
            <a:pPr>
              <a:buNone/>
              <a:defRPr sz="1425">
                <a:solidFill>
                  <a:srgbClr val="111111"/>
                </a:solidFill>
                <a:latin typeface="Arial"/>
                <a:ea typeface="Arial"/>
                <a:cs typeface="Arial"/>
              </a:defRPr>
            </a:pPr>
            <a:r>
              <a:rPr sz="1425" dirty="0">
                <a:solidFill>
                  <a:srgbClr val="111111"/>
                </a:solidFill>
                <a:latin typeface="Arial"/>
                <a:ea typeface="Arial"/>
                <a:cs typeface="Arial"/>
              </a:rPr>
              <a:t>Each rule carries </a:t>
            </a:r>
            <a:r>
              <a:rPr sz="1425" b="1" dirty="0">
                <a:solidFill>
                  <a:srgbClr val="111111"/>
                </a:solidFill>
                <a:latin typeface="Arial"/>
                <a:ea typeface="Arial"/>
                <a:cs typeface="Arial"/>
              </a:rPr>
              <a:t>support</a:t>
            </a:r>
            <a:r>
              <a:rPr sz="1425" dirty="0">
                <a:solidFill>
                  <a:srgbClr val="111111"/>
                </a:solidFill>
                <a:latin typeface="Arial"/>
                <a:ea typeface="Arial"/>
                <a:cs typeface="Arial"/>
              </a:rPr>
              <a:t> and a p-value</a:t>
            </a:r>
          </a:p>
          <a:p>
            <a:pPr>
              <a:buNone/>
              <a:defRPr sz="1425">
                <a:solidFill>
                  <a:srgbClr val="111111"/>
                </a:solidFill>
                <a:latin typeface="Arial"/>
                <a:ea typeface="Arial"/>
                <a:cs typeface="Arial"/>
              </a:defRPr>
            </a:pPr>
            <a:r>
              <a:rPr sz="1425" b="1" dirty="0">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dirty="0">
                <a:solidFill>
                  <a:srgbClr val="111111"/>
                </a:solidFill>
                <a:latin typeface="Arial"/>
                <a:ea typeface="Arial"/>
                <a:cs typeface="Arial"/>
              </a:rPr>
              <a:t>Useful for </a:t>
            </a:r>
            <a:r>
              <a:rPr sz="1425" b="1" dirty="0">
                <a:solidFill>
                  <a:srgbClr val="111111"/>
                </a:solidFill>
                <a:latin typeface="Arial"/>
                <a:ea typeface="Arial"/>
                <a:cs typeface="Arial"/>
              </a:rPr>
              <a:t>diagnosis</a:t>
            </a:r>
            <a:r>
              <a:rPr sz="1425" dirty="0">
                <a:solidFill>
                  <a:srgbClr val="111111"/>
                </a:solidFill>
                <a:latin typeface="Arial"/>
                <a:ea typeface="Arial"/>
                <a:cs typeface="Arial"/>
              </a:rPr>
              <a:t>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a16:creationId xmlns:a16="http://schemas.microsoft.com/office/drawing/2014/main"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rPr dirty="0"/>
              <a:t>Why this is hard: the climate signal is real, but diluted</a:t>
            </a:r>
          </a:p>
        </p:txBody>
      </p:sp>
      <p:sp>
        <p:nvSpPr>
          <p:cNvPr id="3" name="Rectangle 2">
            <a:extLst>
              <a:ext uri="{FF2B5EF4-FFF2-40B4-BE49-F238E27FC236}">
                <a16:creationId xmlns:a16="http://schemas.microsoft.com/office/drawing/2014/main"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590550" y="1362075"/>
            <a:ext cx="11020425"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rPr dirty="0"/>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tx1">
                    <a:lumMod val="95000"/>
                    <a:lumOff val="5000"/>
                  </a:schemeClr>
                </a:solidFill>
              </a:rP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tx1">
                    <a:lumMod val="95000"/>
                    <a:lumOff val="5000"/>
                  </a:schemeClr>
                </a:solidFill>
              </a:rP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
        <p:nvSpPr>
          <p:cNvPr id="23" name="gap-stripe">
            <a:extLst>
              <a:ext uri="{FF2B5EF4-FFF2-40B4-BE49-F238E27FC236}">
                <a16:creationId xmlns:a16="http://schemas.microsoft.com/office/drawing/2014/main" id="{D158EE82-3ED1-B7BC-4249-06FE7256E9EC}"/>
              </a:ext>
            </a:extLst>
          </p:cNvPr>
          <p:cNvSpPr>
            <a:spLocks noGrp="1"/>
          </p:cNvSpPr>
          <p:nvPr/>
        </p:nvSpPr>
        <p:spPr>
          <a:xfrm>
            <a:off x="444169" y="1301712"/>
            <a:ext cx="76200" cy="755392"/>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The same pipeline meets two different histories</a:t>
            </a:r>
          </a:p>
        </p:txBody>
      </p:sp>
      <p:sp>
        <p:nvSpPr>
          <p:cNvPr id="3" name="Rectangle 2">
            <a:extLst>
              <a:ext uri="{FF2B5EF4-FFF2-40B4-BE49-F238E27FC236}">
                <a16:creationId xmlns:a16="http://schemas.microsoft.com/office/drawing/2014/main"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207545" y="465574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267450" y="465574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417095" y="486529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417095" y="519866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477000" y="486529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dirty="0"/>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477000" y="519866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
        <p:nvSpPr>
          <p:cNvPr id="14" name="slide5-cover-old-left-figure">
            <a:extLst>
              <a:ext uri="{FF2B5EF4-FFF2-40B4-BE49-F238E27FC236}">
                <a16:creationId xmlns:a16="http://schemas.microsoft.com/office/drawing/2014/main"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a16:creationId xmlns:a16="http://schemas.microsoft.com/office/drawing/2014/main"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a16:creationId xmlns:a16="http://schemas.microsoft.com/office/drawing/2014/main"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a16:creationId xmlns:a16="http://schemas.microsoft.com/office/drawing/2014/main"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111328" y="1702197"/>
            <a:ext cx="6025477" cy="2510616"/>
          </a:xfrm>
          <a:prstGeom prst="rect">
            <a:avLst/>
          </a:prstGeom>
        </p:spPr>
      </p:pic>
      <p:pic>
        <p:nvPicPr>
          <p:cNvPr id="40" name="Picture 39"/>
          <p:cNvPicPr>
            <a:picLocks noChangeAspect="1"/>
          </p:cNvPicPr>
          <p:nvPr/>
        </p:nvPicPr>
        <p:blipFill>
          <a:blip r:embed="rId5"/>
          <a:stretch/>
        </p:blipFill>
        <p:spPr>
          <a:xfrm>
            <a:off x="6028860" y="1702197"/>
            <a:ext cx="6025477" cy="2510616"/>
          </a:xfrm>
          <a:prstGeom prst="rect">
            <a:avLst/>
          </a:prstGeom>
        </p:spPr>
      </p:pic>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3" name="Rectangle 2">
            <a:extLst>
              <a:ext uri="{FF2B5EF4-FFF2-40B4-BE49-F238E27FC236}">
                <a16:creationId xmlns:a16="http://schemas.microsoft.com/office/drawing/2014/main"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836824"/>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836824"/>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740449" y="4464718"/>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740449" y="5455821"/>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405814" y="4464718"/>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rPr dirty="0"/>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1333500"/>
            <a:ext cx="904875" cy="5238749"/>
          </a:xfrm>
          <a:prstGeom prst="rect">
            <a:avLst/>
          </a:prstGeom>
          <a:solidFill>
            <a:srgbClr val="F0F1F2"/>
          </a:solidFill>
          <a:ln w="0">
            <a:noFill/>
            <a:prstDash val="solid"/>
          </a:ln>
        </p:spPr>
        <p:txBody>
          <a:bodyPr/>
          <a:lstStyle/>
          <a:p>
            <a:endParaRPr/>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
        <p:nvSpPr>
          <p:cNvPr id="22" name="gap-stripe">
            <a:extLst>
              <a:ext uri="{FF2B5EF4-FFF2-40B4-BE49-F238E27FC236}">
                <a16:creationId xmlns:a16="http://schemas.microsoft.com/office/drawing/2014/main" id="{FA12628C-0ECE-9D05-B99F-76C8873E3D54}"/>
              </a:ext>
            </a:extLst>
          </p:cNvPr>
          <p:cNvSpPr>
            <a:spLocks noGrp="1"/>
          </p:cNvSpPr>
          <p:nvPr/>
        </p:nvSpPr>
        <p:spPr>
          <a:xfrm>
            <a:off x="550950" y="4423701"/>
            <a:ext cx="76200" cy="755392"/>
          </a:xfrm>
          <a:prstGeom prst="rect">
            <a:avLst/>
          </a:prstGeom>
          <a:solidFill>
            <a:schemeClr val="tx1">
              <a:lumMod val="95000"/>
              <a:lumOff val="5000"/>
            </a:schemeClr>
          </a:solidFill>
          <a:ln w="0">
            <a:noFill/>
            <a:prstDash val="solid"/>
          </a:ln>
        </p:spPr>
        <p:txBody>
          <a:bodyPr/>
          <a:lstStyle/>
          <a:p>
            <a:endParaRPr/>
          </a:p>
        </p:txBody>
      </p:sp>
      <p:sp>
        <p:nvSpPr>
          <p:cNvPr id="23" name="gap-stripe">
            <a:extLst>
              <a:ext uri="{FF2B5EF4-FFF2-40B4-BE49-F238E27FC236}">
                <a16:creationId xmlns:a16="http://schemas.microsoft.com/office/drawing/2014/main" id="{6A62D2ED-20F6-13B0-1FDB-40B91AEC1A1F}"/>
              </a:ext>
            </a:extLst>
          </p:cNvPr>
          <p:cNvSpPr>
            <a:spLocks noGrp="1"/>
          </p:cNvSpPr>
          <p:nvPr/>
        </p:nvSpPr>
        <p:spPr>
          <a:xfrm>
            <a:off x="550950" y="5334000"/>
            <a:ext cx="76200" cy="755392"/>
          </a:xfrm>
          <a:prstGeom prst="rect">
            <a:avLst/>
          </a:prstGeom>
          <a:solidFill>
            <a:schemeClr val="tx1">
              <a:lumMod val="95000"/>
              <a:lumOff val="5000"/>
            </a:schemeClr>
          </a:solidFill>
          <a:ln w="0">
            <a:noFill/>
            <a:prstDash val="solid"/>
          </a:ln>
        </p:spPr>
        <p:txBody>
          <a:bodyPr/>
          <a:lstStyle/>
          <a:p>
            <a:endParaRPr/>
          </a:p>
        </p:txBody>
      </p:sp>
      <p:sp>
        <p:nvSpPr>
          <p:cNvPr id="24" name="gap-stripe">
            <a:extLst>
              <a:ext uri="{FF2B5EF4-FFF2-40B4-BE49-F238E27FC236}">
                <a16:creationId xmlns:a16="http://schemas.microsoft.com/office/drawing/2014/main" id="{3B908953-2F61-8BEA-1ACD-4AB61B1C9A0D}"/>
              </a:ext>
            </a:extLst>
          </p:cNvPr>
          <p:cNvSpPr>
            <a:spLocks noGrp="1"/>
          </p:cNvSpPr>
          <p:nvPr/>
        </p:nvSpPr>
        <p:spPr>
          <a:xfrm>
            <a:off x="6257927" y="4394186"/>
            <a:ext cx="76200" cy="914024"/>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Features follow the biology, not the calendar</a:t>
            </a: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22" name="slide7-band-repair-records">
            <a:extLst>
              <a:ext uri="{FF2B5EF4-FFF2-40B4-BE49-F238E27FC236}">
                <a16:creationId xmlns:a16="http://schemas.microsoft.com/office/drawing/2014/main" id="{22BD4752-FAF0-4E9C-BBB5-10480FA48B99}"/>
              </a:ext>
            </a:extLst>
          </p:cNvPr>
          <p:cNvSpPr>
            <a:spLocks noGrp="1"/>
          </p:cNvSpPr>
          <p:nvPr/>
        </p:nvSpPr>
        <p:spPr>
          <a:xfrm>
            <a:off x="604420" y="6203282"/>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32,842 / 29,902 </a:t>
            </a:r>
            <a:br>
              <a:rPr lang="pt-PT" sz="1400" b="1" dirty="0">
                <a:solidFill>
                  <a:schemeClr val="tx1">
                    <a:lumMod val="95000"/>
                    <a:lumOff val="5000"/>
                  </a:schemeClr>
                </a:solidFill>
                <a:latin typeface="Arial"/>
                <a:ea typeface="Arial"/>
                <a:cs typeface="Arial"/>
              </a:rPr>
            </a:br>
            <a:r>
              <a:rPr sz="1400" b="1" dirty="0">
                <a:solidFill>
                  <a:schemeClr val="tx1">
                    <a:lumMod val="95000"/>
                    <a:lumOff val="5000"/>
                  </a:schemeClr>
                </a:solidFill>
                <a:latin typeface="Arial"/>
                <a:ea typeface="Arial"/>
                <a:cs typeface="Arial"/>
              </a:rPr>
              <a:t>daily records</a:t>
            </a:r>
          </a:p>
        </p:txBody>
      </p:sp>
      <p:sp>
        <p:nvSpPr>
          <p:cNvPr id="23" name="slide7-band-repair-predictors">
            <a:extLst>
              <a:ext uri="{FF2B5EF4-FFF2-40B4-BE49-F238E27FC236}">
                <a16:creationId xmlns:a16="http://schemas.microsoft.com/office/drawing/2014/main" id="{7085D20E-47F3-4E69-AFFE-5BEC46CFAD8E}"/>
              </a:ext>
            </a:extLst>
          </p:cNvPr>
          <p:cNvSpPr>
            <a:spLocks noGrp="1"/>
          </p:cNvSpPr>
          <p:nvPr/>
        </p:nvSpPr>
        <p:spPr>
          <a:xfrm>
            <a:off x="2604058" y="6203282"/>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400" b="1" dirty="0">
                <a:solidFill>
                  <a:srgbClr val="EE6A2E"/>
                </a:solidFill>
                <a:latin typeface="Arial"/>
                <a:ea typeface="Arial"/>
                <a:cs typeface="Arial"/>
              </a:rPr>
              <a:t>-&gt; 59 annual </a:t>
            </a:r>
            <a:br>
              <a:rPr lang="pt-PT" sz="1400" b="1" dirty="0">
                <a:solidFill>
                  <a:srgbClr val="EE6A2E"/>
                </a:solidFill>
                <a:latin typeface="Arial"/>
                <a:ea typeface="Arial"/>
                <a:cs typeface="Arial"/>
              </a:rPr>
            </a:br>
            <a:r>
              <a:rPr sz="1400" b="1" dirty="0">
                <a:solidFill>
                  <a:srgbClr val="EE6A2E"/>
                </a:solidFill>
                <a:latin typeface="Arial"/>
                <a:ea typeface="Arial"/>
                <a:cs typeface="Arial"/>
              </a:rPr>
              <a:t>predictors</a:t>
            </a:r>
          </a:p>
        </p:txBody>
      </p:sp>
      <p:sp>
        <p:nvSpPr>
          <p:cNvPr id="24" name="slide7-band-repair-anchors">
            <a:extLst>
              <a:ext uri="{FF2B5EF4-FFF2-40B4-BE49-F238E27FC236}">
                <a16:creationId xmlns:a16="http://schemas.microsoft.com/office/drawing/2014/main" id="{6C38BA8C-60BA-476F-8EA2-6A64643236C1}"/>
              </a:ext>
            </a:extLst>
          </p:cNvPr>
          <p:cNvSpPr>
            <a:spLocks noGrp="1"/>
          </p:cNvSpPr>
          <p:nvPr/>
        </p:nvSpPr>
        <p:spPr>
          <a:xfrm>
            <a:off x="4439597" y="6203282"/>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-&gt; 4 phenological </a:t>
            </a:r>
            <a:br>
              <a:rPr lang="pt-PT" sz="1400" b="1" dirty="0">
                <a:solidFill>
                  <a:schemeClr val="tx1">
                    <a:lumMod val="95000"/>
                    <a:lumOff val="5000"/>
                  </a:schemeClr>
                </a:solidFill>
                <a:latin typeface="Arial"/>
                <a:ea typeface="Arial"/>
                <a:cs typeface="Arial"/>
              </a:rPr>
            </a:br>
            <a:r>
              <a:rPr sz="1400" b="1" dirty="0">
                <a:solidFill>
                  <a:schemeClr val="tx1">
                    <a:lumMod val="95000"/>
                    <a:lumOff val="5000"/>
                  </a:schemeClr>
                </a:solidFill>
                <a:latin typeface="Arial"/>
                <a:ea typeface="Arial"/>
                <a:cs typeface="Arial"/>
              </a:rPr>
              <a:t>anchors</a:t>
            </a:r>
          </a:p>
        </p:txBody>
      </p:sp>
      <p:sp>
        <p:nvSpPr>
          <p:cNvPr id="25" name="slide7-band-repair-years">
            <a:extLst>
              <a:ext uri="{FF2B5EF4-FFF2-40B4-BE49-F238E27FC236}">
                <a16:creationId xmlns:a16="http://schemas.microsoft.com/office/drawing/2014/main" id="{D1500B64-3D66-4232-B257-0347FABB7313}"/>
              </a:ext>
            </a:extLst>
          </p:cNvPr>
          <p:cNvSpPr>
            <a:spLocks noGrp="1"/>
          </p:cNvSpPr>
          <p:nvPr/>
        </p:nvSpPr>
        <p:spPr>
          <a:xfrm>
            <a:off x="6493652" y="6203282"/>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400" b="1" dirty="0">
                <a:solidFill>
                  <a:schemeClr val="tx1">
                    <a:lumMod val="95000"/>
                    <a:lumOff val="5000"/>
                  </a:schemeClr>
                </a:solidFill>
                <a:latin typeface="Arial"/>
                <a:ea typeface="Arial"/>
                <a:cs typeface="Arial"/>
              </a:rPr>
              <a:t>-&gt; current + previous year</a:t>
            </a:r>
          </a:p>
        </p:txBody>
      </p:sp>
      <p:cxnSp>
        <p:nvCxnSpPr>
          <p:cNvPr id="10" name="Elbow Connector 9">
            <a:extLst>
              <a:ext uri="{FF2B5EF4-FFF2-40B4-BE49-F238E27FC236}">
                <a16:creationId xmlns:a16="http://schemas.microsoft.com/office/drawing/2014/main"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gap-stripe">
            <a:extLst>
              <a:ext uri="{FF2B5EF4-FFF2-40B4-BE49-F238E27FC236}">
                <a16:creationId xmlns:a16="http://schemas.microsoft.com/office/drawing/2014/main" id="{6F24B00F-D629-057C-7D4C-8F1FC553E0DB}"/>
              </a:ext>
            </a:extLst>
          </p:cNvPr>
          <p:cNvSpPr>
            <a:spLocks noGrp="1"/>
          </p:cNvSpPr>
          <p:nvPr/>
        </p:nvSpPr>
        <p:spPr>
          <a:xfrm>
            <a:off x="441216" y="6161878"/>
            <a:ext cx="76200" cy="515943"/>
          </a:xfrm>
          <a:prstGeom prst="rect">
            <a:avLst/>
          </a:prstGeom>
          <a:solidFill>
            <a:schemeClr val="tx1">
              <a:lumMod val="50000"/>
              <a:lumOff val="50000"/>
            </a:schemeClr>
          </a:solidFill>
          <a:ln w="0">
            <a:noFill/>
            <a:prstDash val="solid"/>
          </a:ln>
        </p:spPr>
        <p:txBody>
          <a:bodyPr/>
          <a:lstStyle/>
          <a:p>
            <a:endParaRPr sz="2000"/>
          </a:p>
        </p:txBody>
      </p:sp>
      <p:sp>
        <p:nvSpPr>
          <p:cNvPr id="6" name="gap-stripe">
            <a:extLst>
              <a:ext uri="{FF2B5EF4-FFF2-40B4-BE49-F238E27FC236}">
                <a16:creationId xmlns:a16="http://schemas.microsoft.com/office/drawing/2014/main" id="{EAE1B75E-9F3F-CD78-71B1-13C0FDF4434E}"/>
              </a:ext>
            </a:extLst>
          </p:cNvPr>
          <p:cNvSpPr>
            <a:spLocks noGrp="1"/>
          </p:cNvSpPr>
          <p:nvPr/>
        </p:nvSpPr>
        <p:spPr>
          <a:xfrm>
            <a:off x="2508141" y="6154951"/>
            <a:ext cx="76200" cy="515943"/>
          </a:xfrm>
          <a:prstGeom prst="rect">
            <a:avLst/>
          </a:prstGeom>
          <a:solidFill>
            <a:schemeClr val="tx1">
              <a:lumMod val="50000"/>
              <a:lumOff val="50000"/>
            </a:schemeClr>
          </a:solidFill>
          <a:ln w="0">
            <a:noFill/>
            <a:prstDash val="solid"/>
          </a:ln>
        </p:spPr>
        <p:txBody>
          <a:bodyPr/>
          <a:lstStyle/>
          <a:p>
            <a:endParaRPr sz="2000"/>
          </a:p>
        </p:txBody>
      </p:sp>
      <p:sp>
        <p:nvSpPr>
          <p:cNvPr id="7" name="gap-stripe">
            <a:extLst>
              <a:ext uri="{FF2B5EF4-FFF2-40B4-BE49-F238E27FC236}">
                <a16:creationId xmlns:a16="http://schemas.microsoft.com/office/drawing/2014/main" id="{E0C825F7-AA3B-4739-5177-F417567A22A6}"/>
              </a:ext>
            </a:extLst>
          </p:cNvPr>
          <p:cNvSpPr>
            <a:spLocks noGrp="1"/>
          </p:cNvSpPr>
          <p:nvPr/>
        </p:nvSpPr>
        <p:spPr>
          <a:xfrm>
            <a:off x="4324350" y="6149937"/>
            <a:ext cx="76200" cy="515943"/>
          </a:xfrm>
          <a:prstGeom prst="rect">
            <a:avLst/>
          </a:prstGeom>
          <a:solidFill>
            <a:schemeClr val="tx1">
              <a:lumMod val="50000"/>
              <a:lumOff val="50000"/>
            </a:schemeClr>
          </a:solidFill>
          <a:ln w="0">
            <a:noFill/>
            <a:prstDash val="solid"/>
          </a:ln>
        </p:spPr>
        <p:txBody>
          <a:bodyPr/>
          <a:lstStyle/>
          <a:p>
            <a:endParaRPr sz="2000"/>
          </a:p>
        </p:txBody>
      </p:sp>
      <p:sp>
        <p:nvSpPr>
          <p:cNvPr id="8" name="gap-stripe">
            <a:extLst>
              <a:ext uri="{FF2B5EF4-FFF2-40B4-BE49-F238E27FC236}">
                <a16:creationId xmlns:a16="http://schemas.microsoft.com/office/drawing/2014/main" id="{3675E6DF-D973-1304-066B-ECEF25968CDB}"/>
              </a:ext>
            </a:extLst>
          </p:cNvPr>
          <p:cNvSpPr>
            <a:spLocks noGrp="1"/>
          </p:cNvSpPr>
          <p:nvPr/>
        </p:nvSpPr>
        <p:spPr>
          <a:xfrm>
            <a:off x="6422521" y="6144923"/>
            <a:ext cx="76200" cy="515943"/>
          </a:xfrm>
          <a:prstGeom prst="rect">
            <a:avLst/>
          </a:prstGeom>
          <a:solidFill>
            <a:schemeClr val="tx1">
              <a:lumMod val="50000"/>
              <a:lumOff val="50000"/>
            </a:schemeClr>
          </a:solidFill>
          <a:ln w="0">
            <a:noFill/>
            <a:prstDash val="solid"/>
          </a:ln>
        </p:spPr>
        <p:txBody>
          <a:bodyPr/>
          <a:lstStyle/>
          <a:p>
            <a:endParaRPr sz="2000"/>
          </a:p>
        </p:txBody>
      </p:sp>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791950" cy="781050"/>
          </a:xfrm>
          <a:prstGeom prst="rect">
            <a:avLst/>
          </a:prstGeom>
        </p:spPr>
        <p:txBody>
          <a:bodyPr lIns="0" tIns="0" rIns="0" bIns="0" anchor="t">
            <a:noAutofit/>
          </a:bodyPr>
          <a:lstStyle/>
          <a:p>
            <a:pPr algn="l">
              <a:buNone/>
              <a:defRPr sz="3600" b="1">
                <a:solidFill>
                  <a:srgbClr val="151515"/>
                </a:solidFill>
                <a:latin typeface="Arial"/>
                <a:ea typeface="Arial"/>
                <a:cs typeface="Arial"/>
              </a:defRPr>
            </a:pPr>
            <a:r>
              <a:rPr sz="3600" dirty="0"/>
              <a:t>The research gap sits between explanation and prediction</a:t>
            </a:r>
          </a:p>
        </p:txBody>
      </p:sp>
      <p:sp>
        <p:nvSpPr>
          <p:cNvPr id="3" name="Rectangle 2">
            <a:extLst>
              <a:ext uri="{FF2B5EF4-FFF2-40B4-BE49-F238E27FC236}">
                <a16:creationId xmlns:a16="http://schemas.microsoft.com/office/drawing/2014/main" id="{3E9CB3F4-C705-4602-9FEB-0455FD8A0555}"/>
              </a:ext>
            </a:extLst>
          </p:cNvPr>
          <p:cNvSpPr>
            <a:spLocks noGrp="1"/>
          </p:cNvSpPr>
          <p:nvPr/>
        </p:nvSpPr>
        <p:spPr>
          <a:xfrm>
            <a:off x="11287125" y="6646448"/>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2194764"/>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2194764"/>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407823"/>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3122198"/>
            <a:ext cx="459105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dirty="0"/>
              <a:t>Handles nonlinear interactions
Often strong predictive accuracy
</a:t>
            </a:r>
            <a:r>
              <a:rPr lang="pt-PT" dirty="0" err="1"/>
              <a:t>Sometimes</a:t>
            </a:r>
            <a:r>
              <a:rPr lang="pt-PT" dirty="0"/>
              <a:t> d</a:t>
            </a:r>
            <a:r>
              <a:rPr dirty="0" err="1"/>
              <a:t>ecision</a:t>
            </a:r>
            <a:r>
              <a:rPr dirty="0"/>
              <a:t>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407823"/>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3122198"/>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931698"/>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331748"/>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607033" y="6027828"/>
            <a:ext cx="11137291" cy="457200"/>
          </a:xfrm>
          <a:prstGeom prst="rect">
            <a:avLst/>
          </a:prstGeom>
        </p:spPr>
        <p:txBody>
          <a:bodyPr lIns="0" tIns="0" rIns="0" bIns="0" anchor="t">
            <a:noAutofit/>
          </a:bodyPr>
          <a:lstStyle/>
          <a:p>
            <a:pPr>
              <a:buNone/>
              <a:defRPr sz="1875" b="1">
                <a:solidFill>
                  <a:srgbClr val="151515"/>
                </a:solidFill>
                <a:latin typeface="Arial"/>
                <a:ea typeface="Arial"/>
                <a:cs typeface="Arial"/>
              </a:defRPr>
            </a:pPr>
            <a:r>
              <a:rPr sz="2000" dirty="0"/>
              <a:t>No prior work systematically evaluated distributional subgroup discovery in walk-forward wine production forecasting.</a:t>
            </a:r>
          </a:p>
        </p:txBody>
      </p:sp>
      <p:sp>
        <p:nvSpPr>
          <p:cNvPr id="13" name="gap-stripe">
            <a:extLst>
              <a:ext uri="{FF2B5EF4-FFF2-40B4-BE49-F238E27FC236}">
                <a16:creationId xmlns:a16="http://schemas.microsoft.com/office/drawing/2014/main" id="{A74824C0-4778-98B0-B8A2-804F4A9E7544}"/>
              </a:ext>
            </a:extLst>
          </p:cNvPr>
          <p:cNvSpPr>
            <a:spLocks noGrp="1"/>
          </p:cNvSpPr>
          <p:nvPr/>
        </p:nvSpPr>
        <p:spPr>
          <a:xfrm>
            <a:off x="400050" y="6087389"/>
            <a:ext cx="76200" cy="515943"/>
          </a:xfrm>
          <a:prstGeom prst="rect">
            <a:avLst/>
          </a:prstGeom>
          <a:solidFill>
            <a:schemeClr val="tx1">
              <a:lumMod val="50000"/>
              <a:lumOff val="50000"/>
            </a:schemeClr>
          </a:solidFill>
          <a:ln w="0">
            <a:noFill/>
            <a:prstDash val="solid"/>
          </a:ln>
        </p:spPr>
        <p:txBody>
          <a:bodyPr/>
          <a:lstStyle/>
          <a:p>
            <a:endParaRPr sz="2000"/>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rPr dirty="0"/>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a16:creationId xmlns:a16="http://schemas.microsoft.com/office/drawing/2014/main"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a16:creationId xmlns:a16="http://schemas.microsoft.com/office/drawing/2014/main"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a16:creationId xmlns:a16="http://schemas.microsoft.com/office/drawing/2014/main"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GOAL 1</a:t>
            </a:r>
          </a:p>
        </p:txBody>
      </p:sp>
      <p:sp>
        <p:nvSpPr>
          <p:cNvPr id="21" name="slide9-goal1-title">
            <a:extLst>
              <a:ext uri="{FF2B5EF4-FFF2-40B4-BE49-F238E27FC236}">
                <a16:creationId xmlns:a16="http://schemas.microsoft.com/office/drawing/2014/main" id="{C72B301A-61FE-4470-AF8E-8D5855C5228F}"/>
              </a:ext>
            </a:extLst>
          </p:cNvPr>
          <p:cNvSpPr>
            <a:spLocks noGrp="1"/>
          </p:cNvSpPr>
          <p:nvPr/>
        </p:nvSpPr>
        <p:spPr>
          <a:xfrm>
            <a:off x="876300" y="190846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DISCOVER</a:t>
            </a:r>
          </a:p>
        </p:txBody>
      </p:sp>
      <p:sp>
        <p:nvSpPr>
          <p:cNvPr id="22" name="slide9-goal1-question">
            <a:extLst>
              <a:ext uri="{FF2B5EF4-FFF2-40B4-BE49-F238E27FC236}">
                <a16:creationId xmlns:a16="http://schemas.microsoft.com/office/drawing/2014/main" id="{2398521C-3516-48DA-A5A2-32366F6BD720}"/>
              </a:ext>
            </a:extLst>
          </p:cNvPr>
          <p:cNvSpPr>
            <a:spLocks noGrp="1"/>
          </p:cNvSpPr>
          <p:nvPr/>
        </p:nvSpPr>
        <p:spPr>
          <a:xfrm>
            <a:off x="876299" y="2624442"/>
            <a:ext cx="4924425" cy="876300"/>
          </a:xfrm>
          <a:prstGeom prst="rect">
            <a:avLst/>
          </a:prstGeom>
          <a:noFill/>
          <a:ln w="0">
            <a:noFill/>
            <a:prstDash val="solid"/>
          </a:ln>
        </p:spPr>
        <p:txBody>
          <a:bodyPr/>
          <a:lstStyle/>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Which agroclimatic conditions distinguish</a:t>
            </a:r>
          </a:p>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above- and below-trend production</a:t>
            </a:r>
          </a:p>
          <a:p>
            <a:pPr algn="just">
              <a:buNone/>
              <a:defRPr sz="1800">
                <a:solidFill>
                  <a:srgbClr val="FFFFFF"/>
                </a:solidFill>
                <a:latin typeface="Arial"/>
                <a:ea typeface="Arial"/>
                <a:cs typeface="Arial"/>
              </a:defRPr>
            </a:pPr>
            <a:r>
              <a:rPr b="1" dirty="0">
                <a:solidFill>
                  <a:schemeClr val="tx1">
                    <a:lumMod val="95000"/>
                    <a:lumOff val="5000"/>
                  </a:schemeClr>
                </a:solidFill>
                <a:latin typeface="Arial"/>
                <a:ea typeface="Arial"/>
                <a:cs typeface="Arial"/>
              </a:rPr>
              <a:t>years?</a:t>
            </a:r>
          </a:p>
        </p:txBody>
      </p:sp>
      <p:sp>
        <p:nvSpPr>
          <p:cNvPr id="23" name="slide9-goal1-rqs">
            <a:extLst>
              <a:ext uri="{FF2B5EF4-FFF2-40B4-BE49-F238E27FC236}">
                <a16:creationId xmlns:a16="http://schemas.microsoft.com/office/drawing/2014/main" id="{16A1C21D-7336-45F9-AF37-73D62BF9C1DB}"/>
              </a:ext>
            </a:extLst>
          </p:cNvPr>
          <p:cNvSpPr>
            <a:spLocks noGrp="1"/>
          </p:cNvSpPr>
          <p:nvPr/>
        </p:nvSpPr>
        <p:spPr>
          <a:xfrm>
            <a:off x="881288" y="3893081"/>
            <a:ext cx="4919435"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Can CarenR's KS-test-based distributional rule induction extract statistically validated, non-trivial patterns from non-stationary agricultural time series?</a:t>
            </a:r>
          </a:p>
          <a:p>
            <a:pPr>
              <a:buNone/>
              <a:defRPr sz="1425">
                <a:solidFill>
                  <a:srgbClr val="D8D8D8"/>
                </a:solidFill>
                <a:latin typeface="Arial"/>
                <a:ea typeface="Arial"/>
                <a:cs typeface="Arial"/>
              </a:defRPr>
            </a:pPr>
            <a:endParaRPr lang="pt-PT" sz="1425" b="1" dirty="0">
              <a:solidFill>
                <a:schemeClr val="tx1">
                  <a:lumMod val="95000"/>
                  <a:lumOff val="5000"/>
                </a:schemeClr>
              </a:solidFill>
              <a:latin typeface="Arial"/>
              <a:ea typeface="Arial"/>
              <a:cs typeface="Arial"/>
            </a:endParaRP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Are the discovered rules genuine within-era climate signal, or are they era-membership artefacts introduced by imperfect linear detrending?</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a16:creationId xmlns:a16="http://schemas.microsoft.com/office/drawing/2014/main"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dirty="0">
                <a:solidFill>
                  <a:schemeClr val="accent2"/>
                </a:solidFill>
                <a:latin typeface="Arial"/>
                <a:ea typeface="Arial"/>
                <a:cs typeface="Arial"/>
              </a:rPr>
              <a:t>GOAL 2</a:t>
            </a:r>
          </a:p>
        </p:txBody>
      </p:sp>
      <p:sp>
        <p:nvSpPr>
          <p:cNvPr id="25" name="slide9-goal2-title">
            <a:extLst>
              <a:ext uri="{FF2B5EF4-FFF2-40B4-BE49-F238E27FC236}">
                <a16:creationId xmlns:a16="http://schemas.microsoft.com/office/drawing/2014/main" id="{22008273-BAF7-44C6-9043-44D5B6EC0837}"/>
              </a:ext>
            </a:extLst>
          </p:cNvPr>
          <p:cNvSpPr>
            <a:spLocks noGrp="1"/>
          </p:cNvSpPr>
          <p:nvPr/>
        </p:nvSpPr>
        <p:spPr>
          <a:xfrm>
            <a:off x="6686550" y="190846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dirty="0">
                <a:solidFill>
                  <a:schemeClr val="accent2"/>
                </a:solidFill>
                <a:latin typeface="Arial"/>
                <a:ea typeface="Arial"/>
                <a:cs typeface="Arial"/>
              </a:rPr>
              <a:t>VALIDATE</a:t>
            </a:r>
          </a:p>
        </p:txBody>
      </p:sp>
      <p:sp>
        <p:nvSpPr>
          <p:cNvPr id="26" name="slide9-goal2-question">
            <a:extLst>
              <a:ext uri="{FF2B5EF4-FFF2-40B4-BE49-F238E27FC236}">
                <a16:creationId xmlns:a16="http://schemas.microsoft.com/office/drawing/2014/main" id="{A77FD0EF-0C0C-476D-8B54-164CDC6C09A7}"/>
              </a:ext>
            </a:extLst>
          </p:cNvPr>
          <p:cNvSpPr>
            <a:spLocks noGrp="1"/>
          </p:cNvSpPr>
          <p:nvPr/>
        </p:nvSpPr>
        <p:spPr>
          <a:xfrm>
            <a:off x="6686550" y="2624442"/>
            <a:ext cx="5036344" cy="876300"/>
          </a:xfrm>
          <a:prstGeom prst="rect">
            <a:avLst/>
          </a:prstGeom>
          <a:noFill/>
          <a:ln w="0">
            <a:noFill/>
            <a:prstDash val="solid"/>
          </a:ln>
        </p:spPr>
        <p:txBody>
          <a:bodyPr/>
          <a:lstStyle/>
          <a:p>
            <a:pPr algn="just">
              <a:buNone/>
              <a:defRPr sz="1800">
                <a:solidFill>
                  <a:srgbClr val="111111"/>
                </a:solidFill>
                <a:latin typeface="Arial"/>
                <a:ea typeface="Arial"/>
                <a:cs typeface="Arial"/>
              </a:defRPr>
            </a:pPr>
            <a:r>
              <a:rPr b="1" dirty="0">
                <a:solidFill>
                  <a:srgbClr val="111111"/>
                </a:solidFill>
                <a:latin typeface="Arial"/>
                <a:ea typeface="Arial"/>
                <a:cs typeface="Arial"/>
              </a:rPr>
              <a:t>Can rule-based models beat the</a:t>
            </a:r>
          </a:p>
          <a:p>
            <a:pPr algn="just">
              <a:buNone/>
              <a:defRPr sz="1800">
                <a:solidFill>
                  <a:srgbClr val="111111"/>
                </a:solidFill>
                <a:latin typeface="Arial"/>
                <a:ea typeface="Arial"/>
                <a:cs typeface="Arial"/>
              </a:defRPr>
            </a:pPr>
            <a:r>
              <a:rPr b="1" dirty="0">
                <a:solidFill>
                  <a:srgbClr val="111111"/>
                </a:solidFill>
                <a:latin typeface="Arial"/>
                <a:ea typeface="Arial"/>
                <a:cs typeface="Arial"/>
              </a:rPr>
              <a:t>historical median in genuine future</a:t>
            </a:r>
          </a:p>
          <a:p>
            <a:pPr algn="just">
              <a:buNone/>
              <a:defRPr sz="1800">
                <a:solidFill>
                  <a:srgbClr val="111111"/>
                </a:solidFill>
                <a:latin typeface="Arial"/>
                <a:ea typeface="Arial"/>
                <a:cs typeface="Arial"/>
              </a:defRPr>
            </a:pPr>
            <a:r>
              <a:rPr b="1" dirty="0">
                <a:solidFill>
                  <a:srgbClr val="111111"/>
                </a:solidFill>
                <a:latin typeface="Arial"/>
                <a:ea typeface="Arial"/>
                <a:cs typeface="Arial"/>
              </a:rPr>
              <a:t>periods?</a:t>
            </a:r>
          </a:p>
        </p:txBody>
      </p:sp>
      <p:sp>
        <p:nvSpPr>
          <p:cNvPr id="27" name="slide9-goal2-rqs">
            <a:extLst>
              <a:ext uri="{FF2B5EF4-FFF2-40B4-BE49-F238E27FC236}">
                <a16:creationId xmlns:a16="http://schemas.microsoft.com/office/drawing/2014/main" id="{25DAFA97-702E-4AD4-B403-32677357FE90}"/>
              </a:ext>
            </a:extLst>
          </p:cNvPr>
          <p:cNvSpPr>
            <a:spLocks noGrp="1"/>
          </p:cNvSpPr>
          <p:nvPr/>
        </p:nvSpPr>
        <p:spPr>
          <a:xfrm>
            <a:off x="6686550" y="3862405"/>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Can rule-based models (CarenR, RIPPER, M5Rules) outperform a Naive Median baseline in walk-forward prediction of detrended production residuals?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What structural conditions (era composition, detrend quality, signal strength) determine when rule-based prediction succeeds or fails?</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a16:creationId xmlns:a16="http://schemas.microsoft.com/office/drawing/2014/main" id="{221938CC-400F-EFA7-AE18-430146CD6238}"/>
              </a:ext>
            </a:extLst>
          </p:cNvPr>
          <p:cNvSpPr>
            <a:spLocks noGrp="1"/>
          </p:cNvSpPr>
          <p:nvPr/>
        </p:nvSpPr>
        <p:spPr>
          <a:xfrm rot="16200000">
            <a:off x="293750" y="4035616"/>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Discovery</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a16:creationId xmlns:a16="http://schemas.microsoft.com/office/drawing/2014/main" id="{0FEF3729-98BD-C591-6512-33BA93ED9F42}"/>
              </a:ext>
            </a:extLst>
          </p:cNvPr>
          <p:cNvSpPr>
            <a:spLocks noGrp="1"/>
          </p:cNvSpPr>
          <p:nvPr/>
        </p:nvSpPr>
        <p:spPr>
          <a:xfrm rot="16200000">
            <a:off x="241862" y="5195414"/>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Validation</a:t>
            </a:r>
          </a:p>
        </p:txBody>
      </p:sp>
      <p:sp>
        <p:nvSpPr>
          <p:cNvPr id="32" name="Text 18">
            <a:extLst>
              <a:ext uri="{FF2B5EF4-FFF2-40B4-BE49-F238E27FC236}">
                <a16:creationId xmlns:a16="http://schemas.microsoft.com/office/drawing/2014/main" id="{DA3416E1-8C0A-9C4D-3252-26290430A71D}"/>
              </a:ext>
            </a:extLst>
          </p:cNvPr>
          <p:cNvSpPr>
            <a:spLocks noGrp="1"/>
          </p:cNvSpPr>
          <p:nvPr/>
        </p:nvSpPr>
        <p:spPr>
          <a:xfrm rot="16200000">
            <a:off x="6074202" y="4028914"/>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Prediction</a:t>
            </a:r>
          </a:p>
        </p:txBody>
      </p:sp>
      <p:sp>
        <p:nvSpPr>
          <p:cNvPr id="33" name="Text 23">
            <a:extLst>
              <a:ext uri="{FF2B5EF4-FFF2-40B4-BE49-F238E27FC236}">
                <a16:creationId xmlns:a16="http://schemas.microsoft.com/office/drawing/2014/main" id="{C7CAB297-0421-ADC4-A91E-C54A2C208896}"/>
              </a:ext>
            </a:extLst>
          </p:cNvPr>
          <p:cNvSpPr>
            <a:spLocks noGrp="1"/>
          </p:cNvSpPr>
          <p:nvPr/>
        </p:nvSpPr>
        <p:spPr>
          <a:xfrm rot="16200000">
            <a:off x="6086475" y="5180777"/>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Diagnosis</a:t>
            </a:r>
          </a:p>
        </p:txBody>
      </p:sp>
      <p:sp>
        <p:nvSpPr>
          <p:cNvPr id="40" name="Text 25">
            <a:extLst>
              <a:ext uri="{FF2B5EF4-FFF2-40B4-BE49-F238E27FC236}">
                <a16:creationId xmlns:a16="http://schemas.microsoft.com/office/drawing/2014/main" id="{24C978E9-AB08-DE07-3C03-391B43A6F663}"/>
              </a:ext>
            </a:extLst>
          </p:cNvPr>
          <p:cNvSpPr>
            <a:spLocks noGrp="1"/>
          </p:cNvSpPr>
          <p:nvPr/>
        </p:nvSpPr>
        <p:spPr>
          <a:xfrm>
            <a:off x="497305" y="6267105"/>
            <a:ext cx="11094720" cy="463296"/>
          </a:xfrm>
          <a:prstGeom prst="rect">
            <a:avLst/>
          </a:prstGeom>
          <a:noFill/>
        </p:spPr>
        <p:txBody>
          <a:bodyPr wrap="square" lIns="0" tIns="0" rIns="0" bIns="0" anchor="ctr"/>
          <a:lstStyle/>
          <a:p>
            <a:pPr algn="ctr">
              <a:buNone/>
            </a:pPr>
            <a:r>
              <a:rPr sz="1500" b="1" dirty="0">
                <a:solidFill>
                  <a:schemeClr val="tx1">
                    <a:lumMod val="95000"/>
                    <a:lumOff val="5000"/>
                  </a:schemeClr>
                </a:solidFill>
                <a:latin typeface="Calibri"/>
                <a:ea typeface="Calibri"/>
                <a:cs typeface="Calibri"/>
              </a:rPr>
              <a:t>RQ1 </a:t>
            </a:r>
            <a:r>
              <a:rPr sz="1500" b="1" dirty="0">
                <a:solidFill>
                  <a:srgbClr val="00B050"/>
                </a:solidFill>
                <a:latin typeface="Calibri"/>
                <a:ea typeface="Calibri"/>
                <a:cs typeface="Calibri"/>
              </a:rPr>
              <a:t>✓ Achieved   </a:t>
            </a:r>
            <a:r>
              <a:rPr sz="1500" b="1" dirty="0">
                <a:solidFill>
                  <a:schemeClr val="tx1">
                    <a:lumMod val="95000"/>
                    <a:lumOff val="5000"/>
                  </a:schemeClr>
                </a:solidFill>
                <a:latin typeface="Calibri"/>
                <a:ea typeface="Calibri"/>
                <a:cs typeface="Calibri"/>
              </a:rPr>
              <a:t>·   RQ2 </a:t>
            </a:r>
            <a:r>
              <a:rPr sz="1500" b="1" dirty="0">
                <a:solidFill>
                  <a:srgbClr val="00B050"/>
                </a:solidFill>
                <a:latin typeface="Calibri"/>
                <a:ea typeface="Calibri"/>
                <a:cs typeface="Calibri"/>
              </a:rPr>
              <a:t>✓ Validated by LOESS  </a:t>
            </a:r>
            <a:r>
              <a:rPr sz="1500" b="1" dirty="0">
                <a:solidFill>
                  <a:schemeClr val="tx1">
                    <a:lumMod val="95000"/>
                    <a:lumOff val="5000"/>
                  </a:schemeClr>
                </a:solidFill>
                <a:latin typeface="Calibri"/>
                <a:ea typeface="Calibri"/>
                <a:cs typeface="Calibri"/>
              </a:rPr>
              <a:t> ·   RQ3 </a:t>
            </a:r>
            <a:r>
              <a:rPr sz="1500" b="1" dirty="0">
                <a:solidFill>
                  <a:srgbClr val="C00000"/>
                </a:solidFill>
                <a:latin typeface="Calibri"/>
                <a:ea typeface="Calibri"/>
                <a:cs typeface="Calibri"/>
              </a:rPr>
              <a:t>✗ Not achieved in aggregate </a:t>
            </a:r>
            <a:r>
              <a:rPr sz="1500" b="1" dirty="0">
                <a:solidFill>
                  <a:schemeClr val="tx1">
                    <a:lumMod val="95000"/>
                    <a:lumOff val="5000"/>
                  </a:schemeClr>
                </a:solidFill>
                <a:latin typeface="Calibri"/>
                <a:ea typeface="Calibri"/>
                <a:cs typeface="Calibri"/>
              </a:rPr>
              <a:t>  ·   RQ4 </a:t>
            </a:r>
            <a:r>
              <a:rPr sz="1500" b="1" dirty="0">
                <a:solidFill>
                  <a:srgbClr val="00B050"/>
                </a:solidFill>
                <a:latin typeface="Calibri"/>
                <a:ea typeface="Calibri"/>
                <a:cs typeface="Calibri"/>
              </a:rPr>
              <a:t>✓ Explained by Two-Decision Framework</a:t>
            </a:r>
          </a:p>
        </p:txBody>
      </p:sp>
      <p:sp>
        <p:nvSpPr>
          <p:cNvPr id="4" name="gap-stripe">
            <a:extLst>
              <a:ext uri="{FF2B5EF4-FFF2-40B4-BE49-F238E27FC236}">
                <a16:creationId xmlns:a16="http://schemas.microsoft.com/office/drawing/2014/main" id="{548077C3-1022-AD3E-D885-A3511A6063EA}"/>
              </a:ext>
            </a:extLst>
          </p:cNvPr>
          <p:cNvSpPr>
            <a:spLocks noGrp="1"/>
          </p:cNvSpPr>
          <p:nvPr/>
        </p:nvSpPr>
        <p:spPr>
          <a:xfrm>
            <a:off x="645562" y="6267105"/>
            <a:ext cx="76200" cy="426399"/>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a16:creationId xmlns:a16="http://schemas.microsoft.com/office/drawing/2014/main"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49" y="552450"/>
            <a:ext cx="11643561" cy="781050"/>
          </a:xfrm>
          <a:prstGeom prst="rect">
            <a:avLst/>
          </a:prstGeom>
        </p:spPr>
        <p:txBody>
          <a:bodyPr lIns="0" tIns="0" rIns="0" bIns="0" anchor="t">
            <a:noAutofit/>
          </a:bodyPr>
          <a:lstStyle/>
          <a:p>
            <a:pPr algn="l">
              <a:buNone/>
              <a:defRPr sz="3600" b="1">
                <a:solidFill>
                  <a:srgbClr val="151515"/>
                </a:solidFill>
                <a:latin typeface="Arial"/>
                <a:ea typeface="Arial"/>
                <a:cs typeface="Arial"/>
              </a:defRPr>
            </a:pPr>
            <a:r>
              <a:rPr sz="3600" dirty="0"/>
              <a:t>A controlled comparison isolates the role of data structure</a:t>
            </a:r>
          </a:p>
        </p:txBody>
      </p:sp>
      <p:sp>
        <p:nvSpPr>
          <p:cNvPr id="3" name="Rectangle 2">
            <a:extLst>
              <a:ext uri="{FF2B5EF4-FFF2-40B4-BE49-F238E27FC236}">
                <a16:creationId xmlns:a16="http://schemas.microsoft.com/office/drawing/2014/main"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rPr dirty="0"/>
              <a:t>CarenR is the primary lens among five model families</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668882"/>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590550" y="1334736"/>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1915027"/>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rPr dirty="0"/>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057902"/>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2843963"/>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2843963"/>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2843963"/>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Climate features become equal-frequency bins.</a:t>
            </a:r>
          </a:p>
        </p:txBody>
      </p:sp>
      <p:cxnSp>
        <p:nvCxnSpPr>
          <p:cNvPr id="731" name="Straight Arrow Connector 654"/>
          <p:cNvCxnSpPr/>
          <p:nvPr/>
        </p:nvCxnSpPr>
        <p:spPr>
          <a:xfrm>
            <a:off x="838200" y="3196388"/>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558338"/>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558338"/>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558338"/>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Level-wise search (Apriori-style) combines feature-bin conditions.</a:t>
            </a:r>
          </a:p>
        </p:txBody>
      </p:sp>
      <p:cxnSp>
        <p:nvCxnSpPr>
          <p:cNvPr id="735" name="Straight Arrow Connector 658"/>
          <p:cNvCxnSpPr/>
          <p:nvPr/>
        </p:nvCxnSpPr>
        <p:spPr>
          <a:xfrm>
            <a:off x="838200" y="3910763"/>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272713"/>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272713"/>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272713"/>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739" name="Straight Arrow Connector 662"/>
          <p:cNvCxnSpPr/>
          <p:nvPr/>
        </p:nvCxnSpPr>
        <p:spPr>
          <a:xfrm>
            <a:off x="838200" y="4625138"/>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4987088"/>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4987088"/>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4987088"/>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4"/>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4"/>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715250" y="1398173"/>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rPr dirty="0"/>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651836"/>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1919268"/>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1862118"/>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647951"/>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293944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293944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644066"/>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394583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rPr dirty="0"/>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88868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640182"/>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919919"/>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rPr dirty="0"/>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919919"/>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597693"/>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dirty="0">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25144A-1585-4407-BE50-12168B67CBDA}"/>
              </a:ext>
            </a:extLst>
          </p:cNvPr>
          <p:cNvSpPr>
            <a:spLocks noGrp="1"/>
          </p:cNvSpPr>
          <p:nvPr/>
        </p:nvSpPr>
        <p:spPr>
          <a:xfrm>
            <a:off x="673264" y="1786040"/>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tx1">
                    <a:lumMod val="95000"/>
                    <a:lumOff val="5000"/>
                  </a:schemeClr>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259811"/>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701762"/>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682540"/>
            <a:ext cx="11188165" cy="1019050"/>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761193"/>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6141341"/>
            <a:ext cx="5109178" cy="438150"/>
          </a:xfrm>
          <a:prstGeom prst="rect">
            <a:avLst/>
          </a:prstGeom>
          <a:noFill/>
          <a:ln w="0">
            <a:noFill/>
            <a:prstDash val="solid"/>
          </a:ln>
        </p:spPr>
        <p:txBody>
          <a:bodyPr/>
          <a:lstStyle/>
          <a:p>
            <a:pPr>
              <a:buNone/>
              <a:defRPr sz="975">
                <a:solidFill>
                  <a:srgbClr val="171313"/>
                </a:solidFill>
              </a:defRPr>
            </a:pPr>
            <a:r>
              <a:rPr sz="1400" b="1" dirty="0">
                <a:solidFill>
                  <a:srgbClr val="171313"/>
                </a:solidFill>
              </a:rPr>
              <a:t>IF</a:t>
            </a:r>
            <a:r>
              <a:rPr sz="1400" dirty="0">
                <a:solidFill>
                  <a:srgbClr val="171313"/>
                </a:solidFill>
              </a:rPr>
              <a:t> dry post-flowering </a:t>
            </a:r>
            <a:r>
              <a:rPr sz="1400" b="1" dirty="0">
                <a:solidFill>
                  <a:srgbClr val="171313"/>
                </a:solidFill>
              </a:rPr>
              <a:t>AND</a:t>
            </a:r>
            <a:r>
              <a:rPr sz="1400" dirty="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6135080"/>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THEN +121 mhl 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053223" y="6416039"/>
            <a:ext cx="2029326" cy="146321"/>
          </a:xfrm>
          <a:prstGeom prst="rect">
            <a:avLst/>
          </a:prstGeom>
          <a:noFill/>
          <a:ln w="0">
            <a:noFill/>
            <a:prstDash val="solid"/>
          </a:ln>
        </p:spPr>
        <p:txBody>
          <a:bodyPr/>
          <a:lstStyle/>
          <a:p>
            <a:pPr>
              <a:buNone/>
              <a:defRPr sz="863" i="1">
                <a:solidFill>
                  <a:srgbClr val="6F6761"/>
                </a:solidFill>
              </a:defRPr>
            </a:pPr>
            <a:r>
              <a:rPr sz="1200" i="1" dirty="0">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173579"/>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dirty="0">
                <a:solidFill>
                  <a:schemeClr val="accent2"/>
                </a:solidFill>
              </a:rPr>
              <a:t>CarenR asks a distributional question</a:t>
            </a:r>
          </a:p>
        </p:txBody>
      </p:sp>
      <p:pic>
        <p:nvPicPr>
          <p:cNvPr id="131" name="Picture 18"/>
          <p:cNvPicPr>
            <a:picLocks noChangeAspect="1"/>
          </p:cNvPicPr>
          <p:nvPr/>
        </p:nvPicPr>
        <p:blipFill>
          <a:blip r:embed="rId4"/>
          <a:srcRect t="9066"/>
          <a:stretch>
            <a:fillRect/>
          </a:stretch>
        </p:blipFill>
        <p:spPr>
          <a:xfrm>
            <a:off x="6409825" y="2912654"/>
            <a:ext cx="4981443" cy="2557281"/>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929087"/>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a:cxnSpLocks/>
            <a:endCxn id="131" idx="0"/>
          </p:cNvCxnSpPr>
          <p:nvPr/>
        </p:nvCxnSpPr>
        <p:spPr>
          <a:xfrm flipV="1">
            <a:off x="4836695" y="2912654"/>
            <a:ext cx="4063852" cy="3364155"/>
          </a:xfrm>
          <a:prstGeom prst="bentConnector4">
            <a:avLst>
              <a:gd name="adj1" fmla="val 19355"/>
              <a:gd name="adj2" fmla="val 106795"/>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gap-stripe">
            <a:extLst>
              <a:ext uri="{FF2B5EF4-FFF2-40B4-BE49-F238E27FC236}">
                <a16:creationId xmlns:a16="http://schemas.microsoft.com/office/drawing/2014/main" id="{29C6DDA8-B007-16ED-6E86-58E0D90C2150}"/>
              </a:ext>
            </a:extLst>
          </p:cNvPr>
          <p:cNvSpPr>
            <a:spLocks noGrp="1"/>
          </p:cNvSpPr>
          <p:nvPr/>
        </p:nvSpPr>
        <p:spPr>
          <a:xfrm>
            <a:off x="492293" y="1626571"/>
            <a:ext cx="76200" cy="755392"/>
          </a:xfrm>
          <a:prstGeom prst="rect">
            <a:avLst/>
          </a:prstGeom>
          <a:solidFill>
            <a:schemeClr val="tx1">
              <a:lumMod val="95000"/>
              <a:lumOff val="5000"/>
            </a:schemeClr>
          </a:solidFill>
          <a:ln w="0">
            <a:noFill/>
            <a:prstDash val="solid"/>
          </a:ln>
        </p:spPr>
        <p:txBody>
          <a:bodyPr/>
          <a:lstStyle/>
          <a:p>
            <a:endParaRPr/>
          </a:p>
        </p:txBody>
      </p: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3" name="Rectangle 2">
            <a:extLst>
              <a:ext uri="{FF2B5EF4-FFF2-40B4-BE49-F238E27FC236}">
                <a16:creationId xmlns:a16="http://schemas.microsoft.com/office/drawing/2014/main"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rPr dirty="0"/>
              <a:t>14</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427241"/>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427241"/>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712991"/>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093991"/>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1524000" y="2365454"/>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rPr dirty="0"/>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141741"/>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3951366"/>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712991"/>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093991"/>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7477125" y="2360687"/>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rPr dirty="0"/>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500" y="3141741"/>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rPr dirty="0"/>
              <a:t>The LAI family features in </a:t>
            </a:r>
            <a:r>
              <a:rPr lang="pt-PT" dirty="0"/>
              <a:t>4 /</a:t>
            </a:r>
            <a:r>
              <a:rPr dirty="0"/>
              <a:t> 20 rules.</a:t>
            </a:r>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3951366"/>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rPr dirty="0"/>
              <a:t>Canopy development, heat stress and harvest soil water dominate the regional rule set.</a:t>
            </a:r>
          </a:p>
        </p:txBody>
      </p:sp>
      <p:sp>
        <p:nvSpPr>
          <p:cNvPr id="19" name="TextBox 18">
            <a:extLst>
              <a:ext uri="{FF2B5EF4-FFF2-40B4-BE49-F238E27FC236}">
                <a16:creationId xmlns:a16="http://schemas.microsoft.com/office/drawing/2014/main" id="{148B2983-02A9-68D1-FCB9-457D7C8CB555}"/>
              </a:ext>
            </a:extLst>
          </p:cNvPr>
          <p:cNvSpPr txBox="1"/>
          <p:nvPr/>
        </p:nvSpPr>
        <p:spPr>
          <a:xfrm>
            <a:off x="0" y="5916026"/>
            <a:ext cx="12043317" cy="707886"/>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sz="2000"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400" b="1" dirty="0">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12082" y="206592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17582" y="206592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400050" y="172954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dirty="0">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26407" y="233914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dirty="0">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26407" y="29106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88357" y="28725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26857" y="28820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88357" y="31011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26407" y="33297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88357" y="32916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26857" y="33011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88357" y="35202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26407" y="37488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88357" y="37107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26857" y="37202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88357" y="39393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26407" y="41679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88357" y="41298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26857" y="41393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88357" y="43584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26407" y="45870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88357" y="45489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26857" y="45584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88357" y="47775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317582" y="172954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dirty="0">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31907" y="233914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31907" y="29106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93857" y="28725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32357" y="28820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93857" y="31011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31907" y="33297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93857" y="32916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32357" y="33011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93857" y="35202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31907" y="37488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93857" y="37107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32357" y="37202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93857" y="39393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31907" y="41679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93857" y="41298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32357" y="413936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93857" y="43584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31907" y="458704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93857" y="454894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32357" y="455846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93857" y="477754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953631"/>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6216050"/>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dirty="0">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6115556"/>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dirty="0">
                <a:solidFill>
                  <a:srgbClr val="111111"/>
                </a:solidFill>
                <a:latin typeface="Arial"/>
                <a:ea typeface="Arial"/>
                <a:cs typeface="Arial"/>
              </a:rPr>
              <a:t>Across methods: </a:t>
            </a:r>
            <a:r>
              <a:rPr sz="1650" b="1" dirty="0">
                <a:solidFill>
                  <a:schemeClr val="accent2"/>
                </a:solidFill>
                <a:latin typeface="Arial"/>
                <a:ea typeface="Arial"/>
                <a:cs typeface="Arial"/>
              </a:rPr>
              <a:t>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6517977"/>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2074113"/>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2074113"/>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2350338"/>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106696"/>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6781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6400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6496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8686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0972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0591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0687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2877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5163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4782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4878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7068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39354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8973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39069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1259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3545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3164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3260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5450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2350338"/>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106696"/>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6781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6400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6496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8686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0972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0591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0687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2877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5163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4782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4878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7068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39354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8973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3906921"/>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400"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1259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354596"/>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1050"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316496"/>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400"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326021"/>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400"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545096"/>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900">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4690308"/>
            <a:ext cx="11382375" cy="838200"/>
          </a:xfrm>
          <a:prstGeom prst="rect">
            <a:avLst/>
          </a:prstGeom>
          <a:solidFill>
            <a:srgbClr val="EAF5EE"/>
          </a:solidFill>
          <a:ln w="0">
            <a:noFill/>
            <a:prstDash val="solid"/>
          </a:ln>
        </p:spPr>
        <p:txBody>
          <a:bodyPr/>
          <a:lstStyle/>
          <a:p>
            <a:endParaRPr sz="2400"/>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126121"/>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400"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097546"/>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6091188"/>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74525"/>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417375"/>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356446"/>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dirty="0">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69213"/>
            <a:ext cx="5476875" cy="4098930"/>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378493" y="1435938"/>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dirty="0">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33400" y="1790700"/>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dirty="0">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125246"/>
            <a:ext cx="5133975" cy="247650"/>
          </a:xfrm>
          <a:prstGeom prst="rect">
            <a:avLst/>
          </a:prstGeom>
          <a:solidFill>
            <a:srgbClr val="FFFFFF"/>
          </a:solidFill>
          <a:ln w="9525">
            <a:solidFill>
              <a:srgbClr val="D6D1CB"/>
            </a:solidFill>
            <a:prstDash val="solid"/>
          </a:ln>
        </p:spPr>
        <p:txBody>
          <a:bodyPr/>
          <a:lstStyle/>
          <a:p>
            <a:endParaRPr sz="2400"/>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172871"/>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165251"/>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900" b="1" dirty="0">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274820" y="2150011"/>
            <a:ext cx="895350" cy="9575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dirty="0">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157631"/>
            <a:ext cx="495300" cy="144041"/>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900" b="1" dirty="0">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649621"/>
            <a:ext cx="5133975" cy="542925"/>
          </a:xfrm>
          <a:prstGeom prst="rect">
            <a:avLst/>
          </a:prstGeom>
          <a:solidFill>
            <a:srgbClr val="FFFFFF"/>
          </a:solidFill>
          <a:ln w="9525">
            <a:solidFill>
              <a:srgbClr val="D6D1CB"/>
            </a:solidFill>
            <a:prstDash val="solid"/>
          </a:ln>
        </p:spPr>
        <p:txBody>
          <a:bodyPr/>
          <a:lstStyle/>
          <a:p>
            <a:endParaRPr sz="2400"/>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7258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71629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900">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33887" y="2671295"/>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28.1%</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79249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211596"/>
            <a:ext cx="5133975" cy="542925"/>
          </a:xfrm>
          <a:prstGeom prst="rect">
            <a:avLst/>
          </a:prstGeom>
          <a:solidFill>
            <a:srgbClr val="FAFAFA"/>
          </a:solidFill>
          <a:ln w="9525">
            <a:solidFill>
              <a:srgbClr val="D6D1CB"/>
            </a:solidFill>
            <a:prstDash val="solid"/>
          </a:ln>
        </p:spPr>
        <p:txBody>
          <a:bodyPr/>
          <a:lstStyle/>
          <a:p>
            <a:endParaRPr sz="2400"/>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28779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278271"/>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900">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33887" y="3261558"/>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20.2%</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354471"/>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773571"/>
            <a:ext cx="5133975" cy="542925"/>
          </a:xfrm>
          <a:prstGeom prst="rect">
            <a:avLst/>
          </a:prstGeom>
          <a:solidFill>
            <a:srgbClr val="FFFFFF"/>
          </a:solidFill>
          <a:ln w="9525">
            <a:solidFill>
              <a:srgbClr val="D6D1CB"/>
            </a:solidFill>
            <a:prstDash val="solid"/>
          </a:ln>
        </p:spPr>
        <p:txBody>
          <a:bodyPr/>
          <a:lstStyle/>
          <a:p>
            <a:endParaRPr sz="2400"/>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84977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794958"/>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343400" y="3787770"/>
            <a:ext cx="828675"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25.8%</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391644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335546"/>
            <a:ext cx="5133975" cy="542925"/>
          </a:xfrm>
          <a:prstGeom prst="rect">
            <a:avLst/>
          </a:prstGeom>
          <a:solidFill>
            <a:srgbClr val="FAFAFA"/>
          </a:solidFill>
          <a:ln w="9525">
            <a:solidFill>
              <a:srgbClr val="D6D1CB"/>
            </a:solidFill>
            <a:prstDash val="solid"/>
          </a:ln>
        </p:spPr>
        <p:txBody>
          <a:bodyPr/>
          <a:lstStyle/>
          <a:p>
            <a:endParaRPr sz="2400"/>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41174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36412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post-Harvest </a:t>
            </a:r>
            <a:r>
              <a:rPr sz="900" dirty="0" err="1">
                <a:solidFill>
                  <a:srgbClr val="111111"/>
                </a:solidFill>
                <a:latin typeface="Arial"/>
                <a:ea typeface="Arial"/>
                <a:cs typeface="Arial"/>
              </a:rPr>
              <a:t>prev.yr</a:t>
            </a:r>
            <a:r>
              <a:rPr sz="900" dirty="0">
                <a:solidFill>
                  <a:srgbClr val="111111"/>
                </a:solidFill>
                <a:latin typeface="Arial"/>
                <a:ea typeface="Arial"/>
                <a:cs typeface="Arial"/>
              </a:rPr>
              <a:t> [0-2.3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33887" y="4387267"/>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21.3%</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478421"/>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897521"/>
            <a:ext cx="5133975" cy="542925"/>
          </a:xfrm>
          <a:prstGeom prst="rect">
            <a:avLst/>
          </a:prstGeom>
          <a:solidFill>
            <a:srgbClr val="FFFFFF"/>
          </a:solidFill>
          <a:ln w="9525">
            <a:solidFill>
              <a:srgbClr val="D6D1CB"/>
            </a:solidFill>
            <a:prstDash val="solid"/>
          </a:ln>
        </p:spPr>
        <p:txBody>
          <a:bodyPr/>
          <a:lstStyle/>
          <a:p>
            <a:endParaRPr sz="2400"/>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49737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496419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dirty="0">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900" dirty="0">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343400" y="4923759"/>
            <a:ext cx="809625"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24.7%</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040396"/>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69213"/>
            <a:ext cx="5476875" cy="4098930"/>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283993" y="1435938"/>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38900" y="1790700"/>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125246"/>
            <a:ext cx="5133975" cy="247650"/>
          </a:xfrm>
          <a:prstGeom prst="rect">
            <a:avLst/>
          </a:prstGeom>
          <a:solidFill>
            <a:srgbClr val="FFFFFF"/>
          </a:solidFill>
          <a:ln w="9525">
            <a:solidFill>
              <a:srgbClr val="D6D1CB"/>
            </a:solidFill>
            <a:prstDash val="solid"/>
          </a:ln>
        </p:spPr>
        <p:txBody>
          <a:bodyPr/>
          <a:lstStyle/>
          <a:p>
            <a:endParaRPr sz="2400"/>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172871"/>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157631"/>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900" b="1" dirty="0">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182225" y="2157631"/>
            <a:ext cx="847725" cy="102938"/>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900" b="1" dirty="0">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157631"/>
            <a:ext cx="52387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900" b="1" dirty="0">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649621"/>
            <a:ext cx="5133975" cy="542925"/>
          </a:xfrm>
          <a:prstGeom prst="rect">
            <a:avLst/>
          </a:prstGeom>
          <a:solidFill>
            <a:srgbClr val="FFFFFF"/>
          </a:solidFill>
          <a:ln w="9525">
            <a:solidFill>
              <a:srgbClr val="D6D1CB"/>
            </a:solidFill>
            <a:prstDash val="solid"/>
          </a:ln>
        </p:spPr>
        <p:txBody>
          <a:bodyPr/>
          <a:lstStyle/>
          <a:p>
            <a:endParaRPr sz="2400"/>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7258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594376"/>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294620" y="268581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dirty="0">
                <a:solidFill>
                  <a:srgbClr val="59636E"/>
                </a:solidFill>
                <a:latin typeface="Arial"/>
                <a:ea typeface="Arial"/>
                <a:cs typeface="Arial"/>
              </a:rPr>
              <a:t>21.2%</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900" dirty="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79249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211596"/>
            <a:ext cx="5133975" cy="542925"/>
          </a:xfrm>
          <a:prstGeom prst="rect">
            <a:avLst/>
          </a:prstGeom>
          <a:solidFill>
            <a:srgbClr val="FAFAFA"/>
          </a:solidFill>
          <a:ln w="9525">
            <a:solidFill>
              <a:srgbClr val="D6D1CB"/>
            </a:solidFill>
            <a:prstDash val="solid"/>
          </a:ln>
        </p:spPr>
        <p:txBody>
          <a:bodyPr/>
          <a:lstStyle/>
          <a:p>
            <a:endParaRPr sz="2400"/>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28779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23255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Wet-soil days post-Flowering </a:t>
            </a:r>
            <a:r>
              <a:rPr sz="900" dirty="0" err="1">
                <a:solidFill>
                  <a:srgbClr val="111111"/>
                </a:solidFill>
                <a:latin typeface="Arial"/>
                <a:ea typeface="Arial"/>
                <a:cs typeface="Arial"/>
              </a:rPr>
              <a:t>prev.yr</a:t>
            </a:r>
            <a:r>
              <a:rPr sz="900" dirty="0">
                <a:solidFill>
                  <a:srgbClr val="111111"/>
                </a:solidFill>
                <a:latin typeface="Arial"/>
                <a:ea typeface="Arial"/>
                <a:cs typeface="Arial"/>
              </a:rPr>
              <a:t>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294620" y="3247791"/>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21.2%</a:t>
            </a:r>
          </a:p>
          <a:p>
            <a:pPr algn="ctr">
              <a:buNone/>
              <a:defRPr sz="690">
                <a:solidFill>
                  <a:srgbClr val="59636E"/>
                </a:solidFill>
                <a:latin typeface="Arial"/>
                <a:ea typeface="Arial"/>
                <a:cs typeface="Arial"/>
              </a:defRPr>
            </a:pPr>
            <a:r>
              <a:rPr sz="90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354471"/>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773571"/>
            <a:ext cx="5133975" cy="542925"/>
          </a:xfrm>
          <a:prstGeom prst="rect">
            <a:avLst/>
          </a:prstGeom>
          <a:solidFill>
            <a:srgbClr val="FFFFFF"/>
          </a:solidFill>
          <a:ln w="9525">
            <a:solidFill>
              <a:srgbClr val="D6D1CB"/>
            </a:solidFill>
            <a:prstDash val="solid"/>
          </a:ln>
        </p:spPr>
        <p:txBody>
          <a:bodyPr/>
          <a:lstStyle/>
          <a:p>
            <a:endParaRPr sz="2400"/>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84977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794526"/>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900">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900">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294620" y="380976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27.5%</a:t>
            </a:r>
          </a:p>
          <a:p>
            <a:pPr algn="ctr">
              <a:buNone/>
              <a:defRPr sz="690">
                <a:solidFill>
                  <a:srgbClr val="59636E"/>
                </a:solidFill>
                <a:latin typeface="Arial"/>
                <a:ea typeface="Arial"/>
                <a:cs typeface="Arial"/>
              </a:defRPr>
            </a:pPr>
            <a:r>
              <a:rPr sz="90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391644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335546"/>
            <a:ext cx="5133975" cy="542925"/>
          </a:xfrm>
          <a:prstGeom prst="rect">
            <a:avLst/>
          </a:prstGeom>
          <a:solidFill>
            <a:srgbClr val="FAFAFA"/>
          </a:solidFill>
          <a:ln w="9525">
            <a:solidFill>
              <a:srgbClr val="D6D1CB"/>
            </a:solidFill>
            <a:prstDash val="solid"/>
          </a:ln>
        </p:spPr>
        <p:txBody>
          <a:bodyPr/>
          <a:lstStyle/>
          <a:p>
            <a:endParaRPr sz="2400"/>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411746"/>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356501"/>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post-Budburst </a:t>
            </a:r>
            <a:r>
              <a:rPr sz="900" dirty="0" err="1">
                <a:solidFill>
                  <a:srgbClr val="111111"/>
                </a:solidFill>
                <a:latin typeface="Arial"/>
                <a:ea typeface="Arial"/>
                <a:cs typeface="Arial"/>
              </a:rPr>
              <a:t>prev.yr</a:t>
            </a:r>
            <a:r>
              <a:rPr sz="900" dirty="0">
                <a:solidFill>
                  <a:srgbClr val="111111"/>
                </a:solidFill>
                <a:latin typeface="Arial"/>
                <a:ea typeface="Arial"/>
                <a:cs typeface="Arial"/>
              </a:rPr>
              <a:t> [11.2-13.5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294620" y="4371741"/>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25.0%</a:t>
            </a:r>
          </a:p>
          <a:p>
            <a:pPr algn="ctr">
              <a:buNone/>
              <a:defRPr sz="690">
                <a:solidFill>
                  <a:srgbClr val="59636E"/>
                </a:solidFill>
                <a:latin typeface="Arial"/>
                <a:ea typeface="Arial"/>
                <a:cs typeface="Arial"/>
              </a:defRPr>
            </a:pPr>
            <a:r>
              <a:rPr sz="90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478421"/>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100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897521"/>
            <a:ext cx="5133975" cy="542925"/>
          </a:xfrm>
          <a:prstGeom prst="rect">
            <a:avLst/>
          </a:prstGeom>
          <a:solidFill>
            <a:srgbClr val="FFFFFF"/>
          </a:solidFill>
          <a:ln w="9525">
            <a:solidFill>
              <a:srgbClr val="D6D1CB"/>
            </a:solidFill>
            <a:prstDash val="solid"/>
          </a:ln>
        </p:spPr>
        <p:txBody>
          <a:bodyPr/>
          <a:lstStyle/>
          <a:p>
            <a:endParaRPr sz="2400"/>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4973721"/>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900"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4918476"/>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900" dirty="0">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900" dirty="0">
                <a:solidFill>
                  <a:srgbClr val="111111"/>
                </a:solidFill>
                <a:latin typeface="Arial"/>
                <a:ea typeface="Arial"/>
                <a:cs typeface="Arial"/>
              </a:rPr>
              <a:t>AND Wet-soil days post-Flowering </a:t>
            </a:r>
            <a:r>
              <a:rPr sz="900" dirty="0" err="1">
                <a:solidFill>
                  <a:srgbClr val="111111"/>
                </a:solidFill>
                <a:latin typeface="Arial"/>
                <a:ea typeface="Arial"/>
                <a:cs typeface="Arial"/>
              </a:rPr>
              <a:t>prev.yr</a:t>
            </a:r>
            <a:r>
              <a:rPr sz="900" dirty="0">
                <a:solidFill>
                  <a:srgbClr val="111111"/>
                </a:solidFill>
                <a:latin typeface="Arial"/>
                <a:ea typeface="Arial"/>
                <a:cs typeface="Arial"/>
              </a:rPr>
              <a:t>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294620" y="4933716"/>
            <a:ext cx="71628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900">
                <a:solidFill>
                  <a:srgbClr val="59636E"/>
                </a:solidFill>
                <a:latin typeface="Arial"/>
                <a:ea typeface="Arial"/>
                <a:cs typeface="Arial"/>
              </a:rPr>
              <a:t>23.8%</a:t>
            </a:r>
          </a:p>
          <a:p>
            <a:pPr algn="ctr">
              <a:buNone/>
              <a:defRPr sz="690">
                <a:solidFill>
                  <a:srgbClr val="59636E"/>
                </a:solidFill>
                <a:latin typeface="Arial"/>
                <a:ea typeface="Arial"/>
                <a:cs typeface="Arial"/>
              </a:defRPr>
            </a:pPr>
            <a:r>
              <a:rPr sz="90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90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040396"/>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100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80814"/>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433214"/>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414164"/>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4100215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850336"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3200" b="1" dirty="0">
                <a:solidFill>
                  <a:srgbClr val="111111"/>
                </a:solidFill>
                <a:latin typeface="Arial"/>
                <a:ea typeface="Arial"/>
                <a:cs typeface="Arial"/>
              </a:rPr>
              <a:t>Three optimization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dirty="0">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55275"/>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dirty="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chemeClr val="accent3">
                    <a:lumMod val="60000"/>
                    <a:lumOff val="40000"/>
                  </a:schemeClr>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chemeClr val="accent3">
                    <a:lumMod val="60000"/>
                    <a:lumOff val="40000"/>
                  </a:schemeClr>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lang="pt-PT" dirty="0" err="1"/>
              <a:t>Goal</a:t>
            </a:r>
            <a:r>
              <a:rPr lang="pt-PT" dirty="0"/>
              <a:t> 1 - </a:t>
            </a: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LOESS; in RVV, wet-days persist while LAI and soil water are era-linked.</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rPr sz="3600" dirty="0"/>
              <a:t>Goal 2 recreates prediction-time information</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a16:creationId xmlns:a16="http://schemas.microsoft.com/office/drawing/2014/main"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extLst>
              <a:ext uri="{28A0092B-C50C-407E-A947-70E740481C1C}">
                <a14:useLocalDpi xmlns:a14="http://schemas.microsoft.com/office/drawing/2010/main" val="0"/>
              </a:ext>
            </a:extLst>
          </a:blip>
          <a:srcRect/>
          <a:stretch/>
        </p:blipFill>
        <p:spPr>
          <a:xfrm>
            <a:off x="214027" y="1771065"/>
            <a:ext cx="6072473" cy="3640672"/>
          </a:xfrm>
          <a:prstGeom prst="rect">
            <a:avLst/>
          </a:prstGeom>
        </p:spPr>
      </p:pic>
      <p:pic>
        <p:nvPicPr>
          <p:cNvPr id="3" name="Picture 2">
            <a:extLst>
              <a:ext uri="{FF2B5EF4-FFF2-40B4-BE49-F238E27FC236}">
                <a16:creationId xmlns:a16="http://schemas.microsoft.com/office/drawing/2014/main"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
        <p:nvSpPr>
          <p:cNvPr id="5" name="Rectangle 4">
            <a:extLst>
              <a:ext uri="{FF2B5EF4-FFF2-40B4-BE49-F238E27FC236}">
                <a16:creationId xmlns:a16="http://schemas.microsoft.com/office/drawing/2014/main" id="{3883AE34-5A6A-1C76-27A4-D9702D4DAA23}"/>
              </a:ext>
            </a:extLst>
          </p:cNvPr>
          <p:cNvSpPr/>
          <p:nvPr/>
        </p:nvSpPr>
        <p:spPr>
          <a:xfrm>
            <a:off x="214027" y="4428837"/>
            <a:ext cx="5325028" cy="1847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B611C75-6E16-F3A3-EF21-512F59F7F9D4}"/>
              </a:ext>
            </a:extLst>
          </p:cNvPr>
          <p:cNvSpPr/>
          <p:nvPr/>
        </p:nvSpPr>
        <p:spPr>
          <a:xfrm>
            <a:off x="6100477" y="3927456"/>
            <a:ext cx="5325028" cy="1847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2586037"/>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2586037"/>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919412"/>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3443287"/>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4586287"/>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919412"/>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3443287"/>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4586287"/>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3871912"/>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645100" y="1405074"/>
            <a:ext cx="11382375" cy="419100"/>
          </a:xfrm>
          <a:prstGeom prst="rect">
            <a:avLst/>
          </a:prstGeom>
          <a:noFill/>
        </p:spPr>
        <p:txBody>
          <a:bodyPr lIns="0" tIns="0" rIns="0" bIns="0" anchor="t">
            <a:normAutofit/>
          </a:bodyPr>
          <a:lstStyle/>
          <a:p>
            <a:pPr>
              <a:buNone/>
              <a:defRPr sz="2250" b="1">
                <a:solidFill>
                  <a:srgbClr val="151515"/>
                </a:solidFill>
                <a:latin typeface="Arial"/>
                <a:ea typeface="Arial"/>
                <a:cs typeface="Arial"/>
              </a:defRPr>
            </a:pPr>
            <a:r>
              <a:rPr sz="2400" dirty="0">
                <a:solidFill>
                  <a:srgbClr val="C00000"/>
                </a:solidFill>
              </a:rPr>
              <a:t>Pattern discovery and forecasting answer different questions.</a:t>
            </a:r>
          </a:p>
        </p:txBody>
      </p:sp>
      <p:sp>
        <p:nvSpPr>
          <p:cNvPr id="3" name="gap-stripe">
            <a:extLst>
              <a:ext uri="{FF2B5EF4-FFF2-40B4-BE49-F238E27FC236}">
                <a16:creationId xmlns:a16="http://schemas.microsoft.com/office/drawing/2014/main" id="{B9C4EDCF-AAF0-4636-CAD6-82F5A670F39C}"/>
              </a:ext>
            </a:extLst>
          </p:cNvPr>
          <p:cNvSpPr>
            <a:spLocks noGrp="1"/>
          </p:cNvSpPr>
          <p:nvPr/>
        </p:nvSpPr>
        <p:spPr>
          <a:xfrm>
            <a:off x="492701" y="1332772"/>
            <a:ext cx="76200" cy="515943"/>
          </a:xfrm>
          <a:prstGeom prst="rect">
            <a:avLst/>
          </a:prstGeom>
          <a:solidFill>
            <a:srgbClr val="C00000"/>
          </a:solidFill>
          <a:ln w="0">
            <a:noFill/>
            <a:prstDash val="solid"/>
          </a:ln>
        </p:spPr>
        <p:txBody>
          <a:bodyPr/>
          <a:lstStyle/>
          <a:p>
            <a:endParaRP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pic>
        <p:nvPicPr>
          <p:cNvPr id="441" name="Picture 440" descr="two_decision_seesaw.png"/>
          <p:cNvPicPr>
            <a:picLocks noChangeAspect="1"/>
          </p:cNvPicPr>
          <p:nvPr/>
        </p:nvPicPr>
        <p:blipFill>
          <a:blip r:embed="rId3"/>
          <a:stretch>
            <a:fillRect/>
          </a:stretch>
        </p:blipFill>
        <p:spPr>
          <a:xfrm>
            <a:off x="5148072" y="3529584"/>
            <a:ext cx="1883664" cy="1545028"/>
          </a:xfrm>
          <a:prstGeom prst="rect">
            <a:avLst/>
          </a:prstGeom>
        </p:spPr>
      </p:pic>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4B1748-9637-1278-F744-DF9CBEF779C9}"/>
              </a:ext>
            </a:extLst>
          </p:cNvPr>
          <p:cNvSpPr>
            <a:spLocks noGrp="1"/>
          </p:cNvSpPr>
          <p:nvPr/>
        </p:nvSpPr>
        <p:spPr>
          <a:xfrm>
            <a:off x="400049" y="5211905"/>
            <a:ext cx="11391899" cy="733425"/>
          </a:xfrm>
          <a:prstGeom prst="rect">
            <a:avLst/>
          </a:prstGeom>
          <a:solidFill>
            <a:srgbClr val="F0F1F2"/>
          </a:solidFill>
          <a:ln w="0">
            <a:noFill/>
            <a:prstDash val="solid"/>
          </a:ln>
        </p:spPr>
        <p:txBody>
          <a:bodyPr/>
          <a:lstStyle/>
          <a:p>
            <a:endParaRPr/>
          </a:p>
        </p:txBody>
      </p:sp>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379396"/>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636571"/>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599969"/>
            <a:ext cx="10644027" cy="619125"/>
          </a:xfrm>
          <a:prstGeom prst="rect">
            <a:avLst/>
          </a:prstGeom>
        </p:spPr>
        <p:txBody>
          <a:bodyPr lIns="0" tIns="0" rIns="0" bIns="0" anchor="t">
            <a:normAutofit fontScale="89226" lnSpcReduction="10000"/>
          </a:bodyPr>
          <a:lstStyle/>
          <a:p>
            <a:pPr algn="l">
              <a:buNone/>
              <a:defRPr sz="2100" b="1">
                <a:solidFill>
                  <a:srgbClr val="151515"/>
                </a:solidFill>
                <a:latin typeface="Arial"/>
                <a:ea typeface="Arial"/>
                <a:cs typeface="Arial"/>
              </a:defRPr>
            </a:pPr>
            <a:r>
              <a:rPr sz="2400" dirty="0">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49728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49728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49728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278303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40215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278303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40215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278303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40215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Identifies when rule-based prediction may become viable, as hypothesis for future work.</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45003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dirty="0">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Time is the only detrending covariate, so structural change and climate remain partly mixed.</a:t>
            </a:r>
          </a:p>
          <a:p>
            <a:pPr marL="342900" indent="-342900">
              <a:buFont typeface="Arial" panose="020B0604020202020204" pitchFamily="34" charset="0"/>
              <a:buChar char="•"/>
            </a:pPr>
            <a:endParaRPr sz="2400" dirty="0">
              <a:solidFill>
                <a:schemeClr val="bg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The walk-forward test has only 18 and 16 scenarios; the 5/5 RDD era-balanced result is exploratory.</a:t>
            </a:r>
          </a:p>
          <a:p>
            <a:pPr marL="342900" indent="-342900">
              <a:buFont typeface="Arial" panose="020B0604020202020204" pitchFamily="34" charset="0"/>
              <a:buChar char="•"/>
            </a:pPr>
            <a:endParaRPr sz="2400" dirty="0">
              <a:solidFill>
                <a:schemeClr val="bg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Add structural covariates: planted area, quotas and certified producers.</a:t>
            </a:r>
          </a:p>
          <a:p>
            <a:pPr marL="342900" indent="-342900">
              <a:buFont typeface="Arial" panose="020B0604020202020204" pitchFamily="34" charset="0"/>
              <a:buChar char="•"/>
            </a:pPr>
            <a:endParaRPr sz="2400" dirty="0">
              <a:solidFill>
                <a:srgbClr val="11111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Pre-register and prospectively validate the era-balanced hypothesis.</a:t>
            </a:r>
          </a:p>
          <a:p>
            <a:pPr marL="342900" indent="-342900">
              <a:buFont typeface="Arial" panose="020B0604020202020204" pitchFamily="34" charset="0"/>
              <a:buChar char="•"/>
            </a:pPr>
            <a:endParaRPr sz="2400" dirty="0">
              <a:solidFill>
                <a:srgbClr val="111111"/>
              </a:solidFill>
              <a:latin typeface="Arial"/>
              <a:ea typeface="Arial"/>
              <a:cs typeface="Arial"/>
            </a:endParaRPr>
          </a:p>
          <a:p>
            <a:pPr marL="285750" indent="-285750">
              <a:buFont typeface="Arial" panose="020B0604020202020204" pitchFamily="34" charset="0"/>
              <a:buChar char="•"/>
              <a:defRPr sz="1350">
                <a:solidFill>
                  <a:srgbClr val="111111"/>
                </a:solidFill>
                <a:latin typeface="Arial"/>
                <a:ea typeface="Arial"/>
                <a:cs typeface="Arial"/>
              </a:defRPr>
            </a:pPr>
            <a:r>
              <a:rPr sz="1600" dirty="0">
                <a:solidFill>
                  <a:srgbClr val="111111"/>
                </a:solidFill>
                <a:latin typeface="Arial"/>
                <a:ea typeface="Arial"/>
                <a:cs typeface="Arial"/>
              </a:rPr>
              <a:t>Test other regional time series with weaker trends and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THE THESIS DOES NOT CLAIM AN OPERATIONAL FORECAST YET; </a:t>
            </a:r>
            <a:endParaRPr lang="pt-PT" b="1" dirty="0">
              <a:solidFill>
                <a:schemeClr val="accent2"/>
              </a:solidFill>
              <a:latin typeface="Arial"/>
              <a:ea typeface="Arial"/>
              <a:cs typeface="Arial"/>
            </a:endParaRPr>
          </a:p>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rPr dirty="0"/>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5204</Words>
  <Application>Microsoft Macintosh PowerPoint</Application>
  <DocSecurity>0</DocSecurity>
  <PresentationFormat>Widescreen</PresentationFormat>
  <Paragraphs>633</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Hugo Filipe Nogueira</cp:lastModifiedBy>
  <cp:revision>15</cp:revision>
  <dcterms:created xsi:type="dcterms:W3CDTF">2026-07-14T00:04:33Z</dcterms:created>
  <dcterms:modified xsi:type="dcterms:W3CDTF">2026-07-14T13:55:36Z</dcterms:modified>
</cp:coreProperties>
</file>