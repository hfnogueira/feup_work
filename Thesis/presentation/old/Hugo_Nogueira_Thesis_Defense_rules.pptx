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b3eac680ed4742" /><Relationship Type="http://schemas.openxmlformats.org/officeDocument/2006/relationships/extended-properties" Target="/docProps/app.xml" Id="R8e2841dbeade41ba" /><Relationship Type="http://schemas.openxmlformats.org/officeDocument/2006/relationships/officeDocument" Target="/ppt/presentation.xml" Id="Rc4bd146ac4124876" /></Relationships>
</file>

<file path=ppt/presentation.xml><?xml version="1.0" encoding="utf-8"?>
<p:presentation xmlns:p="http://schemas.openxmlformats.org/presentationml/2006/main">
  <p:sldMasterIdLst>
    <p:sldMasterId xmlns:r="http://schemas.openxmlformats.org/officeDocument/2006/relationships" id="2147483648" r:id="R1b6b1133a76a4e48"/>
  </p:sldMasterIdLst>
  <p:notesMasterIdLst>
    <p:notesMasterId xmlns:r="http://schemas.openxmlformats.org/officeDocument/2006/relationships" r:id="R5e9c2de6473c458f"/>
  </p:notesMasterIdLst>
  <p:sldIdLst>
    <p:sldId xmlns:r="http://schemas.openxmlformats.org/officeDocument/2006/relationships" id="256" r:id="Raac7059ed1f048ef"/>
    <p:sldId xmlns:r="http://schemas.openxmlformats.org/officeDocument/2006/relationships" id="257" r:id="Re1001cb7c7c64662"/>
    <p:sldId xmlns:r="http://schemas.openxmlformats.org/officeDocument/2006/relationships" id="258" r:id="Re2adcb9c9c914d14"/>
    <p:sldId xmlns:r="http://schemas.openxmlformats.org/officeDocument/2006/relationships" id="259" r:id="R912dbbdf22374f26"/>
    <p:sldId xmlns:r="http://schemas.openxmlformats.org/officeDocument/2006/relationships" id="260" r:id="Rc9f6434d73654bb3"/>
    <p:sldId xmlns:r="http://schemas.openxmlformats.org/officeDocument/2006/relationships" id="261" r:id="R23123cc01d024990"/>
    <p:sldId xmlns:r="http://schemas.openxmlformats.org/officeDocument/2006/relationships" id="262" r:id="R1e32088dcdb94801"/>
    <p:sldId xmlns:r="http://schemas.openxmlformats.org/officeDocument/2006/relationships" id="263" r:id="Ra3b8d19a9c3a4fa7"/>
    <p:sldId xmlns:r="http://schemas.openxmlformats.org/officeDocument/2006/relationships" id="264" r:id="R04161ffee86a42c2"/>
    <p:sldId xmlns:r="http://schemas.openxmlformats.org/officeDocument/2006/relationships" id="265" r:id="Rbd966d31e5df43f3"/>
    <p:sldId xmlns:r="http://schemas.openxmlformats.org/officeDocument/2006/relationships" id="266" r:id="R2a5c40a6807a4bfe"/>
    <p:sldId xmlns:r="http://schemas.openxmlformats.org/officeDocument/2006/relationships" id="267" r:id="Rfe858115bd8948cf"/>
    <p:sldId xmlns:r="http://schemas.openxmlformats.org/officeDocument/2006/relationships" id="268" r:id="Re2064feeb9af4ec4"/>
    <p:sldId xmlns:r="http://schemas.openxmlformats.org/officeDocument/2006/relationships" id="269" r:id="Rc10a35c0b61f45f2"/>
    <p:sldId xmlns:r="http://schemas.openxmlformats.org/officeDocument/2006/relationships" id="270" r:id="R74ccfa922f0c4a63"/>
    <p:sldId xmlns:r="http://schemas.openxmlformats.org/officeDocument/2006/relationships" id="271" r:id="R8078897d18544de1"/>
    <p:sldId xmlns:r="http://schemas.openxmlformats.org/officeDocument/2006/relationships" id="272" r:id="R2c29ad9c82c7414a"/>
    <p:sldId xmlns:r="http://schemas.openxmlformats.org/officeDocument/2006/relationships" id="273" r:id="Rf59b28d320064094"/>
    <p:sldId xmlns:r="http://schemas.openxmlformats.org/officeDocument/2006/relationships" id="274" r:id="R4537ab8a1c8d45c5"/>
    <p:sldId xmlns:r="http://schemas.openxmlformats.org/officeDocument/2006/relationships" id="275" r:id="Rbfb79d6cad9b49d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e0cd4df7b74a8b" /><Relationship Type="http://schemas.openxmlformats.org/officeDocument/2006/relationships/slideMaster" Target="/ppt/slideMasters/slideMaster1.xml" Id="R1b6b1133a76a4e48" /><Relationship Type="http://schemas.openxmlformats.org/officeDocument/2006/relationships/notesMaster" Target="/ppt/notesMasters/notesMaster1.xml" Id="R5e9c2de6473c458f" /><Relationship Type="http://schemas.openxmlformats.org/officeDocument/2006/relationships/presProps" Target="/ppt/presProps.xml" Id="Ree5589dbf20d4d2f" /><Relationship Type="http://schemas.openxmlformats.org/officeDocument/2006/relationships/tableStyles" Target="/ppt/tableStyles.xml" Id="Rb1e419cbc4af4fd1" /><Relationship Type="http://schemas.openxmlformats.org/officeDocument/2006/relationships/slide" Target="/ppt/slides/slide1.xml" Id="Raac7059ed1f048ef" /><Relationship Type="http://schemas.openxmlformats.org/officeDocument/2006/relationships/slide" Target="/ppt/slides/slide2.xml" Id="Re1001cb7c7c64662" /><Relationship Type="http://schemas.openxmlformats.org/officeDocument/2006/relationships/slide" Target="/ppt/slides/slide3.xml" Id="Re2adcb9c9c914d14" /><Relationship Type="http://schemas.openxmlformats.org/officeDocument/2006/relationships/slide" Target="/ppt/slides/slide4.xml" Id="R912dbbdf22374f26" /><Relationship Type="http://schemas.openxmlformats.org/officeDocument/2006/relationships/slide" Target="/ppt/slides/slide5.xml" Id="Rc9f6434d73654bb3" /><Relationship Type="http://schemas.openxmlformats.org/officeDocument/2006/relationships/slide" Target="/ppt/slides/slide6.xml" Id="R23123cc01d024990" /><Relationship Type="http://schemas.openxmlformats.org/officeDocument/2006/relationships/slide" Target="/ppt/slides/slide7.xml" Id="R1e32088dcdb94801" /><Relationship Type="http://schemas.openxmlformats.org/officeDocument/2006/relationships/slide" Target="/ppt/slides/slide8.xml" Id="Ra3b8d19a9c3a4fa7" /><Relationship Type="http://schemas.openxmlformats.org/officeDocument/2006/relationships/slide" Target="/ppt/slides/slide9.xml" Id="R04161ffee86a42c2" /><Relationship Type="http://schemas.openxmlformats.org/officeDocument/2006/relationships/slide" Target="/ppt/slides/slide10.xml" Id="Rbd966d31e5df43f3" /><Relationship Type="http://schemas.openxmlformats.org/officeDocument/2006/relationships/slide" Target="/ppt/slides/slide11.xml" Id="R2a5c40a6807a4bfe" /><Relationship Type="http://schemas.openxmlformats.org/officeDocument/2006/relationships/slide" Target="/ppt/slides/slide12.xml" Id="Rfe858115bd8948cf" /><Relationship Type="http://schemas.openxmlformats.org/officeDocument/2006/relationships/slide" Target="/ppt/slides/slide13.xml" Id="Re2064feeb9af4ec4" /><Relationship Type="http://schemas.openxmlformats.org/officeDocument/2006/relationships/slide" Target="/ppt/slides/slide14.xml" Id="Rc10a35c0b61f45f2" /><Relationship Type="http://schemas.openxmlformats.org/officeDocument/2006/relationships/slide" Target="/ppt/slides/slide15.xml" Id="R74ccfa922f0c4a63" /><Relationship Type="http://schemas.openxmlformats.org/officeDocument/2006/relationships/slide" Target="/ppt/slides/slide16.xml" Id="R8078897d18544de1" /><Relationship Type="http://schemas.openxmlformats.org/officeDocument/2006/relationships/slide" Target="/ppt/slides/slide17.xml" Id="R2c29ad9c82c7414a" /><Relationship Type="http://schemas.openxmlformats.org/officeDocument/2006/relationships/slide" Target="/ppt/slides/slide18.xml" Id="Rf59b28d320064094" /><Relationship Type="http://schemas.openxmlformats.org/officeDocument/2006/relationships/slide" Target="/ppt/slides/slide19.xml" Id="R4537ab8a1c8d45c5" /><Relationship Type="http://schemas.openxmlformats.org/officeDocument/2006/relationships/slide" Target="/ppt/slides/slide20.xml" Id="Rbfb79d6cad9b49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e7ab3856994e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d9cd30a2a54514" /><Relationship Type="http://schemas.openxmlformats.org/officeDocument/2006/relationships/notesMaster" Target="/ppt/notesMasters/notesMaster1.xml" Id="Rd469023dbf8940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5d538f5e4b4167" /><Relationship Type="http://schemas.openxmlformats.org/officeDocument/2006/relationships/notesMaster" Target="/ppt/notesMasters/notesMaster1.xml" Id="R256a19e386174b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8e3ee9df67466b" /><Relationship Type="http://schemas.openxmlformats.org/officeDocument/2006/relationships/notesMaster" Target="/ppt/notesMasters/notesMaster1.xml" Id="R6ff386e03b6342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e820ac63ca44e0" /><Relationship Type="http://schemas.openxmlformats.org/officeDocument/2006/relationships/notesMaster" Target="/ppt/notesMasters/notesMaster1.xml" Id="Rbbb78bcc49e346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40acc80fb141d0" /><Relationship Type="http://schemas.openxmlformats.org/officeDocument/2006/relationships/notesMaster" Target="/ppt/notesMasters/notesMaster1.xml" Id="Rf3e088ef143941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ec1a6f40b74a61" /><Relationship Type="http://schemas.openxmlformats.org/officeDocument/2006/relationships/notesMaster" Target="/ppt/notesMasters/notesMaster1.xml" Id="Rb66c86e9bec147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271e477fb34817" /><Relationship Type="http://schemas.openxmlformats.org/officeDocument/2006/relationships/notesMaster" Target="/ppt/notesMasters/notesMaster1.xml" Id="Ra08ecdd5684046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b5df818b444f7d" /><Relationship Type="http://schemas.openxmlformats.org/officeDocument/2006/relationships/notesMaster" Target="/ppt/notesMasters/notesMaster1.xml" Id="Rafb9888c8e054a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09a6201f381e4d0b" /><Relationship Type="http://schemas.openxmlformats.org/officeDocument/2006/relationships/notesMaster" Target="/ppt/notesMasters/notesMaster1.xml" Id="R22c1ffcba31149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5044a21db24e55" /><Relationship Type="http://schemas.openxmlformats.org/officeDocument/2006/relationships/notesMaster" Target="/ppt/notesMasters/notesMaster1.xml" Id="R143952c28d6342f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6dd1d4a3b0f4e52" /><Relationship Type="http://schemas.openxmlformats.org/officeDocument/2006/relationships/notesMaster" Target="/ppt/notesMasters/notesMaster1.xml" Id="R52c55b88b3f4448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e4711aaa0ee4ec9" /><Relationship Type="http://schemas.openxmlformats.org/officeDocument/2006/relationships/notesMaster" Target="/ppt/notesMasters/notesMaster1.xml" Id="Ref337af20d034d5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6e32f9d233e4c59" /><Relationship Type="http://schemas.openxmlformats.org/officeDocument/2006/relationships/notesMaster" Target="/ppt/notesMasters/notesMaster1.xml" Id="R72074ce55e70481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0ac8e7e7a504934" /><Relationship Type="http://schemas.openxmlformats.org/officeDocument/2006/relationships/notesMaster" Target="/ppt/notesMasters/notesMaster1.xml" Id="Rd296538c6fdf4be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f86601e28ec4901" /><Relationship Type="http://schemas.openxmlformats.org/officeDocument/2006/relationships/notesMaster" Target="/ppt/notesMasters/notesMaster1.xml" Id="Rca45b38643df4a8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abfd7392c8f4c00" /><Relationship Type="http://schemas.openxmlformats.org/officeDocument/2006/relationships/notesMaster" Target="/ppt/notesMasters/notesMaster1.xml" Id="Re7af5d3c5811471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c8d12cffc7541c4" /><Relationship Type="http://schemas.openxmlformats.org/officeDocument/2006/relationships/notesMaster" Target="/ppt/notesMasters/notesMaster1.xml" Id="Rc92c063e8a6d43b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890c288029a469b" /><Relationship Type="http://schemas.openxmlformats.org/officeDocument/2006/relationships/notesMaster" Target="/ppt/notesMasters/notesMaster1.xml" Id="R4421ba137c9e45b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a7b50729ebf4c88" /><Relationship Type="http://schemas.openxmlformats.org/officeDocument/2006/relationships/notesMaster" Target="/ppt/notesMasters/notesMaster1.xml" Id="Rf9f9036bf31d406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a6f4f4f4bf24e36" /><Relationship Type="http://schemas.openxmlformats.org/officeDocument/2006/relationships/notesMaster" Target="/ppt/notesMasters/notesMaster1.xml" Id="Raef7884c3cc640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practical tension: stakeholders need an early, credible forecast, but they also need to understand and audit the drivers behind it. This thesis asks whether interpretable climate rules can deliver both.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business framing explicit. The output is not a score for its own sake. It must support harvest, storage, capacity and risk decisions. Interpretability matters because the users are agronomists, producers, cooperatives and regulators.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Stress that regional production is an unusually noisy target. Climate is only one layer. Vineyard heterogeneity and structural breaks can be larger than the climate effect, while the sample remains fewer than 90 annual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 two regions as a natural comparative experiment: same feature engineering, algorithms and validation; different structural histories and climate regimes. The difference is not cosmetic — it tests when the method succeeds or fails.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two carry-over mechanisms. Inflorescence primordia form in y0 and set an upper bound on bunch number. Reserves accumulated after the previous harvest influence reproductive investment in y1. Therefore, a current-year-only dataset is physiologically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infographic to show how daily weather is converted into windows around bud break, flowering, start of maturity and harvest. The final set contains temperature, rainfall, wet days, LAI, soil water and stress indicators, with current- and previous-year windows.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thesis is deliberately not a contest against every black-box model. It targets the missing combination: continuous target, long non-stationary data, interpretable rules and rigorous predictive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that the two goals are complementary, not interchangeable. A valid association can be valuable for understanding and still be too weak to improve future forecasts.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scientific value comes from holding the pipeline constant. Divergent outcomes can then be interpreted in relation to structural history, signal availability and noise rather than arbitrary modelling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complete algorithm set, then focus on CarenR. CarenR does not predict by fitting one global equation: it searches for recurring climate-defined subgroups whose residual distribution differs from the full historical distribution. RIPPER, M5Rules and the Decision Tree answer different optimisation questions; the naive models establish whether climate adds value at 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algorithm at a conceptual level: discretise features, search conjunctions, compare subgroup and global residual distributions with the KS test, then retain rules with adequate significance and support. Avoid spending time on beam-search implementation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rule counts and then the dominant variables. Avoid implying causality. These are statistically validated associations with agronomic coherence, not controlled experiments.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make the rules concrete. In Douro, the top rules mostly describe above-trend years: dry post-flowering and post-maturity windows, moderate pre-harvest soil water, and bounded heat. In Vinho Verde, four of the top five rules are below-trend and describe cool, moist conditions; the one above-trend rule is the warm-but-not-extreme carry-over case. Then make the robustness point: harvest soil water and the LAI/canopy family are selected across CarenR, RIPPER and M5Rules, so these are not just CarenR artefacts. Previous-year summer temperature is a secondary all-method carry-over signal, but the two easiest findings to defend are water status and canopy vigour.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answers RQ2 with nuance. LOESS confirms that the Douro signals, and the RVV wet-days signal, are not merely era labels. But RVV LAI and harvest soil-water collapse under LOESS, which is itself informative: some discovered structure is climate signal, and some is entangled with regional structural change. Cross-algorithm convergence gives a second robustness check because the three methods optimise different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Emphasise leakage prevention. Each scenario behaves like a real historical forecast: all thresholds, features and rules are learned only from the past. The primary comparator is the training median because it is the optimal constant forecast under MAE.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negative result directly. In Douro the best CarenR variant is close but not significantly different from the median. In Vinho Verde the gap is large, and when rules fire they actively worsen forecasts. Goal 2 is not achieved in aggregate.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conceptual heart of the thesis. Statistical association only requires a consistent shift in distribution. Prediction requires the shift to be large enough to reduce error in unseen years. The remaining variance includes disease, local weather, logistics and measurement noise.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original two-decision contribution. Flexible detrending improves the baseline, but can remove the residual signal required for rules. With time as the only structural covariate, these objectives compete. This diagnoses the failure rather than merely reporting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negative predictive result as useful boundary-setting. The work contributes a transferable way to diagnose rule-based forecasting on non-stationary series. For business, the rules support learning and scenarios today, but not automated forecast replacement.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opening question. The rules reveal credible agroclimatic structure, but operational prediction requires explicit structural covariates and prospective validation. A key next test is whether CarenR performs better on other wine regions or agricultural time series where the long-run structural trend is weaker, because that would reduce the era confound and let the climate signal be evaluated more cleanly.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825fa4c75544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1331228a604141" /><Relationship Type="http://schemas.openxmlformats.org/officeDocument/2006/relationships/slideLayout" Target="/ppt/slideLayouts/slideLayout1.xml" Id="Rcd66f7699c9e48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66f7699c9e48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900903f60c48ca" /><Relationship Type="http://schemas.openxmlformats.org/officeDocument/2006/relationships/notesSlide" Target="/ppt/notesSlides/notesSlide1.xml" Id="Rb09220d5571548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7d0b51071fd4248" /><Relationship Type="http://schemas.openxmlformats.org/officeDocument/2006/relationships/notesSlide" Target="/ppt/notesSlides/notesSlide2.xml" Id="Rfd99d7dd1dcd40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9a5b20da0d24f70" /><Relationship Type="http://schemas.openxmlformats.org/officeDocument/2006/relationships/notesSlide" Target="/ppt/notesSlides/notesSlide3.xml" Id="R18c29663610b45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2cc9a6626d54041" /><Relationship Type="http://schemas.openxmlformats.org/officeDocument/2006/relationships/image" Target="/ppt/media/image.png" Id="Rd5c39291230649ba" /><Relationship Type="http://schemas.openxmlformats.org/officeDocument/2006/relationships/image" Target="/ppt/media/image2.png" Id="R76236b191eb54805" /><Relationship Type="http://schemas.openxmlformats.org/officeDocument/2006/relationships/notesSlide" Target="/ppt/notesSlides/notesSlide4.xml" Id="R140529f0d26046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a73b2792ac74c9e" /><Relationship Type="http://schemas.openxmlformats.org/officeDocument/2006/relationships/notesSlide" Target="/ppt/notesSlides/notesSlide5.xml" Id="Ra9412d50b89249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1bc36df94d2416a" /><Relationship Type="http://schemas.openxmlformats.org/officeDocument/2006/relationships/image" Target="/ppt/media/image3.png" Id="R69cdc31222dd4df9" /><Relationship Type="http://schemas.openxmlformats.org/officeDocument/2006/relationships/notesSlide" Target="/ppt/notesSlides/notesSlide6.xml" Id="Rc94e3dce3bc843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5aa8df83bcd4ef2" /><Relationship Type="http://schemas.openxmlformats.org/officeDocument/2006/relationships/notesSlide" Target="/ppt/notesSlides/notesSlide7.xml" Id="Rcfa085e076c94b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ebd9faa81ff4779" /><Relationship Type="http://schemas.openxmlformats.org/officeDocument/2006/relationships/notesSlide" Target="/ppt/notesSlides/notesSlide8.xml" Id="R9362af8c1c7f4a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0a24b4e127c4518" /><Relationship Type="http://schemas.openxmlformats.org/officeDocument/2006/relationships/notesSlide" Target="/ppt/notesSlides/notesSlide9.xml" Id="Rb0a2a0f666e54c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8e719ede25c4f2e" /><Relationship Type="http://schemas.openxmlformats.org/officeDocument/2006/relationships/notesSlide" Target="/ppt/notesSlides/notesSlide10.xml" Id="R3608290b85eb4db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db94df88e4b465b" /><Relationship Type="http://schemas.openxmlformats.org/officeDocument/2006/relationships/image" Target="/ppt/media/image4.png" Id="R0a05c4311b6a4cef" /><Relationship Type="http://schemas.openxmlformats.org/officeDocument/2006/relationships/notesSlide" Target="/ppt/notesSlides/notesSlide11.xml" Id="R93d04018aade43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af0314b809344f4" /><Relationship Type="http://schemas.openxmlformats.org/officeDocument/2006/relationships/notesSlide" Target="/ppt/notesSlides/notesSlide12.xml" Id="R0aa82e3bb2d84c4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aefecd297e14b94" /><Relationship Type="http://schemas.openxmlformats.org/officeDocument/2006/relationships/notesSlide" Target="/ppt/notesSlides/notesSlide13.xml" Id="Rc02d7fba54d0438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5f6c9610dfe4168" /><Relationship Type="http://schemas.openxmlformats.org/officeDocument/2006/relationships/notesSlide" Target="/ppt/notesSlides/notesSlide14.xml" Id="Re5b81d21163f4a6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104baf5929846ec" /><Relationship Type="http://schemas.openxmlformats.org/officeDocument/2006/relationships/image" Target="/ppt/media/image5.png" Id="R5a7f6baaa8bc434c" /><Relationship Type="http://schemas.openxmlformats.org/officeDocument/2006/relationships/notesSlide" Target="/ppt/notesSlides/notesSlide15.xml" Id="R068d47c88886495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41a3b3138e24d09" /><Relationship Type="http://schemas.openxmlformats.org/officeDocument/2006/relationships/image" Target="/ppt/media/image6.png" Id="R40e0b6f4861a4c50" /><Relationship Type="http://schemas.openxmlformats.org/officeDocument/2006/relationships/image" Target="/ppt/media/image7.png" Id="R04bf876eb7e047d6" /><Relationship Type="http://schemas.openxmlformats.org/officeDocument/2006/relationships/notesSlide" Target="/ppt/notesSlides/notesSlide16.xml" Id="R1efa59043cf445a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bb3adf195594f85" /><Relationship Type="http://schemas.openxmlformats.org/officeDocument/2006/relationships/notesSlide" Target="/ppt/notesSlides/notesSlide17.xml" Id="Rc7541a2f6f404d5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3d7abc99eba46fc" /><Relationship Type="http://schemas.openxmlformats.org/officeDocument/2006/relationships/notesSlide" Target="/ppt/notesSlides/notesSlide18.xml" Id="Re39299b8520649d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b80aa16d03448a6" /><Relationship Type="http://schemas.openxmlformats.org/officeDocument/2006/relationships/notesSlide" Target="/ppt/notesSlides/notesSlide19.xml" Id="R4517642a8a5e423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e1cfdf28b1c44a1" /><Relationship Type="http://schemas.openxmlformats.org/officeDocument/2006/relationships/notesSlide" Target="/ppt/notesSlides/notesSlide20.xml" Id="Rc18f10579c8242a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98AAC14-D9D2-421D-87CA-74CBACF475D7}"/>
              </a:ext>
            </a:extLst>
          </p:cNvPr>
          <p:cNvSpPr>
            <a:spLocks xmlns:a="http://schemas.openxmlformats.org/drawingml/2006/main" noGrp="1"/>
          </p:cNvSpPr>
          <p:nvPr/>
        </p:nvSpPr>
        <p:spPr>
          <a:xfrm xmlns:a="http://schemas.openxmlformats.org/drawingml/2006/main">
            <a:off x="400050" y="361950"/>
            <a:ext cx="72390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MASTER'S DISSERTATION · FEUP · 2026</a:t>
            </a:r>
          </a:p>
        </p:txBody>
      </p:sp>
      <p:sp>
        <p:nvSpPr>
          <p:cNvPr id="2" name="">
            <a:extLst xmlns:a="http://schemas.openxmlformats.org/drawingml/2006/main">
              <a:ext uri="{FF2B5EF4-FFF2-40B4-BE49-F238E27FC236}">
                <a16:creationId xmlns:a16="http://schemas.microsoft.com/office/drawing/2014/main" id="{8D7BC4C7-9A32-42AC-8B68-758399A684C9}"/>
              </a:ext>
            </a:extLst>
          </p:cNvPr>
          <p:cNvSpPr>
            <a:spLocks xmlns:a="http://schemas.openxmlformats.org/drawingml/2006/main" noGrp="1"/>
          </p:cNvSpPr>
          <p:nvPr/>
        </p:nvSpPr>
        <p:spPr>
          <a:xfrm xmlns:a="http://schemas.openxmlformats.org/drawingml/2006/main">
            <a:off x="400050" y="1695450"/>
            <a:ext cx="10287000" cy="2000250"/>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400" b="1">
                <a:solidFill>
                  <a:srgbClr val="151515"/>
                </a:solidFill>
                <a:latin typeface="Arial"/>
                <a:ea typeface="Arial"/>
                <a:cs typeface="Arial"/>
              </a:defRPr>
            </a:pPr>
            <a:r>
              <a:t>Wine production forecasting with interpretable rules</a:t>
            </a:r>
          </a:p>
        </p:txBody>
      </p:sp>
      <p:sp>
        <p:nvSpPr>
          <p:cNvPr id="3" name="">
            <a:extLst xmlns:a="http://schemas.openxmlformats.org/drawingml/2006/main">
              <a:ext uri="{FF2B5EF4-FFF2-40B4-BE49-F238E27FC236}">
                <a16:creationId xmlns:a16="http://schemas.microsoft.com/office/drawing/2014/main" id="{1BFA9A0A-E8FA-4A33-B80D-4EE9AF4FDBCA}"/>
              </a:ext>
            </a:extLst>
          </p:cNvPr>
          <p:cNvSpPr>
            <a:spLocks xmlns:a="http://schemas.openxmlformats.org/drawingml/2006/main" noGrp="1"/>
          </p:cNvSpPr>
          <p:nvPr/>
        </p:nvSpPr>
        <p:spPr>
          <a:xfrm xmlns:a="http://schemas.openxmlformats.org/drawingml/2006/main">
            <a:off x="400050" y="4095750"/>
            <a:ext cx="809625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0">
                <a:solidFill>
                  <a:srgbClr val="60656C"/>
                </a:solidFill>
                <a:latin typeface="Arial"/>
                <a:ea typeface="Arial"/>
                <a:cs typeface="Arial"/>
              </a:defRPr>
            </a:pPr>
            <a:r>
              <a:t>What can climate explain — and what can it reliably predict?</a:t>
            </a:r>
          </a:p>
        </p:txBody>
      </p:sp>
      <p:cxnSp>
        <p:nvCxnSpPr>
          <p:cNvPr id="39" name=""/>
          <p:cNvCxnSpPr/>
          <p:nvPr/>
        </p:nvCxnSpPr>
        <p:spPr>
          <a:xfrm xmlns:a="http://schemas.openxmlformats.org/drawingml/2006/main">
            <a:off x="400050" y="5048250"/>
            <a:ext cx="11391900" cy="953"/>
          </a:xfrm>
          <a:prstGeom xmlns:a="http://schemas.openxmlformats.org/drawingml/2006/main" prst="straightConnector1">
            <a:avLst/>
          </a:prstGeom>
          <a:ln xmlns:a="http://schemas.openxmlformats.org/drawingml/2006/main" w="38100">
            <a:solidFill>
              <a:srgbClr val="7B1E3A"/>
            </a:solidFill>
            <a:prstDash val="solid"/>
          </a:ln>
        </p:spPr>
      </p:cxnSp>
      <p:sp>
        <p:nvSpPr>
          <p:cNvPr id="5" name="">
            <a:extLst xmlns:a="http://schemas.openxmlformats.org/drawingml/2006/main">
              <a:ext uri="{FF2B5EF4-FFF2-40B4-BE49-F238E27FC236}">
                <a16:creationId xmlns:a16="http://schemas.microsoft.com/office/drawing/2014/main" id="{020FEF38-FF70-441C-B96F-A52F19298A0B}"/>
              </a:ext>
            </a:extLst>
          </p:cNvPr>
          <p:cNvSpPr>
            <a:spLocks xmlns:a="http://schemas.openxmlformats.org/drawingml/2006/main" noGrp="1"/>
          </p:cNvSpPr>
          <p:nvPr/>
        </p:nvSpPr>
        <p:spPr>
          <a:xfrm xmlns:a="http://schemas.openxmlformats.org/drawingml/2006/main">
            <a:off x="400050" y="5353050"/>
            <a:ext cx="49530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151515"/>
                </a:solidFill>
                <a:latin typeface="Arial"/>
                <a:ea typeface="Arial"/>
                <a:cs typeface="Arial"/>
              </a:defRPr>
            </a:pPr>
            <a:r>
              <a:t>Hugo Filipe Queiróz Nogueira</a:t>
            </a:r>
          </a:p>
        </p:txBody>
      </p:sp>
      <p:sp>
        <p:nvSpPr>
          <p:cNvPr id="6" name="">
            <a:extLst xmlns:a="http://schemas.openxmlformats.org/drawingml/2006/main">
              <a:ext uri="{FF2B5EF4-FFF2-40B4-BE49-F238E27FC236}">
                <a16:creationId xmlns:a16="http://schemas.microsoft.com/office/drawing/2014/main" id="{89389F8B-3B99-4B1C-8CBA-75729E826F04}"/>
              </a:ext>
            </a:extLst>
          </p:cNvPr>
          <p:cNvSpPr>
            <a:spLocks xmlns:a="http://schemas.openxmlformats.org/drawingml/2006/main" noGrp="1"/>
          </p:cNvSpPr>
          <p:nvPr/>
        </p:nvSpPr>
        <p:spPr>
          <a:xfrm xmlns:a="http://schemas.openxmlformats.org/drawingml/2006/main">
            <a:off x="400050" y="5753100"/>
            <a:ext cx="7429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60656C"/>
                </a:solidFill>
                <a:latin typeface="Arial"/>
                <a:ea typeface="Arial"/>
                <a:cs typeface="Arial"/>
              </a:defRPr>
            </a:pPr>
            <a:r>
              <a:t>Supervisors: João Mendes Moreira · Mário Campos Cunha</a:t>
            </a:r>
          </a:p>
        </p:txBody>
      </p:sp>
      <p:sp>
        <p:nvSpPr>
          <p:cNvPr id="7" name="">
            <a:extLst xmlns:a="http://schemas.openxmlformats.org/drawingml/2006/main">
              <a:ext uri="{FF2B5EF4-FFF2-40B4-BE49-F238E27FC236}">
                <a16:creationId xmlns:a16="http://schemas.microsoft.com/office/drawing/2014/main" id="{35B0F1BA-3A3B-4D80-A22A-B53E9AFC39DD}"/>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01</a:t>
            </a:r>
          </a:p>
        </p:txBody>
      </p:sp>
    </p:spTree>
    <p:extLst>
      <p:ext uri="{BB962C8B-B14F-4D97-AF65-F5344CB8AC3E}">
        <p14:creationId xmlns:p14="http://schemas.microsoft.com/office/powerpoint/2010/main" val="98784849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8C79E55-FD5E-4085-AC93-5DE540B8DE96}"/>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CONTEXT</a:t>
            </a:r>
          </a:p>
        </p:txBody>
      </p:sp>
      <p:sp>
        <p:nvSpPr>
          <p:cNvPr id="2" name="">
            <a:extLst xmlns:a="http://schemas.openxmlformats.org/drawingml/2006/main">
              <a:ext uri="{FF2B5EF4-FFF2-40B4-BE49-F238E27FC236}">
                <a16:creationId xmlns:a16="http://schemas.microsoft.com/office/drawing/2014/main" id="{13142EE0-DD7B-4E64-A124-689FECFA3EBE}"/>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business question is a decision question</a:t>
            </a:r>
          </a:p>
        </p:txBody>
      </p:sp>
      <p:sp>
        <p:nvSpPr>
          <p:cNvPr id="3" name="">
            <a:extLst xmlns:a="http://schemas.openxmlformats.org/drawingml/2006/main">
              <a:ext uri="{FF2B5EF4-FFF2-40B4-BE49-F238E27FC236}">
                <a16:creationId xmlns:a16="http://schemas.microsoft.com/office/drawing/2014/main" id="{D248877D-50A3-43B8-AE9B-A0E24193878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02</a:t>
            </a:r>
          </a:p>
        </p:txBody>
      </p:sp>
      <p:sp>
        <p:nvSpPr>
          <p:cNvPr id="4" name="">
            <a:extLst xmlns:a="http://schemas.openxmlformats.org/drawingml/2006/main">
              <a:ext uri="{FF2B5EF4-FFF2-40B4-BE49-F238E27FC236}">
                <a16:creationId xmlns:a16="http://schemas.microsoft.com/office/drawing/2014/main" id="{D281F049-5824-448C-BCEF-E7DB4C33261F}"/>
              </a:ext>
            </a:extLst>
          </p:cNvPr>
          <p:cNvSpPr>
            <a:spLocks xmlns:a="http://schemas.openxmlformats.org/drawingml/2006/main" noGrp="1"/>
          </p:cNvSpPr>
          <p:nvPr/>
        </p:nvSpPr>
        <p:spPr>
          <a:xfrm xmlns:a="http://schemas.openxmlformats.org/drawingml/2006/main">
            <a:off x="400050" y="1619250"/>
            <a:ext cx="7143750" cy="1809750"/>
          </a:xfrm>
          <a:prstGeom xmlns:a="http://schemas.openxmlformats.org/drawingml/2006/main" prst="rect">
            <a:avLst/>
          </a:prstGeom>
        </p:spPr>
        <p:txBody>
          <a:bodyPr xmlns:a="http://schemas.openxmlformats.org/drawingml/2006/main" lIns="0" tIns="0" rIns="0" bIns="0" anchor="t">
            <a:normAutofit fontScale="94246"/>
          </a:bodyPr>
          <a:lstStyle xmlns:a="http://schemas.openxmlformats.org/drawingml/2006/main"/>
          <a:p xmlns:a="http://schemas.openxmlformats.org/drawingml/2006/main">
            <a:pPr algn="l">
              <a:buNone/>
              <a:defRPr sz="3150" b="1">
                <a:solidFill>
                  <a:srgbClr val="151515"/>
                </a:solidFill>
                <a:latin typeface="Arial"/>
                <a:ea typeface="Arial"/>
                <a:cs typeface="Arial"/>
              </a:defRPr>
            </a:pPr>
            <a:r>
              <a:t>Can regional climate and vine development data improve the annual production forecast — early enough to change a decision?</a:t>
            </a:r>
          </a:p>
        </p:txBody>
      </p:sp>
      <p:sp>
        <p:nvSpPr>
          <p:cNvPr id="5" name="">
            <a:extLst xmlns:a="http://schemas.openxmlformats.org/drawingml/2006/main">
              <a:ext uri="{FF2B5EF4-FFF2-40B4-BE49-F238E27FC236}">
                <a16:creationId xmlns:a16="http://schemas.microsoft.com/office/drawing/2014/main" id="{77B1A66B-BE8A-4518-8CE2-97A96689A671}"/>
              </a:ext>
            </a:extLst>
          </p:cNvPr>
          <p:cNvSpPr>
            <a:spLocks xmlns:a="http://schemas.openxmlformats.org/drawingml/2006/main" noGrp="1"/>
          </p:cNvSpPr>
          <p:nvPr/>
        </p:nvSpPr>
        <p:spPr>
          <a:xfrm xmlns:a="http://schemas.openxmlformats.org/drawingml/2006/main">
            <a:off x="8096250" y="1571625"/>
            <a:ext cx="3333750" cy="40005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3909464-0CE7-4D73-859B-2F8EA427FCD3}"/>
              </a:ext>
            </a:extLst>
          </p:cNvPr>
          <p:cNvSpPr>
            <a:spLocks xmlns:a="http://schemas.openxmlformats.org/drawingml/2006/main" noGrp="1"/>
          </p:cNvSpPr>
          <p:nvPr/>
        </p:nvSpPr>
        <p:spPr>
          <a:xfrm xmlns:a="http://schemas.openxmlformats.org/drawingml/2006/main">
            <a:off x="8429625" y="1857375"/>
            <a:ext cx="26670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7B1E3A"/>
                </a:solidFill>
                <a:latin typeface="Arial"/>
                <a:ea typeface="Arial"/>
                <a:cs typeface="Arial"/>
              </a:defRPr>
            </a:pPr>
            <a:r>
              <a:t>Who uses the answer</a:t>
            </a:r>
          </a:p>
        </p:txBody>
      </p:sp>
      <p:sp>
        <p:nvSpPr>
          <p:cNvPr id="7" name="">
            <a:extLst xmlns:a="http://schemas.openxmlformats.org/drawingml/2006/main">
              <a:ext uri="{FF2B5EF4-FFF2-40B4-BE49-F238E27FC236}">
                <a16:creationId xmlns:a16="http://schemas.microsoft.com/office/drawing/2014/main" id="{334E2884-2BC2-4896-AF19-268020E91848}"/>
              </a:ext>
            </a:extLst>
          </p:cNvPr>
          <p:cNvSpPr>
            <a:spLocks xmlns:a="http://schemas.openxmlformats.org/drawingml/2006/main" noGrp="1"/>
          </p:cNvSpPr>
          <p:nvPr/>
        </p:nvSpPr>
        <p:spPr>
          <a:xfrm xmlns:a="http://schemas.openxmlformats.org/drawingml/2006/main">
            <a:off x="8429625" y="2381250"/>
            <a:ext cx="2667000" cy="1190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a:solidFill>
                  <a:srgbClr val="151515"/>
                </a:solidFill>
                <a:latin typeface="Arial"/>
                <a:ea typeface="Arial"/>
                <a:cs typeface="Arial"/>
              </a:defRPr>
            </a:pPr>
            <a:r>
              <a:t>Producers and cooperatives
Regulatory bodies
Supply-chain planners</a:t>
            </a:r>
          </a:p>
        </p:txBody>
      </p:sp>
      <p:cxnSp>
        <p:nvCxnSpPr>
          <p:cNvPr id="77" name=""/>
          <p:cNvCxnSpPr/>
          <p:nvPr/>
        </p:nvCxnSpPr>
        <p:spPr>
          <a:xfrm xmlns:a="http://schemas.openxmlformats.org/drawingml/2006/main">
            <a:off x="8429625" y="3781425"/>
            <a:ext cx="2667000" cy="953"/>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11ADD122-BB52-4AC0-8D49-D42EE4937B80}"/>
              </a:ext>
            </a:extLst>
          </p:cNvPr>
          <p:cNvSpPr>
            <a:spLocks xmlns:a="http://schemas.openxmlformats.org/drawingml/2006/main" noGrp="1"/>
          </p:cNvSpPr>
          <p:nvPr/>
        </p:nvSpPr>
        <p:spPr>
          <a:xfrm xmlns:a="http://schemas.openxmlformats.org/drawingml/2006/main">
            <a:off x="8429625" y="4048125"/>
            <a:ext cx="26670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7B1E3A"/>
                </a:solidFill>
                <a:latin typeface="Arial"/>
                <a:ea typeface="Arial"/>
                <a:cs typeface="Arial"/>
              </a:defRPr>
            </a:pPr>
            <a:r>
              <a:t>Decisions affected</a:t>
            </a:r>
          </a:p>
        </p:txBody>
      </p:sp>
      <p:sp>
        <p:nvSpPr>
          <p:cNvPr id="10" name="">
            <a:extLst xmlns:a="http://schemas.openxmlformats.org/drawingml/2006/main">
              <a:ext uri="{FF2B5EF4-FFF2-40B4-BE49-F238E27FC236}">
                <a16:creationId xmlns:a16="http://schemas.microsoft.com/office/drawing/2014/main" id="{2E27EE99-1FFC-4DBD-A128-364BDB61554C}"/>
              </a:ext>
            </a:extLst>
          </p:cNvPr>
          <p:cNvSpPr>
            <a:spLocks xmlns:a="http://schemas.openxmlformats.org/drawingml/2006/main" noGrp="1"/>
          </p:cNvSpPr>
          <p:nvPr/>
        </p:nvSpPr>
        <p:spPr>
          <a:xfrm xmlns:a="http://schemas.openxmlformats.org/drawingml/2006/main">
            <a:off x="8429625" y="4572000"/>
            <a:ext cx="2667000" cy="1190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a:solidFill>
                  <a:srgbClr val="151515"/>
                </a:solidFill>
                <a:latin typeface="Arial"/>
                <a:ea typeface="Arial"/>
                <a:cs typeface="Arial"/>
              </a:defRPr>
            </a:pPr>
            <a:r>
              <a:t>Harvest planning
Storage and capacity
Risk assessment</a:t>
            </a:r>
          </a:p>
        </p:txBody>
      </p:sp>
      <p:sp>
        <p:nvSpPr>
          <p:cNvPr id="11" name="">
            <a:extLst xmlns:a="http://schemas.openxmlformats.org/drawingml/2006/main">
              <a:ext uri="{FF2B5EF4-FFF2-40B4-BE49-F238E27FC236}">
                <a16:creationId xmlns:a16="http://schemas.microsoft.com/office/drawing/2014/main" id="{53F371CF-A98C-4C17-B82D-D696D74F99BA}"/>
              </a:ext>
            </a:extLst>
          </p:cNvPr>
          <p:cNvSpPr>
            <a:spLocks xmlns:a="http://schemas.openxmlformats.org/drawingml/2006/main" noGrp="1"/>
          </p:cNvSpPr>
          <p:nvPr/>
        </p:nvSpPr>
        <p:spPr>
          <a:xfrm xmlns:a="http://schemas.openxmlformats.org/drawingml/2006/main">
            <a:off x="400050" y="4810125"/>
            <a:ext cx="6858000" cy="514350"/>
          </a:xfrm>
          <a:prstGeom xmlns:a="http://schemas.openxmlformats.org/drawingml/2006/main" prst="rect">
            <a:avLst/>
          </a:prstGeom>
        </p:spPr>
        <p:txBody>
          <a:bodyPr xmlns:a="http://schemas.openxmlformats.org/drawingml/2006/main" lIns="0" tIns="0" rIns="0" bIns="0" anchor="t">
            <a:normAutofit fontScale="93125"/>
          </a:bodyPr>
          <a:lstStyle xmlns:a="http://schemas.openxmlformats.org/drawingml/2006/main"/>
          <a:p xmlns:a="http://schemas.openxmlformats.org/drawingml/2006/main">
            <a:pPr algn="l">
              <a:buNone/>
              <a:defRPr sz="2250" b="1">
                <a:solidFill>
                  <a:srgbClr val="7B1E3A"/>
                </a:solidFill>
                <a:latin typeface="Arial"/>
                <a:ea typeface="Arial"/>
                <a:cs typeface="Arial"/>
              </a:defRPr>
            </a:pPr>
            <a:r>
              <a:t>A useful model must add accuracy and preserve trust.</a:t>
            </a:r>
          </a:p>
        </p:txBody>
      </p:sp>
      <p:sp>
        <p:nvSpPr>
          <p:cNvPr id="12" name="">
            <a:extLst xmlns:a="http://schemas.openxmlformats.org/drawingml/2006/main">
              <a:ext uri="{FF2B5EF4-FFF2-40B4-BE49-F238E27FC236}">
                <a16:creationId xmlns:a16="http://schemas.microsoft.com/office/drawing/2014/main" id="{47AC93E7-E0D3-418D-A665-D7BD9F465F88}"/>
              </a:ext>
            </a:extLst>
          </p:cNvPr>
          <p:cNvSpPr>
            <a:spLocks xmlns:a="http://schemas.openxmlformats.org/drawingml/2006/main" noGrp="1"/>
          </p:cNvSpPr>
          <p:nvPr/>
        </p:nvSpPr>
        <p:spPr>
          <a:xfrm xmlns:a="http://schemas.openxmlformats.org/drawingml/2006/main">
            <a:off x="400050" y="5476875"/>
            <a:ext cx="666750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60656C"/>
                </a:solidFill>
                <a:latin typeface="Arial"/>
                <a:ea typeface="Arial"/>
                <a:cs typeface="Arial"/>
              </a:defRPr>
            </a:pPr>
            <a:r>
              <a:t>Prediction alone is insufficient when the mechanism cannot be explained or challenged.</a:t>
            </a:r>
          </a:p>
        </p:txBody>
      </p:sp>
      <p:sp>
        <p:nvSpPr>
          <p:cNvPr id="13" name="">
            <a:extLst xmlns:a="http://schemas.openxmlformats.org/drawingml/2006/main">
              <a:ext uri="{FF2B5EF4-FFF2-40B4-BE49-F238E27FC236}">
                <a16:creationId xmlns:a16="http://schemas.microsoft.com/office/drawing/2014/main" id="{036E2A94-6F54-4D36-A688-3C86D078FE9B}"/>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Chapter 1 (Motivation)</a:t>
            </a:r>
          </a:p>
        </p:txBody>
      </p:sp>
    </p:spTree>
    <p:extLst>
      <p:ext uri="{BB962C8B-B14F-4D97-AF65-F5344CB8AC3E}">
        <p14:creationId xmlns:p14="http://schemas.microsoft.com/office/powerpoint/2010/main" val="123382233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D421323-B346-45E5-8EDF-5D04D7534FFB}"/>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PROBLEM</a:t>
            </a:r>
          </a:p>
        </p:txBody>
      </p:sp>
      <p:sp>
        <p:nvSpPr>
          <p:cNvPr id="2" name="">
            <a:extLst xmlns:a="http://schemas.openxmlformats.org/drawingml/2006/main">
              <a:ext uri="{FF2B5EF4-FFF2-40B4-BE49-F238E27FC236}">
                <a16:creationId xmlns:a16="http://schemas.microsoft.com/office/drawing/2014/main" id="{AB98D7D5-703B-45E1-B93A-BD9D4E27C658}"/>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7493"/>
          </a:bodyPr>
          <a:lstStyle xmlns:a="http://schemas.openxmlformats.org/drawingml/2006/main"/>
          <a:p xmlns:a="http://schemas.openxmlformats.org/drawingml/2006/main">
            <a:pPr algn="l">
              <a:buNone/>
              <a:defRPr sz="3600" b="1">
                <a:solidFill>
                  <a:srgbClr val="151515"/>
                </a:solidFill>
                <a:latin typeface="Arial"/>
                <a:ea typeface="Arial"/>
                <a:cs typeface="Arial"/>
              </a:defRPr>
            </a:pPr>
            <a:r>
              <a:t>Why this is hard: the climate signal is real, but diluted</a:t>
            </a:r>
          </a:p>
        </p:txBody>
      </p:sp>
      <p:sp>
        <p:nvSpPr>
          <p:cNvPr id="3" name="">
            <a:extLst xmlns:a="http://schemas.openxmlformats.org/drawingml/2006/main">
              <a:ext uri="{FF2B5EF4-FFF2-40B4-BE49-F238E27FC236}">
                <a16:creationId xmlns:a16="http://schemas.microsoft.com/office/drawing/2014/main" id="{28D8FF44-D18B-4F9F-B6F8-697392C63D4A}"/>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03</a:t>
            </a:r>
          </a:p>
        </p:txBody>
      </p:sp>
      <p:sp>
        <p:nvSpPr>
          <p:cNvPr id="4" name="">
            <a:extLst xmlns:a="http://schemas.openxmlformats.org/drawingml/2006/main">
              <a:ext uri="{FF2B5EF4-FFF2-40B4-BE49-F238E27FC236}">
                <a16:creationId xmlns:a16="http://schemas.microsoft.com/office/drawing/2014/main" id="{F482CCB1-1288-4841-9BD6-59E2CB024E10}"/>
              </a:ext>
            </a:extLst>
          </p:cNvPr>
          <p:cNvSpPr>
            <a:spLocks xmlns:a="http://schemas.openxmlformats.org/drawingml/2006/main" noGrp="1"/>
          </p:cNvSpPr>
          <p:nvPr/>
        </p:nvSpPr>
        <p:spPr>
          <a:xfrm xmlns:a="http://schemas.openxmlformats.org/drawingml/2006/main">
            <a:off x="400050" y="1362075"/>
            <a:ext cx="10668000" cy="666750"/>
          </a:xfrm>
          <a:prstGeom xmlns:a="http://schemas.openxmlformats.org/drawingml/2006/main" prst="rect">
            <a:avLst/>
          </a:prstGeom>
        </p:spPr>
        <p:txBody>
          <a:bodyPr xmlns:a="http://schemas.openxmlformats.org/drawingml/2006/main" lIns="0" tIns="0" rIns="0" bIns="0" anchor="t">
            <a:normAutofit fontScale="97222"/>
          </a:bodyPr>
          <a:lstStyle xmlns:a="http://schemas.openxmlformats.org/drawingml/2006/main"/>
          <a:p xmlns:a="http://schemas.openxmlformats.org/drawingml/2006/main">
            <a:pPr algn="l">
              <a:buNone/>
              <a:defRPr sz="2250" b="1">
                <a:solidFill>
                  <a:srgbClr val="151515"/>
                </a:solidFill>
                <a:latin typeface="Arial"/>
                <a:ea typeface="Arial"/>
                <a:cs typeface="Arial"/>
              </a:defRPr>
            </a:pPr>
            <a:r>
              <a:t>The target combines climate, physiology, human decisions and structural change in one annual regional number.</a:t>
            </a:r>
          </a:p>
        </p:txBody>
      </p:sp>
      <p:sp>
        <p:nvSpPr>
          <p:cNvPr id="5" name="">
            <a:extLst xmlns:a="http://schemas.openxmlformats.org/drawingml/2006/main">
              <a:ext uri="{FF2B5EF4-FFF2-40B4-BE49-F238E27FC236}">
                <a16:creationId xmlns:a16="http://schemas.microsoft.com/office/drawing/2014/main" id="{8ACF006F-92E9-4F4A-9BDC-F9A914396A36}"/>
              </a:ext>
            </a:extLst>
          </p:cNvPr>
          <p:cNvSpPr>
            <a:spLocks xmlns:a="http://schemas.openxmlformats.org/drawingml/2006/main" noGrp="1"/>
          </p:cNvSpPr>
          <p:nvPr/>
        </p:nvSpPr>
        <p:spPr>
          <a:xfrm xmlns:a="http://schemas.openxmlformats.org/drawingml/2006/main">
            <a:off x="400050" y="2476500"/>
            <a:ext cx="2495550" cy="285750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59C99F2-32E2-4BC9-A4C0-64529514F429}"/>
              </a:ext>
            </a:extLst>
          </p:cNvPr>
          <p:cNvSpPr>
            <a:spLocks xmlns:a="http://schemas.openxmlformats.org/drawingml/2006/main" noGrp="1"/>
          </p:cNvSpPr>
          <p:nvPr/>
        </p:nvSpPr>
        <p:spPr>
          <a:xfrm xmlns:a="http://schemas.openxmlformats.org/drawingml/2006/main">
            <a:off x="590550" y="2714625"/>
            <a:ext cx="4762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01</a:t>
            </a:r>
          </a:p>
        </p:txBody>
      </p:sp>
      <p:sp>
        <p:nvSpPr>
          <p:cNvPr id="7" name="">
            <a:extLst xmlns:a="http://schemas.openxmlformats.org/drawingml/2006/main">
              <a:ext uri="{FF2B5EF4-FFF2-40B4-BE49-F238E27FC236}">
                <a16:creationId xmlns:a16="http://schemas.microsoft.com/office/drawing/2014/main" id="{8615011A-FF6E-4E62-8717-3717386B2F42}"/>
              </a:ext>
            </a:extLst>
          </p:cNvPr>
          <p:cNvSpPr>
            <a:spLocks xmlns:a="http://schemas.openxmlformats.org/drawingml/2006/main" noGrp="1"/>
          </p:cNvSpPr>
          <p:nvPr/>
        </p:nvSpPr>
        <p:spPr>
          <a:xfrm xmlns:a="http://schemas.openxmlformats.org/drawingml/2006/main">
            <a:off x="590550" y="3219450"/>
            <a:ext cx="21145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151515"/>
                </a:solidFill>
                <a:latin typeface="Arial"/>
                <a:ea typeface="Arial"/>
                <a:cs typeface="Arial"/>
              </a:defRPr>
            </a:pPr>
            <a:r>
              <a:t>Biology spans years</a:t>
            </a:r>
          </a:p>
        </p:txBody>
      </p:sp>
      <p:sp>
        <p:nvSpPr>
          <p:cNvPr id="8" name="">
            <a:extLst xmlns:a="http://schemas.openxmlformats.org/drawingml/2006/main">
              <a:ext uri="{FF2B5EF4-FFF2-40B4-BE49-F238E27FC236}">
                <a16:creationId xmlns:a16="http://schemas.microsoft.com/office/drawing/2014/main" id="{E6411935-BF4D-469F-A11C-02DB0F9CC3BC}"/>
              </a:ext>
            </a:extLst>
          </p:cNvPr>
          <p:cNvSpPr>
            <a:spLocks xmlns:a="http://schemas.openxmlformats.org/drawingml/2006/main" noGrp="1"/>
          </p:cNvSpPr>
          <p:nvPr/>
        </p:nvSpPr>
        <p:spPr>
          <a:xfrm xmlns:a="http://schemas.openxmlformats.org/drawingml/2006/main">
            <a:off x="590550" y="4095750"/>
            <a:ext cx="2114550" cy="952500"/>
          </a:xfrm>
          <a:prstGeom xmlns:a="http://schemas.openxmlformats.org/drawingml/2006/main" prst="rect">
            <a:avLst/>
          </a:prstGeom>
        </p:spPr>
        <p:txBody>
          <a:bodyPr xmlns:a="http://schemas.openxmlformats.org/drawingml/2006/main" lIns="0" tIns="0" rIns="0" bIns="0" anchor="t">
            <a:normAutofit fontScale="99206"/>
          </a:bodyPr>
          <a:lstStyle xmlns:a="http://schemas.openxmlformats.org/drawingml/2006/main"/>
          <a:p xmlns:a="http://schemas.openxmlformats.org/drawingml/2006/main">
            <a:pPr algn="l">
              <a:buNone/>
              <a:defRPr sz="1575" b="0">
                <a:solidFill>
                  <a:srgbClr val="60656C"/>
                </a:solidFill>
                <a:latin typeface="Arial"/>
                <a:ea typeface="Arial"/>
                <a:cs typeface="Arial"/>
              </a:defRPr>
            </a:pPr>
            <a:r>
              <a:t>Yield potential is partly set in the previous season, before the harvest year begins.</a:t>
            </a:r>
          </a:p>
        </p:txBody>
      </p:sp>
      <p:sp>
        <p:nvSpPr>
          <p:cNvPr id="9" name="">
            <a:extLst xmlns:a="http://schemas.openxmlformats.org/drawingml/2006/main">
              <a:ext uri="{FF2B5EF4-FFF2-40B4-BE49-F238E27FC236}">
                <a16:creationId xmlns:a16="http://schemas.microsoft.com/office/drawing/2014/main" id="{1577F519-54EC-4B05-B179-0DAD26BDBC2C}"/>
              </a:ext>
            </a:extLst>
          </p:cNvPr>
          <p:cNvSpPr>
            <a:spLocks xmlns:a="http://schemas.openxmlformats.org/drawingml/2006/main" noGrp="1"/>
          </p:cNvSpPr>
          <p:nvPr/>
        </p:nvSpPr>
        <p:spPr>
          <a:xfrm xmlns:a="http://schemas.openxmlformats.org/drawingml/2006/main">
            <a:off x="3305175" y="2476500"/>
            <a:ext cx="2495550" cy="2857500"/>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A8B20F4-FBBF-493B-B007-384398B030E6}"/>
              </a:ext>
            </a:extLst>
          </p:cNvPr>
          <p:cNvSpPr>
            <a:spLocks xmlns:a="http://schemas.openxmlformats.org/drawingml/2006/main" noGrp="1"/>
          </p:cNvSpPr>
          <p:nvPr/>
        </p:nvSpPr>
        <p:spPr>
          <a:xfrm xmlns:a="http://schemas.openxmlformats.org/drawingml/2006/main">
            <a:off x="3495675" y="2714625"/>
            <a:ext cx="4762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02</a:t>
            </a:r>
          </a:p>
        </p:txBody>
      </p:sp>
      <p:sp>
        <p:nvSpPr>
          <p:cNvPr id="11" name="">
            <a:extLst xmlns:a="http://schemas.openxmlformats.org/drawingml/2006/main">
              <a:ext uri="{FF2B5EF4-FFF2-40B4-BE49-F238E27FC236}">
                <a16:creationId xmlns:a16="http://schemas.microsoft.com/office/drawing/2014/main" id="{D149855F-071A-4689-A4E1-3A717C7C81F1}"/>
              </a:ext>
            </a:extLst>
          </p:cNvPr>
          <p:cNvSpPr>
            <a:spLocks xmlns:a="http://schemas.openxmlformats.org/drawingml/2006/main" noGrp="1"/>
          </p:cNvSpPr>
          <p:nvPr/>
        </p:nvSpPr>
        <p:spPr>
          <a:xfrm xmlns:a="http://schemas.openxmlformats.org/drawingml/2006/main">
            <a:off x="3495675" y="3219450"/>
            <a:ext cx="21145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151515"/>
                </a:solidFill>
                <a:latin typeface="Arial"/>
                <a:ea typeface="Arial"/>
                <a:cs typeface="Arial"/>
              </a:defRPr>
            </a:pPr>
            <a:r>
              <a:t>Aggregation hides variation</a:t>
            </a:r>
          </a:p>
        </p:txBody>
      </p:sp>
      <p:sp>
        <p:nvSpPr>
          <p:cNvPr id="12" name="">
            <a:extLst xmlns:a="http://schemas.openxmlformats.org/drawingml/2006/main">
              <a:ext uri="{FF2B5EF4-FFF2-40B4-BE49-F238E27FC236}">
                <a16:creationId xmlns:a16="http://schemas.microsoft.com/office/drawing/2014/main" id="{34F9A7E6-61D9-4486-A6BD-6D99FBC02C2B}"/>
              </a:ext>
            </a:extLst>
          </p:cNvPr>
          <p:cNvSpPr>
            <a:spLocks xmlns:a="http://schemas.openxmlformats.org/drawingml/2006/main" noGrp="1"/>
          </p:cNvSpPr>
          <p:nvPr/>
        </p:nvSpPr>
        <p:spPr>
          <a:xfrm xmlns:a="http://schemas.openxmlformats.org/drawingml/2006/main">
            <a:off x="3495675" y="4095750"/>
            <a:ext cx="2114550" cy="952500"/>
          </a:xfrm>
          <a:prstGeom xmlns:a="http://schemas.openxmlformats.org/drawingml/2006/main" prst="rect">
            <a:avLst/>
          </a:prstGeom>
        </p:spPr>
        <p:txBody>
          <a:bodyPr xmlns:a="http://schemas.openxmlformats.org/drawingml/2006/main" lIns="0" tIns="0" rIns="0" bIns="0" anchor="t">
            <a:normAutofit fontScale="99206"/>
          </a:bodyPr>
          <a:lstStyle xmlns:a="http://schemas.openxmlformats.org/drawingml/2006/main"/>
          <a:p xmlns:a="http://schemas.openxmlformats.org/drawingml/2006/main">
            <a:pPr algn="l">
              <a:buNone/>
              <a:defRPr sz="1575" b="0">
                <a:solidFill>
                  <a:srgbClr val="60656C"/>
                </a:solidFill>
                <a:latin typeface="Arial"/>
                <a:ea typeface="Arial"/>
                <a:cs typeface="Arial"/>
              </a:defRPr>
            </a:pPr>
            <a:r>
              <a:t>Thousands of vineyards differ in soil, altitude, practices and local weather.</a:t>
            </a:r>
          </a:p>
        </p:txBody>
      </p:sp>
      <p:sp>
        <p:nvSpPr>
          <p:cNvPr id="13" name="">
            <a:extLst xmlns:a="http://schemas.openxmlformats.org/drawingml/2006/main">
              <a:ext uri="{FF2B5EF4-FFF2-40B4-BE49-F238E27FC236}">
                <a16:creationId xmlns:a16="http://schemas.microsoft.com/office/drawing/2014/main" id="{715AC4D5-BA7D-478F-85F3-11EB53A4E31B}"/>
              </a:ext>
            </a:extLst>
          </p:cNvPr>
          <p:cNvSpPr>
            <a:spLocks xmlns:a="http://schemas.openxmlformats.org/drawingml/2006/main" noGrp="1"/>
          </p:cNvSpPr>
          <p:nvPr/>
        </p:nvSpPr>
        <p:spPr>
          <a:xfrm xmlns:a="http://schemas.openxmlformats.org/drawingml/2006/main">
            <a:off x="6210300" y="2476500"/>
            <a:ext cx="2495550" cy="285750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31F6572-4A83-4B82-BA93-DB2283B30BAB}"/>
              </a:ext>
            </a:extLst>
          </p:cNvPr>
          <p:cNvSpPr>
            <a:spLocks xmlns:a="http://schemas.openxmlformats.org/drawingml/2006/main" noGrp="1"/>
          </p:cNvSpPr>
          <p:nvPr/>
        </p:nvSpPr>
        <p:spPr>
          <a:xfrm xmlns:a="http://schemas.openxmlformats.org/drawingml/2006/main">
            <a:off x="6400800" y="2714625"/>
            <a:ext cx="4762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03</a:t>
            </a:r>
          </a:p>
        </p:txBody>
      </p:sp>
      <p:sp>
        <p:nvSpPr>
          <p:cNvPr id="15" name="">
            <a:extLst xmlns:a="http://schemas.openxmlformats.org/drawingml/2006/main">
              <a:ext uri="{FF2B5EF4-FFF2-40B4-BE49-F238E27FC236}">
                <a16:creationId xmlns:a16="http://schemas.microsoft.com/office/drawing/2014/main" id="{E87EE950-D403-4613-BD8F-DB6DFD6A1463}"/>
              </a:ext>
            </a:extLst>
          </p:cNvPr>
          <p:cNvSpPr>
            <a:spLocks xmlns:a="http://schemas.openxmlformats.org/drawingml/2006/main" noGrp="1"/>
          </p:cNvSpPr>
          <p:nvPr/>
        </p:nvSpPr>
        <p:spPr>
          <a:xfrm xmlns:a="http://schemas.openxmlformats.org/drawingml/2006/main">
            <a:off x="6400800" y="3219450"/>
            <a:ext cx="2114550" cy="666750"/>
          </a:xfrm>
          <a:prstGeom xmlns:a="http://schemas.openxmlformats.org/drawingml/2006/main" prst="rect">
            <a:avLst/>
          </a:prstGeom>
        </p:spPr>
        <p:txBody>
          <a:bodyPr xmlns:a="http://schemas.openxmlformats.org/drawingml/2006/main" lIns="0" tIns="0" rIns="0" bIns="0" anchor="t">
            <a:normAutofit fontScale="97294"/>
          </a:bodyPr>
          <a:lstStyle xmlns:a="http://schemas.openxmlformats.org/drawingml/2006/main"/>
          <a:p xmlns:a="http://schemas.openxmlformats.org/drawingml/2006/main">
            <a:pPr algn="l">
              <a:buNone/>
              <a:defRPr sz="1950" b="1">
                <a:solidFill>
                  <a:srgbClr val="151515"/>
                </a:solidFill>
                <a:latin typeface="Arial"/>
                <a:ea typeface="Arial"/>
                <a:cs typeface="Arial"/>
              </a:defRPr>
            </a:pPr>
            <a:r>
              <a:t>Structure changes over time</a:t>
            </a:r>
          </a:p>
        </p:txBody>
      </p:sp>
      <p:sp>
        <p:nvSpPr>
          <p:cNvPr id="16" name="">
            <a:extLst xmlns:a="http://schemas.openxmlformats.org/drawingml/2006/main">
              <a:ext uri="{FF2B5EF4-FFF2-40B4-BE49-F238E27FC236}">
                <a16:creationId xmlns:a16="http://schemas.microsoft.com/office/drawing/2014/main" id="{D928A929-187D-4CB4-9D3C-210211828C6C}"/>
              </a:ext>
            </a:extLst>
          </p:cNvPr>
          <p:cNvSpPr>
            <a:spLocks xmlns:a="http://schemas.openxmlformats.org/drawingml/2006/main" noGrp="1"/>
          </p:cNvSpPr>
          <p:nvPr/>
        </p:nvSpPr>
        <p:spPr>
          <a:xfrm xmlns:a="http://schemas.openxmlformats.org/drawingml/2006/main">
            <a:off x="6400800" y="4095750"/>
            <a:ext cx="2114550" cy="952500"/>
          </a:xfrm>
          <a:prstGeom xmlns:a="http://schemas.openxmlformats.org/drawingml/2006/main" prst="rect">
            <a:avLst/>
          </a:prstGeom>
        </p:spPr>
        <p:txBody>
          <a:bodyPr xmlns:a="http://schemas.openxmlformats.org/drawingml/2006/main" lIns="0" tIns="0" rIns="0" bIns="0" anchor="t">
            <a:normAutofit fontScale="99206"/>
          </a:bodyPr>
          <a:lstStyle xmlns:a="http://schemas.openxmlformats.org/drawingml/2006/main"/>
          <a:p xmlns:a="http://schemas.openxmlformats.org/drawingml/2006/main">
            <a:pPr algn="l">
              <a:buNone/>
              <a:defRPr sz="1575" b="0">
                <a:solidFill>
                  <a:srgbClr val="60656C"/>
                </a:solidFill>
                <a:latin typeface="Arial"/>
                <a:ea typeface="Arial"/>
                <a:cs typeface="Arial"/>
              </a:defRPr>
            </a:pPr>
            <a:r>
              <a:t>Policy, planted area, producers and market conditions shift the production baseline.</a:t>
            </a:r>
          </a:p>
        </p:txBody>
      </p:sp>
      <p:sp>
        <p:nvSpPr>
          <p:cNvPr id="17" name="">
            <a:extLst xmlns:a="http://schemas.openxmlformats.org/drawingml/2006/main">
              <a:ext uri="{FF2B5EF4-FFF2-40B4-BE49-F238E27FC236}">
                <a16:creationId xmlns:a16="http://schemas.microsoft.com/office/drawing/2014/main" id="{54793575-0FA8-4C0E-9F41-B59818F54372}"/>
              </a:ext>
            </a:extLst>
          </p:cNvPr>
          <p:cNvSpPr>
            <a:spLocks xmlns:a="http://schemas.openxmlformats.org/drawingml/2006/main" noGrp="1"/>
          </p:cNvSpPr>
          <p:nvPr/>
        </p:nvSpPr>
        <p:spPr>
          <a:xfrm xmlns:a="http://schemas.openxmlformats.org/drawingml/2006/main">
            <a:off x="9115425" y="2476500"/>
            <a:ext cx="2495550" cy="2857500"/>
          </a:xfrm>
          <a:prstGeom xmlns:a="http://schemas.openxmlformats.org/drawingml/2006/main" prst="rect">
            <a:avLst/>
          </a:prstGeom>
          <a:solidFill xmlns:a="http://schemas.openxmlformats.org/drawingml/2006/main">
            <a:srgbClr val="FFF3D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46DF157-CD5C-42F4-99F6-4CBDA3F84659}"/>
              </a:ext>
            </a:extLst>
          </p:cNvPr>
          <p:cNvSpPr>
            <a:spLocks xmlns:a="http://schemas.openxmlformats.org/drawingml/2006/main" noGrp="1"/>
          </p:cNvSpPr>
          <p:nvPr/>
        </p:nvSpPr>
        <p:spPr>
          <a:xfrm xmlns:a="http://schemas.openxmlformats.org/drawingml/2006/main">
            <a:off x="9305925" y="2714625"/>
            <a:ext cx="4762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04</a:t>
            </a:r>
          </a:p>
        </p:txBody>
      </p:sp>
      <p:sp>
        <p:nvSpPr>
          <p:cNvPr id="19" name="">
            <a:extLst xmlns:a="http://schemas.openxmlformats.org/drawingml/2006/main">
              <a:ext uri="{FF2B5EF4-FFF2-40B4-BE49-F238E27FC236}">
                <a16:creationId xmlns:a16="http://schemas.microsoft.com/office/drawing/2014/main" id="{CFF451FE-73AA-4499-BF15-71945A663523}"/>
              </a:ext>
            </a:extLst>
          </p:cNvPr>
          <p:cNvSpPr>
            <a:spLocks xmlns:a="http://schemas.openxmlformats.org/drawingml/2006/main" noGrp="1"/>
          </p:cNvSpPr>
          <p:nvPr/>
        </p:nvSpPr>
        <p:spPr>
          <a:xfrm xmlns:a="http://schemas.openxmlformats.org/drawingml/2006/main">
            <a:off x="9305925" y="3219450"/>
            <a:ext cx="21145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151515"/>
                </a:solidFill>
                <a:latin typeface="Arial"/>
                <a:ea typeface="Arial"/>
                <a:cs typeface="Arial"/>
              </a:defRPr>
            </a:pPr>
            <a:r>
              <a:t>The sample is small</a:t>
            </a:r>
          </a:p>
        </p:txBody>
      </p:sp>
      <p:sp>
        <p:nvSpPr>
          <p:cNvPr id="20" name="">
            <a:extLst xmlns:a="http://schemas.openxmlformats.org/drawingml/2006/main">
              <a:ext uri="{FF2B5EF4-FFF2-40B4-BE49-F238E27FC236}">
                <a16:creationId xmlns:a16="http://schemas.microsoft.com/office/drawing/2014/main" id="{44B91F0A-DA05-4907-953A-97ED089079B1}"/>
              </a:ext>
            </a:extLst>
          </p:cNvPr>
          <p:cNvSpPr>
            <a:spLocks xmlns:a="http://schemas.openxmlformats.org/drawingml/2006/main" noGrp="1"/>
          </p:cNvSpPr>
          <p:nvPr/>
        </p:nvSpPr>
        <p:spPr>
          <a:xfrm xmlns:a="http://schemas.openxmlformats.org/drawingml/2006/main">
            <a:off x="9305925" y="4095750"/>
            <a:ext cx="2114550" cy="952500"/>
          </a:xfrm>
          <a:prstGeom xmlns:a="http://schemas.openxmlformats.org/drawingml/2006/main" prst="rect">
            <a:avLst/>
          </a:prstGeom>
        </p:spPr>
        <p:txBody>
          <a:bodyPr xmlns:a="http://schemas.openxmlformats.org/drawingml/2006/main" lIns="0" tIns="0" rIns="0" bIns="0" anchor="t">
            <a:normAutofit fontScale="99206"/>
          </a:bodyPr>
          <a:lstStyle xmlns:a="http://schemas.openxmlformats.org/drawingml/2006/main"/>
          <a:p xmlns:a="http://schemas.openxmlformats.org/drawingml/2006/main">
            <a:pPr algn="l">
              <a:buNone/>
              <a:defRPr sz="1575" b="0">
                <a:solidFill>
                  <a:srgbClr val="60656C"/>
                </a:solidFill>
                <a:latin typeface="Arial"/>
                <a:ea typeface="Arial"/>
                <a:cs typeface="Arial"/>
              </a:defRPr>
            </a:pPr>
            <a:r>
              <a:t>Only 80–89 annual observations must support 59 engineered features.</a:t>
            </a:r>
          </a:p>
        </p:txBody>
      </p:sp>
      <p:sp>
        <p:nvSpPr>
          <p:cNvPr id="21" name="">
            <a:extLst xmlns:a="http://schemas.openxmlformats.org/drawingml/2006/main">
              <a:ext uri="{FF2B5EF4-FFF2-40B4-BE49-F238E27FC236}">
                <a16:creationId xmlns:a16="http://schemas.microsoft.com/office/drawing/2014/main" id="{0387399D-91AE-4FE0-8CFF-7FEAC996F5D4}"/>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1.1, 2.8 and 3.1</a:t>
            </a:r>
          </a:p>
        </p:txBody>
      </p:sp>
    </p:spTree>
    <p:extLst>
      <p:ext uri="{BB962C8B-B14F-4D97-AF65-F5344CB8AC3E}">
        <p14:creationId xmlns:p14="http://schemas.microsoft.com/office/powerpoint/2010/main" val="154659081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D917EC-6F72-45E3-8486-6E30511C9C05}"/>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NATURAL EXPERIMENT</a:t>
            </a:r>
          </a:p>
        </p:txBody>
      </p:sp>
      <p:sp>
        <p:nvSpPr>
          <p:cNvPr id="2" name="">
            <a:extLst xmlns:a="http://schemas.openxmlformats.org/drawingml/2006/main">
              <a:ext uri="{FF2B5EF4-FFF2-40B4-BE49-F238E27FC236}">
                <a16:creationId xmlns:a16="http://schemas.microsoft.com/office/drawing/2014/main" id="{741C5456-1906-4539-88B9-DF0FEB4F79EF}"/>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same pipeline meets two different histories</a:t>
            </a:r>
          </a:p>
        </p:txBody>
      </p:sp>
      <p:sp>
        <p:nvSpPr>
          <p:cNvPr id="3" name="">
            <a:extLst xmlns:a="http://schemas.openxmlformats.org/drawingml/2006/main">
              <a:ext uri="{FF2B5EF4-FFF2-40B4-BE49-F238E27FC236}">
                <a16:creationId xmlns:a16="http://schemas.microsoft.com/office/drawing/2014/main" id="{7DF8E6DE-1640-4178-A5F0-71950DF53A7C}"/>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04</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5c39291230649ba"/>
          <a:stretch xmlns:a="http://schemas.openxmlformats.org/drawingml/2006/main"/>
        </p:blipFill>
        <p:spPr>
          <a:xfrm xmlns:a="http://schemas.openxmlformats.org/drawingml/2006/main">
            <a:off x="400050" y="1930797"/>
            <a:ext cx="5476875" cy="2282031"/>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6236b191eb54805"/>
          <a:stretch xmlns:a="http://schemas.openxmlformats.org/drawingml/2006/main"/>
        </p:blipFill>
        <p:spPr>
          <a:xfrm xmlns:a="http://schemas.openxmlformats.org/drawingml/2006/main">
            <a:off x="6305550" y="1930797"/>
            <a:ext cx="5476875" cy="228203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176A673-3B6D-4E80-B7B2-325AA68A2A34}"/>
              </a:ext>
            </a:extLst>
          </p:cNvPr>
          <p:cNvSpPr>
            <a:spLocks xmlns:a="http://schemas.openxmlformats.org/drawingml/2006/main" noGrp="1"/>
          </p:cNvSpPr>
          <p:nvPr/>
        </p:nvSpPr>
        <p:spPr>
          <a:xfrm xmlns:a="http://schemas.openxmlformats.org/drawingml/2006/main">
            <a:off x="400050" y="4953000"/>
            <a:ext cx="5476875" cy="1000125"/>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268D9F2-1E44-413F-B220-2FEE780C8432}"/>
              </a:ext>
            </a:extLst>
          </p:cNvPr>
          <p:cNvSpPr>
            <a:spLocks xmlns:a="http://schemas.openxmlformats.org/drawingml/2006/main" noGrp="1"/>
          </p:cNvSpPr>
          <p:nvPr/>
        </p:nvSpPr>
        <p:spPr>
          <a:xfrm xmlns:a="http://schemas.openxmlformats.org/drawingml/2006/main">
            <a:off x="6305550" y="4953000"/>
            <a:ext cx="5476875" cy="1000125"/>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DE5A3E0-8854-4FC9-8E8C-B9BA83D637E2}"/>
              </a:ext>
            </a:extLst>
          </p:cNvPr>
          <p:cNvSpPr>
            <a:spLocks xmlns:a="http://schemas.openxmlformats.org/drawingml/2006/main" noGrp="1"/>
          </p:cNvSpPr>
          <p:nvPr/>
        </p:nvSpPr>
        <p:spPr>
          <a:xfrm xmlns:a="http://schemas.openxmlformats.org/drawingml/2006/main">
            <a:off x="609600" y="5162550"/>
            <a:ext cx="21907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2563A6"/>
                </a:solidFill>
                <a:latin typeface="Arial"/>
                <a:ea typeface="Arial"/>
                <a:cs typeface="Arial"/>
              </a:defRPr>
            </a:pPr>
            <a:r>
              <a:t>DOURO · 89 years</a:t>
            </a:r>
          </a:p>
        </p:txBody>
      </p:sp>
      <p:sp>
        <p:nvSpPr>
          <p:cNvPr id="9" name="">
            <a:extLst xmlns:a="http://schemas.openxmlformats.org/drawingml/2006/main">
              <a:ext uri="{FF2B5EF4-FFF2-40B4-BE49-F238E27FC236}">
                <a16:creationId xmlns:a16="http://schemas.microsoft.com/office/drawing/2014/main" id="{B0DFC4E3-AD38-42FF-8715-8ABB72C2F1B6}"/>
              </a:ext>
            </a:extLst>
          </p:cNvPr>
          <p:cNvSpPr>
            <a:spLocks xmlns:a="http://schemas.openxmlformats.org/drawingml/2006/main" noGrp="1"/>
          </p:cNvSpPr>
          <p:nvPr/>
        </p:nvSpPr>
        <p:spPr>
          <a:xfrm xmlns:a="http://schemas.openxmlformats.org/drawingml/2006/main">
            <a:off x="609600" y="5495925"/>
            <a:ext cx="4762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515"/>
                </a:solidFill>
                <a:latin typeface="Arial"/>
                <a:ea typeface="Arial"/>
                <a:cs typeface="Arial"/>
              </a:defRPr>
            </a:pPr>
            <a:r>
              <a:t>Gradual +80% structural rise; CV 27%</a:t>
            </a:r>
          </a:p>
        </p:txBody>
      </p:sp>
      <p:sp>
        <p:nvSpPr>
          <p:cNvPr id="10" name="">
            <a:extLst xmlns:a="http://schemas.openxmlformats.org/drawingml/2006/main">
              <a:ext uri="{FF2B5EF4-FFF2-40B4-BE49-F238E27FC236}">
                <a16:creationId xmlns:a16="http://schemas.microsoft.com/office/drawing/2014/main" id="{F70FC68F-3DD9-41F0-A4E4-075BF8D4A29F}"/>
              </a:ext>
            </a:extLst>
          </p:cNvPr>
          <p:cNvSpPr>
            <a:spLocks xmlns:a="http://schemas.openxmlformats.org/drawingml/2006/main" noGrp="1"/>
          </p:cNvSpPr>
          <p:nvPr/>
        </p:nvSpPr>
        <p:spPr>
          <a:xfrm xmlns:a="http://schemas.openxmlformats.org/drawingml/2006/main">
            <a:off x="6515100" y="5162550"/>
            <a:ext cx="2857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7B1E3A"/>
                </a:solidFill>
                <a:latin typeface="Arial"/>
                <a:ea typeface="Arial"/>
                <a:cs typeface="Arial"/>
              </a:defRPr>
            </a:pPr>
            <a:r>
              <a:t>VINHO VERDE · 80 years</a:t>
            </a:r>
          </a:p>
        </p:txBody>
      </p:sp>
      <p:sp>
        <p:nvSpPr>
          <p:cNvPr id="11" name="">
            <a:extLst xmlns:a="http://schemas.openxmlformats.org/drawingml/2006/main">
              <a:ext uri="{FF2B5EF4-FFF2-40B4-BE49-F238E27FC236}">
                <a16:creationId xmlns:a16="http://schemas.microsoft.com/office/drawing/2014/main" id="{4443B952-EDAB-4F79-8E6F-FF13A84EBD9F}"/>
              </a:ext>
            </a:extLst>
          </p:cNvPr>
          <p:cNvSpPr>
            <a:spLocks xmlns:a="http://schemas.openxmlformats.org/drawingml/2006/main" noGrp="1"/>
          </p:cNvSpPr>
          <p:nvPr/>
        </p:nvSpPr>
        <p:spPr>
          <a:xfrm xmlns:a="http://schemas.openxmlformats.org/drawingml/2006/main">
            <a:off x="6515100" y="5495925"/>
            <a:ext cx="4762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515"/>
                </a:solidFill>
                <a:latin typeface="Arial"/>
                <a:ea typeface="Arial"/>
                <a:cs typeface="Arial"/>
              </a:defRPr>
            </a:pPr>
            <a:r>
              <a:t>Sharp structural decline; CV 47%</a:t>
            </a:r>
          </a:p>
        </p:txBody>
      </p:sp>
      <p:sp>
        <p:nvSpPr>
          <p:cNvPr id="12" name="">
            <a:extLst xmlns:a="http://schemas.openxmlformats.org/drawingml/2006/main">
              <a:ext uri="{FF2B5EF4-FFF2-40B4-BE49-F238E27FC236}">
                <a16:creationId xmlns:a16="http://schemas.microsoft.com/office/drawing/2014/main" id="{19D47ADC-270E-4147-9CCB-D0367593CF44}"/>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Figures 3.1–3.2 and Appendix B</a:t>
            </a:r>
          </a:p>
        </p:txBody>
      </p:sp>
    </p:spTree>
    <p:extLst>
      <p:ext uri="{BB962C8B-B14F-4D97-AF65-F5344CB8AC3E}">
        <p14:creationId xmlns:p14="http://schemas.microsoft.com/office/powerpoint/2010/main" val="155277096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C556DB-F450-4F6C-BC5A-F9E5CD30B487}"/>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GRAPEVINE CYCLE</a:t>
            </a:r>
          </a:p>
        </p:txBody>
      </p:sp>
      <p:sp>
        <p:nvSpPr>
          <p:cNvPr id="2" name="">
            <a:extLst xmlns:a="http://schemas.openxmlformats.org/drawingml/2006/main">
              <a:ext uri="{FF2B5EF4-FFF2-40B4-BE49-F238E27FC236}">
                <a16:creationId xmlns:a16="http://schemas.microsoft.com/office/drawing/2014/main" id="{89B5817A-BFE4-4C34-962D-0067E0F3441F}"/>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89324"/>
          </a:bodyPr>
          <a:lstStyle xmlns:a="http://schemas.openxmlformats.org/drawingml/2006/main"/>
          <a:p xmlns:a="http://schemas.openxmlformats.org/drawingml/2006/main">
            <a:pPr algn="l">
              <a:buNone/>
              <a:defRPr sz="3600" b="1">
                <a:solidFill>
                  <a:srgbClr val="151515"/>
                </a:solidFill>
                <a:latin typeface="Arial"/>
                <a:ea typeface="Arial"/>
                <a:cs typeface="Arial"/>
              </a:defRPr>
            </a:pPr>
            <a:r>
              <a:t>Current production begins in the previous growing season</a:t>
            </a:r>
          </a:p>
        </p:txBody>
      </p:sp>
      <p:sp>
        <p:nvSpPr>
          <p:cNvPr id="3" name="">
            <a:extLst xmlns:a="http://schemas.openxmlformats.org/drawingml/2006/main">
              <a:ext uri="{FF2B5EF4-FFF2-40B4-BE49-F238E27FC236}">
                <a16:creationId xmlns:a16="http://schemas.microsoft.com/office/drawing/2014/main" id="{7BF656C4-456B-497C-A275-1CD0CD46BAF6}"/>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05</a:t>
            </a:r>
          </a:p>
        </p:txBody>
      </p:sp>
      <p:sp>
        <p:nvSpPr>
          <p:cNvPr id="4" name="">
            <a:extLst xmlns:a="http://schemas.openxmlformats.org/drawingml/2006/main">
              <a:ext uri="{FF2B5EF4-FFF2-40B4-BE49-F238E27FC236}">
                <a16:creationId xmlns:a16="http://schemas.microsoft.com/office/drawing/2014/main" id="{17D940BD-92D4-4FC2-AE9D-04FCC326BE96}"/>
              </a:ext>
            </a:extLst>
          </p:cNvPr>
          <p:cNvSpPr>
            <a:spLocks xmlns:a="http://schemas.openxmlformats.org/drawingml/2006/main" noGrp="1"/>
          </p:cNvSpPr>
          <p:nvPr/>
        </p:nvSpPr>
        <p:spPr>
          <a:xfrm xmlns:a="http://schemas.openxmlformats.org/drawingml/2006/main">
            <a:off x="400050" y="1524000"/>
            <a:ext cx="2857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YEAR y0 · POTENTIAL</a:t>
            </a:r>
          </a:p>
        </p:txBody>
      </p:sp>
      <p:sp>
        <p:nvSpPr>
          <p:cNvPr id="5" name="">
            <a:extLst xmlns:a="http://schemas.openxmlformats.org/drawingml/2006/main">
              <a:ext uri="{FF2B5EF4-FFF2-40B4-BE49-F238E27FC236}">
                <a16:creationId xmlns:a16="http://schemas.microsoft.com/office/drawing/2014/main" id="{2CB268A6-AF03-42FB-BE68-182059FD8CF1}"/>
              </a:ext>
            </a:extLst>
          </p:cNvPr>
          <p:cNvSpPr>
            <a:spLocks xmlns:a="http://schemas.openxmlformats.org/drawingml/2006/main" noGrp="1"/>
          </p:cNvSpPr>
          <p:nvPr/>
        </p:nvSpPr>
        <p:spPr>
          <a:xfrm xmlns:a="http://schemas.openxmlformats.org/drawingml/2006/main">
            <a:off x="6381750" y="1524000"/>
            <a:ext cx="33337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YEAR y1 · REALISATION</a:t>
            </a:r>
          </a:p>
        </p:txBody>
      </p:sp>
      <p:cxnSp>
        <p:nvCxnSpPr>
          <p:cNvPr id="70" name=""/>
          <p:cNvCxnSpPr/>
          <p:nvPr/>
        </p:nvCxnSpPr>
        <p:spPr>
          <a:xfrm xmlns:a="http://schemas.openxmlformats.org/drawingml/2006/main">
            <a:off x="666750" y="3143250"/>
            <a:ext cx="10668000" cy="953"/>
          </a:xfrm>
          <a:prstGeom xmlns:a="http://schemas.openxmlformats.org/drawingml/2006/main" prst="straightConnector1">
            <a:avLst/>
          </a:prstGeom>
          <a:ln xmlns:a="http://schemas.openxmlformats.org/drawingml/2006/main" w="19050">
            <a:solidFill>
              <a:srgbClr val="151515"/>
            </a:solidFill>
            <a:prstDash val="solid"/>
          </a:ln>
        </p:spPr>
      </p:cxnSp>
      <p:sp>
        <p:nvSpPr>
          <p:cNvPr id="7" name="">
            <a:extLst xmlns:a="http://schemas.openxmlformats.org/drawingml/2006/main">
              <a:ext uri="{FF2B5EF4-FFF2-40B4-BE49-F238E27FC236}">
                <a16:creationId xmlns:a16="http://schemas.microsoft.com/office/drawing/2014/main" id="{D4D0AC70-4D09-47CB-9E28-5A4B814C1AAC}"/>
              </a:ext>
            </a:extLst>
          </p:cNvPr>
          <p:cNvSpPr>
            <a:spLocks xmlns:a="http://schemas.openxmlformats.org/drawingml/2006/main" noGrp="1"/>
          </p:cNvSpPr>
          <p:nvPr/>
        </p:nvSpPr>
        <p:spPr>
          <a:xfrm xmlns:a="http://schemas.openxmlformats.org/drawingml/2006/main">
            <a:off x="1047750" y="3048000"/>
            <a:ext cx="190500" cy="190500"/>
          </a:xfrm>
          <a:prstGeom xmlns:a="http://schemas.openxmlformats.org/drawingml/2006/main" prst="ellipse">
            <a:avLst/>
          </a:prstGeom>
          <a:solidFill xmlns:a="http://schemas.openxmlformats.org/drawingml/2006/main">
            <a:srgbClr val="7B1E3A"/>
          </a:solidFill>
        </p:spPr>
      </p:sp>
      <p:sp>
        <p:nvSpPr>
          <p:cNvPr id="8" name="">
            <a:extLst xmlns:a="http://schemas.openxmlformats.org/drawingml/2006/main">
              <a:ext uri="{FF2B5EF4-FFF2-40B4-BE49-F238E27FC236}">
                <a16:creationId xmlns:a16="http://schemas.microsoft.com/office/drawing/2014/main" id="{340A997A-01AB-4267-9843-C877E38A3B65}"/>
              </a:ext>
            </a:extLst>
          </p:cNvPr>
          <p:cNvSpPr>
            <a:spLocks xmlns:a="http://schemas.openxmlformats.org/drawingml/2006/main" noGrp="1"/>
          </p:cNvSpPr>
          <p:nvPr/>
        </p:nvSpPr>
        <p:spPr>
          <a:xfrm xmlns:a="http://schemas.openxmlformats.org/drawingml/2006/main">
            <a:off x="3714750" y="3048000"/>
            <a:ext cx="190500" cy="190500"/>
          </a:xfrm>
          <a:prstGeom xmlns:a="http://schemas.openxmlformats.org/drawingml/2006/main" prst="ellipse">
            <a:avLst/>
          </a:prstGeom>
          <a:solidFill xmlns:a="http://schemas.openxmlformats.org/drawingml/2006/main">
            <a:srgbClr val="7B1E3A"/>
          </a:solidFill>
        </p:spPr>
      </p:sp>
      <p:sp>
        <p:nvSpPr>
          <p:cNvPr id="9" name="">
            <a:extLst xmlns:a="http://schemas.openxmlformats.org/drawingml/2006/main">
              <a:ext uri="{FF2B5EF4-FFF2-40B4-BE49-F238E27FC236}">
                <a16:creationId xmlns:a16="http://schemas.microsoft.com/office/drawing/2014/main" id="{71E4AF41-9845-417B-AC0C-9BAAE4E81987}"/>
              </a:ext>
            </a:extLst>
          </p:cNvPr>
          <p:cNvSpPr>
            <a:spLocks xmlns:a="http://schemas.openxmlformats.org/drawingml/2006/main" noGrp="1"/>
          </p:cNvSpPr>
          <p:nvPr/>
        </p:nvSpPr>
        <p:spPr>
          <a:xfrm xmlns:a="http://schemas.openxmlformats.org/drawingml/2006/main">
            <a:off x="6715125" y="3048000"/>
            <a:ext cx="190500" cy="190500"/>
          </a:xfrm>
          <a:prstGeom xmlns:a="http://schemas.openxmlformats.org/drawingml/2006/main" prst="ellipse">
            <a:avLst/>
          </a:prstGeom>
          <a:solidFill xmlns:a="http://schemas.openxmlformats.org/drawingml/2006/main">
            <a:srgbClr val="7B1E3A"/>
          </a:solidFill>
        </p:spPr>
      </p:sp>
      <p:sp>
        <p:nvSpPr>
          <p:cNvPr id="10" name="">
            <a:extLst xmlns:a="http://schemas.openxmlformats.org/drawingml/2006/main">
              <a:ext uri="{FF2B5EF4-FFF2-40B4-BE49-F238E27FC236}">
                <a16:creationId xmlns:a16="http://schemas.microsoft.com/office/drawing/2014/main" id="{623CB1F9-16B8-49CF-ABBE-CF9BE4807DA8}"/>
              </a:ext>
            </a:extLst>
          </p:cNvPr>
          <p:cNvSpPr>
            <a:spLocks xmlns:a="http://schemas.openxmlformats.org/drawingml/2006/main" noGrp="1"/>
          </p:cNvSpPr>
          <p:nvPr/>
        </p:nvSpPr>
        <p:spPr>
          <a:xfrm xmlns:a="http://schemas.openxmlformats.org/drawingml/2006/main">
            <a:off x="8858250" y="3048000"/>
            <a:ext cx="190500" cy="190500"/>
          </a:xfrm>
          <a:prstGeom xmlns:a="http://schemas.openxmlformats.org/drawingml/2006/main" prst="ellipse">
            <a:avLst/>
          </a:prstGeom>
          <a:solidFill xmlns:a="http://schemas.openxmlformats.org/drawingml/2006/main">
            <a:srgbClr val="7B1E3A"/>
          </a:solidFill>
        </p:spPr>
      </p:sp>
      <p:sp>
        <p:nvSpPr>
          <p:cNvPr id="11" name="">
            <a:extLst xmlns:a="http://schemas.openxmlformats.org/drawingml/2006/main">
              <a:ext uri="{FF2B5EF4-FFF2-40B4-BE49-F238E27FC236}">
                <a16:creationId xmlns:a16="http://schemas.microsoft.com/office/drawing/2014/main" id="{556DA865-E87D-4B4F-A879-37FE08ACEC1C}"/>
              </a:ext>
            </a:extLst>
          </p:cNvPr>
          <p:cNvSpPr>
            <a:spLocks xmlns:a="http://schemas.openxmlformats.org/drawingml/2006/main" noGrp="1"/>
          </p:cNvSpPr>
          <p:nvPr/>
        </p:nvSpPr>
        <p:spPr>
          <a:xfrm xmlns:a="http://schemas.openxmlformats.org/drawingml/2006/main">
            <a:off x="11049000" y="3048000"/>
            <a:ext cx="190500" cy="190500"/>
          </a:xfrm>
          <a:prstGeom xmlns:a="http://schemas.openxmlformats.org/drawingml/2006/main" prst="ellipse">
            <a:avLst/>
          </a:prstGeom>
          <a:solidFill xmlns:a="http://schemas.openxmlformats.org/drawingml/2006/main">
            <a:srgbClr val="7B1E3A"/>
          </a:solidFill>
        </p:spPr>
      </p:sp>
      <p:sp>
        <p:nvSpPr>
          <p:cNvPr id="12" name="">
            <a:extLst xmlns:a="http://schemas.openxmlformats.org/drawingml/2006/main">
              <a:ext uri="{FF2B5EF4-FFF2-40B4-BE49-F238E27FC236}">
                <a16:creationId xmlns:a16="http://schemas.microsoft.com/office/drawing/2014/main" id="{25708AAF-9A48-4B46-AC39-732BC6FBD6FD}"/>
              </a:ext>
            </a:extLst>
          </p:cNvPr>
          <p:cNvSpPr>
            <a:spLocks xmlns:a="http://schemas.openxmlformats.org/drawingml/2006/main" noGrp="1"/>
          </p:cNvSpPr>
          <p:nvPr/>
        </p:nvSpPr>
        <p:spPr>
          <a:xfrm xmlns:a="http://schemas.openxmlformats.org/drawingml/2006/main">
            <a:off x="762000" y="2333625"/>
            <a:ext cx="15240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Primordia
formation</a:t>
            </a:r>
          </a:p>
        </p:txBody>
      </p:sp>
      <p:sp>
        <p:nvSpPr>
          <p:cNvPr id="13" name="">
            <a:extLst xmlns:a="http://schemas.openxmlformats.org/drawingml/2006/main">
              <a:ext uri="{FF2B5EF4-FFF2-40B4-BE49-F238E27FC236}">
                <a16:creationId xmlns:a16="http://schemas.microsoft.com/office/drawing/2014/main" id="{65218A72-6673-4418-9540-9F0295897B14}"/>
              </a:ext>
            </a:extLst>
          </p:cNvPr>
          <p:cNvSpPr>
            <a:spLocks xmlns:a="http://schemas.openxmlformats.org/drawingml/2006/main" noGrp="1"/>
          </p:cNvSpPr>
          <p:nvPr/>
        </p:nvSpPr>
        <p:spPr>
          <a:xfrm xmlns:a="http://schemas.openxmlformats.org/drawingml/2006/main">
            <a:off x="3333750" y="3476625"/>
            <a:ext cx="13335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Reserve
building</a:t>
            </a:r>
          </a:p>
        </p:txBody>
      </p:sp>
      <p:sp>
        <p:nvSpPr>
          <p:cNvPr id="14" name="">
            <a:extLst xmlns:a="http://schemas.openxmlformats.org/drawingml/2006/main">
              <a:ext uri="{FF2B5EF4-FFF2-40B4-BE49-F238E27FC236}">
                <a16:creationId xmlns:a16="http://schemas.microsoft.com/office/drawing/2014/main" id="{36FF02B0-F366-4A5D-9876-658705489C08}"/>
              </a:ext>
            </a:extLst>
          </p:cNvPr>
          <p:cNvSpPr>
            <a:spLocks xmlns:a="http://schemas.openxmlformats.org/drawingml/2006/main" noGrp="1"/>
          </p:cNvSpPr>
          <p:nvPr/>
        </p:nvSpPr>
        <p:spPr>
          <a:xfrm xmlns:a="http://schemas.openxmlformats.org/drawingml/2006/main">
            <a:off x="6286500" y="2333625"/>
            <a:ext cx="11430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Bud break</a:t>
            </a:r>
          </a:p>
        </p:txBody>
      </p:sp>
      <p:sp>
        <p:nvSpPr>
          <p:cNvPr id="15" name="">
            <a:extLst xmlns:a="http://schemas.openxmlformats.org/drawingml/2006/main">
              <a:ext uri="{FF2B5EF4-FFF2-40B4-BE49-F238E27FC236}">
                <a16:creationId xmlns:a16="http://schemas.microsoft.com/office/drawing/2014/main" id="{4E256DB5-0030-44F3-B624-2F54A14D545E}"/>
              </a:ext>
            </a:extLst>
          </p:cNvPr>
          <p:cNvSpPr>
            <a:spLocks xmlns:a="http://schemas.openxmlformats.org/drawingml/2006/main" noGrp="1"/>
          </p:cNvSpPr>
          <p:nvPr/>
        </p:nvSpPr>
        <p:spPr>
          <a:xfrm xmlns:a="http://schemas.openxmlformats.org/drawingml/2006/main">
            <a:off x="8286750" y="3476625"/>
            <a:ext cx="142875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Flowering &amp;
fruit set</a:t>
            </a:r>
          </a:p>
        </p:txBody>
      </p:sp>
      <p:sp>
        <p:nvSpPr>
          <p:cNvPr id="16" name="">
            <a:extLst xmlns:a="http://schemas.openxmlformats.org/drawingml/2006/main">
              <a:ext uri="{FF2B5EF4-FFF2-40B4-BE49-F238E27FC236}">
                <a16:creationId xmlns:a16="http://schemas.microsoft.com/office/drawing/2014/main" id="{E9BC41E2-6ACD-4622-9CE4-8D3434719865}"/>
              </a:ext>
            </a:extLst>
          </p:cNvPr>
          <p:cNvSpPr>
            <a:spLocks xmlns:a="http://schemas.openxmlformats.org/drawingml/2006/main" noGrp="1"/>
          </p:cNvSpPr>
          <p:nvPr/>
        </p:nvSpPr>
        <p:spPr>
          <a:xfrm xmlns:a="http://schemas.openxmlformats.org/drawingml/2006/main">
            <a:off x="10477500" y="2333625"/>
            <a:ext cx="142875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Veraison to
harvest</a:t>
            </a:r>
          </a:p>
        </p:txBody>
      </p:sp>
      <p:sp>
        <p:nvSpPr>
          <p:cNvPr id="17" name="">
            <a:extLst xmlns:a="http://schemas.openxmlformats.org/drawingml/2006/main">
              <a:ext uri="{FF2B5EF4-FFF2-40B4-BE49-F238E27FC236}">
                <a16:creationId xmlns:a16="http://schemas.microsoft.com/office/drawing/2014/main" id="{827693FB-C01D-43A7-8FD0-B7863B4CA36B}"/>
              </a:ext>
            </a:extLst>
          </p:cNvPr>
          <p:cNvSpPr>
            <a:spLocks xmlns:a="http://schemas.openxmlformats.org/drawingml/2006/main" noGrp="1"/>
          </p:cNvSpPr>
          <p:nvPr/>
        </p:nvSpPr>
        <p:spPr>
          <a:xfrm xmlns:a="http://schemas.openxmlformats.org/drawingml/2006/main">
            <a:off x="523875" y="4476750"/>
            <a:ext cx="390525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0">
                <a:solidFill>
                  <a:srgbClr val="60656C"/>
                </a:solidFill>
                <a:latin typeface="Arial"/>
                <a:ea typeface="Arial"/>
                <a:cs typeface="Arial"/>
              </a:defRPr>
            </a:pPr>
            <a:r>
              <a:t>Temperature and light set the upper bound on bunch number.</a:t>
            </a:r>
          </a:p>
        </p:txBody>
      </p:sp>
      <p:sp>
        <p:nvSpPr>
          <p:cNvPr id="18" name="">
            <a:extLst xmlns:a="http://schemas.openxmlformats.org/drawingml/2006/main">
              <a:ext uri="{FF2B5EF4-FFF2-40B4-BE49-F238E27FC236}">
                <a16:creationId xmlns:a16="http://schemas.microsoft.com/office/drawing/2014/main" id="{2354E540-9AB1-4ABE-8F76-BC24FFF00897}"/>
              </a:ext>
            </a:extLst>
          </p:cNvPr>
          <p:cNvSpPr>
            <a:spLocks xmlns:a="http://schemas.openxmlformats.org/drawingml/2006/main" noGrp="1"/>
          </p:cNvSpPr>
          <p:nvPr/>
        </p:nvSpPr>
        <p:spPr>
          <a:xfrm xmlns:a="http://schemas.openxmlformats.org/drawingml/2006/main">
            <a:off x="523875" y="5191125"/>
            <a:ext cx="390525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0">
                <a:solidFill>
                  <a:srgbClr val="60656C"/>
                </a:solidFill>
                <a:latin typeface="Arial"/>
                <a:ea typeface="Arial"/>
                <a:cs typeface="Arial"/>
              </a:defRPr>
            </a:pPr>
            <a:r>
              <a:t>Prior water and thermal stress shape carbohydrate reserves.</a:t>
            </a:r>
          </a:p>
        </p:txBody>
      </p:sp>
      <p:sp>
        <p:nvSpPr>
          <p:cNvPr id="19" name="">
            <a:extLst xmlns:a="http://schemas.openxmlformats.org/drawingml/2006/main">
              <a:ext uri="{FF2B5EF4-FFF2-40B4-BE49-F238E27FC236}">
                <a16:creationId xmlns:a16="http://schemas.microsoft.com/office/drawing/2014/main" id="{0A76E74B-E32A-4244-8031-BA143E297E2E}"/>
              </a:ext>
            </a:extLst>
          </p:cNvPr>
          <p:cNvSpPr>
            <a:spLocks xmlns:a="http://schemas.openxmlformats.org/drawingml/2006/main" noGrp="1"/>
          </p:cNvSpPr>
          <p:nvPr/>
        </p:nvSpPr>
        <p:spPr>
          <a:xfrm xmlns:a="http://schemas.openxmlformats.org/drawingml/2006/main">
            <a:off x="6381750" y="4476750"/>
            <a:ext cx="4953000" cy="952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60656C"/>
                </a:solidFill>
                <a:latin typeface="Arial"/>
                <a:ea typeface="Arial"/>
                <a:cs typeface="Arial"/>
              </a:defRPr>
            </a:pPr>
            <a:r>
              <a:t>Current-year temperature, rain, canopy and soil water determine fruit set and berry development.</a:t>
            </a:r>
          </a:p>
        </p:txBody>
      </p:sp>
      <p:sp>
        <p:nvSpPr>
          <p:cNvPr id="20" name="">
            <a:extLst xmlns:a="http://schemas.openxmlformats.org/drawingml/2006/main">
              <a:ext uri="{FF2B5EF4-FFF2-40B4-BE49-F238E27FC236}">
                <a16:creationId xmlns:a16="http://schemas.microsoft.com/office/drawing/2014/main" id="{E150513E-AC46-450E-BA43-FBBFD43FFB90}"/>
              </a:ext>
            </a:extLst>
          </p:cNvPr>
          <p:cNvSpPr>
            <a:spLocks xmlns:a="http://schemas.openxmlformats.org/drawingml/2006/main" noGrp="1"/>
          </p:cNvSpPr>
          <p:nvPr/>
        </p:nvSpPr>
        <p:spPr>
          <a:xfrm xmlns:a="http://schemas.openxmlformats.org/drawingml/2006/main">
            <a:off x="4953000" y="2047875"/>
            <a:ext cx="904875" cy="2667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7B6926A-835E-4BB3-9E59-017C60377BD5}"/>
              </a:ext>
            </a:extLst>
          </p:cNvPr>
          <p:cNvSpPr>
            <a:spLocks xmlns:a="http://schemas.openxmlformats.org/drawingml/2006/main" noGrp="1"/>
          </p:cNvSpPr>
          <p:nvPr/>
        </p:nvSpPr>
        <p:spPr>
          <a:xfrm xmlns:a="http://schemas.openxmlformats.org/drawingml/2006/main">
            <a:off x="5048250" y="2952750"/>
            <a:ext cx="714375"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CARRY-
OVER</a:t>
            </a:r>
          </a:p>
        </p:txBody>
      </p:sp>
      <p:sp>
        <p:nvSpPr>
          <p:cNvPr id="22" name="">
            <a:extLst xmlns:a="http://schemas.openxmlformats.org/drawingml/2006/main">
              <a:ext uri="{FF2B5EF4-FFF2-40B4-BE49-F238E27FC236}">
                <a16:creationId xmlns:a16="http://schemas.microsoft.com/office/drawing/2014/main" id="{207FA2E2-0C1C-4B3D-9801-471A75538550}"/>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 2.2 — The Two-Year Vine Development Cycle</a:t>
            </a:r>
          </a:p>
        </p:txBody>
      </p:sp>
    </p:spTree>
    <p:extLst>
      <p:ext uri="{BB962C8B-B14F-4D97-AF65-F5344CB8AC3E}">
        <p14:creationId xmlns:p14="http://schemas.microsoft.com/office/powerpoint/2010/main" val="16555009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815EAE2-EEC0-4E1A-8935-E7CDD9FCCC02}"/>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FEATURE ENGINEERING</a:t>
            </a:r>
          </a:p>
        </p:txBody>
      </p:sp>
      <p:sp>
        <p:nvSpPr>
          <p:cNvPr id="2" name="">
            <a:extLst xmlns:a="http://schemas.openxmlformats.org/drawingml/2006/main">
              <a:ext uri="{FF2B5EF4-FFF2-40B4-BE49-F238E27FC236}">
                <a16:creationId xmlns:a16="http://schemas.microsoft.com/office/drawing/2014/main" id="{4E279752-B484-4AF2-A91D-719CFE162F26}"/>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Features follow the biology, not the calendar</a:t>
            </a:r>
          </a:p>
        </p:txBody>
      </p:sp>
      <p:sp>
        <p:nvSpPr>
          <p:cNvPr id="3" name="">
            <a:extLst xmlns:a="http://schemas.openxmlformats.org/drawingml/2006/main">
              <a:ext uri="{FF2B5EF4-FFF2-40B4-BE49-F238E27FC236}">
                <a16:creationId xmlns:a16="http://schemas.microsoft.com/office/drawing/2014/main" id="{95485F35-0C03-4366-B921-C9448A0510F0}"/>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9cdc31222dd4df9"/>
          <a:stretch xmlns:a="http://schemas.openxmlformats.org/drawingml/2006/main"/>
        </p:blipFill>
        <p:spPr>
          <a:xfrm xmlns:a="http://schemas.openxmlformats.org/drawingml/2006/main">
            <a:off x="1883389" y="1266825"/>
            <a:ext cx="8425222" cy="4686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ED1B0E2-54BE-4A09-B44B-BE0A7D54EE49}"/>
              </a:ext>
            </a:extLst>
          </p:cNvPr>
          <p:cNvSpPr>
            <a:spLocks xmlns:a="http://schemas.openxmlformats.org/drawingml/2006/main" noGrp="1"/>
          </p:cNvSpPr>
          <p:nvPr/>
        </p:nvSpPr>
        <p:spPr>
          <a:xfrm xmlns:a="http://schemas.openxmlformats.org/drawingml/2006/main">
            <a:off x="400050" y="5953125"/>
            <a:ext cx="11391900" cy="3429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2C98972-EF5A-4C16-830E-328D228E453D}"/>
              </a:ext>
            </a:extLst>
          </p:cNvPr>
          <p:cNvSpPr>
            <a:spLocks xmlns:a="http://schemas.openxmlformats.org/drawingml/2006/main" noGrp="1"/>
          </p:cNvSpPr>
          <p:nvPr/>
        </p:nvSpPr>
        <p:spPr>
          <a:xfrm xmlns:a="http://schemas.openxmlformats.org/drawingml/2006/main">
            <a:off x="571500" y="6029325"/>
            <a:ext cx="25717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151515"/>
                </a:solidFill>
                <a:latin typeface="Arial"/>
                <a:ea typeface="Arial"/>
                <a:cs typeface="Arial"/>
              </a:defRPr>
            </a:pPr>
            <a:r>
              <a:t>32,842 / 29,902 daily records</a:t>
            </a:r>
          </a:p>
        </p:txBody>
      </p:sp>
      <p:sp>
        <p:nvSpPr>
          <p:cNvPr id="7" name="">
            <a:extLst xmlns:a="http://schemas.openxmlformats.org/drawingml/2006/main">
              <a:ext uri="{FF2B5EF4-FFF2-40B4-BE49-F238E27FC236}">
                <a16:creationId xmlns:a16="http://schemas.microsoft.com/office/drawing/2014/main" id="{B99BB5E0-F51B-42A1-A0F7-F0A1F0CAE880}"/>
              </a:ext>
            </a:extLst>
          </p:cNvPr>
          <p:cNvSpPr>
            <a:spLocks xmlns:a="http://schemas.openxmlformats.org/drawingml/2006/main" noGrp="1"/>
          </p:cNvSpPr>
          <p:nvPr/>
        </p:nvSpPr>
        <p:spPr>
          <a:xfrm xmlns:a="http://schemas.openxmlformats.org/drawingml/2006/main">
            <a:off x="3552825" y="6029325"/>
            <a:ext cx="214312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7B1E3A"/>
                </a:solidFill>
                <a:latin typeface="Arial"/>
                <a:ea typeface="Arial"/>
                <a:cs typeface="Arial"/>
              </a:defRPr>
            </a:pPr>
            <a:r>
              <a:t>→ 59 annual predictors</a:t>
            </a:r>
          </a:p>
        </p:txBody>
      </p:sp>
      <p:sp>
        <p:nvSpPr>
          <p:cNvPr id="8" name="">
            <a:extLst xmlns:a="http://schemas.openxmlformats.org/drawingml/2006/main">
              <a:ext uri="{FF2B5EF4-FFF2-40B4-BE49-F238E27FC236}">
                <a16:creationId xmlns:a16="http://schemas.microsoft.com/office/drawing/2014/main" id="{C2A7C5DE-C604-48DF-AE6D-B71ADDD34007}"/>
              </a:ext>
            </a:extLst>
          </p:cNvPr>
          <p:cNvSpPr>
            <a:spLocks xmlns:a="http://schemas.openxmlformats.org/drawingml/2006/main" noGrp="1"/>
          </p:cNvSpPr>
          <p:nvPr/>
        </p:nvSpPr>
        <p:spPr>
          <a:xfrm xmlns:a="http://schemas.openxmlformats.org/drawingml/2006/main">
            <a:off x="6096000" y="6029325"/>
            <a:ext cx="22860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151515"/>
                </a:solidFill>
                <a:latin typeface="Arial"/>
                <a:ea typeface="Arial"/>
                <a:cs typeface="Arial"/>
              </a:defRPr>
            </a:pPr>
            <a:r>
              <a:t>→ 4 phenological anchors</a:t>
            </a:r>
          </a:p>
        </p:txBody>
      </p:sp>
      <p:sp>
        <p:nvSpPr>
          <p:cNvPr id="9" name="">
            <a:extLst xmlns:a="http://schemas.openxmlformats.org/drawingml/2006/main">
              <a:ext uri="{FF2B5EF4-FFF2-40B4-BE49-F238E27FC236}">
                <a16:creationId xmlns:a16="http://schemas.microsoft.com/office/drawing/2014/main" id="{DF562E81-0D2D-48F5-8FE6-AA89126C2529}"/>
              </a:ext>
            </a:extLst>
          </p:cNvPr>
          <p:cNvSpPr>
            <a:spLocks xmlns:a="http://schemas.openxmlformats.org/drawingml/2006/main" noGrp="1"/>
          </p:cNvSpPr>
          <p:nvPr/>
        </p:nvSpPr>
        <p:spPr>
          <a:xfrm xmlns:a="http://schemas.openxmlformats.org/drawingml/2006/main">
            <a:off x="8858250" y="6029325"/>
            <a:ext cx="25717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151515"/>
                </a:solidFill>
                <a:latin typeface="Arial"/>
                <a:ea typeface="Arial"/>
                <a:cs typeface="Arial"/>
              </a:defRPr>
            </a:pPr>
            <a:r>
              <a:t>→ current + previous year</a:t>
            </a:r>
          </a:p>
        </p:txBody>
      </p:sp>
      <p:sp>
        <p:nvSpPr>
          <p:cNvPr id="10" name="">
            <a:extLst xmlns:a="http://schemas.openxmlformats.org/drawingml/2006/main">
              <a:ext uri="{FF2B5EF4-FFF2-40B4-BE49-F238E27FC236}">
                <a16:creationId xmlns:a16="http://schemas.microsoft.com/office/drawing/2014/main" id="{F9634962-38EF-4542-8174-8F531A29859B}"/>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Figure D.1 and Section 3.11. The map visualises 58 agroclimatic windows; the model set contains 59 predictors in total.</a:t>
            </a:r>
          </a:p>
        </p:txBody>
      </p:sp>
    </p:spTree>
    <p:extLst>
      <p:ext uri="{BB962C8B-B14F-4D97-AF65-F5344CB8AC3E}">
        <p14:creationId xmlns:p14="http://schemas.microsoft.com/office/powerpoint/2010/main" val="6449021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3029C1A-AD73-4E86-AE48-41FDA9425EEA}"/>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POSITIONING</a:t>
            </a:r>
          </a:p>
        </p:txBody>
      </p:sp>
      <p:sp>
        <p:nvSpPr>
          <p:cNvPr id="2" name="">
            <a:extLst xmlns:a="http://schemas.openxmlformats.org/drawingml/2006/main">
              <a:ext uri="{FF2B5EF4-FFF2-40B4-BE49-F238E27FC236}">
                <a16:creationId xmlns:a16="http://schemas.microsoft.com/office/drawing/2014/main" id="{B53F188D-AC5D-4429-9B17-71710734DEAC}"/>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0397"/>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research gap sits between explanation and prediction</a:t>
            </a:r>
          </a:p>
        </p:txBody>
      </p:sp>
      <p:sp>
        <p:nvSpPr>
          <p:cNvPr id="3" name="">
            <a:extLst xmlns:a="http://schemas.openxmlformats.org/drawingml/2006/main">
              <a:ext uri="{FF2B5EF4-FFF2-40B4-BE49-F238E27FC236}">
                <a16:creationId xmlns:a16="http://schemas.microsoft.com/office/drawing/2014/main" id="{3E9CB3F4-C705-4602-9FEB-0455FD8A0555}"/>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07</a:t>
            </a:r>
          </a:p>
        </p:txBody>
      </p:sp>
      <p:sp>
        <p:nvSpPr>
          <p:cNvPr id="4" name="">
            <a:extLst xmlns:a="http://schemas.openxmlformats.org/drawingml/2006/main">
              <a:ext uri="{FF2B5EF4-FFF2-40B4-BE49-F238E27FC236}">
                <a16:creationId xmlns:a16="http://schemas.microsoft.com/office/drawing/2014/main" id="{5EE6283D-6CA5-4574-B02B-1C5CBA4EF20D}"/>
              </a:ext>
            </a:extLst>
          </p:cNvPr>
          <p:cNvSpPr>
            <a:spLocks xmlns:a="http://schemas.openxmlformats.org/drawingml/2006/main" noGrp="1"/>
          </p:cNvSpPr>
          <p:nvPr/>
        </p:nvSpPr>
        <p:spPr>
          <a:xfrm xmlns:a="http://schemas.openxmlformats.org/drawingml/2006/main">
            <a:off x="400050" y="1809750"/>
            <a:ext cx="4953000" cy="3429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F808345-5AB2-46FF-B149-FECA926C74C0}"/>
              </a:ext>
            </a:extLst>
          </p:cNvPr>
          <p:cNvSpPr>
            <a:spLocks xmlns:a="http://schemas.openxmlformats.org/drawingml/2006/main" noGrp="1"/>
          </p:cNvSpPr>
          <p:nvPr/>
        </p:nvSpPr>
        <p:spPr>
          <a:xfrm xmlns:a="http://schemas.openxmlformats.org/drawingml/2006/main">
            <a:off x="6838950" y="1809750"/>
            <a:ext cx="4953000" cy="342900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04A3BBD-B4A6-4ABC-B28F-BDDD14A30DF4}"/>
              </a:ext>
            </a:extLst>
          </p:cNvPr>
          <p:cNvSpPr>
            <a:spLocks xmlns:a="http://schemas.openxmlformats.org/drawingml/2006/main" noGrp="1"/>
          </p:cNvSpPr>
          <p:nvPr/>
        </p:nvSpPr>
        <p:spPr>
          <a:xfrm xmlns:a="http://schemas.openxmlformats.org/drawingml/2006/main">
            <a:off x="714375" y="2143125"/>
            <a:ext cx="400050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a:solidFill>
                  <a:srgbClr val="151515"/>
                </a:solidFill>
                <a:latin typeface="Arial"/>
                <a:ea typeface="Arial"/>
                <a:cs typeface="Arial"/>
              </a:defRPr>
            </a:pPr>
            <a:r>
              <a:t>Modern machine learning</a:t>
            </a:r>
          </a:p>
        </p:txBody>
      </p:sp>
      <p:sp>
        <p:nvSpPr>
          <p:cNvPr id="7" name="">
            <a:extLst xmlns:a="http://schemas.openxmlformats.org/drawingml/2006/main">
              <a:ext uri="{FF2B5EF4-FFF2-40B4-BE49-F238E27FC236}">
                <a16:creationId xmlns:a16="http://schemas.microsoft.com/office/drawing/2014/main" id="{5470ED02-65B2-472A-B023-24EE9C77D89E}"/>
              </a:ext>
            </a:extLst>
          </p:cNvPr>
          <p:cNvSpPr>
            <a:spLocks xmlns:a="http://schemas.openxmlformats.org/drawingml/2006/main" noGrp="1"/>
          </p:cNvSpPr>
          <p:nvPr/>
        </p:nvSpPr>
        <p:spPr>
          <a:xfrm xmlns:a="http://schemas.openxmlformats.org/drawingml/2006/main">
            <a:off x="714375" y="2857500"/>
            <a:ext cx="4000500"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Handles nonlinear interactions
Often strong predictive accuracy
Decision logic remains opaque</a:t>
            </a:r>
          </a:p>
        </p:txBody>
      </p:sp>
      <p:sp>
        <p:nvSpPr>
          <p:cNvPr id="8" name="">
            <a:extLst xmlns:a="http://schemas.openxmlformats.org/drawingml/2006/main">
              <a:ext uri="{FF2B5EF4-FFF2-40B4-BE49-F238E27FC236}">
                <a16:creationId xmlns:a16="http://schemas.microsoft.com/office/drawing/2014/main" id="{E2865458-5055-47B9-AFCB-E6CF5FD0B05D}"/>
              </a:ext>
            </a:extLst>
          </p:cNvPr>
          <p:cNvSpPr>
            <a:spLocks xmlns:a="http://schemas.openxmlformats.org/drawingml/2006/main" noGrp="1"/>
          </p:cNvSpPr>
          <p:nvPr/>
        </p:nvSpPr>
        <p:spPr>
          <a:xfrm xmlns:a="http://schemas.openxmlformats.org/drawingml/2006/main">
            <a:off x="7143750" y="2143125"/>
            <a:ext cx="400050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a:solidFill>
                  <a:srgbClr val="7B1E3A"/>
                </a:solidFill>
                <a:latin typeface="Arial"/>
                <a:ea typeface="Arial"/>
                <a:cs typeface="Arial"/>
              </a:defRPr>
            </a:pPr>
            <a:r>
              <a:t>Rule-based discovery</a:t>
            </a:r>
          </a:p>
        </p:txBody>
      </p:sp>
      <p:sp>
        <p:nvSpPr>
          <p:cNvPr id="9" name="">
            <a:extLst xmlns:a="http://schemas.openxmlformats.org/drawingml/2006/main">
              <a:ext uri="{FF2B5EF4-FFF2-40B4-BE49-F238E27FC236}">
                <a16:creationId xmlns:a16="http://schemas.microsoft.com/office/drawing/2014/main" id="{55022B84-614B-411B-AE7C-C67CDCC1F378}"/>
              </a:ext>
            </a:extLst>
          </p:cNvPr>
          <p:cNvSpPr>
            <a:spLocks xmlns:a="http://schemas.openxmlformats.org/drawingml/2006/main" noGrp="1"/>
          </p:cNvSpPr>
          <p:nvPr/>
        </p:nvSpPr>
        <p:spPr>
          <a:xfrm xmlns:a="http://schemas.openxmlformats.org/drawingml/2006/main">
            <a:off x="7143750" y="2857500"/>
            <a:ext cx="4000500"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Produces explicit IF–THEN rules
Auditable support and significance
Predictive value is unproven here</a:t>
            </a:r>
          </a:p>
        </p:txBody>
      </p:sp>
      <p:sp>
        <p:nvSpPr>
          <p:cNvPr id="10" name="">
            <a:extLst xmlns:a="http://schemas.openxmlformats.org/drawingml/2006/main">
              <a:ext uri="{FF2B5EF4-FFF2-40B4-BE49-F238E27FC236}">
                <a16:creationId xmlns:a16="http://schemas.microsoft.com/office/drawing/2014/main" id="{758A4DBE-D04A-46CD-90AA-60129E506804}"/>
              </a:ext>
            </a:extLst>
          </p:cNvPr>
          <p:cNvSpPr>
            <a:spLocks xmlns:a="http://schemas.openxmlformats.org/drawingml/2006/main" noGrp="1"/>
          </p:cNvSpPr>
          <p:nvPr/>
        </p:nvSpPr>
        <p:spPr>
          <a:xfrm xmlns:a="http://schemas.openxmlformats.org/drawingml/2006/main">
            <a:off x="5305425" y="2667000"/>
            <a:ext cx="1581150" cy="1714500"/>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FBFDE12-413B-4856-813D-6D3A174F110E}"/>
              </a:ext>
            </a:extLst>
          </p:cNvPr>
          <p:cNvSpPr>
            <a:spLocks xmlns:a="http://schemas.openxmlformats.org/drawingml/2006/main" noGrp="1"/>
          </p:cNvSpPr>
          <p:nvPr/>
        </p:nvSpPr>
        <p:spPr>
          <a:xfrm xmlns:a="http://schemas.openxmlformats.org/drawingml/2006/main">
            <a:off x="5476875" y="3067050"/>
            <a:ext cx="1238250" cy="952500"/>
          </a:xfrm>
          <a:prstGeom xmlns:a="http://schemas.openxmlformats.org/drawingml/2006/main" prst="rect">
            <a:avLst/>
          </a:prstGeom>
        </p:spPr>
        <p:txBody>
          <a:bodyPr xmlns:a="http://schemas.openxmlformats.org/drawingml/2006/main" lIns="0" tIns="0" rIns="0" bIns="0" anchor="t">
            <a:normAutofit fontScale="95785"/>
          </a:bodyPr>
          <a:lstStyle xmlns:a="http://schemas.openxmlformats.org/drawingml/2006/main"/>
          <a:p xmlns:a="http://schemas.openxmlformats.org/drawingml/2006/main">
            <a:pPr algn="ctr">
              <a:buNone/>
              <a:defRPr sz="2175" b="1">
                <a:solidFill>
                  <a:srgbClr val="FFFFFF"/>
                </a:solidFill>
                <a:latin typeface="Arial"/>
                <a:ea typeface="Arial"/>
                <a:cs typeface="Arial"/>
              </a:defRPr>
            </a:pPr>
            <a:r>
              <a:t>Can we
have
both?</a:t>
            </a:r>
          </a:p>
        </p:txBody>
      </p:sp>
      <p:sp>
        <p:nvSpPr>
          <p:cNvPr id="12" name="">
            <a:extLst xmlns:a="http://schemas.openxmlformats.org/drawingml/2006/main">
              <a:ext uri="{FF2B5EF4-FFF2-40B4-BE49-F238E27FC236}">
                <a16:creationId xmlns:a16="http://schemas.microsoft.com/office/drawing/2014/main" id="{DD9A3A8B-D727-4A32-8A96-0E912EE90316}"/>
              </a:ext>
            </a:extLst>
          </p:cNvPr>
          <p:cNvSpPr>
            <a:spLocks xmlns:a="http://schemas.openxmlformats.org/drawingml/2006/main" noGrp="1"/>
          </p:cNvSpPr>
          <p:nvPr/>
        </p:nvSpPr>
        <p:spPr>
          <a:xfrm xmlns:a="http://schemas.openxmlformats.org/drawingml/2006/main">
            <a:off x="1285875" y="5619750"/>
            <a:ext cx="9620250" cy="457200"/>
          </a:xfrm>
          <a:prstGeom xmlns:a="http://schemas.openxmlformats.org/drawingml/2006/main" prst="rect">
            <a:avLst/>
          </a:prstGeom>
        </p:spPr>
        <p:txBody>
          <a:bodyPr xmlns:a="http://schemas.openxmlformats.org/drawingml/2006/main" lIns="0" tIns="0" rIns="0" bIns="0" anchor="t">
            <a:normAutofit fontScale="80000"/>
          </a:bodyPr>
          <a:lstStyle xmlns:a="http://schemas.openxmlformats.org/drawingml/2006/main"/>
          <a:p xmlns:a="http://schemas.openxmlformats.org/drawingml/2006/main">
            <a:pPr algn="ctr">
              <a:buNone/>
              <a:defRPr sz="1875" b="1">
                <a:solidFill>
                  <a:srgbClr val="151515"/>
                </a:solidFill>
                <a:latin typeface="Arial"/>
                <a:ea typeface="Arial"/>
                <a:cs typeface="Arial"/>
              </a:defRPr>
            </a:pPr>
            <a:r>
              <a:t>No prior work systematically evaluated distributional subgroup discovery in walk-forward wine production forecasting.</a:t>
            </a:r>
          </a:p>
        </p:txBody>
      </p:sp>
      <p:sp>
        <p:nvSpPr>
          <p:cNvPr id="13" name="">
            <a:extLst xmlns:a="http://schemas.openxmlformats.org/drawingml/2006/main">
              <a:ext uri="{FF2B5EF4-FFF2-40B4-BE49-F238E27FC236}">
                <a16:creationId xmlns:a16="http://schemas.microsoft.com/office/drawing/2014/main" id="{D66EEA0A-EC11-428E-80EB-BA6F1FF072D8}"/>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1.1 and 2.7</a:t>
            </a:r>
          </a:p>
        </p:txBody>
      </p:sp>
    </p:spTree>
    <p:extLst>
      <p:ext uri="{BB962C8B-B14F-4D97-AF65-F5344CB8AC3E}">
        <p14:creationId xmlns:p14="http://schemas.microsoft.com/office/powerpoint/2010/main" val="47205386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DD33668-8A5B-4D16-83E1-9969BC7A86C4}"/>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RESEARCH DESIGN</a:t>
            </a:r>
          </a:p>
        </p:txBody>
      </p:sp>
      <p:sp>
        <p:nvSpPr>
          <p:cNvPr id="2" name="">
            <a:extLst xmlns:a="http://schemas.openxmlformats.org/drawingml/2006/main">
              <a:ext uri="{FF2B5EF4-FFF2-40B4-BE49-F238E27FC236}">
                <a16:creationId xmlns:a16="http://schemas.microsoft.com/office/drawing/2014/main" id="{9505EA40-7291-41D5-8960-9A31A145B09B}"/>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5409"/>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Two goals separate historical insight from future utility</a:t>
            </a:r>
          </a:p>
        </p:txBody>
      </p:sp>
      <p:sp>
        <p:nvSpPr>
          <p:cNvPr id="3" name="">
            <a:extLst xmlns:a="http://schemas.openxmlformats.org/drawingml/2006/main">
              <a:ext uri="{FF2B5EF4-FFF2-40B4-BE49-F238E27FC236}">
                <a16:creationId xmlns:a16="http://schemas.microsoft.com/office/drawing/2014/main" id="{472FA34E-8C03-47C0-B5A4-5E08CC27979F}"/>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08</a:t>
            </a:r>
          </a:p>
        </p:txBody>
      </p:sp>
      <p:sp>
        <p:nvSpPr>
          <p:cNvPr id="4" name="">
            <a:extLst xmlns:a="http://schemas.openxmlformats.org/drawingml/2006/main">
              <a:ext uri="{FF2B5EF4-FFF2-40B4-BE49-F238E27FC236}">
                <a16:creationId xmlns:a16="http://schemas.microsoft.com/office/drawing/2014/main" id="{E2C7CC3E-5FC9-45F8-A3F2-44DF3B163789}"/>
              </a:ext>
            </a:extLst>
          </p:cNvPr>
          <p:cNvSpPr>
            <a:spLocks xmlns:a="http://schemas.openxmlformats.org/drawingml/2006/main" noGrp="1"/>
          </p:cNvSpPr>
          <p:nvPr/>
        </p:nvSpPr>
        <p:spPr>
          <a:xfrm xmlns:a="http://schemas.openxmlformats.org/drawingml/2006/main">
            <a:off x="400050" y="1571625"/>
            <a:ext cx="5476875" cy="3857625"/>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086F652-6877-4DF1-AA1B-D7307C5B6C25}"/>
              </a:ext>
            </a:extLst>
          </p:cNvPr>
          <p:cNvSpPr>
            <a:spLocks xmlns:a="http://schemas.openxmlformats.org/drawingml/2006/main" noGrp="1"/>
          </p:cNvSpPr>
          <p:nvPr/>
        </p:nvSpPr>
        <p:spPr>
          <a:xfrm xmlns:a="http://schemas.openxmlformats.org/drawingml/2006/main">
            <a:off x="6305550" y="1571625"/>
            <a:ext cx="5476875" cy="3857625"/>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D39DEEF-CB24-4542-A28C-E29905560AE8}"/>
              </a:ext>
            </a:extLst>
          </p:cNvPr>
          <p:cNvSpPr>
            <a:spLocks xmlns:a="http://schemas.openxmlformats.org/drawingml/2006/main" noGrp="1"/>
          </p:cNvSpPr>
          <p:nvPr/>
        </p:nvSpPr>
        <p:spPr>
          <a:xfrm xmlns:a="http://schemas.openxmlformats.org/drawingml/2006/main">
            <a:off x="714375" y="1905000"/>
            <a:ext cx="1619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563A6"/>
                </a:solidFill>
                <a:latin typeface="Arial"/>
                <a:ea typeface="Arial"/>
                <a:cs typeface="Arial"/>
              </a:defRPr>
            </a:pPr>
            <a:r>
              <a:t>GOAL 1</a:t>
            </a:r>
          </a:p>
        </p:txBody>
      </p:sp>
      <p:sp>
        <p:nvSpPr>
          <p:cNvPr id="7" name="">
            <a:extLst xmlns:a="http://schemas.openxmlformats.org/drawingml/2006/main">
              <a:ext uri="{FF2B5EF4-FFF2-40B4-BE49-F238E27FC236}">
                <a16:creationId xmlns:a16="http://schemas.microsoft.com/office/drawing/2014/main" id="{8A8F5A80-4744-4506-8377-0467801053F3}"/>
              </a:ext>
            </a:extLst>
          </p:cNvPr>
          <p:cNvSpPr>
            <a:spLocks xmlns:a="http://schemas.openxmlformats.org/drawingml/2006/main" noGrp="1"/>
          </p:cNvSpPr>
          <p:nvPr/>
        </p:nvSpPr>
        <p:spPr>
          <a:xfrm xmlns:a="http://schemas.openxmlformats.org/drawingml/2006/main">
            <a:off x="714375" y="2381250"/>
            <a:ext cx="428625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151515"/>
                </a:solidFill>
                <a:latin typeface="Arial"/>
                <a:ea typeface="Arial"/>
                <a:cs typeface="Arial"/>
              </a:defRPr>
            </a:pPr>
            <a:r>
              <a:t>Discover</a:t>
            </a:r>
          </a:p>
        </p:txBody>
      </p:sp>
      <p:sp>
        <p:nvSpPr>
          <p:cNvPr id="8" name="">
            <a:extLst xmlns:a="http://schemas.openxmlformats.org/drawingml/2006/main">
              <a:ext uri="{FF2B5EF4-FFF2-40B4-BE49-F238E27FC236}">
                <a16:creationId xmlns:a16="http://schemas.microsoft.com/office/drawing/2014/main" id="{7460BDCC-3B84-47AD-AD85-255096D10049}"/>
              </a:ext>
            </a:extLst>
          </p:cNvPr>
          <p:cNvSpPr>
            <a:spLocks xmlns:a="http://schemas.openxmlformats.org/drawingml/2006/main" noGrp="1"/>
          </p:cNvSpPr>
          <p:nvPr/>
        </p:nvSpPr>
        <p:spPr>
          <a:xfrm xmlns:a="http://schemas.openxmlformats.org/drawingml/2006/main">
            <a:off x="714375" y="3095625"/>
            <a:ext cx="4572000" cy="857250"/>
          </a:xfrm>
          <a:prstGeom xmlns:a="http://schemas.openxmlformats.org/drawingml/2006/main" prst="rect">
            <a:avLst/>
          </a:prstGeom>
        </p:spPr>
        <p:txBody>
          <a:bodyPr xmlns:a="http://schemas.openxmlformats.org/drawingml/2006/main" lIns="0" tIns="0" rIns="0" bIns="0" anchor="t">
            <a:normAutofit fontScale="94965"/>
          </a:bodyPr>
          <a:lstStyle xmlns:a="http://schemas.openxmlformats.org/drawingml/2006/main"/>
          <a:p xmlns:a="http://schemas.openxmlformats.org/drawingml/2006/main">
            <a:pPr algn="l">
              <a:buNone/>
              <a:defRPr sz="2025" b="0">
                <a:solidFill>
                  <a:srgbClr val="151515"/>
                </a:solidFill>
                <a:latin typeface="Arial"/>
                <a:ea typeface="Arial"/>
                <a:cs typeface="Arial"/>
              </a:defRPr>
            </a:pPr>
            <a:r>
              <a:t>Which agroclimatic conditions distinguish above- and below-trend production years?</a:t>
            </a:r>
          </a:p>
        </p:txBody>
      </p:sp>
      <p:sp>
        <p:nvSpPr>
          <p:cNvPr id="9" name="">
            <a:extLst xmlns:a="http://schemas.openxmlformats.org/drawingml/2006/main">
              <a:ext uri="{FF2B5EF4-FFF2-40B4-BE49-F238E27FC236}">
                <a16:creationId xmlns:a16="http://schemas.microsoft.com/office/drawing/2014/main" id="{4443AB3D-E977-4666-9964-D5F0CE912BDB}"/>
              </a:ext>
            </a:extLst>
          </p:cNvPr>
          <p:cNvSpPr>
            <a:spLocks xmlns:a="http://schemas.openxmlformats.org/drawingml/2006/main" noGrp="1"/>
          </p:cNvSpPr>
          <p:nvPr/>
        </p:nvSpPr>
        <p:spPr>
          <a:xfrm xmlns:a="http://schemas.openxmlformats.org/drawingml/2006/main">
            <a:off x="714375" y="4333875"/>
            <a:ext cx="4572000" cy="714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60656C"/>
                </a:solidFill>
                <a:latin typeface="Arial"/>
                <a:ea typeface="Arial"/>
                <a:cs typeface="Arial"/>
              </a:defRPr>
            </a:pPr>
            <a:r>
              <a:t>RQ1 · dominant variables
RQ2 · genuine signal or era confound?</a:t>
            </a:r>
          </a:p>
        </p:txBody>
      </p:sp>
      <p:sp>
        <p:nvSpPr>
          <p:cNvPr id="10" name="">
            <a:extLst xmlns:a="http://schemas.openxmlformats.org/drawingml/2006/main">
              <a:ext uri="{FF2B5EF4-FFF2-40B4-BE49-F238E27FC236}">
                <a16:creationId xmlns:a16="http://schemas.microsoft.com/office/drawing/2014/main" id="{4875AB7E-9E72-4FBE-8CEC-4F52FAAE70BE}"/>
              </a:ext>
            </a:extLst>
          </p:cNvPr>
          <p:cNvSpPr>
            <a:spLocks xmlns:a="http://schemas.openxmlformats.org/drawingml/2006/main" noGrp="1"/>
          </p:cNvSpPr>
          <p:nvPr/>
        </p:nvSpPr>
        <p:spPr>
          <a:xfrm xmlns:a="http://schemas.openxmlformats.org/drawingml/2006/main">
            <a:off x="6619875" y="1905000"/>
            <a:ext cx="1619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166534"/>
                </a:solidFill>
                <a:latin typeface="Arial"/>
                <a:ea typeface="Arial"/>
                <a:cs typeface="Arial"/>
              </a:defRPr>
            </a:pPr>
            <a:r>
              <a:t>GOAL 2</a:t>
            </a:r>
          </a:p>
        </p:txBody>
      </p:sp>
      <p:sp>
        <p:nvSpPr>
          <p:cNvPr id="11" name="">
            <a:extLst xmlns:a="http://schemas.openxmlformats.org/drawingml/2006/main">
              <a:ext uri="{FF2B5EF4-FFF2-40B4-BE49-F238E27FC236}">
                <a16:creationId xmlns:a16="http://schemas.microsoft.com/office/drawing/2014/main" id="{0D6B46AF-E04C-4B36-B9F0-A39228A0AA4E}"/>
              </a:ext>
            </a:extLst>
          </p:cNvPr>
          <p:cNvSpPr>
            <a:spLocks xmlns:a="http://schemas.openxmlformats.org/drawingml/2006/main" noGrp="1"/>
          </p:cNvSpPr>
          <p:nvPr/>
        </p:nvSpPr>
        <p:spPr>
          <a:xfrm xmlns:a="http://schemas.openxmlformats.org/drawingml/2006/main">
            <a:off x="6619875" y="2381250"/>
            <a:ext cx="428625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151515"/>
                </a:solidFill>
                <a:latin typeface="Arial"/>
                <a:ea typeface="Arial"/>
                <a:cs typeface="Arial"/>
              </a:defRPr>
            </a:pPr>
            <a:r>
              <a:t>Validate</a:t>
            </a:r>
          </a:p>
        </p:txBody>
      </p:sp>
      <p:sp>
        <p:nvSpPr>
          <p:cNvPr id="12" name="">
            <a:extLst xmlns:a="http://schemas.openxmlformats.org/drawingml/2006/main">
              <a:ext uri="{FF2B5EF4-FFF2-40B4-BE49-F238E27FC236}">
                <a16:creationId xmlns:a16="http://schemas.microsoft.com/office/drawing/2014/main" id="{483BCECB-A95D-440D-B4AB-2D752425BA70}"/>
              </a:ext>
            </a:extLst>
          </p:cNvPr>
          <p:cNvSpPr>
            <a:spLocks xmlns:a="http://schemas.openxmlformats.org/drawingml/2006/main" noGrp="1"/>
          </p:cNvSpPr>
          <p:nvPr/>
        </p:nvSpPr>
        <p:spPr>
          <a:xfrm xmlns:a="http://schemas.openxmlformats.org/drawingml/2006/main">
            <a:off x="6619875" y="3095625"/>
            <a:ext cx="4572000" cy="857250"/>
          </a:xfrm>
          <a:prstGeom xmlns:a="http://schemas.openxmlformats.org/drawingml/2006/main" prst="rect">
            <a:avLst/>
          </a:prstGeom>
        </p:spPr>
        <p:txBody>
          <a:bodyPr xmlns:a="http://schemas.openxmlformats.org/drawingml/2006/main" lIns="0" tIns="0" rIns="0" bIns="0" anchor="t">
            <a:normAutofit fontScale="96354"/>
          </a:bodyPr>
          <a:lstStyle xmlns:a="http://schemas.openxmlformats.org/drawingml/2006/main"/>
          <a:p xmlns:a="http://schemas.openxmlformats.org/drawingml/2006/main">
            <a:pPr algn="l">
              <a:buNone/>
              <a:defRPr sz="2025" b="0">
                <a:solidFill>
                  <a:srgbClr val="151515"/>
                </a:solidFill>
                <a:latin typeface="Arial"/>
                <a:ea typeface="Arial"/>
                <a:cs typeface="Arial"/>
              </a:defRPr>
            </a:pPr>
            <a:r>
              <a:t>Can rule-based models beat the historical median in genuine future periods?</a:t>
            </a:r>
          </a:p>
        </p:txBody>
      </p:sp>
      <p:sp>
        <p:nvSpPr>
          <p:cNvPr id="13" name="">
            <a:extLst xmlns:a="http://schemas.openxmlformats.org/drawingml/2006/main">
              <a:ext uri="{FF2B5EF4-FFF2-40B4-BE49-F238E27FC236}">
                <a16:creationId xmlns:a16="http://schemas.microsoft.com/office/drawing/2014/main" id="{24871CD9-66BE-4434-BEDC-C59FD5456578}"/>
              </a:ext>
            </a:extLst>
          </p:cNvPr>
          <p:cNvSpPr>
            <a:spLocks xmlns:a="http://schemas.openxmlformats.org/drawingml/2006/main" noGrp="1"/>
          </p:cNvSpPr>
          <p:nvPr/>
        </p:nvSpPr>
        <p:spPr>
          <a:xfrm xmlns:a="http://schemas.openxmlformats.org/drawingml/2006/main">
            <a:off x="6619875" y="4333875"/>
            <a:ext cx="4572000" cy="714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60656C"/>
                </a:solidFill>
                <a:latin typeface="Arial"/>
                <a:ea typeface="Arial"/>
                <a:cs typeface="Arial"/>
              </a:defRPr>
            </a:pPr>
            <a:r>
              <a:t>RQ3 · out-of-sample improvement
RQ4 · conditions for success or failure</a:t>
            </a:r>
          </a:p>
        </p:txBody>
      </p:sp>
      <p:sp>
        <p:nvSpPr>
          <p:cNvPr id="14" name="">
            <a:extLst xmlns:a="http://schemas.openxmlformats.org/drawingml/2006/main">
              <a:ext uri="{FF2B5EF4-FFF2-40B4-BE49-F238E27FC236}">
                <a16:creationId xmlns:a16="http://schemas.microsoft.com/office/drawing/2014/main" id="{7B83F7CF-E2C4-4734-BF8B-45937F337CD9}"/>
              </a:ext>
            </a:extLst>
          </p:cNvPr>
          <p:cNvSpPr>
            <a:spLocks xmlns:a="http://schemas.openxmlformats.org/drawingml/2006/main" noGrp="1"/>
          </p:cNvSpPr>
          <p:nvPr/>
        </p:nvSpPr>
        <p:spPr>
          <a:xfrm xmlns:a="http://schemas.openxmlformats.org/drawingml/2006/main">
            <a:off x="400050" y="5715000"/>
            <a:ext cx="11382375"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100" b="1">
                <a:solidFill>
                  <a:srgbClr val="7B1E3A"/>
                </a:solidFill>
                <a:latin typeface="Arial"/>
                <a:ea typeface="Arial"/>
                <a:cs typeface="Arial"/>
              </a:defRPr>
            </a:pPr>
            <a:r>
              <a:t>Same data and rule family — different standard of evidence.</a:t>
            </a:r>
          </a:p>
        </p:txBody>
      </p:sp>
      <p:sp>
        <p:nvSpPr>
          <p:cNvPr id="15" name="">
            <a:extLst xmlns:a="http://schemas.openxmlformats.org/drawingml/2006/main">
              <a:ext uri="{FF2B5EF4-FFF2-40B4-BE49-F238E27FC236}">
                <a16:creationId xmlns:a16="http://schemas.microsoft.com/office/drawing/2014/main" id="{72EFAB99-756E-4F2D-B8EF-254C6FBF3FE9}"/>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 1.2</a:t>
            </a:r>
          </a:p>
        </p:txBody>
      </p:sp>
    </p:spTree>
    <p:extLst>
      <p:ext uri="{BB962C8B-B14F-4D97-AF65-F5344CB8AC3E}">
        <p14:creationId xmlns:p14="http://schemas.microsoft.com/office/powerpoint/2010/main" val="123857303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BDD2E6F-8C2E-4F2A-974B-DDDDC1B2CA2A}"/>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STUDY DESIGN</a:t>
            </a:r>
          </a:p>
        </p:txBody>
      </p:sp>
      <p:sp>
        <p:nvSpPr>
          <p:cNvPr id="2" name="">
            <a:extLst xmlns:a="http://schemas.openxmlformats.org/drawingml/2006/main">
              <a:ext uri="{FF2B5EF4-FFF2-40B4-BE49-F238E27FC236}">
                <a16:creationId xmlns:a16="http://schemas.microsoft.com/office/drawing/2014/main" id="{B26B4D77-7C92-4747-8CFF-E037A732255B}"/>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89518"/>
          </a:bodyPr>
          <a:lstStyle xmlns:a="http://schemas.openxmlformats.org/drawingml/2006/main"/>
          <a:p xmlns:a="http://schemas.openxmlformats.org/drawingml/2006/main">
            <a:pPr algn="l">
              <a:buNone/>
              <a:defRPr sz="3600" b="1">
                <a:solidFill>
                  <a:srgbClr val="151515"/>
                </a:solidFill>
                <a:latin typeface="Arial"/>
                <a:ea typeface="Arial"/>
                <a:cs typeface="Arial"/>
              </a:defRPr>
            </a:pPr>
            <a:r>
              <a:t>A controlled comparison isolates the role of data structure</a:t>
            </a:r>
          </a:p>
        </p:txBody>
      </p:sp>
      <p:sp>
        <p:nvSpPr>
          <p:cNvPr id="3" name="">
            <a:extLst xmlns:a="http://schemas.openxmlformats.org/drawingml/2006/main">
              <a:ext uri="{FF2B5EF4-FFF2-40B4-BE49-F238E27FC236}">
                <a16:creationId xmlns:a16="http://schemas.microsoft.com/office/drawing/2014/main" id="{FF48BE71-38CB-4488-8113-ECE3EA12E0E9}"/>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09</a:t>
            </a:r>
          </a:p>
        </p:txBody>
      </p:sp>
      <p:sp>
        <p:nvSpPr>
          <p:cNvPr id="4" name="">
            <a:extLst xmlns:a="http://schemas.openxmlformats.org/drawingml/2006/main">
              <a:ext uri="{FF2B5EF4-FFF2-40B4-BE49-F238E27FC236}">
                <a16:creationId xmlns:a16="http://schemas.microsoft.com/office/drawing/2014/main" id="{49A84AED-9033-4229-9348-6C1737B8F9C7}"/>
              </a:ext>
            </a:extLst>
          </p:cNvPr>
          <p:cNvSpPr>
            <a:spLocks xmlns:a="http://schemas.openxmlformats.org/drawingml/2006/main" noGrp="1"/>
          </p:cNvSpPr>
          <p:nvPr/>
        </p:nvSpPr>
        <p:spPr>
          <a:xfrm xmlns:a="http://schemas.openxmlformats.org/drawingml/2006/main">
            <a:off x="400050" y="1619250"/>
            <a:ext cx="17145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7B1E3A"/>
                </a:solidFill>
                <a:latin typeface="Arial"/>
                <a:ea typeface="Arial"/>
                <a:cs typeface="Arial"/>
              </a:defRPr>
            </a:pPr>
            <a:r>
              <a:t>SAME</a:t>
            </a:r>
          </a:p>
        </p:txBody>
      </p:sp>
      <p:sp>
        <p:nvSpPr>
          <p:cNvPr id="5" name="">
            <a:extLst xmlns:a="http://schemas.openxmlformats.org/drawingml/2006/main">
              <a:ext uri="{FF2B5EF4-FFF2-40B4-BE49-F238E27FC236}">
                <a16:creationId xmlns:a16="http://schemas.microsoft.com/office/drawing/2014/main" id="{85F1B518-CFC7-448A-ADB1-56AF71E33566}"/>
              </a:ext>
            </a:extLst>
          </p:cNvPr>
          <p:cNvSpPr>
            <a:spLocks xmlns:a="http://schemas.openxmlformats.org/drawingml/2006/main" noGrp="1"/>
          </p:cNvSpPr>
          <p:nvPr/>
        </p:nvSpPr>
        <p:spPr>
          <a:xfrm xmlns:a="http://schemas.openxmlformats.org/drawingml/2006/main">
            <a:off x="400050" y="2190750"/>
            <a:ext cx="2952750" cy="1809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0">
                <a:solidFill>
                  <a:srgbClr val="151515"/>
                </a:solidFill>
                <a:latin typeface="Arial"/>
                <a:ea typeface="Arial"/>
                <a:cs typeface="Arial"/>
              </a:defRPr>
            </a:pPr>
            <a:r>
              <a:t>Feature engineering
Detrending logic
Rule learners
Evaluation metric</a:t>
            </a:r>
          </a:p>
        </p:txBody>
      </p:sp>
      <p:sp>
        <p:nvSpPr>
          <p:cNvPr id="6" name="">
            <a:extLst xmlns:a="http://schemas.openxmlformats.org/drawingml/2006/main">
              <a:ext uri="{FF2B5EF4-FFF2-40B4-BE49-F238E27FC236}">
                <a16:creationId xmlns:a16="http://schemas.microsoft.com/office/drawing/2014/main" id="{74197C70-67D5-4C64-AF01-FC6A51E41321}"/>
              </a:ext>
            </a:extLst>
          </p:cNvPr>
          <p:cNvSpPr>
            <a:spLocks xmlns:a="http://schemas.openxmlformats.org/drawingml/2006/main" noGrp="1"/>
          </p:cNvSpPr>
          <p:nvPr/>
        </p:nvSpPr>
        <p:spPr>
          <a:xfrm xmlns:a="http://schemas.openxmlformats.org/drawingml/2006/main">
            <a:off x="4476750" y="1619250"/>
            <a:ext cx="19050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7B1E3A"/>
                </a:solidFill>
                <a:latin typeface="Arial"/>
                <a:ea typeface="Arial"/>
                <a:cs typeface="Arial"/>
              </a:defRPr>
            </a:pPr>
            <a:r>
              <a:t>DIFFERENT</a:t>
            </a:r>
          </a:p>
        </p:txBody>
      </p:sp>
      <p:sp>
        <p:nvSpPr>
          <p:cNvPr id="7" name="">
            <a:extLst xmlns:a="http://schemas.openxmlformats.org/drawingml/2006/main">
              <a:ext uri="{FF2B5EF4-FFF2-40B4-BE49-F238E27FC236}">
                <a16:creationId xmlns:a16="http://schemas.microsoft.com/office/drawing/2014/main" id="{DBB472A9-A525-4858-98B8-EB1452E86328}"/>
              </a:ext>
            </a:extLst>
          </p:cNvPr>
          <p:cNvSpPr>
            <a:spLocks xmlns:a="http://schemas.openxmlformats.org/drawingml/2006/main" noGrp="1"/>
          </p:cNvSpPr>
          <p:nvPr/>
        </p:nvSpPr>
        <p:spPr>
          <a:xfrm xmlns:a="http://schemas.openxmlformats.org/drawingml/2006/main">
            <a:off x="4476750" y="2190750"/>
            <a:ext cx="2952750" cy="1809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0">
                <a:solidFill>
                  <a:srgbClr val="151515"/>
                </a:solidFill>
                <a:latin typeface="Arial"/>
                <a:ea typeface="Arial"/>
                <a:cs typeface="Arial"/>
              </a:defRPr>
            </a:pPr>
            <a:r>
              <a:t>Climate regime
Structural trajectory
Noise level
Era composition</a:t>
            </a:r>
          </a:p>
        </p:txBody>
      </p:sp>
      <p:sp>
        <p:nvSpPr>
          <p:cNvPr id="8" name="">
            <a:extLst xmlns:a="http://schemas.openxmlformats.org/drawingml/2006/main">
              <a:ext uri="{FF2B5EF4-FFF2-40B4-BE49-F238E27FC236}">
                <a16:creationId xmlns:a16="http://schemas.microsoft.com/office/drawing/2014/main" id="{43D6DB48-E23A-443A-BE28-E108FFFDF07B}"/>
              </a:ext>
            </a:extLst>
          </p:cNvPr>
          <p:cNvSpPr>
            <a:spLocks xmlns:a="http://schemas.openxmlformats.org/drawingml/2006/main" noGrp="1"/>
          </p:cNvSpPr>
          <p:nvPr/>
        </p:nvSpPr>
        <p:spPr>
          <a:xfrm xmlns:a="http://schemas.openxmlformats.org/drawingml/2006/main">
            <a:off x="8096250" y="1524000"/>
            <a:ext cx="3333750" cy="3714750"/>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E8C0179-CD2E-4C56-8DEA-0201BABB399E}"/>
              </a:ext>
            </a:extLst>
          </p:cNvPr>
          <p:cNvSpPr>
            <a:spLocks xmlns:a="http://schemas.openxmlformats.org/drawingml/2006/main" noGrp="1"/>
          </p:cNvSpPr>
          <p:nvPr/>
        </p:nvSpPr>
        <p:spPr>
          <a:xfrm xmlns:a="http://schemas.openxmlformats.org/drawingml/2006/main">
            <a:off x="8429625" y="1857375"/>
            <a:ext cx="257175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5250" b="1">
                <a:solidFill>
                  <a:srgbClr val="FFFFFF"/>
                </a:solidFill>
                <a:latin typeface="Arial"/>
                <a:ea typeface="Arial"/>
                <a:cs typeface="Arial"/>
              </a:defRPr>
            </a:pPr>
            <a:r>
              <a:t>2</a:t>
            </a:r>
          </a:p>
        </p:txBody>
      </p:sp>
      <p:sp>
        <p:nvSpPr>
          <p:cNvPr id="10" name="">
            <a:extLst xmlns:a="http://schemas.openxmlformats.org/drawingml/2006/main">
              <a:ext uri="{FF2B5EF4-FFF2-40B4-BE49-F238E27FC236}">
                <a16:creationId xmlns:a16="http://schemas.microsoft.com/office/drawing/2014/main" id="{F3353210-76A2-4998-95EA-CA4DDB493AAF}"/>
              </a:ext>
            </a:extLst>
          </p:cNvPr>
          <p:cNvSpPr>
            <a:spLocks xmlns:a="http://schemas.openxmlformats.org/drawingml/2006/main" noGrp="1"/>
          </p:cNvSpPr>
          <p:nvPr/>
        </p:nvSpPr>
        <p:spPr>
          <a:xfrm xmlns:a="http://schemas.openxmlformats.org/drawingml/2006/main">
            <a:off x="8429625" y="2647950"/>
            <a:ext cx="25717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a:solidFill>
                  <a:srgbClr val="FFFFFF"/>
                </a:solidFill>
                <a:latin typeface="Arial"/>
                <a:ea typeface="Arial"/>
                <a:cs typeface="Arial"/>
              </a:defRPr>
            </a:pPr>
            <a:r>
              <a:t>regions</a:t>
            </a:r>
          </a:p>
        </p:txBody>
      </p:sp>
      <p:cxnSp>
        <p:nvCxnSpPr>
          <p:cNvPr id="103" name=""/>
          <p:cNvCxnSpPr/>
          <p:nvPr/>
        </p:nvCxnSpPr>
        <p:spPr>
          <a:xfrm xmlns:a="http://schemas.openxmlformats.org/drawingml/2006/main">
            <a:off x="8429625" y="3257550"/>
            <a:ext cx="2524125" cy="953"/>
          </a:xfrm>
          <a:prstGeom xmlns:a="http://schemas.openxmlformats.org/drawingml/2006/main" prst="straightConnector1">
            <a:avLst/>
          </a:prstGeom>
          <a:ln xmlns:a="http://schemas.openxmlformats.org/drawingml/2006/main" w="38100">
            <a:solidFill>
              <a:srgbClr val="7B1E3A"/>
            </a:solidFill>
            <a:prstDash val="solid"/>
          </a:ln>
        </p:spPr>
      </p:cxnSp>
      <p:sp>
        <p:nvSpPr>
          <p:cNvPr id="12" name="">
            <a:extLst xmlns:a="http://schemas.openxmlformats.org/drawingml/2006/main">
              <a:ext uri="{FF2B5EF4-FFF2-40B4-BE49-F238E27FC236}">
                <a16:creationId xmlns:a16="http://schemas.microsoft.com/office/drawing/2014/main" id="{82A5AD17-3BB2-4150-BB73-3A1872B6D533}"/>
              </a:ext>
            </a:extLst>
          </p:cNvPr>
          <p:cNvSpPr>
            <a:spLocks xmlns:a="http://schemas.openxmlformats.org/drawingml/2006/main" noGrp="1"/>
          </p:cNvSpPr>
          <p:nvPr/>
        </p:nvSpPr>
        <p:spPr>
          <a:xfrm xmlns:a="http://schemas.openxmlformats.org/drawingml/2006/main">
            <a:off x="8429625" y="3571875"/>
            <a:ext cx="257175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FFFFFF"/>
                </a:solidFill>
                <a:latin typeface="Arial"/>
                <a:ea typeface="Arial"/>
                <a:cs typeface="Arial"/>
              </a:defRPr>
            </a:pPr>
            <a:r>
              <a:t>89 + 80</a:t>
            </a:r>
          </a:p>
        </p:txBody>
      </p:sp>
      <p:sp>
        <p:nvSpPr>
          <p:cNvPr id="13" name="">
            <a:extLst xmlns:a="http://schemas.openxmlformats.org/drawingml/2006/main">
              <a:ext uri="{FF2B5EF4-FFF2-40B4-BE49-F238E27FC236}">
                <a16:creationId xmlns:a16="http://schemas.microsoft.com/office/drawing/2014/main" id="{D0E6F9C4-9DBE-46A9-B730-BA02B1333379}"/>
              </a:ext>
            </a:extLst>
          </p:cNvPr>
          <p:cNvSpPr>
            <a:spLocks xmlns:a="http://schemas.openxmlformats.org/drawingml/2006/main" noGrp="1"/>
          </p:cNvSpPr>
          <p:nvPr/>
        </p:nvSpPr>
        <p:spPr>
          <a:xfrm xmlns:a="http://schemas.openxmlformats.org/drawingml/2006/main">
            <a:off x="8429625" y="4238625"/>
            <a:ext cx="257175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FFFFFF"/>
                </a:solidFill>
                <a:latin typeface="Arial"/>
                <a:ea typeface="Arial"/>
                <a:cs typeface="Arial"/>
              </a:defRPr>
            </a:pPr>
            <a:r>
              <a:t>annual observations</a:t>
            </a:r>
          </a:p>
        </p:txBody>
      </p:sp>
      <p:sp>
        <p:nvSpPr>
          <p:cNvPr id="14" name="">
            <a:extLst xmlns:a="http://schemas.openxmlformats.org/drawingml/2006/main">
              <a:ext uri="{FF2B5EF4-FFF2-40B4-BE49-F238E27FC236}">
                <a16:creationId xmlns:a16="http://schemas.microsoft.com/office/drawing/2014/main" id="{1851DD13-E77D-4F48-A8BA-75749E2EAC78}"/>
              </a:ext>
            </a:extLst>
          </p:cNvPr>
          <p:cNvSpPr>
            <a:spLocks xmlns:a="http://schemas.openxmlformats.org/drawingml/2006/main" noGrp="1"/>
          </p:cNvSpPr>
          <p:nvPr/>
        </p:nvSpPr>
        <p:spPr>
          <a:xfrm xmlns:a="http://schemas.openxmlformats.org/drawingml/2006/main">
            <a:off x="400050" y="5143500"/>
            <a:ext cx="6858000" cy="666750"/>
          </a:xfrm>
          <a:prstGeom xmlns:a="http://schemas.openxmlformats.org/drawingml/2006/main" prst="rect">
            <a:avLst/>
          </a:prstGeom>
        </p:spPr>
        <p:txBody>
          <a:bodyPr xmlns:a="http://schemas.openxmlformats.org/drawingml/2006/main" lIns="0" tIns="0" rIns="0" bIns="0" anchor="t">
            <a:normAutofit fontScale="91146"/>
          </a:bodyPr>
          <a:lstStyle xmlns:a="http://schemas.openxmlformats.org/drawingml/2006/main"/>
          <a:p xmlns:a="http://schemas.openxmlformats.org/drawingml/2006/main">
            <a:pPr algn="l">
              <a:buNone/>
              <a:defRPr sz="2400" b="1">
                <a:solidFill>
                  <a:srgbClr val="151515"/>
                </a:solidFill>
                <a:latin typeface="Arial"/>
                <a:ea typeface="Arial"/>
                <a:cs typeface="Arial"/>
              </a:defRPr>
            </a:pPr>
            <a:r>
              <a:t>The contrast turns two case studies into a natural experiment.</a:t>
            </a:r>
          </a:p>
        </p:txBody>
      </p:sp>
      <p:sp>
        <p:nvSpPr>
          <p:cNvPr id="15" name="">
            <a:extLst xmlns:a="http://schemas.openxmlformats.org/drawingml/2006/main">
              <a:ext uri="{FF2B5EF4-FFF2-40B4-BE49-F238E27FC236}">
                <a16:creationId xmlns:a16="http://schemas.microsoft.com/office/drawing/2014/main" id="{D4347169-E8A6-424D-A693-6DEE163DB537}"/>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3.1 and 3.11</a:t>
            </a:r>
          </a:p>
        </p:txBody>
      </p:sp>
    </p:spTree>
    <p:extLst>
      <p:ext uri="{BB962C8B-B14F-4D97-AF65-F5344CB8AC3E}">
        <p14:creationId xmlns:p14="http://schemas.microsoft.com/office/powerpoint/2010/main" val="129642321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A08FD44-1015-46D6-8F63-7C4C38682C2F}"/>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ALGORITHMS</a:t>
            </a:r>
          </a:p>
        </p:txBody>
      </p:sp>
      <p:sp>
        <p:nvSpPr>
          <p:cNvPr id="2" name="">
            <a:extLst xmlns:a="http://schemas.openxmlformats.org/drawingml/2006/main">
              <a:ext uri="{FF2B5EF4-FFF2-40B4-BE49-F238E27FC236}">
                <a16:creationId xmlns:a16="http://schemas.microsoft.com/office/drawing/2014/main" id="{7D07663B-C646-4431-9207-C6AEF67EACE1}"/>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7916"/>
          </a:bodyPr>
          <a:lstStyle xmlns:a="http://schemas.openxmlformats.org/drawingml/2006/main"/>
          <a:p xmlns:a="http://schemas.openxmlformats.org/drawingml/2006/main">
            <a:pPr algn="l">
              <a:buNone/>
              <a:defRPr sz="3600" b="1">
                <a:solidFill>
                  <a:srgbClr val="151515"/>
                </a:solidFill>
                <a:latin typeface="Arial"/>
                <a:ea typeface="Arial"/>
                <a:cs typeface="Arial"/>
              </a:defRPr>
            </a:pPr>
            <a:r>
              <a:t>CarenR is the primary lens among five model families</a:t>
            </a:r>
          </a:p>
        </p:txBody>
      </p:sp>
      <p:sp>
        <p:nvSpPr>
          <p:cNvPr id="3" name="">
            <a:extLst xmlns:a="http://schemas.openxmlformats.org/drawingml/2006/main">
              <a:ext uri="{FF2B5EF4-FFF2-40B4-BE49-F238E27FC236}">
                <a16:creationId xmlns:a16="http://schemas.microsoft.com/office/drawing/2014/main" id="{A4F9EA1D-190B-4939-809A-B0D9D8A92E60}"/>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10</a:t>
            </a:r>
          </a:p>
        </p:txBody>
      </p:sp>
      <p:sp>
        <p:nvSpPr>
          <p:cNvPr id="4" name="">
            <a:extLst xmlns:a="http://schemas.openxmlformats.org/drawingml/2006/main">
              <a:ext uri="{FF2B5EF4-FFF2-40B4-BE49-F238E27FC236}">
                <a16:creationId xmlns:a16="http://schemas.microsoft.com/office/drawing/2014/main" id="{CA84679D-FD78-4A8C-B621-155288704D63}"/>
              </a:ext>
            </a:extLst>
          </p:cNvPr>
          <p:cNvSpPr>
            <a:spLocks xmlns:a="http://schemas.openxmlformats.org/drawingml/2006/main" noGrp="1"/>
          </p:cNvSpPr>
          <p:nvPr/>
        </p:nvSpPr>
        <p:spPr>
          <a:xfrm xmlns:a="http://schemas.openxmlformats.org/drawingml/2006/main">
            <a:off x="400050" y="1476375"/>
            <a:ext cx="6858000" cy="4524375"/>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098D154-78C0-4C70-A9D2-6DCC8E597B30}"/>
              </a:ext>
            </a:extLst>
          </p:cNvPr>
          <p:cNvSpPr>
            <a:spLocks xmlns:a="http://schemas.openxmlformats.org/drawingml/2006/main" noGrp="1"/>
          </p:cNvSpPr>
          <p:nvPr/>
        </p:nvSpPr>
        <p:spPr>
          <a:xfrm xmlns:a="http://schemas.openxmlformats.org/drawingml/2006/main">
            <a:off x="685800" y="1733550"/>
            <a:ext cx="18097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2563A6"/>
                </a:solidFill>
                <a:latin typeface="Arial"/>
                <a:ea typeface="Arial"/>
                <a:cs typeface="Arial"/>
              </a:defRPr>
            </a:pPr>
            <a:r>
              <a:t>PRIMARY METHOD</a:t>
            </a:r>
          </a:p>
        </p:txBody>
      </p:sp>
      <p:sp>
        <p:nvSpPr>
          <p:cNvPr id="6" name="">
            <a:extLst xmlns:a="http://schemas.openxmlformats.org/drawingml/2006/main">
              <a:ext uri="{FF2B5EF4-FFF2-40B4-BE49-F238E27FC236}">
                <a16:creationId xmlns:a16="http://schemas.microsoft.com/office/drawing/2014/main" id="{FB5071B9-8F1B-4FD7-B68E-0F36B2FDB7AC}"/>
              </a:ext>
            </a:extLst>
          </p:cNvPr>
          <p:cNvSpPr>
            <a:spLocks xmlns:a="http://schemas.openxmlformats.org/drawingml/2006/main" noGrp="1"/>
          </p:cNvSpPr>
          <p:nvPr/>
        </p:nvSpPr>
        <p:spPr>
          <a:xfrm xmlns:a="http://schemas.openxmlformats.org/drawingml/2006/main">
            <a:off x="685800" y="2095500"/>
            <a:ext cx="238125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151515"/>
                </a:solidFill>
                <a:latin typeface="Arial"/>
                <a:ea typeface="Arial"/>
                <a:cs typeface="Arial"/>
              </a:defRPr>
            </a:pPr>
            <a:r>
              <a:t>CarenR</a:t>
            </a:r>
          </a:p>
        </p:txBody>
      </p:sp>
      <p:sp>
        <p:nvSpPr>
          <p:cNvPr id="7" name="">
            <a:extLst xmlns:a="http://schemas.openxmlformats.org/drawingml/2006/main">
              <a:ext uri="{FF2B5EF4-FFF2-40B4-BE49-F238E27FC236}">
                <a16:creationId xmlns:a16="http://schemas.microsoft.com/office/drawing/2014/main" id="{BFDD85E5-6D6B-4313-AD74-7AF7F037EF49}"/>
              </a:ext>
            </a:extLst>
          </p:cNvPr>
          <p:cNvSpPr>
            <a:spLocks xmlns:a="http://schemas.openxmlformats.org/drawingml/2006/main" noGrp="1"/>
          </p:cNvSpPr>
          <p:nvPr/>
        </p:nvSpPr>
        <p:spPr>
          <a:xfrm xmlns:a="http://schemas.openxmlformats.org/drawingml/2006/main">
            <a:off x="3143250" y="2238375"/>
            <a:ext cx="3667125" cy="323850"/>
          </a:xfrm>
          <a:prstGeom xmlns:a="http://schemas.openxmlformats.org/drawingml/2006/main" prst="rect">
            <a:avLst/>
          </a:prstGeom>
        </p:spPr>
        <p:txBody>
          <a:bodyPr xmlns:a="http://schemas.openxmlformats.org/drawingml/2006/main" lIns="0" tIns="0" rIns="0" bIns="0" anchor="t">
            <a:normAutofit fontScale="98569"/>
          </a:bodyPr>
          <a:lstStyle xmlns:a="http://schemas.openxmlformats.org/drawingml/2006/main"/>
          <a:p xmlns:a="http://schemas.openxmlformats.org/drawingml/2006/main">
            <a:pPr algn="l">
              <a:buNone/>
              <a:defRPr sz="1800" b="1">
                <a:solidFill>
                  <a:srgbClr val="2563A6"/>
                </a:solidFill>
                <a:latin typeface="Arial"/>
                <a:ea typeface="Arial"/>
                <a:cs typeface="Arial"/>
              </a:defRPr>
            </a:pPr>
            <a:r>
              <a:t>Distributional subgroup discovery</a:t>
            </a:r>
          </a:p>
        </p:txBody>
      </p:sp>
      <p:sp>
        <p:nvSpPr>
          <p:cNvPr id="8" name="">
            <a:extLst xmlns:a="http://schemas.openxmlformats.org/drawingml/2006/main">
              <a:ext uri="{FF2B5EF4-FFF2-40B4-BE49-F238E27FC236}">
                <a16:creationId xmlns:a16="http://schemas.microsoft.com/office/drawing/2014/main" id="{8C04CF94-5D4E-48C8-A0D7-A2D78174BF55}"/>
              </a:ext>
            </a:extLst>
          </p:cNvPr>
          <p:cNvSpPr>
            <a:spLocks xmlns:a="http://schemas.openxmlformats.org/drawingml/2006/main" noGrp="1"/>
          </p:cNvSpPr>
          <p:nvPr/>
        </p:nvSpPr>
        <p:spPr>
          <a:xfrm xmlns:a="http://schemas.openxmlformats.org/drawingml/2006/main">
            <a:off x="714375" y="3000375"/>
            <a:ext cx="2857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2563A6"/>
                </a:solidFill>
                <a:latin typeface="Arial"/>
                <a:ea typeface="Arial"/>
                <a:cs typeface="Arial"/>
              </a:defRPr>
            </a:pPr>
            <a:r>
              <a:t>1</a:t>
            </a:r>
          </a:p>
        </p:txBody>
      </p:sp>
      <p:sp>
        <p:nvSpPr>
          <p:cNvPr id="9" name="">
            <a:extLst xmlns:a="http://schemas.openxmlformats.org/drawingml/2006/main">
              <a:ext uri="{FF2B5EF4-FFF2-40B4-BE49-F238E27FC236}">
                <a16:creationId xmlns:a16="http://schemas.microsoft.com/office/drawing/2014/main" id="{803C315C-5E47-4AE3-95BC-7817F3F31D3B}"/>
              </a:ext>
            </a:extLst>
          </p:cNvPr>
          <p:cNvSpPr>
            <a:spLocks xmlns:a="http://schemas.openxmlformats.org/drawingml/2006/main" noGrp="1"/>
          </p:cNvSpPr>
          <p:nvPr/>
        </p:nvSpPr>
        <p:spPr>
          <a:xfrm xmlns:a="http://schemas.openxmlformats.org/drawingml/2006/main">
            <a:off x="1066800" y="3000375"/>
            <a:ext cx="1285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151515"/>
                </a:solidFill>
                <a:latin typeface="Arial"/>
                <a:ea typeface="Arial"/>
                <a:cs typeface="Arial"/>
              </a:defRPr>
            </a:pPr>
            <a:r>
              <a:t>Discretise</a:t>
            </a:r>
          </a:p>
        </p:txBody>
      </p:sp>
      <p:sp>
        <p:nvSpPr>
          <p:cNvPr id="10" name="">
            <a:extLst xmlns:a="http://schemas.openxmlformats.org/drawingml/2006/main">
              <a:ext uri="{FF2B5EF4-FFF2-40B4-BE49-F238E27FC236}">
                <a16:creationId xmlns:a16="http://schemas.microsoft.com/office/drawing/2014/main" id="{32007DEA-0229-4B80-B599-47E8F4D4411D}"/>
              </a:ext>
            </a:extLst>
          </p:cNvPr>
          <p:cNvSpPr>
            <a:spLocks xmlns:a="http://schemas.openxmlformats.org/drawingml/2006/main" noGrp="1"/>
          </p:cNvSpPr>
          <p:nvPr/>
        </p:nvSpPr>
        <p:spPr>
          <a:xfrm xmlns:a="http://schemas.openxmlformats.org/drawingml/2006/main">
            <a:off x="2381250" y="3000375"/>
            <a:ext cx="4333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t>Climate features become equal-frequency bins.</a:t>
            </a:r>
          </a:p>
        </p:txBody>
      </p:sp>
      <p:cxnSp>
        <p:nvCxnSpPr>
          <p:cNvPr id="183" name=""/>
          <p:cNvCxnSpPr/>
          <p:nvPr/>
        </p:nvCxnSpPr>
        <p:spPr>
          <a:xfrm xmlns:a="http://schemas.openxmlformats.org/drawingml/2006/main">
            <a:off x="838200" y="3352800"/>
            <a:ext cx="953" cy="323850"/>
          </a:xfrm>
          <a:prstGeom xmlns:a="http://schemas.openxmlformats.org/drawingml/2006/main" prst="straightConnector1">
            <a:avLst/>
          </a:prstGeom>
          <a:ln xmlns:a="http://schemas.openxmlformats.org/drawingml/2006/main" w="28575">
            <a:solidFill>
              <a:srgbClr val="2563A6"/>
            </a:solidFill>
            <a:prstDash val="solid"/>
          </a:ln>
        </p:spPr>
      </p:cxnSp>
      <p:sp>
        <p:nvSpPr>
          <p:cNvPr id="12" name="">
            <a:extLst xmlns:a="http://schemas.openxmlformats.org/drawingml/2006/main">
              <a:ext uri="{FF2B5EF4-FFF2-40B4-BE49-F238E27FC236}">
                <a16:creationId xmlns:a16="http://schemas.microsoft.com/office/drawing/2014/main" id="{B3A409D9-BA5F-4725-AD8C-83CB1A578202}"/>
              </a:ext>
            </a:extLst>
          </p:cNvPr>
          <p:cNvSpPr>
            <a:spLocks xmlns:a="http://schemas.openxmlformats.org/drawingml/2006/main" noGrp="1"/>
          </p:cNvSpPr>
          <p:nvPr/>
        </p:nvSpPr>
        <p:spPr>
          <a:xfrm xmlns:a="http://schemas.openxmlformats.org/drawingml/2006/main">
            <a:off x="714375" y="3714750"/>
            <a:ext cx="2857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2563A6"/>
                </a:solidFill>
                <a:latin typeface="Arial"/>
                <a:ea typeface="Arial"/>
                <a:cs typeface="Arial"/>
              </a:defRPr>
            </a:pPr>
            <a:r>
              <a:t>2</a:t>
            </a:r>
          </a:p>
        </p:txBody>
      </p:sp>
      <p:sp>
        <p:nvSpPr>
          <p:cNvPr id="13" name="">
            <a:extLst xmlns:a="http://schemas.openxmlformats.org/drawingml/2006/main">
              <a:ext uri="{FF2B5EF4-FFF2-40B4-BE49-F238E27FC236}">
                <a16:creationId xmlns:a16="http://schemas.microsoft.com/office/drawing/2014/main" id="{4F72473F-CD40-4956-9705-24738BD5F900}"/>
              </a:ext>
            </a:extLst>
          </p:cNvPr>
          <p:cNvSpPr>
            <a:spLocks xmlns:a="http://schemas.openxmlformats.org/drawingml/2006/main" noGrp="1"/>
          </p:cNvSpPr>
          <p:nvPr/>
        </p:nvSpPr>
        <p:spPr>
          <a:xfrm xmlns:a="http://schemas.openxmlformats.org/drawingml/2006/main">
            <a:off x="1066800" y="3714750"/>
            <a:ext cx="1285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151515"/>
                </a:solidFill>
                <a:latin typeface="Arial"/>
                <a:ea typeface="Arial"/>
                <a:cs typeface="Arial"/>
              </a:defRPr>
            </a:pPr>
            <a:r>
              <a:t>Search</a:t>
            </a:r>
          </a:p>
        </p:txBody>
      </p:sp>
      <p:sp>
        <p:nvSpPr>
          <p:cNvPr id="14" name="">
            <a:extLst xmlns:a="http://schemas.openxmlformats.org/drawingml/2006/main">
              <a:ext uri="{FF2B5EF4-FFF2-40B4-BE49-F238E27FC236}">
                <a16:creationId xmlns:a16="http://schemas.microsoft.com/office/drawing/2014/main" id="{5E510A53-7D6A-4C8A-84BB-D76D106A8126}"/>
              </a:ext>
            </a:extLst>
          </p:cNvPr>
          <p:cNvSpPr>
            <a:spLocks xmlns:a="http://schemas.openxmlformats.org/drawingml/2006/main" noGrp="1"/>
          </p:cNvSpPr>
          <p:nvPr/>
        </p:nvSpPr>
        <p:spPr>
          <a:xfrm xmlns:a="http://schemas.openxmlformats.org/drawingml/2006/main">
            <a:off x="2381250" y="3714750"/>
            <a:ext cx="4333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t>Beam search combines feature-bin conditions.</a:t>
            </a:r>
          </a:p>
        </p:txBody>
      </p:sp>
      <p:cxnSp>
        <p:nvCxnSpPr>
          <p:cNvPr id="187" name=""/>
          <p:cNvCxnSpPr/>
          <p:nvPr/>
        </p:nvCxnSpPr>
        <p:spPr>
          <a:xfrm xmlns:a="http://schemas.openxmlformats.org/drawingml/2006/main">
            <a:off x="838200" y="4067175"/>
            <a:ext cx="953" cy="323850"/>
          </a:xfrm>
          <a:prstGeom xmlns:a="http://schemas.openxmlformats.org/drawingml/2006/main" prst="straightConnector1">
            <a:avLst/>
          </a:prstGeom>
          <a:ln xmlns:a="http://schemas.openxmlformats.org/drawingml/2006/main" w="28575">
            <a:solidFill>
              <a:srgbClr val="2563A6"/>
            </a:solidFill>
            <a:prstDash val="solid"/>
          </a:ln>
        </p:spPr>
      </p:cxnSp>
      <p:sp>
        <p:nvSpPr>
          <p:cNvPr id="16" name="">
            <a:extLst xmlns:a="http://schemas.openxmlformats.org/drawingml/2006/main">
              <a:ext uri="{FF2B5EF4-FFF2-40B4-BE49-F238E27FC236}">
                <a16:creationId xmlns:a16="http://schemas.microsoft.com/office/drawing/2014/main" id="{FF17C4DE-6BD6-43DC-A7FF-2363E0A24B6A}"/>
              </a:ext>
            </a:extLst>
          </p:cNvPr>
          <p:cNvSpPr>
            <a:spLocks xmlns:a="http://schemas.openxmlformats.org/drawingml/2006/main" noGrp="1"/>
          </p:cNvSpPr>
          <p:nvPr/>
        </p:nvSpPr>
        <p:spPr>
          <a:xfrm xmlns:a="http://schemas.openxmlformats.org/drawingml/2006/main">
            <a:off x="714375" y="4429125"/>
            <a:ext cx="2857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2563A6"/>
                </a:solidFill>
                <a:latin typeface="Arial"/>
                <a:ea typeface="Arial"/>
                <a:cs typeface="Arial"/>
              </a:defRPr>
            </a:pPr>
            <a:r>
              <a:t>3</a:t>
            </a:r>
          </a:p>
        </p:txBody>
      </p:sp>
      <p:sp>
        <p:nvSpPr>
          <p:cNvPr id="17" name="">
            <a:extLst xmlns:a="http://schemas.openxmlformats.org/drawingml/2006/main">
              <a:ext uri="{FF2B5EF4-FFF2-40B4-BE49-F238E27FC236}">
                <a16:creationId xmlns:a16="http://schemas.microsoft.com/office/drawing/2014/main" id="{B5187112-7BE1-412B-BC25-ED899F4E4D5E}"/>
              </a:ext>
            </a:extLst>
          </p:cNvPr>
          <p:cNvSpPr>
            <a:spLocks xmlns:a="http://schemas.openxmlformats.org/drawingml/2006/main" noGrp="1"/>
          </p:cNvSpPr>
          <p:nvPr/>
        </p:nvSpPr>
        <p:spPr>
          <a:xfrm xmlns:a="http://schemas.openxmlformats.org/drawingml/2006/main">
            <a:off x="1066800" y="4429125"/>
            <a:ext cx="1285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151515"/>
                </a:solidFill>
                <a:latin typeface="Arial"/>
                <a:ea typeface="Arial"/>
                <a:cs typeface="Arial"/>
              </a:defRPr>
            </a:pPr>
            <a:r>
              <a:t>Compare</a:t>
            </a:r>
          </a:p>
        </p:txBody>
      </p:sp>
      <p:sp>
        <p:nvSpPr>
          <p:cNvPr id="18" name="">
            <a:extLst xmlns:a="http://schemas.openxmlformats.org/drawingml/2006/main">
              <a:ext uri="{FF2B5EF4-FFF2-40B4-BE49-F238E27FC236}">
                <a16:creationId xmlns:a16="http://schemas.microsoft.com/office/drawing/2014/main" id="{89E9CDE2-5E88-42B6-9AE2-3F956178F783}"/>
              </a:ext>
            </a:extLst>
          </p:cNvPr>
          <p:cNvSpPr>
            <a:spLocks xmlns:a="http://schemas.openxmlformats.org/drawingml/2006/main" noGrp="1"/>
          </p:cNvSpPr>
          <p:nvPr/>
        </p:nvSpPr>
        <p:spPr>
          <a:xfrm xmlns:a="http://schemas.openxmlformats.org/drawingml/2006/main">
            <a:off x="2381250" y="4429125"/>
            <a:ext cx="4333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t>KS test: subgroup residuals vs global residuals.</a:t>
            </a:r>
          </a:p>
        </p:txBody>
      </p:sp>
      <p:cxnSp>
        <p:nvCxnSpPr>
          <p:cNvPr id="191" name=""/>
          <p:cNvCxnSpPr/>
          <p:nvPr/>
        </p:nvCxnSpPr>
        <p:spPr>
          <a:xfrm xmlns:a="http://schemas.openxmlformats.org/drawingml/2006/main">
            <a:off x="838200" y="4781550"/>
            <a:ext cx="953" cy="323850"/>
          </a:xfrm>
          <a:prstGeom xmlns:a="http://schemas.openxmlformats.org/drawingml/2006/main" prst="straightConnector1">
            <a:avLst/>
          </a:prstGeom>
          <a:ln xmlns:a="http://schemas.openxmlformats.org/drawingml/2006/main" w="28575">
            <a:solidFill>
              <a:srgbClr val="2563A6"/>
            </a:solidFill>
            <a:prstDash val="solid"/>
          </a:ln>
        </p:spPr>
      </p:cxnSp>
      <p:sp>
        <p:nvSpPr>
          <p:cNvPr id="20" name="">
            <a:extLst xmlns:a="http://schemas.openxmlformats.org/drawingml/2006/main">
              <a:ext uri="{FF2B5EF4-FFF2-40B4-BE49-F238E27FC236}">
                <a16:creationId xmlns:a16="http://schemas.microsoft.com/office/drawing/2014/main" id="{38D01D2C-03BF-4DCB-B1D6-7DFFE9BAB247}"/>
              </a:ext>
            </a:extLst>
          </p:cNvPr>
          <p:cNvSpPr>
            <a:spLocks xmlns:a="http://schemas.openxmlformats.org/drawingml/2006/main" noGrp="1"/>
          </p:cNvSpPr>
          <p:nvPr/>
        </p:nvSpPr>
        <p:spPr>
          <a:xfrm xmlns:a="http://schemas.openxmlformats.org/drawingml/2006/main">
            <a:off x="714375" y="5143500"/>
            <a:ext cx="2857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2563A6"/>
                </a:solidFill>
                <a:latin typeface="Arial"/>
                <a:ea typeface="Arial"/>
                <a:cs typeface="Arial"/>
              </a:defRPr>
            </a:pPr>
            <a:r>
              <a:t>4</a:t>
            </a:r>
          </a:p>
        </p:txBody>
      </p:sp>
      <p:sp>
        <p:nvSpPr>
          <p:cNvPr id="21" name="">
            <a:extLst xmlns:a="http://schemas.openxmlformats.org/drawingml/2006/main">
              <a:ext uri="{FF2B5EF4-FFF2-40B4-BE49-F238E27FC236}">
                <a16:creationId xmlns:a16="http://schemas.microsoft.com/office/drawing/2014/main" id="{F996DFCF-5EFE-4C4E-AA2D-83FDD117F395}"/>
              </a:ext>
            </a:extLst>
          </p:cNvPr>
          <p:cNvSpPr>
            <a:spLocks xmlns:a="http://schemas.openxmlformats.org/drawingml/2006/main" noGrp="1"/>
          </p:cNvSpPr>
          <p:nvPr/>
        </p:nvSpPr>
        <p:spPr>
          <a:xfrm xmlns:a="http://schemas.openxmlformats.org/drawingml/2006/main">
            <a:off x="1066800" y="5143500"/>
            <a:ext cx="1285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151515"/>
                </a:solidFill>
                <a:latin typeface="Arial"/>
                <a:ea typeface="Arial"/>
                <a:cs typeface="Arial"/>
              </a:defRPr>
            </a:pPr>
            <a:r>
              <a:t>Retain</a:t>
            </a:r>
          </a:p>
        </p:txBody>
      </p:sp>
      <p:sp>
        <p:nvSpPr>
          <p:cNvPr id="22" name="">
            <a:extLst xmlns:a="http://schemas.openxmlformats.org/drawingml/2006/main">
              <a:ext uri="{FF2B5EF4-FFF2-40B4-BE49-F238E27FC236}">
                <a16:creationId xmlns:a16="http://schemas.microsoft.com/office/drawing/2014/main" id="{38FB3703-3680-476C-93C2-127A43164427}"/>
              </a:ext>
            </a:extLst>
          </p:cNvPr>
          <p:cNvSpPr>
            <a:spLocks xmlns:a="http://schemas.openxmlformats.org/drawingml/2006/main" noGrp="1"/>
          </p:cNvSpPr>
          <p:nvPr/>
        </p:nvSpPr>
        <p:spPr>
          <a:xfrm xmlns:a="http://schemas.openxmlformats.org/drawingml/2006/main">
            <a:off x="2381250" y="5143500"/>
            <a:ext cx="4333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t>Keep significant rules with sufficient support.</a:t>
            </a:r>
          </a:p>
        </p:txBody>
      </p:sp>
      <p:sp>
        <p:nvSpPr>
          <p:cNvPr id="23" name="">
            <a:extLst xmlns:a="http://schemas.openxmlformats.org/drawingml/2006/main">
              <a:ext uri="{FF2B5EF4-FFF2-40B4-BE49-F238E27FC236}">
                <a16:creationId xmlns:a16="http://schemas.microsoft.com/office/drawing/2014/main" id="{DC2445A9-DE58-4F17-865B-E18BD55DB754}"/>
              </a:ext>
            </a:extLst>
          </p:cNvPr>
          <p:cNvSpPr>
            <a:spLocks xmlns:a="http://schemas.openxmlformats.org/drawingml/2006/main" noGrp="1"/>
          </p:cNvSpPr>
          <p:nvPr/>
        </p:nvSpPr>
        <p:spPr>
          <a:xfrm xmlns:a="http://schemas.openxmlformats.org/drawingml/2006/main">
            <a:off x="685800" y="5572125"/>
            <a:ext cx="6000750" cy="285750"/>
          </a:xfrm>
          <a:prstGeom xmlns:a="http://schemas.openxmlformats.org/drawingml/2006/main" prst="rect">
            <a:avLst/>
          </a:prstGeom>
          <a:solidFill xmlns:a="http://schemas.openxmlformats.org/drawingml/2006/main">
            <a:srgbClr val="2563A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C919960-1641-490B-A9A3-55D306CE0C3C}"/>
              </a:ext>
            </a:extLst>
          </p:cNvPr>
          <p:cNvSpPr>
            <a:spLocks xmlns:a="http://schemas.openxmlformats.org/drawingml/2006/main" noGrp="1"/>
          </p:cNvSpPr>
          <p:nvPr/>
        </p:nvSpPr>
        <p:spPr>
          <a:xfrm xmlns:a="http://schemas.openxmlformats.org/drawingml/2006/main">
            <a:off x="838200" y="5629275"/>
            <a:ext cx="5715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t>OUTPUT  ·  IF climate conditions  →  shifted production-residual distribution</a:t>
            </a:r>
          </a:p>
        </p:txBody>
      </p:sp>
      <p:sp>
        <p:nvSpPr>
          <p:cNvPr id="25" name="">
            <a:extLst xmlns:a="http://schemas.openxmlformats.org/drawingml/2006/main">
              <a:ext uri="{FF2B5EF4-FFF2-40B4-BE49-F238E27FC236}">
                <a16:creationId xmlns:a16="http://schemas.microsoft.com/office/drawing/2014/main" id="{56D4E54D-A5F1-4770-BD3C-2107D2655207}"/>
              </a:ext>
            </a:extLst>
          </p:cNvPr>
          <p:cNvSpPr>
            <a:spLocks xmlns:a="http://schemas.openxmlformats.org/drawingml/2006/main" noGrp="1"/>
          </p:cNvSpPr>
          <p:nvPr/>
        </p:nvSpPr>
        <p:spPr>
          <a:xfrm xmlns:a="http://schemas.openxmlformats.org/drawingml/2006/main">
            <a:off x="7810500" y="1571625"/>
            <a:ext cx="1714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7B1E3A"/>
                </a:solidFill>
                <a:latin typeface="Arial"/>
                <a:ea typeface="Arial"/>
                <a:cs typeface="Arial"/>
              </a:defRPr>
            </a:pPr>
            <a:r>
              <a:t>COMPARATORS</a:t>
            </a:r>
          </a:p>
        </p:txBody>
      </p:sp>
      <p:sp>
        <p:nvSpPr>
          <p:cNvPr id="26" name="">
            <a:extLst xmlns:a="http://schemas.openxmlformats.org/drawingml/2006/main">
              <a:ext uri="{FF2B5EF4-FFF2-40B4-BE49-F238E27FC236}">
                <a16:creationId xmlns:a16="http://schemas.microsoft.com/office/drawing/2014/main" id="{806037D9-DFEC-4812-808A-4E7CB7034B32}"/>
              </a:ext>
            </a:extLst>
          </p:cNvPr>
          <p:cNvSpPr>
            <a:spLocks xmlns:a="http://schemas.openxmlformats.org/drawingml/2006/main" noGrp="1"/>
          </p:cNvSpPr>
          <p:nvPr/>
        </p:nvSpPr>
        <p:spPr>
          <a:xfrm xmlns:a="http://schemas.openxmlformats.org/drawingml/2006/main">
            <a:off x="7715250" y="1952625"/>
            <a:ext cx="4076700" cy="7810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0C4DF85-C753-4A16-86DA-2A92744FB260}"/>
              </a:ext>
            </a:extLst>
          </p:cNvPr>
          <p:cNvSpPr>
            <a:spLocks xmlns:a="http://schemas.openxmlformats.org/drawingml/2006/main" noGrp="1"/>
          </p:cNvSpPr>
          <p:nvPr/>
        </p:nvSpPr>
        <p:spPr>
          <a:xfrm xmlns:a="http://schemas.openxmlformats.org/drawingml/2006/main">
            <a:off x="7953375" y="2124075"/>
            <a:ext cx="1095375"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151515"/>
                </a:solidFill>
                <a:latin typeface="Arial"/>
                <a:ea typeface="Arial"/>
                <a:cs typeface="Arial"/>
              </a:defRPr>
            </a:pPr>
            <a:r>
              <a:t>RIPPER</a:t>
            </a:r>
          </a:p>
        </p:txBody>
      </p:sp>
      <p:sp>
        <p:nvSpPr>
          <p:cNvPr id="28" name="">
            <a:extLst xmlns:a="http://schemas.openxmlformats.org/drawingml/2006/main">
              <a:ext uri="{FF2B5EF4-FFF2-40B4-BE49-F238E27FC236}">
                <a16:creationId xmlns:a16="http://schemas.microsoft.com/office/drawing/2014/main" id="{FF90E92F-EB87-4359-AF83-5114DDBDD0DE}"/>
              </a:ext>
            </a:extLst>
          </p:cNvPr>
          <p:cNvSpPr>
            <a:spLocks xmlns:a="http://schemas.openxmlformats.org/drawingml/2006/main" noGrp="1"/>
          </p:cNvSpPr>
          <p:nvPr/>
        </p:nvSpPr>
        <p:spPr>
          <a:xfrm xmlns:a="http://schemas.openxmlformats.org/drawingml/2006/main">
            <a:off x="9239250" y="2066925"/>
            <a:ext cx="226695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60656C"/>
                </a:solidFill>
                <a:latin typeface="Arial"/>
                <a:ea typeface="Arial"/>
                <a:cs typeface="Arial"/>
              </a:defRPr>
            </a:pPr>
            <a:r>
              <a:t>Classification rules for below / on / above trend</a:t>
            </a:r>
          </a:p>
        </p:txBody>
      </p:sp>
      <p:sp>
        <p:nvSpPr>
          <p:cNvPr id="29" name="">
            <a:extLst xmlns:a="http://schemas.openxmlformats.org/drawingml/2006/main">
              <a:ext uri="{FF2B5EF4-FFF2-40B4-BE49-F238E27FC236}">
                <a16:creationId xmlns:a16="http://schemas.microsoft.com/office/drawing/2014/main" id="{FF0CBD0F-FA7D-40BE-9D97-B4DBBCC28D47}"/>
              </a:ext>
            </a:extLst>
          </p:cNvPr>
          <p:cNvSpPr>
            <a:spLocks xmlns:a="http://schemas.openxmlformats.org/drawingml/2006/main" noGrp="1"/>
          </p:cNvSpPr>
          <p:nvPr/>
        </p:nvSpPr>
        <p:spPr>
          <a:xfrm xmlns:a="http://schemas.openxmlformats.org/drawingml/2006/main">
            <a:off x="7715250" y="2876550"/>
            <a:ext cx="4076700" cy="7810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5C13C4A-23B9-4127-A97B-424493CC4561}"/>
              </a:ext>
            </a:extLst>
          </p:cNvPr>
          <p:cNvSpPr>
            <a:spLocks xmlns:a="http://schemas.openxmlformats.org/drawingml/2006/main" noGrp="1"/>
          </p:cNvSpPr>
          <p:nvPr/>
        </p:nvSpPr>
        <p:spPr>
          <a:xfrm xmlns:a="http://schemas.openxmlformats.org/drawingml/2006/main">
            <a:off x="7953375" y="3048000"/>
            <a:ext cx="1143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151515"/>
                </a:solidFill>
                <a:latin typeface="Arial"/>
                <a:ea typeface="Arial"/>
                <a:cs typeface="Arial"/>
              </a:defRPr>
            </a:pPr>
            <a:r>
              <a:t>M5Rules</a:t>
            </a:r>
          </a:p>
        </p:txBody>
      </p:sp>
      <p:sp>
        <p:nvSpPr>
          <p:cNvPr id="31" name="">
            <a:extLst xmlns:a="http://schemas.openxmlformats.org/drawingml/2006/main">
              <a:ext uri="{FF2B5EF4-FFF2-40B4-BE49-F238E27FC236}">
                <a16:creationId xmlns:a16="http://schemas.microsoft.com/office/drawing/2014/main" id="{7BA9B414-F435-49BB-BB79-57A48BCDB405}"/>
              </a:ext>
            </a:extLst>
          </p:cNvPr>
          <p:cNvSpPr>
            <a:spLocks xmlns:a="http://schemas.openxmlformats.org/drawingml/2006/main" noGrp="1"/>
          </p:cNvSpPr>
          <p:nvPr/>
        </p:nvSpPr>
        <p:spPr>
          <a:xfrm xmlns:a="http://schemas.openxmlformats.org/drawingml/2006/main">
            <a:off x="9239250" y="3048000"/>
            <a:ext cx="22669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60656C"/>
                </a:solidFill>
                <a:latin typeface="Arial"/>
                <a:ea typeface="Arial"/>
                <a:cs typeface="Arial"/>
              </a:defRPr>
            </a:pPr>
            <a:r>
              <a:t>Piecewise linear regression rules</a:t>
            </a:r>
          </a:p>
        </p:txBody>
      </p:sp>
      <p:sp>
        <p:nvSpPr>
          <p:cNvPr id="32" name="">
            <a:extLst xmlns:a="http://schemas.openxmlformats.org/drawingml/2006/main">
              <a:ext uri="{FF2B5EF4-FFF2-40B4-BE49-F238E27FC236}">
                <a16:creationId xmlns:a16="http://schemas.microsoft.com/office/drawing/2014/main" id="{43BE02B3-B024-4AD0-87DD-A91217473D7B}"/>
              </a:ext>
            </a:extLst>
          </p:cNvPr>
          <p:cNvSpPr>
            <a:spLocks xmlns:a="http://schemas.openxmlformats.org/drawingml/2006/main" noGrp="1"/>
          </p:cNvSpPr>
          <p:nvPr/>
        </p:nvSpPr>
        <p:spPr>
          <a:xfrm xmlns:a="http://schemas.openxmlformats.org/drawingml/2006/main">
            <a:off x="7715250" y="3800475"/>
            <a:ext cx="4076700" cy="7810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9ACD4E6-3800-4991-8ACB-A435F5CB1445}"/>
              </a:ext>
            </a:extLst>
          </p:cNvPr>
          <p:cNvSpPr>
            <a:spLocks xmlns:a="http://schemas.openxmlformats.org/drawingml/2006/main" noGrp="1"/>
          </p:cNvSpPr>
          <p:nvPr/>
        </p:nvSpPr>
        <p:spPr>
          <a:xfrm xmlns:a="http://schemas.openxmlformats.org/drawingml/2006/main">
            <a:off x="7953375" y="3971925"/>
            <a:ext cx="1285875" cy="247650"/>
          </a:xfrm>
          <a:prstGeom xmlns:a="http://schemas.openxmlformats.org/drawingml/2006/main" prst="rect">
            <a:avLst/>
          </a:prstGeom>
        </p:spPr>
        <p:txBody>
          <a:bodyPr xmlns:a="http://schemas.openxmlformats.org/drawingml/2006/main" lIns="0" tIns="0" rIns="0" bIns="0" anchor="t">
            <a:normAutofit fontScale="98064"/>
          </a:bodyPr>
          <a:lstStyle xmlns:a="http://schemas.openxmlformats.org/drawingml/2006/main"/>
          <a:p xmlns:a="http://schemas.openxmlformats.org/drawingml/2006/main">
            <a:pPr algn="l">
              <a:buNone/>
              <a:defRPr sz="1575" b="1">
                <a:solidFill>
                  <a:srgbClr val="151515"/>
                </a:solidFill>
                <a:latin typeface="Arial"/>
                <a:ea typeface="Arial"/>
                <a:cs typeface="Arial"/>
              </a:defRPr>
            </a:pPr>
            <a:r>
              <a:t>Decision Tree</a:t>
            </a:r>
          </a:p>
        </p:txBody>
      </p:sp>
      <p:sp>
        <p:nvSpPr>
          <p:cNvPr id="34" name="">
            <a:extLst xmlns:a="http://schemas.openxmlformats.org/drawingml/2006/main">
              <a:ext uri="{FF2B5EF4-FFF2-40B4-BE49-F238E27FC236}">
                <a16:creationId xmlns:a16="http://schemas.microsoft.com/office/drawing/2014/main" id="{03B99BAA-1081-4A8B-82B7-712236139009}"/>
              </a:ext>
            </a:extLst>
          </p:cNvPr>
          <p:cNvSpPr>
            <a:spLocks xmlns:a="http://schemas.openxmlformats.org/drawingml/2006/main" noGrp="1"/>
          </p:cNvSpPr>
          <p:nvPr/>
        </p:nvSpPr>
        <p:spPr>
          <a:xfrm xmlns:a="http://schemas.openxmlformats.org/drawingml/2006/main">
            <a:off x="9429750" y="3914775"/>
            <a:ext cx="207645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60656C"/>
                </a:solidFill>
                <a:latin typeface="Arial"/>
                <a:ea typeface="Arial"/>
                <a:cs typeface="Arial"/>
              </a:defRPr>
            </a:pPr>
            <a:r>
              <a:t>Non-rule ML comparator using all features</a:t>
            </a:r>
          </a:p>
        </p:txBody>
      </p:sp>
      <p:sp>
        <p:nvSpPr>
          <p:cNvPr id="35" name="">
            <a:extLst xmlns:a="http://schemas.openxmlformats.org/drawingml/2006/main">
              <a:ext uri="{FF2B5EF4-FFF2-40B4-BE49-F238E27FC236}">
                <a16:creationId xmlns:a16="http://schemas.microsoft.com/office/drawing/2014/main" id="{2E973BE0-90E9-4085-A534-FD2E2B8A754E}"/>
              </a:ext>
            </a:extLst>
          </p:cNvPr>
          <p:cNvSpPr>
            <a:spLocks xmlns:a="http://schemas.openxmlformats.org/drawingml/2006/main" noGrp="1"/>
          </p:cNvSpPr>
          <p:nvPr/>
        </p:nvSpPr>
        <p:spPr>
          <a:xfrm xmlns:a="http://schemas.openxmlformats.org/drawingml/2006/main">
            <a:off x="7715250" y="4724400"/>
            <a:ext cx="4076700" cy="7810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1194DCF-3E0C-47F5-B24A-CAC77810E15A}"/>
              </a:ext>
            </a:extLst>
          </p:cNvPr>
          <p:cNvSpPr>
            <a:spLocks xmlns:a="http://schemas.openxmlformats.org/drawingml/2006/main" noGrp="1"/>
          </p:cNvSpPr>
          <p:nvPr/>
        </p:nvSpPr>
        <p:spPr>
          <a:xfrm xmlns:a="http://schemas.openxmlformats.org/drawingml/2006/main">
            <a:off x="7953375" y="4895850"/>
            <a:ext cx="1381125" cy="247650"/>
          </a:xfrm>
          <a:prstGeom xmlns:a="http://schemas.openxmlformats.org/drawingml/2006/main" prst="rect">
            <a:avLst/>
          </a:prstGeom>
        </p:spPr>
        <p:txBody>
          <a:bodyPr xmlns:a="http://schemas.openxmlformats.org/drawingml/2006/main" lIns="0" tIns="0" rIns="0" bIns="0" anchor="t">
            <a:normAutofit fontScale="92036"/>
          </a:bodyPr>
          <a:lstStyle xmlns:a="http://schemas.openxmlformats.org/drawingml/2006/main"/>
          <a:p xmlns:a="http://schemas.openxmlformats.org/drawingml/2006/main">
            <a:pPr algn="l">
              <a:buNone/>
              <a:defRPr sz="1575" b="1">
                <a:solidFill>
                  <a:srgbClr val="7B1E3A"/>
                </a:solidFill>
                <a:latin typeface="Arial"/>
                <a:ea typeface="Arial"/>
                <a:cs typeface="Arial"/>
              </a:defRPr>
            </a:pPr>
            <a:r>
              <a:t>Naive baselines</a:t>
            </a:r>
          </a:p>
        </p:txBody>
      </p:sp>
      <p:sp>
        <p:nvSpPr>
          <p:cNvPr id="37" name="">
            <a:extLst xmlns:a="http://schemas.openxmlformats.org/drawingml/2006/main">
              <a:ext uri="{FF2B5EF4-FFF2-40B4-BE49-F238E27FC236}">
                <a16:creationId xmlns:a16="http://schemas.microsoft.com/office/drawing/2014/main" id="{82B7F7E4-6EE0-44A5-B19D-C67F3FAEC8A8}"/>
              </a:ext>
            </a:extLst>
          </p:cNvPr>
          <p:cNvSpPr>
            <a:spLocks xmlns:a="http://schemas.openxmlformats.org/drawingml/2006/main" noGrp="1"/>
          </p:cNvSpPr>
          <p:nvPr/>
        </p:nvSpPr>
        <p:spPr>
          <a:xfrm xmlns:a="http://schemas.openxmlformats.org/drawingml/2006/main">
            <a:off x="9477375" y="4838700"/>
            <a:ext cx="202882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60656C"/>
                </a:solidFill>
                <a:latin typeface="Arial"/>
                <a:ea typeface="Arial"/>
                <a:cs typeface="Arial"/>
              </a:defRPr>
            </a:pPr>
            <a:r>
              <a:t>Median · last value · 3-year moving average</a:t>
            </a:r>
          </a:p>
        </p:txBody>
      </p:sp>
      <p:sp>
        <p:nvSpPr>
          <p:cNvPr id="38" name="">
            <a:extLst xmlns:a="http://schemas.openxmlformats.org/drawingml/2006/main">
              <a:ext uri="{FF2B5EF4-FFF2-40B4-BE49-F238E27FC236}">
                <a16:creationId xmlns:a16="http://schemas.microsoft.com/office/drawing/2014/main" id="{96207C93-AE02-41AD-9243-5078C18690B0}"/>
              </a:ext>
            </a:extLst>
          </p:cNvPr>
          <p:cNvSpPr>
            <a:spLocks xmlns:a="http://schemas.openxmlformats.org/drawingml/2006/main" noGrp="1"/>
          </p:cNvSpPr>
          <p:nvPr/>
        </p:nvSpPr>
        <p:spPr>
          <a:xfrm xmlns:a="http://schemas.openxmlformats.org/drawingml/2006/main">
            <a:off x="7715250" y="5667375"/>
            <a:ext cx="4048125" cy="419100"/>
          </a:xfrm>
          <a:prstGeom xmlns:a="http://schemas.openxmlformats.org/drawingml/2006/main" prst="rect">
            <a:avLst/>
          </a:prstGeom>
        </p:spPr>
        <p:txBody>
          <a:bodyPr xmlns:a="http://schemas.openxmlformats.org/drawingml/2006/main" lIns="0" tIns="0" rIns="0" bIns="0" anchor="t">
            <a:normAutofit fontScale="93403"/>
          </a:bodyPr>
          <a:lstStyle xmlns:a="http://schemas.openxmlformats.org/drawingml/2006/main"/>
          <a:p xmlns:a="http://schemas.openxmlformats.org/drawingml/2006/main">
            <a:pPr algn="l">
              <a:buNone/>
              <a:defRPr sz="1350" b="1">
                <a:solidFill>
                  <a:srgbClr val="7B1E3A"/>
                </a:solidFill>
                <a:latin typeface="Arial"/>
                <a:ea typeface="Arial"/>
                <a:cs typeface="Arial"/>
              </a:defRPr>
            </a:pPr>
            <a:r>
              <a:t>11 CarenR variants test feature selection and prediction aggregation — not 11 different algorithms.</a:t>
            </a:r>
          </a:p>
        </p:txBody>
      </p:sp>
      <p:sp>
        <p:nvSpPr>
          <p:cNvPr id="39" name="">
            <a:extLst xmlns:a="http://schemas.openxmlformats.org/drawingml/2006/main">
              <a:ext uri="{FF2B5EF4-FFF2-40B4-BE49-F238E27FC236}">
                <a16:creationId xmlns:a16="http://schemas.microsoft.com/office/drawing/2014/main" id="{ED359A2C-2152-4554-B471-89507B6D8B8A}"/>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3.4 and Tables 3.2–3.4</a:t>
            </a:r>
          </a:p>
        </p:txBody>
      </p:sp>
    </p:spTree>
    <p:extLst>
      <p:ext uri="{BB962C8B-B14F-4D97-AF65-F5344CB8AC3E}">
        <p14:creationId xmlns:p14="http://schemas.microsoft.com/office/powerpoint/2010/main" val="30742071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325144A-1585-4407-BE50-12168B67CBDA}"/>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METHOD · DISCOVERY</a:t>
            </a:r>
          </a:p>
        </p:txBody>
      </p:sp>
      <p:sp>
        <p:nvSpPr>
          <p:cNvPr id="2" name="">
            <a:extLst xmlns:a="http://schemas.openxmlformats.org/drawingml/2006/main">
              <a:ext uri="{FF2B5EF4-FFF2-40B4-BE49-F238E27FC236}">
                <a16:creationId xmlns:a16="http://schemas.microsoft.com/office/drawing/2014/main" id="{1C974E71-CB8D-4FB8-9877-3808ABB7797D}"/>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Goal 1 finds statistically exceptional subgroups</a:t>
            </a:r>
          </a:p>
        </p:txBody>
      </p:sp>
      <p:sp>
        <p:nvSpPr>
          <p:cNvPr id="3" name="">
            <a:extLst xmlns:a="http://schemas.openxmlformats.org/drawingml/2006/main">
              <a:ext uri="{FF2B5EF4-FFF2-40B4-BE49-F238E27FC236}">
                <a16:creationId xmlns:a16="http://schemas.microsoft.com/office/drawing/2014/main" id="{97D3A28F-CA1D-4B30-89BE-286928C810F6}"/>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11</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a05c4311b6a4cef"/>
          <a:stretch xmlns:a="http://schemas.openxmlformats.org/drawingml/2006/main"/>
        </p:blipFill>
        <p:spPr>
          <a:xfrm xmlns:a="http://schemas.openxmlformats.org/drawingml/2006/main">
            <a:off x="941554" y="1352550"/>
            <a:ext cx="4631992"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E0A96E6-596D-4FBA-97F4-46108B78DD6F}"/>
              </a:ext>
            </a:extLst>
          </p:cNvPr>
          <p:cNvSpPr>
            <a:spLocks xmlns:a="http://schemas.openxmlformats.org/drawingml/2006/main" noGrp="1"/>
          </p:cNvSpPr>
          <p:nvPr/>
        </p:nvSpPr>
        <p:spPr>
          <a:xfrm xmlns:a="http://schemas.openxmlformats.org/drawingml/2006/main">
            <a:off x="6667500" y="1619250"/>
            <a:ext cx="4572000" cy="495300"/>
          </a:xfrm>
          <a:prstGeom xmlns:a="http://schemas.openxmlformats.org/drawingml/2006/main" prst="rect">
            <a:avLst/>
          </a:prstGeom>
        </p:spPr>
        <p:txBody>
          <a:bodyPr xmlns:a="http://schemas.openxmlformats.org/drawingml/2006/main" lIns="0" tIns="0" rIns="0" bIns="0" anchor="t">
            <a:normAutofit fontScale="89165"/>
          </a:bodyPr>
          <a:lstStyle xmlns:a="http://schemas.openxmlformats.org/drawingml/2006/main"/>
          <a:p xmlns:a="http://schemas.openxmlformats.org/drawingml/2006/main">
            <a:pPr algn="l">
              <a:buNone/>
              <a:defRPr sz="2250" b="1">
                <a:solidFill>
                  <a:srgbClr val="151515"/>
                </a:solidFill>
                <a:latin typeface="Arial"/>
                <a:ea typeface="Arial"/>
                <a:cs typeface="Arial"/>
              </a:defRPr>
            </a:pPr>
            <a:r>
              <a:t>CarenR asks a distributional question</a:t>
            </a:r>
          </a:p>
        </p:txBody>
      </p:sp>
      <p:sp>
        <p:nvSpPr>
          <p:cNvPr id="6" name="">
            <a:extLst xmlns:a="http://schemas.openxmlformats.org/drawingml/2006/main">
              <a:ext uri="{FF2B5EF4-FFF2-40B4-BE49-F238E27FC236}">
                <a16:creationId xmlns:a16="http://schemas.microsoft.com/office/drawing/2014/main" id="{05D05423-D809-460A-B658-536CBBE7D26A}"/>
              </a:ext>
            </a:extLst>
          </p:cNvPr>
          <p:cNvSpPr>
            <a:spLocks xmlns:a="http://schemas.openxmlformats.org/drawingml/2006/main" noGrp="1"/>
          </p:cNvSpPr>
          <p:nvPr/>
        </p:nvSpPr>
        <p:spPr>
          <a:xfrm xmlns:a="http://schemas.openxmlformats.org/drawingml/2006/main">
            <a:off x="6667500" y="2333625"/>
            <a:ext cx="4476750" cy="952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Do years matching these climate conditions have a production-residual distribution that differs from all years?</a:t>
            </a:r>
          </a:p>
        </p:txBody>
      </p:sp>
      <p:sp>
        <p:nvSpPr>
          <p:cNvPr id="7" name="">
            <a:extLst xmlns:a="http://schemas.openxmlformats.org/drawingml/2006/main">
              <a:ext uri="{FF2B5EF4-FFF2-40B4-BE49-F238E27FC236}">
                <a16:creationId xmlns:a16="http://schemas.microsoft.com/office/drawing/2014/main" id="{69F2A449-111C-4A89-B6F5-61602A5D074F}"/>
              </a:ext>
            </a:extLst>
          </p:cNvPr>
          <p:cNvSpPr>
            <a:spLocks xmlns:a="http://schemas.openxmlformats.org/drawingml/2006/main" noGrp="1"/>
          </p:cNvSpPr>
          <p:nvPr/>
        </p:nvSpPr>
        <p:spPr>
          <a:xfrm xmlns:a="http://schemas.openxmlformats.org/drawingml/2006/main">
            <a:off x="6667500" y="3619500"/>
            <a:ext cx="4476750" cy="104775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0022787-5929-4BE4-B632-A8DC1AA03EC5}"/>
              </a:ext>
            </a:extLst>
          </p:cNvPr>
          <p:cNvSpPr>
            <a:spLocks xmlns:a="http://schemas.openxmlformats.org/drawingml/2006/main" noGrp="1"/>
          </p:cNvSpPr>
          <p:nvPr/>
        </p:nvSpPr>
        <p:spPr>
          <a:xfrm xmlns:a="http://schemas.openxmlformats.org/drawingml/2006/main">
            <a:off x="6905625" y="3867150"/>
            <a:ext cx="428625"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2563A6"/>
                </a:solidFill>
                <a:latin typeface="Arial"/>
                <a:ea typeface="Arial"/>
                <a:cs typeface="Arial"/>
              </a:defRPr>
            </a:pPr>
            <a:r>
              <a:t>IF</a:t>
            </a:r>
          </a:p>
        </p:txBody>
      </p:sp>
      <p:sp>
        <p:nvSpPr>
          <p:cNvPr id="9" name="">
            <a:extLst xmlns:a="http://schemas.openxmlformats.org/drawingml/2006/main">
              <a:ext uri="{FF2B5EF4-FFF2-40B4-BE49-F238E27FC236}">
                <a16:creationId xmlns:a16="http://schemas.microsoft.com/office/drawing/2014/main" id="{6499BD19-2301-49E7-B065-A081723FFF07}"/>
              </a:ext>
            </a:extLst>
          </p:cNvPr>
          <p:cNvSpPr>
            <a:spLocks xmlns:a="http://schemas.openxmlformats.org/drawingml/2006/main" noGrp="1"/>
          </p:cNvSpPr>
          <p:nvPr/>
        </p:nvSpPr>
        <p:spPr>
          <a:xfrm xmlns:a="http://schemas.openxmlformats.org/drawingml/2006/main">
            <a:off x="7429500" y="3810000"/>
            <a:ext cx="3429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151515"/>
                </a:solidFill>
                <a:latin typeface="Arial"/>
                <a:ea typeface="Arial"/>
                <a:cs typeface="Arial"/>
              </a:defRPr>
            </a:pPr>
            <a:r>
              <a:t>wet days after flowering are low
AND post-maturity wet days are low</a:t>
            </a:r>
          </a:p>
        </p:txBody>
      </p:sp>
      <p:sp>
        <p:nvSpPr>
          <p:cNvPr id="10" name="">
            <a:extLst xmlns:a="http://schemas.openxmlformats.org/drawingml/2006/main">
              <a:ext uri="{FF2B5EF4-FFF2-40B4-BE49-F238E27FC236}">
                <a16:creationId xmlns:a16="http://schemas.microsoft.com/office/drawing/2014/main" id="{7BF8C099-2D8F-49A2-886D-B71AFF0EB906}"/>
              </a:ext>
            </a:extLst>
          </p:cNvPr>
          <p:cNvSpPr>
            <a:spLocks xmlns:a="http://schemas.openxmlformats.org/drawingml/2006/main" noGrp="1"/>
          </p:cNvSpPr>
          <p:nvPr/>
        </p:nvSpPr>
        <p:spPr>
          <a:xfrm xmlns:a="http://schemas.openxmlformats.org/drawingml/2006/main">
            <a:off x="6667500" y="4810125"/>
            <a:ext cx="4476750" cy="809625"/>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1D91F51-0459-4F5A-BE67-45A789400939}"/>
              </a:ext>
            </a:extLst>
          </p:cNvPr>
          <p:cNvSpPr>
            <a:spLocks xmlns:a="http://schemas.openxmlformats.org/drawingml/2006/main" noGrp="1"/>
          </p:cNvSpPr>
          <p:nvPr/>
        </p:nvSpPr>
        <p:spPr>
          <a:xfrm xmlns:a="http://schemas.openxmlformats.org/drawingml/2006/main">
            <a:off x="6905625" y="5048250"/>
            <a:ext cx="6667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166534"/>
                </a:solidFill>
                <a:latin typeface="Arial"/>
                <a:ea typeface="Arial"/>
                <a:cs typeface="Arial"/>
              </a:defRPr>
            </a:pPr>
            <a:r>
              <a:t>THEN</a:t>
            </a:r>
          </a:p>
        </p:txBody>
      </p:sp>
      <p:sp>
        <p:nvSpPr>
          <p:cNvPr id="12" name="">
            <a:extLst xmlns:a="http://schemas.openxmlformats.org/drawingml/2006/main">
              <a:ext uri="{FF2B5EF4-FFF2-40B4-BE49-F238E27FC236}">
                <a16:creationId xmlns:a16="http://schemas.microsoft.com/office/drawing/2014/main" id="{491D58F9-6A14-4B2C-B673-3A96BFF1B76F}"/>
              </a:ext>
            </a:extLst>
          </p:cNvPr>
          <p:cNvSpPr>
            <a:spLocks xmlns:a="http://schemas.openxmlformats.org/drawingml/2006/main" noGrp="1"/>
          </p:cNvSpPr>
          <p:nvPr/>
        </p:nvSpPr>
        <p:spPr>
          <a:xfrm xmlns:a="http://schemas.openxmlformats.org/drawingml/2006/main">
            <a:off x="7762875" y="5000625"/>
            <a:ext cx="30480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151515"/>
                </a:solidFill>
                <a:latin typeface="Arial"/>
                <a:ea typeface="Arial"/>
                <a:cs typeface="Arial"/>
              </a:defRPr>
            </a:pPr>
            <a:r>
              <a:t>the residual distribution shifts</a:t>
            </a:r>
          </a:p>
        </p:txBody>
      </p:sp>
      <p:sp>
        <p:nvSpPr>
          <p:cNvPr id="13" name="">
            <a:extLst xmlns:a="http://schemas.openxmlformats.org/drawingml/2006/main">
              <a:ext uri="{FF2B5EF4-FFF2-40B4-BE49-F238E27FC236}">
                <a16:creationId xmlns:a16="http://schemas.microsoft.com/office/drawing/2014/main" id="{C13BE5C3-8CD8-40E8-81C6-290BE282B568}"/>
              </a:ext>
            </a:extLst>
          </p:cNvPr>
          <p:cNvSpPr>
            <a:spLocks xmlns:a="http://schemas.openxmlformats.org/drawingml/2006/main" noGrp="1"/>
          </p:cNvSpPr>
          <p:nvPr/>
        </p:nvSpPr>
        <p:spPr>
          <a:xfrm xmlns:a="http://schemas.openxmlformats.org/drawingml/2006/main">
            <a:off x="6667500" y="5810250"/>
            <a:ext cx="44767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60656C"/>
                </a:solidFill>
                <a:latin typeface="Arial"/>
                <a:ea typeface="Arial"/>
                <a:cs typeface="Arial"/>
              </a:defRPr>
            </a:pPr>
            <a:r>
              <a:t>KS p ≤ 0.10 · support ≥ 20% for discovery</a:t>
            </a:r>
          </a:p>
        </p:txBody>
      </p:sp>
      <p:sp>
        <p:nvSpPr>
          <p:cNvPr id="14" name="">
            <a:extLst xmlns:a="http://schemas.openxmlformats.org/drawingml/2006/main">
              <a:ext uri="{FF2B5EF4-FFF2-40B4-BE49-F238E27FC236}">
                <a16:creationId xmlns:a16="http://schemas.microsoft.com/office/drawing/2014/main" id="{9BA0A743-2D19-4AEA-8B82-EF48B9BFC0F3}"/>
              </a:ext>
            </a:extLst>
          </p:cNvPr>
          <p:cNvSpPr>
            <a:spLocks xmlns:a="http://schemas.openxmlformats.org/drawingml/2006/main" noGrp="1"/>
          </p:cNvSpPr>
          <p:nvPr/>
        </p:nvSpPr>
        <p:spPr>
          <a:xfrm xmlns:a="http://schemas.openxmlformats.org/drawingml/2006/main">
            <a:off x="6667500" y="6438900"/>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Figure 3.3 and Section 3.4.1</a:t>
            </a:r>
          </a:p>
        </p:txBody>
      </p:sp>
    </p:spTree>
    <p:extLst>
      <p:ext uri="{BB962C8B-B14F-4D97-AF65-F5344CB8AC3E}">
        <p14:creationId xmlns:p14="http://schemas.microsoft.com/office/powerpoint/2010/main" val="195006293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0FADE3-346D-4C9C-92D8-2385CD70AC2B}"/>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RESULTS · DISCOVERY</a:t>
            </a:r>
          </a:p>
        </p:txBody>
      </p:sp>
      <p:sp>
        <p:nvSpPr>
          <p:cNvPr id="2" name="">
            <a:extLst xmlns:a="http://schemas.openxmlformats.org/drawingml/2006/main">
              <a:ext uri="{FF2B5EF4-FFF2-40B4-BE49-F238E27FC236}">
                <a16:creationId xmlns:a16="http://schemas.microsoft.com/office/drawing/2014/main" id="{9198F82D-A154-49FE-B5CA-B9D780AC6B7A}"/>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2838"/>
          </a:bodyPr>
          <a:lstStyle xmlns:a="http://schemas.openxmlformats.org/drawingml/2006/main"/>
          <a:p xmlns:a="http://schemas.openxmlformats.org/drawingml/2006/main">
            <a:pPr algn="l">
              <a:buNone/>
              <a:defRPr sz="3600" b="1">
                <a:solidFill>
                  <a:srgbClr val="151515"/>
                </a:solidFill>
                <a:latin typeface="Arial"/>
                <a:ea typeface="Arial"/>
                <a:cs typeface="Arial"/>
              </a:defRPr>
            </a:pPr>
            <a:r>
              <a:t>Goal 1 succeeded: compact rules reveal regional drivers</a:t>
            </a:r>
          </a:p>
        </p:txBody>
      </p:sp>
      <p:sp>
        <p:nvSpPr>
          <p:cNvPr id="3" name="">
            <a:extLst xmlns:a="http://schemas.openxmlformats.org/drawingml/2006/main">
              <a:ext uri="{FF2B5EF4-FFF2-40B4-BE49-F238E27FC236}">
                <a16:creationId xmlns:a16="http://schemas.microsoft.com/office/drawing/2014/main" id="{72819D24-836E-4D97-AD95-3A807E6F444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12</a:t>
            </a:r>
          </a:p>
        </p:txBody>
      </p:sp>
      <p:sp>
        <p:nvSpPr>
          <p:cNvPr id="4" name="">
            <a:extLst xmlns:a="http://schemas.openxmlformats.org/drawingml/2006/main">
              <a:ext uri="{FF2B5EF4-FFF2-40B4-BE49-F238E27FC236}">
                <a16:creationId xmlns:a16="http://schemas.microsoft.com/office/drawing/2014/main" id="{EC42CDC2-01ED-4F16-BB24-C091C7E02657}"/>
              </a:ext>
            </a:extLst>
          </p:cNvPr>
          <p:cNvSpPr>
            <a:spLocks xmlns:a="http://schemas.openxmlformats.org/drawingml/2006/main" noGrp="1"/>
          </p:cNvSpPr>
          <p:nvPr/>
        </p:nvSpPr>
        <p:spPr>
          <a:xfrm xmlns:a="http://schemas.openxmlformats.org/drawingml/2006/main">
            <a:off x="400050" y="1571625"/>
            <a:ext cx="5429250" cy="419100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CBE1F26-F9F2-4921-8726-9AA52BF62123}"/>
              </a:ext>
            </a:extLst>
          </p:cNvPr>
          <p:cNvSpPr>
            <a:spLocks xmlns:a="http://schemas.openxmlformats.org/drawingml/2006/main" noGrp="1"/>
          </p:cNvSpPr>
          <p:nvPr/>
        </p:nvSpPr>
        <p:spPr>
          <a:xfrm xmlns:a="http://schemas.openxmlformats.org/drawingml/2006/main">
            <a:off x="6353175" y="1571625"/>
            <a:ext cx="5429250" cy="419100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9DFDC61-914B-4D17-80FE-52EFBE1DB3AD}"/>
              </a:ext>
            </a:extLst>
          </p:cNvPr>
          <p:cNvSpPr>
            <a:spLocks xmlns:a="http://schemas.openxmlformats.org/drawingml/2006/main" noGrp="1"/>
          </p:cNvSpPr>
          <p:nvPr/>
        </p:nvSpPr>
        <p:spPr>
          <a:xfrm xmlns:a="http://schemas.openxmlformats.org/drawingml/2006/main">
            <a:off x="714375" y="1857375"/>
            <a:ext cx="1905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563A6"/>
                </a:solidFill>
                <a:latin typeface="Arial"/>
                <a:ea typeface="Arial"/>
                <a:cs typeface="Arial"/>
              </a:defRPr>
            </a:pPr>
            <a:r>
              <a:t>DOURO</a:t>
            </a:r>
          </a:p>
        </p:txBody>
      </p:sp>
      <p:sp>
        <p:nvSpPr>
          <p:cNvPr id="7" name="">
            <a:extLst xmlns:a="http://schemas.openxmlformats.org/drawingml/2006/main">
              <a:ext uri="{FF2B5EF4-FFF2-40B4-BE49-F238E27FC236}">
                <a16:creationId xmlns:a16="http://schemas.microsoft.com/office/drawing/2014/main" id="{E9A60B71-99B8-4335-8A75-9CBF6FE594D5}"/>
              </a:ext>
            </a:extLst>
          </p:cNvPr>
          <p:cNvSpPr>
            <a:spLocks xmlns:a="http://schemas.openxmlformats.org/drawingml/2006/main" noGrp="1"/>
          </p:cNvSpPr>
          <p:nvPr/>
        </p:nvSpPr>
        <p:spPr>
          <a:xfrm xmlns:a="http://schemas.openxmlformats.org/drawingml/2006/main">
            <a:off x="714375" y="2238375"/>
            <a:ext cx="1619250" cy="762000"/>
          </a:xfrm>
          <a:prstGeom xmlns:a="http://schemas.openxmlformats.org/drawingml/2006/main" prst="rect">
            <a:avLst/>
          </a:prstGeom>
        </p:spPr>
        <p:txBody>
          <a:bodyPr xmlns:a="http://schemas.openxmlformats.org/drawingml/2006/main" lIns="0" tIns="0" rIns="0" bIns="0" anchor="t">
            <a:normAutofit fontScale="98039"/>
          </a:bodyPr>
          <a:lstStyle xmlns:a="http://schemas.openxmlformats.org/drawingml/2006/main"/>
          <a:p xmlns:a="http://schemas.openxmlformats.org/drawingml/2006/main">
            <a:pPr algn="l">
              <a:buNone/>
              <a:defRPr sz="5100" b="1">
                <a:solidFill>
                  <a:srgbClr val="151515"/>
                </a:solidFill>
                <a:latin typeface="Arial"/>
                <a:ea typeface="Arial"/>
                <a:cs typeface="Arial"/>
              </a:defRPr>
            </a:pPr>
            <a:r>
              <a:t>48</a:t>
            </a:r>
          </a:p>
        </p:txBody>
      </p:sp>
      <p:sp>
        <p:nvSpPr>
          <p:cNvPr id="8" name="">
            <a:extLst xmlns:a="http://schemas.openxmlformats.org/drawingml/2006/main">
              <a:ext uri="{FF2B5EF4-FFF2-40B4-BE49-F238E27FC236}">
                <a16:creationId xmlns:a16="http://schemas.microsoft.com/office/drawing/2014/main" id="{DD8BAB65-D261-4E68-AA2F-A6D399971949}"/>
              </a:ext>
            </a:extLst>
          </p:cNvPr>
          <p:cNvSpPr>
            <a:spLocks xmlns:a="http://schemas.openxmlformats.org/drawingml/2006/main" noGrp="1"/>
          </p:cNvSpPr>
          <p:nvPr/>
        </p:nvSpPr>
        <p:spPr>
          <a:xfrm xmlns:a="http://schemas.openxmlformats.org/drawingml/2006/main">
            <a:off x="2381250" y="2524125"/>
            <a:ext cx="14287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151515"/>
                </a:solidFill>
                <a:latin typeface="Arial"/>
                <a:ea typeface="Arial"/>
                <a:cs typeface="Arial"/>
              </a:defRPr>
            </a:pPr>
            <a:r>
              <a:t>rules</a:t>
            </a:r>
          </a:p>
        </p:txBody>
      </p:sp>
      <p:sp>
        <p:nvSpPr>
          <p:cNvPr id="9" name="">
            <a:extLst xmlns:a="http://schemas.openxmlformats.org/drawingml/2006/main">
              <a:ext uri="{FF2B5EF4-FFF2-40B4-BE49-F238E27FC236}">
                <a16:creationId xmlns:a16="http://schemas.microsoft.com/office/drawing/2014/main" id="{D7E680C5-C0BD-4340-A796-AABBE6318478}"/>
              </a:ext>
            </a:extLst>
          </p:cNvPr>
          <p:cNvSpPr>
            <a:spLocks xmlns:a="http://schemas.openxmlformats.org/drawingml/2006/main" noGrp="1"/>
          </p:cNvSpPr>
          <p:nvPr/>
        </p:nvSpPr>
        <p:spPr>
          <a:xfrm xmlns:a="http://schemas.openxmlformats.org/drawingml/2006/main">
            <a:off x="714375" y="3286125"/>
            <a:ext cx="4286250" cy="6096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buNone/>
              <a:defRPr sz="2100" b="1">
                <a:solidFill>
                  <a:srgbClr val="151515"/>
                </a:solidFill>
                <a:latin typeface="Arial"/>
                <a:ea typeface="Arial"/>
                <a:cs typeface="Arial"/>
              </a:defRPr>
            </a:pPr>
            <a:r>
              <a:t>Harvest soil water appears in 54% of rules.</a:t>
            </a:r>
          </a:p>
        </p:txBody>
      </p:sp>
      <p:sp>
        <p:nvSpPr>
          <p:cNvPr id="10" name="">
            <a:extLst xmlns:a="http://schemas.openxmlformats.org/drawingml/2006/main">
              <a:ext uri="{FF2B5EF4-FFF2-40B4-BE49-F238E27FC236}">
                <a16:creationId xmlns:a16="http://schemas.microsoft.com/office/drawing/2014/main" id="{B93417D7-82CC-474A-8B1F-016DC5043731}"/>
              </a:ext>
            </a:extLst>
          </p:cNvPr>
          <p:cNvSpPr>
            <a:spLocks xmlns:a="http://schemas.openxmlformats.org/drawingml/2006/main" noGrp="1"/>
          </p:cNvSpPr>
          <p:nvPr/>
        </p:nvSpPr>
        <p:spPr>
          <a:xfrm xmlns:a="http://schemas.openxmlformats.org/drawingml/2006/main">
            <a:off x="714375" y="4095750"/>
            <a:ext cx="4333875"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0">
                <a:solidFill>
                  <a:srgbClr val="60656C"/>
                </a:solidFill>
                <a:latin typeface="Arial"/>
                <a:ea typeface="Arial"/>
                <a:cs typeface="Arial"/>
              </a:defRPr>
            </a:pPr>
            <a:r>
              <a:t>Dry post-flowering conditions and bounded heat repeatedly associate with above-trend production.</a:t>
            </a:r>
          </a:p>
        </p:txBody>
      </p:sp>
      <p:sp>
        <p:nvSpPr>
          <p:cNvPr id="11" name="">
            <a:extLst xmlns:a="http://schemas.openxmlformats.org/drawingml/2006/main">
              <a:ext uri="{FF2B5EF4-FFF2-40B4-BE49-F238E27FC236}">
                <a16:creationId xmlns:a16="http://schemas.microsoft.com/office/drawing/2014/main" id="{CA3E4264-7562-493B-B638-FAE60078DC83}"/>
              </a:ext>
            </a:extLst>
          </p:cNvPr>
          <p:cNvSpPr>
            <a:spLocks xmlns:a="http://schemas.openxmlformats.org/drawingml/2006/main" noGrp="1"/>
          </p:cNvSpPr>
          <p:nvPr/>
        </p:nvSpPr>
        <p:spPr>
          <a:xfrm xmlns:a="http://schemas.openxmlformats.org/drawingml/2006/main">
            <a:off x="6667500" y="1857375"/>
            <a:ext cx="2095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VINHO VERDE</a:t>
            </a:r>
          </a:p>
        </p:txBody>
      </p:sp>
      <p:sp>
        <p:nvSpPr>
          <p:cNvPr id="12" name="">
            <a:extLst xmlns:a="http://schemas.openxmlformats.org/drawingml/2006/main">
              <a:ext uri="{FF2B5EF4-FFF2-40B4-BE49-F238E27FC236}">
                <a16:creationId xmlns:a16="http://schemas.microsoft.com/office/drawing/2014/main" id="{393BFAAB-4DCE-4B1B-98FE-61FCDC28A918}"/>
              </a:ext>
            </a:extLst>
          </p:cNvPr>
          <p:cNvSpPr>
            <a:spLocks xmlns:a="http://schemas.openxmlformats.org/drawingml/2006/main" noGrp="1"/>
          </p:cNvSpPr>
          <p:nvPr/>
        </p:nvSpPr>
        <p:spPr>
          <a:xfrm xmlns:a="http://schemas.openxmlformats.org/drawingml/2006/main">
            <a:off x="6667500" y="2238375"/>
            <a:ext cx="1619250" cy="762000"/>
          </a:xfrm>
          <a:prstGeom xmlns:a="http://schemas.openxmlformats.org/drawingml/2006/main" prst="rect">
            <a:avLst/>
          </a:prstGeom>
        </p:spPr>
        <p:txBody>
          <a:bodyPr xmlns:a="http://schemas.openxmlformats.org/drawingml/2006/main" lIns="0" tIns="0" rIns="0" bIns="0" anchor="t">
            <a:normAutofit fontScale="98039"/>
          </a:bodyPr>
          <a:lstStyle xmlns:a="http://schemas.openxmlformats.org/drawingml/2006/main"/>
          <a:p xmlns:a="http://schemas.openxmlformats.org/drawingml/2006/main">
            <a:pPr algn="l">
              <a:buNone/>
              <a:defRPr sz="5100" b="1">
                <a:solidFill>
                  <a:srgbClr val="151515"/>
                </a:solidFill>
                <a:latin typeface="Arial"/>
                <a:ea typeface="Arial"/>
                <a:cs typeface="Arial"/>
              </a:defRPr>
            </a:pPr>
            <a:r>
              <a:t>20</a:t>
            </a:r>
          </a:p>
        </p:txBody>
      </p:sp>
      <p:sp>
        <p:nvSpPr>
          <p:cNvPr id="13" name="">
            <a:extLst xmlns:a="http://schemas.openxmlformats.org/drawingml/2006/main">
              <a:ext uri="{FF2B5EF4-FFF2-40B4-BE49-F238E27FC236}">
                <a16:creationId xmlns:a16="http://schemas.microsoft.com/office/drawing/2014/main" id="{9D3BFAA6-4079-4DC7-81E8-47F17D108B0D}"/>
              </a:ext>
            </a:extLst>
          </p:cNvPr>
          <p:cNvSpPr>
            <a:spLocks xmlns:a="http://schemas.openxmlformats.org/drawingml/2006/main" noGrp="1"/>
          </p:cNvSpPr>
          <p:nvPr/>
        </p:nvSpPr>
        <p:spPr>
          <a:xfrm xmlns:a="http://schemas.openxmlformats.org/drawingml/2006/main">
            <a:off x="8334375" y="2524125"/>
            <a:ext cx="14287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151515"/>
                </a:solidFill>
                <a:latin typeface="Arial"/>
                <a:ea typeface="Arial"/>
                <a:cs typeface="Arial"/>
              </a:defRPr>
            </a:pPr>
            <a:r>
              <a:t>rules</a:t>
            </a:r>
          </a:p>
        </p:txBody>
      </p:sp>
      <p:sp>
        <p:nvSpPr>
          <p:cNvPr id="14" name="">
            <a:extLst xmlns:a="http://schemas.openxmlformats.org/drawingml/2006/main">
              <a:ext uri="{FF2B5EF4-FFF2-40B4-BE49-F238E27FC236}">
                <a16:creationId xmlns:a16="http://schemas.microsoft.com/office/drawing/2014/main" id="{4E12E096-AEFD-4CC0-9752-BAB3607FBEA8}"/>
              </a:ext>
            </a:extLst>
          </p:cNvPr>
          <p:cNvSpPr>
            <a:spLocks xmlns:a="http://schemas.openxmlformats.org/drawingml/2006/main" noGrp="1"/>
          </p:cNvSpPr>
          <p:nvPr/>
        </p:nvSpPr>
        <p:spPr>
          <a:xfrm xmlns:a="http://schemas.openxmlformats.org/drawingml/2006/main">
            <a:off x="6667500" y="3286125"/>
            <a:ext cx="4286250" cy="6096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buNone/>
              <a:defRPr sz="2100" b="1">
                <a:solidFill>
                  <a:srgbClr val="151515"/>
                </a:solidFill>
                <a:latin typeface="Arial"/>
                <a:ea typeface="Arial"/>
                <a:cs typeface="Arial"/>
              </a:defRPr>
            </a:pPr>
            <a:r>
              <a:t>LAI at harvest appears in all 20 rules.</a:t>
            </a:r>
          </a:p>
        </p:txBody>
      </p:sp>
      <p:sp>
        <p:nvSpPr>
          <p:cNvPr id="15" name="">
            <a:extLst xmlns:a="http://schemas.openxmlformats.org/drawingml/2006/main">
              <a:ext uri="{FF2B5EF4-FFF2-40B4-BE49-F238E27FC236}">
                <a16:creationId xmlns:a16="http://schemas.microsoft.com/office/drawing/2014/main" id="{0CD1C761-F1E4-462B-838A-FF2CEA27802F}"/>
              </a:ext>
            </a:extLst>
          </p:cNvPr>
          <p:cNvSpPr>
            <a:spLocks xmlns:a="http://schemas.openxmlformats.org/drawingml/2006/main" noGrp="1"/>
          </p:cNvSpPr>
          <p:nvPr/>
        </p:nvSpPr>
        <p:spPr>
          <a:xfrm xmlns:a="http://schemas.openxmlformats.org/drawingml/2006/main">
            <a:off x="6667500" y="4095750"/>
            <a:ext cx="4333875"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0">
                <a:solidFill>
                  <a:srgbClr val="60656C"/>
                </a:solidFill>
                <a:latin typeface="Arial"/>
                <a:ea typeface="Arial"/>
                <a:cs typeface="Arial"/>
              </a:defRPr>
            </a:pPr>
            <a:r>
              <a:t>Canopy development, heat stress and harvest soil water dominate the regional rule set.</a:t>
            </a:r>
          </a:p>
        </p:txBody>
      </p:sp>
      <p:sp>
        <p:nvSpPr>
          <p:cNvPr id="16" name="">
            <a:extLst xmlns:a="http://schemas.openxmlformats.org/drawingml/2006/main">
              <a:ext uri="{FF2B5EF4-FFF2-40B4-BE49-F238E27FC236}">
                <a16:creationId xmlns:a16="http://schemas.microsoft.com/office/drawing/2014/main" id="{F42077EF-E0D3-4D7E-A7D3-EF68F6232C3F}"/>
              </a:ext>
            </a:extLst>
          </p:cNvPr>
          <p:cNvSpPr>
            <a:spLocks xmlns:a="http://schemas.openxmlformats.org/drawingml/2006/main" noGrp="1"/>
          </p:cNvSpPr>
          <p:nvPr/>
        </p:nvSpPr>
        <p:spPr>
          <a:xfrm xmlns:a="http://schemas.openxmlformats.org/drawingml/2006/main">
            <a:off x="1000125" y="5953125"/>
            <a:ext cx="10144125" cy="333375"/>
          </a:xfrm>
          <a:prstGeom xmlns:a="http://schemas.openxmlformats.org/drawingml/2006/main" prst="rect">
            <a:avLst/>
          </a:prstGeom>
        </p:spPr>
        <p:txBody>
          <a:bodyPr xmlns:a="http://schemas.openxmlformats.org/drawingml/2006/main" lIns="0" tIns="0" rIns="0" bIns="0" anchor="t">
            <a:normAutofit fontScale="88046"/>
          </a:bodyPr>
          <a:lstStyle xmlns:a="http://schemas.openxmlformats.org/drawingml/2006/main"/>
          <a:p xmlns:a="http://schemas.openxmlformats.org/drawingml/2006/main">
            <a:pPr algn="ctr">
              <a:buNone/>
              <a:defRPr sz="1725" b="1">
                <a:solidFill>
                  <a:srgbClr val="7B1E3A"/>
                </a:solidFill>
                <a:latin typeface="Arial"/>
                <a:ea typeface="Arial"/>
                <a:cs typeface="Arial"/>
              </a:defRPr>
            </a:pPr>
            <a:r>
              <a:t>The same variable can have a different direction across regions — interpretation must remain context-specific.</a:t>
            </a:r>
          </a:p>
        </p:txBody>
      </p:sp>
      <p:sp>
        <p:nvSpPr>
          <p:cNvPr id="17" name="">
            <a:extLst xmlns:a="http://schemas.openxmlformats.org/drawingml/2006/main">
              <a:ext uri="{FF2B5EF4-FFF2-40B4-BE49-F238E27FC236}">
                <a16:creationId xmlns:a16="http://schemas.microsoft.com/office/drawing/2014/main" id="{341DC3A6-E512-4E2F-8788-6D0C8F786C66}"/>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Chapter 4</a:t>
            </a:r>
          </a:p>
        </p:txBody>
      </p:sp>
    </p:spTree>
    <p:extLst>
      <p:ext uri="{BB962C8B-B14F-4D97-AF65-F5344CB8AC3E}">
        <p14:creationId xmlns:p14="http://schemas.microsoft.com/office/powerpoint/2010/main" val="63293658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white-background">
            <a:extLst xmlns:a="http://schemas.openxmlformats.org/drawingml/2006/main">
              <a:ext uri="{FF2B5EF4-FFF2-40B4-BE49-F238E27FC236}">
                <a16:creationId xmlns:a16="http://schemas.microsoft.com/office/drawing/2014/main" id="{A61AC48A-4009-4360-A58A-CB33345CB8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AA3E5C72-18C4-4820-A946-3AFADD1B9D87}"/>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xmlns:a="http://schemas.openxmlformats.org/drawingml/2006/main">
              <a:ext uri="{FF2B5EF4-FFF2-40B4-BE49-F238E27FC236}">
                <a16:creationId xmlns:a16="http://schemas.microsoft.com/office/drawing/2014/main" id="{A235780E-12D0-4C1A-A029-A99CA3019A2C}"/>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strongest CarenR rules point to water and canopy structure</a:t>
            </a:r>
          </a:p>
        </p:txBody>
      </p:sp>
      <p:sp>
        <p:nvSpPr>
          <p:cNvPr id="4" name="douro-panel">
            <a:extLst xmlns:a="http://schemas.openxmlformats.org/drawingml/2006/main">
              <a:ext uri="{FF2B5EF4-FFF2-40B4-BE49-F238E27FC236}">
                <a16:creationId xmlns:a16="http://schemas.microsoft.com/office/drawing/2014/main" id="{DB3A9BFA-81C6-4691-9368-F9F7C131BC49}"/>
              </a:ext>
            </a:extLst>
          </p:cNvPr>
          <p:cNvSpPr>
            <a:spLocks xmlns:a="http://schemas.openxmlformats.org/drawingml/2006/main" noGrp="1"/>
          </p:cNvSpPr>
          <p:nvPr/>
        </p:nvSpPr>
        <p:spPr>
          <a:xfrm xmlns:a="http://schemas.openxmlformats.org/drawingml/2006/main">
            <a:off x="400050" y="1476375"/>
            <a:ext cx="5476875" cy="3476625"/>
          </a:xfrm>
          <a:prstGeom xmlns:a="http://schemas.openxmlformats.org/drawingml/2006/main" prst="rect">
            <a:avLst/>
          </a:prstGeom>
          <a:solidFill xmlns:a="http://schemas.openxmlformats.org/drawingml/2006/main">
            <a:srgbClr val="EAF4FB"/>
          </a:solidFill>
          <a:ln xmlns:a="http://schemas.openxmlformats.org/drawingml/2006/main" w="0">
            <a:noFill/>
            <a:prstDash val="solid"/>
          </a:ln>
        </p:spPr>
      </p:sp>
      <p:sp>
        <p:nvSpPr>
          <p:cNvPr id="5" name="rvv-panel">
            <a:extLst xmlns:a="http://schemas.openxmlformats.org/drawingml/2006/main">
              <a:ext uri="{FF2B5EF4-FFF2-40B4-BE49-F238E27FC236}">
                <a16:creationId xmlns:a16="http://schemas.microsoft.com/office/drawing/2014/main" id="{5F21EEA4-8328-44C4-BCCB-EDEE6BE775BF}"/>
              </a:ext>
            </a:extLst>
          </p:cNvPr>
          <p:cNvSpPr>
            <a:spLocks xmlns:a="http://schemas.openxmlformats.org/drawingml/2006/main" noGrp="1"/>
          </p:cNvSpPr>
          <p:nvPr/>
        </p:nvSpPr>
        <p:spPr>
          <a:xfrm xmlns:a="http://schemas.openxmlformats.org/drawingml/2006/main">
            <a:off x="6305550" y="1476375"/>
            <a:ext cx="5476875" cy="3476625"/>
          </a:xfrm>
          <a:prstGeom xmlns:a="http://schemas.openxmlformats.org/drawingml/2006/main" prst="rect">
            <a:avLst/>
          </a:prstGeom>
          <a:solidFill xmlns:a="http://schemas.openxmlformats.org/drawingml/2006/main">
            <a:srgbClr val="F7EAF0"/>
          </a:solidFill>
          <a:ln xmlns:a="http://schemas.openxmlformats.org/drawingml/2006/main" w="0">
            <a:noFill/>
            <a:prstDash val="solid"/>
          </a:ln>
        </p:spPr>
      </p:sp>
      <p:sp>
        <p:nvSpPr>
          <p:cNvPr id="6" name="douro-label">
            <a:extLst xmlns:a="http://schemas.openxmlformats.org/drawingml/2006/main">
              <a:ext uri="{FF2B5EF4-FFF2-40B4-BE49-F238E27FC236}">
                <a16:creationId xmlns:a16="http://schemas.microsoft.com/office/drawing/2014/main" id="{25377249-CE38-488A-B5C9-0BA00F376236}"/>
              </a:ext>
            </a:extLst>
          </p:cNvPr>
          <p:cNvSpPr>
            <a:spLocks xmlns:a="http://schemas.openxmlformats.org/drawingml/2006/main" noGrp="1"/>
          </p:cNvSpPr>
          <p:nvPr/>
        </p:nvSpPr>
        <p:spPr>
          <a:xfrm xmlns:a="http://schemas.openxmlformats.org/drawingml/2006/main">
            <a:off x="714375" y="17526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2B6F9A"/>
                </a:solidFill>
                <a:latin typeface="Arial"/>
                <a:ea typeface="Arial"/>
                <a:cs typeface="Arial"/>
              </a:defRPr>
            </a:pPr>
            <a:r>
              <a:rPr sz="1125" b="1">
                <a:solidFill>
                  <a:srgbClr val="2B6F9A"/>
                </a:solidFill>
                <a:latin typeface="Arial"/>
                <a:ea typeface="Arial"/>
                <a:cs typeface="Arial"/>
              </a:rPr>
              <a:t>DOURO · top 5 CarenR rules</a:t>
            </a:r>
          </a:p>
        </p:txBody>
      </p:sp>
      <p:sp>
        <p:nvSpPr>
          <p:cNvPr id="7" name="douro-summary">
            <a:extLst xmlns:a="http://schemas.openxmlformats.org/drawingml/2006/main">
              <a:ext uri="{FF2B5EF4-FFF2-40B4-BE49-F238E27FC236}">
                <a16:creationId xmlns:a16="http://schemas.microsoft.com/office/drawing/2014/main" id="{B0EE3D9C-DDB3-406D-9D3B-939E14A1EB8A}"/>
              </a:ext>
            </a:extLst>
          </p:cNvPr>
          <p:cNvSpPr>
            <a:spLocks xmlns:a="http://schemas.openxmlformats.org/drawingml/2006/main" noGrp="1"/>
          </p:cNvSpPr>
          <p:nvPr/>
        </p:nvSpPr>
        <p:spPr>
          <a:xfrm xmlns:a="http://schemas.openxmlformats.org/drawingml/2006/main">
            <a:off x="714375" y="20383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111111"/>
                </a:solidFill>
                <a:latin typeface="Arial"/>
                <a:ea typeface="Arial"/>
                <a:cs typeface="Arial"/>
              </a:defRPr>
            </a:pPr>
            <a:r>
              <a:rPr sz="1238" b="1">
                <a:solidFill>
                  <a:srgbClr val="111111"/>
                </a:solidFill>
                <a:latin typeface="Arial"/>
                <a:ea typeface="Arial"/>
                <a:cs typeface="Arial"/>
              </a:rPr>
              <a:t>4 of 5 are above-trend: dry flowering and bounded heat define good years.</a:t>
            </a:r>
          </a:p>
        </p:txBody>
      </p:sp>
      <p:sp>
        <p:nvSpPr>
          <p:cNvPr id="8" name="rule-douro-1-rank">
            <a:extLst xmlns:a="http://schemas.openxmlformats.org/drawingml/2006/main">
              <a:ext uri="{FF2B5EF4-FFF2-40B4-BE49-F238E27FC236}">
                <a16:creationId xmlns:a16="http://schemas.microsoft.com/office/drawing/2014/main" id="{112D12CD-BA90-42C9-88B7-1E895D2F2C81}"/>
              </a:ext>
            </a:extLst>
          </p:cNvPr>
          <p:cNvSpPr>
            <a:spLocks xmlns:a="http://schemas.openxmlformats.org/drawingml/2006/main" noGrp="1"/>
          </p:cNvSpPr>
          <p:nvPr/>
        </p:nvSpPr>
        <p:spPr>
          <a:xfrm xmlns:a="http://schemas.openxmlformats.org/drawingml/2006/main">
            <a:off x="714375" y="26098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9" name="rule-douro-1-pattern">
            <a:extLst xmlns:a="http://schemas.openxmlformats.org/drawingml/2006/main">
              <a:ext uri="{FF2B5EF4-FFF2-40B4-BE49-F238E27FC236}">
                <a16:creationId xmlns:a16="http://schemas.microsoft.com/office/drawing/2014/main" id="{55214A11-6F83-415F-8DA9-B3080B6E33DA}"/>
              </a:ext>
            </a:extLst>
          </p:cNvPr>
          <p:cNvSpPr>
            <a:spLocks xmlns:a="http://schemas.openxmlformats.org/drawingml/2006/main" noGrp="1"/>
          </p:cNvSpPr>
          <p:nvPr/>
        </p:nvSpPr>
        <p:spPr>
          <a:xfrm xmlns:a="http://schemas.openxmlformats.org/drawingml/2006/main">
            <a:off x="1076325" y="25717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dry maturity</a:t>
            </a:r>
          </a:p>
        </p:txBody>
      </p:sp>
      <p:sp>
        <p:nvSpPr>
          <p:cNvPr id="10" name="rule-douro-1-delta">
            <a:extLst xmlns:a="http://schemas.openxmlformats.org/drawingml/2006/main">
              <a:ext uri="{FF2B5EF4-FFF2-40B4-BE49-F238E27FC236}">
                <a16:creationId xmlns:a16="http://schemas.microsoft.com/office/drawing/2014/main" id="{DFDE73BD-FA63-4BAF-B9DC-3411C9E99A24}"/>
              </a:ext>
            </a:extLst>
          </p:cNvPr>
          <p:cNvSpPr>
            <a:spLocks xmlns:a="http://schemas.openxmlformats.org/drawingml/2006/main" noGrp="1"/>
          </p:cNvSpPr>
          <p:nvPr/>
        </p:nvSpPr>
        <p:spPr>
          <a:xfrm xmlns:a="http://schemas.openxmlformats.org/drawingml/2006/main">
            <a:off x="4314825" y="25812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+121 mhl</a:t>
            </a:r>
          </a:p>
        </p:txBody>
      </p:sp>
      <p:sp>
        <p:nvSpPr>
          <p:cNvPr id="11" name="rule-douro-1-support">
            <a:extLst xmlns:a="http://schemas.openxmlformats.org/drawingml/2006/main">
              <a:ext uri="{FF2B5EF4-FFF2-40B4-BE49-F238E27FC236}">
                <a16:creationId xmlns:a16="http://schemas.microsoft.com/office/drawing/2014/main" id="{196B7EFD-1B7D-43F6-A653-19032DEE096D}"/>
              </a:ext>
            </a:extLst>
          </p:cNvPr>
          <p:cNvSpPr>
            <a:spLocks xmlns:a="http://schemas.openxmlformats.org/drawingml/2006/main" noGrp="1"/>
          </p:cNvSpPr>
          <p:nvPr/>
        </p:nvSpPr>
        <p:spPr>
          <a:xfrm xmlns:a="http://schemas.openxmlformats.org/drawingml/2006/main">
            <a:off x="1076325" y="28003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28.1% support · p=0.0043</a:t>
            </a:r>
          </a:p>
        </p:txBody>
      </p:sp>
      <p:sp>
        <p:nvSpPr>
          <p:cNvPr id="12" name="rule-douro-2-rank">
            <a:extLst xmlns:a="http://schemas.openxmlformats.org/drawingml/2006/main">
              <a:ext uri="{FF2B5EF4-FFF2-40B4-BE49-F238E27FC236}">
                <a16:creationId xmlns:a16="http://schemas.microsoft.com/office/drawing/2014/main" id="{4A24E729-C905-4488-911C-CF23826CA50C}"/>
              </a:ext>
            </a:extLst>
          </p:cNvPr>
          <p:cNvSpPr>
            <a:spLocks xmlns:a="http://schemas.openxmlformats.org/drawingml/2006/main" noGrp="1"/>
          </p:cNvSpPr>
          <p:nvPr/>
        </p:nvSpPr>
        <p:spPr>
          <a:xfrm xmlns:a="http://schemas.openxmlformats.org/drawingml/2006/main">
            <a:off x="714375" y="30289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13" name="rule-douro-2-pattern">
            <a:extLst xmlns:a="http://schemas.openxmlformats.org/drawingml/2006/main">
              <a:ext uri="{FF2B5EF4-FFF2-40B4-BE49-F238E27FC236}">
                <a16:creationId xmlns:a16="http://schemas.microsoft.com/office/drawing/2014/main" id="{1AB09955-D902-451F-8068-D37DC71E7A90}"/>
              </a:ext>
            </a:extLst>
          </p:cNvPr>
          <p:cNvSpPr>
            <a:spLocks xmlns:a="http://schemas.openxmlformats.org/drawingml/2006/main" noGrp="1"/>
          </p:cNvSpPr>
          <p:nvPr/>
        </p:nvSpPr>
        <p:spPr>
          <a:xfrm xmlns:a="http://schemas.openxmlformats.org/drawingml/2006/main">
            <a:off x="1076325" y="29908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High LAI + wet flowering</a:t>
            </a:r>
          </a:p>
        </p:txBody>
      </p:sp>
      <p:sp>
        <p:nvSpPr>
          <p:cNvPr id="14" name="rule-douro-2-delta">
            <a:extLst xmlns:a="http://schemas.openxmlformats.org/drawingml/2006/main">
              <a:ext uri="{FF2B5EF4-FFF2-40B4-BE49-F238E27FC236}">
                <a16:creationId xmlns:a16="http://schemas.microsoft.com/office/drawing/2014/main" id="{6E7B2FF2-119F-4F33-BFA5-AE072BABE6E6}"/>
              </a:ext>
            </a:extLst>
          </p:cNvPr>
          <p:cNvSpPr>
            <a:spLocks xmlns:a="http://schemas.openxmlformats.org/drawingml/2006/main" noGrp="1"/>
          </p:cNvSpPr>
          <p:nvPr/>
        </p:nvSpPr>
        <p:spPr>
          <a:xfrm xmlns:a="http://schemas.openxmlformats.org/drawingml/2006/main">
            <a:off x="4314825" y="30003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-131 mhl</a:t>
            </a:r>
          </a:p>
        </p:txBody>
      </p:sp>
      <p:sp>
        <p:nvSpPr>
          <p:cNvPr id="15" name="rule-douro-2-support">
            <a:extLst xmlns:a="http://schemas.openxmlformats.org/drawingml/2006/main">
              <a:ext uri="{FF2B5EF4-FFF2-40B4-BE49-F238E27FC236}">
                <a16:creationId xmlns:a16="http://schemas.microsoft.com/office/drawing/2014/main" id="{0B1B3A52-047D-4C39-A204-8601FE2E4945}"/>
              </a:ext>
            </a:extLst>
          </p:cNvPr>
          <p:cNvSpPr>
            <a:spLocks xmlns:a="http://schemas.openxmlformats.org/drawingml/2006/main" noGrp="1"/>
          </p:cNvSpPr>
          <p:nvPr/>
        </p:nvSpPr>
        <p:spPr>
          <a:xfrm xmlns:a="http://schemas.openxmlformats.org/drawingml/2006/main">
            <a:off x="1076325" y="32194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20.2% support · p=0.0084</a:t>
            </a:r>
          </a:p>
        </p:txBody>
      </p:sp>
      <p:sp>
        <p:nvSpPr>
          <p:cNvPr id="16" name="rule-douro-3-rank">
            <a:extLst xmlns:a="http://schemas.openxmlformats.org/drawingml/2006/main">
              <a:ext uri="{FF2B5EF4-FFF2-40B4-BE49-F238E27FC236}">
                <a16:creationId xmlns:a16="http://schemas.microsoft.com/office/drawing/2014/main" id="{5019C0E2-BF17-4050-A65B-77E6958920F4}"/>
              </a:ext>
            </a:extLst>
          </p:cNvPr>
          <p:cNvSpPr>
            <a:spLocks xmlns:a="http://schemas.openxmlformats.org/drawingml/2006/main" noGrp="1"/>
          </p:cNvSpPr>
          <p:nvPr/>
        </p:nvSpPr>
        <p:spPr>
          <a:xfrm xmlns:a="http://schemas.openxmlformats.org/drawingml/2006/main">
            <a:off x="714375" y="34480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17" name="rule-douro-3-pattern">
            <a:extLst xmlns:a="http://schemas.openxmlformats.org/drawingml/2006/main">
              <a:ext uri="{FF2B5EF4-FFF2-40B4-BE49-F238E27FC236}">
                <a16:creationId xmlns:a16="http://schemas.microsoft.com/office/drawing/2014/main" id="{09468597-E04A-42DB-9B94-D08BFF973430}"/>
              </a:ext>
            </a:extLst>
          </p:cNvPr>
          <p:cNvSpPr>
            <a:spLocks xmlns:a="http://schemas.openxmlformats.org/drawingml/2006/main" noGrp="1"/>
          </p:cNvSpPr>
          <p:nvPr/>
        </p:nvSpPr>
        <p:spPr>
          <a:xfrm xmlns:a="http://schemas.openxmlformats.org/drawingml/2006/main">
            <a:off x="1076325" y="34099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Dry + moderate heat after flowering</a:t>
            </a:r>
          </a:p>
        </p:txBody>
      </p:sp>
      <p:sp>
        <p:nvSpPr>
          <p:cNvPr id="18" name="rule-douro-3-delta">
            <a:extLst xmlns:a="http://schemas.openxmlformats.org/drawingml/2006/main">
              <a:ext uri="{FF2B5EF4-FFF2-40B4-BE49-F238E27FC236}">
                <a16:creationId xmlns:a16="http://schemas.microsoft.com/office/drawing/2014/main" id="{4D2781A6-FD45-4BDD-96F8-F874F0309752}"/>
              </a:ext>
            </a:extLst>
          </p:cNvPr>
          <p:cNvSpPr>
            <a:spLocks xmlns:a="http://schemas.openxmlformats.org/drawingml/2006/main" noGrp="1"/>
          </p:cNvSpPr>
          <p:nvPr/>
        </p:nvSpPr>
        <p:spPr>
          <a:xfrm xmlns:a="http://schemas.openxmlformats.org/drawingml/2006/main">
            <a:off x="4314825" y="34194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+113 mhl</a:t>
            </a:r>
          </a:p>
        </p:txBody>
      </p:sp>
      <p:sp>
        <p:nvSpPr>
          <p:cNvPr id="19" name="rule-douro-3-support">
            <a:extLst xmlns:a="http://schemas.openxmlformats.org/drawingml/2006/main">
              <a:ext uri="{FF2B5EF4-FFF2-40B4-BE49-F238E27FC236}">
                <a16:creationId xmlns:a16="http://schemas.microsoft.com/office/drawing/2014/main" id="{52EB5F2F-8DDE-41DA-8315-A078CEE0AA96}"/>
              </a:ext>
            </a:extLst>
          </p:cNvPr>
          <p:cNvSpPr>
            <a:spLocks xmlns:a="http://schemas.openxmlformats.org/drawingml/2006/main" noGrp="1"/>
          </p:cNvSpPr>
          <p:nvPr/>
        </p:nvSpPr>
        <p:spPr>
          <a:xfrm xmlns:a="http://schemas.openxmlformats.org/drawingml/2006/main">
            <a:off x="1076325" y="36385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25.8% support · p=0.0089</a:t>
            </a:r>
          </a:p>
        </p:txBody>
      </p:sp>
      <p:sp>
        <p:nvSpPr>
          <p:cNvPr id="20" name="rule-douro-4-rank">
            <a:extLst xmlns:a="http://schemas.openxmlformats.org/drawingml/2006/main">
              <a:ext uri="{FF2B5EF4-FFF2-40B4-BE49-F238E27FC236}">
                <a16:creationId xmlns:a16="http://schemas.microsoft.com/office/drawing/2014/main" id="{DE76DB4C-BA55-4BB0-9737-CAA4D7BA2841}"/>
              </a:ext>
            </a:extLst>
          </p:cNvPr>
          <p:cNvSpPr>
            <a:spLocks xmlns:a="http://schemas.openxmlformats.org/drawingml/2006/main" noGrp="1"/>
          </p:cNvSpPr>
          <p:nvPr/>
        </p:nvSpPr>
        <p:spPr>
          <a:xfrm xmlns:a="http://schemas.openxmlformats.org/drawingml/2006/main">
            <a:off x="714375" y="38671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21" name="rule-douro-4-pattern">
            <a:extLst xmlns:a="http://schemas.openxmlformats.org/drawingml/2006/main">
              <a:ext uri="{FF2B5EF4-FFF2-40B4-BE49-F238E27FC236}">
                <a16:creationId xmlns:a16="http://schemas.microsoft.com/office/drawing/2014/main" id="{C449AB7D-C8C5-40C8-83FF-33A99F574C14}"/>
              </a:ext>
            </a:extLst>
          </p:cNvPr>
          <p:cNvSpPr>
            <a:spLocks xmlns:a="http://schemas.openxmlformats.org/drawingml/2006/main" noGrp="1"/>
          </p:cNvSpPr>
          <p:nvPr/>
        </p:nvSpPr>
        <p:spPr>
          <a:xfrm xmlns:a="http://schemas.openxmlformats.org/drawingml/2006/main">
            <a:off x="1076325" y="38290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Harvest water + carry-over dryness</a:t>
            </a:r>
          </a:p>
        </p:txBody>
      </p:sp>
      <p:sp>
        <p:nvSpPr>
          <p:cNvPr id="22" name="rule-douro-4-delta">
            <a:extLst xmlns:a="http://schemas.openxmlformats.org/drawingml/2006/main">
              <a:ext uri="{FF2B5EF4-FFF2-40B4-BE49-F238E27FC236}">
                <a16:creationId xmlns:a16="http://schemas.microsoft.com/office/drawing/2014/main" id="{F9C4DCB7-D20F-4830-8BB0-2A0415B56461}"/>
              </a:ext>
            </a:extLst>
          </p:cNvPr>
          <p:cNvSpPr>
            <a:spLocks xmlns:a="http://schemas.openxmlformats.org/drawingml/2006/main" noGrp="1"/>
          </p:cNvSpPr>
          <p:nvPr/>
        </p:nvSpPr>
        <p:spPr>
          <a:xfrm xmlns:a="http://schemas.openxmlformats.org/drawingml/2006/main">
            <a:off x="4314825" y="38385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+192 mhl</a:t>
            </a:r>
          </a:p>
        </p:txBody>
      </p:sp>
      <p:sp>
        <p:nvSpPr>
          <p:cNvPr id="23" name="rule-douro-4-support">
            <a:extLst xmlns:a="http://schemas.openxmlformats.org/drawingml/2006/main">
              <a:ext uri="{FF2B5EF4-FFF2-40B4-BE49-F238E27FC236}">
                <a16:creationId xmlns:a16="http://schemas.microsoft.com/office/drawing/2014/main" id="{C121A40C-07E9-462B-B526-F3EDEBD3F21B}"/>
              </a:ext>
            </a:extLst>
          </p:cNvPr>
          <p:cNvSpPr>
            <a:spLocks xmlns:a="http://schemas.openxmlformats.org/drawingml/2006/main" noGrp="1"/>
          </p:cNvSpPr>
          <p:nvPr/>
        </p:nvSpPr>
        <p:spPr>
          <a:xfrm xmlns:a="http://schemas.openxmlformats.org/drawingml/2006/main">
            <a:off x="1076325" y="40576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21.3% support · p=0.0095</a:t>
            </a:r>
          </a:p>
        </p:txBody>
      </p:sp>
      <p:sp>
        <p:nvSpPr>
          <p:cNvPr id="24" name="rule-douro-5-rank">
            <a:extLst xmlns:a="http://schemas.openxmlformats.org/drawingml/2006/main">
              <a:ext uri="{FF2B5EF4-FFF2-40B4-BE49-F238E27FC236}">
                <a16:creationId xmlns:a16="http://schemas.microsoft.com/office/drawing/2014/main" id="{49D74733-37B0-420C-8729-01C160AAC178}"/>
              </a:ext>
            </a:extLst>
          </p:cNvPr>
          <p:cNvSpPr>
            <a:spLocks xmlns:a="http://schemas.openxmlformats.org/drawingml/2006/main" noGrp="1"/>
          </p:cNvSpPr>
          <p:nvPr/>
        </p:nvSpPr>
        <p:spPr>
          <a:xfrm xmlns:a="http://schemas.openxmlformats.org/drawingml/2006/main">
            <a:off x="714375" y="42862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25" name="rule-douro-5-pattern">
            <a:extLst xmlns:a="http://schemas.openxmlformats.org/drawingml/2006/main">
              <a:ext uri="{FF2B5EF4-FFF2-40B4-BE49-F238E27FC236}">
                <a16:creationId xmlns:a16="http://schemas.microsoft.com/office/drawing/2014/main" id="{C8E3B63F-C73E-4788-929A-032DCC57F794}"/>
              </a:ext>
            </a:extLst>
          </p:cNvPr>
          <p:cNvSpPr>
            <a:spLocks xmlns:a="http://schemas.openxmlformats.org/drawingml/2006/main" noGrp="1"/>
          </p:cNvSpPr>
          <p:nvPr/>
        </p:nvSpPr>
        <p:spPr>
          <a:xfrm xmlns:a="http://schemas.openxmlformats.org/drawingml/2006/main">
            <a:off x="1076325" y="42481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bounded heat</a:t>
            </a:r>
          </a:p>
        </p:txBody>
      </p:sp>
      <p:sp>
        <p:nvSpPr>
          <p:cNvPr id="26" name="rule-douro-5-delta">
            <a:extLst xmlns:a="http://schemas.openxmlformats.org/drawingml/2006/main">
              <a:ext uri="{FF2B5EF4-FFF2-40B4-BE49-F238E27FC236}">
                <a16:creationId xmlns:a16="http://schemas.microsoft.com/office/drawing/2014/main" id="{42274413-F26D-4849-976D-26C270D2A655}"/>
              </a:ext>
            </a:extLst>
          </p:cNvPr>
          <p:cNvSpPr>
            <a:spLocks xmlns:a="http://schemas.openxmlformats.org/drawingml/2006/main" noGrp="1"/>
          </p:cNvSpPr>
          <p:nvPr/>
        </p:nvSpPr>
        <p:spPr>
          <a:xfrm xmlns:a="http://schemas.openxmlformats.org/drawingml/2006/main">
            <a:off x="4314825" y="42576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+115 mhl</a:t>
            </a:r>
          </a:p>
        </p:txBody>
      </p:sp>
      <p:sp>
        <p:nvSpPr>
          <p:cNvPr id="27" name="rule-douro-5-support">
            <a:extLst xmlns:a="http://schemas.openxmlformats.org/drawingml/2006/main">
              <a:ext uri="{FF2B5EF4-FFF2-40B4-BE49-F238E27FC236}">
                <a16:creationId xmlns:a16="http://schemas.microsoft.com/office/drawing/2014/main" id="{71C78432-7F79-4E12-BE6A-133365A5EE81}"/>
              </a:ext>
            </a:extLst>
          </p:cNvPr>
          <p:cNvSpPr>
            <a:spLocks xmlns:a="http://schemas.openxmlformats.org/drawingml/2006/main" noGrp="1"/>
          </p:cNvSpPr>
          <p:nvPr/>
        </p:nvSpPr>
        <p:spPr>
          <a:xfrm xmlns:a="http://schemas.openxmlformats.org/drawingml/2006/main">
            <a:off x="1076325" y="44767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24.7% support · p=0.0110</a:t>
            </a:r>
          </a:p>
        </p:txBody>
      </p:sp>
      <p:sp>
        <p:nvSpPr>
          <p:cNvPr id="28" name="rvv-label">
            <a:extLst xmlns:a="http://schemas.openxmlformats.org/drawingml/2006/main">
              <a:ext uri="{FF2B5EF4-FFF2-40B4-BE49-F238E27FC236}">
                <a16:creationId xmlns:a16="http://schemas.microsoft.com/office/drawing/2014/main" id="{2F1552A8-347D-481A-B089-9A9E082A767C}"/>
              </a:ext>
            </a:extLst>
          </p:cNvPr>
          <p:cNvSpPr>
            <a:spLocks xmlns:a="http://schemas.openxmlformats.org/drawingml/2006/main" noGrp="1"/>
          </p:cNvSpPr>
          <p:nvPr/>
        </p:nvSpPr>
        <p:spPr>
          <a:xfrm xmlns:a="http://schemas.openxmlformats.org/drawingml/2006/main">
            <a:off x="6619875" y="17526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VINHO VERDE · top 5 CarenR rules</a:t>
            </a:r>
          </a:p>
        </p:txBody>
      </p:sp>
      <p:sp>
        <p:nvSpPr>
          <p:cNvPr id="29" name="rvv-summary">
            <a:extLst xmlns:a="http://schemas.openxmlformats.org/drawingml/2006/main">
              <a:ext uri="{FF2B5EF4-FFF2-40B4-BE49-F238E27FC236}">
                <a16:creationId xmlns:a16="http://schemas.microsoft.com/office/drawing/2014/main" id="{82782C39-0358-4435-8058-3C41B3311F09}"/>
              </a:ext>
            </a:extLst>
          </p:cNvPr>
          <p:cNvSpPr>
            <a:spLocks xmlns:a="http://schemas.openxmlformats.org/drawingml/2006/main" noGrp="1"/>
          </p:cNvSpPr>
          <p:nvPr/>
        </p:nvSpPr>
        <p:spPr>
          <a:xfrm xmlns:a="http://schemas.openxmlformats.org/drawingml/2006/main">
            <a:off x="6619875" y="20383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xmlns:a="http://schemas.openxmlformats.org/drawingml/2006/main">
              <a:ext uri="{FF2B5EF4-FFF2-40B4-BE49-F238E27FC236}">
                <a16:creationId xmlns:a16="http://schemas.microsoft.com/office/drawing/2014/main" id="{3BCE3140-0718-44A2-9391-55465FD76E5A}"/>
              </a:ext>
            </a:extLst>
          </p:cNvPr>
          <p:cNvSpPr>
            <a:spLocks xmlns:a="http://schemas.openxmlformats.org/drawingml/2006/main" noGrp="1"/>
          </p:cNvSpPr>
          <p:nvPr/>
        </p:nvSpPr>
        <p:spPr>
          <a:xfrm xmlns:a="http://schemas.openxmlformats.org/drawingml/2006/main">
            <a:off x="6619875" y="26098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31" name="rule-rvv-1-pattern">
            <a:extLst xmlns:a="http://schemas.openxmlformats.org/drawingml/2006/main">
              <a:ext uri="{FF2B5EF4-FFF2-40B4-BE49-F238E27FC236}">
                <a16:creationId xmlns:a16="http://schemas.microsoft.com/office/drawing/2014/main" id="{AC8B2939-682F-4026-8C9A-F568819FE41A}"/>
              </a:ext>
            </a:extLst>
          </p:cNvPr>
          <p:cNvSpPr>
            <a:spLocks xmlns:a="http://schemas.openxmlformats.org/drawingml/2006/main" noGrp="1"/>
          </p:cNvSpPr>
          <p:nvPr/>
        </p:nvSpPr>
        <p:spPr>
          <a:xfrm xmlns:a="http://schemas.openxmlformats.org/drawingml/2006/main">
            <a:off x="6981825" y="25717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Moist harvest + no heat stress</a:t>
            </a:r>
          </a:p>
        </p:txBody>
      </p:sp>
      <p:sp>
        <p:nvSpPr>
          <p:cNvPr id="32" name="rule-rvv-1-delta">
            <a:extLst xmlns:a="http://schemas.openxmlformats.org/drawingml/2006/main">
              <a:ext uri="{FF2B5EF4-FFF2-40B4-BE49-F238E27FC236}">
                <a16:creationId xmlns:a16="http://schemas.microsoft.com/office/drawing/2014/main" id="{AECDF222-280F-462E-AE28-34B618414F5A}"/>
              </a:ext>
            </a:extLst>
          </p:cNvPr>
          <p:cNvSpPr>
            <a:spLocks xmlns:a="http://schemas.openxmlformats.org/drawingml/2006/main" noGrp="1"/>
          </p:cNvSpPr>
          <p:nvPr/>
        </p:nvSpPr>
        <p:spPr>
          <a:xfrm xmlns:a="http://schemas.openxmlformats.org/drawingml/2006/main">
            <a:off x="10220325" y="25812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-338 mhl</a:t>
            </a:r>
          </a:p>
        </p:txBody>
      </p:sp>
      <p:sp>
        <p:nvSpPr>
          <p:cNvPr id="33" name="rule-rvv-1-support">
            <a:extLst xmlns:a="http://schemas.openxmlformats.org/drawingml/2006/main">
              <a:ext uri="{FF2B5EF4-FFF2-40B4-BE49-F238E27FC236}">
                <a16:creationId xmlns:a16="http://schemas.microsoft.com/office/drawing/2014/main" id="{6AA05EBD-8F11-4265-AEC8-64E1622BDE37}"/>
              </a:ext>
            </a:extLst>
          </p:cNvPr>
          <p:cNvSpPr>
            <a:spLocks xmlns:a="http://schemas.openxmlformats.org/drawingml/2006/main" noGrp="1"/>
          </p:cNvSpPr>
          <p:nvPr/>
        </p:nvSpPr>
        <p:spPr>
          <a:xfrm xmlns:a="http://schemas.openxmlformats.org/drawingml/2006/main">
            <a:off x="6981825" y="28003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21.2% support · p=0.0198</a:t>
            </a:r>
          </a:p>
        </p:txBody>
      </p:sp>
      <p:sp>
        <p:nvSpPr>
          <p:cNvPr id="34" name="rule-rvv-2-rank">
            <a:extLst xmlns:a="http://schemas.openxmlformats.org/drawingml/2006/main">
              <a:ext uri="{FF2B5EF4-FFF2-40B4-BE49-F238E27FC236}">
                <a16:creationId xmlns:a16="http://schemas.microsoft.com/office/drawing/2014/main" id="{738E64DC-DFC6-4CB7-85B8-1C02D584C72F}"/>
              </a:ext>
            </a:extLst>
          </p:cNvPr>
          <p:cNvSpPr>
            <a:spLocks xmlns:a="http://schemas.openxmlformats.org/drawingml/2006/main" noGrp="1"/>
          </p:cNvSpPr>
          <p:nvPr/>
        </p:nvSpPr>
        <p:spPr>
          <a:xfrm xmlns:a="http://schemas.openxmlformats.org/drawingml/2006/main">
            <a:off x="6619875" y="30289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35" name="rule-rvv-2-pattern">
            <a:extLst xmlns:a="http://schemas.openxmlformats.org/drawingml/2006/main">
              <a:ext uri="{FF2B5EF4-FFF2-40B4-BE49-F238E27FC236}">
                <a16:creationId xmlns:a16="http://schemas.microsoft.com/office/drawing/2014/main" id="{8444DC70-ED85-455B-813A-27A64FF0D9FB}"/>
              </a:ext>
            </a:extLst>
          </p:cNvPr>
          <p:cNvSpPr>
            <a:spLocks xmlns:a="http://schemas.openxmlformats.org/drawingml/2006/main" noGrp="1"/>
          </p:cNvSpPr>
          <p:nvPr/>
        </p:nvSpPr>
        <p:spPr>
          <a:xfrm xmlns:a="http://schemas.openxmlformats.org/drawingml/2006/main">
            <a:off x="6981825" y="29908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Cool flowering + prior soil saturation</a:t>
            </a:r>
          </a:p>
        </p:txBody>
      </p:sp>
      <p:sp>
        <p:nvSpPr>
          <p:cNvPr id="36" name="rule-rvv-2-delta">
            <a:extLst xmlns:a="http://schemas.openxmlformats.org/drawingml/2006/main">
              <a:ext uri="{FF2B5EF4-FFF2-40B4-BE49-F238E27FC236}">
                <a16:creationId xmlns:a16="http://schemas.microsoft.com/office/drawing/2014/main" id="{76A3BD4A-EA20-42AE-8A16-A83432A04D26}"/>
              </a:ext>
            </a:extLst>
          </p:cNvPr>
          <p:cNvSpPr>
            <a:spLocks xmlns:a="http://schemas.openxmlformats.org/drawingml/2006/main" noGrp="1"/>
          </p:cNvSpPr>
          <p:nvPr/>
        </p:nvSpPr>
        <p:spPr>
          <a:xfrm xmlns:a="http://schemas.openxmlformats.org/drawingml/2006/main">
            <a:off x="10220325" y="30003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-268 mhl</a:t>
            </a:r>
          </a:p>
        </p:txBody>
      </p:sp>
      <p:sp>
        <p:nvSpPr>
          <p:cNvPr id="37" name="rule-rvv-2-support">
            <a:extLst xmlns:a="http://schemas.openxmlformats.org/drawingml/2006/main">
              <a:ext uri="{FF2B5EF4-FFF2-40B4-BE49-F238E27FC236}">
                <a16:creationId xmlns:a16="http://schemas.microsoft.com/office/drawing/2014/main" id="{1839A862-962D-43A2-AB77-AFC2EF3B472A}"/>
              </a:ext>
            </a:extLst>
          </p:cNvPr>
          <p:cNvSpPr>
            <a:spLocks xmlns:a="http://schemas.openxmlformats.org/drawingml/2006/main" noGrp="1"/>
          </p:cNvSpPr>
          <p:nvPr/>
        </p:nvSpPr>
        <p:spPr>
          <a:xfrm xmlns:a="http://schemas.openxmlformats.org/drawingml/2006/main">
            <a:off x="6981825" y="32194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21.2% support · p=0.0216</a:t>
            </a:r>
          </a:p>
        </p:txBody>
      </p:sp>
      <p:sp>
        <p:nvSpPr>
          <p:cNvPr id="38" name="rule-rvv-3-rank">
            <a:extLst xmlns:a="http://schemas.openxmlformats.org/drawingml/2006/main">
              <a:ext uri="{FF2B5EF4-FFF2-40B4-BE49-F238E27FC236}">
                <a16:creationId xmlns:a16="http://schemas.microsoft.com/office/drawing/2014/main" id="{BC23706C-D096-49B9-BF6E-2D667716A79D}"/>
              </a:ext>
            </a:extLst>
          </p:cNvPr>
          <p:cNvSpPr>
            <a:spLocks xmlns:a="http://schemas.openxmlformats.org/drawingml/2006/main" noGrp="1"/>
          </p:cNvSpPr>
          <p:nvPr/>
        </p:nvSpPr>
        <p:spPr>
          <a:xfrm xmlns:a="http://schemas.openxmlformats.org/drawingml/2006/main">
            <a:off x="6619875" y="34480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39" name="rule-rvv-3-pattern">
            <a:extLst xmlns:a="http://schemas.openxmlformats.org/drawingml/2006/main">
              <a:ext uri="{FF2B5EF4-FFF2-40B4-BE49-F238E27FC236}">
                <a16:creationId xmlns:a16="http://schemas.microsoft.com/office/drawing/2014/main" id="{03703D47-8B79-4A74-A005-5D985A06D48C}"/>
              </a:ext>
            </a:extLst>
          </p:cNvPr>
          <p:cNvSpPr>
            <a:spLocks xmlns:a="http://schemas.openxmlformats.org/drawingml/2006/main" noGrp="1"/>
          </p:cNvSpPr>
          <p:nvPr/>
        </p:nvSpPr>
        <p:spPr>
          <a:xfrm xmlns:a="http://schemas.openxmlformats.org/drawingml/2006/main">
            <a:off x="6981825" y="34099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Moist post-flowering + low heat</a:t>
            </a:r>
          </a:p>
        </p:txBody>
      </p:sp>
      <p:sp>
        <p:nvSpPr>
          <p:cNvPr id="40" name="rule-rvv-3-delta">
            <a:extLst xmlns:a="http://schemas.openxmlformats.org/drawingml/2006/main">
              <a:ext uri="{FF2B5EF4-FFF2-40B4-BE49-F238E27FC236}">
                <a16:creationId xmlns:a16="http://schemas.microsoft.com/office/drawing/2014/main" id="{9E81AC55-F369-464A-B839-6D05261A07F8}"/>
              </a:ext>
            </a:extLst>
          </p:cNvPr>
          <p:cNvSpPr>
            <a:spLocks xmlns:a="http://schemas.openxmlformats.org/drawingml/2006/main" noGrp="1"/>
          </p:cNvSpPr>
          <p:nvPr/>
        </p:nvSpPr>
        <p:spPr>
          <a:xfrm xmlns:a="http://schemas.openxmlformats.org/drawingml/2006/main">
            <a:off x="10220325" y="34194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-365 mhl</a:t>
            </a:r>
          </a:p>
        </p:txBody>
      </p:sp>
      <p:sp>
        <p:nvSpPr>
          <p:cNvPr id="41" name="rule-rvv-3-support">
            <a:extLst xmlns:a="http://schemas.openxmlformats.org/drawingml/2006/main">
              <a:ext uri="{FF2B5EF4-FFF2-40B4-BE49-F238E27FC236}">
                <a16:creationId xmlns:a16="http://schemas.microsoft.com/office/drawing/2014/main" id="{43ABB15C-4475-4CB9-AC06-320D871F3853}"/>
              </a:ext>
            </a:extLst>
          </p:cNvPr>
          <p:cNvSpPr>
            <a:spLocks xmlns:a="http://schemas.openxmlformats.org/drawingml/2006/main" noGrp="1"/>
          </p:cNvSpPr>
          <p:nvPr/>
        </p:nvSpPr>
        <p:spPr>
          <a:xfrm xmlns:a="http://schemas.openxmlformats.org/drawingml/2006/main">
            <a:off x="6981825" y="36385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27.5% support · p=0.0294</a:t>
            </a:r>
          </a:p>
        </p:txBody>
      </p:sp>
      <p:sp>
        <p:nvSpPr>
          <p:cNvPr id="42" name="rule-rvv-4-rank">
            <a:extLst xmlns:a="http://schemas.openxmlformats.org/drawingml/2006/main">
              <a:ext uri="{FF2B5EF4-FFF2-40B4-BE49-F238E27FC236}">
                <a16:creationId xmlns:a16="http://schemas.microsoft.com/office/drawing/2014/main" id="{7375654A-DC75-4FD7-8413-22DDF5606C78}"/>
              </a:ext>
            </a:extLst>
          </p:cNvPr>
          <p:cNvSpPr>
            <a:spLocks xmlns:a="http://schemas.openxmlformats.org/drawingml/2006/main" noGrp="1"/>
          </p:cNvSpPr>
          <p:nvPr/>
        </p:nvSpPr>
        <p:spPr>
          <a:xfrm xmlns:a="http://schemas.openxmlformats.org/drawingml/2006/main">
            <a:off x="6619875" y="38671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43" name="rule-rvv-4-pattern">
            <a:extLst xmlns:a="http://schemas.openxmlformats.org/drawingml/2006/main">
              <a:ext uri="{FF2B5EF4-FFF2-40B4-BE49-F238E27FC236}">
                <a16:creationId xmlns:a16="http://schemas.microsoft.com/office/drawing/2014/main" id="{F0703326-34FD-4E0C-945A-3E0C98EC6E20}"/>
              </a:ext>
            </a:extLst>
          </p:cNvPr>
          <p:cNvSpPr>
            <a:spLocks xmlns:a="http://schemas.openxmlformats.org/drawingml/2006/main" noGrp="1"/>
          </p:cNvSpPr>
          <p:nvPr/>
        </p:nvSpPr>
        <p:spPr>
          <a:xfrm xmlns:a="http://schemas.openxmlformats.org/drawingml/2006/main">
            <a:off x="6981825" y="38290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Warm prior budburst + mild flowering</a:t>
            </a:r>
          </a:p>
        </p:txBody>
      </p:sp>
      <p:sp>
        <p:nvSpPr>
          <p:cNvPr id="44" name="rule-rvv-4-delta">
            <a:extLst xmlns:a="http://schemas.openxmlformats.org/drawingml/2006/main">
              <a:ext uri="{FF2B5EF4-FFF2-40B4-BE49-F238E27FC236}">
                <a16:creationId xmlns:a16="http://schemas.microsoft.com/office/drawing/2014/main" id="{7FBDE785-9B3A-4AF6-8BB7-62F653682300}"/>
              </a:ext>
            </a:extLst>
          </p:cNvPr>
          <p:cNvSpPr>
            <a:spLocks xmlns:a="http://schemas.openxmlformats.org/drawingml/2006/main" noGrp="1"/>
          </p:cNvSpPr>
          <p:nvPr/>
        </p:nvSpPr>
        <p:spPr>
          <a:xfrm xmlns:a="http://schemas.openxmlformats.org/drawingml/2006/main">
            <a:off x="10220325" y="38385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+311 mhl</a:t>
            </a:r>
          </a:p>
        </p:txBody>
      </p:sp>
      <p:sp>
        <p:nvSpPr>
          <p:cNvPr id="45" name="rule-rvv-4-support">
            <a:extLst xmlns:a="http://schemas.openxmlformats.org/drawingml/2006/main">
              <a:ext uri="{FF2B5EF4-FFF2-40B4-BE49-F238E27FC236}">
                <a16:creationId xmlns:a16="http://schemas.microsoft.com/office/drawing/2014/main" id="{B8374B38-8FDB-4D74-86FF-CCA1FA2DAEFF}"/>
              </a:ext>
            </a:extLst>
          </p:cNvPr>
          <p:cNvSpPr>
            <a:spLocks xmlns:a="http://schemas.openxmlformats.org/drawingml/2006/main" noGrp="1"/>
          </p:cNvSpPr>
          <p:nvPr/>
        </p:nvSpPr>
        <p:spPr>
          <a:xfrm xmlns:a="http://schemas.openxmlformats.org/drawingml/2006/main">
            <a:off x="6981825" y="40576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25.0% support · p=0.0298</a:t>
            </a:r>
          </a:p>
        </p:txBody>
      </p:sp>
      <p:sp>
        <p:nvSpPr>
          <p:cNvPr id="46" name="rule-rvv-5-rank">
            <a:extLst xmlns:a="http://schemas.openxmlformats.org/drawingml/2006/main">
              <a:ext uri="{FF2B5EF4-FFF2-40B4-BE49-F238E27FC236}">
                <a16:creationId xmlns:a16="http://schemas.microsoft.com/office/drawing/2014/main" id="{254E947A-560F-4CF9-A71D-7350BAE8F025}"/>
              </a:ext>
            </a:extLst>
          </p:cNvPr>
          <p:cNvSpPr>
            <a:spLocks xmlns:a="http://schemas.openxmlformats.org/drawingml/2006/main" noGrp="1"/>
          </p:cNvSpPr>
          <p:nvPr/>
        </p:nvSpPr>
        <p:spPr>
          <a:xfrm xmlns:a="http://schemas.openxmlformats.org/drawingml/2006/main">
            <a:off x="6619875" y="42862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47" name="rule-rvv-5-pattern">
            <a:extLst xmlns:a="http://schemas.openxmlformats.org/drawingml/2006/main">
              <a:ext uri="{FF2B5EF4-FFF2-40B4-BE49-F238E27FC236}">
                <a16:creationId xmlns:a16="http://schemas.microsoft.com/office/drawing/2014/main" id="{E448A1AD-71F7-4D75-8D6D-6ADBACFDC21F}"/>
              </a:ext>
            </a:extLst>
          </p:cNvPr>
          <p:cNvSpPr>
            <a:spLocks xmlns:a="http://schemas.openxmlformats.org/drawingml/2006/main" noGrp="1"/>
          </p:cNvSpPr>
          <p:nvPr/>
        </p:nvSpPr>
        <p:spPr>
          <a:xfrm xmlns:a="http://schemas.openxmlformats.org/drawingml/2006/main">
            <a:off x="6981825" y="42481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Cool post-flowering + wet carry-over</a:t>
            </a:r>
          </a:p>
        </p:txBody>
      </p:sp>
      <p:sp>
        <p:nvSpPr>
          <p:cNvPr id="48" name="rule-rvv-5-delta">
            <a:extLst xmlns:a="http://schemas.openxmlformats.org/drawingml/2006/main">
              <a:ext uri="{FF2B5EF4-FFF2-40B4-BE49-F238E27FC236}">
                <a16:creationId xmlns:a16="http://schemas.microsoft.com/office/drawing/2014/main" id="{E15D61DB-9A5A-4AA1-ADD4-7483AE220458}"/>
              </a:ext>
            </a:extLst>
          </p:cNvPr>
          <p:cNvSpPr>
            <a:spLocks xmlns:a="http://schemas.openxmlformats.org/drawingml/2006/main" noGrp="1"/>
          </p:cNvSpPr>
          <p:nvPr/>
        </p:nvSpPr>
        <p:spPr>
          <a:xfrm xmlns:a="http://schemas.openxmlformats.org/drawingml/2006/main">
            <a:off x="10220325" y="42576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-292 mhl</a:t>
            </a:r>
          </a:p>
        </p:txBody>
      </p:sp>
      <p:sp>
        <p:nvSpPr>
          <p:cNvPr id="49" name="rule-rvv-5-support">
            <a:extLst xmlns:a="http://schemas.openxmlformats.org/drawingml/2006/main">
              <a:ext uri="{FF2B5EF4-FFF2-40B4-BE49-F238E27FC236}">
                <a16:creationId xmlns:a16="http://schemas.microsoft.com/office/drawing/2014/main" id="{4C8426F4-53AD-4FFF-9552-78ABA5ADDFEC}"/>
              </a:ext>
            </a:extLst>
          </p:cNvPr>
          <p:cNvSpPr>
            <a:spLocks xmlns:a="http://schemas.openxmlformats.org/drawingml/2006/main" noGrp="1"/>
          </p:cNvSpPr>
          <p:nvPr/>
        </p:nvSpPr>
        <p:spPr>
          <a:xfrm xmlns:a="http://schemas.openxmlformats.org/drawingml/2006/main">
            <a:off x="6981825" y="44767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23.8% support · p=0.0299</a:t>
            </a:r>
          </a:p>
        </p:txBody>
      </p:sp>
      <p:sp>
        <p:nvSpPr>
          <p:cNvPr id="50" name="finding-band">
            <a:extLst xmlns:a="http://schemas.openxmlformats.org/drawingml/2006/main">
              <a:ext uri="{FF2B5EF4-FFF2-40B4-BE49-F238E27FC236}">
                <a16:creationId xmlns:a16="http://schemas.microsoft.com/office/drawing/2014/main" id="{1C3A083A-E546-4493-B335-10679EDF5198}"/>
              </a:ext>
            </a:extLst>
          </p:cNvPr>
          <p:cNvSpPr>
            <a:spLocks xmlns:a="http://schemas.openxmlformats.org/drawingml/2006/main" noGrp="1"/>
          </p:cNvSpPr>
          <p:nvPr/>
        </p:nvSpPr>
        <p:spPr>
          <a:xfrm xmlns:a="http://schemas.openxmlformats.org/drawingml/2006/main">
            <a:off x="400050" y="5219700"/>
            <a:ext cx="11382375" cy="838200"/>
          </a:xfrm>
          <a:prstGeom xmlns:a="http://schemas.openxmlformats.org/drawingml/2006/main" prst="rect">
            <a:avLst/>
          </a:prstGeom>
          <a:solidFill xmlns:a="http://schemas.openxmlformats.org/drawingml/2006/main">
            <a:srgbClr val="EAF5EE"/>
          </a:solidFill>
          <a:ln xmlns:a="http://schemas.openxmlformats.org/drawingml/2006/main" w="0">
            <a:noFill/>
            <a:prstDash val="solid"/>
          </a:ln>
        </p:spPr>
      </p:sp>
      <p:sp>
        <p:nvSpPr>
          <p:cNvPr id="51" name="finding-label">
            <a:extLst xmlns:a="http://schemas.openxmlformats.org/drawingml/2006/main">
              <a:ext uri="{FF2B5EF4-FFF2-40B4-BE49-F238E27FC236}">
                <a16:creationId xmlns:a16="http://schemas.microsoft.com/office/drawing/2014/main" id="{D9F203B8-1FF5-4513-B24D-F012E26663F0}"/>
              </a:ext>
            </a:extLst>
          </p:cNvPr>
          <p:cNvSpPr>
            <a:spLocks xmlns:a="http://schemas.openxmlformats.org/drawingml/2006/main" noGrp="1"/>
          </p:cNvSpPr>
          <p:nvPr/>
        </p:nvSpPr>
        <p:spPr>
          <a:xfrm xmlns:a="http://schemas.openxmlformats.org/drawingml/2006/main">
            <a:off x="666750" y="54102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finding</a:t>
            </a:r>
          </a:p>
        </p:txBody>
      </p:sp>
      <p:sp>
        <p:nvSpPr>
          <p:cNvPr id="52" name="finding-main">
            <a:extLst xmlns:a="http://schemas.openxmlformats.org/drawingml/2006/main">
              <a:ext uri="{FF2B5EF4-FFF2-40B4-BE49-F238E27FC236}">
                <a16:creationId xmlns:a16="http://schemas.microsoft.com/office/drawing/2014/main" id="{35900B4E-D9F9-4FB9-A88C-0B4F32F146D5}"/>
              </a:ext>
            </a:extLst>
          </p:cNvPr>
          <p:cNvSpPr>
            <a:spLocks xmlns:a="http://schemas.openxmlformats.org/drawingml/2006/main" noGrp="1"/>
          </p:cNvSpPr>
          <p:nvPr/>
        </p:nvSpPr>
        <p:spPr>
          <a:xfrm xmlns:a="http://schemas.openxmlformats.org/drawingml/2006/main">
            <a:off x="2952750" y="5381625"/>
            <a:ext cx="814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11111"/>
                </a:solidFill>
                <a:latin typeface="Arial"/>
                <a:ea typeface="Arial"/>
                <a:cs typeface="Arial"/>
              </a:defRPr>
            </a:pPr>
            <a:r>
              <a:rPr sz="1650" b="1">
                <a:solidFill>
                  <a:srgbClr val="111111"/>
                </a:solidFill>
                <a:latin typeface="Arial"/>
                <a:ea typeface="Arial"/>
                <a:cs typeface="Arial"/>
              </a:rPr>
              <a:t>Across methods: harvest soil water and LAI/canopy survive.</a:t>
            </a:r>
          </a:p>
        </p:txBody>
      </p:sp>
      <p:sp>
        <p:nvSpPr>
          <p:cNvPr id="53" name="finding-sub">
            <a:extLst xmlns:a="http://schemas.openxmlformats.org/drawingml/2006/main">
              <a:ext uri="{FF2B5EF4-FFF2-40B4-BE49-F238E27FC236}">
                <a16:creationId xmlns:a16="http://schemas.microsoft.com/office/drawing/2014/main" id="{AD1D53EE-DDC3-4E95-8F09-D56532736205}"/>
              </a:ext>
            </a:extLst>
          </p:cNvPr>
          <p:cNvSpPr>
            <a:spLocks xmlns:a="http://schemas.openxmlformats.org/drawingml/2006/main" noGrp="1"/>
          </p:cNvSpPr>
          <p:nvPr/>
        </p:nvSpPr>
        <p:spPr>
          <a:xfrm xmlns:a="http://schemas.openxmlformats.org/drawingml/2006/main">
            <a:off x="1619250" y="5810250"/>
            <a:ext cx="895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and M5Rules all select them, so the signal is not tied to one optimisation criterion.</a:t>
            </a:r>
          </a:p>
        </p:txBody>
      </p:sp>
      <p:sp>
        <p:nvSpPr>
          <p:cNvPr id="54" name="source">
            <a:extLst xmlns:a="http://schemas.openxmlformats.org/drawingml/2006/main">
              <a:ext uri="{FF2B5EF4-FFF2-40B4-BE49-F238E27FC236}">
                <a16:creationId xmlns:a16="http://schemas.microsoft.com/office/drawing/2014/main" id="{1603C280-F355-46FB-A1B0-69AD0ABC7977}"/>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a:solidFill>
                  <a:srgbClr val="5E6670"/>
                </a:solidFill>
                <a:latin typeface="Arial"/>
                <a:ea typeface="Arial"/>
                <a:cs typeface="Arial"/>
              </a:defRPr>
            </a:pPr>
            <a:r>
              <a:rPr sz="675">
                <a:solidFill>
                  <a:srgbClr val="5E6670"/>
                </a:solidFill>
                <a:latin typeface="Arial"/>
                <a:ea typeface="Arial"/>
                <a:cs typeface="Arial"/>
              </a:rPr>
              <a:t>Source: Thesis, Tables 4.1-4.2 and 4.9</a:t>
            </a:r>
          </a:p>
        </p:txBody>
      </p:sp>
      <p:sp>
        <p:nvSpPr>
          <p:cNvPr id="55" name="slide-number">
            <a:extLst xmlns:a="http://schemas.openxmlformats.org/drawingml/2006/main">
              <a:ext uri="{FF2B5EF4-FFF2-40B4-BE49-F238E27FC236}">
                <a16:creationId xmlns:a16="http://schemas.microsoft.com/office/drawing/2014/main" id="{3EAB9F83-A019-4CC3-B7E0-33987C3A751C}"/>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13</a:t>
            </a:r>
          </a:p>
        </p:txBody>
      </p:sp>
    </p:spTree>
    <p:extLst>
      <p:ext uri="{BB962C8B-B14F-4D97-AF65-F5344CB8AC3E}">
        <p14:creationId xmlns:p14="http://schemas.microsoft.com/office/powerpoint/2010/main" val="79580354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CAB6C1F-0607-4031-ABC5-0095DEF2528E}"/>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RESULTS · VALIDATION</a:t>
            </a:r>
          </a:p>
        </p:txBody>
      </p:sp>
      <p:sp>
        <p:nvSpPr>
          <p:cNvPr id="2" name="">
            <a:extLst xmlns:a="http://schemas.openxmlformats.org/drawingml/2006/main">
              <a:ext uri="{FF2B5EF4-FFF2-40B4-BE49-F238E27FC236}">
                <a16:creationId xmlns:a16="http://schemas.microsoft.com/office/drawing/2014/main" id="{448489AE-2FE7-4C5E-AF86-6DC162B3ECD7}"/>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Two checks confirm the discovered signal</a:t>
            </a:r>
          </a:p>
        </p:txBody>
      </p:sp>
      <p:sp>
        <p:nvSpPr>
          <p:cNvPr id="3" name="">
            <a:extLst xmlns:a="http://schemas.openxmlformats.org/drawingml/2006/main">
              <a:ext uri="{FF2B5EF4-FFF2-40B4-BE49-F238E27FC236}">
                <a16:creationId xmlns:a16="http://schemas.microsoft.com/office/drawing/2014/main" id="{6F5056B4-F517-46A2-9EE6-136F3D09B700}"/>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14</a:t>
            </a:r>
          </a:p>
        </p:txBody>
      </p:sp>
      <p:sp>
        <p:nvSpPr>
          <p:cNvPr id="4" name="">
            <a:extLst xmlns:a="http://schemas.openxmlformats.org/drawingml/2006/main">
              <a:ext uri="{FF2B5EF4-FFF2-40B4-BE49-F238E27FC236}">
                <a16:creationId xmlns:a16="http://schemas.microsoft.com/office/drawing/2014/main" id="{5E071813-178A-4668-B798-3B3BA67F7842}"/>
              </a:ext>
            </a:extLst>
          </p:cNvPr>
          <p:cNvSpPr>
            <a:spLocks xmlns:a="http://schemas.openxmlformats.org/drawingml/2006/main" noGrp="1"/>
          </p:cNvSpPr>
          <p:nvPr/>
        </p:nvSpPr>
        <p:spPr>
          <a:xfrm xmlns:a="http://schemas.openxmlformats.org/drawingml/2006/main">
            <a:off x="400050" y="1714500"/>
            <a:ext cx="5334000" cy="3429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EFFC28D-DB85-4E66-835D-59782951DDDC}"/>
              </a:ext>
            </a:extLst>
          </p:cNvPr>
          <p:cNvSpPr>
            <a:spLocks xmlns:a="http://schemas.openxmlformats.org/drawingml/2006/main" noGrp="1"/>
          </p:cNvSpPr>
          <p:nvPr/>
        </p:nvSpPr>
        <p:spPr>
          <a:xfrm xmlns:a="http://schemas.openxmlformats.org/drawingml/2006/main">
            <a:off x="6457950" y="1714500"/>
            <a:ext cx="5334000" cy="3429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528929C-D451-4275-8778-3921EC295B7D}"/>
              </a:ext>
            </a:extLst>
          </p:cNvPr>
          <p:cNvSpPr>
            <a:spLocks xmlns:a="http://schemas.openxmlformats.org/drawingml/2006/main" noGrp="1"/>
          </p:cNvSpPr>
          <p:nvPr/>
        </p:nvSpPr>
        <p:spPr>
          <a:xfrm xmlns:a="http://schemas.openxmlformats.org/drawingml/2006/main">
            <a:off x="714375" y="2047875"/>
            <a:ext cx="523875"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01</a:t>
            </a:r>
          </a:p>
        </p:txBody>
      </p:sp>
      <p:sp>
        <p:nvSpPr>
          <p:cNvPr id="7" name="">
            <a:extLst xmlns:a="http://schemas.openxmlformats.org/drawingml/2006/main">
              <a:ext uri="{FF2B5EF4-FFF2-40B4-BE49-F238E27FC236}">
                <a16:creationId xmlns:a16="http://schemas.microsoft.com/office/drawing/2014/main" id="{8B4248E8-66EB-4F98-A8F6-BE829DC1CE16}"/>
              </a:ext>
            </a:extLst>
          </p:cNvPr>
          <p:cNvSpPr>
            <a:spLocks xmlns:a="http://schemas.openxmlformats.org/drawingml/2006/main" noGrp="1"/>
          </p:cNvSpPr>
          <p:nvPr/>
        </p:nvSpPr>
        <p:spPr>
          <a:xfrm xmlns:a="http://schemas.openxmlformats.org/drawingml/2006/main">
            <a:off x="714375" y="2571750"/>
            <a:ext cx="42862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a:solidFill>
                  <a:srgbClr val="151515"/>
                </a:solidFill>
                <a:latin typeface="Arial"/>
                <a:ea typeface="Arial"/>
                <a:cs typeface="Arial"/>
              </a:defRPr>
            </a:pPr>
            <a:r>
              <a:t>Aggressive detrending</a:t>
            </a:r>
          </a:p>
        </p:txBody>
      </p:sp>
      <p:sp>
        <p:nvSpPr>
          <p:cNvPr id="8" name="">
            <a:extLst xmlns:a="http://schemas.openxmlformats.org/drawingml/2006/main">
              <a:ext uri="{FF2B5EF4-FFF2-40B4-BE49-F238E27FC236}">
                <a16:creationId xmlns:a16="http://schemas.microsoft.com/office/drawing/2014/main" id="{09EC56D5-02AF-4B5C-87FA-2B71BF7DDC75}"/>
              </a:ext>
            </a:extLst>
          </p:cNvPr>
          <p:cNvSpPr>
            <a:spLocks xmlns:a="http://schemas.openxmlformats.org/drawingml/2006/main" noGrp="1"/>
          </p:cNvSpPr>
          <p:nvPr/>
        </p:nvSpPr>
        <p:spPr>
          <a:xfrm xmlns:a="http://schemas.openxmlformats.org/drawingml/2006/main">
            <a:off x="714375" y="3238500"/>
            <a:ext cx="4286250" cy="1095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0">
                <a:solidFill>
                  <a:srgbClr val="151515"/>
                </a:solidFill>
                <a:latin typeface="Arial"/>
                <a:ea typeface="Arial"/>
                <a:cs typeface="Arial"/>
              </a:defRPr>
            </a:pPr>
            <a:r>
              <a:t>RDD signals persist after LOESS; in RVV, wet-days persist while LAI and soil water are era-linked.</a:t>
            </a:r>
          </a:p>
        </p:txBody>
      </p:sp>
      <p:sp>
        <p:nvSpPr>
          <p:cNvPr id="9" name="">
            <a:extLst xmlns:a="http://schemas.openxmlformats.org/drawingml/2006/main">
              <a:ext uri="{FF2B5EF4-FFF2-40B4-BE49-F238E27FC236}">
                <a16:creationId xmlns:a16="http://schemas.microsoft.com/office/drawing/2014/main" id="{308B137C-1607-4469-8C8F-2479D534E651}"/>
              </a:ext>
            </a:extLst>
          </p:cNvPr>
          <p:cNvSpPr>
            <a:spLocks xmlns:a="http://schemas.openxmlformats.org/drawingml/2006/main" noGrp="1"/>
          </p:cNvSpPr>
          <p:nvPr/>
        </p:nvSpPr>
        <p:spPr>
          <a:xfrm xmlns:a="http://schemas.openxmlformats.org/drawingml/2006/main">
            <a:off x="714375" y="4524375"/>
            <a:ext cx="4286250" cy="333375"/>
          </a:xfrm>
          <a:prstGeom xmlns:a="http://schemas.openxmlformats.org/drawingml/2006/main" prst="rect">
            <a:avLst/>
          </a:prstGeom>
        </p:spPr>
        <p:txBody>
          <a:bodyPr xmlns:a="http://schemas.openxmlformats.org/drawingml/2006/main" lIns="0" tIns="0" rIns="0" bIns="0" anchor="t">
            <a:normAutofit fontScale="70146"/>
          </a:bodyPr>
          <a:lstStyle xmlns:a="http://schemas.openxmlformats.org/drawingml/2006/main"/>
          <a:p xmlns:a="http://schemas.openxmlformats.org/drawingml/2006/main">
            <a:pPr algn="l">
              <a:buNone/>
              <a:defRPr sz="1725" b="1">
                <a:solidFill>
                  <a:srgbClr val="166534"/>
                </a:solidFill>
                <a:latin typeface="Arial"/>
                <a:ea typeface="Arial"/>
                <a:cs typeface="Arial"/>
              </a:defRPr>
            </a:pPr>
            <a:r>
              <a:t>→ The signal is real, but not equally stable across regions.</a:t>
            </a:r>
          </a:p>
        </p:txBody>
      </p:sp>
      <p:sp>
        <p:nvSpPr>
          <p:cNvPr id="10" name="">
            <a:extLst xmlns:a="http://schemas.openxmlformats.org/drawingml/2006/main">
              <a:ext uri="{FF2B5EF4-FFF2-40B4-BE49-F238E27FC236}">
                <a16:creationId xmlns:a16="http://schemas.microsoft.com/office/drawing/2014/main" id="{00BB8BF4-90C8-457C-BBB5-F8839C747709}"/>
              </a:ext>
            </a:extLst>
          </p:cNvPr>
          <p:cNvSpPr>
            <a:spLocks xmlns:a="http://schemas.openxmlformats.org/drawingml/2006/main" noGrp="1"/>
          </p:cNvSpPr>
          <p:nvPr/>
        </p:nvSpPr>
        <p:spPr>
          <a:xfrm xmlns:a="http://schemas.openxmlformats.org/drawingml/2006/main">
            <a:off x="6762750" y="2047875"/>
            <a:ext cx="523875"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02</a:t>
            </a:r>
          </a:p>
        </p:txBody>
      </p:sp>
      <p:sp>
        <p:nvSpPr>
          <p:cNvPr id="11" name="">
            <a:extLst xmlns:a="http://schemas.openxmlformats.org/drawingml/2006/main">
              <a:ext uri="{FF2B5EF4-FFF2-40B4-BE49-F238E27FC236}">
                <a16:creationId xmlns:a16="http://schemas.microsoft.com/office/drawing/2014/main" id="{7E51A354-F60E-492D-B694-BDAEFB3BE9B0}"/>
              </a:ext>
            </a:extLst>
          </p:cNvPr>
          <p:cNvSpPr>
            <a:spLocks xmlns:a="http://schemas.openxmlformats.org/drawingml/2006/main" noGrp="1"/>
          </p:cNvSpPr>
          <p:nvPr/>
        </p:nvSpPr>
        <p:spPr>
          <a:xfrm xmlns:a="http://schemas.openxmlformats.org/drawingml/2006/main">
            <a:off x="6762750" y="2571750"/>
            <a:ext cx="42862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a:solidFill>
                  <a:srgbClr val="151515"/>
                </a:solidFill>
                <a:latin typeface="Arial"/>
                <a:ea typeface="Arial"/>
                <a:cs typeface="Arial"/>
              </a:defRPr>
            </a:pPr>
            <a:r>
              <a:t>Independent algorithms</a:t>
            </a:r>
          </a:p>
        </p:txBody>
      </p:sp>
      <p:sp>
        <p:nvSpPr>
          <p:cNvPr id="12" name="">
            <a:extLst xmlns:a="http://schemas.openxmlformats.org/drawingml/2006/main">
              <a:ext uri="{FF2B5EF4-FFF2-40B4-BE49-F238E27FC236}">
                <a16:creationId xmlns:a16="http://schemas.microsoft.com/office/drawing/2014/main" id="{BB2D1666-E110-43AC-85EF-E5775FEFDFDC}"/>
              </a:ext>
            </a:extLst>
          </p:cNvPr>
          <p:cNvSpPr>
            <a:spLocks xmlns:a="http://schemas.openxmlformats.org/drawingml/2006/main" noGrp="1"/>
          </p:cNvSpPr>
          <p:nvPr/>
        </p:nvSpPr>
        <p:spPr>
          <a:xfrm xmlns:a="http://schemas.openxmlformats.org/drawingml/2006/main">
            <a:off x="6762750" y="3238500"/>
            <a:ext cx="4286250" cy="1095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0">
                <a:solidFill>
                  <a:srgbClr val="151515"/>
                </a:solidFill>
                <a:latin typeface="Arial"/>
                <a:ea typeface="Arial"/>
                <a:cs typeface="Arial"/>
              </a:defRPr>
            </a:pPr>
            <a:r>
              <a:t>RIPPER and M5Rules converge on harvest soil water, LAI and previous-year temperature.</a:t>
            </a:r>
          </a:p>
        </p:txBody>
      </p:sp>
      <p:sp>
        <p:nvSpPr>
          <p:cNvPr id="13" name="">
            <a:extLst xmlns:a="http://schemas.openxmlformats.org/drawingml/2006/main">
              <a:ext uri="{FF2B5EF4-FFF2-40B4-BE49-F238E27FC236}">
                <a16:creationId xmlns:a16="http://schemas.microsoft.com/office/drawing/2014/main" id="{5F8FDB59-49EE-4396-8FC6-4BC0D1F938AD}"/>
              </a:ext>
            </a:extLst>
          </p:cNvPr>
          <p:cNvSpPr>
            <a:spLocks xmlns:a="http://schemas.openxmlformats.org/drawingml/2006/main" noGrp="1"/>
          </p:cNvSpPr>
          <p:nvPr/>
        </p:nvSpPr>
        <p:spPr>
          <a:xfrm xmlns:a="http://schemas.openxmlformats.org/drawingml/2006/main">
            <a:off x="6762750" y="4524375"/>
            <a:ext cx="428625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166534"/>
                </a:solidFill>
                <a:latin typeface="Arial"/>
                <a:ea typeface="Arial"/>
                <a:cs typeface="Arial"/>
              </a:defRPr>
            </a:pPr>
            <a:r>
              <a:t>→ The signal is not CarenR-specific.</a:t>
            </a:r>
          </a:p>
        </p:txBody>
      </p:sp>
      <p:sp>
        <p:nvSpPr>
          <p:cNvPr id="14" name="">
            <a:extLst xmlns:a="http://schemas.openxmlformats.org/drawingml/2006/main">
              <a:ext uri="{FF2B5EF4-FFF2-40B4-BE49-F238E27FC236}">
                <a16:creationId xmlns:a16="http://schemas.microsoft.com/office/drawing/2014/main" id="{232C7B32-88CA-4491-9A68-8A0173A4B4FE}"/>
              </a:ext>
            </a:extLst>
          </p:cNvPr>
          <p:cNvSpPr>
            <a:spLocks xmlns:a="http://schemas.openxmlformats.org/drawingml/2006/main" noGrp="1"/>
          </p:cNvSpPr>
          <p:nvPr/>
        </p:nvSpPr>
        <p:spPr>
          <a:xfrm xmlns:a="http://schemas.openxmlformats.org/drawingml/2006/main">
            <a:off x="400050" y="5619750"/>
            <a:ext cx="11382375"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250" b="1">
                <a:solidFill>
                  <a:srgbClr val="7B1E3A"/>
                </a:solidFill>
                <a:latin typeface="Arial"/>
                <a:ea typeface="Arial"/>
                <a:cs typeface="Arial"/>
              </a:defRPr>
            </a:pPr>
            <a:r>
              <a:t>Discovery is credible — but credibility is not yet predictive utility.</a:t>
            </a:r>
          </a:p>
        </p:txBody>
      </p:sp>
      <p:sp>
        <p:nvSpPr>
          <p:cNvPr id="15" name="">
            <a:extLst xmlns:a="http://schemas.openxmlformats.org/drawingml/2006/main">
              <a:ext uri="{FF2B5EF4-FFF2-40B4-BE49-F238E27FC236}">
                <a16:creationId xmlns:a16="http://schemas.microsoft.com/office/drawing/2014/main" id="{BF54D350-7640-40AC-8E2C-7C92F85FCA30}"/>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4.2 and 4.5</a:t>
            </a:r>
          </a:p>
        </p:txBody>
      </p:sp>
    </p:spTree>
    <p:extLst>
      <p:ext uri="{BB962C8B-B14F-4D97-AF65-F5344CB8AC3E}">
        <p14:creationId xmlns:p14="http://schemas.microsoft.com/office/powerpoint/2010/main" val="176682840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C1475E-AA07-48A5-A121-AE8067E087C4}"/>
              </a:ext>
            </a:extLst>
          </p:cNvPr>
          <p:cNvSpPr>
            <a:spLocks xmlns:a="http://schemas.openxmlformats.org/drawingml/2006/main" noGrp="1"/>
          </p:cNvSpPr>
          <p:nvPr/>
        </p:nvSpPr>
        <p:spPr>
          <a:xfrm xmlns:a="http://schemas.openxmlformats.org/drawingml/2006/main">
            <a:off x="209550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METHOD · PREDICTION</a:t>
            </a:r>
          </a:p>
        </p:txBody>
      </p:sp>
      <p:sp>
        <p:nvSpPr>
          <p:cNvPr id="2" name="">
            <a:extLst xmlns:a="http://schemas.openxmlformats.org/drawingml/2006/main">
              <a:ext uri="{FF2B5EF4-FFF2-40B4-BE49-F238E27FC236}">
                <a16:creationId xmlns:a16="http://schemas.microsoft.com/office/drawing/2014/main" id="{8D96D8D4-2C78-44D0-B41C-8BF91500E80E}"/>
              </a:ext>
            </a:extLst>
          </p:cNvPr>
          <p:cNvSpPr>
            <a:spLocks xmlns:a="http://schemas.openxmlformats.org/drawingml/2006/main" noGrp="1"/>
          </p:cNvSpPr>
          <p:nvPr/>
        </p:nvSpPr>
        <p:spPr>
          <a:xfrm xmlns:a="http://schemas.openxmlformats.org/drawingml/2006/main">
            <a:off x="2095500" y="552450"/>
            <a:ext cx="969645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300" b="1">
                <a:solidFill>
                  <a:srgbClr val="151515"/>
                </a:solidFill>
                <a:latin typeface="Arial"/>
                <a:ea typeface="Arial"/>
                <a:cs typeface="Arial"/>
              </a:defRPr>
            </a:pPr>
            <a:r>
              <a:t>Goal 2 recreates prediction-time information</a:t>
            </a:r>
          </a:p>
        </p:txBody>
      </p:sp>
      <p:sp>
        <p:nvSpPr>
          <p:cNvPr id="3" name="">
            <a:extLst xmlns:a="http://schemas.openxmlformats.org/drawingml/2006/main">
              <a:ext uri="{FF2B5EF4-FFF2-40B4-BE49-F238E27FC236}">
                <a16:creationId xmlns:a16="http://schemas.microsoft.com/office/drawing/2014/main" id="{AF223435-2EF5-4A28-809F-91B71DC560A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15</a:t>
            </a:r>
          </a:p>
        </p:txBody>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5a7f6baaa8bc434c"/>
          <a:stretch xmlns:a="http://schemas.openxmlformats.org/drawingml/2006/main"/>
        </p:blipFill>
        <p:spPr>
          <a:xfrm xmlns:a="http://schemas.openxmlformats.org/drawingml/2006/main">
            <a:off x="1693399" y="1381125"/>
            <a:ext cx="3604552"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0BDA2EE-48CB-4940-88FA-F58EC07A5994}"/>
              </a:ext>
            </a:extLst>
          </p:cNvPr>
          <p:cNvSpPr>
            <a:spLocks xmlns:a="http://schemas.openxmlformats.org/drawingml/2006/main" noGrp="1"/>
          </p:cNvSpPr>
          <p:nvPr/>
        </p:nvSpPr>
        <p:spPr>
          <a:xfrm xmlns:a="http://schemas.openxmlformats.org/drawingml/2006/main">
            <a:off x="7096125" y="1619250"/>
            <a:ext cx="40957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51515"/>
                </a:solidFill>
                <a:latin typeface="Arial"/>
                <a:ea typeface="Arial"/>
                <a:cs typeface="Arial"/>
              </a:defRPr>
            </a:pPr>
            <a:r>
              <a:t>Expanding-window validation</a:t>
            </a:r>
          </a:p>
        </p:txBody>
      </p:sp>
      <p:sp>
        <p:nvSpPr>
          <p:cNvPr id="6" name="">
            <a:extLst xmlns:a="http://schemas.openxmlformats.org/drawingml/2006/main">
              <a:ext uri="{FF2B5EF4-FFF2-40B4-BE49-F238E27FC236}">
                <a16:creationId xmlns:a16="http://schemas.microsoft.com/office/drawing/2014/main" id="{24548772-30AE-4830-9AA8-8EC2A201924D}"/>
              </a:ext>
            </a:extLst>
          </p:cNvPr>
          <p:cNvSpPr>
            <a:spLocks xmlns:a="http://schemas.openxmlformats.org/drawingml/2006/main" noGrp="1"/>
          </p:cNvSpPr>
          <p:nvPr/>
        </p:nvSpPr>
        <p:spPr>
          <a:xfrm xmlns:a="http://schemas.openxmlformats.org/drawingml/2006/main">
            <a:off x="7096125" y="2190750"/>
            <a:ext cx="4095750" cy="714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18 scenarios · Douro
16 scenarios · Vinho Verde</a:t>
            </a:r>
          </a:p>
        </p:txBody>
      </p:sp>
      <p:cxnSp>
        <p:nvCxnSpPr>
          <p:cNvPr id="75" name=""/>
          <p:cNvCxnSpPr/>
          <p:nvPr/>
        </p:nvCxnSpPr>
        <p:spPr>
          <a:xfrm xmlns:a="http://schemas.openxmlformats.org/drawingml/2006/main">
            <a:off x="7096125" y="3143250"/>
            <a:ext cx="4048125" cy="953"/>
          </a:xfrm>
          <a:prstGeom xmlns:a="http://schemas.openxmlformats.org/drawingml/2006/main" prst="straightConnector1">
            <a:avLst/>
          </a:prstGeom>
          <a:ln xmlns:a="http://schemas.openxmlformats.org/drawingml/2006/main" w="9525">
            <a:solidFill>
              <a:srgbClr val="B8BCC4"/>
            </a:solidFill>
            <a:prstDash val="solid"/>
          </a:ln>
        </p:spPr>
      </p:cxnSp>
      <p:sp>
        <p:nvSpPr>
          <p:cNvPr id="8" name="">
            <a:extLst xmlns:a="http://schemas.openxmlformats.org/drawingml/2006/main">
              <a:ext uri="{FF2B5EF4-FFF2-40B4-BE49-F238E27FC236}">
                <a16:creationId xmlns:a16="http://schemas.microsoft.com/office/drawing/2014/main" id="{2FD7EC9F-0650-4FE7-8304-C12DB8F06B85}"/>
              </a:ext>
            </a:extLst>
          </p:cNvPr>
          <p:cNvSpPr>
            <a:spLocks xmlns:a="http://schemas.openxmlformats.org/drawingml/2006/main" noGrp="1"/>
          </p:cNvSpPr>
          <p:nvPr/>
        </p:nvSpPr>
        <p:spPr>
          <a:xfrm xmlns:a="http://schemas.openxmlformats.org/drawingml/2006/main">
            <a:off x="7096125" y="3429000"/>
            <a:ext cx="4095750" cy="523875"/>
          </a:xfrm>
          <a:prstGeom xmlns:a="http://schemas.openxmlformats.org/drawingml/2006/main" prst="rect">
            <a:avLst/>
          </a:prstGeom>
        </p:spPr>
        <p:txBody>
          <a:bodyPr xmlns:a="http://schemas.openxmlformats.org/drawingml/2006/main" lIns="0" tIns="0" rIns="0" bIns="0" anchor="t">
            <a:normAutofit fontScale="99638"/>
          </a:bodyPr>
          <a:lstStyle xmlns:a="http://schemas.openxmlformats.org/drawingml/2006/main"/>
          <a:p xmlns:a="http://schemas.openxmlformats.org/drawingml/2006/main">
            <a:pPr algn="l">
              <a:buNone/>
              <a:defRPr sz="1725" b="1">
                <a:solidFill>
                  <a:srgbClr val="151515"/>
                </a:solidFill>
                <a:latin typeface="Arial"/>
                <a:ea typeface="Arial"/>
                <a:cs typeface="Arial"/>
              </a:defRPr>
            </a:pPr>
            <a:r>
              <a:t>All preprocessing stays inside each training fold:</a:t>
            </a:r>
          </a:p>
        </p:txBody>
      </p:sp>
      <p:sp>
        <p:nvSpPr>
          <p:cNvPr id="9" name="">
            <a:extLst xmlns:a="http://schemas.openxmlformats.org/drawingml/2006/main">
              <a:ext uri="{FF2B5EF4-FFF2-40B4-BE49-F238E27FC236}">
                <a16:creationId xmlns:a16="http://schemas.microsoft.com/office/drawing/2014/main" id="{7D3301BF-604C-4A08-80C1-AF289490CAB4}"/>
              </a:ext>
            </a:extLst>
          </p:cNvPr>
          <p:cNvSpPr>
            <a:spLocks xmlns:a="http://schemas.openxmlformats.org/drawingml/2006/main" noGrp="1"/>
          </p:cNvSpPr>
          <p:nvPr/>
        </p:nvSpPr>
        <p:spPr>
          <a:xfrm xmlns:a="http://schemas.openxmlformats.org/drawingml/2006/main">
            <a:off x="7286625" y="4095750"/>
            <a:ext cx="3619500" cy="1381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a:solidFill>
                  <a:srgbClr val="151515"/>
                </a:solidFill>
                <a:latin typeface="Arial"/>
                <a:ea typeface="Arial"/>
                <a:cs typeface="Arial"/>
              </a:defRPr>
            </a:pPr>
            <a:r>
              <a:t>• detrending
• discretisation
• feature selection
• rule induction</a:t>
            </a:r>
          </a:p>
        </p:txBody>
      </p:sp>
      <p:sp>
        <p:nvSpPr>
          <p:cNvPr id="10" name="">
            <a:extLst xmlns:a="http://schemas.openxmlformats.org/drawingml/2006/main">
              <a:ext uri="{FF2B5EF4-FFF2-40B4-BE49-F238E27FC236}">
                <a16:creationId xmlns:a16="http://schemas.microsoft.com/office/drawing/2014/main" id="{307D82F0-12A7-47D3-8D27-5689A1451592}"/>
              </a:ext>
            </a:extLst>
          </p:cNvPr>
          <p:cNvSpPr>
            <a:spLocks xmlns:a="http://schemas.openxmlformats.org/drawingml/2006/main" noGrp="1"/>
          </p:cNvSpPr>
          <p:nvPr/>
        </p:nvSpPr>
        <p:spPr>
          <a:xfrm xmlns:a="http://schemas.openxmlformats.org/drawingml/2006/main">
            <a:off x="7096125" y="5619750"/>
            <a:ext cx="4095750" cy="4762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B2CCFAD-A5E1-4FA7-815A-522733367088}"/>
              </a:ext>
            </a:extLst>
          </p:cNvPr>
          <p:cNvSpPr>
            <a:spLocks xmlns:a="http://schemas.openxmlformats.org/drawingml/2006/main" noGrp="1"/>
          </p:cNvSpPr>
          <p:nvPr/>
        </p:nvSpPr>
        <p:spPr>
          <a:xfrm xmlns:a="http://schemas.openxmlformats.org/drawingml/2006/main">
            <a:off x="7286625" y="5743575"/>
            <a:ext cx="3762375"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7B1E3A"/>
                </a:solidFill>
                <a:latin typeface="Arial"/>
                <a:ea typeface="Arial"/>
                <a:cs typeface="Arial"/>
              </a:defRPr>
            </a:pPr>
            <a:r>
              <a:t>17 models · weighted MAE · lower is better</a:t>
            </a:r>
          </a:p>
        </p:txBody>
      </p:sp>
      <p:sp>
        <p:nvSpPr>
          <p:cNvPr id="12" name="">
            <a:extLst xmlns:a="http://schemas.openxmlformats.org/drawingml/2006/main">
              <a:ext uri="{FF2B5EF4-FFF2-40B4-BE49-F238E27FC236}">
                <a16:creationId xmlns:a16="http://schemas.microsoft.com/office/drawing/2014/main" id="{0D5C45D3-BDE4-4FC3-BF7E-704A85CA4709}"/>
              </a:ext>
            </a:extLst>
          </p:cNvPr>
          <p:cNvSpPr>
            <a:spLocks xmlns:a="http://schemas.openxmlformats.org/drawingml/2006/main" noGrp="1"/>
          </p:cNvSpPr>
          <p:nvPr/>
        </p:nvSpPr>
        <p:spPr>
          <a:xfrm xmlns:a="http://schemas.openxmlformats.org/drawingml/2006/main">
            <a:off x="7096125" y="6438900"/>
            <a:ext cx="4095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Figure 3.4 and Sections 3.5–3.7</a:t>
            </a:r>
          </a:p>
        </p:txBody>
      </p:sp>
    </p:spTree>
    <p:extLst>
      <p:ext uri="{BB962C8B-B14F-4D97-AF65-F5344CB8AC3E}">
        <p14:creationId xmlns:p14="http://schemas.microsoft.com/office/powerpoint/2010/main" val="65321672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605CB5-20AB-4D1B-A9AB-5BB2D470786E}"/>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RESULTS · PREDICTION</a:t>
            </a:r>
          </a:p>
        </p:txBody>
      </p:sp>
      <p:sp>
        <p:nvSpPr>
          <p:cNvPr id="2" name="">
            <a:extLst xmlns:a="http://schemas.openxmlformats.org/drawingml/2006/main">
              <a:ext uri="{FF2B5EF4-FFF2-40B4-BE49-F238E27FC236}">
                <a16:creationId xmlns:a16="http://schemas.microsoft.com/office/drawing/2014/main" id="{86F4DE52-70EC-45FD-A166-87B23FDA847E}"/>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No rule-based model beats the median overall</a:t>
            </a:r>
          </a:p>
        </p:txBody>
      </p:sp>
      <p:sp>
        <p:nvSpPr>
          <p:cNvPr id="3" name="">
            <a:extLst xmlns:a="http://schemas.openxmlformats.org/drawingml/2006/main">
              <a:ext uri="{FF2B5EF4-FFF2-40B4-BE49-F238E27FC236}">
                <a16:creationId xmlns:a16="http://schemas.microsoft.com/office/drawing/2014/main" id="{762B2E13-1AFD-4F3F-B290-711AE0EBBAE3}"/>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16</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0e0b6f4861a4c50"/>
          <a:stretch xmlns:a="http://schemas.openxmlformats.org/drawingml/2006/main"/>
        </p:blipFill>
        <p:spPr>
          <a:xfrm xmlns:a="http://schemas.openxmlformats.org/drawingml/2006/main">
            <a:off x="400050" y="1666875"/>
            <a:ext cx="5476875" cy="328612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4bf876eb7e047d6"/>
          <a:stretch xmlns:a="http://schemas.openxmlformats.org/drawingml/2006/main"/>
        </p:blipFill>
        <p:spPr>
          <a:xfrm xmlns:a="http://schemas.openxmlformats.org/drawingml/2006/main">
            <a:off x="6305550" y="1666875"/>
            <a:ext cx="5476875" cy="3286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29958E5-E12D-48F2-B7ED-BAE8D85E8083}"/>
              </a:ext>
            </a:extLst>
          </p:cNvPr>
          <p:cNvSpPr>
            <a:spLocks xmlns:a="http://schemas.openxmlformats.org/drawingml/2006/main" noGrp="1"/>
          </p:cNvSpPr>
          <p:nvPr/>
        </p:nvSpPr>
        <p:spPr>
          <a:xfrm xmlns:a="http://schemas.openxmlformats.org/drawingml/2006/main">
            <a:off x="400050" y="5334000"/>
            <a:ext cx="5476875" cy="74295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79431FB-F071-4400-96BA-62F55F67F8A7}"/>
              </a:ext>
            </a:extLst>
          </p:cNvPr>
          <p:cNvSpPr>
            <a:spLocks xmlns:a="http://schemas.openxmlformats.org/drawingml/2006/main" noGrp="1"/>
          </p:cNvSpPr>
          <p:nvPr/>
        </p:nvSpPr>
        <p:spPr>
          <a:xfrm xmlns:a="http://schemas.openxmlformats.org/drawingml/2006/main">
            <a:off x="6305550" y="5334000"/>
            <a:ext cx="5476875" cy="7429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C29F3CB-1785-43A5-94C5-E09D1FE14EA1}"/>
              </a:ext>
            </a:extLst>
          </p:cNvPr>
          <p:cNvSpPr>
            <a:spLocks xmlns:a="http://schemas.openxmlformats.org/drawingml/2006/main" noGrp="1"/>
          </p:cNvSpPr>
          <p:nvPr/>
        </p:nvSpPr>
        <p:spPr>
          <a:xfrm xmlns:a="http://schemas.openxmlformats.org/drawingml/2006/main">
            <a:off x="590550" y="5495925"/>
            <a:ext cx="29527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2B6F9A"/>
                </a:solidFill>
                <a:latin typeface="Arial"/>
                <a:ea typeface="Arial"/>
                <a:cs typeface="Arial"/>
              </a:defRPr>
            </a:pPr>
            <a:r>
              <a:rPr sz="1125" b="1">
                <a:solidFill>
                  <a:srgbClr val="2B6F9A"/>
                </a:solidFill>
                <a:latin typeface="Arial"/>
                <a:ea typeface="Arial"/>
                <a:cs typeface="Arial"/>
              </a:rPr>
              <a:t>RDD · 189 vs 184 mhl</a:t>
            </a:r>
          </a:p>
        </p:txBody>
      </p:sp>
      <p:sp>
        <p:nvSpPr>
          <p:cNvPr id="9" name="">
            <a:extLst xmlns:a="http://schemas.openxmlformats.org/drawingml/2006/main">
              <a:ext uri="{FF2B5EF4-FFF2-40B4-BE49-F238E27FC236}">
                <a16:creationId xmlns:a16="http://schemas.microsoft.com/office/drawing/2014/main" id="{F7696288-430E-497B-8ECE-DB0DFD9AB1CC}"/>
              </a:ext>
            </a:extLst>
          </p:cNvPr>
          <p:cNvSpPr>
            <a:spLocks xmlns:a="http://schemas.openxmlformats.org/drawingml/2006/main" noGrp="1"/>
          </p:cNvSpPr>
          <p:nvPr/>
        </p:nvSpPr>
        <p:spPr>
          <a:xfrm xmlns:a="http://schemas.openxmlformats.org/drawingml/2006/main">
            <a:off x="3638550" y="5524500"/>
            <a:ext cx="20002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60656C"/>
                </a:solidFill>
                <a:latin typeface="Arial"/>
                <a:ea typeface="Arial"/>
                <a:cs typeface="Arial"/>
              </a:defRPr>
            </a:pPr>
            <a:r>
              <a:t>3% worse · p = 0.468</a:t>
            </a:r>
          </a:p>
        </p:txBody>
      </p:sp>
      <p:sp>
        <p:nvSpPr>
          <p:cNvPr id="10" name="">
            <a:extLst xmlns:a="http://schemas.openxmlformats.org/drawingml/2006/main">
              <a:ext uri="{FF2B5EF4-FFF2-40B4-BE49-F238E27FC236}">
                <a16:creationId xmlns:a16="http://schemas.microsoft.com/office/drawing/2014/main" id="{60031810-27B7-4323-A669-8C58F1A4516C}"/>
              </a:ext>
            </a:extLst>
          </p:cNvPr>
          <p:cNvSpPr>
            <a:spLocks xmlns:a="http://schemas.openxmlformats.org/drawingml/2006/main" noGrp="1"/>
          </p:cNvSpPr>
          <p:nvPr/>
        </p:nvSpPr>
        <p:spPr>
          <a:xfrm xmlns:a="http://schemas.openxmlformats.org/drawingml/2006/main">
            <a:off x="6496050" y="5495925"/>
            <a:ext cx="29527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7B1E3A"/>
                </a:solidFill>
                <a:latin typeface="Arial"/>
                <a:ea typeface="Arial"/>
                <a:cs typeface="Arial"/>
              </a:defRPr>
            </a:pPr>
            <a:r>
              <a:t>RVV · 172 vs 140 mhl</a:t>
            </a:r>
          </a:p>
        </p:txBody>
      </p:sp>
      <p:sp>
        <p:nvSpPr>
          <p:cNvPr id="11" name="">
            <a:extLst xmlns:a="http://schemas.openxmlformats.org/drawingml/2006/main">
              <a:ext uri="{FF2B5EF4-FFF2-40B4-BE49-F238E27FC236}">
                <a16:creationId xmlns:a16="http://schemas.microsoft.com/office/drawing/2014/main" id="{435384AE-312E-4498-B684-F42A5ABE91E0}"/>
              </a:ext>
            </a:extLst>
          </p:cNvPr>
          <p:cNvSpPr>
            <a:spLocks xmlns:a="http://schemas.openxmlformats.org/drawingml/2006/main" noGrp="1"/>
          </p:cNvSpPr>
          <p:nvPr/>
        </p:nvSpPr>
        <p:spPr>
          <a:xfrm xmlns:a="http://schemas.openxmlformats.org/drawingml/2006/main">
            <a:off x="9544050" y="5524500"/>
            <a:ext cx="20002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60656C"/>
                </a:solidFill>
                <a:latin typeface="Arial"/>
                <a:ea typeface="Arial"/>
                <a:cs typeface="Arial"/>
              </a:defRPr>
            </a:pPr>
            <a:r>
              <a:t>22% worse · p = 0.004*</a:t>
            </a:r>
          </a:p>
        </p:txBody>
      </p:sp>
      <p:sp>
        <p:nvSpPr>
          <p:cNvPr id="12" name="">
            <a:extLst xmlns:a="http://schemas.openxmlformats.org/drawingml/2006/main">
              <a:ext uri="{FF2B5EF4-FFF2-40B4-BE49-F238E27FC236}">
                <a16:creationId xmlns:a16="http://schemas.microsoft.com/office/drawing/2014/main" id="{1019C283-6EE6-4747-8320-C61995F36CB0}"/>
              </a:ext>
            </a:extLst>
          </p:cNvPr>
          <p:cNvSpPr>
            <a:spLocks xmlns:a="http://schemas.openxmlformats.org/drawingml/2006/main" noGrp="1"/>
          </p:cNvSpPr>
          <p:nvPr/>
        </p:nvSpPr>
        <p:spPr>
          <a:xfrm xmlns:a="http://schemas.openxmlformats.org/drawingml/2006/main">
            <a:off x="6572250" y="6115050"/>
            <a:ext cx="4953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0">
                <a:solidFill>
                  <a:srgbClr val="60656C"/>
                </a:solidFill>
                <a:latin typeface="Arial"/>
                <a:ea typeface="Arial"/>
                <a:cs typeface="Arial"/>
              </a:defRPr>
            </a:pPr>
            <a:r>
              <a:t>*Among the 9 scenarios where RVV rules fired, they significantly harmed prediction.</a:t>
            </a:r>
          </a:p>
        </p:txBody>
      </p:sp>
      <p:sp>
        <p:nvSpPr>
          <p:cNvPr id="13" name="">
            <a:extLst xmlns:a="http://schemas.openxmlformats.org/drawingml/2006/main">
              <a:ext uri="{FF2B5EF4-FFF2-40B4-BE49-F238E27FC236}">
                <a16:creationId xmlns:a16="http://schemas.microsoft.com/office/drawing/2014/main" id="{4A405EFF-371B-4276-9C23-79FB14606311}"/>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Figures 5.1–5.2 and Table 5.6</a:t>
            </a:r>
          </a:p>
        </p:txBody>
      </p:sp>
    </p:spTree>
    <p:extLst>
      <p:ext uri="{BB962C8B-B14F-4D97-AF65-F5344CB8AC3E}">
        <p14:creationId xmlns:p14="http://schemas.microsoft.com/office/powerpoint/2010/main" val="146628996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5D4994E-4F6A-43E2-B4C4-68D09B2342AD}"/>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INTERPRETATION</a:t>
            </a:r>
          </a:p>
        </p:txBody>
      </p:sp>
      <p:sp>
        <p:nvSpPr>
          <p:cNvPr id="2" name="">
            <a:extLst xmlns:a="http://schemas.openxmlformats.org/drawingml/2006/main">
              <a:ext uri="{FF2B5EF4-FFF2-40B4-BE49-F238E27FC236}">
                <a16:creationId xmlns:a16="http://schemas.microsoft.com/office/drawing/2014/main" id="{2AF1F2B7-A092-442F-AB6A-79B1EAE6FACB}"/>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A real association can still be too weak to forecast</a:t>
            </a:r>
          </a:p>
        </p:txBody>
      </p:sp>
      <p:sp>
        <p:nvSpPr>
          <p:cNvPr id="3" name="">
            <a:extLst xmlns:a="http://schemas.openxmlformats.org/drawingml/2006/main">
              <a:ext uri="{FF2B5EF4-FFF2-40B4-BE49-F238E27FC236}">
                <a16:creationId xmlns:a16="http://schemas.microsoft.com/office/drawing/2014/main" id="{CFCF46B5-0A4C-4FD9-865B-509E82D7B73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17</a:t>
            </a:r>
          </a:p>
        </p:txBody>
      </p:sp>
      <p:sp>
        <p:nvSpPr>
          <p:cNvPr id="4" name="">
            <a:extLst xmlns:a="http://schemas.openxmlformats.org/drawingml/2006/main">
              <a:ext uri="{FF2B5EF4-FFF2-40B4-BE49-F238E27FC236}">
                <a16:creationId xmlns:a16="http://schemas.microsoft.com/office/drawing/2014/main" id="{68FE415D-3A05-4B69-A477-7A1CD697F8CF}"/>
              </a:ext>
            </a:extLst>
          </p:cNvPr>
          <p:cNvSpPr>
            <a:spLocks xmlns:a="http://schemas.openxmlformats.org/drawingml/2006/main" noGrp="1"/>
          </p:cNvSpPr>
          <p:nvPr/>
        </p:nvSpPr>
        <p:spPr>
          <a:xfrm xmlns:a="http://schemas.openxmlformats.org/drawingml/2006/main">
            <a:off x="400050" y="1666875"/>
            <a:ext cx="4953000" cy="3714750"/>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F858FC4-7697-4E92-B650-F9EC88121D0B}"/>
              </a:ext>
            </a:extLst>
          </p:cNvPr>
          <p:cNvSpPr>
            <a:spLocks xmlns:a="http://schemas.openxmlformats.org/drawingml/2006/main" noGrp="1"/>
          </p:cNvSpPr>
          <p:nvPr/>
        </p:nvSpPr>
        <p:spPr>
          <a:xfrm xmlns:a="http://schemas.openxmlformats.org/drawingml/2006/main">
            <a:off x="6838950" y="1666875"/>
            <a:ext cx="4953000" cy="37147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B15BA55-1E47-4124-B806-860D0D423CD9}"/>
              </a:ext>
            </a:extLst>
          </p:cNvPr>
          <p:cNvSpPr>
            <a:spLocks xmlns:a="http://schemas.openxmlformats.org/drawingml/2006/main" noGrp="1"/>
          </p:cNvSpPr>
          <p:nvPr/>
        </p:nvSpPr>
        <p:spPr>
          <a:xfrm xmlns:a="http://schemas.openxmlformats.org/drawingml/2006/main">
            <a:off x="714375" y="2000250"/>
            <a:ext cx="1905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166534"/>
                </a:solidFill>
                <a:latin typeface="Arial"/>
                <a:ea typeface="Arial"/>
                <a:cs typeface="Arial"/>
              </a:defRPr>
            </a:pPr>
            <a:r>
              <a:t>DISCOVERY</a:t>
            </a:r>
          </a:p>
        </p:txBody>
      </p:sp>
      <p:sp>
        <p:nvSpPr>
          <p:cNvPr id="7" name="">
            <a:extLst xmlns:a="http://schemas.openxmlformats.org/drawingml/2006/main">
              <a:ext uri="{FF2B5EF4-FFF2-40B4-BE49-F238E27FC236}">
                <a16:creationId xmlns:a16="http://schemas.microsoft.com/office/drawing/2014/main" id="{ABD2F47C-E20D-4F8F-BA12-01689F39A8F7}"/>
              </a:ext>
            </a:extLst>
          </p:cNvPr>
          <p:cNvSpPr>
            <a:spLocks xmlns:a="http://schemas.openxmlformats.org/drawingml/2006/main" noGrp="1"/>
          </p:cNvSpPr>
          <p:nvPr/>
        </p:nvSpPr>
        <p:spPr>
          <a:xfrm xmlns:a="http://schemas.openxmlformats.org/drawingml/2006/main">
            <a:off x="714375" y="2524125"/>
            <a:ext cx="400050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400" b="1">
                <a:solidFill>
                  <a:srgbClr val="151515"/>
                </a:solidFill>
                <a:latin typeface="Arial"/>
                <a:ea typeface="Arial"/>
                <a:cs typeface="Arial"/>
              </a:defRPr>
            </a:pPr>
            <a:r>
              <a:t>Is the subgroup distribution different?</a:t>
            </a:r>
          </a:p>
        </p:txBody>
      </p:sp>
      <p:sp>
        <p:nvSpPr>
          <p:cNvPr id="8" name="">
            <a:extLst xmlns:a="http://schemas.openxmlformats.org/drawingml/2006/main">
              <a:ext uri="{FF2B5EF4-FFF2-40B4-BE49-F238E27FC236}">
                <a16:creationId xmlns:a16="http://schemas.microsoft.com/office/drawing/2014/main" id="{A62D3C7A-A6A7-4A98-9B7F-893F144238A9}"/>
              </a:ext>
            </a:extLst>
          </p:cNvPr>
          <p:cNvSpPr>
            <a:spLocks xmlns:a="http://schemas.openxmlformats.org/drawingml/2006/main" noGrp="1"/>
          </p:cNvSpPr>
          <p:nvPr/>
        </p:nvSpPr>
        <p:spPr>
          <a:xfrm xmlns:a="http://schemas.openxmlformats.org/drawingml/2006/main">
            <a:off x="714375" y="3667125"/>
            <a:ext cx="4000500"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With |r| ≈ 0.47, the association is detectable across 80–89 historical years.</a:t>
            </a:r>
          </a:p>
        </p:txBody>
      </p:sp>
      <p:sp>
        <p:nvSpPr>
          <p:cNvPr id="9" name="">
            <a:extLst xmlns:a="http://schemas.openxmlformats.org/drawingml/2006/main">
              <a:ext uri="{FF2B5EF4-FFF2-40B4-BE49-F238E27FC236}">
                <a16:creationId xmlns:a16="http://schemas.microsoft.com/office/drawing/2014/main" id="{32D7BDE0-AB5B-4F14-9E4C-12A2FBA1347D}"/>
              </a:ext>
            </a:extLst>
          </p:cNvPr>
          <p:cNvSpPr>
            <a:spLocks xmlns:a="http://schemas.openxmlformats.org/drawingml/2006/main" noGrp="1"/>
          </p:cNvSpPr>
          <p:nvPr/>
        </p:nvSpPr>
        <p:spPr>
          <a:xfrm xmlns:a="http://schemas.openxmlformats.org/drawingml/2006/main">
            <a:off x="7143750" y="2000250"/>
            <a:ext cx="1905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PREDICTION</a:t>
            </a:r>
          </a:p>
        </p:txBody>
      </p:sp>
      <p:sp>
        <p:nvSpPr>
          <p:cNvPr id="10" name="">
            <a:extLst xmlns:a="http://schemas.openxmlformats.org/drawingml/2006/main">
              <a:ext uri="{FF2B5EF4-FFF2-40B4-BE49-F238E27FC236}">
                <a16:creationId xmlns:a16="http://schemas.microsoft.com/office/drawing/2014/main" id="{ED0F8BA4-9CCA-4088-BEAF-3B64DBAA0F0B}"/>
              </a:ext>
            </a:extLst>
          </p:cNvPr>
          <p:cNvSpPr>
            <a:spLocks xmlns:a="http://schemas.openxmlformats.org/drawingml/2006/main" noGrp="1"/>
          </p:cNvSpPr>
          <p:nvPr/>
        </p:nvSpPr>
        <p:spPr>
          <a:xfrm xmlns:a="http://schemas.openxmlformats.org/drawingml/2006/main">
            <a:off x="7143750" y="2524125"/>
            <a:ext cx="400050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400" b="1">
                <a:solidFill>
                  <a:srgbClr val="151515"/>
                </a:solidFill>
                <a:latin typeface="Arial"/>
                <a:ea typeface="Arial"/>
                <a:cs typeface="Arial"/>
              </a:defRPr>
            </a:pPr>
            <a:r>
              <a:t>Does the rule reduce future error?</a:t>
            </a:r>
          </a:p>
        </p:txBody>
      </p:sp>
      <p:sp>
        <p:nvSpPr>
          <p:cNvPr id="11" name="">
            <a:extLst xmlns:a="http://schemas.openxmlformats.org/drawingml/2006/main">
              <a:ext uri="{FF2B5EF4-FFF2-40B4-BE49-F238E27FC236}">
                <a16:creationId xmlns:a16="http://schemas.microsoft.com/office/drawing/2014/main" id="{495D3CB3-D4E2-4C4D-A94A-AB2B92029083}"/>
              </a:ext>
            </a:extLst>
          </p:cNvPr>
          <p:cNvSpPr>
            <a:spLocks xmlns:a="http://schemas.openxmlformats.org/drawingml/2006/main" noGrp="1"/>
          </p:cNvSpPr>
          <p:nvPr/>
        </p:nvSpPr>
        <p:spPr>
          <a:xfrm xmlns:a="http://schemas.openxmlformats.org/drawingml/2006/main">
            <a:off x="7143750" y="3667125"/>
            <a:ext cx="4000500"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Climate explains ≈22% of residual variance; ≈78% remains unobserved or noisy.</a:t>
            </a:r>
          </a:p>
        </p:txBody>
      </p:sp>
      <p:sp>
        <p:nvSpPr>
          <p:cNvPr id="12" name="">
            <a:extLst xmlns:a="http://schemas.openxmlformats.org/drawingml/2006/main">
              <a:ext uri="{FF2B5EF4-FFF2-40B4-BE49-F238E27FC236}">
                <a16:creationId xmlns:a16="http://schemas.microsoft.com/office/drawing/2014/main" id="{F5220AB4-C167-418C-B472-E1849859BD37}"/>
              </a:ext>
            </a:extLst>
          </p:cNvPr>
          <p:cNvSpPr>
            <a:spLocks xmlns:a="http://schemas.openxmlformats.org/drawingml/2006/main" noGrp="1"/>
          </p:cNvSpPr>
          <p:nvPr/>
        </p:nvSpPr>
        <p:spPr>
          <a:xfrm xmlns:a="http://schemas.openxmlformats.org/drawingml/2006/main">
            <a:off x="5667375" y="2952750"/>
            <a:ext cx="85725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650" b="1">
                <a:solidFill>
                  <a:srgbClr val="7B1E3A"/>
                </a:solidFill>
                <a:latin typeface="Arial"/>
                <a:ea typeface="Arial"/>
                <a:cs typeface="Arial"/>
              </a:defRPr>
            </a:pPr>
            <a:r>
              <a:t>≠</a:t>
            </a:r>
          </a:p>
        </p:txBody>
      </p:sp>
      <p:sp>
        <p:nvSpPr>
          <p:cNvPr id="13" name="">
            <a:extLst xmlns:a="http://schemas.openxmlformats.org/drawingml/2006/main">
              <a:ext uri="{FF2B5EF4-FFF2-40B4-BE49-F238E27FC236}">
                <a16:creationId xmlns:a16="http://schemas.microsoft.com/office/drawing/2014/main" id="{E88905DB-DEB9-43D4-9DD5-279DF88602FB}"/>
              </a:ext>
            </a:extLst>
          </p:cNvPr>
          <p:cNvSpPr>
            <a:spLocks xmlns:a="http://schemas.openxmlformats.org/drawingml/2006/main" noGrp="1"/>
          </p:cNvSpPr>
          <p:nvPr/>
        </p:nvSpPr>
        <p:spPr>
          <a:xfrm xmlns:a="http://schemas.openxmlformats.org/drawingml/2006/main">
            <a:off x="400050" y="5667375"/>
            <a:ext cx="11382375"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250" b="1">
                <a:solidFill>
                  <a:srgbClr val="151515"/>
                </a:solidFill>
                <a:latin typeface="Arial"/>
                <a:ea typeface="Arial"/>
                <a:cs typeface="Arial"/>
              </a:defRPr>
            </a:pPr>
            <a:r>
              <a:t>Pattern discovery and forecasting answer different questions.</a:t>
            </a:r>
          </a:p>
        </p:txBody>
      </p:sp>
      <p:sp>
        <p:nvSpPr>
          <p:cNvPr id="14" name="">
            <a:extLst xmlns:a="http://schemas.openxmlformats.org/drawingml/2006/main">
              <a:ext uri="{FF2B5EF4-FFF2-40B4-BE49-F238E27FC236}">
                <a16:creationId xmlns:a16="http://schemas.microsoft.com/office/drawing/2014/main" id="{2C9C0AE4-2B49-4421-8A31-BFCEB8347C51}"/>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 6.1</a:t>
            </a:r>
          </a:p>
        </p:txBody>
      </p:sp>
    </p:spTree>
    <p:extLst>
      <p:ext uri="{BB962C8B-B14F-4D97-AF65-F5344CB8AC3E}">
        <p14:creationId xmlns:p14="http://schemas.microsoft.com/office/powerpoint/2010/main" val="61161766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DA36BE4-BBFE-4D78-9BF5-98D11E0943F9}"/>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TWO-DECISION FRAMEWORK</a:t>
            </a:r>
          </a:p>
        </p:txBody>
      </p:sp>
      <p:sp>
        <p:nvSpPr>
          <p:cNvPr id="2" name="">
            <a:extLst xmlns:a="http://schemas.openxmlformats.org/drawingml/2006/main">
              <a:ext uri="{FF2B5EF4-FFF2-40B4-BE49-F238E27FC236}">
                <a16:creationId xmlns:a16="http://schemas.microsoft.com/office/drawing/2014/main" id="{13CDC068-9A32-407A-81A1-44024A380F1D}"/>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Better detrending can remove the signal rules need</a:t>
            </a:r>
          </a:p>
        </p:txBody>
      </p:sp>
      <p:sp>
        <p:nvSpPr>
          <p:cNvPr id="3" name="">
            <a:extLst xmlns:a="http://schemas.openxmlformats.org/drawingml/2006/main">
              <a:ext uri="{FF2B5EF4-FFF2-40B4-BE49-F238E27FC236}">
                <a16:creationId xmlns:a16="http://schemas.microsoft.com/office/drawing/2014/main" id="{2ED82AF7-6AA3-482D-95DC-8364A610DE8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18</a:t>
            </a:r>
          </a:p>
        </p:txBody>
      </p:sp>
      <p:sp>
        <p:nvSpPr>
          <p:cNvPr id="4" name="">
            <a:extLst xmlns:a="http://schemas.openxmlformats.org/drawingml/2006/main">
              <a:ext uri="{FF2B5EF4-FFF2-40B4-BE49-F238E27FC236}">
                <a16:creationId xmlns:a16="http://schemas.microsoft.com/office/drawing/2014/main" id="{ABE4EAA8-3F1D-4885-971E-2323BF8B9304}"/>
              </a:ext>
            </a:extLst>
          </p:cNvPr>
          <p:cNvSpPr>
            <a:spLocks xmlns:a="http://schemas.openxmlformats.org/drawingml/2006/main" noGrp="1"/>
          </p:cNvSpPr>
          <p:nvPr/>
        </p:nvSpPr>
        <p:spPr>
          <a:xfrm xmlns:a="http://schemas.openxmlformats.org/drawingml/2006/main">
            <a:off x="400050" y="1666875"/>
            <a:ext cx="4762500" cy="342900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783656E-A5A6-4F0F-9CF1-EF641DADE2F2}"/>
              </a:ext>
            </a:extLst>
          </p:cNvPr>
          <p:cNvSpPr>
            <a:spLocks xmlns:a="http://schemas.openxmlformats.org/drawingml/2006/main" noGrp="1"/>
          </p:cNvSpPr>
          <p:nvPr/>
        </p:nvSpPr>
        <p:spPr>
          <a:xfrm xmlns:a="http://schemas.openxmlformats.org/drawingml/2006/main">
            <a:off x="7029450" y="1666875"/>
            <a:ext cx="4762500" cy="3429000"/>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9CC2023-DDFD-43CD-8AFC-9E49B38753E1}"/>
              </a:ext>
            </a:extLst>
          </p:cNvPr>
          <p:cNvSpPr>
            <a:spLocks xmlns:a="http://schemas.openxmlformats.org/drawingml/2006/main" noGrp="1"/>
          </p:cNvSpPr>
          <p:nvPr/>
        </p:nvSpPr>
        <p:spPr>
          <a:xfrm xmlns:a="http://schemas.openxmlformats.org/drawingml/2006/main">
            <a:off x="714375" y="2000250"/>
            <a:ext cx="18097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563A6"/>
                </a:solidFill>
                <a:latin typeface="Arial"/>
                <a:ea typeface="Arial"/>
                <a:cs typeface="Arial"/>
              </a:defRPr>
            </a:pPr>
            <a:r>
              <a:t>DECISION 1</a:t>
            </a:r>
          </a:p>
        </p:txBody>
      </p:sp>
      <p:sp>
        <p:nvSpPr>
          <p:cNvPr id="7" name="">
            <a:extLst xmlns:a="http://schemas.openxmlformats.org/drawingml/2006/main">
              <a:ext uri="{FF2B5EF4-FFF2-40B4-BE49-F238E27FC236}">
                <a16:creationId xmlns:a16="http://schemas.microsoft.com/office/drawing/2014/main" id="{D56E2102-19C6-4BE8-B9CE-7A16B4C5C29A}"/>
              </a:ext>
            </a:extLst>
          </p:cNvPr>
          <p:cNvSpPr>
            <a:spLocks xmlns:a="http://schemas.openxmlformats.org/drawingml/2006/main" noGrp="1"/>
          </p:cNvSpPr>
          <p:nvPr/>
        </p:nvSpPr>
        <p:spPr>
          <a:xfrm xmlns:a="http://schemas.openxmlformats.org/drawingml/2006/main">
            <a:off x="714375" y="2476500"/>
            <a:ext cx="3714750" cy="685800"/>
          </a:xfrm>
          <a:prstGeom xmlns:a="http://schemas.openxmlformats.org/drawingml/2006/main" prst="rect">
            <a:avLst/>
          </a:prstGeom>
        </p:spPr>
        <p:txBody>
          <a:bodyPr xmlns:a="http://schemas.openxmlformats.org/drawingml/2006/main" lIns="0" tIns="0" rIns="0" bIns="0" anchor="t">
            <a:normAutofit fontScale="98830"/>
          </a:bodyPr>
          <a:lstStyle xmlns:a="http://schemas.openxmlformats.org/drawingml/2006/main"/>
          <a:p xmlns:a="http://schemas.openxmlformats.org/drawingml/2006/main">
            <a:pPr algn="l">
              <a:buNone/>
              <a:defRPr sz="2400" b="1">
                <a:solidFill>
                  <a:srgbClr val="151515"/>
                </a:solidFill>
                <a:latin typeface="Arial"/>
                <a:ea typeface="Arial"/>
                <a:cs typeface="Arial"/>
              </a:defRPr>
            </a:pPr>
            <a:r>
              <a:t>Model the structural trend</a:t>
            </a:r>
          </a:p>
        </p:txBody>
      </p:sp>
      <p:sp>
        <p:nvSpPr>
          <p:cNvPr id="8" name="">
            <a:extLst xmlns:a="http://schemas.openxmlformats.org/drawingml/2006/main">
              <a:ext uri="{FF2B5EF4-FFF2-40B4-BE49-F238E27FC236}">
                <a16:creationId xmlns:a16="http://schemas.microsoft.com/office/drawing/2014/main" id="{90BA25DB-8DBA-4BD2-BCE3-0F4454BEEDF7}"/>
              </a:ext>
            </a:extLst>
          </p:cNvPr>
          <p:cNvSpPr>
            <a:spLocks xmlns:a="http://schemas.openxmlformats.org/drawingml/2006/main" noGrp="1"/>
          </p:cNvSpPr>
          <p:nvPr/>
        </p:nvSpPr>
        <p:spPr>
          <a:xfrm xmlns:a="http://schemas.openxmlformats.org/drawingml/2006/main">
            <a:off x="714375" y="3429000"/>
            <a:ext cx="3714750"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A better trend leaves smaller test residuals and lowers the naive error floor.</a:t>
            </a:r>
          </a:p>
        </p:txBody>
      </p:sp>
      <p:sp>
        <p:nvSpPr>
          <p:cNvPr id="9" name="">
            <a:extLst xmlns:a="http://schemas.openxmlformats.org/drawingml/2006/main">
              <a:ext uri="{FF2B5EF4-FFF2-40B4-BE49-F238E27FC236}">
                <a16:creationId xmlns:a16="http://schemas.microsoft.com/office/drawing/2014/main" id="{3A299B93-7944-4C4C-B32B-21C95F25E543}"/>
              </a:ext>
            </a:extLst>
          </p:cNvPr>
          <p:cNvSpPr>
            <a:spLocks xmlns:a="http://schemas.openxmlformats.org/drawingml/2006/main" noGrp="1"/>
          </p:cNvSpPr>
          <p:nvPr/>
        </p:nvSpPr>
        <p:spPr>
          <a:xfrm xmlns:a="http://schemas.openxmlformats.org/drawingml/2006/main">
            <a:off x="7334250" y="2000250"/>
            <a:ext cx="18097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166534"/>
                </a:solidFill>
                <a:latin typeface="Arial"/>
                <a:ea typeface="Arial"/>
                <a:cs typeface="Arial"/>
              </a:defRPr>
            </a:pPr>
            <a:r>
              <a:t>DECISION 2</a:t>
            </a:r>
          </a:p>
        </p:txBody>
      </p:sp>
      <p:sp>
        <p:nvSpPr>
          <p:cNvPr id="10" name="">
            <a:extLst xmlns:a="http://schemas.openxmlformats.org/drawingml/2006/main">
              <a:ext uri="{FF2B5EF4-FFF2-40B4-BE49-F238E27FC236}">
                <a16:creationId xmlns:a16="http://schemas.microsoft.com/office/drawing/2014/main" id="{F61CD3D5-D969-4F52-9349-0C38FA89F7F4}"/>
              </a:ext>
            </a:extLst>
          </p:cNvPr>
          <p:cNvSpPr>
            <a:spLocks xmlns:a="http://schemas.openxmlformats.org/drawingml/2006/main" noGrp="1"/>
          </p:cNvSpPr>
          <p:nvPr/>
        </p:nvSpPr>
        <p:spPr>
          <a:xfrm xmlns:a="http://schemas.openxmlformats.org/drawingml/2006/main">
            <a:off x="7334250" y="2476500"/>
            <a:ext cx="3714750" cy="685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400" b="1">
                <a:solidFill>
                  <a:srgbClr val="151515"/>
                </a:solidFill>
                <a:latin typeface="Arial"/>
                <a:ea typeface="Arial"/>
                <a:cs typeface="Arial"/>
              </a:defRPr>
            </a:pPr>
            <a:r>
              <a:t>Extract climate signal</a:t>
            </a:r>
          </a:p>
        </p:txBody>
      </p:sp>
      <p:sp>
        <p:nvSpPr>
          <p:cNvPr id="11" name="">
            <a:extLst xmlns:a="http://schemas.openxmlformats.org/drawingml/2006/main">
              <a:ext uri="{FF2B5EF4-FFF2-40B4-BE49-F238E27FC236}">
                <a16:creationId xmlns:a16="http://schemas.microsoft.com/office/drawing/2014/main" id="{972A5F92-F952-4540-A40F-1F6E892D0539}"/>
              </a:ext>
            </a:extLst>
          </p:cNvPr>
          <p:cNvSpPr>
            <a:spLocks xmlns:a="http://schemas.openxmlformats.org/drawingml/2006/main" noGrp="1"/>
          </p:cNvSpPr>
          <p:nvPr/>
        </p:nvSpPr>
        <p:spPr>
          <a:xfrm xmlns:a="http://schemas.openxmlformats.org/drawingml/2006/main">
            <a:off x="7334250" y="3429000"/>
            <a:ext cx="3714750"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Stable rules need residual structure that is large enough to detect and exploit.</a:t>
            </a:r>
          </a:p>
        </p:txBody>
      </p:sp>
      <p:cxnSp>
        <p:nvCxnSpPr>
          <p:cNvPr id="112" name=""/>
          <p:cNvCxnSpPr/>
          <p:nvPr/>
        </p:nvCxnSpPr>
        <p:spPr>
          <a:xfrm xmlns:a="http://schemas.openxmlformats.org/drawingml/2006/main">
            <a:off x="5162550" y="3381375"/>
            <a:ext cx="1866900" cy="953"/>
          </a:xfrm>
          <a:prstGeom xmlns:a="http://schemas.openxmlformats.org/drawingml/2006/main" prst="straightConnector1">
            <a:avLst/>
          </a:prstGeom>
          <a:ln xmlns:a="http://schemas.openxmlformats.org/drawingml/2006/main" w="57150">
            <a:solidFill>
              <a:srgbClr val="7B1E3A"/>
            </a:solidFill>
            <a:prstDash val="solid"/>
          </a:ln>
        </p:spPr>
      </p:cxnSp>
      <p:sp>
        <p:nvSpPr>
          <p:cNvPr id="13" name="">
            <a:extLst xmlns:a="http://schemas.openxmlformats.org/drawingml/2006/main">
              <a:ext uri="{FF2B5EF4-FFF2-40B4-BE49-F238E27FC236}">
                <a16:creationId xmlns:a16="http://schemas.microsoft.com/office/drawing/2014/main" id="{40EBAFC5-D944-4E0E-9F2B-45BB9E5596FD}"/>
              </a:ext>
            </a:extLst>
          </p:cNvPr>
          <p:cNvSpPr>
            <a:spLocks xmlns:a="http://schemas.openxmlformats.org/drawingml/2006/main" noGrp="1"/>
          </p:cNvSpPr>
          <p:nvPr/>
        </p:nvSpPr>
        <p:spPr>
          <a:xfrm xmlns:a="http://schemas.openxmlformats.org/drawingml/2006/main">
            <a:off x="5429250" y="2857500"/>
            <a:ext cx="13335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TENSION</a:t>
            </a:r>
          </a:p>
        </p:txBody>
      </p:sp>
      <p:sp>
        <p:nvSpPr>
          <p:cNvPr id="14" name="">
            <a:extLst xmlns:a="http://schemas.openxmlformats.org/drawingml/2006/main">
              <a:ext uri="{FF2B5EF4-FFF2-40B4-BE49-F238E27FC236}">
                <a16:creationId xmlns:a16="http://schemas.microsoft.com/office/drawing/2014/main" id="{BCF4F414-7897-4DD7-82FE-436AD013DBD6}"/>
              </a:ext>
            </a:extLst>
          </p:cNvPr>
          <p:cNvSpPr>
            <a:spLocks xmlns:a="http://schemas.openxmlformats.org/drawingml/2006/main" noGrp="1"/>
          </p:cNvSpPr>
          <p:nvPr/>
        </p:nvSpPr>
        <p:spPr>
          <a:xfrm xmlns:a="http://schemas.openxmlformats.org/drawingml/2006/main">
            <a:off x="1219200" y="5476875"/>
            <a:ext cx="97536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a:solidFill>
                  <a:srgbClr val="7B1E3A"/>
                </a:solidFill>
                <a:latin typeface="Arial"/>
                <a:ea typeface="Arial"/>
                <a:cs typeface="Arial"/>
              </a:defRPr>
            </a:pPr>
            <a:r>
              <a:t>RVV LOESS: baseline improves 140 → 90 mhl, but rule induction falls to zero.</a:t>
            </a:r>
          </a:p>
        </p:txBody>
      </p:sp>
      <p:sp>
        <p:nvSpPr>
          <p:cNvPr id="15" name="">
            <a:extLst xmlns:a="http://schemas.openxmlformats.org/drawingml/2006/main">
              <a:ext uri="{FF2B5EF4-FFF2-40B4-BE49-F238E27FC236}">
                <a16:creationId xmlns:a16="http://schemas.microsoft.com/office/drawing/2014/main" id="{FE602A9B-5310-4527-BA9F-8C1CC7606304}"/>
              </a:ext>
            </a:extLst>
          </p:cNvPr>
          <p:cNvSpPr>
            <a:spLocks xmlns:a="http://schemas.openxmlformats.org/drawingml/2006/main" noGrp="1"/>
          </p:cNvSpPr>
          <p:nvPr/>
        </p:nvSpPr>
        <p:spPr>
          <a:xfrm xmlns:a="http://schemas.openxmlformats.org/drawingml/2006/main">
            <a:off x="1619250" y="6000750"/>
            <a:ext cx="8953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650" b="0">
                <a:solidFill>
                  <a:srgbClr val="60656C"/>
                </a:solidFill>
                <a:latin typeface="Arial"/>
                <a:ea typeface="Arial"/>
                <a:cs typeface="Arial"/>
              </a:defRPr>
            </a:pPr>
            <a:r>
              <a:t>Time alone cannot cleanly separate industry structure from climate.</a:t>
            </a:r>
          </a:p>
        </p:txBody>
      </p:sp>
      <p:sp>
        <p:nvSpPr>
          <p:cNvPr id="16" name="">
            <a:extLst xmlns:a="http://schemas.openxmlformats.org/drawingml/2006/main">
              <a:ext uri="{FF2B5EF4-FFF2-40B4-BE49-F238E27FC236}">
                <a16:creationId xmlns:a16="http://schemas.microsoft.com/office/drawing/2014/main" id="{706F687E-3FA8-47D4-A958-8DEC03860CF5}"/>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3.3, 5.5 and 6.2</a:t>
            </a:r>
          </a:p>
        </p:txBody>
      </p:sp>
    </p:spTree>
    <p:extLst>
      <p:ext uri="{BB962C8B-B14F-4D97-AF65-F5344CB8AC3E}">
        <p14:creationId xmlns:p14="http://schemas.microsoft.com/office/powerpoint/2010/main" val="29444304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B8B3CCD-BBF6-4A7D-97D7-9DEC88DDD7D9}"/>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CONTRIBUTION</a:t>
            </a:r>
          </a:p>
        </p:txBody>
      </p:sp>
      <p:sp>
        <p:nvSpPr>
          <p:cNvPr id="2" name="">
            <a:extLst xmlns:a="http://schemas.openxmlformats.org/drawingml/2006/main">
              <a:ext uri="{FF2B5EF4-FFF2-40B4-BE49-F238E27FC236}">
                <a16:creationId xmlns:a16="http://schemas.microsoft.com/office/drawing/2014/main" id="{0451F646-B2AD-4DBF-B76F-CCB6056254D1}"/>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78809"/>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contribution is a diagnostic framework, not a winning forecast</a:t>
            </a:r>
          </a:p>
        </p:txBody>
      </p:sp>
      <p:sp>
        <p:nvSpPr>
          <p:cNvPr id="3" name="">
            <a:extLst xmlns:a="http://schemas.openxmlformats.org/drawingml/2006/main">
              <a:ext uri="{FF2B5EF4-FFF2-40B4-BE49-F238E27FC236}">
                <a16:creationId xmlns:a16="http://schemas.microsoft.com/office/drawing/2014/main" id="{194F60FB-3BB7-4394-BD64-7888EDFE442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19</a:t>
            </a:r>
          </a:p>
        </p:txBody>
      </p:sp>
      <p:sp>
        <p:nvSpPr>
          <p:cNvPr id="4" name="">
            <a:extLst xmlns:a="http://schemas.openxmlformats.org/drawingml/2006/main">
              <a:ext uri="{FF2B5EF4-FFF2-40B4-BE49-F238E27FC236}">
                <a16:creationId xmlns:a16="http://schemas.microsoft.com/office/drawing/2014/main" id="{F0FE3B55-C9E2-452F-A5D2-90C418208741}"/>
              </a:ext>
            </a:extLst>
          </p:cNvPr>
          <p:cNvSpPr>
            <a:spLocks xmlns:a="http://schemas.openxmlformats.org/drawingml/2006/main" noGrp="1"/>
          </p:cNvSpPr>
          <p:nvPr/>
        </p:nvSpPr>
        <p:spPr>
          <a:xfrm xmlns:a="http://schemas.openxmlformats.org/drawingml/2006/main">
            <a:off x="400050" y="1476375"/>
            <a:ext cx="11391900" cy="1095375"/>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08C77BD-B1FA-42A9-BFF2-4F2F3D486305}"/>
              </a:ext>
            </a:extLst>
          </p:cNvPr>
          <p:cNvSpPr>
            <a:spLocks xmlns:a="http://schemas.openxmlformats.org/drawingml/2006/main" noGrp="1"/>
          </p:cNvSpPr>
          <p:nvPr/>
        </p:nvSpPr>
        <p:spPr>
          <a:xfrm xmlns:a="http://schemas.openxmlformats.org/drawingml/2006/main">
            <a:off x="666750" y="1733550"/>
            <a:ext cx="19050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7B1E3A"/>
                </a:solidFill>
                <a:latin typeface="Arial"/>
                <a:ea typeface="Arial"/>
                <a:cs typeface="Arial"/>
              </a:defRPr>
            </a:pPr>
            <a:r>
              <a:t>For the field</a:t>
            </a:r>
          </a:p>
        </p:txBody>
      </p:sp>
      <p:sp>
        <p:nvSpPr>
          <p:cNvPr id="6" name="">
            <a:extLst xmlns:a="http://schemas.openxmlformats.org/drawingml/2006/main">
              <a:ext uri="{FF2B5EF4-FFF2-40B4-BE49-F238E27FC236}">
                <a16:creationId xmlns:a16="http://schemas.microsoft.com/office/drawing/2014/main" id="{ADFB01BD-348F-4839-88F5-DB2AB966025A}"/>
              </a:ext>
            </a:extLst>
          </p:cNvPr>
          <p:cNvSpPr>
            <a:spLocks xmlns:a="http://schemas.openxmlformats.org/drawingml/2006/main" noGrp="1"/>
          </p:cNvSpPr>
          <p:nvPr/>
        </p:nvSpPr>
        <p:spPr>
          <a:xfrm xmlns:a="http://schemas.openxmlformats.org/drawingml/2006/main">
            <a:off x="2714625" y="1676400"/>
            <a:ext cx="8572500" cy="619125"/>
          </a:xfrm>
          <a:prstGeom xmlns:a="http://schemas.openxmlformats.org/drawingml/2006/main" prst="rect">
            <a:avLst/>
          </a:prstGeom>
        </p:spPr>
        <p:txBody>
          <a:bodyPr xmlns:a="http://schemas.openxmlformats.org/drawingml/2006/main" lIns="0" tIns="0" rIns="0" bIns="0" anchor="t">
            <a:normAutofit fontScale="96726"/>
          </a:bodyPr>
          <a:lstStyle xmlns:a="http://schemas.openxmlformats.org/drawingml/2006/main"/>
          <a:p xmlns:a="http://schemas.openxmlformats.org/drawingml/2006/main">
            <a:pPr algn="l">
              <a:buNone/>
              <a:defRPr sz="2100" b="1">
                <a:solidFill>
                  <a:srgbClr val="151515"/>
                </a:solidFill>
                <a:latin typeface="Arial"/>
                <a:ea typeface="Arial"/>
                <a:cs typeface="Arial"/>
              </a:defRPr>
            </a:pPr>
            <a:r>
              <a:t>Separates discovery from prediction and decomposes failure into trend quality versus residual-signal extraction.</a:t>
            </a:r>
          </a:p>
        </p:txBody>
      </p:sp>
      <p:sp>
        <p:nvSpPr>
          <p:cNvPr id="7" name="">
            <a:extLst xmlns:a="http://schemas.openxmlformats.org/drawingml/2006/main">
              <a:ext uri="{FF2B5EF4-FFF2-40B4-BE49-F238E27FC236}">
                <a16:creationId xmlns:a16="http://schemas.microsoft.com/office/drawing/2014/main" id="{5BEEE4EF-77AE-4A6E-A862-5F43887DF8E7}"/>
              </a:ext>
            </a:extLst>
          </p:cNvPr>
          <p:cNvSpPr>
            <a:spLocks xmlns:a="http://schemas.openxmlformats.org/drawingml/2006/main" noGrp="1"/>
          </p:cNvSpPr>
          <p:nvPr/>
        </p:nvSpPr>
        <p:spPr>
          <a:xfrm xmlns:a="http://schemas.openxmlformats.org/drawingml/2006/main">
            <a:off x="400050" y="2857500"/>
            <a:ext cx="3562350" cy="25717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340441E-D4D3-472D-85DA-921CDF437656}"/>
              </a:ext>
            </a:extLst>
          </p:cNvPr>
          <p:cNvSpPr>
            <a:spLocks xmlns:a="http://schemas.openxmlformats.org/drawingml/2006/main" noGrp="1"/>
          </p:cNvSpPr>
          <p:nvPr/>
        </p:nvSpPr>
        <p:spPr>
          <a:xfrm xmlns:a="http://schemas.openxmlformats.org/drawingml/2006/main">
            <a:off x="4314825" y="2857500"/>
            <a:ext cx="3562350" cy="25717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A44E28D-30B2-430E-8230-0199511556CE}"/>
              </a:ext>
            </a:extLst>
          </p:cNvPr>
          <p:cNvSpPr>
            <a:spLocks xmlns:a="http://schemas.openxmlformats.org/drawingml/2006/main" noGrp="1"/>
          </p:cNvSpPr>
          <p:nvPr/>
        </p:nvSpPr>
        <p:spPr>
          <a:xfrm xmlns:a="http://schemas.openxmlformats.org/drawingml/2006/main">
            <a:off x="8229600" y="2857500"/>
            <a:ext cx="3562350" cy="25717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7CE255A-0E63-469B-9A1A-6760CFA843FA}"/>
              </a:ext>
            </a:extLst>
          </p:cNvPr>
          <p:cNvSpPr>
            <a:spLocks xmlns:a="http://schemas.openxmlformats.org/drawingml/2006/main" noGrp="1"/>
          </p:cNvSpPr>
          <p:nvPr/>
        </p:nvSpPr>
        <p:spPr>
          <a:xfrm xmlns:a="http://schemas.openxmlformats.org/drawingml/2006/main">
            <a:off x="666750" y="3143250"/>
            <a:ext cx="28575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151515"/>
                </a:solidFill>
                <a:latin typeface="Arial"/>
                <a:ea typeface="Arial"/>
                <a:cs typeface="Arial"/>
              </a:defRPr>
            </a:pPr>
            <a:r>
              <a:t>Robust discovery</a:t>
            </a:r>
          </a:p>
        </p:txBody>
      </p:sp>
      <p:sp>
        <p:nvSpPr>
          <p:cNvPr id="11" name="">
            <a:extLst xmlns:a="http://schemas.openxmlformats.org/drawingml/2006/main">
              <a:ext uri="{FF2B5EF4-FFF2-40B4-BE49-F238E27FC236}">
                <a16:creationId xmlns:a16="http://schemas.microsoft.com/office/drawing/2014/main" id="{E52D578C-ED9E-435A-B32F-A6DC24DEDE39}"/>
              </a:ext>
            </a:extLst>
          </p:cNvPr>
          <p:cNvSpPr>
            <a:spLocks xmlns:a="http://schemas.openxmlformats.org/drawingml/2006/main" noGrp="1"/>
          </p:cNvSpPr>
          <p:nvPr/>
        </p:nvSpPr>
        <p:spPr>
          <a:xfrm xmlns:a="http://schemas.openxmlformats.org/drawingml/2006/main">
            <a:off x="666750" y="3762375"/>
            <a:ext cx="2857500" cy="1047750"/>
          </a:xfrm>
          <a:prstGeom xmlns:a="http://schemas.openxmlformats.org/drawingml/2006/main" prst="rect">
            <a:avLst/>
          </a:prstGeom>
        </p:spPr>
        <p:txBody>
          <a:bodyPr xmlns:a="http://schemas.openxmlformats.org/drawingml/2006/main" lIns="0" tIns="0" rIns="0" bIns="0" anchor="t">
            <a:normAutofit fontScale="99638"/>
          </a:bodyPr>
          <a:lstStyle xmlns:a="http://schemas.openxmlformats.org/drawingml/2006/main"/>
          <a:p xmlns:a="http://schemas.openxmlformats.org/drawingml/2006/main">
            <a:pPr algn="l">
              <a:buNone/>
              <a:defRPr sz="1725" b="0">
                <a:solidFill>
                  <a:srgbClr val="151515"/>
                </a:solidFill>
                <a:latin typeface="Arial"/>
                <a:ea typeface="Arial"/>
                <a:cs typeface="Arial"/>
              </a:defRPr>
            </a:pPr>
            <a:r>
              <a:t>LOESS and cross-algorithm checks separate stable climate signals from era-linked structure.</a:t>
            </a:r>
          </a:p>
        </p:txBody>
      </p:sp>
      <p:sp>
        <p:nvSpPr>
          <p:cNvPr id="12" name="">
            <a:extLst xmlns:a="http://schemas.openxmlformats.org/drawingml/2006/main">
              <a:ext uri="{FF2B5EF4-FFF2-40B4-BE49-F238E27FC236}">
                <a16:creationId xmlns:a16="http://schemas.microsoft.com/office/drawing/2014/main" id="{DE812136-7E24-47A4-B38A-8044E4F5D8E2}"/>
              </a:ext>
            </a:extLst>
          </p:cNvPr>
          <p:cNvSpPr>
            <a:spLocks xmlns:a="http://schemas.openxmlformats.org/drawingml/2006/main" noGrp="1"/>
          </p:cNvSpPr>
          <p:nvPr/>
        </p:nvSpPr>
        <p:spPr>
          <a:xfrm xmlns:a="http://schemas.openxmlformats.org/drawingml/2006/main">
            <a:off x="4581525" y="3143250"/>
            <a:ext cx="28575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151515"/>
                </a:solidFill>
                <a:latin typeface="Arial"/>
                <a:ea typeface="Arial"/>
                <a:cs typeface="Arial"/>
              </a:defRPr>
            </a:pPr>
            <a:r>
              <a:t>Honest evaluation</a:t>
            </a:r>
          </a:p>
        </p:txBody>
      </p:sp>
      <p:sp>
        <p:nvSpPr>
          <p:cNvPr id="13" name="">
            <a:extLst xmlns:a="http://schemas.openxmlformats.org/drawingml/2006/main">
              <a:ext uri="{FF2B5EF4-FFF2-40B4-BE49-F238E27FC236}">
                <a16:creationId xmlns:a16="http://schemas.microsoft.com/office/drawing/2014/main" id="{A1A20911-81BE-4313-A765-8CCC45847E8F}"/>
              </a:ext>
            </a:extLst>
          </p:cNvPr>
          <p:cNvSpPr>
            <a:spLocks xmlns:a="http://schemas.openxmlformats.org/drawingml/2006/main" noGrp="1"/>
          </p:cNvSpPr>
          <p:nvPr/>
        </p:nvSpPr>
        <p:spPr>
          <a:xfrm xmlns:a="http://schemas.openxmlformats.org/drawingml/2006/main">
            <a:off x="4581525" y="3762375"/>
            <a:ext cx="2857500"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0">
                <a:solidFill>
                  <a:srgbClr val="151515"/>
                </a:solidFill>
                <a:latin typeface="Arial"/>
                <a:ea typeface="Arial"/>
                <a:cs typeface="Arial"/>
              </a:defRPr>
            </a:pPr>
            <a:r>
              <a:t>Walk-forward testing shows when historically valid rules fail prospectively.</a:t>
            </a:r>
          </a:p>
        </p:txBody>
      </p:sp>
      <p:sp>
        <p:nvSpPr>
          <p:cNvPr id="14" name="">
            <a:extLst xmlns:a="http://schemas.openxmlformats.org/drawingml/2006/main">
              <a:ext uri="{FF2B5EF4-FFF2-40B4-BE49-F238E27FC236}">
                <a16:creationId xmlns:a16="http://schemas.microsoft.com/office/drawing/2014/main" id="{0478F694-D44F-4A1F-B704-D6083CB098E0}"/>
              </a:ext>
            </a:extLst>
          </p:cNvPr>
          <p:cNvSpPr>
            <a:spLocks xmlns:a="http://schemas.openxmlformats.org/drawingml/2006/main" noGrp="1"/>
          </p:cNvSpPr>
          <p:nvPr/>
        </p:nvSpPr>
        <p:spPr>
          <a:xfrm xmlns:a="http://schemas.openxmlformats.org/drawingml/2006/main">
            <a:off x="8496300" y="3143250"/>
            <a:ext cx="28575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151515"/>
                </a:solidFill>
                <a:latin typeface="Arial"/>
                <a:ea typeface="Arial"/>
                <a:cs typeface="Arial"/>
              </a:defRPr>
            </a:pPr>
            <a:r>
              <a:t>Actionable conditions</a:t>
            </a:r>
          </a:p>
        </p:txBody>
      </p:sp>
      <p:sp>
        <p:nvSpPr>
          <p:cNvPr id="15" name="">
            <a:extLst xmlns:a="http://schemas.openxmlformats.org/drawingml/2006/main">
              <a:ext uri="{FF2B5EF4-FFF2-40B4-BE49-F238E27FC236}">
                <a16:creationId xmlns:a16="http://schemas.microsoft.com/office/drawing/2014/main" id="{6FD29018-33B7-40A9-BA1D-8FB3AC29B795}"/>
              </a:ext>
            </a:extLst>
          </p:cNvPr>
          <p:cNvSpPr>
            <a:spLocks xmlns:a="http://schemas.openxmlformats.org/drawingml/2006/main" noGrp="1"/>
          </p:cNvSpPr>
          <p:nvPr/>
        </p:nvSpPr>
        <p:spPr>
          <a:xfrm xmlns:a="http://schemas.openxmlformats.org/drawingml/2006/main">
            <a:off x="8496300" y="3762375"/>
            <a:ext cx="2857500" cy="1047750"/>
          </a:xfrm>
          <a:prstGeom xmlns:a="http://schemas.openxmlformats.org/drawingml/2006/main" prst="rect">
            <a:avLst/>
          </a:prstGeom>
        </p:spPr>
        <p:txBody>
          <a:bodyPr xmlns:a="http://schemas.openxmlformats.org/drawingml/2006/main" lIns="0" tIns="0" rIns="0" bIns="0" anchor="t">
            <a:normAutofit fontScale="99638"/>
          </a:bodyPr>
          <a:lstStyle xmlns:a="http://schemas.openxmlformats.org/drawingml/2006/main"/>
          <a:p xmlns:a="http://schemas.openxmlformats.org/drawingml/2006/main">
            <a:pPr algn="l">
              <a:buNone/>
              <a:defRPr sz="1725" b="0">
                <a:solidFill>
                  <a:srgbClr val="151515"/>
                </a:solidFill>
                <a:latin typeface="Arial"/>
                <a:ea typeface="Arial"/>
                <a:cs typeface="Arial"/>
              </a:defRPr>
            </a:pPr>
            <a:r>
              <a:t>Era composition and regional contrast identify when rule-based prediction may become viable.</a:t>
            </a:r>
          </a:p>
        </p:txBody>
      </p:sp>
      <p:sp>
        <p:nvSpPr>
          <p:cNvPr id="16" name="">
            <a:extLst xmlns:a="http://schemas.openxmlformats.org/drawingml/2006/main">
              <a:ext uri="{FF2B5EF4-FFF2-40B4-BE49-F238E27FC236}">
                <a16:creationId xmlns:a16="http://schemas.microsoft.com/office/drawing/2014/main" id="{30E3710C-F9B3-474F-A94E-0020A6EE1282}"/>
              </a:ext>
            </a:extLst>
          </p:cNvPr>
          <p:cNvSpPr>
            <a:spLocks xmlns:a="http://schemas.openxmlformats.org/drawingml/2006/main" noGrp="1"/>
          </p:cNvSpPr>
          <p:nvPr/>
        </p:nvSpPr>
        <p:spPr>
          <a:xfrm xmlns:a="http://schemas.openxmlformats.org/drawingml/2006/main">
            <a:off x="685800" y="5810250"/>
            <a:ext cx="10810875" cy="495300"/>
          </a:xfrm>
          <a:prstGeom xmlns:a="http://schemas.openxmlformats.org/drawingml/2006/main" prst="rect">
            <a:avLst/>
          </a:prstGeom>
        </p:spPr>
        <p:txBody>
          <a:bodyPr xmlns:a="http://schemas.openxmlformats.org/drawingml/2006/main" lIns="0" tIns="0" rIns="0" bIns="0" anchor="t">
            <a:normAutofit fontScale="86667"/>
          </a:bodyPr>
          <a:lstStyle xmlns:a="http://schemas.openxmlformats.org/drawingml/2006/main"/>
          <a:p xmlns:a="http://schemas.openxmlformats.org/drawingml/2006/main">
            <a:pPr algn="ctr">
              <a:buNone/>
              <a:defRPr sz="1875" b="1">
                <a:solidFill>
                  <a:srgbClr val="7B1E3A"/>
                </a:solidFill>
                <a:latin typeface="Arial"/>
                <a:ea typeface="Arial"/>
                <a:cs typeface="Arial"/>
              </a:defRPr>
            </a:pPr>
            <a:r>
              <a:t>For business: use the rules now for diagnosis and scenario discussion; require prospective evidence before operational forecasting.</a:t>
            </a:r>
          </a:p>
        </p:txBody>
      </p:sp>
      <p:sp>
        <p:nvSpPr>
          <p:cNvPr id="17" name="">
            <a:extLst xmlns:a="http://schemas.openxmlformats.org/drawingml/2006/main">
              <a:ext uri="{FF2B5EF4-FFF2-40B4-BE49-F238E27FC236}">
                <a16:creationId xmlns:a16="http://schemas.microsoft.com/office/drawing/2014/main" id="{D886606F-87DE-424D-8441-C00374C1C605}"/>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 7.2</a:t>
            </a:r>
          </a:p>
        </p:txBody>
      </p:sp>
    </p:spTree>
    <p:extLst>
      <p:ext uri="{BB962C8B-B14F-4D97-AF65-F5344CB8AC3E}">
        <p14:creationId xmlns:p14="http://schemas.microsoft.com/office/powerpoint/2010/main" val="43600827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FC25070-4A33-46B8-8CA4-07D27372A63B}"/>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NEXT STEPS</a:t>
            </a:r>
          </a:p>
        </p:txBody>
      </p:sp>
      <p:sp>
        <p:nvSpPr>
          <p:cNvPr id="2" name="">
            <a:extLst xmlns:a="http://schemas.openxmlformats.org/drawingml/2006/main">
              <a:ext uri="{FF2B5EF4-FFF2-40B4-BE49-F238E27FC236}">
                <a16:creationId xmlns:a16="http://schemas.microsoft.com/office/drawing/2014/main" id="{1FFDD097-DF00-49C9-AE63-44967556803E}"/>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next step is to model structure explicitly</a:t>
            </a:r>
          </a:p>
        </p:txBody>
      </p:sp>
      <p:sp>
        <p:nvSpPr>
          <p:cNvPr id="3" name="">
            <a:extLst xmlns:a="http://schemas.openxmlformats.org/drawingml/2006/main">
              <a:ext uri="{FF2B5EF4-FFF2-40B4-BE49-F238E27FC236}">
                <a16:creationId xmlns:a16="http://schemas.microsoft.com/office/drawing/2014/main" id="{FA5279A7-3E94-4E76-88E6-D774EB88DA4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20</a:t>
            </a:r>
          </a:p>
        </p:txBody>
      </p:sp>
      <p:cxnSp>
        <p:nvCxnSpPr>
          <p:cNvPr id="57" name=""/>
          <p:cNvCxnSpPr/>
          <p:nvPr/>
        </p:nvCxnSpPr>
        <p:spPr>
          <a:xfrm xmlns:a="http://schemas.openxmlformats.org/drawingml/2006/main">
            <a:off x="742950" y="3048000"/>
            <a:ext cx="10382250" cy="953"/>
          </a:xfrm>
          <a:prstGeom xmlns:a="http://schemas.openxmlformats.org/drawingml/2006/main" prst="straightConnector1">
            <a:avLst/>
          </a:prstGeom>
          <a:ln xmlns:a="http://schemas.openxmlformats.org/drawingml/2006/main" w="19050">
            <a:solidFill>
              <a:srgbClr val="151515"/>
            </a:solidFill>
            <a:prstDash val="solid"/>
          </a:ln>
        </p:spPr>
      </p:cxnSp>
      <p:sp>
        <p:nvSpPr>
          <p:cNvPr id="5" name="">
            <a:extLst xmlns:a="http://schemas.openxmlformats.org/drawingml/2006/main">
              <a:ext uri="{FF2B5EF4-FFF2-40B4-BE49-F238E27FC236}">
                <a16:creationId xmlns:a16="http://schemas.microsoft.com/office/drawing/2014/main" id="{69E4A950-FCA3-4EAB-8930-E09FBC36715B}"/>
              </a:ext>
            </a:extLst>
          </p:cNvPr>
          <p:cNvSpPr>
            <a:spLocks xmlns:a="http://schemas.openxmlformats.org/drawingml/2006/main" noGrp="1"/>
          </p:cNvSpPr>
          <p:nvPr/>
        </p:nvSpPr>
        <p:spPr>
          <a:xfrm xmlns:a="http://schemas.openxmlformats.org/drawingml/2006/main">
            <a:off x="1095375" y="2962275"/>
            <a:ext cx="190500" cy="190500"/>
          </a:xfrm>
          <a:prstGeom xmlns:a="http://schemas.openxmlformats.org/drawingml/2006/main" prst="ellipse">
            <a:avLst/>
          </a:prstGeom>
          <a:solidFill xmlns:a="http://schemas.openxmlformats.org/drawingml/2006/main">
            <a:srgbClr val="7B1E3A"/>
          </a:solidFill>
        </p:spPr>
      </p:sp>
      <p:sp>
        <p:nvSpPr>
          <p:cNvPr id="6" name="">
            <a:extLst xmlns:a="http://schemas.openxmlformats.org/drawingml/2006/main">
              <a:ext uri="{FF2B5EF4-FFF2-40B4-BE49-F238E27FC236}">
                <a16:creationId xmlns:a16="http://schemas.microsoft.com/office/drawing/2014/main" id="{FBBF4214-A543-4AC5-9AB3-9660B08413B8}"/>
              </a:ext>
            </a:extLst>
          </p:cNvPr>
          <p:cNvSpPr>
            <a:spLocks xmlns:a="http://schemas.openxmlformats.org/drawingml/2006/main" noGrp="1"/>
          </p:cNvSpPr>
          <p:nvPr/>
        </p:nvSpPr>
        <p:spPr>
          <a:xfrm xmlns:a="http://schemas.openxmlformats.org/drawingml/2006/main">
            <a:off x="3714750" y="2962275"/>
            <a:ext cx="190500" cy="190500"/>
          </a:xfrm>
          <a:prstGeom xmlns:a="http://schemas.openxmlformats.org/drawingml/2006/main" prst="ellipse">
            <a:avLst/>
          </a:prstGeom>
          <a:solidFill xmlns:a="http://schemas.openxmlformats.org/drawingml/2006/main">
            <a:srgbClr val="7B1E3A"/>
          </a:solidFill>
        </p:spPr>
      </p:sp>
      <p:sp>
        <p:nvSpPr>
          <p:cNvPr id="7" name="">
            <a:extLst xmlns:a="http://schemas.openxmlformats.org/drawingml/2006/main">
              <a:ext uri="{FF2B5EF4-FFF2-40B4-BE49-F238E27FC236}">
                <a16:creationId xmlns:a16="http://schemas.microsoft.com/office/drawing/2014/main" id="{DC0E58BB-1179-4813-AF25-E9782CC0D1A4}"/>
              </a:ext>
            </a:extLst>
          </p:cNvPr>
          <p:cNvSpPr>
            <a:spLocks xmlns:a="http://schemas.openxmlformats.org/drawingml/2006/main" noGrp="1"/>
          </p:cNvSpPr>
          <p:nvPr/>
        </p:nvSpPr>
        <p:spPr>
          <a:xfrm xmlns:a="http://schemas.openxmlformats.org/drawingml/2006/main">
            <a:off x="6334125" y="2962275"/>
            <a:ext cx="190500" cy="190500"/>
          </a:xfrm>
          <a:prstGeom xmlns:a="http://schemas.openxmlformats.org/drawingml/2006/main" prst="ellipse">
            <a:avLst/>
          </a:prstGeom>
          <a:solidFill xmlns:a="http://schemas.openxmlformats.org/drawingml/2006/main">
            <a:srgbClr val="7B1E3A"/>
          </a:solidFill>
        </p:spPr>
      </p:sp>
      <p:sp>
        <p:nvSpPr>
          <p:cNvPr id="8" name="">
            <a:extLst xmlns:a="http://schemas.openxmlformats.org/drawingml/2006/main">
              <a:ext uri="{FF2B5EF4-FFF2-40B4-BE49-F238E27FC236}">
                <a16:creationId xmlns:a16="http://schemas.microsoft.com/office/drawing/2014/main" id="{B38D901D-E538-4E28-8163-1B111CC621AF}"/>
              </a:ext>
            </a:extLst>
          </p:cNvPr>
          <p:cNvSpPr>
            <a:spLocks xmlns:a="http://schemas.openxmlformats.org/drawingml/2006/main" noGrp="1"/>
          </p:cNvSpPr>
          <p:nvPr/>
        </p:nvSpPr>
        <p:spPr>
          <a:xfrm xmlns:a="http://schemas.openxmlformats.org/drawingml/2006/main">
            <a:off x="8953500" y="2962275"/>
            <a:ext cx="190500" cy="190500"/>
          </a:xfrm>
          <a:prstGeom xmlns:a="http://schemas.openxmlformats.org/drawingml/2006/main" prst="ellipse">
            <a:avLst/>
          </a:prstGeom>
          <a:solidFill xmlns:a="http://schemas.openxmlformats.org/drawingml/2006/main">
            <a:srgbClr val="7B1E3A"/>
          </a:solidFill>
        </p:spPr>
      </p:sp>
      <p:sp>
        <p:nvSpPr>
          <p:cNvPr id="9" name="">
            <a:extLst xmlns:a="http://schemas.openxmlformats.org/drawingml/2006/main">
              <a:ext uri="{FF2B5EF4-FFF2-40B4-BE49-F238E27FC236}">
                <a16:creationId xmlns:a16="http://schemas.microsoft.com/office/drawing/2014/main" id="{57D5A3E2-F417-4EDC-9C3B-8B9F3035D0DB}"/>
              </a:ext>
            </a:extLst>
          </p:cNvPr>
          <p:cNvSpPr>
            <a:spLocks xmlns:a="http://schemas.openxmlformats.org/drawingml/2006/main" noGrp="1"/>
          </p:cNvSpPr>
          <p:nvPr/>
        </p:nvSpPr>
        <p:spPr>
          <a:xfrm xmlns:a="http://schemas.openxmlformats.org/drawingml/2006/main">
            <a:off x="809625" y="2476500"/>
            <a:ext cx="7620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01</a:t>
            </a:r>
          </a:p>
        </p:txBody>
      </p:sp>
      <p:sp>
        <p:nvSpPr>
          <p:cNvPr id="10" name="">
            <a:extLst xmlns:a="http://schemas.openxmlformats.org/drawingml/2006/main">
              <a:ext uri="{FF2B5EF4-FFF2-40B4-BE49-F238E27FC236}">
                <a16:creationId xmlns:a16="http://schemas.microsoft.com/office/drawing/2014/main" id="{96AC4739-A312-40E8-B2AA-6836D12D2582}"/>
              </a:ext>
            </a:extLst>
          </p:cNvPr>
          <p:cNvSpPr>
            <a:spLocks xmlns:a="http://schemas.openxmlformats.org/drawingml/2006/main" noGrp="1"/>
          </p:cNvSpPr>
          <p:nvPr/>
        </p:nvSpPr>
        <p:spPr>
          <a:xfrm xmlns:a="http://schemas.openxmlformats.org/drawingml/2006/main">
            <a:off x="571500" y="3381375"/>
            <a:ext cx="12382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t>Structural
covariates</a:t>
            </a:r>
          </a:p>
        </p:txBody>
      </p:sp>
      <p:sp>
        <p:nvSpPr>
          <p:cNvPr id="11" name="">
            <a:extLst xmlns:a="http://schemas.openxmlformats.org/drawingml/2006/main">
              <a:ext uri="{FF2B5EF4-FFF2-40B4-BE49-F238E27FC236}">
                <a16:creationId xmlns:a16="http://schemas.microsoft.com/office/drawing/2014/main" id="{B5C5BF36-6660-4270-A3A2-054B7435617D}"/>
              </a:ext>
            </a:extLst>
          </p:cNvPr>
          <p:cNvSpPr>
            <a:spLocks xmlns:a="http://schemas.openxmlformats.org/drawingml/2006/main" noGrp="1"/>
          </p:cNvSpPr>
          <p:nvPr/>
        </p:nvSpPr>
        <p:spPr>
          <a:xfrm xmlns:a="http://schemas.openxmlformats.org/drawingml/2006/main">
            <a:off x="381000" y="4238625"/>
            <a:ext cx="16192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Planted area, quotas, producers</a:t>
            </a:r>
          </a:p>
        </p:txBody>
      </p:sp>
      <p:sp>
        <p:nvSpPr>
          <p:cNvPr id="12" name="">
            <a:extLst xmlns:a="http://schemas.openxmlformats.org/drawingml/2006/main">
              <a:ext uri="{FF2B5EF4-FFF2-40B4-BE49-F238E27FC236}">
                <a16:creationId xmlns:a16="http://schemas.microsoft.com/office/drawing/2014/main" id="{339830D1-243B-4E6B-B9AC-2491F04CE5C3}"/>
              </a:ext>
            </a:extLst>
          </p:cNvPr>
          <p:cNvSpPr>
            <a:spLocks xmlns:a="http://schemas.openxmlformats.org/drawingml/2006/main" noGrp="1"/>
          </p:cNvSpPr>
          <p:nvPr/>
        </p:nvSpPr>
        <p:spPr>
          <a:xfrm xmlns:a="http://schemas.openxmlformats.org/drawingml/2006/main">
            <a:off x="3429000" y="2476500"/>
            <a:ext cx="7620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02</a:t>
            </a:r>
          </a:p>
        </p:txBody>
      </p:sp>
      <p:sp>
        <p:nvSpPr>
          <p:cNvPr id="13" name="">
            <a:extLst xmlns:a="http://schemas.openxmlformats.org/drawingml/2006/main">
              <a:ext uri="{FF2B5EF4-FFF2-40B4-BE49-F238E27FC236}">
                <a16:creationId xmlns:a16="http://schemas.microsoft.com/office/drawing/2014/main" id="{EA713450-9B9B-4600-9A28-3DD765DF34E7}"/>
              </a:ext>
            </a:extLst>
          </p:cNvPr>
          <p:cNvSpPr>
            <a:spLocks xmlns:a="http://schemas.openxmlformats.org/drawingml/2006/main" noGrp="1"/>
          </p:cNvSpPr>
          <p:nvPr/>
        </p:nvSpPr>
        <p:spPr>
          <a:xfrm xmlns:a="http://schemas.openxmlformats.org/drawingml/2006/main">
            <a:off x="2952750" y="3381375"/>
            <a:ext cx="17145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t>Prospective
validation</a:t>
            </a:r>
          </a:p>
        </p:txBody>
      </p:sp>
      <p:sp>
        <p:nvSpPr>
          <p:cNvPr id="14" name="">
            <a:extLst xmlns:a="http://schemas.openxmlformats.org/drawingml/2006/main">
              <a:ext uri="{FF2B5EF4-FFF2-40B4-BE49-F238E27FC236}">
                <a16:creationId xmlns:a16="http://schemas.microsoft.com/office/drawing/2014/main" id="{25CA9DF4-30C0-46B4-844A-3554C34BEA56}"/>
              </a:ext>
            </a:extLst>
          </p:cNvPr>
          <p:cNvSpPr>
            <a:spLocks xmlns:a="http://schemas.openxmlformats.org/drawingml/2006/main" noGrp="1"/>
          </p:cNvSpPr>
          <p:nvPr/>
        </p:nvSpPr>
        <p:spPr>
          <a:xfrm xmlns:a="http://schemas.openxmlformats.org/drawingml/2006/main">
            <a:off x="2952750" y="4238625"/>
            <a:ext cx="17145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Pre-register the era-balanced hypothesis</a:t>
            </a:r>
          </a:p>
        </p:txBody>
      </p:sp>
      <p:sp>
        <p:nvSpPr>
          <p:cNvPr id="15" name="">
            <a:extLst xmlns:a="http://schemas.openxmlformats.org/drawingml/2006/main">
              <a:ext uri="{FF2B5EF4-FFF2-40B4-BE49-F238E27FC236}">
                <a16:creationId xmlns:a16="http://schemas.microsoft.com/office/drawing/2014/main" id="{E1BFB2A5-FFC1-4957-80A3-A648945EED22}"/>
              </a:ext>
            </a:extLst>
          </p:cNvPr>
          <p:cNvSpPr>
            <a:spLocks xmlns:a="http://schemas.openxmlformats.org/drawingml/2006/main" noGrp="1"/>
          </p:cNvSpPr>
          <p:nvPr/>
        </p:nvSpPr>
        <p:spPr>
          <a:xfrm xmlns:a="http://schemas.openxmlformats.org/drawingml/2006/main">
            <a:off x="6048375" y="2476500"/>
            <a:ext cx="7620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03</a:t>
            </a:r>
          </a:p>
        </p:txBody>
      </p:sp>
      <p:sp>
        <p:nvSpPr>
          <p:cNvPr id="16" name="">
            <a:extLst xmlns:a="http://schemas.openxmlformats.org/drawingml/2006/main">
              <a:ext uri="{FF2B5EF4-FFF2-40B4-BE49-F238E27FC236}">
                <a16:creationId xmlns:a16="http://schemas.microsoft.com/office/drawing/2014/main" id="{1C1315B3-2FFD-4146-90ED-C8348E21F748}"/>
              </a:ext>
            </a:extLst>
          </p:cNvPr>
          <p:cNvSpPr>
            <a:spLocks xmlns:a="http://schemas.openxmlformats.org/drawingml/2006/main" noGrp="1"/>
          </p:cNvSpPr>
          <p:nvPr/>
        </p:nvSpPr>
        <p:spPr>
          <a:xfrm xmlns:a="http://schemas.openxmlformats.org/drawingml/2006/main">
            <a:off x="5762625" y="3381375"/>
            <a:ext cx="1428750" cy="666750"/>
          </a:xfrm>
          <a:prstGeom xmlns:a="http://schemas.openxmlformats.org/drawingml/2006/main" prst="rect">
            <a:avLst/>
          </a:prstGeom>
        </p:spPr>
        <p:txBody>
          <a:bodyPr xmlns:a="http://schemas.openxmlformats.org/drawingml/2006/main" lIns="0" tIns="0" rIns="0" bIns="0" anchor="t">
            <a:normAutofit fontScale="94531"/>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t>Higher spatial
resolution</a:t>
            </a:r>
          </a:p>
        </p:txBody>
      </p:sp>
      <p:sp>
        <p:nvSpPr>
          <p:cNvPr id="17" name="">
            <a:extLst xmlns:a="http://schemas.openxmlformats.org/drawingml/2006/main">
              <a:ext uri="{FF2B5EF4-FFF2-40B4-BE49-F238E27FC236}">
                <a16:creationId xmlns:a16="http://schemas.microsoft.com/office/drawing/2014/main" id="{731AEA6E-4B04-41E8-87F5-4F3A4924FD67}"/>
              </a:ext>
            </a:extLst>
          </p:cNvPr>
          <p:cNvSpPr>
            <a:spLocks xmlns:a="http://schemas.openxmlformats.org/drawingml/2006/main" noGrp="1"/>
          </p:cNvSpPr>
          <p:nvPr/>
        </p:nvSpPr>
        <p:spPr>
          <a:xfrm xmlns:a="http://schemas.openxmlformats.org/drawingml/2006/main">
            <a:off x="5572125" y="4238625"/>
            <a:ext cx="18097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Capture within-region heterogeneity</a:t>
            </a:r>
          </a:p>
        </p:txBody>
      </p:sp>
      <p:sp>
        <p:nvSpPr>
          <p:cNvPr id="18" name="">
            <a:extLst xmlns:a="http://schemas.openxmlformats.org/drawingml/2006/main">
              <a:ext uri="{FF2B5EF4-FFF2-40B4-BE49-F238E27FC236}">
                <a16:creationId xmlns:a16="http://schemas.microsoft.com/office/drawing/2014/main" id="{79518546-E672-49C8-8EE7-213071C7869B}"/>
              </a:ext>
            </a:extLst>
          </p:cNvPr>
          <p:cNvSpPr>
            <a:spLocks xmlns:a="http://schemas.openxmlformats.org/drawingml/2006/main" noGrp="1"/>
          </p:cNvSpPr>
          <p:nvPr/>
        </p:nvSpPr>
        <p:spPr>
          <a:xfrm xmlns:a="http://schemas.openxmlformats.org/drawingml/2006/main">
            <a:off x="8667750" y="2476500"/>
            <a:ext cx="7620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04</a:t>
            </a:r>
          </a:p>
        </p:txBody>
      </p:sp>
      <p:sp>
        <p:nvSpPr>
          <p:cNvPr id="19" name="">
            <a:extLst xmlns:a="http://schemas.openxmlformats.org/drawingml/2006/main">
              <a:ext uri="{FF2B5EF4-FFF2-40B4-BE49-F238E27FC236}">
                <a16:creationId xmlns:a16="http://schemas.microsoft.com/office/drawing/2014/main" id="{DF3AF262-EC64-4BF7-8EC4-6D7BBA893F1F}"/>
              </a:ext>
            </a:extLst>
          </p:cNvPr>
          <p:cNvSpPr>
            <a:spLocks xmlns:a="http://schemas.openxmlformats.org/drawingml/2006/main" noGrp="1"/>
          </p:cNvSpPr>
          <p:nvPr/>
        </p:nvSpPr>
        <p:spPr>
          <a:xfrm xmlns:a="http://schemas.openxmlformats.org/drawingml/2006/main">
            <a:off x="8429625" y="3381375"/>
            <a:ext cx="1428750" cy="666750"/>
          </a:xfrm>
          <a:prstGeom xmlns:a="http://schemas.openxmlformats.org/drawingml/2006/main" prst="rect">
            <a:avLst/>
          </a:prstGeom>
        </p:spPr>
        <p:txBody>
          <a:bodyPr xmlns:a="http://schemas.openxmlformats.org/drawingml/2006/main" lIns="0" tIns="0" rIns="0" bIns="0" anchor="t">
            <a:normAutofit fontScale="95310"/>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t>Other regions</a:t>
            </a:r>
          </a:p>
          <a:p xmlns:a="http://schemas.openxmlformats.org/drawingml/2006/main">
            <a:pPr algn="ctr">
              <a:buNone/>
              <a:defRPr sz="1800" b="1">
                <a:solidFill>
                  <a:srgbClr val="151515"/>
                </a:solidFill>
                <a:latin typeface="Arial"/>
                <a:ea typeface="Arial"/>
                <a:cs typeface="Arial"/>
              </a:defRPr>
            </a:pPr>
            <a:r>
              <a:t>&amp; lower trend</a:t>
            </a:r>
          </a:p>
        </p:txBody>
      </p:sp>
      <p:sp>
        <p:nvSpPr>
          <p:cNvPr id="20" name="">
            <a:extLst xmlns:a="http://schemas.openxmlformats.org/drawingml/2006/main">
              <a:ext uri="{FF2B5EF4-FFF2-40B4-BE49-F238E27FC236}">
                <a16:creationId xmlns:a16="http://schemas.microsoft.com/office/drawing/2014/main" id="{679563B3-B8C4-478A-8442-79B04086F465}"/>
              </a:ext>
            </a:extLst>
          </p:cNvPr>
          <p:cNvSpPr>
            <a:spLocks xmlns:a="http://schemas.openxmlformats.org/drawingml/2006/main" noGrp="1"/>
          </p:cNvSpPr>
          <p:nvPr/>
        </p:nvSpPr>
        <p:spPr>
          <a:xfrm xmlns:a="http://schemas.openxmlformats.org/drawingml/2006/main">
            <a:off x="8191500" y="4238625"/>
            <a:ext cx="19050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Test time series with weaker structural trends</a:t>
            </a:r>
          </a:p>
        </p:txBody>
      </p:sp>
      <p:sp>
        <p:nvSpPr>
          <p:cNvPr id="21" name="">
            <a:extLst xmlns:a="http://schemas.openxmlformats.org/drawingml/2006/main">
              <a:ext uri="{FF2B5EF4-FFF2-40B4-BE49-F238E27FC236}">
                <a16:creationId xmlns:a16="http://schemas.microsoft.com/office/drawing/2014/main" id="{64EB2D02-5245-4EC2-AA43-4607816483A3}"/>
              </a:ext>
            </a:extLst>
          </p:cNvPr>
          <p:cNvSpPr>
            <a:spLocks xmlns:a="http://schemas.openxmlformats.org/drawingml/2006/main" noGrp="1"/>
          </p:cNvSpPr>
          <p:nvPr/>
        </p:nvSpPr>
        <p:spPr>
          <a:xfrm xmlns:a="http://schemas.openxmlformats.org/drawingml/2006/main">
            <a:off x="10001250" y="2143125"/>
            <a:ext cx="1571625" cy="3000375"/>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8D3A802-E57F-412A-8554-AE874D75981B}"/>
              </a:ext>
            </a:extLst>
          </p:cNvPr>
          <p:cNvSpPr>
            <a:spLocks xmlns:a="http://schemas.openxmlformats.org/drawingml/2006/main" noGrp="1"/>
          </p:cNvSpPr>
          <p:nvPr/>
        </p:nvSpPr>
        <p:spPr>
          <a:xfrm xmlns:a="http://schemas.openxmlformats.org/drawingml/2006/main">
            <a:off x="10220325" y="2457450"/>
            <a:ext cx="1143000" cy="2286000"/>
          </a:xfrm>
          <a:prstGeom xmlns:a="http://schemas.openxmlformats.org/drawingml/2006/main" prst="rect">
            <a:avLst/>
          </a:prstGeom>
        </p:spPr>
        <p:txBody>
          <a:bodyPr xmlns:a="http://schemas.openxmlformats.org/drawingml/2006/main" lIns="0" tIns="0" rIns="0" bIns="0" anchor="t">
            <a:normAutofit fontScale="76923"/>
          </a:bodyPr>
          <a:lstStyle xmlns:a="http://schemas.openxmlformats.org/drawingml/2006/main"/>
          <a:p xmlns:a="http://schemas.openxmlformats.org/drawingml/2006/main">
            <a:pPr algn="ctr">
              <a:buNone/>
              <a:defRPr sz="1950" b="1">
                <a:solidFill>
                  <a:srgbClr val="FFFFFF"/>
                </a:solidFill>
                <a:latin typeface="Arial"/>
                <a:ea typeface="Arial"/>
                <a:cs typeface="Arial"/>
              </a:defRPr>
            </a:pPr>
            <a:r>
              <a:t>Rules can
explain the
past.
Structure
determines
whether they
predict the
future.</a:t>
            </a:r>
          </a:p>
        </p:txBody>
      </p:sp>
      <p:sp>
        <p:nvSpPr>
          <p:cNvPr id="23" name="">
            <a:extLst xmlns:a="http://schemas.openxmlformats.org/drawingml/2006/main">
              <a:ext uri="{FF2B5EF4-FFF2-40B4-BE49-F238E27FC236}">
                <a16:creationId xmlns:a16="http://schemas.microsoft.com/office/drawing/2014/main" id="{4D77A11E-C793-42B0-97FB-464BC7C9B861}"/>
              </a:ext>
            </a:extLst>
          </p:cNvPr>
          <p:cNvSpPr>
            <a:spLocks xmlns:a="http://schemas.openxmlformats.org/drawingml/2006/main" noGrp="1"/>
          </p:cNvSpPr>
          <p:nvPr/>
        </p:nvSpPr>
        <p:spPr>
          <a:xfrm xmlns:a="http://schemas.openxmlformats.org/drawingml/2006/main">
            <a:off x="400050" y="5619750"/>
            <a:ext cx="57150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900" b="1">
                <a:solidFill>
                  <a:srgbClr val="151515"/>
                </a:solidFill>
                <a:latin typeface="Arial"/>
                <a:ea typeface="Arial"/>
                <a:cs typeface="Arial"/>
              </a:defRPr>
            </a:pPr>
            <a:r>
              <a:t>Thank you</a:t>
            </a:r>
          </a:p>
        </p:txBody>
      </p:sp>
      <p:sp>
        <p:nvSpPr>
          <p:cNvPr id="24" name="">
            <a:extLst xmlns:a="http://schemas.openxmlformats.org/drawingml/2006/main">
              <a:ext uri="{FF2B5EF4-FFF2-40B4-BE49-F238E27FC236}">
                <a16:creationId xmlns:a16="http://schemas.microsoft.com/office/drawing/2014/main" id="{47D97F6F-3F07-4C79-BD93-EECA18D2BEB9}"/>
              </a:ext>
            </a:extLst>
          </p:cNvPr>
          <p:cNvSpPr>
            <a:spLocks xmlns:a="http://schemas.openxmlformats.org/drawingml/2006/main" noGrp="1"/>
          </p:cNvSpPr>
          <p:nvPr/>
        </p:nvSpPr>
        <p:spPr>
          <a:xfrm xmlns:a="http://schemas.openxmlformats.org/drawingml/2006/main">
            <a:off x="400050" y="6172200"/>
            <a:ext cx="2857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60656C"/>
                </a:solidFill>
                <a:latin typeface="Arial"/>
                <a:ea typeface="Arial"/>
                <a:cs typeface="Arial"/>
              </a:defRPr>
            </a:pPr>
            <a:r>
              <a:t>Questions</a:t>
            </a:r>
          </a:p>
        </p:txBody>
      </p:sp>
      <p:sp>
        <p:nvSpPr>
          <p:cNvPr id="25" name="">
            <a:extLst xmlns:a="http://schemas.openxmlformats.org/drawingml/2006/main">
              <a:ext uri="{FF2B5EF4-FFF2-40B4-BE49-F238E27FC236}">
                <a16:creationId xmlns:a16="http://schemas.microsoft.com/office/drawing/2014/main" id="{09A4EE68-10AB-4998-BD8F-EF7D0ABD867B}"/>
              </a:ext>
            </a:extLst>
          </p:cNvPr>
          <p:cNvSpPr>
            <a:spLocks xmlns:a="http://schemas.openxmlformats.org/drawingml/2006/main" noGrp="1"/>
          </p:cNvSpPr>
          <p:nvPr/>
        </p:nvSpPr>
        <p:spPr>
          <a:xfrm xmlns:a="http://schemas.openxmlformats.org/drawingml/2006/main">
            <a:off x="3810000" y="6438900"/>
            <a:ext cx="4762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7.4–7.5</a:t>
            </a:r>
          </a:p>
        </p:txBody>
      </p:sp>
    </p:spTree>
    <p:extLst>
      <p:ext uri="{BB962C8B-B14F-4D97-AF65-F5344CB8AC3E}">
        <p14:creationId xmlns:p14="http://schemas.microsoft.com/office/powerpoint/2010/main" val="19845800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2026-07-13T10:22:57.4620000Z</dcterms:created>
  <dcterms:modified xsi:type="dcterms:W3CDTF">2026-07-13T10:22:57.4620000Z</dcterms:modified>
</coreProperties>
</file>