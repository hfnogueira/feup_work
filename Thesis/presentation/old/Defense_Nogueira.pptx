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Genuine (survives)</c:v>
                </c:pt>
              </c:strCache>
            </c:strRef>
          </c:tx>
          <c:spPr>
            <a:solidFill>
              <a:srgbClr val="5E7148"/>
            </a:solidFill>
            <a:effectLst/>
          </c:spPr>
          <c:invertIfNegative val="0"/>
          <c:dLbls>
            <c:numFmt formatCode="#,##0" sourceLinked="0"/>
            <c:txPr>
              <a:bodyPr/>
              <a:lstStyle/>
              <a:p>
                <a:pPr>
                  <a:defRPr b="1" i="0" strike="noStrike" sz="1100" u="none">
                    <a:solidFill>
                      <a:srgbClr val="2B2320"/>
                    </a:solidFill>
                    <a:latin typeface="Arial"/>
                  </a:defRPr>
                </a:pPr>
              </a:p>
            </c:txPr>
            <c:dLblPos val="outEnd"/>
            <c:showLegendKey val="0"/>
            <c:showVal val="1"/>
            <c:showCatName val="0"/>
            <c:showSerName val="0"/>
            <c:showPercent val="0"/>
            <c:showBubbleSize val="0"/>
            <c:showLeaderLines val="0"/>
          </c:dLbls>
          <c:cat>
            <c:multiLvlStrRef>
              <c:f>Sheet1!$A$2:$A$7</c:f>
              <c:multiLvlStrCache>
                <c:ptCount val="6"/>
                <c:lvl>
                  <c:pt idx="0">
                    <c:v>Soil water
(RDD)</c:v>
                  </c:pt>
                  <c:pt idx="1">
                    <c:v>Wet days
(RDD)</c:v>
                  </c:pt>
                  <c:pt idx="2">
                    <c:v>Harvest T
(RDD)</c:v>
                  </c:pt>
                  <c:pt idx="3">
                    <c:v>Wet days
(RVV)</c:v>
                  </c:pt>
                  <c:pt idx="4">
                    <c:v>LAI
(RVV)</c:v>
                  </c:pt>
                  <c:pt idx="5">
                    <c:v>Soil water
(RVV)</c:v>
                  </c:pt>
                </c:lvl>
              </c:multiLvlStrCache>
            </c:multiLvlStrRef>
          </c:cat>
          <c:val>
            <c:numRef>
              <c:f>Sheet1!$B$2:$B$7</c:f>
              <c:numCache>
                <c:formatCode>General</c:formatCode>
                <c:ptCount val="6"/>
                <c:pt idx="0">
                  <c:v>125</c:v>
                </c:pt>
                <c:pt idx="1">
                  <c:v>103</c:v>
                </c:pt>
                <c:pt idx="2">
                  <c:v>105</c:v>
                </c:pt>
                <c:pt idx="3">
                  <c:v>94</c:v>
                </c:pt>
                <c:pt idx="4">
                  <c:v/>
                </c:pt>
                <c:pt idx="5">
                  <c:v/>
                </c:pt>
              </c:numCache>
            </c:numRef>
          </c:val>
        </c:ser>
        <c:ser>
          <c:idx val="1"/>
          <c:order val="1"/>
          <c:tx>
            <c:strRef>
              <c:f>Sheet1!$C$1</c:f>
              <c:strCache>
                <c:ptCount val="1"/>
                <c:pt idx="0">
                  <c:v>Era artefact (collapses)</c:v>
                </c:pt>
              </c:strCache>
            </c:strRef>
          </c:tx>
          <c:spPr>
            <a:solidFill>
              <a:srgbClr val="7A2E39"/>
            </a:solidFill>
            <a:effectLst/>
          </c:spPr>
          <c:invertIfNegative val="0"/>
          <c:dLbls>
            <c:numFmt formatCode="#,##0" sourceLinked="0"/>
            <c:txPr>
              <a:bodyPr/>
              <a:lstStyle/>
              <a:p>
                <a:pPr>
                  <a:defRPr b="1" i="0" strike="noStrike" sz="1100" u="none">
                    <a:solidFill>
                      <a:srgbClr val="2B2320"/>
                    </a:solidFill>
                    <a:latin typeface="Arial"/>
                  </a:defRPr>
                </a:pPr>
              </a:p>
            </c:txPr>
            <c:dLblPos val="outEnd"/>
            <c:showLegendKey val="0"/>
            <c:showVal val="1"/>
            <c:showCatName val="0"/>
            <c:showSerName val="0"/>
            <c:showPercent val="0"/>
            <c:showBubbleSize val="0"/>
            <c:showLeaderLines val="0"/>
          </c:dLbls>
          <c:cat>
            <c:multiLvlStrRef>
              <c:f>Sheet1!$A$2:$A$7</c:f>
              <c:multiLvlStrCache>
                <c:ptCount val="6"/>
                <c:lvl>
                  <c:pt idx="0">
                    <c:v>Soil water
(RDD)</c:v>
                  </c:pt>
                  <c:pt idx="1">
                    <c:v>Wet days
(RDD)</c:v>
                  </c:pt>
                  <c:pt idx="2">
                    <c:v>Harvest T
(RDD)</c:v>
                  </c:pt>
                  <c:pt idx="3">
                    <c:v>Wet days
(RVV)</c:v>
                  </c:pt>
                  <c:pt idx="4">
                    <c:v>LAI
(RVV)</c:v>
                  </c:pt>
                  <c:pt idx="5">
                    <c:v>Soil water
(RVV)</c:v>
                  </c:pt>
                </c:lvl>
              </c:multiLvlStrCache>
            </c:multiLvlStrRef>
          </c:cat>
          <c:val>
            <c:numRef>
              <c:f>Sheet1!$C$2:$C$7</c:f>
              <c:numCache>
                <c:formatCode>General</c:formatCode>
                <c:ptCount val="6"/>
                <c:pt idx="0">
                  <c:v/>
                </c:pt>
                <c:pt idx="1">
                  <c:v/>
                </c:pt>
                <c:pt idx="2">
                  <c:v/>
                </c:pt>
                <c:pt idx="3">
                  <c:v/>
                </c:pt>
                <c:pt idx="4">
                  <c:v>15</c:v>
                </c:pt>
                <c:pt idx="5">
                  <c:v>16</c:v>
                </c:pt>
              </c:numCache>
            </c:numRef>
          </c:val>
        </c:ser>
        <c:dLbls>
          <c:numFmt formatCode="#,##0" sourceLinked="0"/>
          <c:txPr>
            <a:bodyPr/>
            <a:lstStyle/>
            <a:p>
              <a:pPr>
                <a:defRPr b="1" i="0" strike="noStrike" sz="1100" u="none">
                  <a:solidFill>
                    <a:srgbClr val="2B2320"/>
                  </a:solidFill>
                  <a:latin typeface="Arial"/>
                </a:defRPr>
              </a:pPr>
            </a:p>
          </c:txPr>
          <c:dLblPos val="out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A6F5E"/>
                </a:solidFill>
                <a:latin typeface="Arial"/>
              </a:defRPr>
            </a:pPr>
            <a:endParaRPr lang="en-US"/>
          </a:p>
        </c:txPr>
        <c:crossAx val="2094734552"/>
        <c:crosses val="autoZero"/>
        <c:auto val="1"/>
        <c:lblAlgn val="ctr"/>
        <c:noMultiLvlLbl val="1"/>
      </c:catAx>
      <c:valAx>
        <c:axId val="2094734552"/>
        <c:scaling>
          <c:orientation val="minMax"/>
          <c:max val="14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2320"/>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You've read the thesis, so I won't retell it. I'll defend five claims — remember these five and you have my thesis. (Read them: Hard, Auditable, Real, Lawful Failure, Diagnosis.) The whole talk answers the question on screen: can a rule explain a harvest it cannot predict?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Wine is Europe's most climate-sensitive crop and forecasting matters for producers, cooperatives and regulators. But the signal is real yet explains barely a fifth of the variance, in a series that swings ~47% year to year. Two regions, opposite structural directions. Easy wins don't exist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 insight the committee should sit with. It is not only production that is non-stationary — the climate itself has moved over the same 90 years. In the Douro, heat-stress days above 35°C are up about 44%, frost days have more than halved, rainfall is down ~7%. Note the link to the rules: the heat-stress-day family that CarenR selects is itself trending. This matters because when both production AND a climate feature trend over the record, the feature can look predictive just by co-trending with the era — which is precisely the trap the LOESS stress-test on the next block is designed to expose.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business reality behind the numbers. A regional forecast feeds real decisions — harvest logistics, storage, the Port benefício quota, risk cover — for producers, cooperatives and the regulators. And it is hard three ways: hard to UNDERSTAND, because production is thousands of growers with a two-year vine memory on top of decades of policy change; hard to PREDICT, because the signal is weak, the production cycles are ~5.7 years, and an honest walk-forward gives me only ~17 test years; and hard to EXTRACT RULES, because a useful rule has to be interpretable, statistically robust, and free of era artefacts simultaneously. No off-the-shelf model does all three — that's why the method choice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goals. Discover rules that explain production; then test — brutally — whether those rules predict. Four research questions nest under these two. The whole talk is the gap between DISCOVER and PREDICT.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two regions with opposite histories. The Douro rose gradually, partly buffered by the Port quota. Vinho Verde collapsed after EU accession — subsidies, training-system change, rural exodus. Same algorithm on both; that contrast is what lets me separate climate from structure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pipeline. Expanding-window walk-forward, every preprocessing step inside the fold — no leakage. And remember one idea: error is a trend part and a signal part. I'll come back to why those two fight.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agronomic grounding, and it answers 'why two years?'. The grapevine is perennial: next year's crop is partly decided this year. In the prior season the vine forms the inflorescence primordia that cap bunch number, and it builds the carbohydrate reserves that fund next year's growth. So 15 of the 59 features — a quarter — deliberately look back a full year; a current-season-only dataset is fundamentally incomplete. This map shows every feature across the vine calendar — bud break, flowering, veraison, harvest — with solid cells for current-year and lighter cells for prior-year windows. The naming is systematic: for example swa_hv_y1_b20 is soil water in the 20 days before harvest, current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deep model forecasts and can't explain; SHAP approximates. Where the question is which conditions drive production, that's disqualifying. CarenR asks a distributional question — does a set of conditions shift the whole distribution, tails included — and every rule reports its own evidence. That auditability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1 succeeds. 68 rules. Three unrelated optimizers land on the same features. Then I tried to break them: LOESS removes era structure — genuine features survive intact at 94–125%, era-contaminated ones collapse to 15%, which I report honestly for Vinho Verde. Real structure, not artefact.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read like agronomy. Harvest soil water dominates both regions — but in opposite directions, and CarenR detects that without seeing the regions together. A mild deficit concentrates berries in the dry Douro; the same range signals cool-wet, low-quality years in Vinho Verde. The method resolves a sign reversal correctly — that's real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Interpretability pays off here. The rules don't just name variables — they give thresholds tied to vine biology: a specific soil-water band, bounded heat-stress windows, each with a support estimate. That's an auditable, actionable statement a grower or regulator can use and challenge. No SHAP plot delivers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won't dress this up. Predict the historical median and you beat every rule model — 3% in the Douro, 22% in Vinho Verde, where firing rules makes it worse. Real rules, no forecast edge. That's the puzzle. I refused to stop at 'it didn't work,' because the failure has a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finding and why it's not a dead end. Make the trend more flexible with LOESS and Vinho Verde's baseline improves 36% — but every rule disappears, because the flexible trend ate the variation the rules were built from. Decision 1 and Decision 2 fight over the same variance because both are parameterized by time alone. Discovery and prediction ask different things of the same signal. That's the two-decision trade-off — the name I'd like you to remember. The p=0.031 era-balanced win is post-hoc; I lead with the pattern, which is robust. [If challenged on the negative result, cite Prof. Cunha's own review: in this field 'the statistics are usually very good, but the predictions are not useful for production' — my two-decision framework explains exactly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contributions. The headline is the two-decision framework — a diagnostic that explains why rule-based prediction fails even when real signal exists. Then: a systematic variant analysis showing the best configuration is region-specific; the era-composition regime; three-way cross-algorithm validation; and a demanding real-world testbed.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limits: detrending on time alone — the structural root of the whole trade-off; the era-balanced win is five scenarios, post-hoc, underpowered — a hypothesis, and I label it so; and single-region annual aggregates. But the diagnosis is generative: put structural drivers into the trend, and Decisions 1 and 2 stop competing.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It's a hard problem. I chose auditable rules. The rules are real, three ways over. They don't predict — and the two-decision trade-off says exactly why. And that diagnosis is the contribution: it transfers to any series where structure and signal are entangled. Thank you —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D2E46"/>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C89B3C"/>
          </a:solidFill>
          <a:ln/>
        </p:spPr>
      </p:sp>
      <p:sp>
        <p:nvSpPr>
          <p:cNvPr id="3" name="Text 1"/>
          <p:cNvSpPr/>
          <p:nvPr/>
        </p:nvSpPr>
        <p:spPr>
          <a:xfrm>
            <a:off x="822960" y="868680"/>
            <a:ext cx="10058400" cy="320040"/>
          </a:xfrm>
          <a:prstGeom prst="rect">
            <a:avLst/>
          </a:prstGeom>
          <a:noFill/>
          <a:ln/>
        </p:spPr>
        <p:txBody>
          <a:bodyPr wrap="square" lIns="0" tIns="0" rIns="0" bIns="0" rtlCol="0" anchor="ctr"/>
          <a:lstStyle/>
          <a:p>
            <a:pPr indent="0" marL="0">
              <a:buNone/>
            </a:pPr>
            <a:r>
              <a:rPr lang="en-US" sz="1250" b="1" spc="300" kern="0" dirty="0">
                <a:solidFill>
                  <a:srgbClr val="C89B3C"/>
                </a:solidFill>
                <a:latin typeface="Calibri" pitchFamily="34" charset="0"/>
                <a:ea typeface="Calibri" pitchFamily="34" charset="-122"/>
                <a:cs typeface="Calibri" pitchFamily="34" charset="-120"/>
              </a:rPr>
              <a:t>MSc DEFENSE · MECD · FEUP · JUNE 2026</a:t>
            </a:r>
            <a:endParaRPr lang="en-US" sz="1250" dirty="0"/>
          </a:p>
        </p:txBody>
      </p:sp>
      <p:sp>
        <p:nvSpPr>
          <p:cNvPr id="4" name="Text 2"/>
          <p:cNvSpPr/>
          <p:nvPr/>
        </p:nvSpPr>
        <p:spPr>
          <a:xfrm>
            <a:off x="822960" y="1417320"/>
            <a:ext cx="10515600" cy="137160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Wine Production Forecasting Using Rule-Based Machine Learning</a:t>
            </a:r>
            <a:endParaRPr lang="en-US" sz="3800" dirty="0"/>
          </a:p>
        </p:txBody>
      </p:sp>
      <p:sp>
        <p:nvSpPr>
          <p:cNvPr id="5" name="Text 3"/>
          <p:cNvSpPr/>
          <p:nvPr/>
        </p:nvSpPr>
        <p:spPr>
          <a:xfrm>
            <a:off x="822960" y="2697480"/>
            <a:ext cx="10515600" cy="548640"/>
          </a:xfrm>
          <a:prstGeom prst="rect">
            <a:avLst/>
          </a:prstGeom>
          <a:noFill/>
          <a:ln/>
        </p:spPr>
        <p:txBody>
          <a:bodyPr wrap="square" lIns="0" tIns="0" rIns="0" bIns="0" rtlCol="0" anchor="ctr"/>
          <a:lstStyle/>
          <a:p>
            <a:pPr indent="0" marL="0">
              <a:buNone/>
            </a:pPr>
            <a:r>
              <a:rPr lang="en-US" sz="1800" i="1" dirty="0">
                <a:solidFill>
                  <a:srgbClr val="E7D9C4"/>
                </a:solidFill>
                <a:latin typeface="Calibri" pitchFamily="34" charset="0"/>
                <a:ea typeface="Calibri" pitchFamily="34" charset="-122"/>
                <a:cs typeface="Calibri" pitchFamily="34" charset="-120"/>
              </a:rPr>
              <a:t>A Distributional Subgroup Discovery Approach for Portuguese Wine Regions</a:t>
            </a:r>
            <a:endParaRPr lang="en-US" sz="1800" dirty="0"/>
          </a:p>
        </p:txBody>
      </p:sp>
      <p:sp>
        <p:nvSpPr>
          <p:cNvPr id="6" name="Text 4"/>
          <p:cNvSpPr/>
          <p:nvPr/>
        </p:nvSpPr>
        <p:spPr>
          <a:xfrm>
            <a:off x="822960" y="3383280"/>
            <a:ext cx="10515600" cy="548640"/>
          </a:xfrm>
          <a:prstGeom prst="rect">
            <a:avLst/>
          </a:prstGeom>
          <a:noFill/>
          <a:ln/>
        </p:spPr>
        <p:txBody>
          <a:bodyPr wrap="square" lIns="0" tIns="0" rIns="0" bIns="0" rtlCol="0" anchor="ctr"/>
          <a:lstStyle/>
          <a:p>
            <a:pPr indent="0" marL="0">
              <a:buNone/>
            </a:pPr>
            <a:r>
              <a:rPr lang="en-US" sz="2000" b="1" i="1" dirty="0">
                <a:solidFill>
                  <a:srgbClr val="C89B3C"/>
                </a:solidFill>
                <a:latin typeface="Cambria" pitchFamily="34" charset="0"/>
                <a:ea typeface="Cambria" pitchFamily="34" charset="-122"/>
                <a:cs typeface="Cambria" pitchFamily="34" charset="-120"/>
              </a:rPr>
              <a:t>“Can a rule explain a harvest it cannot predict?”</a:t>
            </a:r>
            <a:endParaRPr lang="en-US" sz="2000" dirty="0"/>
          </a:p>
        </p:txBody>
      </p:sp>
      <p:sp>
        <p:nvSpPr>
          <p:cNvPr id="7" name="Text 5"/>
          <p:cNvSpPr/>
          <p:nvPr/>
        </p:nvSpPr>
        <p:spPr>
          <a:xfrm>
            <a:off x="822960" y="4160520"/>
            <a:ext cx="10058400" cy="274320"/>
          </a:xfrm>
          <a:prstGeom prst="rect">
            <a:avLst/>
          </a:prstGeom>
          <a:noFill/>
          <a:ln/>
        </p:spPr>
        <p:txBody>
          <a:bodyPr wrap="square" lIns="0" tIns="0" rIns="0" bIns="0" rtlCol="0" anchor="ctr"/>
          <a:lstStyle/>
          <a:p>
            <a:pPr indent="0" marL="0">
              <a:buNone/>
            </a:pPr>
            <a:r>
              <a:rPr lang="en-US" sz="1100" b="1" spc="200" kern="0" dirty="0">
                <a:solidFill>
                  <a:srgbClr val="C9B79A"/>
                </a:solidFill>
                <a:latin typeface="Calibri" pitchFamily="34" charset="0"/>
                <a:ea typeface="Calibri" pitchFamily="34" charset="-122"/>
                <a:cs typeface="Calibri" pitchFamily="34" charset="-120"/>
              </a:rPr>
              <a:t>WHAT YOU'LL LEAVE KNOWING</a:t>
            </a:r>
            <a:endParaRPr lang="en-US" sz="1100" dirty="0"/>
          </a:p>
        </p:txBody>
      </p:sp>
      <p:sp>
        <p:nvSpPr>
          <p:cNvPr id="8" name="Shape 6"/>
          <p:cNvSpPr/>
          <p:nvPr/>
        </p:nvSpPr>
        <p:spPr>
          <a:xfrm>
            <a:off x="822960" y="4480560"/>
            <a:ext cx="1234440" cy="475488"/>
          </a:xfrm>
          <a:prstGeom prst="roundRect">
            <a:avLst>
              <a:gd name="adj" fmla="val 19231"/>
            </a:avLst>
          </a:prstGeom>
          <a:solidFill>
            <a:srgbClr val="5A2439"/>
          </a:solidFill>
          <a:ln w="12700">
            <a:solidFill>
              <a:srgbClr val="C89B3C"/>
            </a:solidFill>
            <a:prstDash val="solid"/>
          </a:ln>
        </p:spPr>
      </p:sp>
      <p:sp>
        <p:nvSpPr>
          <p:cNvPr id="9" name="Text 7"/>
          <p:cNvSpPr/>
          <p:nvPr/>
        </p:nvSpPr>
        <p:spPr>
          <a:xfrm>
            <a:off x="822960" y="4480560"/>
            <a:ext cx="1234440"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  HARD</a:t>
            </a:r>
            <a:endParaRPr lang="en-US" sz="1250" dirty="0"/>
          </a:p>
        </p:txBody>
      </p:sp>
      <p:sp>
        <p:nvSpPr>
          <p:cNvPr id="10" name="Shape 8"/>
          <p:cNvSpPr/>
          <p:nvPr/>
        </p:nvSpPr>
        <p:spPr>
          <a:xfrm>
            <a:off x="2258568" y="4480560"/>
            <a:ext cx="1965960" cy="475488"/>
          </a:xfrm>
          <a:prstGeom prst="roundRect">
            <a:avLst>
              <a:gd name="adj" fmla="val 19231"/>
            </a:avLst>
          </a:prstGeom>
          <a:solidFill>
            <a:srgbClr val="5A2439"/>
          </a:solidFill>
          <a:ln w="12700">
            <a:solidFill>
              <a:srgbClr val="C89B3C"/>
            </a:solidFill>
            <a:prstDash val="solid"/>
          </a:ln>
        </p:spPr>
      </p:sp>
      <p:sp>
        <p:nvSpPr>
          <p:cNvPr id="11" name="Text 9"/>
          <p:cNvSpPr/>
          <p:nvPr/>
        </p:nvSpPr>
        <p:spPr>
          <a:xfrm>
            <a:off x="2258568" y="4480560"/>
            <a:ext cx="1965960"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  AUDITABLE</a:t>
            </a:r>
            <a:endParaRPr lang="en-US" sz="1250" dirty="0"/>
          </a:p>
        </p:txBody>
      </p:sp>
      <p:sp>
        <p:nvSpPr>
          <p:cNvPr id="12" name="Shape 10"/>
          <p:cNvSpPr/>
          <p:nvPr/>
        </p:nvSpPr>
        <p:spPr>
          <a:xfrm>
            <a:off x="4425696" y="4480560"/>
            <a:ext cx="1143000" cy="475488"/>
          </a:xfrm>
          <a:prstGeom prst="roundRect">
            <a:avLst>
              <a:gd name="adj" fmla="val 19231"/>
            </a:avLst>
          </a:prstGeom>
          <a:solidFill>
            <a:srgbClr val="5A2439"/>
          </a:solidFill>
          <a:ln w="12700">
            <a:solidFill>
              <a:srgbClr val="C89B3C"/>
            </a:solidFill>
            <a:prstDash val="solid"/>
          </a:ln>
        </p:spPr>
      </p:sp>
      <p:sp>
        <p:nvSpPr>
          <p:cNvPr id="13" name="Text 11"/>
          <p:cNvSpPr/>
          <p:nvPr/>
        </p:nvSpPr>
        <p:spPr>
          <a:xfrm>
            <a:off x="4425696" y="4480560"/>
            <a:ext cx="1143000"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  REAL</a:t>
            </a:r>
            <a:endParaRPr lang="en-US" sz="1250" dirty="0"/>
          </a:p>
        </p:txBody>
      </p:sp>
      <p:sp>
        <p:nvSpPr>
          <p:cNvPr id="14" name="Shape 12"/>
          <p:cNvSpPr/>
          <p:nvPr/>
        </p:nvSpPr>
        <p:spPr>
          <a:xfrm>
            <a:off x="5769864" y="4480560"/>
            <a:ext cx="2514600" cy="475488"/>
          </a:xfrm>
          <a:prstGeom prst="roundRect">
            <a:avLst>
              <a:gd name="adj" fmla="val 19231"/>
            </a:avLst>
          </a:prstGeom>
          <a:solidFill>
            <a:srgbClr val="5A2439"/>
          </a:solidFill>
          <a:ln w="12700">
            <a:solidFill>
              <a:srgbClr val="C89B3C"/>
            </a:solidFill>
            <a:prstDash val="solid"/>
          </a:ln>
        </p:spPr>
      </p:sp>
      <p:sp>
        <p:nvSpPr>
          <p:cNvPr id="15" name="Text 13"/>
          <p:cNvSpPr/>
          <p:nvPr/>
        </p:nvSpPr>
        <p:spPr>
          <a:xfrm>
            <a:off x="5769864" y="4480560"/>
            <a:ext cx="2514600"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  LAWFUL FAILURE</a:t>
            </a:r>
            <a:endParaRPr lang="en-US" sz="1250" dirty="0"/>
          </a:p>
        </p:txBody>
      </p:sp>
      <p:sp>
        <p:nvSpPr>
          <p:cNvPr id="16" name="Shape 14"/>
          <p:cNvSpPr/>
          <p:nvPr/>
        </p:nvSpPr>
        <p:spPr>
          <a:xfrm>
            <a:off x="8485632" y="4480560"/>
            <a:ext cx="1965960" cy="475488"/>
          </a:xfrm>
          <a:prstGeom prst="roundRect">
            <a:avLst>
              <a:gd name="adj" fmla="val 19231"/>
            </a:avLst>
          </a:prstGeom>
          <a:solidFill>
            <a:srgbClr val="5A2439"/>
          </a:solidFill>
          <a:ln w="12700">
            <a:solidFill>
              <a:srgbClr val="C89B3C"/>
            </a:solidFill>
            <a:prstDash val="solid"/>
          </a:ln>
        </p:spPr>
      </p:sp>
      <p:sp>
        <p:nvSpPr>
          <p:cNvPr id="17" name="Text 15"/>
          <p:cNvSpPr/>
          <p:nvPr/>
        </p:nvSpPr>
        <p:spPr>
          <a:xfrm>
            <a:off x="8485632" y="4480560"/>
            <a:ext cx="1965960"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  DIAGNOSIS</a:t>
            </a:r>
            <a:endParaRPr lang="en-US" sz="1250" dirty="0"/>
          </a:p>
        </p:txBody>
      </p:sp>
      <p:sp>
        <p:nvSpPr>
          <p:cNvPr id="18" name="Text 16"/>
          <p:cNvSpPr/>
          <p:nvPr/>
        </p:nvSpPr>
        <p:spPr>
          <a:xfrm>
            <a:off x="822960" y="5806440"/>
            <a:ext cx="10515600" cy="7315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Hugo Filipe Queiróz Nogueira</a:t>
            </a:r>
            <a:endParaRPr lang="en-US" sz="1300" dirty="0"/>
          </a:p>
          <a:p>
            <a:pPr indent="0" marL="0">
              <a:buNone/>
            </a:pPr>
            <a:r>
              <a:rPr lang="en-US" sz="1300" dirty="0">
                <a:solidFill>
                  <a:srgbClr val="D9C6AE"/>
                </a:solidFill>
                <a:latin typeface="Calibri" pitchFamily="34" charset="0"/>
                <a:ea typeface="Calibri" pitchFamily="34" charset="-122"/>
                <a:cs typeface="Calibri" pitchFamily="34" charset="-120"/>
              </a:rPr>
              <a:t>Supervisors: Prof. João Paulo Moreira (FEUP) · Prof. Mário Campos Cunha (FCUP)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30352"/>
            <a:ext cx="7680960" cy="868680"/>
          </a:xfrm>
          <a:prstGeom prst="rect">
            <a:avLst/>
          </a:prstGeom>
          <a:noFill/>
          <a:ln/>
        </p:spPr>
        <p:txBody>
          <a:bodyPr wrap="square" lIns="0" tIns="0" rIns="0" bIns="0" rtlCol="0" anchor="t"/>
          <a:lstStyle/>
          <a:p>
            <a:pPr indent="0" marL="0">
              <a:buNone/>
            </a:pPr>
            <a:r>
              <a:rPr lang="en-US" sz="2900" b="1" dirty="0">
                <a:solidFill>
                  <a:srgbClr val="6D2E46"/>
                </a:solidFill>
                <a:latin typeface="Cambria" pitchFamily="34" charset="0"/>
                <a:ea typeface="Cambria" pitchFamily="34" charset="-122"/>
                <a:cs typeface="Cambria" pitchFamily="34" charset="-120"/>
              </a:rPr>
              <a:t>A real signal, drowning in noise</a:t>
            </a:r>
            <a:endParaRPr lang="en-US" sz="2900" dirty="0"/>
          </a:p>
        </p:txBody>
      </p:sp>
      <p:sp>
        <p:nvSpPr>
          <p:cNvPr id="3" name="Shape 1"/>
          <p:cNvSpPr/>
          <p:nvPr/>
        </p:nvSpPr>
        <p:spPr>
          <a:xfrm>
            <a:off x="10323576" y="237744"/>
            <a:ext cx="182880" cy="182880"/>
          </a:xfrm>
          <a:prstGeom prst="ellipse">
            <a:avLst/>
          </a:prstGeom>
          <a:solidFill>
            <a:srgbClr val="C89B3C"/>
          </a:solidFill>
          <a:ln w="12700">
            <a:solidFill>
              <a:srgbClr val="C89B3C"/>
            </a:solidFill>
            <a:prstDash val="solid"/>
          </a:ln>
        </p:spPr>
      </p:sp>
      <p:sp>
        <p:nvSpPr>
          <p:cNvPr id="4" name="Shape 2"/>
          <p:cNvSpPr/>
          <p:nvPr/>
        </p:nvSpPr>
        <p:spPr>
          <a:xfrm>
            <a:off x="10657332" y="260604"/>
            <a:ext cx="137160" cy="137160"/>
          </a:xfrm>
          <a:prstGeom prst="ellipse">
            <a:avLst/>
          </a:prstGeom>
          <a:solidFill>
            <a:srgbClr val="FFFFFF"/>
          </a:solidFill>
          <a:ln w="12700">
            <a:solidFill>
              <a:srgbClr val="7A6F5E"/>
            </a:solidFill>
            <a:prstDash val="solid"/>
          </a:ln>
        </p:spPr>
      </p:sp>
      <p:sp>
        <p:nvSpPr>
          <p:cNvPr id="5" name="Shape 3"/>
          <p:cNvSpPr/>
          <p:nvPr/>
        </p:nvSpPr>
        <p:spPr>
          <a:xfrm>
            <a:off x="10968228" y="260604"/>
            <a:ext cx="137160" cy="137160"/>
          </a:xfrm>
          <a:prstGeom prst="ellipse">
            <a:avLst/>
          </a:prstGeom>
          <a:solidFill>
            <a:srgbClr val="FFFFFF"/>
          </a:solidFill>
          <a:ln w="12700">
            <a:solidFill>
              <a:srgbClr val="7A6F5E"/>
            </a:solidFill>
            <a:prstDash val="solid"/>
          </a:ln>
        </p:spPr>
      </p:sp>
      <p:sp>
        <p:nvSpPr>
          <p:cNvPr id="6" name="Shape 4"/>
          <p:cNvSpPr/>
          <p:nvPr/>
        </p:nvSpPr>
        <p:spPr>
          <a:xfrm>
            <a:off x="11279124" y="260604"/>
            <a:ext cx="137160" cy="137160"/>
          </a:xfrm>
          <a:prstGeom prst="ellipse">
            <a:avLst/>
          </a:prstGeom>
          <a:solidFill>
            <a:srgbClr val="FFFFFF"/>
          </a:solidFill>
          <a:ln w="12700">
            <a:solidFill>
              <a:srgbClr val="7A6F5E"/>
            </a:solidFill>
            <a:prstDash val="solid"/>
          </a:ln>
        </p:spPr>
      </p:sp>
      <p:sp>
        <p:nvSpPr>
          <p:cNvPr id="7" name="Shape 5"/>
          <p:cNvSpPr/>
          <p:nvPr/>
        </p:nvSpPr>
        <p:spPr>
          <a:xfrm>
            <a:off x="11590020" y="260604"/>
            <a:ext cx="137160" cy="137160"/>
          </a:xfrm>
          <a:prstGeom prst="ellipse">
            <a:avLst/>
          </a:prstGeom>
          <a:solidFill>
            <a:srgbClr val="FFFFFF"/>
          </a:solidFill>
          <a:ln w="12700">
            <a:solidFill>
              <a:srgbClr val="7A6F5E"/>
            </a:solidFill>
            <a:prstDash val="solid"/>
          </a:ln>
        </p:spPr>
      </p:sp>
      <p:sp>
        <p:nvSpPr>
          <p:cNvPr id="8" name="Text 6"/>
          <p:cNvSpPr/>
          <p:nvPr/>
        </p:nvSpPr>
        <p:spPr>
          <a:xfrm>
            <a:off x="5394960" y="182880"/>
            <a:ext cx="4480560" cy="320040"/>
          </a:xfrm>
          <a:prstGeom prst="rect">
            <a:avLst/>
          </a:prstGeom>
          <a:noFill/>
          <a:ln/>
        </p:spPr>
        <p:txBody>
          <a:bodyPr wrap="square" lIns="0" tIns="0" rIns="0" bIns="0" rtlCol="0" anchor="ctr"/>
          <a:lstStyle/>
          <a:p>
            <a:pPr algn="r" indent="0" marL="0">
              <a:buNone/>
            </a:pPr>
            <a:r>
              <a:rPr lang="en-US" sz="1100" dirty="0">
                <a:solidFill>
                  <a:srgbClr val="7A6F5E"/>
                </a:solidFill>
                <a:latin typeface="Calibri" pitchFamily="34" charset="0"/>
                <a:ea typeface="Calibri" pitchFamily="34" charset="-122"/>
                <a:cs typeface="Calibri" pitchFamily="34" charset="-120"/>
              </a:rPr>
              <a:t>IDEA 1  ·  </a:t>
            </a:r>
            <a:pPr algn="r" indent="0" marL="0">
              <a:buNone/>
            </a:pPr>
            <a:r>
              <a:rPr lang="en-US" sz="1100" b="1" dirty="0">
                <a:solidFill>
                  <a:srgbClr val="6D2E46"/>
                </a:solidFill>
                <a:latin typeface="Calibri" pitchFamily="34" charset="0"/>
                <a:ea typeface="Calibri" pitchFamily="34" charset="-122"/>
                <a:cs typeface="Calibri" pitchFamily="34" charset="-120"/>
              </a:rPr>
              <a:t>HARD</a:t>
            </a:r>
            <a:endParaRPr lang="en-US" sz="1100" dirty="0"/>
          </a:p>
        </p:txBody>
      </p:sp>
      <p:sp>
        <p:nvSpPr>
          <p:cNvPr id="9" name="Text 7"/>
          <p:cNvSpPr/>
          <p:nvPr/>
        </p:nvSpPr>
        <p:spPr>
          <a:xfrm>
            <a:off x="640080" y="1737360"/>
            <a:ext cx="4206240" cy="640080"/>
          </a:xfrm>
          <a:prstGeom prst="rect">
            <a:avLst/>
          </a:prstGeom>
          <a:noFill/>
          <a:ln/>
        </p:spPr>
        <p:txBody>
          <a:bodyPr wrap="square" lIns="0" tIns="0" rIns="0" bIns="0" rtlCol="0" anchor="ctr"/>
          <a:lstStyle/>
          <a:p>
            <a:pPr algn="l" indent="0" marL="0">
              <a:buNone/>
            </a:pPr>
            <a:r>
              <a:rPr lang="en-US" sz="3800" b="1" dirty="0">
                <a:solidFill>
                  <a:srgbClr val="6D2E46"/>
                </a:solidFill>
                <a:latin typeface="Cambria" pitchFamily="34" charset="0"/>
                <a:ea typeface="Cambria" pitchFamily="34" charset="-122"/>
                <a:cs typeface="Cambria" pitchFamily="34" charset="-120"/>
              </a:rPr>
              <a:t>r ≈ 0.47</a:t>
            </a:r>
            <a:endParaRPr lang="en-US" sz="3800" dirty="0"/>
          </a:p>
        </p:txBody>
      </p:sp>
      <p:sp>
        <p:nvSpPr>
          <p:cNvPr id="10" name="Text 8"/>
          <p:cNvSpPr/>
          <p:nvPr/>
        </p:nvSpPr>
        <p:spPr>
          <a:xfrm>
            <a:off x="640080" y="2395728"/>
            <a:ext cx="4206240" cy="457200"/>
          </a:xfrm>
          <a:prstGeom prst="rect">
            <a:avLst/>
          </a:prstGeom>
          <a:noFill/>
          <a:ln/>
        </p:spPr>
        <p:txBody>
          <a:bodyPr wrap="square" lIns="0" tIns="0" rIns="0" bIns="0" rtlCol="0" anchor="ctr"/>
          <a:lstStyle/>
          <a:p>
            <a:pPr algn="l" indent="0" marL="0">
              <a:buNone/>
            </a:pPr>
            <a:r>
              <a:rPr lang="en-US" sz="1250" dirty="0">
                <a:solidFill>
                  <a:srgbClr val="2B2320"/>
                </a:solidFill>
                <a:latin typeface="Calibri" pitchFamily="34" charset="0"/>
                <a:ea typeface="Calibri" pitchFamily="34" charset="-122"/>
                <a:cs typeface="Calibri" pitchFamily="34" charset="-120"/>
              </a:rPr>
              <a:t>Climate–production correlation — the signal is real</a:t>
            </a:r>
            <a:endParaRPr lang="en-US" sz="1250" dirty="0"/>
          </a:p>
        </p:txBody>
      </p:sp>
      <p:sp>
        <p:nvSpPr>
          <p:cNvPr id="11" name="Text 9"/>
          <p:cNvSpPr/>
          <p:nvPr/>
        </p:nvSpPr>
        <p:spPr>
          <a:xfrm>
            <a:off x="640080" y="3063240"/>
            <a:ext cx="4206240" cy="640080"/>
          </a:xfrm>
          <a:prstGeom prst="rect">
            <a:avLst/>
          </a:prstGeom>
          <a:noFill/>
          <a:ln/>
        </p:spPr>
        <p:txBody>
          <a:bodyPr wrap="square" lIns="0" tIns="0" rIns="0" bIns="0" rtlCol="0" anchor="ctr"/>
          <a:lstStyle/>
          <a:p>
            <a:pPr algn="l" indent="0" marL="0">
              <a:buNone/>
            </a:pPr>
            <a:r>
              <a:rPr lang="en-US" sz="3800" b="1" dirty="0">
                <a:solidFill>
                  <a:srgbClr val="5E7148"/>
                </a:solidFill>
                <a:latin typeface="Cambria" pitchFamily="34" charset="0"/>
                <a:ea typeface="Cambria" pitchFamily="34" charset="-122"/>
                <a:cs typeface="Cambria" pitchFamily="34" charset="-120"/>
              </a:rPr>
              <a:t>~22%</a:t>
            </a:r>
            <a:endParaRPr lang="en-US" sz="3800" dirty="0"/>
          </a:p>
        </p:txBody>
      </p:sp>
      <p:sp>
        <p:nvSpPr>
          <p:cNvPr id="12" name="Text 10"/>
          <p:cNvSpPr/>
          <p:nvPr/>
        </p:nvSpPr>
        <p:spPr>
          <a:xfrm>
            <a:off x="640080" y="3721608"/>
            <a:ext cx="4206240" cy="457200"/>
          </a:xfrm>
          <a:prstGeom prst="rect">
            <a:avLst/>
          </a:prstGeom>
          <a:noFill/>
          <a:ln/>
        </p:spPr>
        <p:txBody>
          <a:bodyPr wrap="square" lIns="0" tIns="0" rIns="0" bIns="0" rtlCol="0" anchor="ctr"/>
          <a:lstStyle/>
          <a:p>
            <a:pPr algn="l" indent="0" marL="0">
              <a:buNone/>
            </a:pPr>
            <a:r>
              <a:rPr lang="en-US" sz="1250" dirty="0">
                <a:solidFill>
                  <a:srgbClr val="2B2320"/>
                </a:solidFill>
                <a:latin typeface="Calibri" pitchFamily="34" charset="0"/>
                <a:ea typeface="Calibri" pitchFamily="34" charset="-122"/>
                <a:cs typeface="Calibri" pitchFamily="34" charset="-120"/>
              </a:rPr>
              <a:t>of residual variance is explainable by climate</a:t>
            </a:r>
            <a:endParaRPr lang="en-US" sz="1250" dirty="0"/>
          </a:p>
        </p:txBody>
      </p:sp>
      <p:sp>
        <p:nvSpPr>
          <p:cNvPr id="13" name="Text 11"/>
          <p:cNvSpPr/>
          <p:nvPr/>
        </p:nvSpPr>
        <p:spPr>
          <a:xfrm>
            <a:off x="640080" y="4389120"/>
            <a:ext cx="4206240" cy="640080"/>
          </a:xfrm>
          <a:prstGeom prst="rect">
            <a:avLst/>
          </a:prstGeom>
          <a:noFill/>
          <a:ln/>
        </p:spPr>
        <p:txBody>
          <a:bodyPr wrap="square" lIns="0" tIns="0" rIns="0" bIns="0" rtlCol="0" anchor="ctr"/>
          <a:lstStyle/>
          <a:p>
            <a:pPr algn="l" indent="0" marL="0">
              <a:buNone/>
            </a:pPr>
            <a:r>
              <a:rPr lang="en-US" sz="3800" b="1" dirty="0">
                <a:solidFill>
                  <a:srgbClr val="7A2E39"/>
                </a:solidFill>
                <a:latin typeface="Cambria" pitchFamily="34" charset="0"/>
                <a:ea typeface="Cambria" pitchFamily="34" charset="-122"/>
                <a:cs typeface="Cambria" pitchFamily="34" charset="-120"/>
              </a:rPr>
              <a:t>CV ≈ 47%</a:t>
            </a:r>
            <a:endParaRPr lang="en-US" sz="3800" dirty="0"/>
          </a:p>
        </p:txBody>
      </p:sp>
      <p:sp>
        <p:nvSpPr>
          <p:cNvPr id="14" name="Text 12"/>
          <p:cNvSpPr/>
          <p:nvPr/>
        </p:nvSpPr>
        <p:spPr>
          <a:xfrm>
            <a:off x="640080" y="5047488"/>
            <a:ext cx="4206240" cy="457200"/>
          </a:xfrm>
          <a:prstGeom prst="rect">
            <a:avLst/>
          </a:prstGeom>
          <a:noFill/>
          <a:ln/>
        </p:spPr>
        <p:txBody>
          <a:bodyPr wrap="square" lIns="0" tIns="0" rIns="0" bIns="0" rtlCol="0" anchor="ctr"/>
          <a:lstStyle/>
          <a:p>
            <a:pPr algn="l" indent="0" marL="0">
              <a:buNone/>
            </a:pPr>
            <a:r>
              <a:rPr lang="en-US" sz="1250" dirty="0">
                <a:solidFill>
                  <a:srgbClr val="2B2320"/>
                </a:solidFill>
                <a:latin typeface="Calibri" pitchFamily="34" charset="0"/>
                <a:ea typeface="Calibri" pitchFamily="34" charset="-122"/>
                <a:cs typeface="Calibri" pitchFamily="34" charset="-120"/>
              </a:rPr>
              <a:t>Year-to-year swing — the noise the signal hides in</a:t>
            </a:r>
            <a:endParaRPr lang="en-US" sz="1250" dirty="0"/>
          </a:p>
        </p:txBody>
      </p:sp>
      <p:sp>
        <p:nvSpPr>
          <p:cNvPr id="15" name="Text 13"/>
          <p:cNvSpPr/>
          <p:nvPr/>
        </p:nvSpPr>
        <p:spPr>
          <a:xfrm>
            <a:off x="640080" y="5532120"/>
            <a:ext cx="4480560" cy="822960"/>
          </a:xfrm>
          <a:prstGeom prst="rect">
            <a:avLst/>
          </a:prstGeom>
          <a:noFill/>
          <a:ln/>
        </p:spPr>
        <p:txBody>
          <a:bodyPr wrap="square" lIns="0" tIns="0" rIns="0" bIns="0" rtlCol="0" anchor="ctr"/>
          <a:lstStyle/>
          <a:p>
            <a:pPr indent="0" marL="0">
              <a:buNone/>
            </a:pPr>
            <a:r>
              <a:rPr lang="en-US" sz="1300" i="1" dirty="0">
                <a:solidFill>
                  <a:srgbClr val="7A6F5E"/>
                </a:solidFill>
                <a:latin typeface="Calibri" pitchFamily="34" charset="0"/>
                <a:ea typeface="Calibri" pitchFamily="34" charset="-122"/>
                <a:cs typeface="Calibri" pitchFamily="34" charset="-120"/>
              </a:rPr>
              <a:t>Thousands of growers, heterogeneous vineyards, local weather no regional index captures.</a:t>
            </a:r>
            <a:endParaRPr lang="en-US" sz="1300" dirty="0"/>
          </a:p>
        </p:txBody>
      </p:sp>
      <p:sp>
        <p:nvSpPr>
          <p:cNvPr id="16" name="Text 14"/>
          <p:cNvSpPr/>
          <p:nvPr/>
        </p:nvSpPr>
        <p:spPr>
          <a:xfrm>
            <a:off x="6400800" y="1572768"/>
            <a:ext cx="5029200" cy="274320"/>
          </a:xfrm>
          <a:prstGeom prst="rect">
            <a:avLst/>
          </a:prstGeom>
          <a:noFill/>
          <a:ln/>
        </p:spPr>
        <p:txBody>
          <a:bodyPr wrap="square" lIns="0" tIns="0" rIns="0" bIns="0" rtlCol="0" anchor="ctr"/>
          <a:lstStyle/>
          <a:p>
            <a:pPr indent="0" marL="0">
              <a:buNone/>
            </a:pPr>
            <a:r>
              <a:rPr lang="en-US" sz="1200" b="1" dirty="0">
                <a:solidFill>
                  <a:srgbClr val="7A2E39"/>
                </a:solidFill>
                <a:latin typeface="Calibri" pitchFamily="34" charset="0"/>
                <a:ea typeface="Calibri" pitchFamily="34" charset="-122"/>
                <a:cs typeface="Calibri" pitchFamily="34" charset="-120"/>
              </a:rPr>
              <a:t>Douro (RDD) — gradual rise +80%</a:t>
            </a:r>
            <a:endParaRPr lang="en-US" sz="1200" dirty="0"/>
          </a:p>
        </p:txBody>
      </p:sp>
      <p:pic>
        <p:nvPicPr>
          <p:cNvPr id="17" name="Image 0" descr="/sessions/trusting-lucid-keller/mnt/Thesis/latex/figures/fig_context_ts_rdd.png">    </p:cNvPr>
          <p:cNvPicPr>
            <a:picLocks noChangeAspect="1"/>
          </p:cNvPicPr>
          <p:nvPr/>
        </p:nvPicPr>
        <p:blipFill>
          <a:blip r:embed="rId1"/>
          <a:stretch>
            <a:fillRect/>
          </a:stretch>
        </p:blipFill>
        <p:spPr>
          <a:xfrm>
            <a:off x="6400800" y="1847088"/>
            <a:ext cx="5029200" cy="2095500"/>
          </a:xfrm>
          <a:prstGeom prst="rect">
            <a:avLst/>
          </a:prstGeom>
        </p:spPr>
      </p:pic>
      <p:sp>
        <p:nvSpPr>
          <p:cNvPr id="18" name="Text 15"/>
          <p:cNvSpPr/>
          <p:nvPr/>
        </p:nvSpPr>
        <p:spPr>
          <a:xfrm>
            <a:off x="6400800" y="4061460"/>
            <a:ext cx="5029200" cy="274320"/>
          </a:xfrm>
          <a:prstGeom prst="rect">
            <a:avLst/>
          </a:prstGeom>
          <a:noFill/>
          <a:ln/>
        </p:spPr>
        <p:txBody>
          <a:bodyPr wrap="square" lIns="0" tIns="0" rIns="0" bIns="0" rtlCol="0" anchor="ctr"/>
          <a:lstStyle/>
          <a:p>
            <a:pPr indent="0" marL="0">
              <a:buNone/>
            </a:pPr>
            <a:r>
              <a:rPr lang="en-US" sz="1200" b="1" dirty="0">
                <a:solidFill>
                  <a:srgbClr val="5E7148"/>
                </a:solidFill>
                <a:latin typeface="Calibri" pitchFamily="34" charset="0"/>
                <a:ea typeface="Calibri" pitchFamily="34" charset="-122"/>
                <a:cs typeface="Calibri" pitchFamily="34" charset="-120"/>
              </a:rPr>
              <a:t>Vinho Verde (RVV) — structural fall −65%</a:t>
            </a:r>
            <a:endParaRPr lang="en-US" sz="1200" dirty="0"/>
          </a:p>
        </p:txBody>
      </p:sp>
      <p:pic>
        <p:nvPicPr>
          <p:cNvPr id="19" name="Image 1" descr="/sessions/trusting-lucid-keller/mnt/Thesis/latex/figures/fig_context_ts_rvv.png">    </p:cNvPr>
          <p:cNvPicPr>
            <a:picLocks noChangeAspect="1"/>
          </p:cNvPicPr>
          <p:nvPr/>
        </p:nvPicPr>
        <p:blipFill>
          <a:blip r:embed="rId2"/>
          <a:stretch>
            <a:fillRect/>
          </a:stretch>
        </p:blipFill>
        <p:spPr>
          <a:xfrm>
            <a:off x="6400800" y="4335780"/>
            <a:ext cx="5029200" cy="2095500"/>
          </a:xfrm>
          <a:prstGeom prst="rect">
            <a:avLst/>
          </a:prstGeom>
        </p:spPr>
      </p:pic>
      <p:sp>
        <p:nvSpPr>
          <p:cNvPr id="20" name="Text 16"/>
          <p:cNvSpPr/>
          <p:nvPr/>
        </p:nvSpPr>
        <p:spPr>
          <a:xfrm>
            <a:off x="11475720" y="6419088"/>
            <a:ext cx="548640" cy="274320"/>
          </a:xfrm>
          <a:prstGeom prst="rect">
            <a:avLst/>
          </a:prstGeom>
          <a:noFill/>
          <a:ln/>
        </p:spPr>
        <p:txBody>
          <a:bodyPr wrap="square" lIns="0" tIns="0" rIns="0" bIns="0" rtlCol="0" anchor="ctr"/>
          <a:lstStyle/>
          <a:p>
            <a:pPr algn="r" indent="0" marL="0">
              <a:buNone/>
            </a:pPr>
            <a:r>
              <a:rPr lang="en-US" sz="1000" dirty="0">
                <a:solidFill>
                  <a:srgbClr val="7A6F5E"/>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30352"/>
            <a:ext cx="7680960" cy="868680"/>
          </a:xfrm>
          <a:prstGeom prst="rect">
            <a:avLst/>
          </a:prstGeom>
          <a:noFill/>
          <a:ln/>
        </p:spPr>
        <p:txBody>
          <a:bodyPr wrap="square" lIns="0" tIns="0" rIns="0" bIns="0" rtlCol="0" anchor="t"/>
          <a:lstStyle/>
          <a:p>
            <a:pPr indent="0" marL="0">
              <a:buNone/>
            </a:pPr>
            <a:r>
              <a:rPr lang="en-US" sz="2900" b="1" dirty="0">
                <a:solidFill>
                  <a:srgbClr val="6D2E46"/>
                </a:solidFill>
                <a:latin typeface="Cambria" pitchFamily="34" charset="0"/>
                <a:ea typeface="Cambria" pitchFamily="34" charset="-122"/>
                <a:cs typeface="Cambria" pitchFamily="34" charset="-120"/>
              </a:rPr>
              <a:t>The inputs move too — the climate is non-stationary</a:t>
            </a:r>
            <a:endParaRPr lang="en-US" sz="2900" dirty="0"/>
          </a:p>
        </p:txBody>
      </p:sp>
      <p:sp>
        <p:nvSpPr>
          <p:cNvPr id="3" name="Shape 1"/>
          <p:cNvSpPr/>
          <p:nvPr/>
        </p:nvSpPr>
        <p:spPr>
          <a:xfrm>
            <a:off x="10323576" y="237744"/>
            <a:ext cx="182880" cy="182880"/>
          </a:xfrm>
          <a:prstGeom prst="ellipse">
            <a:avLst/>
          </a:prstGeom>
          <a:solidFill>
            <a:srgbClr val="C89B3C"/>
          </a:solidFill>
          <a:ln w="12700">
            <a:solidFill>
              <a:srgbClr val="C89B3C"/>
            </a:solidFill>
            <a:prstDash val="solid"/>
          </a:ln>
        </p:spPr>
      </p:sp>
      <p:sp>
        <p:nvSpPr>
          <p:cNvPr id="4" name="Shape 2"/>
          <p:cNvSpPr/>
          <p:nvPr/>
        </p:nvSpPr>
        <p:spPr>
          <a:xfrm>
            <a:off x="10657332" y="260604"/>
            <a:ext cx="137160" cy="137160"/>
          </a:xfrm>
          <a:prstGeom prst="ellipse">
            <a:avLst/>
          </a:prstGeom>
          <a:solidFill>
            <a:srgbClr val="FFFFFF"/>
          </a:solidFill>
          <a:ln w="12700">
            <a:solidFill>
              <a:srgbClr val="7A6F5E"/>
            </a:solidFill>
            <a:prstDash val="solid"/>
          </a:ln>
        </p:spPr>
      </p:sp>
      <p:sp>
        <p:nvSpPr>
          <p:cNvPr id="5" name="Shape 3"/>
          <p:cNvSpPr/>
          <p:nvPr/>
        </p:nvSpPr>
        <p:spPr>
          <a:xfrm>
            <a:off x="10968228" y="260604"/>
            <a:ext cx="137160" cy="137160"/>
          </a:xfrm>
          <a:prstGeom prst="ellipse">
            <a:avLst/>
          </a:prstGeom>
          <a:solidFill>
            <a:srgbClr val="FFFFFF"/>
          </a:solidFill>
          <a:ln w="12700">
            <a:solidFill>
              <a:srgbClr val="7A6F5E"/>
            </a:solidFill>
            <a:prstDash val="solid"/>
          </a:ln>
        </p:spPr>
      </p:sp>
      <p:sp>
        <p:nvSpPr>
          <p:cNvPr id="6" name="Shape 4"/>
          <p:cNvSpPr/>
          <p:nvPr/>
        </p:nvSpPr>
        <p:spPr>
          <a:xfrm>
            <a:off x="11279124" y="260604"/>
            <a:ext cx="137160" cy="137160"/>
          </a:xfrm>
          <a:prstGeom prst="ellipse">
            <a:avLst/>
          </a:prstGeom>
          <a:solidFill>
            <a:srgbClr val="FFFFFF"/>
          </a:solidFill>
          <a:ln w="12700">
            <a:solidFill>
              <a:srgbClr val="7A6F5E"/>
            </a:solidFill>
            <a:prstDash val="solid"/>
          </a:ln>
        </p:spPr>
      </p:sp>
      <p:sp>
        <p:nvSpPr>
          <p:cNvPr id="7" name="Shape 5"/>
          <p:cNvSpPr/>
          <p:nvPr/>
        </p:nvSpPr>
        <p:spPr>
          <a:xfrm>
            <a:off x="11590020" y="260604"/>
            <a:ext cx="137160" cy="137160"/>
          </a:xfrm>
          <a:prstGeom prst="ellipse">
            <a:avLst/>
          </a:prstGeom>
          <a:solidFill>
            <a:srgbClr val="FFFFFF"/>
          </a:solidFill>
          <a:ln w="12700">
            <a:solidFill>
              <a:srgbClr val="7A6F5E"/>
            </a:solidFill>
            <a:prstDash val="solid"/>
          </a:ln>
        </p:spPr>
      </p:sp>
      <p:sp>
        <p:nvSpPr>
          <p:cNvPr id="8" name="Text 6"/>
          <p:cNvSpPr/>
          <p:nvPr/>
        </p:nvSpPr>
        <p:spPr>
          <a:xfrm>
            <a:off x="5394960" y="182880"/>
            <a:ext cx="4480560" cy="320040"/>
          </a:xfrm>
          <a:prstGeom prst="rect">
            <a:avLst/>
          </a:prstGeom>
          <a:noFill/>
          <a:ln/>
        </p:spPr>
        <p:txBody>
          <a:bodyPr wrap="square" lIns="0" tIns="0" rIns="0" bIns="0" rtlCol="0" anchor="ctr"/>
          <a:lstStyle/>
          <a:p>
            <a:pPr algn="r" indent="0" marL="0">
              <a:buNone/>
            </a:pPr>
            <a:r>
              <a:rPr lang="en-US" sz="1100" dirty="0">
                <a:solidFill>
                  <a:srgbClr val="7A6F5E"/>
                </a:solidFill>
                <a:latin typeface="Calibri" pitchFamily="34" charset="0"/>
                <a:ea typeface="Calibri" pitchFamily="34" charset="-122"/>
                <a:cs typeface="Calibri" pitchFamily="34" charset="-120"/>
              </a:rPr>
              <a:t>IDEA 1  ·  </a:t>
            </a:r>
            <a:pPr algn="r" indent="0" marL="0">
              <a:buNone/>
            </a:pPr>
            <a:r>
              <a:rPr lang="en-US" sz="1100" b="1" dirty="0">
                <a:solidFill>
                  <a:srgbClr val="6D2E46"/>
                </a:solidFill>
                <a:latin typeface="Calibri" pitchFamily="34" charset="0"/>
                <a:ea typeface="Calibri" pitchFamily="34" charset="-122"/>
                <a:cs typeface="Calibri" pitchFamily="34" charset="-120"/>
              </a:rPr>
              <a:t>HARD</a:t>
            </a:r>
            <a:endParaRPr lang="en-US" sz="1100" dirty="0"/>
          </a:p>
        </p:txBody>
      </p:sp>
      <p:sp>
        <p:nvSpPr>
          <p:cNvPr id="9" name="Text 7"/>
          <p:cNvSpPr/>
          <p:nvPr/>
        </p:nvSpPr>
        <p:spPr>
          <a:xfrm>
            <a:off x="548640" y="1572768"/>
            <a:ext cx="4572000" cy="868680"/>
          </a:xfrm>
          <a:prstGeom prst="rect">
            <a:avLst/>
          </a:prstGeom>
          <a:noFill/>
          <a:ln/>
        </p:spPr>
        <p:txBody>
          <a:bodyPr wrap="square" lIns="0" tIns="0" rIns="0" bIns="0" rtlCol="0" anchor="ctr"/>
          <a:lstStyle/>
          <a:p>
            <a:pPr indent="0" marL="0">
              <a:buNone/>
            </a:pPr>
            <a:r>
              <a:rPr lang="en-US" sz="1400" dirty="0">
                <a:solidFill>
                  <a:srgbClr val="2B2320"/>
                </a:solidFill>
                <a:latin typeface="Calibri" pitchFamily="34" charset="0"/>
                <a:ea typeface="Calibri" pitchFamily="34" charset="-122"/>
                <a:cs typeface="Calibri" pitchFamily="34" charset="-120"/>
              </a:rPr>
              <a:t>Over the same 90 years, the Douro's climate itself has shifted. It is not only production that trends — so do the predictors.</a:t>
            </a:r>
            <a:endParaRPr lang="en-US" sz="1400" dirty="0"/>
          </a:p>
        </p:txBody>
      </p:sp>
      <p:sp>
        <p:nvSpPr>
          <p:cNvPr id="10" name="Text 8"/>
          <p:cNvSpPr/>
          <p:nvPr/>
        </p:nvSpPr>
        <p:spPr>
          <a:xfrm>
            <a:off x="548640" y="2514600"/>
            <a:ext cx="4572000" cy="640080"/>
          </a:xfrm>
          <a:prstGeom prst="rect">
            <a:avLst/>
          </a:prstGeom>
          <a:noFill/>
          <a:ln/>
        </p:spPr>
        <p:txBody>
          <a:bodyPr wrap="square" lIns="0" tIns="0" rIns="0" bIns="0" rtlCol="0" anchor="ctr"/>
          <a:lstStyle/>
          <a:p>
            <a:pPr algn="l" indent="0" marL="0">
              <a:buNone/>
            </a:pPr>
            <a:r>
              <a:rPr lang="en-US" sz="3800" b="1" dirty="0">
                <a:solidFill>
                  <a:srgbClr val="7A2E39"/>
                </a:solidFill>
                <a:latin typeface="Cambria" pitchFamily="34" charset="0"/>
                <a:ea typeface="Cambria" pitchFamily="34" charset="-122"/>
                <a:cs typeface="Cambria" pitchFamily="34" charset="-120"/>
              </a:rPr>
              <a:t>+44%</a:t>
            </a:r>
            <a:endParaRPr lang="en-US" sz="3800" dirty="0"/>
          </a:p>
        </p:txBody>
      </p:sp>
      <p:sp>
        <p:nvSpPr>
          <p:cNvPr id="11" name="Text 9"/>
          <p:cNvSpPr/>
          <p:nvPr/>
        </p:nvSpPr>
        <p:spPr>
          <a:xfrm>
            <a:off x="548640" y="3172968"/>
            <a:ext cx="4572000" cy="457200"/>
          </a:xfrm>
          <a:prstGeom prst="rect">
            <a:avLst/>
          </a:prstGeom>
          <a:noFill/>
          <a:ln/>
        </p:spPr>
        <p:txBody>
          <a:bodyPr wrap="square" lIns="0" tIns="0" rIns="0" bIns="0" rtlCol="0" anchor="ctr"/>
          <a:lstStyle/>
          <a:p>
            <a:pPr algn="l" indent="0" marL="0">
              <a:buNone/>
            </a:pPr>
            <a:r>
              <a:rPr lang="en-US" sz="1250" dirty="0">
                <a:solidFill>
                  <a:srgbClr val="2B2320"/>
                </a:solidFill>
                <a:latin typeface="Calibri" pitchFamily="34" charset="0"/>
                <a:ea typeface="Calibri" pitchFamily="34" charset="-122"/>
                <a:cs typeface="Calibri" pitchFamily="34" charset="-120"/>
              </a:rPr>
              <a:t>Heat days &gt;35°C:  17.6 → 25.4 per year</a:t>
            </a:r>
            <a:endParaRPr lang="en-US" sz="1250" dirty="0"/>
          </a:p>
        </p:txBody>
      </p:sp>
      <p:sp>
        <p:nvSpPr>
          <p:cNvPr id="12" name="Text 10"/>
          <p:cNvSpPr/>
          <p:nvPr/>
        </p:nvSpPr>
        <p:spPr>
          <a:xfrm>
            <a:off x="548640" y="3639312"/>
            <a:ext cx="4572000" cy="640080"/>
          </a:xfrm>
          <a:prstGeom prst="rect">
            <a:avLst/>
          </a:prstGeom>
          <a:noFill/>
          <a:ln/>
        </p:spPr>
        <p:txBody>
          <a:bodyPr wrap="square" lIns="0" tIns="0" rIns="0" bIns="0" rtlCol="0" anchor="ctr"/>
          <a:lstStyle/>
          <a:p>
            <a:pPr algn="l" indent="0" marL="0">
              <a:buNone/>
            </a:pPr>
            <a:r>
              <a:rPr lang="en-US" sz="3800" b="1" dirty="0">
                <a:solidFill>
                  <a:srgbClr val="6D2E46"/>
                </a:solidFill>
                <a:latin typeface="Cambria" pitchFamily="34" charset="0"/>
                <a:ea typeface="Cambria" pitchFamily="34" charset="-122"/>
                <a:cs typeface="Cambria" pitchFamily="34" charset="-120"/>
              </a:rPr>
              <a:t>−56%</a:t>
            </a:r>
            <a:endParaRPr lang="en-US" sz="3800" dirty="0"/>
          </a:p>
        </p:txBody>
      </p:sp>
      <p:sp>
        <p:nvSpPr>
          <p:cNvPr id="13" name="Text 11"/>
          <p:cNvSpPr/>
          <p:nvPr/>
        </p:nvSpPr>
        <p:spPr>
          <a:xfrm>
            <a:off x="548640" y="4297680"/>
            <a:ext cx="4572000" cy="457200"/>
          </a:xfrm>
          <a:prstGeom prst="rect">
            <a:avLst/>
          </a:prstGeom>
          <a:noFill/>
          <a:ln/>
        </p:spPr>
        <p:txBody>
          <a:bodyPr wrap="square" lIns="0" tIns="0" rIns="0" bIns="0" rtlCol="0" anchor="ctr"/>
          <a:lstStyle/>
          <a:p>
            <a:pPr algn="l" indent="0" marL="0">
              <a:buNone/>
            </a:pPr>
            <a:r>
              <a:rPr lang="en-US" sz="1250" dirty="0">
                <a:solidFill>
                  <a:srgbClr val="2B2320"/>
                </a:solidFill>
                <a:latin typeface="Calibri" pitchFamily="34" charset="0"/>
                <a:ea typeface="Calibri" pitchFamily="34" charset="-122"/>
                <a:cs typeface="Calibri" pitchFamily="34" charset="-120"/>
              </a:rPr>
              <a:t>Frost days &lt;0°C:  18.8 → 8.3 per year</a:t>
            </a:r>
            <a:endParaRPr lang="en-US" sz="1250" dirty="0"/>
          </a:p>
        </p:txBody>
      </p:sp>
      <p:sp>
        <p:nvSpPr>
          <p:cNvPr id="14" name="Text 12"/>
          <p:cNvSpPr/>
          <p:nvPr/>
        </p:nvSpPr>
        <p:spPr>
          <a:xfrm>
            <a:off x="548640" y="4764024"/>
            <a:ext cx="4572000" cy="640080"/>
          </a:xfrm>
          <a:prstGeom prst="rect">
            <a:avLst/>
          </a:prstGeom>
          <a:noFill/>
          <a:ln/>
        </p:spPr>
        <p:txBody>
          <a:bodyPr wrap="square" lIns="0" tIns="0" rIns="0" bIns="0" rtlCol="0" anchor="ctr"/>
          <a:lstStyle/>
          <a:p>
            <a:pPr algn="l" indent="0" marL="0">
              <a:buNone/>
            </a:pPr>
            <a:r>
              <a:rPr lang="en-US" sz="3800" b="1" dirty="0">
                <a:solidFill>
                  <a:srgbClr val="7A6F5E"/>
                </a:solidFill>
                <a:latin typeface="Cambria" pitchFamily="34" charset="0"/>
                <a:ea typeface="Cambria" pitchFamily="34" charset="-122"/>
                <a:cs typeface="Cambria" pitchFamily="34" charset="-120"/>
              </a:rPr>
              <a:t>−7%</a:t>
            </a:r>
            <a:endParaRPr lang="en-US" sz="3800" dirty="0"/>
          </a:p>
        </p:txBody>
      </p:sp>
      <p:sp>
        <p:nvSpPr>
          <p:cNvPr id="15" name="Text 13"/>
          <p:cNvSpPr/>
          <p:nvPr/>
        </p:nvSpPr>
        <p:spPr>
          <a:xfrm>
            <a:off x="548640" y="5422392"/>
            <a:ext cx="4572000" cy="457200"/>
          </a:xfrm>
          <a:prstGeom prst="rect">
            <a:avLst/>
          </a:prstGeom>
          <a:noFill/>
          <a:ln/>
        </p:spPr>
        <p:txBody>
          <a:bodyPr wrap="square" lIns="0" tIns="0" rIns="0" bIns="0" rtlCol="0" anchor="ctr"/>
          <a:lstStyle/>
          <a:p>
            <a:pPr algn="l" indent="0" marL="0">
              <a:buNone/>
            </a:pPr>
            <a:r>
              <a:rPr lang="en-US" sz="1250" dirty="0">
                <a:solidFill>
                  <a:srgbClr val="2B2320"/>
                </a:solidFill>
                <a:latin typeface="Calibri" pitchFamily="34" charset="0"/>
                <a:ea typeface="Calibri" pitchFamily="34" charset="-122"/>
                <a:cs typeface="Calibri" pitchFamily="34" charset="-120"/>
              </a:rPr>
              <a:t>Annual rainfall:  859 → 798 mm</a:t>
            </a:r>
            <a:endParaRPr lang="en-US" sz="1250" dirty="0"/>
          </a:p>
        </p:txBody>
      </p:sp>
      <p:sp>
        <p:nvSpPr>
          <p:cNvPr id="16" name="Text 14"/>
          <p:cNvSpPr/>
          <p:nvPr/>
        </p:nvSpPr>
        <p:spPr>
          <a:xfrm>
            <a:off x="548640" y="5806440"/>
            <a:ext cx="4572000" cy="274320"/>
          </a:xfrm>
          <a:prstGeom prst="rect">
            <a:avLst/>
          </a:prstGeom>
          <a:noFill/>
          <a:ln/>
        </p:spPr>
        <p:txBody>
          <a:bodyPr wrap="square" lIns="0" tIns="0" rIns="0" bIns="0" rtlCol="0" anchor="ctr"/>
          <a:lstStyle/>
          <a:p>
            <a:pPr indent="0" marL="0">
              <a:buNone/>
            </a:pPr>
            <a:r>
              <a:rPr lang="en-US" sz="1050" i="1" dirty="0">
                <a:solidFill>
                  <a:srgbClr val="7A6F5E"/>
                </a:solidFill>
                <a:latin typeface="Calibri" pitchFamily="34" charset="0"/>
                <a:ea typeface="Calibri" pitchFamily="34" charset="-122"/>
                <a:cs typeface="Calibri" pitchFamily="34" charset="-120"/>
              </a:rPr>
              <a:t>early vs late 30-year means, RDD</a:t>
            </a:r>
            <a:endParaRPr lang="en-US" sz="1050" dirty="0"/>
          </a:p>
        </p:txBody>
      </p:sp>
      <p:pic>
        <p:nvPicPr>
          <p:cNvPr id="17" name="Image 0" descr="/sessions/trusting-lucid-keller/mnt/outputs/deck/assets/climate_rdd.png">    </p:cNvPr>
          <p:cNvPicPr>
            <a:picLocks noChangeAspect="1"/>
          </p:cNvPicPr>
          <p:nvPr/>
        </p:nvPicPr>
        <p:blipFill>
          <a:blip r:embed="rId1"/>
          <a:stretch>
            <a:fillRect/>
          </a:stretch>
        </p:blipFill>
        <p:spPr>
          <a:xfrm>
            <a:off x="5394960" y="1828800"/>
            <a:ext cx="6263640" cy="3534786"/>
          </a:xfrm>
          <a:prstGeom prst="rect">
            <a:avLst/>
          </a:prstGeom>
        </p:spPr>
      </p:pic>
      <p:sp>
        <p:nvSpPr>
          <p:cNvPr id="18" name="Shape 15"/>
          <p:cNvSpPr/>
          <p:nvPr/>
        </p:nvSpPr>
        <p:spPr>
          <a:xfrm>
            <a:off x="5394960" y="5473314"/>
            <a:ext cx="6263640" cy="713232"/>
          </a:xfrm>
          <a:prstGeom prst="roundRect">
            <a:avLst>
              <a:gd name="adj" fmla="val 10256"/>
            </a:avLst>
          </a:prstGeom>
          <a:solidFill>
            <a:srgbClr val="F7F1E7"/>
          </a:solidFill>
          <a:ln w="12700">
            <a:solidFill>
              <a:srgbClr val="C89B3C"/>
            </a:solidFill>
            <a:prstDash val="solid"/>
          </a:ln>
          <a:effectLst>
            <a:outerShdw sx="100000" sy="100000" kx="0" ky="0" algn="bl" rotWithShape="0" blurRad="88900" dist="38100" dir="5400000">
              <a:srgbClr val="000000">
                <a:alpha val="14000"/>
              </a:srgbClr>
            </a:outerShdw>
          </a:effectLst>
        </p:spPr>
      </p:sp>
      <p:sp>
        <p:nvSpPr>
          <p:cNvPr id="19" name="Text 16"/>
          <p:cNvSpPr/>
          <p:nvPr/>
        </p:nvSpPr>
        <p:spPr>
          <a:xfrm>
            <a:off x="5577840" y="5546466"/>
            <a:ext cx="5897880" cy="566928"/>
          </a:xfrm>
          <a:prstGeom prst="rect">
            <a:avLst/>
          </a:prstGeom>
          <a:noFill/>
          <a:ln/>
        </p:spPr>
        <p:txBody>
          <a:bodyPr wrap="square" lIns="0" tIns="0" rIns="0" bIns="0" rtlCol="0" anchor="ctr"/>
          <a:lstStyle/>
          <a:p>
            <a:pPr indent="0" marL="0">
              <a:buNone/>
            </a:pPr>
            <a:r>
              <a:rPr lang="en-US" sz="1250" i="1" dirty="0">
                <a:solidFill>
                  <a:srgbClr val="2B2320"/>
                </a:solidFill>
                <a:latin typeface="Calibri" pitchFamily="34" charset="0"/>
                <a:ea typeface="Calibri" pitchFamily="34" charset="-122"/>
                <a:cs typeface="Calibri" pitchFamily="34" charset="-120"/>
              </a:rPr>
              <a:t>Both the target and its drivers drift together — exactly the co-trending trap the LOESS stress-test is built to catch.</a:t>
            </a:r>
            <a:endParaRPr lang="en-US" sz="1250" dirty="0"/>
          </a:p>
        </p:txBody>
      </p:sp>
      <p:sp>
        <p:nvSpPr>
          <p:cNvPr id="20" name="Text 17"/>
          <p:cNvSpPr/>
          <p:nvPr/>
        </p:nvSpPr>
        <p:spPr>
          <a:xfrm>
            <a:off x="11475720" y="6419088"/>
            <a:ext cx="548640" cy="274320"/>
          </a:xfrm>
          <a:prstGeom prst="rect">
            <a:avLst/>
          </a:prstGeom>
          <a:noFill/>
          <a:ln/>
        </p:spPr>
        <p:txBody>
          <a:bodyPr wrap="square" lIns="0" tIns="0" rIns="0" bIns="0" rtlCol="0" anchor="ctr"/>
          <a:lstStyle/>
          <a:p>
            <a:pPr algn="r" indent="0" marL="0">
              <a:buNone/>
            </a:pPr>
            <a:r>
              <a:rPr lang="en-US" sz="1000" dirty="0">
                <a:solidFill>
                  <a:srgbClr val="7A6F5E"/>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30352"/>
            <a:ext cx="7680960" cy="868680"/>
          </a:xfrm>
          <a:prstGeom prst="rect">
            <a:avLst/>
          </a:prstGeom>
          <a:noFill/>
          <a:ln/>
        </p:spPr>
        <p:txBody>
          <a:bodyPr wrap="square" lIns="0" tIns="0" rIns="0" bIns="0" rtlCol="0" anchor="t"/>
          <a:lstStyle/>
          <a:p>
            <a:pPr indent="0" marL="0">
              <a:buNone/>
            </a:pPr>
            <a:r>
              <a:rPr lang="en-US" sz="2900" b="1" dirty="0">
                <a:solidFill>
                  <a:srgbClr val="6D2E46"/>
                </a:solidFill>
                <a:latin typeface="Cambria" pitchFamily="34" charset="0"/>
                <a:ea typeface="Cambria" pitchFamily="34" charset="-122"/>
                <a:cs typeface="Cambria" pitchFamily="34" charset="-120"/>
              </a:rPr>
              <a:t>Why this is hard for the business</a:t>
            </a:r>
            <a:endParaRPr lang="en-US" sz="2900" dirty="0"/>
          </a:p>
        </p:txBody>
      </p:sp>
      <p:sp>
        <p:nvSpPr>
          <p:cNvPr id="3" name="Shape 1"/>
          <p:cNvSpPr/>
          <p:nvPr/>
        </p:nvSpPr>
        <p:spPr>
          <a:xfrm>
            <a:off x="10323576" y="237744"/>
            <a:ext cx="182880" cy="182880"/>
          </a:xfrm>
          <a:prstGeom prst="ellipse">
            <a:avLst/>
          </a:prstGeom>
          <a:solidFill>
            <a:srgbClr val="C89B3C"/>
          </a:solidFill>
          <a:ln w="12700">
            <a:solidFill>
              <a:srgbClr val="C89B3C"/>
            </a:solidFill>
            <a:prstDash val="solid"/>
          </a:ln>
        </p:spPr>
      </p:sp>
      <p:sp>
        <p:nvSpPr>
          <p:cNvPr id="4" name="Shape 2"/>
          <p:cNvSpPr/>
          <p:nvPr/>
        </p:nvSpPr>
        <p:spPr>
          <a:xfrm>
            <a:off x="10657332" y="260604"/>
            <a:ext cx="137160" cy="137160"/>
          </a:xfrm>
          <a:prstGeom prst="ellipse">
            <a:avLst/>
          </a:prstGeom>
          <a:solidFill>
            <a:srgbClr val="FFFFFF"/>
          </a:solidFill>
          <a:ln w="12700">
            <a:solidFill>
              <a:srgbClr val="7A6F5E"/>
            </a:solidFill>
            <a:prstDash val="solid"/>
          </a:ln>
        </p:spPr>
      </p:sp>
      <p:sp>
        <p:nvSpPr>
          <p:cNvPr id="5" name="Shape 3"/>
          <p:cNvSpPr/>
          <p:nvPr/>
        </p:nvSpPr>
        <p:spPr>
          <a:xfrm>
            <a:off x="10968228" y="260604"/>
            <a:ext cx="137160" cy="137160"/>
          </a:xfrm>
          <a:prstGeom prst="ellipse">
            <a:avLst/>
          </a:prstGeom>
          <a:solidFill>
            <a:srgbClr val="FFFFFF"/>
          </a:solidFill>
          <a:ln w="12700">
            <a:solidFill>
              <a:srgbClr val="7A6F5E"/>
            </a:solidFill>
            <a:prstDash val="solid"/>
          </a:ln>
        </p:spPr>
      </p:sp>
      <p:sp>
        <p:nvSpPr>
          <p:cNvPr id="6" name="Shape 4"/>
          <p:cNvSpPr/>
          <p:nvPr/>
        </p:nvSpPr>
        <p:spPr>
          <a:xfrm>
            <a:off x="11279124" y="260604"/>
            <a:ext cx="137160" cy="137160"/>
          </a:xfrm>
          <a:prstGeom prst="ellipse">
            <a:avLst/>
          </a:prstGeom>
          <a:solidFill>
            <a:srgbClr val="FFFFFF"/>
          </a:solidFill>
          <a:ln w="12700">
            <a:solidFill>
              <a:srgbClr val="7A6F5E"/>
            </a:solidFill>
            <a:prstDash val="solid"/>
          </a:ln>
        </p:spPr>
      </p:sp>
      <p:sp>
        <p:nvSpPr>
          <p:cNvPr id="7" name="Shape 5"/>
          <p:cNvSpPr/>
          <p:nvPr/>
        </p:nvSpPr>
        <p:spPr>
          <a:xfrm>
            <a:off x="11590020" y="260604"/>
            <a:ext cx="137160" cy="137160"/>
          </a:xfrm>
          <a:prstGeom prst="ellipse">
            <a:avLst/>
          </a:prstGeom>
          <a:solidFill>
            <a:srgbClr val="FFFFFF"/>
          </a:solidFill>
          <a:ln w="12700">
            <a:solidFill>
              <a:srgbClr val="7A6F5E"/>
            </a:solidFill>
            <a:prstDash val="solid"/>
          </a:ln>
        </p:spPr>
      </p:sp>
      <p:sp>
        <p:nvSpPr>
          <p:cNvPr id="8" name="Text 6"/>
          <p:cNvSpPr/>
          <p:nvPr/>
        </p:nvSpPr>
        <p:spPr>
          <a:xfrm>
            <a:off x="5394960" y="182880"/>
            <a:ext cx="4480560" cy="320040"/>
          </a:xfrm>
          <a:prstGeom prst="rect">
            <a:avLst/>
          </a:prstGeom>
          <a:noFill/>
          <a:ln/>
        </p:spPr>
        <p:txBody>
          <a:bodyPr wrap="square" lIns="0" tIns="0" rIns="0" bIns="0" rtlCol="0" anchor="ctr"/>
          <a:lstStyle/>
          <a:p>
            <a:pPr algn="r" indent="0" marL="0">
              <a:buNone/>
            </a:pPr>
            <a:r>
              <a:rPr lang="en-US" sz="1100" dirty="0">
                <a:solidFill>
                  <a:srgbClr val="7A6F5E"/>
                </a:solidFill>
                <a:latin typeface="Calibri" pitchFamily="34" charset="0"/>
                <a:ea typeface="Calibri" pitchFamily="34" charset="-122"/>
                <a:cs typeface="Calibri" pitchFamily="34" charset="-120"/>
              </a:rPr>
              <a:t>IDEA 1  ·  </a:t>
            </a:r>
            <a:pPr algn="r" indent="0" marL="0">
              <a:buNone/>
            </a:pPr>
            <a:r>
              <a:rPr lang="en-US" sz="1100" b="1" dirty="0">
                <a:solidFill>
                  <a:srgbClr val="6D2E46"/>
                </a:solidFill>
                <a:latin typeface="Calibri" pitchFamily="34" charset="0"/>
                <a:ea typeface="Calibri" pitchFamily="34" charset="-122"/>
                <a:cs typeface="Calibri" pitchFamily="34" charset="-120"/>
              </a:rPr>
              <a:t>HARD</a:t>
            </a:r>
            <a:endParaRPr lang="en-US" sz="1100" dirty="0"/>
          </a:p>
        </p:txBody>
      </p:sp>
      <p:sp>
        <p:nvSpPr>
          <p:cNvPr id="9" name="Text 7"/>
          <p:cNvSpPr/>
          <p:nvPr/>
        </p:nvSpPr>
        <p:spPr>
          <a:xfrm>
            <a:off x="640080" y="1572768"/>
            <a:ext cx="10881360" cy="502920"/>
          </a:xfrm>
          <a:prstGeom prst="rect">
            <a:avLst/>
          </a:prstGeom>
          <a:noFill/>
          <a:ln/>
        </p:spPr>
        <p:txBody>
          <a:bodyPr wrap="square" lIns="0" tIns="0" rIns="0" bIns="0" rtlCol="0" anchor="ctr"/>
          <a:lstStyle/>
          <a:p>
            <a:pPr indent="0" marL="0">
              <a:buNone/>
            </a:pPr>
            <a:r>
              <a:rPr lang="en-US" sz="1450" dirty="0">
                <a:solidFill>
                  <a:srgbClr val="2B2320"/>
                </a:solidFill>
                <a:latin typeface="Calibri" pitchFamily="34" charset="0"/>
                <a:ea typeface="Calibri" pitchFamily="34" charset="-122"/>
                <a:cs typeface="Calibri" pitchFamily="34" charset="-120"/>
              </a:rPr>
              <a:t>Annual forecasts drive harvest logistics, storage, the Port benefício quota and risk planning — for producers, cooperatives and regulators (IVDP, IVV).</a:t>
            </a:r>
            <a:endParaRPr lang="en-US" sz="1450" dirty="0"/>
          </a:p>
        </p:txBody>
      </p:sp>
      <p:sp>
        <p:nvSpPr>
          <p:cNvPr id="10" name="Shape 8"/>
          <p:cNvSpPr/>
          <p:nvPr/>
        </p:nvSpPr>
        <p:spPr>
          <a:xfrm>
            <a:off x="640080" y="2331720"/>
            <a:ext cx="3520440" cy="2788920"/>
          </a:xfrm>
          <a:prstGeom prst="roundRect">
            <a:avLst>
              <a:gd name="adj" fmla="val 2623"/>
            </a:avLst>
          </a:prstGeom>
          <a:solidFill>
            <a:srgbClr val="FFFFFF"/>
          </a:solidFill>
          <a:ln w="12700">
            <a:solidFill>
              <a:srgbClr val="D9CFBE"/>
            </a:solidFill>
            <a:prstDash val="solid"/>
          </a:ln>
          <a:effectLst>
            <a:outerShdw sx="100000" sy="100000" kx="0" ky="0" algn="bl" rotWithShape="0" blurRad="88900" dist="38100" dir="5400000">
              <a:srgbClr val="000000">
                <a:alpha val="14000"/>
              </a:srgbClr>
            </a:outerShdw>
          </a:effectLst>
        </p:spPr>
      </p:sp>
      <p:sp>
        <p:nvSpPr>
          <p:cNvPr id="11" name="Shape 9"/>
          <p:cNvSpPr/>
          <p:nvPr/>
        </p:nvSpPr>
        <p:spPr>
          <a:xfrm>
            <a:off x="868680" y="2606040"/>
            <a:ext cx="548640" cy="548640"/>
          </a:xfrm>
          <a:prstGeom prst="ellipse">
            <a:avLst/>
          </a:prstGeom>
          <a:solidFill>
            <a:srgbClr val="6D2E46"/>
          </a:solidFill>
          <a:ln/>
        </p:spPr>
      </p:sp>
      <p:sp>
        <p:nvSpPr>
          <p:cNvPr id="12" name="Text 10"/>
          <p:cNvSpPr/>
          <p:nvPr/>
        </p:nvSpPr>
        <p:spPr>
          <a:xfrm>
            <a:off x="868680" y="260604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13" name="Text 11"/>
          <p:cNvSpPr/>
          <p:nvPr/>
        </p:nvSpPr>
        <p:spPr>
          <a:xfrm>
            <a:off x="1554480" y="2642616"/>
            <a:ext cx="2423160" cy="256032"/>
          </a:xfrm>
          <a:prstGeom prst="rect">
            <a:avLst/>
          </a:prstGeom>
          <a:noFill/>
          <a:ln/>
        </p:spPr>
        <p:txBody>
          <a:bodyPr wrap="square" lIns="0" tIns="0" rIns="0" bIns="0" rtlCol="0" anchor="ctr"/>
          <a:lstStyle/>
          <a:p>
            <a:pPr indent="0" marL="0">
              <a:buNone/>
            </a:pPr>
            <a:r>
              <a:rPr lang="en-US" sz="1050" b="1" spc="100" kern="0" dirty="0">
                <a:solidFill>
                  <a:srgbClr val="7A6F5E"/>
                </a:solidFill>
                <a:latin typeface="Calibri" pitchFamily="34" charset="0"/>
                <a:ea typeface="Calibri" pitchFamily="34" charset="-122"/>
                <a:cs typeface="Calibri" pitchFamily="34" charset="-120"/>
              </a:rPr>
              <a:t>HARD TO</a:t>
            </a:r>
            <a:endParaRPr lang="en-US" sz="1050" dirty="0"/>
          </a:p>
        </p:txBody>
      </p:sp>
      <p:sp>
        <p:nvSpPr>
          <p:cNvPr id="14" name="Text 12"/>
          <p:cNvSpPr/>
          <p:nvPr/>
        </p:nvSpPr>
        <p:spPr>
          <a:xfrm>
            <a:off x="1554480" y="2843784"/>
            <a:ext cx="2423160" cy="365760"/>
          </a:xfrm>
          <a:prstGeom prst="rect">
            <a:avLst/>
          </a:prstGeom>
          <a:noFill/>
          <a:ln/>
        </p:spPr>
        <p:txBody>
          <a:bodyPr wrap="square" lIns="0" tIns="0" rIns="0" bIns="0" rtlCol="0" anchor="ctr"/>
          <a:lstStyle/>
          <a:p>
            <a:pPr indent="0" marL="0">
              <a:buNone/>
            </a:pPr>
            <a:r>
              <a:rPr lang="en-US" sz="1900" b="1" dirty="0">
                <a:solidFill>
                  <a:srgbClr val="6D2E46"/>
                </a:solidFill>
                <a:latin typeface="Cambria" pitchFamily="34" charset="0"/>
                <a:ea typeface="Cambria" pitchFamily="34" charset="-122"/>
                <a:cs typeface="Cambria" pitchFamily="34" charset="-120"/>
              </a:rPr>
              <a:t>Understand</a:t>
            </a:r>
            <a:endParaRPr lang="en-US" sz="1900" dirty="0"/>
          </a:p>
        </p:txBody>
      </p:sp>
      <p:sp>
        <p:nvSpPr>
          <p:cNvPr id="15" name="Text 13"/>
          <p:cNvSpPr/>
          <p:nvPr/>
        </p:nvSpPr>
        <p:spPr>
          <a:xfrm>
            <a:off x="868680" y="3474720"/>
            <a:ext cx="3063240" cy="1463040"/>
          </a:xfrm>
          <a:prstGeom prst="rect">
            <a:avLst/>
          </a:prstGeom>
          <a:noFill/>
          <a:ln/>
        </p:spPr>
        <p:txBody>
          <a:bodyPr wrap="square" lIns="0" tIns="0" rIns="0" bIns="0" rtlCol="0" anchor="ctr"/>
          <a:lstStyle/>
          <a:p>
            <a:pPr indent="0" marL="0">
              <a:buNone/>
            </a:pPr>
            <a:r>
              <a:rPr lang="en-US" sz="1350" dirty="0">
                <a:solidFill>
                  <a:srgbClr val="2B2320"/>
                </a:solidFill>
                <a:latin typeface="Calibri" pitchFamily="34" charset="0"/>
                <a:ea typeface="Calibri" pitchFamily="34" charset="-122"/>
                <a:cs typeface="Calibri" pitchFamily="34" charset="-120"/>
              </a:rPr>
              <a:t>Thousands of growers, a two-year vine memory, and an industry restructured after EU entry (1986): grubbing-up, new varieties, irrigation, professional management.</a:t>
            </a:r>
            <a:endParaRPr lang="en-US" sz="1350" dirty="0"/>
          </a:p>
        </p:txBody>
      </p:sp>
      <p:sp>
        <p:nvSpPr>
          <p:cNvPr id="16" name="Shape 14"/>
          <p:cNvSpPr/>
          <p:nvPr/>
        </p:nvSpPr>
        <p:spPr>
          <a:xfrm>
            <a:off x="4343400" y="2331720"/>
            <a:ext cx="3520440" cy="2788920"/>
          </a:xfrm>
          <a:prstGeom prst="roundRect">
            <a:avLst>
              <a:gd name="adj" fmla="val 2623"/>
            </a:avLst>
          </a:prstGeom>
          <a:solidFill>
            <a:srgbClr val="FFFFFF"/>
          </a:solidFill>
          <a:ln w="12700">
            <a:solidFill>
              <a:srgbClr val="D9CFBE"/>
            </a:solidFill>
            <a:prstDash val="solid"/>
          </a:ln>
          <a:effectLst>
            <a:outerShdw sx="100000" sy="100000" kx="0" ky="0" algn="bl" rotWithShape="0" blurRad="88900" dist="38100" dir="5400000">
              <a:srgbClr val="000000">
                <a:alpha val="14000"/>
              </a:srgbClr>
            </a:outerShdw>
          </a:effectLst>
        </p:spPr>
      </p:sp>
      <p:sp>
        <p:nvSpPr>
          <p:cNvPr id="17" name="Shape 15"/>
          <p:cNvSpPr/>
          <p:nvPr/>
        </p:nvSpPr>
        <p:spPr>
          <a:xfrm>
            <a:off x="4572000" y="2606040"/>
            <a:ext cx="548640" cy="548640"/>
          </a:xfrm>
          <a:prstGeom prst="ellipse">
            <a:avLst/>
          </a:prstGeom>
          <a:solidFill>
            <a:srgbClr val="6D2E46"/>
          </a:solidFill>
          <a:ln/>
        </p:spPr>
      </p:sp>
      <p:sp>
        <p:nvSpPr>
          <p:cNvPr id="18" name="Text 16"/>
          <p:cNvSpPr/>
          <p:nvPr/>
        </p:nvSpPr>
        <p:spPr>
          <a:xfrm>
            <a:off x="4572000" y="260604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9" name="Text 17"/>
          <p:cNvSpPr/>
          <p:nvPr/>
        </p:nvSpPr>
        <p:spPr>
          <a:xfrm>
            <a:off x="5257800" y="2642616"/>
            <a:ext cx="2423160" cy="256032"/>
          </a:xfrm>
          <a:prstGeom prst="rect">
            <a:avLst/>
          </a:prstGeom>
          <a:noFill/>
          <a:ln/>
        </p:spPr>
        <p:txBody>
          <a:bodyPr wrap="square" lIns="0" tIns="0" rIns="0" bIns="0" rtlCol="0" anchor="ctr"/>
          <a:lstStyle/>
          <a:p>
            <a:pPr indent="0" marL="0">
              <a:buNone/>
            </a:pPr>
            <a:r>
              <a:rPr lang="en-US" sz="1050" b="1" spc="100" kern="0" dirty="0">
                <a:solidFill>
                  <a:srgbClr val="7A6F5E"/>
                </a:solidFill>
                <a:latin typeface="Calibri" pitchFamily="34" charset="0"/>
                <a:ea typeface="Calibri" pitchFamily="34" charset="-122"/>
                <a:cs typeface="Calibri" pitchFamily="34" charset="-120"/>
              </a:rPr>
              <a:t>HARD TO</a:t>
            </a:r>
            <a:endParaRPr lang="en-US" sz="1050" dirty="0"/>
          </a:p>
        </p:txBody>
      </p:sp>
      <p:sp>
        <p:nvSpPr>
          <p:cNvPr id="20" name="Text 18"/>
          <p:cNvSpPr/>
          <p:nvPr/>
        </p:nvSpPr>
        <p:spPr>
          <a:xfrm>
            <a:off x="5257800" y="2843784"/>
            <a:ext cx="2423160" cy="365760"/>
          </a:xfrm>
          <a:prstGeom prst="rect">
            <a:avLst/>
          </a:prstGeom>
          <a:noFill/>
          <a:ln/>
        </p:spPr>
        <p:txBody>
          <a:bodyPr wrap="square" lIns="0" tIns="0" rIns="0" bIns="0" rtlCol="0" anchor="ctr"/>
          <a:lstStyle/>
          <a:p>
            <a:pPr indent="0" marL="0">
              <a:buNone/>
            </a:pPr>
            <a:r>
              <a:rPr lang="en-US" sz="1900" b="1" dirty="0">
                <a:solidFill>
                  <a:srgbClr val="6D2E46"/>
                </a:solidFill>
                <a:latin typeface="Cambria" pitchFamily="34" charset="0"/>
                <a:ea typeface="Cambria" pitchFamily="34" charset="-122"/>
                <a:cs typeface="Cambria" pitchFamily="34" charset="-120"/>
              </a:rPr>
              <a:t>Predict</a:t>
            </a:r>
            <a:endParaRPr lang="en-US" sz="1900" dirty="0"/>
          </a:p>
        </p:txBody>
      </p:sp>
      <p:sp>
        <p:nvSpPr>
          <p:cNvPr id="21" name="Text 19"/>
          <p:cNvSpPr/>
          <p:nvPr/>
        </p:nvSpPr>
        <p:spPr>
          <a:xfrm>
            <a:off x="4572000" y="3474720"/>
            <a:ext cx="3063240" cy="1463040"/>
          </a:xfrm>
          <a:prstGeom prst="rect">
            <a:avLst/>
          </a:prstGeom>
          <a:noFill/>
          <a:ln/>
        </p:spPr>
        <p:txBody>
          <a:bodyPr wrap="square" lIns="0" tIns="0" rIns="0" bIns="0" rtlCol="0" anchor="ctr"/>
          <a:lstStyle/>
          <a:p>
            <a:pPr indent="0" marL="0">
              <a:buNone/>
            </a:pPr>
            <a:r>
              <a:rPr lang="en-US" sz="1350" dirty="0">
                <a:solidFill>
                  <a:srgbClr val="2B2320"/>
                </a:solidFill>
                <a:latin typeface="Calibri" pitchFamily="34" charset="0"/>
                <a:ea typeface="Calibri" pitchFamily="34" charset="-122"/>
                <a:cs typeface="Calibri" pitchFamily="34" charset="-120"/>
              </a:rPr>
              <a:t>A weak climate signal, cyclical ~5.7-year production waves, and only ~17 honest test years per region.</a:t>
            </a:r>
            <a:endParaRPr lang="en-US" sz="1350" dirty="0"/>
          </a:p>
        </p:txBody>
      </p:sp>
      <p:sp>
        <p:nvSpPr>
          <p:cNvPr id="22" name="Shape 20"/>
          <p:cNvSpPr/>
          <p:nvPr/>
        </p:nvSpPr>
        <p:spPr>
          <a:xfrm>
            <a:off x="8046720" y="2331720"/>
            <a:ext cx="3520440" cy="2788920"/>
          </a:xfrm>
          <a:prstGeom prst="roundRect">
            <a:avLst>
              <a:gd name="adj" fmla="val 2623"/>
            </a:avLst>
          </a:prstGeom>
          <a:solidFill>
            <a:srgbClr val="FFFFFF"/>
          </a:solidFill>
          <a:ln w="12700">
            <a:solidFill>
              <a:srgbClr val="D9CFBE"/>
            </a:solidFill>
            <a:prstDash val="solid"/>
          </a:ln>
          <a:effectLst>
            <a:outerShdw sx="100000" sy="100000" kx="0" ky="0" algn="bl" rotWithShape="0" blurRad="88900" dist="38100" dir="5400000">
              <a:srgbClr val="000000">
                <a:alpha val="14000"/>
              </a:srgbClr>
            </a:outerShdw>
          </a:effectLst>
        </p:spPr>
      </p:sp>
      <p:sp>
        <p:nvSpPr>
          <p:cNvPr id="23" name="Shape 21"/>
          <p:cNvSpPr/>
          <p:nvPr/>
        </p:nvSpPr>
        <p:spPr>
          <a:xfrm>
            <a:off x="8275320" y="2606040"/>
            <a:ext cx="548640" cy="548640"/>
          </a:xfrm>
          <a:prstGeom prst="ellipse">
            <a:avLst/>
          </a:prstGeom>
          <a:solidFill>
            <a:srgbClr val="6D2E46"/>
          </a:solidFill>
          <a:ln/>
        </p:spPr>
      </p:sp>
      <p:sp>
        <p:nvSpPr>
          <p:cNvPr id="24" name="Text 22"/>
          <p:cNvSpPr/>
          <p:nvPr/>
        </p:nvSpPr>
        <p:spPr>
          <a:xfrm>
            <a:off x="8275320" y="260604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5" name="Text 23"/>
          <p:cNvSpPr/>
          <p:nvPr/>
        </p:nvSpPr>
        <p:spPr>
          <a:xfrm>
            <a:off x="8961120" y="2642616"/>
            <a:ext cx="2423160" cy="256032"/>
          </a:xfrm>
          <a:prstGeom prst="rect">
            <a:avLst/>
          </a:prstGeom>
          <a:noFill/>
          <a:ln/>
        </p:spPr>
        <p:txBody>
          <a:bodyPr wrap="square" lIns="0" tIns="0" rIns="0" bIns="0" rtlCol="0" anchor="ctr"/>
          <a:lstStyle/>
          <a:p>
            <a:pPr indent="0" marL="0">
              <a:buNone/>
            </a:pPr>
            <a:r>
              <a:rPr lang="en-US" sz="1050" b="1" spc="100" kern="0" dirty="0">
                <a:solidFill>
                  <a:srgbClr val="7A6F5E"/>
                </a:solidFill>
                <a:latin typeface="Calibri" pitchFamily="34" charset="0"/>
                <a:ea typeface="Calibri" pitchFamily="34" charset="-122"/>
                <a:cs typeface="Calibri" pitchFamily="34" charset="-120"/>
              </a:rPr>
              <a:t>HARD TO</a:t>
            </a:r>
            <a:endParaRPr lang="en-US" sz="1050" dirty="0"/>
          </a:p>
        </p:txBody>
      </p:sp>
      <p:sp>
        <p:nvSpPr>
          <p:cNvPr id="26" name="Text 24"/>
          <p:cNvSpPr/>
          <p:nvPr/>
        </p:nvSpPr>
        <p:spPr>
          <a:xfrm>
            <a:off x="8961120" y="2843784"/>
            <a:ext cx="2423160" cy="365760"/>
          </a:xfrm>
          <a:prstGeom prst="rect">
            <a:avLst/>
          </a:prstGeom>
          <a:noFill/>
          <a:ln/>
        </p:spPr>
        <p:txBody>
          <a:bodyPr wrap="square" lIns="0" tIns="0" rIns="0" bIns="0" rtlCol="0" anchor="ctr"/>
          <a:lstStyle/>
          <a:p>
            <a:pPr indent="0" marL="0">
              <a:buNone/>
            </a:pPr>
            <a:r>
              <a:rPr lang="en-US" sz="1900" b="1" dirty="0">
                <a:solidFill>
                  <a:srgbClr val="6D2E46"/>
                </a:solidFill>
                <a:latin typeface="Cambria" pitchFamily="34" charset="0"/>
                <a:ea typeface="Cambria" pitchFamily="34" charset="-122"/>
                <a:cs typeface="Cambria" pitchFamily="34" charset="-120"/>
              </a:rPr>
              <a:t>Extract rules</a:t>
            </a:r>
            <a:endParaRPr lang="en-US" sz="1900" dirty="0"/>
          </a:p>
        </p:txBody>
      </p:sp>
      <p:sp>
        <p:nvSpPr>
          <p:cNvPr id="27" name="Text 25"/>
          <p:cNvSpPr/>
          <p:nvPr/>
        </p:nvSpPr>
        <p:spPr>
          <a:xfrm>
            <a:off x="8275320" y="3474720"/>
            <a:ext cx="3063240" cy="1463040"/>
          </a:xfrm>
          <a:prstGeom prst="rect">
            <a:avLst/>
          </a:prstGeom>
          <a:noFill/>
          <a:ln/>
        </p:spPr>
        <p:txBody>
          <a:bodyPr wrap="square" lIns="0" tIns="0" rIns="0" bIns="0" rtlCol="0" anchor="ctr"/>
          <a:lstStyle/>
          <a:p>
            <a:pPr indent="0" marL="0">
              <a:buNone/>
            </a:pPr>
            <a:r>
              <a:rPr lang="en-US" sz="1350" dirty="0">
                <a:solidFill>
                  <a:srgbClr val="2B2320"/>
                </a:solidFill>
                <a:latin typeface="Calibri" pitchFamily="34" charset="0"/>
                <a:ea typeface="Calibri" pitchFamily="34" charset="-122"/>
                <a:cs typeface="Calibri" pitchFamily="34" charset="-120"/>
              </a:rPr>
              <a:t>A rule must be interpretable, statistically robust and free of era artefacts — all three at once.</a:t>
            </a:r>
            <a:endParaRPr lang="en-US" sz="1350" dirty="0"/>
          </a:p>
        </p:txBody>
      </p:sp>
      <p:sp>
        <p:nvSpPr>
          <p:cNvPr id="28" name="Text 26"/>
          <p:cNvSpPr/>
          <p:nvPr/>
        </p:nvSpPr>
        <p:spPr>
          <a:xfrm>
            <a:off x="640080" y="5394960"/>
            <a:ext cx="10881360" cy="457200"/>
          </a:xfrm>
          <a:prstGeom prst="rect">
            <a:avLst/>
          </a:prstGeom>
          <a:noFill/>
          <a:ln/>
        </p:spPr>
        <p:txBody>
          <a:bodyPr wrap="square" lIns="0" tIns="0" rIns="0" bIns="0" rtlCol="0" anchor="ctr"/>
          <a:lstStyle/>
          <a:p>
            <a:pPr algn="ctr" indent="0" marL="0">
              <a:buNone/>
            </a:pPr>
            <a:r>
              <a:rPr lang="en-US" sz="1550" i="1" dirty="0">
                <a:solidFill>
                  <a:srgbClr val="6D2E46"/>
                </a:solidFill>
                <a:latin typeface="Cambria" pitchFamily="34" charset="0"/>
                <a:ea typeface="Cambria" pitchFamily="34" charset="-122"/>
                <a:cs typeface="Cambria" pitchFamily="34" charset="-120"/>
              </a:rPr>
              <a:t>An off-the-shelf accuracy model answers none of these — which is exactly what motivates the method.</a:t>
            </a:r>
            <a:endParaRPr lang="en-US" sz="1550" dirty="0"/>
          </a:p>
        </p:txBody>
      </p:sp>
      <p:sp>
        <p:nvSpPr>
          <p:cNvPr id="29" name="Text 27"/>
          <p:cNvSpPr/>
          <p:nvPr/>
        </p:nvSpPr>
        <p:spPr>
          <a:xfrm>
            <a:off x="11475720" y="6419088"/>
            <a:ext cx="548640" cy="274320"/>
          </a:xfrm>
          <a:prstGeom prst="rect">
            <a:avLst/>
          </a:prstGeom>
          <a:noFill/>
          <a:ln/>
        </p:spPr>
        <p:txBody>
          <a:bodyPr wrap="square" lIns="0" tIns="0" rIns="0" bIns="0" rtlCol="0" anchor="ctr"/>
          <a:lstStyle/>
          <a:p>
            <a:pPr algn="r" indent="0" marL="0">
              <a:buNone/>
            </a:pPr>
            <a:r>
              <a:rPr lang="en-US" sz="1000" dirty="0">
                <a:solidFill>
                  <a:srgbClr val="7A6F5E"/>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30352"/>
            <a:ext cx="7680960" cy="868680"/>
          </a:xfrm>
          <a:prstGeom prst="rect">
            <a:avLst/>
          </a:prstGeom>
          <a:noFill/>
          <a:ln/>
        </p:spPr>
        <p:txBody>
          <a:bodyPr wrap="square" lIns="0" tIns="0" rIns="0" bIns="0" rtlCol="0" anchor="t"/>
          <a:lstStyle/>
          <a:p>
            <a:pPr indent="0" marL="0">
              <a:buNone/>
            </a:pPr>
            <a:r>
              <a:rPr lang="en-US" sz="2900" b="1" dirty="0">
                <a:solidFill>
                  <a:srgbClr val="6D2E46"/>
                </a:solidFill>
                <a:latin typeface="Cambria" pitchFamily="34" charset="0"/>
                <a:ea typeface="Cambria" pitchFamily="34" charset="-122"/>
                <a:cs typeface="Cambria" pitchFamily="34" charset="-120"/>
              </a:rPr>
              <a:t>Two goals, one gap</a:t>
            </a:r>
            <a:endParaRPr lang="en-US" sz="2900" dirty="0"/>
          </a:p>
        </p:txBody>
      </p:sp>
      <p:sp>
        <p:nvSpPr>
          <p:cNvPr id="3" name="Shape 1"/>
          <p:cNvSpPr/>
          <p:nvPr/>
        </p:nvSpPr>
        <p:spPr>
          <a:xfrm>
            <a:off x="10323576" y="237744"/>
            <a:ext cx="182880" cy="182880"/>
          </a:xfrm>
          <a:prstGeom prst="ellipse">
            <a:avLst/>
          </a:prstGeom>
          <a:solidFill>
            <a:srgbClr val="C89B3C"/>
          </a:solidFill>
          <a:ln w="12700">
            <a:solidFill>
              <a:srgbClr val="C89B3C"/>
            </a:solidFill>
            <a:prstDash val="solid"/>
          </a:ln>
        </p:spPr>
      </p:sp>
      <p:sp>
        <p:nvSpPr>
          <p:cNvPr id="4" name="Shape 2"/>
          <p:cNvSpPr/>
          <p:nvPr/>
        </p:nvSpPr>
        <p:spPr>
          <a:xfrm>
            <a:off x="10657332" y="260604"/>
            <a:ext cx="137160" cy="137160"/>
          </a:xfrm>
          <a:prstGeom prst="ellipse">
            <a:avLst/>
          </a:prstGeom>
          <a:solidFill>
            <a:srgbClr val="FFFFFF"/>
          </a:solidFill>
          <a:ln w="12700">
            <a:solidFill>
              <a:srgbClr val="7A6F5E"/>
            </a:solidFill>
            <a:prstDash val="solid"/>
          </a:ln>
        </p:spPr>
      </p:sp>
      <p:sp>
        <p:nvSpPr>
          <p:cNvPr id="5" name="Shape 3"/>
          <p:cNvSpPr/>
          <p:nvPr/>
        </p:nvSpPr>
        <p:spPr>
          <a:xfrm>
            <a:off x="10968228" y="260604"/>
            <a:ext cx="137160" cy="137160"/>
          </a:xfrm>
          <a:prstGeom prst="ellipse">
            <a:avLst/>
          </a:prstGeom>
          <a:solidFill>
            <a:srgbClr val="FFFFFF"/>
          </a:solidFill>
          <a:ln w="12700">
            <a:solidFill>
              <a:srgbClr val="7A6F5E"/>
            </a:solidFill>
            <a:prstDash val="solid"/>
          </a:ln>
        </p:spPr>
      </p:sp>
      <p:sp>
        <p:nvSpPr>
          <p:cNvPr id="6" name="Shape 4"/>
          <p:cNvSpPr/>
          <p:nvPr/>
        </p:nvSpPr>
        <p:spPr>
          <a:xfrm>
            <a:off x="11279124" y="260604"/>
            <a:ext cx="137160" cy="137160"/>
          </a:xfrm>
          <a:prstGeom prst="ellipse">
            <a:avLst/>
          </a:prstGeom>
          <a:solidFill>
            <a:srgbClr val="FFFFFF"/>
          </a:solidFill>
          <a:ln w="12700">
            <a:solidFill>
              <a:srgbClr val="7A6F5E"/>
            </a:solidFill>
            <a:prstDash val="solid"/>
          </a:ln>
        </p:spPr>
      </p:sp>
      <p:sp>
        <p:nvSpPr>
          <p:cNvPr id="7" name="Shape 5"/>
          <p:cNvSpPr/>
          <p:nvPr/>
        </p:nvSpPr>
        <p:spPr>
          <a:xfrm>
            <a:off x="11590020" y="260604"/>
            <a:ext cx="137160" cy="137160"/>
          </a:xfrm>
          <a:prstGeom prst="ellipse">
            <a:avLst/>
          </a:prstGeom>
          <a:solidFill>
            <a:srgbClr val="FFFFFF"/>
          </a:solidFill>
          <a:ln w="12700">
            <a:solidFill>
              <a:srgbClr val="7A6F5E"/>
            </a:solidFill>
            <a:prstDash val="solid"/>
          </a:ln>
        </p:spPr>
      </p:sp>
      <p:sp>
        <p:nvSpPr>
          <p:cNvPr id="8" name="Text 6"/>
          <p:cNvSpPr/>
          <p:nvPr/>
        </p:nvSpPr>
        <p:spPr>
          <a:xfrm>
            <a:off x="5394960" y="182880"/>
            <a:ext cx="4480560" cy="320040"/>
          </a:xfrm>
          <a:prstGeom prst="rect">
            <a:avLst/>
          </a:prstGeom>
          <a:noFill/>
          <a:ln/>
        </p:spPr>
        <p:txBody>
          <a:bodyPr wrap="square" lIns="0" tIns="0" rIns="0" bIns="0" rtlCol="0" anchor="ctr"/>
          <a:lstStyle/>
          <a:p>
            <a:pPr algn="r" indent="0" marL="0">
              <a:buNone/>
            </a:pPr>
            <a:r>
              <a:rPr lang="en-US" sz="1100" dirty="0">
                <a:solidFill>
                  <a:srgbClr val="7A6F5E"/>
                </a:solidFill>
                <a:latin typeface="Calibri" pitchFamily="34" charset="0"/>
                <a:ea typeface="Calibri" pitchFamily="34" charset="-122"/>
                <a:cs typeface="Calibri" pitchFamily="34" charset="-120"/>
              </a:rPr>
              <a:t>IDEA 1  ·  </a:t>
            </a:r>
            <a:pPr algn="r" indent="0" marL="0">
              <a:buNone/>
            </a:pPr>
            <a:r>
              <a:rPr lang="en-US" sz="1100" b="1" dirty="0">
                <a:solidFill>
                  <a:srgbClr val="6D2E46"/>
                </a:solidFill>
                <a:latin typeface="Calibri" pitchFamily="34" charset="0"/>
                <a:ea typeface="Calibri" pitchFamily="34" charset="-122"/>
                <a:cs typeface="Calibri" pitchFamily="34" charset="-120"/>
              </a:rPr>
              <a:t>HARD</a:t>
            </a:r>
            <a:endParaRPr lang="en-US" sz="1100" dirty="0"/>
          </a:p>
        </p:txBody>
      </p:sp>
      <p:sp>
        <p:nvSpPr>
          <p:cNvPr id="9" name="Shape 7"/>
          <p:cNvSpPr/>
          <p:nvPr/>
        </p:nvSpPr>
        <p:spPr>
          <a:xfrm>
            <a:off x="640080" y="1828800"/>
            <a:ext cx="5074920" cy="2834640"/>
          </a:xfrm>
          <a:prstGeom prst="roundRect">
            <a:avLst>
              <a:gd name="adj" fmla="val 2581"/>
            </a:avLst>
          </a:prstGeom>
          <a:solidFill>
            <a:srgbClr val="F1F5EE"/>
          </a:solidFill>
          <a:ln w="12700">
            <a:solidFill>
              <a:srgbClr val="5E7148"/>
            </a:solidFill>
            <a:prstDash val="solid"/>
          </a:ln>
          <a:effectLst>
            <a:outerShdw sx="100000" sy="100000" kx="0" ky="0" algn="bl" rotWithShape="0" blurRad="88900" dist="38100" dir="5400000">
              <a:srgbClr val="000000">
                <a:alpha val="14000"/>
              </a:srgbClr>
            </a:outerShdw>
          </a:effectLst>
        </p:spPr>
      </p:sp>
      <p:sp>
        <p:nvSpPr>
          <p:cNvPr id="10" name="Text 8"/>
          <p:cNvSpPr/>
          <p:nvPr/>
        </p:nvSpPr>
        <p:spPr>
          <a:xfrm>
            <a:off x="914400" y="2103120"/>
            <a:ext cx="4526280" cy="365760"/>
          </a:xfrm>
          <a:prstGeom prst="rect">
            <a:avLst/>
          </a:prstGeom>
          <a:noFill/>
          <a:ln/>
        </p:spPr>
        <p:txBody>
          <a:bodyPr wrap="square" lIns="0" tIns="0" rIns="0" bIns="0" rtlCol="0" anchor="ctr"/>
          <a:lstStyle/>
          <a:p>
            <a:pPr indent="0" marL="0">
              <a:buNone/>
            </a:pPr>
            <a:r>
              <a:rPr lang="en-US" sz="1400" b="1" spc="200" kern="0" dirty="0">
                <a:solidFill>
                  <a:srgbClr val="5E7148"/>
                </a:solidFill>
                <a:latin typeface="Calibri" pitchFamily="34" charset="0"/>
                <a:ea typeface="Calibri" pitchFamily="34" charset="-122"/>
                <a:cs typeface="Calibri" pitchFamily="34" charset="-120"/>
              </a:rPr>
              <a:t>GOAL 1</a:t>
            </a:r>
            <a:endParaRPr lang="en-US" sz="1400" dirty="0"/>
          </a:p>
        </p:txBody>
      </p:sp>
      <p:sp>
        <p:nvSpPr>
          <p:cNvPr id="11" name="Text 9"/>
          <p:cNvSpPr/>
          <p:nvPr/>
        </p:nvSpPr>
        <p:spPr>
          <a:xfrm>
            <a:off x="914400" y="2468880"/>
            <a:ext cx="4526280" cy="731520"/>
          </a:xfrm>
          <a:prstGeom prst="rect">
            <a:avLst/>
          </a:prstGeom>
          <a:noFill/>
          <a:ln/>
        </p:spPr>
        <p:txBody>
          <a:bodyPr wrap="square" lIns="0" tIns="0" rIns="0" bIns="0" rtlCol="0" anchor="ctr"/>
          <a:lstStyle/>
          <a:p>
            <a:pPr indent="0" marL="0">
              <a:buNone/>
            </a:pPr>
            <a:r>
              <a:rPr lang="en-US" sz="4000" b="1" dirty="0">
                <a:solidFill>
                  <a:srgbClr val="5E7148"/>
                </a:solidFill>
                <a:latin typeface="Cambria" pitchFamily="34" charset="0"/>
                <a:ea typeface="Cambria" pitchFamily="34" charset="-122"/>
                <a:cs typeface="Cambria" pitchFamily="34" charset="-120"/>
              </a:rPr>
              <a:t>DISCOVER</a:t>
            </a:r>
            <a:endParaRPr lang="en-US" sz="4000" dirty="0"/>
          </a:p>
        </p:txBody>
      </p:sp>
      <p:sp>
        <p:nvSpPr>
          <p:cNvPr id="12" name="Text 10"/>
          <p:cNvSpPr/>
          <p:nvPr/>
        </p:nvSpPr>
        <p:spPr>
          <a:xfrm>
            <a:off x="914400" y="3337560"/>
            <a:ext cx="4526280" cy="822960"/>
          </a:xfrm>
          <a:prstGeom prst="rect">
            <a:avLst/>
          </a:prstGeom>
          <a:noFill/>
          <a:ln/>
        </p:spPr>
        <p:txBody>
          <a:bodyPr wrap="square" lIns="0" tIns="0" rIns="0" bIns="0" rtlCol="0" anchor="ctr"/>
          <a:lstStyle/>
          <a:p>
            <a:pPr indent="0" marL="0">
              <a:buNone/>
            </a:pPr>
            <a:r>
              <a:rPr lang="en-US" sz="1450" dirty="0">
                <a:solidFill>
                  <a:srgbClr val="2B2320"/>
                </a:solidFill>
                <a:latin typeface="Calibri" pitchFamily="34" charset="0"/>
                <a:ea typeface="Calibri" pitchFamily="34" charset="-122"/>
                <a:cs typeface="Calibri" pitchFamily="34" charset="-120"/>
              </a:rPr>
              <a:t>Can we discover interpretable climate rules that explain above- and below-trend years?</a:t>
            </a:r>
            <a:endParaRPr lang="en-US" sz="1450" dirty="0"/>
          </a:p>
        </p:txBody>
      </p:sp>
      <p:sp>
        <p:nvSpPr>
          <p:cNvPr id="13" name="Text 11"/>
          <p:cNvSpPr/>
          <p:nvPr/>
        </p:nvSpPr>
        <p:spPr>
          <a:xfrm>
            <a:off x="914400" y="4114800"/>
            <a:ext cx="4526280" cy="457200"/>
          </a:xfrm>
          <a:prstGeom prst="rect">
            <a:avLst/>
          </a:prstGeom>
          <a:noFill/>
          <a:ln/>
        </p:spPr>
        <p:txBody>
          <a:bodyPr wrap="square" lIns="0" tIns="0" rIns="0" bIns="0" rtlCol="0" anchor="ctr"/>
          <a:lstStyle/>
          <a:p>
            <a:pPr indent="0" marL="0">
              <a:buNone/>
            </a:pPr>
            <a:r>
              <a:rPr lang="en-US" sz="1200" i="1" dirty="0">
                <a:solidFill>
                  <a:srgbClr val="7A6F5E"/>
                </a:solidFill>
                <a:latin typeface="Calibri" pitchFamily="34" charset="0"/>
                <a:ea typeface="Calibri" pitchFamily="34" charset="-122"/>
                <a:cs typeface="Calibri" pitchFamily="34" charset="-120"/>
              </a:rPr>
              <a:t>RQ1 — which variables?   RQ2 — genuine or era-confounded?</a:t>
            </a:r>
            <a:endParaRPr lang="en-US" sz="1200" dirty="0"/>
          </a:p>
        </p:txBody>
      </p:sp>
      <p:sp>
        <p:nvSpPr>
          <p:cNvPr id="14" name="Shape 12"/>
          <p:cNvSpPr/>
          <p:nvPr/>
        </p:nvSpPr>
        <p:spPr>
          <a:xfrm>
            <a:off x="6446520" y="1828800"/>
            <a:ext cx="5074920" cy="2834640"/>
          </a:xfrm>
          <a:prstGeom prst="roundRect">
            <a:avLst>
              <a:gd name="adj" fmla="val 2581"/>
            </a:avLst>
          </a:prstGeom>
          <a:solidFill>
            <a:srgbClr val="F6ECED"/>
          </a:solidFill>
          <a:ln w="12700">
            <a:solidFill>
              <a:srgbClr val="7A2E39"/>
            </a:solidFill>
            <a:prstDash val="solid"/>
          </a:ln>
          <a:effectLst>
            <a:outerShdw sx="100000" sy="100000" kx="0" ky="0" algn="bl" rotWithShape="0" blurRad="88900" dist="38100" dir="5400000">
              <a:srgbClr val="000000">
                <a:alpha val="14000"/>
              </a:srgbClr>
            </a:outerShdw>
          </a:effectLst>
        </p:spPr>
      </p:sp>
      <p:sp>
        <p:nvSpPr>
          <p:cNvPr id="15" name="Text 13"/>
          <p:cNvSpPr/>
          <p:nvPr/>
        </p:nvSpPr>
        <p:spPr>
          <a:xfrm>
            <a:off x="6720840" y="2103120"/>
            <a:ext cx="4526280" cy="365760"/>
          </a:xfrm>
          <a:prstGeom prst="rect">
            <a:avLst/>
          </a:prstGeom>
          <a:noFill/>
          <a:ln/>
        </p:spPr>
        <p:txBody>
          <a:bodyPr wrap="square" lIns="0" tIns="0" rIns="0" bIns="0" rtlCol="0" anchor="ctr"/>
          <a:lstStyle/>
          <a:p>
            <a:pPr indent="0" marL="0">
              <a:buNone/>
            </a:pPr>
            <a:r>
              <a:rPr lang="en-US" sz="1400" b="1" spc="200" kern="0" dirty="0">
                <a:solidFill>
                  <a:srgbClr val="7A2E39"/>
                </a:solidFill>
                <a:latin typeface="Calibri" pitchFamily="34" charset="0"/>
                <a:ea typeface="Calibri" pitchFamily="34" charset="-122"/>
                <a:cs typeface="Calibri" pitchFamily="34" charset="-120"/>
              </a:rPr>
              <a:t>GOAL 2</a:t>
            </a:r>
            <a:endParaRPr lang="en-US" sz="1400" dirty="0"/>
          </a:p>
        </p:txBody>
      </p:sp>
      <p:sp>
        <p:nvSpPr>
          <p:cNvPr id="16" name="Text 14"/>
          <p:cNvSpPr/>
          <p:nvPr/>
        </p:nvSpPr>
        <p:spPr>
          <a:xfrm>
            <a:off x="6720840" y="2468880"/>
            <a:ext cx="4526280" cy="731520"/>
          </a:xfrm>
          <a:prstGeom prst="rect">
            <a:avLst/>
          </a:prstGeom>
          <a:noFill/>
          <a:ln/>
        </p:spPr>
        <p:txBody>
          <a:bodyPr wrap="square" lIns="0" tIns="0" rIns="0" bIns="0" rtlCol="0" anchor="ctr"/>
          <a:lstStyle/>
          <a:p>
            <a:pPr indent="0" marL="0">
              <a:buNone/>
            </a:pPr>
            <a:r>
              <a:rPr lang="en-US" sz="4000" b="1" dirty="0">
                <a:solidFill>
                  <a:srgbClr val="7A2E39"/>
                </a:solidFill>
                <a:latin typeface="Cambria" pitchFamily="34" charset="0"/>
                <a:ea typeface="Cambria" pitchFamily="34" charset="-122"/>
                <a:cs typeface="Cambria" pitchFamily="34" charset="-120"/>
              </a:rPr>
              <a:t>PREDICT</a:t>
            </a:r>
            <a:endParaRPr lang="en-US" sz="4000" dirty="0"/>
          </a:p>
        </p:txBody>
      </p:sp>
      <p:sp>
        <p:nvSpPr>
          <p:cNvPr id="17" name="Text 15"/>
          <p:cNvSpPr/>
          <p:nvPr/>
        </p:nvSpPr>
        <p:spPr>
          <a:xfrm>
            <a:off x="6720840" y="3337560"/>
            <a:ext cx="4526280" cy="822960"/>
          </a:xfrm>
          <a:prstGeom prst="rect">
            <a:avLst/>
          </a:prstGeom>
          <a:noFill/>
          <a:ln/>
        </p:spPr>
        <p:txBody>
          <a:bodyPr wrap="square" lIns="0" tIns="0" rIns="0" bIns="0" rtlCol="0" anchor="ctr"/>
          <a:lstStyle/>
          <a:p>
            <a:pPr indent="0" marL="0">
              <a:buNone/>
            </a:pPr>
            <a:r>
              <a:rPr lang="en-US" sz="1450" dirty="0">
                <a:solidFill>
                  <a:srgbClr val="2B2320"/>
                </a:solidFill>
                <a:latin typeface="Calibri" pitchFamily="34" charset="0"/>
                <a:ea typeface="Calibri" pitchFamily="34" charset="-122"/>
                <a:cs typeface="Calibri" pitchFamily="34" charset="-120"/>
              </a:rPr>
              <a:t>Do those same rules actually predict future production better than a naive forecast?</a:t>
            </a:r>
            <a:endParaRPr lang="en-US" sz="1450" dirty="0"/>
          </a:p>
        </p:txBody>
      </p:sp>
      <p:sp>
        <p:nvSpPr>
          <p:cNvPr id="18" name="Text 16"/>
          <p:cNvSpPr/>
          <p:nvPr/>
        </p:nvSpPr>
        <p:spPr>
          <a:xfrm>
            <a:off x="6720840" y="4114800"/>
            <a:ext cx="4526280" cy="457200"/>
          </a:xfrm>
          <a:prstGeom prst="rect">
            <a:avLst/>
          </a:prstGeom>
          <a:noFill/>
          <a:ln/>
        </p:spPr>
        <p:txBody>
          <a:bodyPr wrap="square" lIns="0" tIns="0" rIns="0" bIns="0" rtlCol="0" anchor="ctr"/>
          <a:lstStyle/>
          <a:p>
            <a:pPr indent="0" marL="0">
              <a:buNone/>
            </a:pPr>
            <a:r>
              <a:rPr lang="en-US" sz="1200" i="1" dirty="0">
                <a:solidFill>
                  <a:srgbClr val="7A6F5E"/>
                </a:solidFill>
                <a:latin typeface="Calibri" pitchFamily="34" charset="0"/>
                <a:ea typeface="Calibri" pitchFamily="34" charset="-122"/>
                <a:cs typeface="Calibri" pitchFamily="34" charset="-120"/>
              </a:rPr>
              <a:t>RQ3 — beat the baseline?   RQ4 — if not, when might it?</a:t>
            </a:r>
            <a:endParaRPr lang="en-US" sz="1200" dirty="0"/>
          </a:p>
        </p:txBody>
      </p:sp>
      <p:sp>
        <p:nvSpPr>
          <p:cNvPr id="19" name="Text 17"/>
          <p:cNvSpPr/>
          <p:nvPr/>
        </p:nvSpPr>
        <p:spPr>
          <a:xfrm>
            <a:off x="640080" y="5029200"/>
            <a:ext cx="10881360" cy="548640"/>
          </a:xfrm>
          <a:prstGeom prst="rect">
            <a:avLst/>
          </a:prstGeom>
          <a:noFill/>
          <a:ln/>
        </p:spPr>
        <p:txBody>
          <a:bodyPr wrap="square" lIns="0" tIns="0" rIns="0" bIns="0" rtlCol="0" anchor="ctr"/>
          <a:lstStyle/>
          <a:p>
            <a:pPr algn="ctr" indent="0" marL="0">
              <a:buNone/>
            </a:pPr>
            <a:r>
              <a:rPr lang="en-US" sz="1900" b="1" i="1" dirty="0">
                <a:solidFill>
                  <a:srgbClr val="6D2E46"/>
                </a:solidFill>
                <a:latin typeface="Cambria" pitchFamily="34" charset="0"/>
                <a:ea typeface="Cambria" pitchFamily="34" charset="-122"/>
                <a:cs typeface="Cambria" pitchFamily="34" charset="-120"/>
              </a:rPr>
              <a:t>The whole thesis lives in the gap between those two verbs.</a:t>
            </a:r>
            <a:endParaRPr lang="en-US" sz="1900" dirty="0"/>
          </a:p>
        </p:txBody>
      </p:sp>
      <p:sp>
        <p:nvSpPr>
          <p:cNvPr id="20" name="Text 18"/>
          <p:cNvSpPr/>
          <p:nvPr/>
        </p:nvSpPr>
        <p:spPr>
          <a:xfrm>
            <a:off x="11475720" y="6419088"/>
            <a:ext cx="548640" cy="274320"/>
          </a:xfrm>
          <a:prstGeom prst="rect">
            <a:avLst/>
          </a:prstGeom>
          <a:noFill/>
          <a:ln/>
        </p:spPr>
        <p:txBody>
          <a:bodyPr wrap="square" lIns="0" tIns="0" rIns="0" bIns="0" rtlCol="0" anchor="ctr"/>
          <a:lstStyle/>
          <a:p>
            <a:pPr algn="r" indent="0" marL="0">
              <a:buNone/>
            </a:pPr>
            <a:r>
              <a:rPr lang="en-US" sz="1000" dirty="0">
                <a:solidFill>
                  <a:srgbClr val="7A6F5E"/>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30352"/>
            <a:ext cx="7680960" cy="868680"/>
          </a:xfrm>
          <a:prstGeom prst="rect">
            <a:avLst/>
          </a:prstGeom>
          <a:noFill/>
          <a:ln/>
        </p:spPr>
        <p:txBody>
          <a:bodyPr wrap="square" lIns="0" tIns="0" rIns="0" bIns="0" rtlCol="0" anchor="t"/>
          <a:lstStyle/>
          <a:p>
            <a:pPr indent="0" marL="0">
              <a:buNone/>
            </a:pPr>
            <a:r>
              <a:rPr lang="en-US" sz="2900" b="1" dirty="0">
                <a:solidFill>
                  <a:srgbClr val="6D2E46"/>
                </a:solidFill>
                <a:latin typeface="Cambria" pitchFamily="34" charset="0"/>
                <a:ea typeface="Cambria" pitchFamily="34" charset="-122"/>
                <a:cs typeface="Cambria" pitchFamily="34" charset="-120"/>
              </a:rPr>
              <a:t>Two regions, opposite histories, one method</a:t>
            </a:r>
            <a:endParaRPr lang="en-US" sz="2900" dirty="0"/>
          </a:p>
        </p:txBody>
      </p:sp>
      <p:sp>
        <p:nvSpPr>
          <p:cNvPr id="3" name="Shape 1"/>
          <p:cNvSpPr/>
          <p:nvPr/>
        </p:nvSpPr>
        <p:spPr>
          <a:xfrm>
            <a:off x="10323576" y="237744"/>
            <a:ext cx="182880" cy="182880"/>
          </a:xfrm>
          <a:prstGeom prst="ellipse">
            <a:avLst/>
          </a:prstGeom>
          <a:solidFill>
            <a:srgbClr val="C89B3C"/>
          </a:solidFill>
          <a:ln w="12700">
            <a:solidFill>
              <a:srgbClr val="C89B3C"/>
            </a:solidFill>
            <a:prstDash val="solid"/>
          </a:ln>
        </p:spPr>
      </p:sp>
      <p:sp>
        <p:nvSpPr>
          <p:cNvPr id="4" name="Shape 2"/>
          <p:cNvSpPr/>
          <p:nvPr/>
        </p:nvSpPr>
        <p:spPr>
          <a:xfrm>
            <a:off x="10657332" y="260604"/>
            <a:ext cx="137160" cy="137160"/>
          </a:xfrm>
          <a:prstGeom prst="ellipse">
            <a:avLst/>
          </a:prstGeom>
          <a:solidFill>
            <a:srgbClr val="FFFFFF"/>
          </a:solidFill>
          <a:ln w="12700">
            <a:solidFill>
              <a:srgbClr val="7A6F5E"/>
            </a:solidFill>
            <a:prstDash val="solid"/>
          </a:ln>
        </p:spPr>
      </p:sp>
      <p:sp>
        <p:nvSpPr>
          <p:cNvPr id="5" name="Shape 3"/>
          <p:cNvSpPr/>
          <p:nvPr/>
        </p:nvSpPr>
        <p:spPr>
          <a:xfrm>
            <a:off x="10968228" y="260604"/>
            <a:ext cx="137160" cy="137160"/>
          </a:xfrm>
          <a:prstGeom prst="ellipse">
            <a:avLst/>
          </a:prstGeom>
          <a:solidFill>
            <a:srgbClr val="FFFFFF"/>
          </a:solidFill>
          <a:ln w="12700">
            <a:solidFill>
              <a:srgbClr val="7A6F5E"/>
            </a:solidFill>
            <a:prstDash val="solid"/>
          </a:ln>
        </p:spPr>
      </p:sp>
      <p:sp>
        <p:nvSpPr>
          <p:cNvPr id="6" name="Shape 4"/>
          <p:cNvSpPr/>
          <p:nvPr/>
        </p:nvSpPr>
        <p:spPr>
          <a:xfrm>
            <a:off x="11279124" y="260604"/>
            <a:ext cx="137160" cy="137160"/>
          </a:xfrm>
          <a:prstGeom prst="ellipse">
            <a:avLst/>
          </a:prstGeom>
          <a:solidFill>
            <a:srgbClr val="FFFFFF"/>
          </a:solidFill>
          <a:ln w="12700">
            <a:solidFill>
              <a:srgbClr val="7A6F5E"/>
            </a:solidFill>
            <a:prstDash val="solid"/>
          </a:ln>
        </p:spPr>
      </p:sp>
      <p:sp>
        <p:nvSpPr>
          <p:cNvPr id="7" name="Shape 5"/>
          <p:cNvSpPr/>
          <p:nvPr/>
        </p:nvSpPr>
        <p:spPr>
          <a:xfrm>
            <a:off x="11590020" y="260604"/>
            <a:ext cx="137160" cy="137160"/>
          </a:xfrm>
          <a:prstGeom prst="ellipse">
            <a:avLst/>
          </a:prstGeom>
          <a:solidFill>
            <a:srgbClr val="FFFFFF"/>
          </a:solidFill>
          <a:ln w="12700">
            <a:solidFill>
              <a:srgbClr val="7A6F5E"/>
            </a:solidFill>
            <a:prstDash val="solid"/>
          </a:ln>
        </p:spPr>
      </p:sp>
      <p:sp>
        <p:nvSpPr>
          <p:cNvPr id="8" name="Text 6"/>
          <p:cNvSpPr/>
          <p:nvPr/>
        </p:nvSpPr>
        <p:spPr>
          <a:xfrm>
            <a:off x="5394960" y="182880"/>
            <a:ext cx="4480560" cy="320040"/>
          </a:xfrm>
          <a:prstGeom prst="rect">
            <a:avLst/>
          </a:prstGeom>
          <a:noFill/>
          <a:ln/>
        </p:spPr>
        <p:txBody>
          <a:bodyPr wrap="square" lIns="0" tIns="0" rIns="0" bIns="0" rtlCol="0" anchor="ctr"/>
          <a:lstStyle/>
          <a:p>
            <a:pPr algn="r" indent="0" marL="0">
              <a:buNone/>
            </a:pPr>
            <a:r>
              <a:rPr lang="en-US" sz="1100" dirty="0">
                <a:solidFill>
                  <a:srgbClr val="7A6F5E"/>
                </a:solidFill>
                <a:latin typeface="Calibri" pitchFamily="34" charset="0"/>
                <a:ea typeface="Calibri" pitchFamily="34" charset="-122"/>
                <a:cs typeface="Calibri" pitchFamily="34" charset="-120"/>
              </a:rPr>
              <a:t>IDEA 1  ·  </a:t>
            </a:r>
            <a:pPr algn="r" indent="0" marL="0">
              <a:buNone/>
            </a:pPr>
            <a:r>
              <a:rPr lang="en-US" sz="1100" b="1" dirty="0">
                <a:solidFill>
                  <a:srgbClr val="6D2E46"/>
                </a:solidFill>
                <a:latin typeface="Calibri" pitchFamily="34" charset="0"/>
                <a:ea typeface="Calibri" pitchFamily="34" charset="-122"/>
                <a:cs typeface="Calibri" pitchFamily="34" charset="-120"/>
              </a:rPr>
              <a:t>HARD</a:t>
            </a:r>
            <a:endParaRPr lang="en-US" sz="1100" dirty="0"/>
          </a:p>
        </p:txBody>
      </p:sp>
      <p:sp>
        <p:nvSpPr>
          <p:cNvPr id="9" name="Shape 7"/>
          <p:cNvSpPr/>
          <p:nvPr/>
        </p:nvSpPr>
        <p:spPr>
          <a:xfrm>
            <a:off x="640080" y="1828800"/>
            <a:ext cx="5074920" cy="3383280"/>
          </a:xfrm>
          <a:prstGeom prst="roundRect">
            <a:avLst>
              <a:gd name="adj" fmla="val 2162"/>
            </a:avLst>
          </a:prstGeom>
          <a:solidFill>
            <a:srgbClr val="F6ECED"/>
          </a:solidFill>
          <a:ln w="12700">
            <a:solidFill>
              <a:srgbClr val="7A2E39"/>
            </a:solidFill>
            <a:prstDash val="solid"/>
          </a:ln>
          <a:effectLst>
            <a:outerShdw sx="100000" sy="100000" kx="0" ky="0" algn="bl" rotWithShape="0" blurRad="88900" dist="38100" dir="5400000">
              <a:srgbClr val="000000">
                <a:alpha val="14000"/>
              </a:srgbClr>
            </a:outerShdw>
          </a:effectLst>
        </p:spPr>
      </p:sp>
      <p:sp>
        <p:nvSpPr>
          <p:cNvPr id="10" name="Text 8"/>
          <p:cNvSpPr/>
          <p:nvPr/>
        </p:nvSpPr>
        <p:spPr>
          <a:xfrm>
            <a:off x="640080" y="2057400"/>
            <a:ext cx="5074920" cy="457200"/>
          </a:xfrm>
          <a:prstGeom prst="rect">
            <a:avLst/>
          </a:prstGeom>
          <a:noFill/>
          <a:ln/>
        </p:spPr>
        <p:txBody>
          <a:bodyPr wrap="square" lIns="0" tIns="0" rIns="0" bIns="0" rtlCol="0" anchor="ctr"/>
          <a:lstStyle/>
          <a:p>
            <a:pPr algn="ctr" indent="0" marL="0">
              <a:buNone/>
            </a:pPr>
            <a:r>
              <a:rPr lang="en-US" sz="2200" b="1" dirty="0">
                <a:solidFill>
                  <a:srgbClr val="7A2E39"/>
                </a:solidFill>
                <a:latin typeface="Cambria" pitchFamily="34" charset="0"/>
                <a:ea typeface="Cambria" pitchFamily="34" charset="-122"/>
                <a:cs typeface="Cambria" pitchFamily="34" charset="-120"/>
              </a:rPr>
              <a:t>DOURO · RDD</a:t>
            </a:r>
            <a:endParaRPr lang="en-US" sz="2200" dirty="0"/>
          </a:p>
        </p:txBody>
      </p:sp>
      <p:sp>
        <p:nvSpPr>
          <p:cNvPr id="11" name="Shape 9"/>
          <p:cNvSpPr/>
          <p:nvPr/>
        </p:nvSpPr>
        <p:spPr>
          <a:xfrm>
            <a:off x="6446520" y="1828800"/>
            <a:ext cx="5074920" cy="3383280"/>
          </a:xfrm>
          <a:prstGeom prst="roundRect">
            <a:avLst>
              <a:gd name="adj" fmla="val 2162"/>
            </a:avLst>
          </a:prstGeom>
          <a:solidFill>
            <a:srgbClr val="F1F5EE"/>
          </a:solidFill>
          <a:ln w="12700">
            <a:solidFill>
              <a:srgbClr val="5E7148"/>
            </a:solidFill>
            <a:prstDash val="solid"/>
          </a:ln>
          <a:effectLst>
            <a:outerShdw sx="100000" sy="100000" kx="0" ky="0" algn="bl" rotWithShape="0" blurRad="88900" dist="38100" dir="5400000">
              <a:srgbClr val="000000">
                <a:alpha val="14000"/>
              </a:srgbClr>
            </a:outerShdw>
          </a:effectLst>
        </p:spPr>
      </p:sp>
      <p:sp>
        <p:nvSpPr>
          <p:cNvPr id="12" name="Text 10"/>
          <p:cNvSpPr/>
          <p:nvPr/>
        </p:nvSpPr>
        <p:spPr>
          <a:xfrm>
            <a:off x="6446520" y="2057400"/>
            <a:ext cx="5074920" cy="457200"/>
          </a:xfrm>
          <a:prstGeom prst="rect">
            <a:avLst/>
          </a:prstGeom>
          <a:noFill/>
          <a:ln/>
        </p:spPr>
        <p:txBody>
          <a:bodyPr wrap="square" lIns="0" tIns="0" rIns="0" bIns="0" rtlCol="0" anchor="ctr"/>
          <a:lstStyle/>
          <a:p>
            <a:pPr algn="ctr" indent="0" marL="0">
              <a:buNone/>
            </a:pPr>
            <a:r>
              <a:rPr lang="en-US" sz="2200" b="1" dirty="0">
                <a:solidFill>
                  <a:srgbClr val="5E7148"/>
                </a:solidFill>
                <a:latin typeface="Cambria" pitchFamily="34" charset="0"/>
                <a:ea typeface="Cambria" pitchFamily="34" charset="-122"/>
                <a:cs typeface="Cambria" pitchFamily="34" charset="-120"/>
              </a:rPr>
              <a:t>VINHO VERDE · RVV</a:t>
            </a:r>
            <a:endParaRPr lang="en-US" sz="2200" dirty="0"/>
          </a:p>
        </p:txBody>
      </p:sp>
      <p:sp>
        <p:nvSpPr>
          <p:cNvPr id="13" name="Text 11"/>
          <p:cNvSpPr/>
          <p:nvPr/>
        </p:nvSpPr>
        <p:spPr>
          <a:xfrm>
            <a:off x="640080" y="2679192"/>
            <a:ext cx="5074920" cy="256032"/>
          </a:xfrm>
          <a:prstGeom prst="rect">
            <a:avLst/>
          </a:prstGeom>
          <a:noFill/>
          <a:ln/>
        </p:spPr>
        <p:txBody>
          <a:bodyPr wrap="square" lIns="0" tIns="0" rIns="0" bIns="0" rtlCol="0" anchor="ctr"/>
          <a:lstStyle/>
          <a:p>
            <a:pPr algn="ctr" indent="0" marL="0">
              <a:buNone/>
            </a:pPr>
            <a:r>
              <a:rPr lang="en-US" sz="950" b="1" spc="100" kern="0" dirty="0">
                <a:solidFill>
                  <a:srgbClr val="7A6F5E"/>
                </a:solidFill>
                <a:latin typeface="Calibri" pitchFamily="34" charset="0"/>
                <a:ea typeface="Calibri" pitchFamily="34" charset="-122"/>
                <a:cs typeface="Calibri" pitchFamily="34" charset="-120"/>
              </a:rPr>
              <a:t>PERIOD</a:t>
            </a:r>
            <a:endParaRPr lang="en-US" sz="950" dirty="0"/>
          </a:p>
        </p:txBody>
      </p:sp>
      <p:sp>
        <p:nvSpPr>
          <p:cNvPr id="14" name="Text 12"/>
          <p:cNvSpPr/>
          <p:nvPr/>
        </p:nvSpPr>
        <p:spPr>
          <a:xfrm>
            <a:off x="822960" y="2916936"/>
            <a:ext cx="4709160" cy="365760"/>
          </a:xfrm>
          <a:prstGeom prst="rect">
            <a:avLst/>
          </a:prstGeom>
          <a:noFill/>
          <a:ln/>
        </p:spPr>
        <p:txBody>
          <a:bodyPr wrap="square" lIns="0" tIns="0" rIns="0" bIns="0" rtlCol="0" anchor="ctr"/>
          <a:lstStyle/>
          <a:p>
            <a:pPr algn="ctr" indent="0" marL="0">
              <a:buNone/>
            </a:pPr>
            <a:r>
              <a:rPr lang="en-US" sz="1350" dirty="0">
                <a:solidFill>
                  <a:srgbClr val="2B2320"/>
                </a:solidFill>
                <a:latin typeface="Calibri" pitchFamily="34" charset="0"/>
                <a:ea typeface="Calibri" pitchFamily="34" charset="-122"/>
                <a:cs typeface="Calibri" pitchFamily="34" charset="-120"/>
              </a:rPr>
              <a:t>1934–2022 · 89 years</a:t>
            </a:r>
            <a:endParaRPr lang="en-US" sz="1350" dirty="0"/>
          </a:p>
        </p:txBody>
      </p:sp>
      <p:sp>
        <p:nvSpPr>
          <p:cNvPr id="15" name="Text 13"/>
          <p:cNvSpPr/>
          <p:nvPr/>
        </p:nvSpPr>
        <p:spPr>
          <a:xfrm>
            <a:off x="6629400" y="2916936"/>
            <a:ext cx="4709160" cy="365760"/>
          </a:xfrm>
          <a:prstGeom prst="rect">
            <a:avLst/>
          </a:prstGeom>
          <a:noFill/>
          <a:ln/>
        </p:spPr>
        <p:txBody>
          <a:bodyPr wrap="square" lIns="0" tIns="0" rIns="0" bIns="0" rtlCol="0" anchor="ctr"/>
          <a:lstStyle/>
          <a:p>
            <a:pPr algn="ctr" indent="0" marL="0">
              <a:buNone/>
            </a:pPr>
            <a:r>
              <a:rPr lang="en-US" sz="1350" dirty="0">
                <a:solidFill>
                  <a:srgbClr val="2B2320"/>
                </a:solidFill>
                <a:latin typeface="Calibri" pitchFamily="34" charset="0"/>
                <a:ea typeface="Calibri" pitchFamily="34" charset="-122"/>
                <a:cs typeface="Calibri" pitchFamily="34" charset="-120"/>
              </a:rPr>
              <a:t>1942–2021 · 80 years</a:t>
            </a:r>
            <a:endParaRPr lang="en-US" sz="1350" dirty="0"/>
          </a:p>
        </p:txBody>
      </p:sp>
      <p:sp>
        <p:nvSpPr>
          <p:cNvPr id="16" name="Text 14"/>
          <p:cNvSpPr/>
          <p:nvPr/>
        </p:nvSpPr>
        <p:spPr>
          <a:xfrm>
            <a:off x="640080" y="3300984"/>
            <a:ext cx="5074920" cy="256032"/>
          </a:xfrm>
          <a:prstGeom prst="rect">
            <a:avLst/>
          </a:prstGeom>
          <a:noFill/>
          <a:ln/>
        </p:spPr>
        <p:txBody>
          <a:bodyPr wrap="square" lIns="0" tIns="0" rIns="0" bIns="0" rtlCol="0" anchor="ctr"/>
          <a:lstStyle/>
          <a:p>
            <a:pPr algn="ctr" indent="0" marL="0">
              <a:buNone/>
            </a:pPr>
            <a:r>
              <a:rPr lang="en-US" sz="950" b="1" spc="100" kern="0" dirty="0">
                <a:solidFill>
                  <a:srgbClr val="7A6F5E"/>
                </a:solidFill>
                <a:latin typeface="Calibri" pitchFamily="34" charset="0"/>
                <a:ea typeface="Calibri" pitchFamily="34" charset="-122"/>
                <a:cs typeface="Calibri" pitchFamily="34" charset="-120"/>
              </a:rPr>
              <a:t>PRODUCTION TREND</a:t>
            </a:r>
            <a:endParaRPr lang="en-US" sz="950" dirty="0"/>
          </a:p>
        </p:txBody>
      </p:sp>
      <p:sp>
        <p:nvSpPr>
          <p:cNvPr id="17" name="Text 15"/>
          <p:cNvSpPr/>
          <p:nvPr/>
        </p:nvSpPr>
        <p:spPr>
          <a:xfrm>
            <a:off x="822960" y="3538728"/>
            <a:ext cx="4709160" cy="365760"/>
          </a:xfrm>
          <a:prstGeom prst="rect">
            <a:avLst/>
          </a:prstGeom>
          <a:noFill/>
          <a:ln/>
        </p:spPr>
        <p:txBody>
          <a:bodyPr wrap="square" lIns="0" tIns="0" rIns="0" bIns="0" rtlCol="0" anchor="ctr"/>
          <a:lstStyle/>
          <a:p>
            <a:pPr algn="ctr" indent="0" marL="0">
              <a:buNone/>
            </a:pPr>
            <a:r>
              <a:rPr lang="en-US" sz="1350" dirty="0">
                <a:solidFill>
                  <a:srgbClr val="2B2320"/>
                </a:solidFill>
                <a:latin typeface="Calibri" pitchFamily="34" charset="0"/>
                <a:ea typeface="Calibri" pitchFamily="34" charset="-122"/>
                <a:cs typeface="Calibri" pitchFamily="34" charset="-120"/>
              </a:rPr>
              <a:t>+80% — gradual rise</a:t>
            </a:r>
            <a:endParaRPr lang="en-US" sz="1350" dirty="0"/>
          </a:p>
        </p:txBody>
      </p:sp>
      <p:sp>
        <p:nvSpPr>
          <p:cNvPr id="18" name="Text 16"/>
          <p:cNvSpPr/>
          <p:nvPr/>
        </p:nvSpPr>
        <p:spPr>
          <a:xfrm>
            <a:off x="6629400" y="3538728"/>
            <a:ext cx="4709160" cy="365760"/>
          </a:xfrm>
          <a:prstGeom prst="rect">
            <a:avLst/>
          </a:prstGeom>
          <a:noFill/>
          <a:ln/>
        </p:spPr>
        <p:txBody>
          <a:bodyPr wrap="square" lIns="0" tIns="0" rIns="0" bIns="0" rtlCol="0" anchor="ctr"/>
          <a:lstStyle/>
          <a:p>
            <a:pPr algn="ctr" indent="0" marL="0">
              <a:buNone/>
            </a:pPr>
            <a:r>
              <a:rPr lang="en-US" sz="1350" dirty="0">
                <a:solidFill>
                  <a:srgbClr val="2B2320"/>
                </a:solidFill>
                <a:latin typeface="Calibri" pitchFamily="34" charset="0"/>
                <a:ea typeface="Calibri" pitchFamily="34" charset="-122"/>
                <a:cs typeface="Calibri" pitchFamily="34" charset="-120"/>
              </a:rPr>
              <a:t>−65% — structural collapse</a:t>
            </a:r>
            <a:endParaRPr lang="en-US" sz="1350" dirty="0"/>
          </a:p>
        </p:txBody>
      </p:sp>
      <p:sp>
        <p:nvSpPr>
          <p:cNvPr id="19" name="Text 17"/>
          <p:cNvSpPr/>
          <p:nvPr/>
        </p:nvSpPr>
        <p:spPr>
          <a:xfrm>
            <a:off x="640080" y="3922776"/>
            <a:ext cx="5074920" cy="256032"/>
          </a:xfrm>
          <a:prstGeom prst="rect">
            <a:avLst/>
          </a:prstGeom>
          <a:noFill/>
          <a:ln/>
        </p:spPr>
        <p:txBody>
          <a:bodyPr wrap="square" lIns="0" tIns="0" rIns="0" bIns="0" rtlCol="0" anchor="ctr"/>
          <a:lstStyle/>
          <a:p>
            <a:pPr algn="ctr" indent="0" marL="0">
              <a:buNone/>
            </a:pPr>
            <a:r>
              <a:rPr lang="en-US" sz="950" b="1" spc="100" kern="0" dirty="0">
                <a:solidFill>
                  <a:srgbClr val="7A6F5E"/>
                </a:solidFill>
                <a:latin typeface="Calibri" pitchFamily="34" charset="0"/>
                <a:ea typeface="Calibri" pitchFamily="34" charset="-122"/>
                <a:cs typeface="Calibri" pitchFamily="34" charset="-120"/>
              </a:rPr>
              <a:t>STRUCTURAL DRIVER</a:t>
            </a:r>
            <a:endParaRPr lang="en-US" sz="950" dirty="0"/>
          </a:p>
        </p:txBody>
      </p:sp>
      <p:sp>
        <p:nvSpPr>
          <p:cNvPr id="20" name="Text 18"/>
          <p:cNvSpPr/>
          <p:nvPr/>
        </p:nvSpPr>
        <p:spPr>
          <a:xfrm>
            <a:off x="822960" y="4160520"/>
            <a:ext cx="4709160" cy="365760"/>
          </a:xfrm>
          <a:prstGeom prst="rect">
            <a:avLst/>
          </a:prstGeom>
          <a:noFill/>
          <a:ln/>
        </p:spPr>
        <p:txBody>
          <a:bodyPr wrap="square" lIns="0" tIns="0" rIns="0" bIns="0" rtlCol="0" anchor="ctr"/>
          <a:lstStyle/>
          <a:p>
            <a:pPr algn="ctr" indent="0" marL="0">
              <a:buNone/>
            </a:pPr>
            <a:r>
              <a:rPr lang="en-US" sz="1350" dirty="0">
                <a:solidFill>
                  <a:srgbClr val="2B2320"/>
                </a:solidFill>
                <a:latin typeface="Calibri" pitchFamily="34" charset="0"/>
                <a:ea typeface="Calibri" pitchFamily="34" charset="-122"/>
                <a:cs typeface="Calibri" pitchFamily="34" charset="-120"/>
              </a:rPr>
              <a:t>Port benefício quota (buffered)</a:t>
            </a:r>
            <a:endParaRPr lang="en-US" sz="1350" dirty="0"/>
          </a:p>
        </p:txBody>
      </p:sp>
      <p:sp>
        <p:nvSpPr>
          <p:cNvPr id="21" name="Text 19"/>
          <p:cNvSpPr/>
          <p:nvPr/>
        </p:nvSpPr>
        <p:spPr>
          <a:xfrm>
            <a:off x="6629400" y="4160520"/>
            <a:ext cx="4709160" cy="365760"/>
          </a:xfrm>
          <a:prstGeom prst="rect">
            <a:avLst/>
          </a:prstGeom>
          <a:noFill/>
          <a:ln/>
        </p:spPr>
        <p:txBody>
          <a:bodyPr wrap="square" lIns="0" tIns="0" rIns="0" bIns="0" rtlCol="0" anchor="ctr"/>
          <a:lstStyle/>
          <a:p>
            <a:pPr algn="ctr" indent="0" marL="0">
              <a:buNone/>
            </a:pPr>
            <a:r>
              <a:rPr lang="en-US" sz="1350" dirty="0">
                <a:solidFill>
                  <a:srgbClr val="2B2320"/>
                </a:solidFill>
                <a:latin typeface="Calibri" pitchFamily="34" charset="0"/>
                <a:ea typeface="Calibri" pitchFamily="34" charset="-122"/>
                <a:cs typeface="Calibri" pitchFamily="34" charset="-120"/>
              </a:rPr>
              <a:t>EU accession 1986 (grubbing-up, exodus)</a:t>
            </a:r>
            <a:endParaRPr lang="en-US" sz="1350" dirty="0"/>
          </a:p>
        </p:txBody>
      </p:sp>
      <p:sp>
        <p:nvSpPr>
          <p:cNvPr id="22" name="Text 20"/>
          <p:cNvSpPr/>
          <p:nvPr/>
        </p:nvSpPr>
        <p:spPr>
          <a:xfrm>
            <a:off x="640080" y="4544568"/>
            <a:ext cx="5074920" cy="256032"/>
          </a:xfrm>
          <a:prstGeom prst="rect">
            <a:avLst/>
          </a:prstGeom>
          <a:noFill/>
          <a:ln/>
        </p:spPr>
        <p:txBody>
          <a:bodyPr wrap="square" lIns="0" tIns="0" rIns="0" bIns="0" rtlCol="0" anchor="ctr"/>
          <a:lstStyle/>
          <a:p>
            <a:pPr algn="ctr" indent="0" marL="0">
              <a:buNone/>
            </a:pPr>
            <a:r>
              <a:rPr lang="en-US" sz="950" b="1" spc="100" kern="0" dirty="0">
                <a:solidFill>
                  <a:srgbClr val="7A6F5E"/>
                </a:solidFill>
                <a:latin typeface="Calibri" pitchFamily="34" charset="0"/>
                <a:ea typeface="Calibri" pitchFamily="34" charset="-122"/>
                <a:cs typeface="Calibri" pitchFamily="34" charset="-120"/>
              </a:rPr>
              <a:t>NON-STATIONARITY</a:t>
            </a:r>
            <a:endParaRPr lang="en-US" sz="950" dirty="0"/>
          </a:p>
        </p:txBody>
      </p:sp>
      <p:sp>
        <p:nvSpPr>
          <p:cNvPr id="23" name="Text 21"/>
          <p:cNvSpPr/>
          <p:nvPr/>
        </p:nvSpPr>
        <p:spPr>
          <a:xfrm>
            <a:off x="822960" y="4782312"/>
            <a:ext cx="4709160" cy="365760"/>
          </a:xfrm>
          <a:prstGeom prst="rect">
            <a:avLst/>
          </a:prstGeom>
          <a:noFill/>
          <a:ln/>
        </p:spPr>
        <p:txBody>
          <a:bodyPr wrap="square" lIns="0" tIns="0" rIns="0" bIns="0" rtlCol="0" anchor="ctr"/>
          <a:lstStyle/>
          <a:p>
            <a:pPr algn="ctr" indent="0" marL="0">
              <a:buNone/>
            </a:pPr>
            <a:r>
              <a:rPr lang="en-US" sz="1350" dirty="0">
                <a:solidFill>
                  <a:srgbClr val="2B2320"/>
                </a:solidFill>
                <a:latin typeface="Calibri" pitchFamily="34" charset="0"/>
                <a:ea typeface="Calibri" pitchFamily="34" charset="-122"/>
                <a:cs typeface="Calibri" pitchFamily="34" charset="-120"/>
              </a:rPr>
              <a:t>Moderate, smooth</a:t>
            </a:r>
            <a:endParaRPr lang="en-US" sz="1350" dirty="0"/>
          </a:p>
        </p:txBody>
      </p:sp>
      <p:sp>
        <p:nvSpPr>
          <p:cNvPr id="24" name="Text 22"/>
          <p:cNvSpPr/>
          <p:nvPr/>
        </p:nvSpPr>
        <p:spPr>
          <a:xfrm>
            <a:off x="6629400" y="4782312"/>
            <a:ext cx="4709160" cy="365760"/>
          </a:xfrm>
          <a:prstGeom prst="rect">
            <a:avLst/>
          </a:prstGeom>
          <a:noFill/>
          <a:ln/>
        </p:spPr>
        <p:txBody>
          <a:bodyPr wrap="square" lIns="0" tIns="0" rIns="0" bIns="0" rtlCol="0" anchor="ctr"/>
          <a:lstStyle/>
          <a:p>
            <a:pPr algn="ctr" indent="0" marL="0">
              <a:buNone/>
            </a:pPr>
            <a:r>
              <a:rPr lang="en-US" sz="1350" dirty="0">
                <a:solidFill>
                  <a:srgbClr val="2B2320"/>
                </a:solidFill>
                <a:latin typeface="Calibri" pitchFamily="34" charset="0"/>
                <a:ea typeface="Calibri" pitchFamily="34" charset="-122"/>
                <a:cs typeface="Calibri" pitchFamily="34" charset="-120"/>
              </a:rPr>
              <a:t>Severe, non-linear break</a:t>
            </a:r>
            <a:endParaRPr lang="en-US" sz="1350" dirty="0"/>
          </a:p>
        </p:txBody>
      </p:sp>
      <p:sp>
        <p:nvSpPr>
          <p:cNvPr id="25" name="Text 23"/>
          <p:cNvSpPr/>
          <p:nvPr/>
        </p:nvSpPr>
        <p:spPr>
          <a:xfrm>
            <a:off x="640080" y="5532120"/>
            <a:ext cx="10881360" cy="548640"/>
          </a:xfrm>
          <a:prstGeom prst="rect">
            <a:avLst/>
          </a:prstGeom>
          <a:noFill/>
          <a:ln/>
        </p:spPr>
        <p:txBody>
          <a:bodyPr wrap="square" lIns="0" tIns="0" rIns="0" bIns="0" rtlCol="0" anchor="ctr"/>
          <a:lstStyle/>
          <a:p>
            <a:pPr algn="ctr" indent="0" marL="0">
              <a:buNone/>
            </a:pPr>
            <a:r>
              <a:rPr lang="en-US" sz="1600" b="1" i="1" dirty="0">
                <a:solidFill>
                  <a:srgbClr val="6D2E46"/>
                </a:solidFill>
                <a:latin typeface="Cambria" pitchFamily="34" charset="0"/>
                <a:ea typeface="Cambria" pitchFamily="34" charset="-122"/>
                <a:cs typeface="Cambria" pitchFamily="34" charset="-120"/>
              </a:rPr>
              <a:t>Same algorithm on both → a natural experiment that separates climate signal from structural artefact.</a:t>
            </a:r>
            <a:endParaRPr lang="en-US" sz="1600" dirty="0"/>
          </a:p>
        </p:txBody>
      </p:sp>
      <p:sp>
        <p:nvSpPr>
          <p:cNvPr id="26" name="Text 24"/>
          <p:cNvSpPr/>
          <p:nvPr/>
        </p:nvSpPr>
        <p:spPr>
          <a:xfrm>
            <a:off x="11475720" y="6419088"/>
            <a:ext cx="548640" cy="274320"/>
          </a:xfrm>
          <a:prstGeom prst="rect">
            <a:avLst/>
          </a:prstGeom>
          <a:noFill/>
          <a:ln/>
        </p:spPr>
        <p:txBody>
          <a:bodyPr wrap="square" lIns="0" tIns="0" rIns="0" bIns="0" rtlCol="0" anchor="ctr"/>
          <a:lstStyle/>
          <a:p>
            <a:pPr algn="r" indent="0" marL="0">
              <a:buNone/>
            </a:pPr>
            <a:r>
              <a:rPr lang="en-US" sz="1000" dirty="0">
                <a:solidFill>
                  <a:srgbClr val="7A6F5E"/>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30352"/>
            <a:ext cx="7680960" cy="868680"/>
          </a:xfrm>
          <a:prstGeom prst="rect">
            <a:avLst/>
          </a:prstGeom>
          <a:noFill/>
          <a:ln/>
        </p:spPr>
        <p:txBody>
          <a:bodyPr wrap="square" lIns="0" tIns="0" rIns="0" bIns="0" rtlCol="0" anchor="t"/>
          <a:lstStyle/>
          <a:p>
            <a:pPr indent="0" marL="0">
              <a:buNone/>
            </a:pPr>
            <a:r>
              <a:rPr lang="en-US" sz="2900" b="1" dirty="0">
                <a:solidFill>
                  <a:srgbClr val="6D2E46"/>
                </a:solidFill>
                <a:latin typeface="Cambria" pitchFamily="34" charset="0"/>
                <a:ea typeface="Cambria" pitchFamily="34" charset="-122"/>
                <a:cs typeface="Cambria" pitchFamily="34" charset="-120"/>
              </a:rPr>
              <a:t>One honest pipeline</a:t>
            </a:r>
            <a:endParaRPr lang="en-US" sz="2900" dirty="0"/>
          </a:p>
        </p:txBody>
      </p:sp>
      <p:sp>
        <p:nvSpPr>
          <p:cNvPr id="3" name="Shape 1"/>
          <p:cNvSpPr/>
          <p:nvPr/>
        </p:nvSpPr>
        <p:spPr>
          <a:xfrm>
            <a:off x="10346436" y="260604"/>
            <a:ext cx="137160" cy="137160"/>
          </a:xfrm>
          <a:prstGeom prst="ellipse">
            <a:avLst/>
          </a:prstGeom>
          <a:solidFill>
            <a:srgbClr val="FFFFFF"/>
          </a:solidFill>
          <a:ln w="12700">
            <a:solidFill>
              <a:srgbClr val="7A6F5E"/>
            </a:solidFill>
            <a:prstDash val="solid"/>
          </a:ln>
        </p:spPr>
      </p:sp>
      <p:sp>
        <p:nvSpPr>
          <p:cNvPr id="4" name="Shape 2"/>
          <p:cNvSpPr/>
          <p:nvPr/>
        </p:nvSpPr>
        <p:spPr>
          <a:xfrm>
            <a:off x="10634472" y="237744"/>
            <a:ext cx="182880" cy="182880"/>
          </a:xfrm>
          <a:prstGeom prst="ellipse">
            <a:avLst/>
          </a:prstGeom>
          <a:solidFill>
            <a:srgbClr val="C89B3C"/>
          </a:solidFill>
          <a:ln w="12700">
            <a:solidFill>
              <a:srgbClr val="C89B3C"/>
            </a:solidFill>
            <a:prstDash val="solid"/>
          </a:ln>
        </p:spPr>
      </p:sp>
      <p:sp>
        <p:nvSpPr>
          <p:cNvPr id="5" name="Shape 3"/>
          <p:cNvSpPr/>
          <p:nvPr/>
        </p:nvSpPr>
        <p:spPr>
          <a:xfrm>
            <a:off x="10968228" y="260604"/>
            <a:ext cx="137160" cy="137160"/>
          </a:xfrm>
          <a:prstGeom prst="ellipse">
            <a:avLst/>
          </a:prstGeom>
          <a:solidFill>
            <a:srgbClr val="FFFFFF"/>
          </a:solidFill>
          <a:ln w="12700">
            <a:solidFill>
              <a:srgbClr val="7A6F5E"/>
            </a:solidFill>
            <a:prstDash val="solid"/>
          </a:ln>
        </p:spPr>
      </p:sp>
      <p:sp>
        <p:nvSpPr>
          <p:cNvPr id="6" name="Shape 4"/>
          <p:cNvSpPr/>
          <p:nvPr/>
        </p:nvSpPr>
        <p:spPr>
          <a:xfrm>
            <a:off x="11279124" y="260604"/>
            <a:ext cx="137160" cy="137160"/>
          </a:xfrm>
          <a:prstGeom prst="ellipse">
            <a:avLst/>
          </a:prstGeom>
          <a:solidFill>
            <a:srgbClr val="FFFFFF"/>
          </a:solidFill>
          <a:ln w="12700">
            <a:solidFill>
              <a:srgbClr val="7A6F5E"/>
            </a:solidFill>
            <a:prstDash val="solid"/>
          </a:ln>
        </p:spPr>
      </p:sp>
      <p:sp>
        <p:nvSpPr>
          <p:cNvPr id="7" name="Shape 5"/>
          <p:cNvSpPr/>
          <p:nvPr/>
        </p:nvSpPr>
        <p:spPr>
          <a:xfrm>
            <a:off x="11590020" y="260604"/>
            <a:ext cx="137160" cy="137160"/>
          </a:xfrm>
          <a:prstGeom prst="ellipse">
            <a:avLst/>
          </a:prstGeom>
          <a:solidFill>
            <a:srgbClr val="FFFFFF"/>
          </a:solidFill>
          <a:ln w="12700">
            <a:solidFill>
              <a:srgbClr val="7A6F5E"/>
            </a:solidFill>
            <a:prstDash val="solid"/>
          </a:ln>
        </p:spPr>
      </p:sp>
      <p:sp>
        <p:nvSpPr>
          <p:cNvPr id="8" name="Text 6"/>
          <p:cNvSpPr/>
          <p:nvPr/>
        </p:nvSpPr>
        <p:spPr>
          <a:xfrm>
            <a:off x="5394960" y="182880"/>
            <a:ext cx="4480560" cy="320040"/>
          </a:xfrm>
          <a:prstGeom prst="rect">
            <a:avLst/>
          </a:prstGeom>
          <a:noFill/>
          <a:ln/>
        </p:spPr>
        <p:txBody>
          <a:bodyPr wrap="square" lIns="0" tIns="0" rIns="0" bIns="0" rtlCol="0" anchor="ctr"/>
          <a:lstStyle/>
          <a:p>
            <a:pPr algn="r" indent="0" marL="0">
              <a:buNone/>
            </a:pPr>
            <a:r>
              <a:rPr lang="en-US" sz="1100" dirty="0">
                <a:solidFill>
                  <a:srgbClr val="7A6F5E"/>
                </a:solidFill>
                <a:latin typeface="Calibri" pitchFamily="34" charset="0"/>
                <a:ea typeface="Calibri" pitchFamily="34" charset="-122"/>
                <a:cs typeface="Calibri" pitchFamily="34" charset="-120"/>
              </a:rPr>
              <a:t>IDEA 2  ·  </a:t>
            </a:r>
            <a:pPr algn="r" indent="0" marL="0">
              <a:buNone/>
            </a:pPr>
            <a:r>
              <a:rPr lang="en-US" sz="1100" b="1" dirty="0">
                <a:solidFill>
                  <a:srgbClr val="6D2E46"/>
                </a:solidFill>
                <a:latin typeface="Calibri" pitchFamily="34" charset="0"/>
                <a:ea typeface="Calibri" pitchFamily="34" charset="-122"/>
                <a:cs typeface="Calibri" pitchFamily="34" charset="-120"/>
              </a:rPr>
              <a:t>AUDITABLE</a:t>
            </a:r>
            <a:endParaRPr lang="en-US" sz="1100" dirty="0"/>
          </a:p>
        </p:txBody>
      </p:sp>
      <p:sp>
        <p:nvSpPr>
          <p:cNvPr id="9" name="Shape 7"/>
          <p:cNvSpPr/>
          <p:nvPr/>
        </p:nvSpPr>
        <p:spPr>
          <a:xfrm>
            <a:off x="640080" y="1783080"/>
            <a:ext cx="548640" cy="548640"/>
          </a:xfrm>
          <a:prstGeom prst="ellipse">
            <a:avLst/>
          </a:prstGeom>
          <a:solidFill>
            <a:srgbClr val="6D2E46"/>
          </a:solidFill>
          <a:ln/>
        </p:spPr>
      </p:sp>
      <p:sp>
        <p:nvSpPr>
          <p:cNvPr id="10" name="Text 8"/>
          <p:cNvSpPr/>
          <p:nvPr/>
        </p:nvSpPr>
        <p:spPr>
          <a:xfrm>
            <a:off x="640080" y="17830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11" name="Text 9"/>
          <p:cNvSpPr/>
          <p:nvPr/>
        </p:nvSpPr>
        <p:spPr>
          <a:xfrm>
            <a:off x="1371600" y="1764792"/>
            <a:ext cx="5120640" cy="365760"/>
          </a:xfrm>
          <a:prstGeom prst="rect">
            <a:avLst/>
          </a:prstGeom>
          <a:noFill/>
          <a:ln/>
        </p:spPr>
        <p:txBody>
          <a:bodyPr wrap="square" lIns="0" tIns="0" rIns="0" bIns="0" rtlCol="0" anchor="ctr"/>
          <a:lstStyle/>
          <a:p>
            <a:pPr indent="0" marL="0">
              <a:buNone/>
            </a:pPr>
            <a:r>
              <a:rPr lang="en-US" sz="1700" b="1" dirty="0">
                <a:solidFill>
                  <a:srgbClr val="2B2320"/>
                </a:solidFill>
                <a:latin typeface="Cambria" pitchFamily="34" charset="0"/>
                <a:ea typeface="Cambria" pitchFamily="34" charset="-122"/>
                <a:cs typeface="Cambria" pitchFamily="34" charset="-120"/>
              </a:rPr>
              <a:t>Detrend in-fold</a:t>
            </a:r>
            <a:endParaRPr lang="en-US" sz="1700" dirty="0"/>
          </a:p>
        </p:txBody>
      </p:sp>
      <p:sp>
        <p:nvSpPr>
          <p:cNvPr id="12" name="Text 10"/>
          <p:cNvSpPr/>
          <p:nvPr/>
        </p:nvSpPr>
        <p:spPr>
          <a:xfrm>
            <a:off x="1371600" y="2130552"/>
            <a:ext cx="5120640" cy="548640"/>
          </a:xfrm>
          <a:prstGeom prst="rect">
            <a:avLst/>
          </a:prstGeom>
          <a:noFill/>
          <a:ln/>
        </p:spPr>
        <p:txBody>
          <a:bodyPr wrap="square" lIns="0" tIns="0" rIns="0" bIns="0" rtlCol="0" anchor="ctr"/>
          <a:lstStyle/>
          <a:p>
            <a:pPr indent="0" marL="0">
              <a:buNone/>
            </a:pPr>
            <a:r>
              <a:rPr lang="en-US" sz="1250" dirty="0">
                <a:solidFill>
                  <a:srgbClr val="7A6F5E"/>
                </a:solidFill>
                <a:latin typeface="Calibri" pitchFamily="34" charset="0"/>
                <a:ea typeface="Calibri" pitchFamily="34" charset="-122"/>
                <a:cs typeface="Calibri" pitchFamily="34" charset="-120"/>
              </a:rPr>
              <a:t>Remove structural trend separately inside every training fold — no leakage.</a:t>
            </a:r>
            <a:endParaRPr lang="en-US" sz="1250" dirty="0"/>
          </a:p>
        </p:txBody>
      </p:sp>
      <p:sp>
        <p:nvSpPr>
          <p:cNvPr id="13" name="Shape 11"/>
          <p:cNvSpPr/>
          <p:nvPr/>
        </p:nvSpPr>
        <p:spPr>
          <a:xfrm>
            <a:off x="640080" y="2834640"/>
            <a:ext cx="548640" cy="548640"/>
          </a:xfrm>
          <a:prstGeom prst="ellipse">
            <a:avLst/>
          </a:prstGeom>
          <a:solidFill>
            <a:srgbClr val="6D2E46"/>
          </a:solidFill>
          <a:ln/>
        </p:spPr>
      </p:sp>
      <p:sp>
        <p:nvSpPr>
          <p:cNvPr id="14" name="Text 12"/>
          <p:cNvSpPr/>
          <p:nvPr/>
        </p:nvSpPr>
        <p:spPr>
          <a:xfrm>
            <a:off x="640080" y="283464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5" name="Text 13"/>
          <p:cNvSpPr/>
          <p:nvPr/>
        </p:nvSpPr>
        <p:spPr>
          <a:xfrm>
            <a:off x="1371600" y="2816352"/>
            <a:ext cx="5120640" cy="365760"/>
          </a:xfrm>
          <a:prstGeom prst="rect">
            <a:avLst/>
          </a:prstGeom>
          <a:noFill/>
          <a:ln/>
        </p:spPr>
        <p:txBody>
          <a:bodyPr wrap="square" lIns="0" tIns="0" rIns="0" bIns="0" rtlCol="0" anchor="ctr"/>
          <a:lstStyle/>
          <a:p>
            <a:pPr indent="0" marL="0">
              <a:buNone/>
            </a:pPr>
            <a:r>
              <a:rPr lang="en-US" sz="1700" b="1" dirty="0">
                <a:solidFill>
                  <a:srgbClr val="2B2320"/>
                </a:solidFill>
                <a:latin typeface="Cambria" pitchFamily="34" charset="0"/>
                <a:ea typeface="Cambria" pitchFamily="34" charset="-122"/>
                <a:cs typeface="Cambria" pitchFamily="34" charset="-120"/>
              </a:rPr>
              <a:t>Discover rules</a:t>
            </a:r>
            <a:endParaRPr lang="en-US" sz="1700" dirty="0"/>
          </a:p>
        </p:txBody>
      </p:sp>
      <p:sp>
        <p:nvSpPr>
          <p:cNvPr id="16" name="Text 14"/>
          <p:cNvSpPr/>
          <p:nvPr/>
        </p:nvSpPr>
        <p:spPr>
          <a:xfrm>
            <a:off x="1371600" y="3182112"/>
            <a:ext cx="5120640" cy="548640"/>
          </a:xfrm>
          <a:prstGeom prst="rect">
            <a:avLst/>
          </a:prstGeom>
          <a:noFill/>
          <a:ln/>
        </p:spPr>
        <p:txBody>
          <a:bodyPr wrap="square" lIns="0" tIns="0" rIns="0" bIns="0" rtlCol="0" anchor="ctr"/>
          <a:lstStyle/>
          <a:p>
            <a:pPr indent="0" marL="0">
              <a:buNone/>
            </a:pPr>
            <a:r>
              <a:rPr lang="en-US" sz="1250" dirty="0">
                <a:solidFill>
                  <a:srgbClr val="7A6F5E"/>
                </a:solidFill>
                <a:latin typeface="Calibri" pitchFamily="34" charset="0"/>
                <a:ea typeface="Calibri" pitchFamily="34" charset="-122"/>
                <a:cs typeface="Calibri" pitchFamily="34" charset="-120"/>
              </a:rPr>
              <a:t>CarenR runs on the residuals; rules kept only if p ≤ 0.10 and support ≥ 20%.</a:t>
            </a:r>
            <a:endParaRPr lang="en-US" sz="1250" dirty="0"/>
          </a:p>
        </p:txBody>
      </p:sp>
      <p:sp>
        <p:nvSpPr>
          <p:cNvPr id="17" name="Shape 15"/>
          <p:cNvSpPr/>
          <p:nvPr/>
        </p:nvSpPr>
        <p:spPr>
          <a:xfrm>
            <a:off x="640080" y="3886200"/>
            <a:ext cx="548640" cy="548640"/>
          </a:xfrm>
          <a:prstGeom prst="ellipse">
            <a:avLst/>
          </a:prstGeom>
          <a:solidFill>
            <a:srgbClr val="6D2E46"/>
          </a:solidFill>
          <a:ln/>
        </p:spPr>
      </p:sp>
      <p:sp>
        <p:nvSpPr>
          <p:cNvPr id="18" name="Text 16"/>
          <p:cNvSpPr/>
          <p:nvPr/>
        </p:nvSpPr>
        <p:spPr>
          <a:xfrm>
            <a:off x="640080" y="38862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9" name="Text 17"/>
          <p:cNvSpPr/>
          <p:nvPr/>
        </p:nvSpPr>
        <p:spPr>
          <a:xfrm>
            <a:off x="1371600" y="3867912"/>
            <a:ext cx="5120640" cy="365760"/>
          </a:xfrm>
          <a:prstGeom prst="rect">
            <a:avLst/>
          </a:prstGeom>
          <a:noFill/>
          <a:ln/>
        </p:spPr>
        <p:txBody>
          <a:bodyPr wrap="square" lIns="0" tIns="0" rIns="0" bIns="0" rtlCol="0" anchor="ctr"/>
          <a:lstStyle/>
          <a:p>
            <a:pPr indent="0" marL="0">
              <a:buNone/>
            </a:pPr>
            <a:r>
              <a:rPr lang="en-US" sz="1700" b="1" dirty="0">
                <a:solidFill>
                  <a:srgbClr val="2B2320"/>
                </a:solidFill>
                <a:latin typeface="Cambria" pitchFamily="34" charset="0"/>
                <a:ea typeface="Cambria" pitchFamily="34" charset="-122"/>
                <a:cs typeface="Cambria" pitchFamily="34" charset="-120"/>
              </a:rPr>
              <a:t>Walk-forward test</a:t>
            </a:r>
            <a:endParaRPr lang="en-US" sz="1700" dirty="0"/>
          </a:p>
        </p:txBody>
      </p:sp>
      <p:sp>
        <p:nvSpPr>
          <p:cNvPr id="20" name="Text 18"/>
          <p:cNvSpPr/>
          <p:nvPr/>
        </p:nvSpPr>
        <p:spPr>
          <a:xfrm>
            <a:off x="1371600" y="4233672"/>
            <a:ext cx="5120640" cy="548640"/>
          </a:xfrm>
          <a:prstGeom prst="rect">
            <a:avLst/>
          </a:prstGeom>
          <a:noFill/>
          <a:ln/>
        </p:spPr>
        <p:txBody>
          <a:bodyPr wrap="square" lIns="0" tIns="0" rIns="0" bIns="0" rtlCol="0" anchor="ctr"/>
          <a:lstStyle/>
          <a:p>
            <a:pPr indent="0" marL="0">
              <a:buNone/>
            </a:pPr>
            <a:r>
              <a:rPr lang="en-US" sz="1250" dirty="0">
                <a:solidFill>
                  <a:srgbClr val="7A6F5E"/>
                </a:solidFill>
                <a:latin typeface="Calibri" pitchFamily="34" charset="0"/>
                <a:ea typeface="Calibri" pitchFamily="34" charset="-122"/>
                <a:cs typeface="Calibri" pitchFamily="34" charset="-120"/>
              </a:rPr>
              <a:t>Expanding window: 18 scenarios (RDD) / 16 (RVV), weighted MAE on real scale.</a:t>
            </a:r>
            <a:endParaRPr lang="en-US" sz="1250" dirty="0"/>
          </a:p>
        </p:txBody>
      </p:sp>
      <p:sp>
        <p:nvSpPr>
          <p:cNvPr id="21" name="Shape 19"/>
          <p:cNvSpPr/>
          <p:nvPr/>
        </p:nvSpPr>
        <p:spPr>
          <a:xfrm>
            <a:off x="640080" y="5029200"/>
            <a:ext cx="5852160" cy="1234440"/>
          </a:xfrm>
          <a:prstGeom prst="roundRect">
            <a:avLst>
              <a:gd name="adj" fmla="val 5926"/>
            </a:avLst>
          </a:prstGeom>
          <a:solidFill>
            <a:srgbClr val="F7F1E7"/>
          </a:solidFill>
          <a:ln w="12700">
            <a:solidFill>
              <a:srgbClr val="C89B3C"/>
            </a:solidFill>
            <a:prstDash val="solid"/>
          </a:ln>
          <a:effectLst>
            <a:outerShdw sx="100000" sy="100000" kx="0" ky="0" algn="bl" rotWithShape="0" blurRad="88900" dist="38100" dir="5400000">
              <a:srgbClr val="000000">
                <a:alpha val="14000"/>
              </a:srgbClr>
            </a:outerShdw>
          </a:effectLst>
        </p:spPr>
      </p:sp>
      <p:sp>
        <p:nvSpPr>
          <p:cNvPr id="22" name="Text 20"/>
          <p:cNvSpPr/>
          <p:nvPr/>
        </p:nvSpPr>
        <p:spPr>
          <a:xfrm>
            <a:off x="868680" y="5166360"/>
            <a:ext cx="5486400" cy="320040"/>
          </a:xfrm>
          <a:prstGeom prst="rect">
            <a:avLst/>
          </a:prstGeom>
          <a:noFill/>
          <a:ln/>
        </p:spPr>
        <p:txBody>
          <a:bodyPr wrap="square" lIns="0" tIns="0" rIns="0" bIns="0" rtlCol="0" anchor="ctr"/>
          <a:lstStyle/>
          <a:p>
            <a:pPr indent="0" marL="0">
              <a:buNone/>
            </a:pPr>
            <a:r>
              <a:rPr lang="en-US" sz="1200" b="1" dirty="0">
                <a:solidFill>
                  <a:srgbClr val="C89B3C"/>
                </a:solidFill>
                <a:latin typeface="Calibri" pitchFamily="34" charset="0"/>
                <a:ea typeface="Calibri" pitchFamily="34" charset="-122"/>
                <a:cs typeface="Calibri" pitchFamily="34" charset="-120"/>
              </a:rPr>
              <a:t>Remember one idea →</a:t>
            </a:r>
            <a:endParaRPr lang="en-US" sz="1200" dirty="0"/>
          </a:p>
        </p:txBody>
      </p:sp>
      <p:sp>
        <p:nvSpPr>
          <p:cNvPr id="23" name="Text 21"/>
          <p:cNvSpPr/>
          <p:nvPr/>
        </p:nvSpPr>
        <p:spPr>
          <a:xfrm>
            <a:off x="868680" y="5486400"/>
            <a:ext cx="5486400" cy="640080"/>
          </a:xfrm>
          <a:prstGeom prst="rect">
            <a:avLst/>
          </a:prstGeom>
          <a:noFill/>
          <a:ln/>
        </p:spPr>
        <p:txBody>
          <a:bodyPr wrap="square" lIns="0" tIns="0" rIns="0" bIns="0" rtlCol="0" anchor="ctr"/>
          <a:lstStyle/>
          <a:p>
            <a:pPr indent="0" marL="0">
              <a:buNone/>
            </a:pPr>
            <a:r>
              <a:rPr lang="en-US" sz="1650" b="1" dirty="0">
                <a:solidFill>
                  <a:srgbClr val="2B2320"/>
                </a:solidFill>
                <a:latin typeface="Cambria" pitchFamily="34" charset="0"/>
                <a:ea typeface="Cambria" pitchFamily="34" charset="-122"/>
                <a:cs typeface="Cambria" pitchFamily="34" charset="-120"/>
              </a:rPr>
              <a:t>Error = </a:t>
            </a:r>
            <a:pPr indent="0" marL="0">
              <a:buNone/>
            </a:pPr>
            <a:r>
              <a:rPr lang="en-US" sz="1650" b="1" dirty="0">
                <a:solidFill>
                  <a:srgbClr val="7A2E39"/>
                </a:solidFill>
                <a:latin typeface="Cambria" pitchFamily="34" charset="0"/>
                <a:ea typeface="Cambria" pitchFamily="34" charset="-122"/>
                <a:cs typeface="Cambria" pitchFamily="34" charset="-120"/>
              </a:rPr>
              <a:t>Trend (Decision 1)</a:t>
            </a:r>
            <a:pPr indent="0" marL="0">
              <a:buNone/>
            </a:pPr>
            <a:r>
              <a:rPr lang="en-US" sz="1650" b="1" dirty="0">
                <a:solidFill>
                  <a:srgbClr val="2B2320"/>
                </a:solidFill>
                <a:latin typeface="Cambria" pitchFamily="34" charset="0"/>
                <a:ea typeface="Cambria" pitchFamily="34" charset="-122"/>
                <a:cs typeface="Cambria" pitchFamily="34" charset="-120"/>
              </a:rPr>
              <a:t>  +  </a:t>
            </a:r>
            <a:pPr indent="0" marL="0">
              <a:buNone/>
            </a:pPr>
            <a:r>
              <a:rPr lang="en-US" sz="1650" b="1" dirty="0">
                <a:solidFill>
                  <a:srgbClr val="5E7148"/>
                </a:solidFill>
                <a:latin typeface="Cambria" pitchFamily="34" charset="0"/>
                <a:ea typeface="Cambria" pitchFamily="34" charset="-122"/>
                <a:cs typeface="Cambria" pitchFamily="34" charset="-120"/>
              </a:rPr>
              <a:t>Climate signal (Decision 2)</a:t>
            </a:r>
            <a:endParaRPr lang="en-US" sz="1650" dirty="0"/>
          </a:p>
        </p:txBody>
      </p:sp>
      <p:pic>
        <p:nvPicPr>
          <p:cNvPr id="24" name="Image 0" descr="/sessions/trusting-lucid-keller/mnt/Thesis/latex/figures/fig_ch3_walkforward.png">    </p:cNvPr>
          <p:cNvPicPr>
            <a:picLocks noChangeAspect="1"/>
          </p:cNvPicPr>
          <p:nvPr/>
        </p:nvPicPr>
        <p:blipFill>
          <a:blip r:embed="rId1"/>
          <a:stretch>
            <a:fillRect/>
          </a:stretch>
        </p:blipFill>
        <p:spPr>
          <a:xfrm>
            <a:off x="8138160" y="1600200"/>
            <a:ext cx="3246120" cy="4288137"/>
          </a:xfrm>
          <a:prstGeom prst="rect">
            <a:avLst/>
          </a:prstGeom>
        </p:spPr>
      </p:pic>
      <p:sp>
        <p:nvSpPr>
          <p:cNvPr id="25" name="Text 22"/>
          <p:cNvSpPr/>
          <p:nvPr/>
        </p:nvSpPr>
        <p:spPr>
          <a:xfrm>
            <a:off x="7863840" y="5906625"/>
            <a:ext cx="3794760" cy="274320"/>
          </a:xfrm>
          <a:prstGeom prst="rect">
            <a:avLst/>
          </a:prstGeom>
          <a:noFill/>
          <a:ln/>
        </p:spPr>
        <p:txBody>
          <a:bodyPr wrap="square" lIns="0" tIns="0" rIns="0" bIns="0" rtlCol="0" anchor="ctr"/>
          <a:lstStyle/>
          <a:p>
            <a:pPr algn="ctr" indent="0" marL="0">
              <a:buNone/>
            </a:pPr>
            <a:r>
              <a:rPr lang="en-US" sz="1100" i="1" dirty="0">
                <a:solidFill>
                  <a:srgbClr val="7A6F5E"/>
                </a:solidFill>
                <a:latin typeface="Calibri" pitchFamily="34" charset="0"/>
                <a:ea typeface="Calibri" pitchFamily="34" charset="-122"/>
                <a:cs typeface="Calibri" pitchFamily="34" charset="-120"/>
              </a:rPr>
              <a:t>Walk-forward validation</a:t>
            </a:r>
            <a:endParaRPr lang="en-US" sz="1100" dirty="0"/>
          </a:p>
        </p:txBody>
      </p:sp>
      <p:sp>
        <p:nvSpPr>
          <p:cNvPr id="26" name="Text 23"/>
          <p:cNvSpPr/>
          <p:nvPr/>
        </p:nvSpPr>
        <p:spPr>
          <a:xfrm>
            <a:off x="11475720" y="6419088"/>
            <a:ext cx="548640" cy="274320"/>
          </a:xfrm>
          <a:prstGeom prst="rect">
            <a:avLst/>
          </a:prstGeom>
          <a:noFill/>
          <a:ln/>
        </p:spPr>
        <p:txBody>
          <a:bodyPr wrap="square" lIns="0" tIns="0" rIns="0" bIns="0" rtlCol="0" anchor="ctr"/>
          <a:lstStyle/>
          <a:p>
            <a:pPr algn="r" indent="0" marL="0">
              <a:buNone/>
            </a:pPr>
            <a:r>
              <a:rPr lang="en-US" sz="1000" dirty="0">
                <a:solidFill>
                  <a:srgbClr val="7A6F5E"/>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30352"/>
            <a:ext cx="7680960" cy="868680"/>
          </a:xfrm>
          <a:prstGeom prst="rect">
            <a:avLst/>
          </a:prstGeom>
          <a:noFill/>
          <a:ln/>
        </p:spPr>
        <p:txBody>
          <a:bodyPr wrap="square" lIns="0" tIns="0" rIns="0" bIns="0" rtlCol="0" anchor="t"/>
          <a:lstStyle/>
          <a:p>
            <a:pPr indent="0" marL="0">
              <a:buNone/>
            </a:pPr>
            <a:r>
              <a:rPr lang="en-US" sz="2900" b="1" dirty="0">
                <a:solidFill>
                  <a:srgbClr val="6D2E46"/>
                </a:solidFill>
                <a:latin typeface="Cambria" pitchFamily="34" charset="0"/>
                <a:ea typeface="Cambria" pitchFamily="34" charset="-122"/>
                <a:cs typeface="Cambria" pitchFamily="34" charset="-120"/>
              </a:rPr>
              <a:t>Features grounded in the vine's two-year memory</a:t>
            </a:r>
            <a:endParaRPr lang="en-US" sz="2900" dirty="0"/>
          </a:p>
        </p:txBody>
      </p:sp>
      <p:sp>
        <p:nvSpPr>
          <p:cNvPr id="3" name="Shape 1"/>
          <p:cNvSpPr/>
          <p:nvPr/>
        </p:nvSpPr>
        <p:spPr>
          <a:xfrm>
            <a:off x="10346436" y="260604"/>
            <a:ext cx="137160" cy="137160"/>
          </a:xfrm>
          <a:prstGeom prst="ellipse">
            <a:avLst/>
          </a:prstGeom>
          <a:solidFill>
            <a:srgbClr val="FFFFFF"/>
          </a:solidFill>
          <a:ln w="12700">
            <a:solidFill>
              <a:srgbClr val="7A6F5E"/>
            </a:solidFill>
            <a:prstDash val="solid"/>
          </a:ln>
        </p:spPr>
      </p:sp>
      <p:sp>
        <p:nvSpPr>
          <p:cNvPr id="4" name="Shape 2"/>
          <p:cNvSpPr/>
          <p:nvPr/>
        </p:nvSpPr>
        <p:spPr>
          <a:xfrm>
            <a:off x="10634472" y="237744"/>
            <a:ext cx="182880" cy="182880"/>
          </a:xfrm>
          <a:prstGeom prst="ellipse">
            <a:avLst/>
          </a:prstGeom>
          <a:solidFill>
            <a:srgbClr val="C89B3C"/>
          </a:solidFill>
          <a:ln w="12700">
            <a:solidFill>
              <a:srgbClr val="C89B3C"/>
            </a:solidFill>
            <a:prstDash val="solid"/>
          </a:ln>
        </p:spPr>
      </p:sp>
      <p:sp>
        <p:nvSpPr>
          <p:cNvPr id="5" name="Shape 3"/>
          <p:cNvSpPr/>
          <p:nvPr/>
        </p:nvSpPr>
        <p:spPr>
          <a:xfrm>
            <a:off x="10968228" y="260604"/>
            <a:ext cx="137160" cy="137160"/>
          </a:xfrm>
          <a:prstGeom prst="ellipse">
            <a:avLst/>
          </a:prstGeom>
          <a:solidFill>
            <a:srgbClr val="FFFFFF"/>
          </a:solidFill>
          <a:ln w="12700">
            <a:solidFill>
              <a:srgbClr val="7A6F5E"/>
            </a:solidFill>
            <a:prstDash val="solid"/>
          </a:ln>
        </p:spPr>
      </p:sp>
      <p:sp>
        <p:nvSpPr>
          <p:cNvPr id="6" name="Shape 4"/>
          <p:cNvSpPr/>
          <p:nvPr/>
        </p:nvSpPr>
        <p:spPr>
          <a:xfrm>
            <a:off x="11279124" y="260604"/>
            <a:ext cx="137160" cy="137160"/>
          </a:xfrm>
          <a:prstGeom prst="ellipse">
            <a:avLst/>
          </a:prstGeom>
          <a:solidFill>
            <a:srgbClr val="FFFFFF"/>
          </a:solidFill>
          <a:ln w="12700">
            <a:solidFill>
              <a:srgbClr val="7A6F5E"/>
            </a:solidFill>
            <a:prstDash val="solid"/>
          </a:ln>
        </p:spPr>
      </p:sp>
      <p:sp>
        <p:nvSpPr>
          <p:cNvPr id="7" name="Shape 5"/>
          <p:cNvSpPr/>
          <p:nvPr/>
        </p:nvSpPr>
        <p:spPr>
          <a:xfrm>
            <a:off x="11590020" y="260604"/>
            <a:ext cx="137160" cy="137160"/>
          </a:xfrm>
          <a:prstGeom prst="ellipse">
            <a:avLst/>
          </a:prstGeom>
          <a:solidFill>
            <a:srgbClr val="FFFFFF"/>
          </a:solidFill>
          <a:ln w="12700">
            <a:solidFill>
              <a:srgbClr val="7A6F5E"/>
            </a:solidFill>
            <a:prstDash val="solid"/>
          </a:ln>
        </p:spPr>
      </p:sp>
      <p:sp>
        <p:nvSpPr>
          <p:cNvPr id="8" name="Text 6"/>
          <p:cNvSpPr/>
          <p:nvPr/>
        </p:nvSpPr>
        <p:spPr>
          <a:xfrm>
            <a:off x="5394960" y="182880"/>
            <a:ext cx="4480560" cy="320040"/>
          </a:xfrm>
          <a:prstGeom prst="rect">
            <a:avLst/>
          </a:prstGeom>
          <a:noFill/>
          <a:ln/>
        </p:spPr>
        <p:txBody>
          <a:bodyPr wrap="square" lIns="0" tIns="0" rIns="0" bIns="0" rtlCol="0" anchor="ctr"/>
          <a:lstStyle/>
          <a:p>
            <a:pPr algn="r" indent="0" marL="0">
              <a:buNone/>
            </a:pPr>
            <a:r>
              <a:rPr lang="en-US" sz="1100" dirty="0">
                <a:solidFill>
                  <a:srgbClr val="7A6F5E"/>
                </a:solidFill>
                <a:latin typeface="Calibri" pitchFamily="34" charset="0"/>
                <a:ea typeface="Calibri" pitchFamily="34" charset="-122"/>
                <a:cs typeface="Calibri" pitchFamily="34" charset="-120"/>
              </a:rPr>
              <a:t>IDEA 2  ·  </a:t>
            </a:r>
            <a:pPr algn="r" indent="0" marL="0">
              <a:buNone/>
            </a:pPr>
            <a:r>
              <a:rPr lang="en-US" sz="1100" b="1" dirty="0">
                <a:solidFill>
                  <a:srgbClr val="6D2E46"/>
                </a:solidFill>
                <a:latin typeface="Calibri" pitchFamily="34" charset="0"/>
                <a:ea typeface="Calibri" pitchFamily="34" charset="-122"/>
                <a:cs typeface="Calibri" pitchFamily="34" charset="-120"/>
              </a:rPr>
              <a:t>AUDITABLE</a:t>
            </a:r>
            <a:endParaRPr lang="en-US" sz="1100" dirty="0"/>
          </a:p>
        </p:txBody>
      </p:sp>
      <p:sp>
        <p:nvSpPr>
          <p:cNvPr id="9" name="Text 7"/>
          <p:cNvSpPr/>
          <p:nvPr/>
        </p:nvSpPr>
        <p:spPr>
          <a:xfrm>
            <a:off x="548640" y="1600200"/>
            <a:ext cx="3611880" cy="640080"/>
          </a:xfrm>
          <a:prstGeom prst="rect">
            <a:avLst/>
          </a:prstGeom>
          <a:noFill/>
          <a:ln/>
        </p:spPr>
        <p:txBody>
          <a:bodyPr wrap="square" lIns="0" tIns="0" rIns="0" bIns="0" rtlCol="0" anchor="ctr"/>
          <a:lstStyle/>
          <a:p>
            <a:pPr indent="0" marL="0">
              <a:buNone/>
            </a:pPr>
            <a:r>
              <a:rPr lang="en-US" sz="1650" b="1" dirty="0">
                <a:solidFill>
                  <a:srgbClr val="6D2E46"/>
                </a:solidFill>
                <a:latin typeface="Cambria" pitchFamily="34" charset="0"/>
                <a:ea typeface="Cambria" pitchFamily="34" charset="-122"/>
                <a:cs typeface="Cambria" pitchFamily="34" charset="-120"/>
              </a:rPr>
              <a:t>Next year's crop is partly decided this year.</a:t>
            </a:r>
            <a:endParaRPr lang="en-US" sz="1650" dirty="0"/>
          </a:p>
        </p:txBody>
      </p:sp>
      <p:sp>
        <p:nvSpPr>
          <p:cNvPr id="10" name="Text 8"/>
          <p:cNvSpPr/>
          <p:nvPr/>
        </p:nvSpPr>
        <p:spPr>
          <a:xfrm>
            <a:off x="548640" y="2286000"/>
            <a:ext cx="3611880" cy="1783080"/>
          </a:xfrm>
          <a:prstGeom prst="rect">
            <a:avLst/>
          </a:prstGeom>
          <a:noFill/>
          <a:ln/>
        </p:spPr>
        <p:txBody>
          <a:bodyPr wrap="square" lIns="0" tIns="0" rIns="0" bIns="0" rtlCol="0" anchor="ctr"/>
          <a:lstStyle/>
          <a:p>
            <a:pPr indent="0" marL="0">
              <a:buNone/>
            </a:pPr>
            <a:r>
              <a:rPr lang="en-US" sz="1350" b="1" dirty="0">
                <a:solidFill>
                  <a:srgbClr val="5E7148"/>
                </a:solidFill>
                <a:latin typeface="Calibri" pitchFamily="34" charset="0"/>
                <a:ea typeface="Calibri" pitchFamily="34" charset="-122"/>
                <a:cs typeface="Calibri" pitchFamily="34" charset="-120"/>
              </a:rPr>
              <a:t>Prior year (y0)</a:t>
            </a:r>
            <a:endParaRPr lang="en-US" sz="1350" dirty="0"/>
          </a:p>
          <a:p>
            <a:pPr indent="0" marL="0">
              <a:buNone/>
            </a:pPr>
            <a:r>
              <a:rPr lang="en-US" sz="1300" dirty="0">
                <a:solidFill>
                  <a:srgbClr val="2B2320"/>
                </a:solidFill>
                <a:latin typeface="Calibri" pitchFamily="34" charset="0"/>
                <a:ea typeface="Calibri" pitchFamily="34" charset="-122"/>
                <a:cs typeface="Calibri" pitchFamily="34" charset="-120"/>
              </a:rPr>
              <a:t>inflorescence primordia set bunch potential; carbohydrate reserves build.</a:t>
            </a:r>
            <a:endParaRPr lang="en-US" sz="1350" dirty="0"/>
          </a:p>
          <a:p>
            <a:pPr indent="0" marL="0">
              <a:buNone/>
            </a:pPr>
            <a:endParaRPr lang="en-US" sz="1350" dirty="0"/>
          </a:p>
          <a:p>
            <a:pPr indent="0" marL="0">
              <a:buNone/>
            </a:pPr>
            <a:r>
              <a:rPr lang="en-US" sz="1350" b="1" dirty="0">
                <a:solidFill>
                  <a:srgbClr val="7A2E39"/>
                </a:solidFill>
                <a:latin typeface="Calibri" pitchFamily="34" charset="0"/>
                <a:ea typeface="Calibri" pitchFamily="34" charset="-122"/>
                <a:cs typeface="Calibri" pitchFamily="34" charset="-120"/>
              </a:rPr>
              <a:t>Current year (y1)</a:t>
            </a:r>
            <a:endParaRPr lang="en-US" sz="1350" dirty="0"/>
          </a:p>
          <a:p>
            <a:pPr indent="0" marL="0">
              <a:buNone/>
            </a:pPr>
            <a:r>
              <a:rPr lang="en-US" sz="1300" dirty="0">
                <a:solidFill>
                  <a:srgbClr val="2B2320"/>
                </a:solidFill>
                <a:latin typeface="Calibri" pitchFamily="34" charset="0"/>
                <a:ea typeface="Calibri" pitchFamily="34" charset="-122"/>
                <a:cs typeface="Calibri" pitchFamily="34" charset="-120"/>
              </a:rPr>
              <a:t>flowering sets fruit; veraison → harvest sets berry concentration.</a:t>
            </a:r>
            <a:endParaRPr lang="en-US" sz="1350" dirty="0"/>
          </a:p>
        </p:txBody>
      </p:sp>
      <p:sp>
        <p:nvSpPr>
          <p:cNvPr id="11" name="Shape 9"/>
          <p:cNvSpPr/>
          <p:nvPr/>
        </p:nvSpPr>
        <p:spPr>
          <a:xfrm>
            <a:off x="548640" y="4160520"/>
            <a:ext cx="3611880" cy="1737360"/>
          </a:xfrm>
          <a:prstGeom prst="roundRect">
            <a:avLst>
              <a:gd name="adj" fmla="val 4211"/>
            </a:avLst>
          </a:prstGeom>
          <a:solidFill>
            <a:srgbClr val="F7F1E7"/>
          </a:solidFill>
          <a:ln w="12700">
            <a:solidFill>
              <a:srgbClr val="C89B3C"/>
            </a:solidFill>
            <a:prstDash val="solid"/>
          </a:ln>
          <a:effectLst>
            <a:outerShdw sx="100000" sy="100000" kx="0" ky="0" algn="bl" rotWithShape="0" blurRad="88900" dist="38100" dir="5400000">
              <a:srgbClr val="000000">
                <a:alpha val="14000"/>
              </a:srgbClr>
            </a:outerShdw>
          </a:effectLst>
        </p:spPr>
      </p:sp>
      <p:sp>
        <p:nvSpPr>
          <p:cNvPr id="12" name="Text 10"/>
          <p:cNvSpPr/>
          <p:nvPr/>
        </p:nvSpPr>
        <p:spPr>
          <a:xfrm>
            <a:off x="731520" y="4297680"/>
            <a:ext cx="3291840" cy="320040"/>
          </a:xfrm>
          <a:prstGeom prst="rect">
            <a:avLst/>
          </a:prstGeom>
          <a:noFill/>
          <a:ln/>
        </p:spPr>
        <p:txBody>
          <a:bodyPr wrap="square" lIns="0" tIns="0" rIns="0" bIns="0" rtlCol="0" anchor="ctr"/>
          <a:lstStyle/>
          <a:p>
            <a:pPr indent="0" marL="0">
              <a:buNone/>
            </a:pPr>
            <a:r>
              <a:rPr lang="en-US" sz="1200" b="1" dirty="0">
                <a:solidFill>
                  <a:srgbClr val="C89B3C"/>
                </a:solidFill>
                <a:latin typeface="Calibri" pitchFamily="34" charset="0"/>
                <a:ea typeface="Calibri" pitchFamily="34" charset="-122"/>
                <a:cs typeface="Calibri" pitchFamily="34" charset="-120"/>
              </a:rPr>
              <a:t>Why look back a year?</a:t>
            </a:r>
            <a:endParaRPr lang="en-US" sz="1200" dirty="0"/>
          </a:p>
        </p:txBody>
      </p:sp>
      <p:sp>
        <p:nvSpPr>
          <p:cNvPr id="13" name="Text 11"/>
          <p:cNvSpPr/>
          <p:nvPr/>
        </p:nvSpPr>
        <p:spPr>
          <a:xfrm>
            <a:off x="731520" y="4617720"/>
            <a:ext cx="3246120" cy="1143000"/>
          </a:xfrm>
          <a:prstGeom prst="rect">
            <a:avLst/>
          </a:prstGeom>
          <a:noFill/>
          <a:ln/>
        </p:spPr>
        <p:txBody>
          <a:bodyPr wrap="square" lIns="0" tIns="0" rIns="0" bIns="0" rtlCol="0" anchor="ctr"/>
          <a:lstStyle/>
          <a:p>
            <a:pPr indent="0" marL="0">
              <a:buNone/>
            </a:pPr>
            <a:r>
              <a:rPr lang="en-US" sz="1350" b="1" dirty="0">
                <a:solidFill>
                  <a:srgbClr val="2B2320"/>
                </a:solidFill>
                <a:latin typeface="Calibri" pitchFamily="34" charset="0"/>
                <a:ea typeface="Calibri" pitchFamily="34" charset="-122"/>
                <a:cs typeface="Calibri" pitchFamily="34" charset="-120"/>
              </a:rPr>
              <a:t>15 of 59 features (25%) </a:t>
            </a:r>
            <a:pPr indent="0" marL="0">
              <a:buNone/>
            </a:pPr>
            <a:r>
              <a:rPr lang="en-US" sz="1350" dirty="0">
                <a:solidFill>
                  <a:srgbClr val="2B2320"/>
                </a:solidFill>
                <a:latin typeface="Calibri" pitchFamily="34" charset="0"/>
                <a:ea typeface="Calibri" pitchFamily="34" charset="-122"/>
                <a:cs typeface="Calibri" pitchFamily="34" charset="-120"/>
              </a:rPr>
              <a:t>are previous-year. A current-season-only dataset is fundamentally incomplete.</a:t>
            </a:r>
            <a:endParaRPr lang="en-US" sz="1350" dirty="0"/>
          </a:p>
        </p:txBody>
      </p:sp>
      <p:pic>
        <p:nvPicPr>
          <p:cNvPr id="14" name="Image 0" descr="/sessions/trusting-lucid-keller/mnt/Thesis/latex/figures/fig_appd_1.png">    </p:cNvPr>
          <p:cNvPicPr>
            <a:picLocks noChangeAspect="1"/>
          </p:cNvPicPr>
          <p:nvPr/>
        </p:nvPicPr>
        <p:blipFill>
          <a:blip r:embed="rId1"/>
          <a:stretch>
            <a:fillRect/>
          </a:stretch>
        </p:blipFill>
        <p:spPr>
          <a:xfrm>
            <a:off x="4343400" y="1847088"/>
            <a:ext cx="7452360" cy="4144805"/>
          </a:xfrm>
          <a:prstGeom prst="rect">
            <a:avLst/>
          </a:prstGeom>
        </p:spPr>
      </p:pic>
      <p:sp>
        <p:nvSpPr>
          <p:cNvPr id="15" name="Text 12"/>
          <p:cNvSpPr/>
          <p:nvPr/>
        </p:nvSpPr>
        <p:spPr>
          <a:xfrm>
            <a:off x="4343400" y="6037613"/>
            <a:ext cx="7452360" cy="274320"/>
          </a:xfrm>
          <a:prstGeom prst="rect">
            <a:avLst/>
          </a:prstGeom>
          <a:noFill/>
          <a:ln/>
        </p:spPr>
        <p:txBody>
          <a:bodyPr wrap="square" lIns="0" tIns="0" rIns="0" bIns="0" rtlCol="0" anchor="ctr"/>
          <a:lstStyle/>
          <a:p>
            <a:pPr algn="ctr" indent="0" marL="0">
              <a:buNone/>
            </a:pPr>
            <a:r>
              <a:rPr lang="en-US" sz="1050" i="1" dirty="0">
                <a:solidFill>
                  <a:srgbClr val="7A6F5E"/>
                </a:solidFill>
                <a:latin typeface="Calibri" pitchFamily="34" charset="0"/>
                <a:ea typeface="Calibri" pitchFamily="34" charset="-122"/>
                <a:cs typeface="Calibri" pitchFamily="34" charset="-120"/>
              </a:rPr>
              <a:t>Each feature = variable × phenological stage × window × year offset   (solid = current y1, light = prior y0)</a:t>
            </a:r>
            <a:endParaRPr lang="en-US" sz="1050" dirty="0"/>
          </a:p>
        </p:txBody>
      </p:sp>
      <p:sp>
        <p:nvSpPr>
          <p:cNvPr id="16" name="Text 13"/>
          <p:cNvSpPr/>
          <p:nvPr/>
        </p:nvSpPr>
        <p:spPr>
          <a:xfrm>
            <a:off x="11475720" y="6419088"/>
            <a:ext cx="548640" cy="274320"/>
          </a:xfrm>
          <a:prstGeom prst="rect">
            <a:avLst/>
          </a:prstGeom>
          <a:noFill/>
          <a:ln/>
        </p:spPr>
        <p:txBody>
          <a:bodyPr wrap="square" lIns="0" tIns="0" rIns="0" bIns="0" rtlCol="0" anchor="ctr"/>
          <a:lstStyle/>
          <a:p>
            <a:pPr algn="r" indent="0" marL="0">
              <a:buNone/>
            </a:pPr>
            <a:r>
              <a:rPr lang="en-US" sz="1000" dirty="0">
                <a:solidFill>
                  <a:srgbClr val="7A6F5E"/>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30352"/>
            <a:ext cx="7680960" cy="868680"/>
          </a:xfrm>
          <a:prstGeom prst="rect">
            <a:avLst/>
          </a:prstGeom>
          <a:noFill/>
          <a:ln/>
        </p:spPr>
        <p:txBody>
          <a:bodyPr wrap="square" lIns="0" tIns="0" rIns="0" bIns="0" rtlCol="0" anchor="t"/>
          <a:lstStyle/>
          <a:p>
            <a:pPr indent="0" marL="0">
              <a:buNone/>
            </a:pPr>
            <a:r>
              <a:rPr lang="en-US" sz="2900" b="1" dirty="0">
                <a:solidFill>
                  <a:srgbClr val="6D2E46"/>
                </a:solidFill>
                <a:latin typeface="Cambria" pitchFamily="34" charset="0"/>
                <a:ea typeface="Cambria" pitchFamily="34" charset="-122"/>
                <a:cs typeface="Cambria" pitchFamily="34" charset="-120"/>
              </a:rPr>
              <a:t>Why CarenR: rules you can question</a:t>
            </a:r>
            <a:endParaRPr lang="en-US" sz="2900" dirty="0"/>
          </a:p>
        </p:txBody>
      </p:sp>
      <p:sp>
        <p:nvSpPr>
          <p:cNvPr id="3" name="Shape 1"/>
          <p:cNvSpPr/>
          <p:nvPr/>
        </p:nvSpPr>
        <p:spPr>
          <a:xfrm>
            <a:off x="10346436" y="260604"/>
            <a:ext cx="137160" cy="137160"/>
          </a:xfrm>
          <a:prstGeom prst="ellipse">
            <a:avLst/>
          </a:prstGeom>
          <a:solidFill>
            <a:srgbClr val="FFFFFF"/>
          </a:solidFill>
          <a:ln w="12700">
            <a:solidFill>
              <a:srgbClr val="7A6F5E"/>
            </a:solidFill>
            <a:prstDash val="solid"/>
          </a:ln>
        </p:spPr>
      </p:sp>
      <p:sp>
        <p:nvSpPr>
          <p:cNvPr id="4" name="Shape 2"/>
          <p:cNvSpPr/>
          <p:nvPr/>
        </p:nvSpPr>
        <p:spPr>
          <a:xfrm>
            <a:off x="10634472" y="237744"/>
            <a:ext cx="182880" cy="182880"/>
          </a:xfrm>
          <a:prstGeom prst="ellipse">
            <a:avLst/>
          </a:prstGeom>
          <a:solidFill>
            <a:srgbClr val="C89B3C"/>
          </a:solidFill>
          <a:ln w="12700">
            <a:solidFill>
              <a:srgbClr val="C89B3C"/>
            </a:solidFill>
            <a:prstDash val="solid"/>
          </a:ln>
        </p:spPr>
      </p:sp>
      <p:sp>
        <p:nvSpPr>
          <p:cNvPr id="5" name="Shape 3"/>
          <p:cNvSpPr/>
          <p:nvPr/>
        </p:nvSpPr>
        <p:spPr>
          <a:xfrm>
            <a:off x="10968228" y="260604"/>
            <a:ext cx="137160" cy="137160"/>
          </a:xfrm>
          <a:prstGeom prst="ellipse">
            <a:avLst/>
          </a:prstGeom>
          <a:solidFill>
            <a:srgbClr val="FFFFFF"/>
          </a:solidFill>
          <a:ln w="12700">
            <a:solidFill>
              <a:srgbClr val="7A6F5E"/>
            </a:solidFill>
            <a:prstDash val="solid"/>
          </a:ln>
        </p:spPr>
      </p:sp>
      <p:sp>
        <p:nvSpPr>
          <p:cNvPr id="6" name="Shape 4"/>
          <p:cNvSpPr/>
          <p:nvPr/>
        </p:nvSpPr>
        <p:spPr>
          <a:xfrm>
            <a:off x="11279124" y="260604"/>
            <a:ext cx="137160" cy="137160"/>
          </a:xfrm>
          <a:prstGeom prst="ellipse">
            <a:avLst/>
          </a:prstGeom>
          <a:solidFill>
            <a:srgbClr val="FFFFFF"/>
          </a:solidFill>
          <a:ln w="12700">
            <a:solidFill>
              <a:srgbClr val="7A6F5E"/>
            </a:solidFill>
            <a:prstDash val="solid"/>
          </a:ln>
        </p:spPr>
      </p:sp>
      <p:sp>
        <p:nvSpPr>
          <p:cNvPr id="7" name="Shape 5"/>
          <p:cNvSpPr/>
          <p:nvPr/>
        </p:nvSpPr>
        <p:spPr>
          <a:xfrm>
            <a:off x="11590020" y="260604"/>
            <a:ext cx="137160" cy="137160"/>
          </a:xfrm>
          <a:prstGeom prst="ellipse">
            <a:avLst/>
          </a:prstGeom>
          <a:solidFill>
            <a:srgbClr val="FFFFFF"/>
          </a:solidFill>
          <a:ln w="12700">
            <a:solidFill>
              <a:srgbClr val="7A6F5E"/>
            </a:solidFill>
            <a:prstDash val="solid"/>
          </a:ln>
        </p:spPr>
      </p:sp>
      <p:sp>
        <p:nvSpPr>
          <p:cNvPr id="8" name="Text 6"/>
          <p:cNvSpPr/>
          <p:nvPr/>
        </p:nvSpPr>
        <p:spPr>
          <a:xfrm>
            <a:off x="5394960" y="182880"/>
            <a:ext cx="4480560" cy="320040"/>
          </a:xfrm>
          <a:prstGeom prst="rect">
            <a:avLst/>
          </a:prstGeom>
          <a:noFill/>
          <a:ln/>
        </p:spPr>
        <p:txBody>
          <a:bodyPr wrap="square" lIns="0" tIns="0" rIns="0" bIns="0" rtlCol="0" anchor="ctr"/>
          <a:lstStyle/>
          <a:p>
            <a:pPr algn="r" indent="0" marL="0">
              <a:buNone/>
            </a:pPr>
            <a:r>
              <a:rPr lang="en-US" sz="1100" dirty="0">
                <a:solidFill>
                  <a:srgbClr val="7A6F5E"/>
                </a:solidFill>
                <a:latin typeface="Calibri" pitchFamily="34" charset="0"/>
                <a:ea typeface="Calibri" pitchFamily="34" charset="-122"/>
                <a:cs typeface="Calibri" pitchFamily="34" charset="-120"/>
              </a:rPr>
              <a:t>IDEA 2  ·  </a:t>
            </a:r>
            <a:pPr algn="r" indent="0" marL="0">
              <a:buNone/>
            </a:pPr>
            <a:r>
              <a:rPr lang="en-US" sz="1100" b="1" dirty="0">
                <a:solidFill>
                  <a:srgbClr val="6D2E46"/>
                </a:solidFill>
                <a:latin typeface="Calibri" pitchFamily="34" charset="0"/>
                <a:ea typeface="Calibri" pitchFamily="34" charset="-122"/>
                <a:cs typeface="Calibri" pitchFamily="34" charset="-120"/>
              </a:rPr>
              <a:t>AUDITABLE</a:t>
            </a:r>
            <a:endParaRPr lang="en-US" sz="1100" dirty="0"/>
          </a:p>
        </p:txBody>
      </p:sp>
      <p:pic>
        <p:nvPicPr>
          <p:cNvPr id="9" name="Image 0" descr="/sessions/trusting-lucid-keller/mnt/outputs/deck/assets/motif_ks.png">    </p:cNvPr>
          <p:cNvPicPr>
            <a:picLocks noChangeAspect="1"/>
          </p:cNvPicPr>
          <p:nvPr/>
        </p:nvPicPr>
        <p:blipFill>
          <a:blip r:embed="rId1"/>
          <a:stretch>
            <a:fillRect/>
          </a:stretch>
        </p:blipFill>
        <p:spPr>
          <a:xfrm>
            <a:off x="548640" y="2194560"/>
            <a:ext cx="6126480" cy="3557770"/>
          </a:xfrm>
          <a:prstGeom prst="rect">
            <a:avLst/>
          </a:prstGeom>
        </p:spPr>
      </p:pic>
      <p:sp>
        <p:nvSpPr>
          <p:cNvPr id="10" name="Text 7"/>
          <p:cNvSpPr/>
          <p:nvPr/>
        </p:nvSpPr>
        <p:spPr>
          <a:xfrm>
            <a:off x="548640" y="1600200"/>
            <a:ext cx="6309360" cy="548640"/>
          </a:xfrm>
          <a:prstGeom prst="rect">
            <a:avLst/>
          </a:prstGeom>
          <a:noFill/>
          <a:ln/>
        </p:spPr>
        <p:txBody>
          <a:bodyPr wrap="square" lIns="0" tIns="0" rIns="0" bIns="0" rtlCol="0" anchor="ctr"/>
          <a:lstStyle/>
          <a:p>
            <a:pPr indent="0" marL="0">
              <a:buNone/>
            </a:pPr>
            <a:r>
              <a:rPr lang="en-US" sz="1300" dirty="0">
                <a:solidFill>
                  <a:srgbClr val="2B2320"/>
                </a:solidFill>
                <a:latin typeface="Calibri" pitchFamily="34" charset="0"/>
                <a:ea typeface="Calibri" pitchFamily="34" charset="-122"/>
                <a:cs typeface="Calibri" pitchFamily="34" charset="-120"/>
              </a:rPr>
              <a:t>CarenR asks: under which conditions does the whole distribution — tails included — shift? Tested by a Kolmogorov–Smirnov statistic.</a:t>
            </a:r>
            <a:endParaRPr lang="en-US" sz="1300" dirty="0"/>
          </a:p>
        </p:txBody>
      </p:sp>
      <p:sp>
        <p:nvSpPr>
          <p:cNvPr id="11" name="Shape 8"/>
          <p:cNvSpPr/>
          <p:nvPr/>
        </p:nvSpPr>
        <p:spPr>
          <a:xfrm>
            <a:off x="7040880" y="1737360"/>
            <a:ext cx="4572000" cy="2148840"/>
          </a:xfrm>
          <a:prstGeom prst="roundRect">
            <a:avLst>
              <a:gd name="adj" fmla="val 3404"/>
            </a:avLst>
          </a:prstGeom>
          <a:solidFill>
            <a:srgbClr val="F7F1E7"/>
          </a:solidFill>
          <a:ln w="12700">
            <a:solidFill>
              <a:srgbClr val="C89B3C"/>
            </a:solidFill>
            <a:prstDash val="solid"/>
          </a:ln>
          <a:effectLst>
            <a:outerShdw sx="100000" sy="100000" kx="0" ky="0" algn="bl" rotWithShape="0" blurRad="88900" dist="38100" dir="5400000">
              <a:srgbClr val="000000">
                <a:alpha val="14000"/>
              </a:srgbClr>
            </a:outerShdw>
          </a:effectLst>
        </p:spPr>
      </p:sp>
      <p:sp>
        <p:nvSpPr>
          <p:cNvPr id="12" name="Text 9"/>
          <p:cNvSpPr/>
          <p:nvPr/>
        </p:nvSpPr>
        <p:spPr>
          <a:xfrm>
            <a:off x="7269480" y="1920240"/>
            <a:ext cx="4206240" cy="274320"/>
          </a:xfrm>
          <a:prstGeom prst="rect">
            <a:avLst/>
          </a:prstGeom>
          <a:noFill/>
          <a:ln/>
        </p:spPr>
        <p:txBody>
          <a:bodyPr wrap="square" lIns="0" tIns="0" rIns="0" bIns="0" rtlCol="0" anchor="ctr"/>
          <a:lstStyle/>
          <a:p>
            <a:pPr indent="0" marL="0">
              <a:buNone/>
            </a:pPr>
            <a:r>
              <a:rPr lang="en-US" sz="1100" b="1" spc="100" kern="0" dirty="0">
                <a:solidFill>
                  <a:srgbClr val="C89B3C"/>
                </a:solidFill>
                <a:latin typeface="Calibri" pitchFamily="34" charset="0"/>
                <a:ea typeface="Calibri" pitchFamily="34" charset="-122"/>
                <a:cs typeface="Calibri" pitchFamily="34" charset="-120"/>
              </a:rPr>
              <a:t>A RULE YOU CAN AUDIT</a:t>
            </a:r>
            <a:endParaRPr lang="en-US" sz="1100" dirty="0"/>
          </a:p>
        </p:txBody>
      </p:sp>
      <p:sp>
        <p:nvSpPr>
          <p:cNvPr id="13" name="Text 10"/>
          <p:cNvSpPr/>
          <p:nvPr/>
        </p:nvSpPr>
        <p:spPr>
          <a:xfrm>
            <a:off x="7269480" y="2240280"/>
            <a:ext cx="4160520" cy="1005840"/>
          </a:xfrm>
          <a:prstGeom prst="rect">
            <a:avLst/>
          </a:prstGeom>
          <a:noFill/>
          <a:ln/>
        </p:spPr>
        <p:txBody>
          <a:bodyPr wrap="square" lIns="0" tIns="0" rIns="0" bIns="0" rtlCol="0" anchor="ctr"/>
          <a:lstStyle/>
          <a:p>
            <a:pPr indent="0" marL="0">
              <a:buNone/>
            </a:pPr>
            <a:r>
              <a:rPr lang="en-US" sz="1500" b="1" dirty="0">
                <a:solidFill>
                  <a:srgbClr val="6D2E46"/>
                </a:solidFill>
                <a:latin typeface="Calibri" pitchFamily="34" charset="0"/>
                <a:ea typeface="Calibri" pitchFamily="34" charset="-122"/>
                <a:cs typeface="Calibri" pitchFamily="34" charset="-120"/>
              </a:rPr>
              <a:t>IF </a:t>
            </a:r>
            <a:pPr indent="0" marL="0">
              <a:buNone/>
            </a:pPr>
            <a:r>
              <a:rPr lang="en-US" sz="1500" dirty="0">
                <a:solidFill>
                  <a:srgbClr val="2B2320"/>
                </a:solidFill>
                <a:latin typeface="Calibri" pitchFamily="34" charset="0"/>
                <a:ea typeface="Calibri" pitchFamily="34" charset="-122"/>
                <a:cs typeface="Calibri" pitchFamily="34" charset="-120"/>
              </a:rPr>
              <a:t>dry post-flowering AND moderate harvest soil water</a:t>
            </a:r>
            <a:pPr indent="0" marL="0">
              <a:buNone/>
            </a:pPr>
            <a:endParaRPr lang="en-US" sz="1500" dirty="0"/>
          </a:p>
          <a:p>
            <a:pPr indent="0" marL="0">
              <a:buNone/>
            </a:pPr>
            <a:r>
              <a:rPr lang="en-US" sz="1500" b="1" dirty="0">
                <a:solidFill>
                  <a:srgbClr val="6D2E46"/>
                </a:solidFill>
                <a:latin typeface="Calibri" pitchFamily="34" charset="0"/>
                <a:ea typeface="Calibri" pitchFamily="34" charset="-122"/>
                <a:cs typeface="Calibri" pitchFamily="34" charset="-120"/>
              </a:rPr>
              <a:t>THEN </a:t>
            </a:r>
            <a:endParaRPr lang="en-US" sz="1500" dirty="0"/>
          </a:p>
          <a:p>
            <a:pPr indent="0" marL="0">
              <a:buNone/>
            </a:pPr>
            <a:r>
              <a:rPr lang="en-US" sz="1500" b="1" dirty="0">
                <a:solidFill>
                  <a:srgbClr val="5E7148"/>
                </a:solidFill>
                <a:latin typeface="Calibri" pitchFamily="34" charset="0"/>
                <a:ea typeface="Calibri" pitchFamily="34" charset="-122"/>
                <a:cs typeface="Calibri" pitchFamily="34" charset="-120"/>
              </a:rPr>
              <a:t>+121 mhl above trend</a:t>
            </a:r>
            <a:endParaRPr lang="en-US" sz="1500" dirty="0"/>
          </a:p>
        </p:txBody>
      </p:sp>
      <p:sp>
        <p:nvSpPr>
          <p:cNvPr id="14" name="Text 11"/>
          <p:cNvSpPr/>
          <p:nvPr/>
        </p:nvSpPr>
        <p:spPr>
          <a:xfrm>
            <a:off x="7269480" y="3337560"/>
            <a:ext cx="4160520" cy="365760"/>
          </a:xfrm>
          <a:prstGeom prst="rect">
            <a:avLst/>
          </a:prstGeom>
          <a:noFill/>
          <a:ln/>
        </p:spPr>
        <p:txBody>
          <a:bodyPr wrap="square" lIns="0" tIns="0" rIns="0" bIns="0" rtlCol="0" anchor="ctr"/>
          <a:lstStyle/>
          <a:p>
            <a:pPr indent="0" marL="0">
              <a:buNone/>
            </a:pPr>
            <a:r>
              <a:rPr lang="en-US" sz="1300" i="1" dirty="0">
                <a:solidFill>
                  <a:srgbClr val="7A6F5E"/>
                </a:solidFill>
                <a:latin typeface="Calibri" pitchFamily="34" charset="0"/>
                <a:ea typeface="Calibri" pitchFamily="34" charset="-122"/>
                <a:cs typeface="Calibri" pitchFamily="34" charset="-120"/>
              </a:rPr>
              <a:t>support 28%   ·   p = 0.004</a:t>
            </a:r>
            <a:endParaRPr lang="en-US" sz="1300" dirty="0"/>
          </a:p>
        </p:txBody>
      </p:sp>
      <p:sp>
        <p:nvSpPr>
          <p:cNvPr id="15" name="Text 12"/>
          <p:cNvSpPr/>
          <p:nvPr/>
        </p:nvSpPr>
        <p:spPr>
          <a:xfrm>
            <a:off x="7178040" y="4114800"/>
            <a:ext cx="4480560" cy="201168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2B2320"/>
                </a:solidFill>
                <a:latin typeface="Calibri" pitchFamily="34" charset="0"/>
                <a:ea typeface="Calibri" pitchFamily="34" charset="-122"/>
                <a:cs typeface="Calibri" pitchFamily="34" charset="-120"/>
              </a:rPr>
              <a:t>Falsifiable — an agronomist can challenge it.</a:t>
            </a:r>
            <a:endParaRPr lang="en-US" sz="1400" dirty="0"/>
          </a:p>
          <a:p>
            <a:pPr marL="342900" indent="-342900">
              <a:spcAft>
                <a:spcPts val="800"/>
              </a:spcAft>
              <a:buSzPct val="100000"/>
              <a:buChar char="•"/>
            </a:pPr>
            <a:r>
              <a:rPr lang="en-US" sz="1400" dirty="0">
                <a:solidFill>
                  <a:srgbClr val="2B2320"/>
                </a:solidFill>
                <a:latin typeface="Calibri" pitchFamily="34" charset="0"/>
                <a:ea typeface="Calibri" pitchFamily="34" charset="-122"/>
                <a:cs typeface="Calibri" pitchFamily="34" charset="-120"/>
              </a:rPr>
              <a:t>Carries its own support and p-value.</a:t>
            </a:r>
            <a:endParaRPr lang="en-US" sz="1400" dirty="0"/>
          </a:p>
          <a:p>
            <a:pPr marL="342900" indent="-342900">
              <a:spcAft>
                <a:spcPts val="800"/>
              </a:spcAft>
              <a:buSzPct val="100000"/>
              <a:buChar char="•"/>
            </a:pPr>
            <a:r>
              <a:rPr lang="en-US" sz="1400" dirty="0">
                <a:solidFill>
                  <a:srgbClr val="2B2320"/>
                </a:solidFill>
                <a:latin typeface="Calibri" pitchFamily="34" charset="0"/>
                <a:ea typeface="Calibri" pitchFamily="34" charset="-122"/>
                <a:cs typeface="Calibri" pitchFamily="34" charset="-120"/>
              </a:rPr>
              <a:t>Black box + SHAP only approximates influence.</a:t>
            </a:r>
            <a:endParaRPr lang="en-US" sz="1400" dirty="0"/>
          </a:p>
          <a:p>
            <a:pPr marL="342900" indent="-342900">
              <a:spcAft>
                <a:spcPts val="800"/>
              </a:spcAft>
              <a:buSzPct val="100000"/>
              <a:buChar char="•"/>
            </a:pPr>
            <a:r>
              <a:rPr lang="en-US" sz="1400" dirty="0">
                <a:solidFill>
                  <a:srgbClr val="2B2320"/>
                </a:solidFill>
                <a:latin typeface="Calibri" pitchFamily="34" charset="0"/>
                <a:ea typeface="Calibri" pitchFamily="34" charset="-122"/>
                <a:cs typeface="Calibri" pitchFamily="34" charset="-120"/>
              </a:rPr>
              <a:t>First such application to long regional wine records.</a:t>
            </a:r>
            <a:endParaRPr lang="en-US" sz="1400" dirty="0"/>
          </a:p>
        </p:txBody>
      </p:sp>
      <p:sp>
        <p:nvSpPr>
          <p:cNvPr id="16" name="Text 13"/>
          <p:cNvSpPr/>
          <p:nvPr/>
        </p:nvSpPr>
        <p:spPr>
          <a:xfrm>
            <a:off x="11475720" y="6419088"/>
            <a:ext cx="548640" cy="274320"/>
          </a:xfrm>
          <a:prstGeom prst="rect">
            <a:avLst/>
          </a:prstGeom>
          <a:noFill/>
          <a:ln/>
        </p:spPr>
        <p:txBody>
          <a:bodyPr wrap="square" lIns="0" tIns="0" rIns="0" bIns="0" rtlCol="0" anchor="ctr"/>
          <a:lstStyle/>
          <a:p>
            <a:pPr algn="r" indent="0" marL="0">
              <a:buNone/>
            </a:pPr>
            <a:r>
              <a:rPr lang="en-US" sz="1000" dirty="0">
                <a:solidFill>
                  <a:srgbClr val="7A6F5E"/>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30352"/>
            <a:ext cx="7680960" cy="868680"/>
          </a:xfrm>
          <a:prstGeom prst="rect">
            <a:avLst/>
          </a:prstGeom>
          <a:noFill/>
          <a:ln/>
        </p:spPr>
        <p:txBody>
          <a:bodyPr wrap="square" lIns="0" tIns="0" rIns="0" bIns="0" rtlCol="0" anchor="t"/>
          <a:lstStyle/>
          <a:p>
            <a:pPr indent="0" marL="0">
              <a:buNone/>
            </a:pPr>
            <a:r>
              <a:rPr lang="en-US" sz="2900" b="1" dirty="0">
                <a:solidFill>
                  <a:srgbClr val="6D2E46"/>
                </a:solidFill>
                <a:latin typeface="Cambria" pitchFamily="34" charset="0"/>
                <a:ea typeface="Cambria" pitchFamily="34" charset="-122"/>
                <a:cs typeface="Cambria" pitchFamily="34" charset="-120"/>
              </a:rPr>
              <a:t>The rules are real — and they survive attack</a:t>
            </a:r>
            <a:endParaRPr lang="en-US" sz="2900" dirty="0"/>
          </a:p>
        </p:txBody>
      </p:sp>
      <p:sp>
        <p:nvSpPr>
          <p:cNvPr id="3" name="Shape 1"/>
          <p:cNvSpPr/>
          <p:nvPr/>
        </p:nvSpPr>
        <p:spPr>
          <a:xfrm>
            <a:off x="10346436" y="260604"/>
            <a:ext cx="137160" cy="137160"/>
          </a:xfrm>
          <a:prstGeom prst="ellipse">
            <a:avLst/>
          </a:prstGeom>
          <a:solidFill>
            <a:srgbClr val="FFFFFF"/>
          </a:solidFill>
          <a:ln w="12700">
            <a:solidFill>
              <a:srgbClr val="7A6F5E"/>
            </a:solidFill>
            <a:prstDash val="solid"/>
          </a:ln>
        </p:spPr>
      </p:sp>
      <p:sp>
        <p:nvSpPr>
          <p:cNvPr id="4" name="Shape 2"/>
          <p:cNvSpPr/>
          <p:nvPr/>
        </p:nvSpPr>
        <p:spPr>
          <a:xfrm>
            <a:off x="10657332" y="260604"/>
            <a:ext cx="137160" cy="137160"/>
          </a:xfrm>
          <a:prstGeom prst="ellipse">
            <a:avLst/>
          </a:prstGeom>
          <a:solidFill>
            <a:srgbClr val="FFFFFF"/>
          </a:solidFill>
          <a:ln w="12700">
            <a:solidFill>
              <a:srgbClr val="7A6F5E"/>
            </a:solidFill>
            <a:prstDash val="solid"/>
          </a:ln>
        </p:spPr>
      </p:sp>
      <p:sp>
        <p:nvSpPr>
          <p:cNvPr id="5" name="Shape 3"/>
          <p:cNvSpPr/>
          <p:nvPr/>
        </p:nvSpPr>
        <p:spPr>
          <a:xfrm>
            <a:off x="10945368" y="237744"/>
            <a:ext cx="182880" cy="182880"/>
          </a:xfrm>
          <a:prstGeom prst="ellipse">
            <a:avLst/>
          </a:prstGeom>
          <a:solidFill>
            <a:srgbClr val="C89B3C"/>
          </a:solidFill>
          <a:ln w="12700">
            <a:solidFill>
              <a:srgbClr val="C89B3C"/>
            </a:solidFill>
            <a:prstDash val="solid"/>
          </a:ln>
        </p:spPr>
      </p:sp>
      <p:sp>
        <p:nvSpPr>
          <p:cNvPr id="6" name="Shape 4"/>
          <p:cNvSpPr/>
          <p:nvPr/>
        </p:nvSpPr>
        <p:spPr>
          <a:xfrm>
            <a:off x="11279124" y="260604"/>
            <a:ext cx="137160" cy="137160"/>
          </a:xfrm>
          <a:prstGeom prst="ellipse">
            <a:avLst/>
          </a:prstGeom>
          <a:solidFill>
            <a:srgbClr val="FFFFFF"/>
          </a:solidFill>
          <a:ln w="12700">
            <a:solidFill>
              <a:srgbClr val="7A6F5E"/>
            </a:solidFill>
            <a:prstDash val="solid"/>
          </a:ln>
        </p:spPr>
      </p:sp>
      <p:sp>
        <p:nvSpPr>
          <p:cNvPr id="7" name="Shape 5"/>
          <p:cNvSpPr/>
          <p:nvPr/>
        </p:nvSpPr>
        <p:spPr>
          <a:xfrm>
            <a:off x="11590020" y="260604"/>
            <a:ext cx="137160" cy="137160"/>
          </a:xfrm>
          <a:prstGeom prst="ellipse">
            <a:avLst/>
          </a:prstGeom>
          <a:solidFill>
            <a:srgbClr val="FFFFFF"/>
          </a:solidFill>
          <a:ln w="12700">
            <a:solidFill>
              <a:srgbClr val="7A6F5E"/>
            </a:solidFill>
            <a:prstDash val="solid"/>
          </a:ln>
        </p:spPr>
      </p:sp>
      <p:sp>
        <p:nvSpPr>
          <p:cNvPr id="8" name="Text 6"/>
          <p:cNvSpPr/>
          <p:nvPr/>
        </p:nvSpPr>
        <p:spPr>
          <a:xfrm>
            <a:off x="5394960" y="182880"/>
            <a:ext cx="4480560" cy="320040"/>
          </a:xfrm>
          <a:prstGeom prst="rect">
            <a:avLst/>
          </a:prstGeom>
          <a:noFill/>
          <a:ln/>
        </p:spPr>
        <p:txBody>
          <a:bodyPr wrap="square" lIns="0" tIns="0" rIns="0" bIns="0" rtlCol="0" anchor="ctr"/>
          <a:lstStyle/>
          <a:p>
            <a:pPr algn="r" indent="0" marL="0">
              <a:buNone/>
            </a:pPr>
            <a:r>
              <a:rPr lang="en-US" sz="1100" dirty="0">
                <a:solidFill>
                  <a:srgbClr val="7A6F5E"/>
                </a:solidFill>
                <a:latin typeface="Calibri" pitchFamily="34" charset="0"/>
                <a:ea typeface="Calibri" pitchFamily="34" charset="-122"/>
                <a:cs typeface="Calibri" pitchFamily="34" charset="-120"/>
              </a:rPr>
              <a:t>IDEA 3  ·  </a:t>
            </a:r>
            <a:pPr algn="r" indent="0" marL="0">
              <a:buNone/>
            </a:pPr>
            <a:r>
              <a:rPr lang="en-US" sz="1100" b="1" dirty="0">
                <a:solidFill>
                  <a:srgbClr val="6D2E46"/>
                </a:solidFill>
                <a:latin typeface="Calibri" pitchFamily="34" charset="0"/>
                <a:ea typeface="Calibri" pitchFamily="34" charset="-122"/>
                <a:cs typeface="Calibri" pitchFamily="34" charset="-120"/>
              </a:rPr>
              <a:t>REAL</a:t>
            </a:r>
            <a:endParaRPr lang="en-US" sz="1100" dirty="0"/>
          </a:p>
        </p:txBody>
      </p:sp>
      <p:sp>
        <p:nvSpPr>
          <p:cNvPr id="9" name="Text 7"/>
          <p:cNvSpPr/>
          <p:nvPr/>
        </p:nvSpPr>
        <p:spPr>
          <a:xfrm>
            <a:off x="640080" y="1554480"/>
            <a:ext cx="10881360" cy="365760"/>
          </a:xfrm>
          <a:prstGeom prst="rect">
            <a:avLst/>
          </a:prstGeom>
          <a:noFill/>
          <a:ln/>
        </p:spPr>
        <p:txBody>
          <a:bodyPr wrap="square" lIns="0" tIns="0" rIns="0" bIns="0" rtlCol="0" anchor="ctr"/>
          <a:lstStyle/>
          <a:p>
            <a:pPr algn="ctr" indent="0" marL="0">
              <a:buNone/>
            </a:pPr>
            <a:r>
              <a:rPr lang="en-US" sz="1500" b="1" dirty="0">
                <a:solidFill>
                  <a:srgbClr val="6D2E46"/>
                </a:solidFill>
                <a:latin typeface="Calibri" pitchFamily="34" charset="0"/>
                <a:ea typeface="Calibri" pitchFamily="34" charset="-122"/>
                <a:cs typeface="Calibri" pitchFamily="34" charset="-120"/>
              </a:rPr>
              <a:t>68 validated rules  </a:t>
            </a:r>
            <a:pPr algn="ctr" indent="0" marL="0">
              <a:buNone/>
            </a:pPr>
            <a:r>
              <a:rPr lang="en-US" sz="1500" dirty="0">
                <a:solidFill>
                  <a:srgbClr val="2B2320"/>
                </a:solidFill>
                <a:latin typeface="Calibri" pitchFamily="34" charset="0"/>
                <a:ea typeface="Calibri" pitchFamily="34" charset="-122"/>
                <a:cs typeface="Calibri" pitchFamily="34" charset="-120"/>
              </a:rPr>
              <a:t>(48 Douro + 20 Vinho Verde)   ·   </a:t>
            </a:r>
            <a:pPr algn="ctr" indent="0" marL="0">
              <a:buNone/>
            </a:pPr>
            <a:r>
              <a:rPr lang="en-US" sz="1500" b="1" dirty="0">
                <a:solidFill>
                  <a:srgbClr val="6D2E46"/>
                </a:solidFill>
                <a:latin typeface="Calibri" pitchFamily="34" charset="0"/>
                <a:ea typeface="Calibri" pitchFamily="34" charset="-122"/>
                <a:cs typeface="Calibri" pitchFamily="34" charset="-120"/>
              </a:rPr>
              <a:t>three algorithms independently agree</a:t>
            </a:r>
            <a:endParaRPr lang="en-US" sz="1500" dirty="0"/>
          </a:p>
        </p:txBody>
      </p:sp>
      <p:sp>
        <p:nvSpPr>
          <p:cNvPr id="10" name="Shape 8"/>
          <p:cNvSpPr/>
          <p:nvPr/>
        </p:nvSpPr>
        <p:spPr>
          <a:xfrm>
            <a:off x="640080" y="2103120"/>
            <a:ext cx="4892040" cy="3977640"/>
          </a:xfrm>
          <a:prstGeom prst="roundRect">
            <a:avLst>
              <a:gd name="adj" fmla="val 1839"/>
            </a:avLst>
          </a:prstGeom>
          <a:solidFill>
            <a:srgbClr val="FFFFFF"/>
          </a:solidFill>
          <a:ln w="12700">
            <a:solidFill>
              <a:srgbClr val="D9CFBE"/>
            </a:solidFill>
            <a:prstDash val="solid"/>
          </a:ln>
          <a:effectLst>
            <a:outerShdw sx="100000" sy="100000" kx="0" ky="0" algn="bl" rotWithShape="0" blurRad="88900" dist="38100" dir="5400000">
              <a:srgbClr val="000000">
                <a:alpha val="14000"/>
              </a:srgbClr>
            </a:outerShdw>
          </a:effectLst>
        </p:spPr>
      </p:sp>
      <p:sp>
        <p:nvSpPr>
          <p:cNvPr id="11" name="Text 9"/>
          <p:cNvSpPr/>
          <p:nvPr/>
        </p:nvSpPr>
        <p:spPr>
          <a:xfrm>
            <a:off x="868680" y="2286000"/>
            <a:ext cx="4480560" cy="320040"/>
          </a:xfrm>
          <a:prstGeom prst="rect">
            <a:avLst/>
          </a:prstGeom>
          <a:noFill/>
          <a:ln/>
        </p:spPr>
        <p:txBody>
          <a:bodyPr wrap="square" lIns="0" tIns="0" rIns="0" bIns="0" rtlCol="0" anchor="ctr"/>
          <a:lstStyle/>
          <a:p>
            <a:pPr indent="0" marL="0">
              <a:buNone/>
            </a:pPr>
            <a:r>
              <a:rPr lang="en-US" sz="1200" b="1" spc="100" kern="0" dirty="0">
                <a:solidFill>
                  <a:srgbClr val="C89B3C"/>
                </a:solidFill>
                <a:latin typeface="Calibri" pitchFamily="34" charset="0"/>
                <a:ea typeface="Calibri" pitchFamily="34" charset="-122"/>
                <a:cs typeface="Calibri" pitchFamily="34" charset="-120"/>
              </a:rPr>
              <a:t>SAME FEATURES, THREE CRITERIA</a:t>
            </a:r>
            <a:endParaRPr lang="en-US" sz="1200" dirty="0"/>
          </a:p>
        </p:txBody>
      </p:sp>
      <p:sp>
        <p:nvSpPr>
          <p:cNvPr id="12" name="Text 10"/>
          <p:cNvSpPr/>
          <p:nvPr/>
        </p:nvSpPr>
        <p:spPr>
          <a:xfrm>
            <a:off x="868680" y="2697480"/>
            <a:ext cx="4480560" cy="365760"/>
          </a:xfrm>
          <a:prstGeom prst="rect">
            <a:avLst/>
          </a:prstGeom>
          <a:noFill/>
          <a:ln/>
        </p:spPr>
        <p:txBody>
          <a:bodyPr wrap="square" lIns="0" tIns="0" rIns="0" bIns="0" rtlCol="0" anchor="ctr"/>
          <a:lstStyle/>
          <a:p>
            <a:pPr indent="0" marL="0">
              <a:buNone/>
            </a:pPr>
            <a:r>
              <a:rPr lang="en-US" sz="1600" b="1" dirty="0">
                <a:solidFill>
                  <a:srgbClr val="2B2320"/>
                </a:solidFill>
                <a:latin typeface="Cambria" pitchFamily="34" charset="0"/>
                <a:ea typeface="Cambria" pitchFamily="34" charset="-122"/>
                <a:cs typeface="Cambria" pitchFamily="34" charset="-120"/>
              </a:rPr>
              <a:t>Harvest soil water</a:t>
            </a:r>
            <a:endParaRPr lang="en-US" sz="1600" dirty="0"/>
          </a:p>
        </p:txBody>
      </p:sp>
      <p:sp>
        <p:nvSpPr>
          <p:cNvPr id="13" name="Text 11"/>
          <p:cNvSpPr/>
          <p:nvPr/>
        </p:nvSpPr>
        <p:spPr>
          <a:xfrm>
            <a:off x="868680" y="3063240"/>
            <a:ext cx="4480560" cy="320040"/>
          </a:xfrm>
          <a:prstGeom prst="rect">
            <a:avLst/>
          </a:prstGeom>
          <a:noFill/>
          <a:ln/>
        </p:spPr>
        <p:txBody>
          <a:bodyPr wrap="square" lIns="0" tIns="0" rIns="0" bIns="0" rtlCol="0" anchor="ctr"/>
          <a:lstStyle/>
          <a:p>
            <a:pPr indent="0" marL="0">
              <a:buNone/>
            </a:pPr>
            <a:r>
              <a:rPr lang="en-US" sz="1250" dirty="0">
                <a:solidFill>
                  <a:srgbClr val="5E7148"/>
                </a:solidFill>
                <a:latin typeface="Calibri" pitchFamily="34" charset="0"/>
                <a:ea typeface="Calibri" pitchFamily="34" charset="-122"/>
                <a:cs typeface="Calibri" pitchFamily="34" charset="-120"/>
              </a:rPr>
              <a:t>CarenR · RIPPER · M5Rules  ✓</a:t>
            </a:r>
            <a:endParaRPr lang="en-US" sz="1250" dirty="0"/>
          </a:p>
        </p:txBody>
      </p:sp>
      <p:sp>
        <p:nvSpPr>
          <p:cNvPr id="14" name="Text 12"/>
          <p:cNvSpPr/>
          <p:nvPr/>
        </p:nvSpPr>
        <p:spPr>
          <a:xfrm>
            <a:off x="868680" y="3593592"/>
            <a:ext cx="4480560" cy="365760"/>
          </a:xfrm>
          <a:prstGeom prst="rect">
            <a:avLst/>
          </a:prstGeom>
          <a:noFill/>
          <a:ln/>
        </p:spPr>
        <p:txBody>
          <a:bodyPr wrap="square" lIns="0" tIns="0" rIns="0" bIns="0" rtlCol="0" anchor="ctr"/>
          <a:lstStyle/>
          <a:p>
            <a:pPr indent="0" marL="0">
              <a:buNone/>
            </a:pPr>
            <a:r>
              <a:rPr lang="en-US" sz="1600" b="1" dirty="0">
                <a:solidFill>
                  <a:srgbClr val="2B2320"/>
                </a:solidFill>
                <a:latin typeface="Cambria" pitchFamily="34" charset="0"/>
                <a:ea typeface="Cambria" pitchFamily="34" charset="-122"/>
                <a:cs typeface="Cambria" pitchFamily="34" charset="-120"/>
              </a:rPr>
              <a:t>LAI family</a:t>
            </a:r>
            <a:endParaRPr lang="en-US" sz="1600" dirty="0"/>
          </a:p>
        </p:txBody>
      </p:sp>
      <p:sp>
        <p:nvSpPr>
          <p:cNvPr id="15" name="Text 13"/>
          <p:cNvSpPr/>
          <p:nvPr/>
        </p:nvSpPr>
        <p:spPr>
          <a:xfrm>
            <a:off x="868680" y="3959352"/>
            <a:ext cx="4480560" cy="320040"/>
          </a:xfrm>
          <a:prstGeom prst="rect">
            <a:avLst/>
          </a:prstGeom>
          <a:noFill/>
          <a:ln/>
        </p:spPr>
        <p:txBody>
          <a:bodyPr wrap="square" lIns="0" tIns="0" rIns="0" bIns="0" rtlCol="0" anchor="ctr"/>
          <a:lstStyle/>
          <a:p>
            <a:pPr indent="0" marL="0">
              <a:buNone/>
            </a:pPr>
            <a:r>
              <a:rPr lang="en-US" sz="1250" dirty="0">
                <a:solidFill>
                  <a:srgbClr val="5E7148"/>
                </a:solidFill>
                <a:latin typeface="Calibri" pitchFamily="34" charset="0"/>
                <a:ea typeface="Calibri" pitchFamily="34" charset="-122"/>
                <a:cs typeface="Calibri" pitchFamily="34" charset="-120"/>
              </a:rPr>
              <a:t>CarenR · RIPPER · M5Rules  ✓</a:t>
            </a:r>
            <a:endParaRPr lang="en-US" sz="1250" dirty="0"/>
          </a:p>
        </p:txBody>
      </p:sp>
      <p:sp>
        <p:nvSpPr>
          <p:cNvPr id="16" name="Text 14"/>
          <p:cNvSpPr/>
          <p:nvPr/>
        </p:nvSpPr>
        <p:spPr>
          <a:xfrm>
            <a:off x="868680" y="4489704"/>
            <a:ext cx="4480560" cy="365760"/>
          </a:xfrm>
          <a:prstGeom prst="rect">
            <a:avLst/>
          </a:prstGeom>
          <a:noFill/>
          <a:ln/>
        </p:spPr>
        <p:txBody>
          <a:bodyPr wrap="square" lIns="0" tIns="0" rIns="0" bIns="0" rtlCol="0" anchor="ctr"/>
          <a:lstStyle/>
          <a:p>
            <a:pPr indent="0" marL="0">
              <a:buNone/>
            </a:pPr>
            <a:r>
              <a:rPr lang="en-US" sz="1600" b="1" dirty="0">
                <a:solidFill>
                  <a:srgbClr val="2B2320"/>
                </a:solidFill>
                <a:latin typeface="Cambria" pitchFamily="34" charset="0"/>
                <a:ea typeface="Cambria" pitchFamily="34" charset="-122"/>
                <a:cs typeface="Cambria" pitchFamily="34" charset="-120"/>
              </a:rPr>
              <a:t>Prior-year summer temp</a:t>
            </a:r>
            <a:endParaRPr lang="en-US" sz="1600" dirty="0"/>
          </a:p>
        </p:txBody>
      </p:sp>
      <p:sp>
        <p:nvSpPr>
          <p:cNvPr id="17" name="Text 15"/>
          <p:cNvSpPr/>
          <p:nvPr/>
        </p:nvSpPr>
        <p:spPr>
          <a:xfrm>
            <a:off x="868680" y="4855464"/>
            <a:ext cx="4480560" cy="320040"/>
          </a:xfrm>
          <a:prstGeom prst="rect">
            <a:avLst/>
          </a:prstGeom>
          <a:noFill/>
          <a:ln/>
        </p:spPr>
        <p:txBody>
          <a:bodyPr wrap="square" lIns="0" tIns="0" rIns="0" bIns="0" rtlCol="0" anchor="ctr"/>
          <a:lstStyle/>
          <a:p>
            <a:pPr indent="0" marL="0">
              <a:buNone/>
            </a:pPr>
            <a:r>
              <a:rPr lang="en-US" sz="1250" dirty="0">
                <a:solidFill>
                  <a:srgbClr val="5E7148"/>
                </a:solidFill>
                <a:latin typeface="Calibri" pitchFamily="34" charset="0"/>
                <a:ea typeface="Calibri" pitchFamily="34" charset="-122"/>
                <a:cs typeface="Calibri" pitchFamily="34" charset="-120"/>
              </a:rPr>
              <a:t>CarenR · RIPPER · M5Rules  ✓</a:t>
            </a:r>
            <a:endParaRPr lang="en-US" sz="1250" dirty="0"/>
          </a:p>
        </p:txBody>
      </p:sp>
      <p:sp>
        <p:nvSpPr>
          <p:cNvPr id="18" name="Text 16"/>
          <p:cNvSpPr/>
          <p:nvPr/>
        </p:nvSpPr>
        <p:spPr>
          <a:xfrm>
            <a:off x="868680" y="5440680"/>
            <a:ext cx="4434840" cy="548640"/>
          </a:xfrm>
          <a:prstGeom prst="rect">
            <a:avLst/>
          </a:prstGeom>
          <a:noFill/>
          <a:ln/>
        </p:spPr>
        <p:txBody>
          <a:bodyPr wrap="square" lIns="0" tIns="0" rIns="0" bIns="0" rtlCol="0" anchor="ctr"/>
          <a:lstStyle/>
          <a:p>
            <a:pPr indent="0" marL="0">
              <a:buNone/>
            </a:pPr>
            <a:r>
              <a:rPr lang="en-US" sz="1250" i="1" dirty="0">
                <a:solidFill>
                  <a:srgbClr val="7A6F5E"/>
                </a:solidFill>
                <a:latin typeface="Calibri" pitchFamily="34" charset="0"/>
                <a:ea typeface="Calibri" pitchFamily="34" charset="-122"/>
                <a:cs typeface="Calibri" pitchFamily="34" charset="-120"/>
              </a:rPr>
              <a:t>Three unrelated optimizers converge → structure is in the data, not the method.</a:t>
            </a:r>
            <a:endParaRPr lang="en-US" sz="1250" dirty="0"/>
          </a:p>
        </p:txBody>
      </p:sp>
      <p:sp>
        <p:nvSpPr>
          <p:cNvPr id="19" name="Text 17"/>
          <p:cNvSpPr/>
          <p:nvPr/>
        </p:nvSpPr>
        <p:spPr>
          <a:xfrm>
            <a:off x="5852160" y="2103120"/>
            <a:ext cx="5760720" cy="365760"/>
          </a:xfrm>
          <a:prstGeom prst="rect">
            <a:avLst/>
          </a:prstGeom>
          <a:noFill/>
          <a:ln/>
        </p:spPr>
        <p:txBody>
          <a:bodyPr wrap="square" lIns="0" tIns="0" rIns="0" bIns="0" rtlCol="0" anchor="ctr"/>
          <a:lstStyle/>
          <a:p>
            <a:pPr indent="0" marL="0">
              <a:buNone/>
            </a:pPr>
            <a:r>
              <a:rPr lang="en-US" sz="1300" b="1" dirty="0">
                <a:solidFill>
                  <a:srgbClr val="2B2320"/>
                </a:solidFill>
                <a:latin typeface="Calibri" pitchFamily="34" charset="0"/>
                <a:ea typeface="Calibri" pitchFamily="34" charset="-122"/>
                <a:cs typeface="Calibri" pitchFamily="34" charset="-120"/>
              </a:rPr>
              <a:t>The stress test: signal survives era-removal, artefact collapses</a:t>
            </a:r>
            <a:endParaRPr lang="en-US" sz="1300" dirty="0"/>
          </a:p>
        </p:txBody>
      </p:sp>
      <p:graphicFrame>
        <p:nvGraphicFramePr>
          <p:cNvPr id="20" name="Chart 0" descr=""/>
          <p:cNvGraphicFramePr/>
          <p:nvPr/>
        </p:nvGraphicFramePr>
        <p:xfrm>
          <a:off x="5852160" y="2514600"/>
          <a:ext cx="5806440" cy="324612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p:nvPr/>
        </p:nvSpPr>
        <p:spPr>
          <a:xfrm>
            <a:off x="5852160" y="5806440"/>
            <a:ext cx="5806440" cy="320040"/>
          </a:xfrm>
          <a:prstGeom prst="rect">
            <a:avLst/>
          </a:prstGeom>
          <a:noFill/>
          <a:ln/>
        </p:spPr>
        <p:txBody>
          <a:bodyPr wrap="square" lIns="0" tIns="0" rIns="0" bIns="0" rtlCol="0" anchor="ctr"/>
          <a:lstStyle/>
          <a:p>
            <a:pPr algn="ctr" indent="0" marL="0">
              <a:buNone/>
            </a:pPr>
            <a:r>
              <a:rPr lang="en-US" sz="1050" i="1" dirty="0">
                <a:solidFill>
                  <a:srgbClr val="7A6F5E"/>
                </a:solidFill>
                <a:latin typeface="Calibri" pitchFamily="34" charset="0"/>
                <a:ea typeface="Calibri" pitchFamily="34" charset="-122"/>
                <a:cs typeface="Calibri" pitchFamily="34" charset="-120"/>
              </a:rPr>
              <a:t>% of correlation retained after LOESS era-removal   (&gt;85% = genuine within-era signal)</a:t>
            </a:r>
            <a:endParaRPr lang="en-US" sz="1050" dirty="0"/>
          </a:p>
        </p:txBody>
      </p:sp>
      <p:sp>
        <p:nvSpPr>
          <p:cNvPr id="22" name="Text 19"/>
          <p:cNvSpPr/>
          <p:nvPr/>
        </p:nvSpPr>
        <p:spPr>
          <a:xfrm>
            <a:off x="11475720" y="6419088"/>
            <a:ext cx="548640" cy="274320"/>
          </a:xfrm>
          <a:prstGeom prst="rect">
            <a:avLst/>
          </a:prstGeom>
          <a:noFill/>
          <a:ln/>
        </p:spPr>
        <p:txBody>
          <a:bodyPr wrap="square" lIns="0" tIns="0" rIns="0" bIns="0" rtlCol="0" anchor="ctr"/>
          <a:lstStyle/>
          <a:p>
            <a:pPr algn="r" indent="0" marL="0">
              <a:buNone/>
            </a:pPr>
            <a:r>
              <a:rPr lang="en-US" sz="1000" dirty="0">
                <a:solidFill>
                  <a:srgbClr val="7A6F5E"/>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30352"/>
            <a:ext cx="7680960" cy="868680"/>
          </a:xfrm>
          <a:prstGeom prst="rect">
            <a:avLst/>
          </a:prstGeom>
          <a:noFill/>
          <a:ln/>
        </p:spPr>
        <p:txBody>
          <a:bodyPr wrap="square" lIns="0" tIns="0" rIns="0" bIns="0" rtlCol="0" anchor="t"/>
          <a:lstStyle/>
          <a:p>
            <a:pPr indent="0" marL="0">
              <a:buNone/>
            </a:pPr>
            <a:r>
              <a:rPr lang="en-US" sz="2900" b="1" dirty="0">
                <a:solidFill>
                  <a:srgbClr val="6D2E46"/>
                </a:solidFill>
                <a:latin typeface="Cambria" pitchFamily="34" charset="0"/>
                <a:ea typeface="Cambria" pitchFamily="34" charset="-122"/>
                <a:cs typeface="Cambria" pitchFamily="34" charset="-120"/>
              </a:rPr>
              <a:t>What the rules actually say</a:t>
            </a:r>
            <a:endParaRPr lang="en-US" sz="2900" dirty="0"/>
          </a:p>
        </p:txBody>
      </p:sp>
      <p:sp>
        <p:nvSpPr>
          <p:cNvPr id="3" name="Shape 1"/>
          <p:cNvSpPr/>
          <p:nvPr/>
        </p:nvSpPr>
        <p:spPr>
          <a:xfrm>
            <a:off x="10346436" y="260604"/>
            <a:ext cx="137160" cy="137160"/>
          </a:xfrm>
          <a:prstGeom prst="ellipse">
            <a:avLst/>
          </a:prstGeom>
          <a:solidFill>
            <a:srgbClr val="FFFFFF"/>
          </a:solidFill>
          <a:ln w="12700">
            <a:solidFill>
              <a:srgbClr val="7A6F5E"/>
            </a:solidFill>
            <a:prstDash val="solid"/>
          </a:ln>
        </p:spPr>
      </p:sp>
      <p:sp>
        <p:nvSpPr>
          <p:cNvPr id="4" name="Shape 2"/>
          <p:cNvSpPr/>
          <p:nvPr/>
        </p:nvSpPr>
        <p:spPr>
          <a:xfrm>
            <a:off x="10657332" y="260604"/>
            <a:ext cx="137160" cy="137160"/>
          </a:xfrm>
          <a:prstGeom prst="ellipse">
            <a:avLst/>
          </a:prstGeom>
          <a:solidFill>
            <a:srgbClr val="FFFFFF"/>
          </a:solidFill>
          <a:ln w="12700">
            <a:solidFill>
              <a:srgbClr val="7A6F5E"/>
            </a:solidFill>
            <a:prstDash val="solid"/>
          </a:ln>
        </p:spPr>
      </p:sp>
      <p:sp>
        <p:nvSpPr>
          <p:cNvPr id="5" name="Shape 3"/>
          <p:cNvSpPr/>
          <p:nvPr/>
        </p:nvSpPr>
        <p:spPr>
          <a:xfrm>
            <a:off x="10945368" y="237744"/>
            <a:ext cx="182880" cy="182880"/>
          </a:xfrm>
          <a:prstGeom prst="ellipse">
            <a:avLst/>
          </a:prstGeom>
          <a:solidFill>
            <a:srgbClr val="C89B3C"/>
          </a:solidFill>
          <a:ln w="12700">
            <a:solidFill>
              <a:srgbClr val="C89B3C"/>
            </a:solidFill>
            <a:prstDash val="solid"/>
          </a:ln>
        </p:spPr>
      </p:sp>
      <p:sp>
        <p:nvSpPr>
          <p:cNvPr id="6" name="Shape 4"/>
          <p:cNvSpPr/>
          <p:nvPr/>
        </p:nvSpPr>
        <p:spPr>
          <a:xfrm>
            <a:off x="11279124" y="260604"/>
            <a:ext cx="137160" cy="137160"/>
          </a:xfrm>
          <a:prstGeom prst="ellipse">
            <a:avLst/>
          </a:prstGeom>
          <a:solidFill>
            <a:srgbClr val="FFFFFF"/>
          </a:solidFill>
          <a:ln w="12700">
            <a:solidFill>
              <a:srgbClr val="7A6F5E"/>
            </a:solidFill>
            <a:prstDash val="solid"/>
          </a:ln>
        </p:spPr>
      </p:sp>
      <p:sp>
        <p:nvSpPr>
          <p:cNvPr id="7" name="Shape 5"/>
          <p:cNvSpPr/>
          <p:nvPr/>
        </p:nvSpPr>
        <p:spPr>
          <a:xfrm>
            <a:off x="11590020" y="260604"/>
            <a:ext cx="137160" cy="137160"/>
          </a:xfrm>
          <a:prstGeom prst="ellipse">
            <a:avLst/>
          </a:prstGeom>
          <a:solidFill>
            <a:srgbClr val="FFFFFF"/>
          </a:solidFill>
          <a:ln w="12700">
            <a:solidFill>
              <a:srgbClr val="7A6F5E"/>
            </a:solidFill>
            <a:prstDash val="solid"/>
          </a:ln>
        </p:spPr>
      </p:sp>
      <p:sp>
        <p:nvSpPr>
          <p:cNvPr id="8" name="Text 6"/>
          <p:cNvSpPr/>
          <p:nvPr/>
        </p:nvSpPr>
        <p:spPr>
          <a:xfrm>
            <a:off x="5394960" y="182880"/>
            <a:ext cx="4480560" cy="320040"/>
          </a:xfrm>
          <a:prstGeom prst="rect">
            <a:avLst/>
          </a:prstGeom>
          <a:noFill/>
          <a:ln/>
        </p:spPr>
        <p:txBody>
          <a:bodyPr wrap="square" lIns="0" tIns="0" rIns="0" bIns="0" rtlCol="0" anchor="ctr"/>
          <a:lstStyle/>
          <a:p>
            <a:pPr algn="r" indent="0" marL="0">
              <a:buNone/>
            </a:pPr>
            <a:r>
              <a:rPr lang="en-US" sz="1100" dirty="0">
                <a:solidFill>
                  <a:srgbClr val="7A6F5E"/>
                </a:solidFill>
                <a:latin typeface="Calibri" pitchFamily="34" charset="0"/>
                <a:ea typeface="Calibri" pitchFamily="34" charset="-122"/>
                <a:cs typeface="Calibri" pitchFamily="34" charset="-120"/>
              </a:rPr>
              <a:t>IDEA 3  ·  </a:t>
            </a:r>
            <a:pPr algn="r" indent="0" marL="0">
              <a:buNone/>
            </a:pPr>
            <a:r>
              <a:rPr lang="en-US" sz="1100" b="1" dirty="0">
                <a:solidFill>
                  <a:srgbClr val="6D2E46"/>
                </a:solidFill>
                <a:latin typeface="Calibri" pitchFamily="34" charset="0"/>
                <a:ea typeface="Calibri" pitchFamily="34" charset="-122"/>
                <a:cs typeface="Calibri" pitchFamily="34" charset="-120"/>
              </a:rPr>
              <a:t>REAL</a:t>
            </a:r>
            <a:endParaRPr lang="en-US" sz="1100" dirty="0"/>
          </a:p>
        </p:txBody>
      </p:sp>
      <p:sp>
        <p:nvSpPr>
          <p:cNvPr id="9" name="Text 7"/>
          <p:cNvSpPr/>
          <p:nvPr/>
        </p:nvSpPr>
        <p:spPr>
          <a:xfrm>
            <a:off x="640080" y="1600200"/>
            <a:ext cx="10881360" cy="365760"/>
          </a:xfrm>
          <a:prstGeom prst="rect">
            <a:avLst/>
          </a:prstGeom>
          <a:noFill/>
          <a:ln/>
        </p:spPr>
        <p:txBody>
          <a:bodyPr wrap="square" lIns="0" tIns="0" rIns="0" bIns="0" rtlCol="0" anchor="ctr"/>
          <a:lstStyle/>
          <a:p>
            <a:pPr indent="0" marL="0">
              <a:buNone/>
            </a:pPr>
            <a:r>
              <a:rPr lang="en-US" sz="1450" dirty="0">
                <a:solidFill>
                  <a:srgbClr val="2B2320"/>
                </a:solidFill>
                <a:latin typeface="Calibri" pitchFamily="34" charset="0"/>
                <a:ea typeface="Calibri" pitchFamily="34" charset="-122"/>
                <a:cs typeface="Calibri" pitchFamily="34" charset="-120"/>
              </a:rPr>
              <a:t>The same variable — soil water 20 days before harvest — flips sign between regions:</a:t>
            </a:r>
            <a:endParaRPr lang="en-US" sz="1450" dirty="0"/>
          </a:p>
        </p:txBody>
      </p:sp>
      <p:sp>
        <p:nvSpPr>
          <p:cNvPr id="10" name="Shape 8"/>
          <p:cNvSpPr/>
          <p:nvPr/>
        </p:nvSpPr>
        <p:spPr>
          <a:xfrm>
            <a:off x="640080" y="2148840"/>
            <a:ext cx="4892040" cy="2514600"/>
          </a:xfrm>
          <a:prstGeom prst="roundRect">
            <a:avLst>
              <a:gd name="adj" fmla="val 2909"/>
            </a:avLst>
          </a:prstGeom>
          <a:solidFill>
            <a:srgbClr val="F6ECED"/>
          </a:solidFill>
          <a:ln w="12700">
            <a:solidFill>
              <a:srgbClr val="7A2E39"/>
            </a:solidFill>
            <a:prstDash val="solid"/>
          </a:ln>
          <a:effectLst>
            <a:outerShdw sx="100000" sy="100000" kx="0" ky="0" algn="bl" rotWithShape="0" blurRad="88900" dist="38100" dir="5400000">
              <a:srgbClr val="000000">
                <a:alpha val="14000"/>
              </a:srgbClr>
            </a:outerShdw>
          </a:effectLst>
        </p:spPr>
      </p:sp>
      <p:sp>
        <p:nvSpPr>
          <p:cNvPr id="11" name="Text 9"/>
          <p:cNvSpPr/>
          <p:nvPr/>
        </p:nvSpPr>
        <p:spPr>
          <a:xfrm>
            <a:off x="640080" y="2377440"/>
            <a:ext cx="4892040" cy="365760"/>
          </a:xfrm>
          <a:prstGeom prst="rect">
            <a:avLst/>
          </a:prstGeom>
          <a:noFill/>
          <a:ln/>
        </p:spPr>
        <p:txBody>
          <a:bodyPr wrap="square" lIns="0" tIns="0" rIns="0" bIns="0" rtlCol="0" anchor="ctr"/>
          <a:lstStyle/>
          <a:p>
            <a:pPr algn="ctr" indent="0" marL="0">
              <a:buNone/>
            </a:pPr>
            <a:r>
              <a:rPr lang="en-US" sz="1300" b="1" spc="200" kern="0" dirty="0">
                <a:solidFill>
                  <a:srgbClr val="7A2E39"/>
                </a:solidFill>
                <a:latin typeface="Calibri" pitchFamily="34" charset="0"/>
                <a:ea typeface="Calibri" pitchFamily="34" charset="-122"/>
                <a:cs typeface="Calibri" pitchFamily="34" charset="-120"/>
              </a:rPr>
              <a:t>DOURO</a:t>
            </a:r>
            <a:endParaRPr lang="en-US" sz="1300" dirty="0"/>
          </a:p>
        </p:txBody>
      </p:sp>
      <p:sp>
        <p:nvSpPr>
          <p:cNvPr id="12" name="Text 10"/>
          <p:cNvSpPr/>
          <p:nvPr/>
        </p:nvSpPr>
        <p:spPr>
          <a:xfrm>
            <a:off x="640080" y="2697480"/>
            <a:ext cx="4892040" cy="731520"/>
          </a:xfrm>
          <a:prstGeom prst="rect">
            <a:avLst/>
          </a:prstGeom>
          <a:noFill/>
          <a:ln/>
        </p:spPr>
        <p:txBody>
          <a:bodyPr wrap="square" lIns="0" tIns="0" rIns="0" bIns="0" rtlCol="0" anchor="ctr"/>
          <a:lstStyle/>
          <a:p>
            <a:pPr algn="ctr" indent="0" marL="0">
              <a:buNone/>
            </a:pPr>
            <a:r>
              <a:rPr lang="en-US" sz="4000" b="1" dirty="0">
                <a:solidFill>
                  <a:srgbClr val="7A2E39"/>
                </a:solidFill>
                <a:latin typeface="Cambria" pitchFamily="34" charset="0"/>
                <a:ea typeface="Cambria" pitchFamily="34" charset="-122"/>
                <a:cs typeface="Cambria" pitchFamily="34" charset="-120"/>
              </a:rPr>
              <a:t>+192 mhl</a:t>
            </a:r>
            <a:endParaRPr lang="en-US" sz="4000" dirty="0"/>
          </a:p>
        </p:txBody>
      </p:sp>
      <p:sp>
        <p:nvSpPr>
          <p:cNvPr id="13" name="Text 11"/>
          <p:cNvSpPr/>
          <p:nvPr/>
        </p:nvSpPr>
        <p:spPr>
          <a:xfrm>
            <a:off x="868680" y="3566160"/>
            <a:ext cx="4434840" cy="822960"/>
          </a:xfrm>
          <a:prstGeom prst="rect">
            <a:avLst/>
          </a:prstGeom>
          <a:noFill/>
          <a:ln/>
        </p:spPr>
        <p:txBody>
          <a:bodyPr wrap="square" lIns="0" tIns="0" rIns="0" bIns="0" rtlCol="0" anchor="ctr"/>
          <a:lstStyle/>
          <a:p>
            <a:pPr algn="ctr" indent="0" marL="0">
              <a:buNone/>
            </a:pPr>
            <a:r>
              <a:rPr lang="en-US" sz="1350" dirty="0">
                <a:solidFill>
                  <a:srgbClr val="2B2320"/>
                </a:solidFill>
                <a:latin typeface="Calibri" pitchFamily="34" charset="0"/>
                <a:ea typeface="Calibri" pitchFamily="34" charset="-122"/>
                <a:cs typeface="Calibri" pitchFamily="34" charset="-120"/>
              </a:rPr>
              <a:t>Moderate deficit = berry concentration.</a:t>
            </a:r>
            <a:endParaRPr lang="en-US" sz="1350" dirty="0"/>
          </a:p>
          <a:p>
            <a:pPr algn="ctr" indent="0" marL="0">
              <a:buNone/>
            </a:pPr>
            <a:r>
              <a:rPr lang="en-US" sz="1350" dirty="0">
                <a:solidFill>
                  <a:srgbClr val="2B2320"/>
                </a:solidFill>
                <a:latin typeface="Calibri" pitchFamily="34" charset="0"/>
                <a:ea typeface="Calibri" pitchFamily="34" charset="-122"/>
                <a:cs typeface="Calibri" pitchFamily="34" charset="-120"/>
              </a:rPr>
              <a:t>A dry-climate sweet spot → above trend.</a:t>
            </a:r>
            <a:endParaRPr lang="en-US" sz="1350" dirty="0"/>
          </a:p>
        </p:txBody>
      </p:sp>
      <p:sp>
        <p:nvSpPr>
          <p:cNvPr id="14" name="Shape 12"/>
          <p:cNvSpPr/>
          <p:nvPr/>
        </p:nvSpPr>
        <p:spPr>
          <a:xfrm>
            <a:off x="6446520" y="2148840"/>
            <a:ext cx="4892040" cy="2514600"/>
          </a:xfrm>
          <a:prstGeom prst="roundRect">
            <a:avLst>
              <a:gd name="adj" fmla="val 2909"/>
            </a:avLst>
          </a:prstGeom>
          <a:solidFill>
            <a:srgbClr val="F1F5EE"/>
          </a:solidFill>
          <a:ln w="12700">
            <a:solidFill>
              <a:srgbClr val="5E7148"/>
            </a:solidFill>
            <a:prstDash val="solid"/>
          </a:ln>
          <a:effectLst>
            <a:outerShdw sx="100000" sy="100000" kx="0" ky="0" algn="bl" rotWithShape="0" blurRad="88900" dist="38100" dir="5400000">
              <a:srgbClr val="000000">
                <a:alpha val="14000"/>
              </a:srgbClr>
            </a:outerShdw>
          </a:effectLst>
        </p:spPr>
      </p:sp>
      <p:sp>
        <p:nvSpPr>
          <p:cNvPr id="15" name="Text 13"/>
          <p:cNvSpPr/>
          <p:nvPr/>
        </p:nvSpPr>
        <p:spPr>
          <a:xfrm>
            <a:off x="6446520" y="2377440"/>
            <a:ext cx="4892040" cy="365760"/>
          </a:xfrm>
          <a:prstGeom prst="rect">
            <a:avLst/>
          </a:prstGeom>
          <a:noFill/>
          <a:ln/>
        </p:spPr>
        <p:txBody>
          <a:bodyPr wrap="square" lIns="0" tIns="0" rIns="0" bIns="0" rtlCol="0" anchor="ctr"/>
          <a:lstStyle/>
          <a:p>
            <a:pPr algn="ctr" indent="0" marL="0">
              <a:buNone/>
            </a:pPr>
            <a:r>
              <a:rPr lang="en-US" sz="1300" b="1" spc="200" kern="0" dirty="0">
                <a:solidFill>
                  <a:srgbClr val="5E7148"/>
                </a:solidFill>
                <a:latin typeface="Calibri" pitchFamily="34" charset="0"/>
                <a:ea typeface="Calibri" pitchFamily="34" charset="-122"/>
                <a:cs typeface="Calibri" pitchFamily="34" charset="-120"/>
              </a:rPr>
              <a:t>VINHO VERDE</a:t>
            </a:r>
            <a:endParaRPr lang="en-US" sz="1300" dirty="0"/>
          </a:p>
        </p:txBody>
      </p:sp>
      <p:sp>
        <p:nvSpPr>
          <p:cNvPr id="16" name="Text 14"/>
          <p:cNvSpPr/>
          <p:nvPr/>
        </p:nvSpPr>
        <p:spPr>
          <a:xfrm>
            <a:off x="6446520" y="2697480"/>
            <a:ext cx="4892040" cy="731520"/>
          </a:xfrm>
          <a:prstGeom prst="rect">
            <a:avLst/>
          </a:prstGeom>
          <a:noFill/>
          <a:ln/>
        </p:spPr>
        <p:txBody>
          <a:bodyPr wrap="square" lIns="0" tIns="0" rIns="0" bIns="0" rtlCol="0" anchor="ctr"/>
          <a:lstStyle/>
          <a:p>
            <a:pPr algn="ctr" indent="0" marL="0">
              <a:buNone/>
            </a:pPr>
            <a:r>
              <a:rPr lang="en-US" sz="4000" b="1" dirty="0">
                <a:solidFill>
                  <a:srgbClr val="5E7148"/>
                </a:solidFill>
                <a:latin typeface="Cambria" pitchFamily="34" charset="0"/>
                <a:ea typeface="Cambria" pitchFamily="34" charset="-122"/>
                <a:cs typeface="Cambria" pitchFamily="34" charset="-120"/>
              </a:rPr>
              <a:t>−338 mhl</a:t>
            </a:r>
            <a:endParaRPr lang="en-US" sz="4000" dirty="0"/>
          </a:p>
        </p:txBody>
      </p:sp>
      <p:sp>
        <p:nvSpPr>
          <p:cNvPr id="17" name="Text 15"/>
          <p:cNvSpPr/>
          <p:nvPr/>
        </p:nvSpPr>
        <p:spPr>
          <a:xfrm>
            <a:off x="6675120" y="3566160"/>
            <a:ext cx="4434840" cy="822960"/>
          </a:xfrm>
          <a:prstGeom prst="rect">
            <a:avLst/>
          </a:prstGeom>
          <a:noFill/>
          <a:ln/>
        </p:spPr>
        <p:txBody>
          <a:bodyPr wrap="square" lIns="0" tIns="0" rIns="0" bIns="0" rtlCol="0" anchor="ctr"/>
          <a:lstStyle/>
          <a:p>
            <a:pPr algn="ctr" indent="0" marL="0">
              <a:buNone/>
            </a:pPr>
            <a:r>
              <a:rPr lang="en-US" sz="1350" dirty="0">
                <a:solidFill>
                  <a:srgbClr val="2B2320"/>
                </a:solidFill>
                <a:latin typeface="Calibri" pitchFamily="34" charset="0"/>
                <a:ea typeface="Calibri" pitchFamily="34" charset="-122"/>
                <a:cs typeface="Calibri" pitchFamily="34" charset="-120"/>
              </a:rPr>
              <a:t>Same range = cool, wet, low-quality years.</a:t>
            </a:r>
            <a:endParaRPr lang="en-US" sz="1350" dirty="0"/>
          </a:p>
          <a:p>
            <a:pPr algn="ctr" indent="0" marL="0">
              <a:buNone/>
            </a:pPr>
            <a:r>
              <a:rPr lang="en-US" sz="1350" dirty="0">
                <a:solidFill>
                  <a:srgbClr val="2B2320"/>
                </a:solidFill>
                <a:latin typeface="Calibri" pitchFamily="34" charset="0"/>
                <a:ea typeface="Calibri" pitchFamily="34" charset="-122"/>
                <a:cs typeface="Calibri" pitchFamily="34" charset="-120"/>
              </a:rPr>
              <a:t>An Atlantic-climate penalty → below trend.</a:t>
            </a:r>
            <a:endParaRPr lang="en-US" sz="1350" dirty="0"/>
          </a:p>
        </p:txBody>
      </p:sp>
      <p:sp>
        <p:nvSpPr>
          <p:cNvPr id="18" name="Shape 16"/>
          <p:cNvSpPr/>
          <p:nvPr/>
        </p:nvSpPr>
        <p:spPr>
          <a:xfrm>
            <a:off x="5532120" y="3017520"/>
            <a:ext cx="1234440" cy="1234440"/>
          </a:xfrm>
          <a:prstGeom prst="ellipse">
            <a:avLst/>
          </a:prstGeom>
          <a:solidFill>
            <a:srgbClr val="6D2E46"/>
          </a:solidFill>
          <a:ln w="25400">
            <a:solidFill>
              <a:srgbClr val="C89B3C"/>
            </a:solidFill>
            <a:prstDash val="solid"/>
          </a:ln>
          <a:effectLst>
            <a:outerShdw sx="100000" sy="100000" kx="0" ky="0" algn="bl" rotWithShape="0" blurRad="88900" dist="38100" dir="5400000">
              <a:srgbClr val="000000">
                <a:alpha val="14000"/>
              </a:srgbClr>
            </a:outerShdw>
          </a:effectLst>
        </p:spPr>
      </p:sp>
      <p:sp>
        <p:nvSpPr>
          <p:cNvPr id="19" name="Text 17"/>
          <p:cNvSpPr/>
          <p:nvPr/>
        </p:nvSpPr>
        <p:spPr>
          <a:xfrm>
            <a:off x="5532120" y="3017520"/>
            <a:ext cx="1234440" cy="12344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SAME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p>
        </p:txBody>
      </p:sp>
      <p:sp>
        <p:nvSpPr>
          <p:cNvPr id="20" name="Text 18"/>
          <p:cNvSpPr/>
          <p:nvPr/>
        </p:nvSpPr>
        <p:spPr>
          <a:xfrm>
            <a:off x="640080" y="4983480"/>
            <a:ext cx="10881360" cy="822960"/>
          </a:xfrm>
          <a:prstGeom prst="rect">
            <a:avLst/>
          </a:prstGeom>
          <a:noFill/>
          <a:ln/>
        </p:spPr>
        <p:txBody>
          <a:bodyPr wrap="square" lIns="0" tIns="0" rIns="0" bIns="0" rtlCol="0" anchor="ctr"/>
          <a:lstStyle/>
          <a:p>
            <a:pPr algn="ctr" indent="0" marL="0">
              <a:buNone/>
            </a:pPr>
            <a:r>
              <a:rPr lang="en-US" sz="1550" i="1" dirty="0">
                <a:solidFill>
                  <a:srgbClr val="6D2E46"/>
                </a:solidFill>
                <a:latin typeface="Cambria" pitchFamily="34" charset="0"/>
                <a:ea typeface="Cambria" pitchFamily="34" charset="-122"/>
                <a:cs typeface="Cambria" pitchFamily="34" charset="-120"/>
              </a:rPr>
              <a:t>CarenR detects opposite signals in each region without ever seeing them together — it resolves a sign reversal correctly. That is real domain structure, not overfitting.</a:t>
            </a:r>
            <a:endParaRPr lang="en-US" sz="1550" dirty="0"/>
          </a:p>
        </p:txBody>
      </p:sp>
      <p:sp>
        <p:nvSpPr>
          <p:cNvPr id="21" name="Text 19"/>
          <p:cNvSpPr/>
          <p:nvPr/>
        </p:nvSpPr>
        <p:spPr>
          <a:xfrm>
            <a:off x="11475720" y="6419088"/>
            <a:ext cx="548640" cy="274320"/>
          </a:xfrm>
          <a:prstGeom prst="rect">
            <a:avLst/>
          </a:prstGeom>
          <a:noFill/>
          <a:ln/>
        </p:spPr>
        <p:txBody>
          <a:bodyPr wrap="square" lIns="0" tIns="0" rIns="0" bIns="0" rtlCol="0" anchor="ctr"/>
          <a:lstStyle/>
          <a:p>
            <a:pPr algn="r" indent="0" marL="0">
              <a:buNone/>
            </a:pPr>
            <a:r>
              <a:rPr lang="en-US" sz="1000" dirty="0">
                <a:solidFill>
                  <a:srgbClr val="7A6F5E"/>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30352"/>
            <a:ext cx="7680960" cy="868680"/>
          </a:xfrm>
          <a:prstGeom prst="rect">
            <a:avLst/>
          </a:prstGeom>
          <a:noFill/>
          <a:ln/>
        </p:spPr>
        <p:txBody>
          <a:bodyPr wrap="square" lIns="0" tIns="0" rIns="0" bIns="0" rtlCol="0" anchor="t"/>
          <a:lstStyle/>
          <a:p>
            <a:pPr indent="0" marL="0">
              <a:buNone/>
            </a:pPr>
            <a:r>
              <a:rPr lang="en-US" sz="2900" b="1" dirty="0">
                <a:solidFill>
                  <a:srgbClr val="6D2E46"/>
                </a:solidFill>
                <a:latin typeface="Cambria" pitchFamily="34" charset="0"/>
                <a:ea typeface="Cambria" pitchFamily="34" charset="-122"/>
                <a:cs typeface="Cambria" pitchFamily="34" charset="-120"/>
              </a:rPr>
              <a:t>Thresholds a grower can act on</a:t>
            </a:r>
            <a:endParaRPr lang="en-US" sz="2900" dirty="0"/>
          </a:p>
        </p:txBody>
      </p:sp>
      <p:sp>
        <p:nvSpPr>
          <p:cNvPr id="3" name="Shape 1"/>
          <p:cNvSpPr/>
          <p:nvPr/>
        </p:nvSpPr>
        <p:spPr>
          <a:xfrm>
            <a:off x="10346436" y="260604"/>
            <a:ext cx="137160" cy="137160"/>
          </a:xfrm>
          <a:prstGeom prst="ellipse">
            <a:avLst/>
          </a:prstGeom>
          <a:solidFill>
            <a:srgbClr val="FFFFFF"/>
          </a:solidFill>
          <a:ln w="12700">
            <a:solidFill>
              <a:srgbClr val="7A6F5E"/>
            </a:solidFill>
            <a:prstDash val="solid"/>
          </a:ln>
        </p:spPr>
      </p:sp>
      <p:sp>
        <p:nvSpPr>
          <p:cNvPr id="4" name="Shape 2"/>
          <p:cNvSpPr/>
          <p:nvPr/>
        </p:nvSpPr>
        <p:spPr>
          <a:xfrm>
            <a:off x="10657332" y="260604"/>
            <a:ext cx="137160" cy="137160"/>
          </a:xfrm>
          <a:prstGeom prst="ellipse">
            <a:avLst/>
          </a:prstGeom>
          <a:solidFill>
            <a:srgbClr val="FFFFFF"/>
          </a:solidFill>
          <a:ln w="12700">
            <a:solidFill>
              <a:srgbClr val="7A6F5E"/>
            </a:solidFill>
            <a:prstDash val="solid"/>
          </a:ln>
        </p:spPr>
      </p:sp>
      <p:sp>
        <p:nvSpPr>
          <p:cNvPr id="5" name="Shape 3"/>
          <p:cNvSpPr/>
          <p:nvPr/>
        </p:nvSpPr>
        <p:spPr>
          <a:xfrm>
            <a:off x="10945368" y="237744"/>
            <a:ext cx="182880" cy="182880"/>
          </a:xfrm>
          <a:prstGeom prst="ellipse">
            <a:avLst/>
          </a:prstGeom>
          <a:solidFill>
            <a:srgbClr val="C89B3C"/>
          </a:solidFill>
          <a:ln w="12700">
            <a:solidFill>
              <a:srgbClr val="C89B3C"/>
            </a:solidFill>
            <a:prstDash val="solid"/>
          </a:ln>
        </p:spPr>
      </p:sp>
      <p:sp>
        <p:nvSpPr>
          <p:cNvPr id="6" name="Shape 4"/>
          <p:cNvSpPr/>
          <p:nvPr/>
        </p:nvSpPr>
        <p:spPr>
          <a:xfrm>
            <a:off x="11279124" y="260604"/>
            <a:ext cx="137160" cy="137160"/>
          </a:xfrm>
          <a:prstGeom prst="ellipse">
            <a:avLst/>
          </a:prstGeom>
          <a:solidFill>
            <a:srgbClr val="FFFFFF"/>
          </a:solidFill>
          <a:ln w="12700">
            <a:solidFill>
              <a:srgbClr val="7A6F5E"/>
            </a:solidFill>
            <a:prstDash val="solid"/>
          </a:ln>
        </p:spPr>
      </p:sp>
      <p:sp>
        <p:nvSpPr>
          <p:cNvPr id="7" name="Shape 5"/>
          <p:cNvSpPr/>
          <p:nvPr/>
        </p:nvSpPr>
        <p:spPr>
          <a:xfrm>
            <a:off x="11590020" y="260604"/>
            <a:ext cx="137160" cy="137160"/>
          </a:xfrm>
          <a:prstGeom prst="ellipse">
            <a:avLst/>
          </a:prstGeom>
          <a:solidFill>
            <a:srgbClr val="FFFFFF"/>
          </a:solidFill>
          <a:ln w="12700">
            <a:solidFill>
              <a:srgbClr val="7A6F5E"/>
            </a:solidFill>
            <a:prstDash val="solid"/>
          </a:ln>
        </p:spPr>
      </p:sp>
      <p:sp>
        <p:nvSpPr>
          <p:cNvPr id="8" name="Text 6"/>
          <p:cNvSpPr/>
          <p:nvPr/>
        </p:nvSpPr>
        <p:spPr>
          <a:xfrm>
            <a:off x="5394960" y="182880"/>
            <a:ext cx="4480560" cy="320040"/>
          </a:xfrm>
          <a:prstGeom prst="rect">
            <a:avLst/>
          </a:prstGeom>
          <a:noFill/>
          <a:ln/>
        </p:spPr>
        <p:txBody>
          <a:bodyPr wrap="square" lIns="0" tIns="0" rIns="0" bIns="0" rtlCol="0" anchor="ctr"/>
          <a:lstStyle/>
          <a:p>
            <a:pPr algn="r" indent="0" marL="0">
              <a:buNone/>
            </a:pPr>
            <a:r>
              <a:rPr lang="en-US" sz="1100" dirty="0">
                <a:solidFill>
                  <a:srgbClr val="7A6F5E"/>
                </a:solidFill>
                <a:latin typeface="Calibri" pitchFamily="34" charset="0"/>
                <a:ea typeface="Calibri" pitchFamily="34" charset="-122"/>
                <a:cs typeface="Calibri" pitchFamily="34" charset="-120"/>
              </a:rPr>
              <a:t>IDEA 3  ·  </a:t>
            </a:r>
            <a:pPr algn="r" indent="0" marL="0">
              <a:buNone/>
            </a:pPr>
            <a:r>
              <a:rPr lang="en-US" sz="1100" b="1" dirty="0">
                <a:solidFill>
                  <a:srgbClr val="6D2E46"/>
                </a:solidFill>
                <a:latin typeface="Calibri" pitchFamily="34" charset="0"/>
                <a:ea typeface="Calibri" pitchFamily="34" charset="-122"/>
                <a:cs typeface="Calibri" pitchFamily="34" charset="-120"/>
              </a:rPr>
              <a:t>REAL</a:t>
            </a:r>
            <a:endParaRPr lang="en-US" sz="1100" dirty="0"/>
          </a:p>
        </p:txBody>
      </p:sp>
      <p:sp>
        <p:nvSpPr>
          <p:cNvPr id="9" name="Text 7"/>
          <p:cNvSpPr/>
          <p:nvPr/>
        </p:nvSpPr>
        <p:spPr>
          <a:xfrm>
            <a:off x="640080" y="1600200"/>
            <a:ext cx="10881360" cy="457200"/>
          </a:xfrm>
          <a:prstGeom prst="rect">
            <a:avLst/>
          </a:prstGeom>
          <a:noFill/>
          <a:ln/>
        </p:spPr>
        <p:txBody>
          <a:bodyPr wrap="square" lIns="0" tIns="0" rIns="0" bIns="0" rtlCol="0" anchor="ctr"/>
          <a:lstStyle/>
          <a:p>
            <a:pPr indent="0" marL="0">
              <a:buNone/>
            </a:pPr>
            <a:r>
              <a:rPr lang="en-US" sz="1400" dirty="0">
                <a:solidFill>
                  <a:srgbClr val="2B2320"/>
                </a:solidFill>
                <a:latin typeface="Calibri" pitchFamily="34" charset="0"/>
                <a:ea typeface="Calibri" pitchFamily="34" charset="-122"/>
                <a:cs typeface="Calibri" pitchFamily="34" charset="-120"/>
              </a:rPr>
              <a:t>The reward for choosing rules over a black box: explicit, biologically coherent thresholds — each with a support estimate.</a:t>
            </a:r>
            <a:endParaRPr lang="en-US" sz="1400" dirty="0"/>
          </a:p>
        </p:txBody>
      </p:sp>
      <p:sp>
        <p:nvSpPr>
          <p:cNvPr id="10" name="Shape 8"/>
          <p:cNvSpPr/>
          <p:nvPr/>
        </p:nvSpPr>
        <p:spPr>
          <a:xfrm>
            <a:off x="1005840" y="2926080"/>
            <a:ext cx="3044952" cy="868680"/>
          </a:xfrm>
          <a:prstGeom prst="rect">
            <a:avLst/>
          </a:prstGeom>
          <a:solidFill>
            <a:srgbClr val="D9C9B0"/>
          </a:solidFill>
          <a:ln/>
        </p:spPr>
      </p:sp>
      <p:sp>
        <p:nvSpPr>
          <p:cNvPr id="11" name="Shape 9"/>
          <p:cNvSpPr/>
          <p:nvPr/>
        </p:nvSpPr>
        <p:spPr>
          <a:xfrm>
            <a:off x="4050792" y="2926080"/>
            <a:ext cx="3349447" cy="868680"/>
          </a:xfrm>
          <a:prstGeom prst="rect">
            <a:avLst/>
          </a:prstGeom>
          <a:solidFill>
            <a:srgbClr val="C89B3C"/>
          </a:solidFill>
          <a:ln/>
        </p:spPr>
      </p:sp>
      <p:sp>
        <p:nvSpPr>
          <p:cNvPr id="12" name="Shape 10"/>
          <p:cNvSpPr/>
          <p:nvPr/>
        </p:nvSpPr>
        <p:spPr>
          <a:xfrm>
            <a:off x="7400239" y="2926080"/>
            <a:ext cx="3755441" cy="868680"/>
          </a:xfrm>
          <a:prstGeom prst="rect">
            <a:avLst/>
          </a:prstGeom>
          <a:solidFill>
            <a:srgbClr val="AEB9C9"/>
          </a:solidFill>
          <a:ln/>
        </p:spPr>
      </p:sp>
      <p:sp>
        <p:nvSpPr>
          <p:cNvPr id="13" name="Text 11"/>
          <p:cNvSpPr/>
          <p:nvPr/>
        </p:nvSpPr>
        <p:spPr>
          <a:xfrm>
            <a:off x="1005840" y="2926080"/>
            <a:ext cx="3044952" cy="868680"/>
          </a:xfrm>
          <a:prstGeom prst="rect">
            <a:avLst/>
          </a:prstGeom>
          <a:noFill/>
          <a:ln/>
        </p:spPr>
        <p:txBody>
          <a:bodyPr wrap="square" lIns="0" tIns="0" rIns="0" bIns="0" rtlCol="0" anchor="ctr"/>
          <a:lstStyle/>
          <a:p>
            <a:pPr algn="ctr" indent="0" marL="0">
              <a:buNone/>
            </a:pPr>
            <a:r>
              <a:rPr lang="en-US" sz="1300" b="1" dirty="0">
                <a:solidFill>
                  <a:srgbClr val="2B2320"/>
                </a:solidFill>
                <a:latin typeface="Calibri" pitchFamily="34" charset="0"/>
                <a:ea typeface="Calibri" pitchFamily="34" charset="-122"/>
                <a:cs typeface="Calibri" pitchFamily="34" charset="-120"/>
              </a:rPr>
              <a:t>Too dry</a:t>
            </a:r>
            <a:endParaRPr lang="en-US" sz="1300" dirty="0"/>
          </a:p>
        </p:txBody>
      </p:sp>
      <p:sp>
        <p:nvSpPr>
          <p:cNvPr id="14" name="Text 12"/>
          <p:cNvSpPr/>
          <p:nvPr/>
        </p:nvSpPr>
        <p:spPr>
          <a:xfrm>
            <a:off x="4050792" y="2926080"/>
            <a:ext cx="3349447"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SWEET SPOT</a:t>
            </a:r>
            <a:endParaRPr lang="en-US" sz="1400" dirty="0"/>
          </a:p>
        </p:txBody>
      </p:sp>
      <p:sp>
        <p:nvSpPr>
          <p:cNvPr id="15" name="Text 13"/>
          <p:cNvSpPr/>
          <p:nvPr/>
        </p:nvSpPr>
        <p:spPr>
          <a:xfrm>
            <a:off x="7400239" y="2926080"/>
            <a:ext cx="3755441" cy="868680"/>
          </a:xfrm>
          <a:prstGeom prst="rect">
            <a:avLst/>
          </a:prstGeom>
          <a:noFill/>
          <a:ln/>
        </p:spPr>
        <p:txBody>
          <a:bodyPr wrap="square" lIns="0" tIns="0" rIns="0" bIns="0" rtlCol="0" anchor="ctr"/>
          <a:lstStyle/>
          <a:p>
            <a:pPr algn="ctr" indent="0" marL="0">
              <a:buNone/>
            </a:pPr>
            <a:r>
              <a:rPr lang="en-US" sz="1300" b="1" dirty="0">
                <a:solidFill>
                  <a:srgbClr val="2B2320"/>
                </a:solidFill>
                <a:latin typeface="Calibri" pitchFamily="34" charset="0"/>
                <a:ea typeface="Calibri" pitchFamily="34" charset="-122"/>
                <a:cs typeface="Calibri" pitchFamily="34" charset="-120"/>
              </a:rPr>
              <a:t>Too wet</a:t>
            </a:r>
            <a:endParaRPr lang="en-US" sz="1300" dirty="0"/>
          </a:p>
        </p:txBody>
      </p:sp>
      <p:sp>
        <p:nvSpPr>
          <p:cNvPr id="16" name="Text 14"/>
          <p:cNvSpPr/>
          <p:nvPr/>
        </p:nvSpPr>
        <p:spPr>
          <a:xfrm>
            <a:off x="1005840" y="3904488"/>
            <a:ext cx="10149840" cy="320040"/>
          </a:xfrm>
          <a:prstGeom prst="rect">
            <a:avLst/>
          </a:prstGeom>
          <a:noFill/>
          <a:ln/>
        </p:spPr>
        <p:txBody>
          <a:bodyPr wrap="square" lIns="0" tIns="0" rIns="0" bIns="0" rtlCol="0" anchor="ctr"/>
          <a:lstStyle/>
          <a:p>
            <a:pPr algn="ctr" indent="0" marL="0">
              <a:buNone/>
            </a:pPr>
            <a:r>
              <a:rPr lang="en-US" sz="1200" i="1" dirty="0">
                <a:solidFill>
                  <a:srgbClr val="7A6F5E"/>
                </a:solidFill>
                <a:latin typeface="Calibri" pitchFamily="34" charset="0"/>
                <a:ea typeface="Calibri" pitchFamily="34" charset="-122"/>
                <a:cs typeface="Calibri" pitchFamily="34" charset="-120"/>
              </a:rPr>
              <a:t>← soil water 20 days before harvest →</a:t>
            </a:r>
            <a:endParaRPr lang="en-US" sz="1200" dirty="0"/>
          </a:p>
        </p:txBody>
      </p:sp>
      <p:sp>
        <p:nvSpPr>
          <p:cNvPr id="17" name="Text 15"/>
          <p:cNvSpPr/>
          <p:nvPr/>
        </p:nvSpPr>
        <p:spPr>
          <a:xfrm>
            <a:off x="3502152" y="2423160"/>
            <a:ext cx="4446727" cy="365760"/>
          </a:xfrm>
          <a:prstGeom prst="rect">
            <a:avLst/>
          </a:prstGeom>
          <a:noFill/>
          <a:ln/>
        </p:spPr>
        <p:txBody>
          <a:bodyPr wrap="square" lIns="0" tIns="0" rIns="0" bIns="0" rtlCol="0" anchor="ctr"/>
          <a:lstStyle/>
          <a:p>
            <a:pPr algn="ctr" indent="0" marL="0">
              <a:buNone/>
            </a:pPr>
            <a:r>
              <a:rPr lang="en-US" sz="1500" b="1" dirty="0">
                <a:solidFill>
                  <a:srgbClr val="6D2E46"/>
                </a:solidFill>
                <a:latin typeface="Cambria" pitchFamily="34" charset="0"/>
                <a:ea typeface="Cambria" pitchFamily="34" charset="-122"/>
                <a:cs typeface="Cambria" pitchFamily="34" charset="-120"/>
              </a:rPr>
              <a:t>74–101 mm  →  +121 to +192 mhl above trend</a:t>
            </a:r>
            <a:endParaRPr lang="en-US" sz="1500" dirty="0"/>
          </a:p>
        </p:txBody>
      </p:sp>
      <p:sp>
        <p:nvSpPr>
          <p:cNvPr id="18" name="Shape 16"/>
          <p:cNvSpPr/>
          <p:nvPr/>
        </p:nvSpPr>
        <p:spPr>
          <a:xfrm>
            <a:off x="1005840" y="4434840"/>
            <a:ext cx="4937760" cy="1417320"/>
          </a:xfrm>
          <a:prstGeom prst="roundRect">
            <a:avLst>
              <a:gd name="adj" fmla="val 5161"/>
            </a:avLst>
          </a:prstGeom>
          <a:solidFill>
            <a:srgbClr val="FFFFFF"/>
          </a:solidFill>
          <a:ln w="12700">
            <a:solidFill>
              <a:srgbClr val="D9CFBE"/>
            </a:solidFill>
            <a:prstDash val="solid"/>
          </a:ln>
          <a:effectLst>
            <a:outerShdw sx="100000" sy="100000" kx="0" ky="0" algn="bl" rotWithShape="0" blurRad="88900" dist="38100" dir="5400000">
              <a:srgbClr val="000000">
                <a:alpha val="14000"/>
              </a:srgbClr>
            </a:outerShdw>
          </a:effectLst>
        </p:spPr>
      </p:sp>
      <p:sp>
        <p:nvSpPr>
          <p:cNvPr id="19" name="Text 17"/>
          <p:cNvSpPr/>
          <p:nvPr/>
        </p:nvSpPr>
        <p:spPr>
          <a:xfrm>
            <a:off x="1234440" y="4572000"/>
            <a:ext cx="4480560" cy="32004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Bounded heat</a:t>
            </a:r>
            <a:endParaRPr lang="en-US" sz="1500" dirty="0"/>
          </a:p>
        </p:txBody>
      </p:sp>
      <p:sp>
        <p:nvSpPr>
          <p:cNvPr id="20" name="Text 18"/>
          <p:cNvSpPr/>
          <p:nvPr/>
        </p:nvSpPr>
        <p:spPr>
          <a:xfrm>
            <a:off x="1234440" y="4937760"/>
            <a:ext cx="4480560" cy="822960"/>
          </a:xfrm>
          <a:prstGeom prst="rect">
            <a:avLst/>
          </a:prstGeom>
          <a:noFill/>
          <a:ln/>
        </p:spPr>
        <p:txBody>
          <a:bodyPr wrap="square" lIns="0" tIns="0" rIns="0" bIns="0" rtlCol="0" anchor="ctr"/>
          <a:lstStyle/>
          <a:p>
            <a:pPr indent="0" marL="0">
              <a:buNone/>
            </a:pPr>
            <a:r>
              <a:rPr lang="en-US" sz="1300" dirty="0">
                <a:solidFill>
                  <a:srgbClr val="7A6F5E"/>
                </a:solidFill>
                <a:latin typeface="Calibri" pitchFamily="34" charset="0"/>
                <a:ea typeface="Calibri" pitchFamily="34" charset="-122"/>
                <a:cs typeface="Calibri" pitchFamily="34" charset="-120"/>
              </a:rPr>
              <a:t>Best vintages are warm but not extreme — heat-stress days above 35 °C must stay low.</a:t>
            </a:r>
            <a:endParaRPr lang="en-US" sz="1300" dirty="0"/>
          </a:p>
        </p:txBody>
      </p:sp>
      <p:sp>
        <p:nvSpPr>
          <p:cNvPr id="21" name="Shape 19"/>
          <p:cNvSpPr/>
          <p:nvPr/>
        </p:nvSpPr>
        <p:spPr>
          <a:xfrm>
            <a:off x="6217920" y="4434840"/>
            <a:ext cx="4937760" cy="1417320"/>
          </a:xfrm>
          <a:prstGeom prst="roundRect">
            <a:avLst>
              <a:gd name="adj" fmla="val 5161"/>
            </a:avLst>
          </a:prstGeom>
          <a:solidFill>
            <a:srgbClr val="FFFFFF"/>
          </a:solidFill>
          <a:ln w="12700">
            <a:solidFill>
              <a:srgbClr val="D9CFBE"/>
            </a:solidFill>
            <a:prstDash val="solid"/>
          </a:ln>
          <a:effectLst>
            <a:outerShdw sx="100000" sy="100000" kx="0" ky="0" algn="bl" rotWithShape="0" blurRad="88900" dist="38100" dir="5400000">
              <a:srgbClr val="000000">
                <a:alpha val="14000"/>
              </a:srgbClr>
            </a:outerShdw>
          </a:effectLst>
        </p:spPr>
      </p:sp>
      <p:sp>
        <p:nvSpPr>
          <p:cNvPr id="22" name="Text 20"/>
          <p:cNvSpPr/>
          <p:nvPr/>
        </p:nvSpPr>
        <p:spPr>
          <a:xfrm>
            <a:off x="6446520" y="4572000"/>
            <a:ext cx="4480560" cy="32004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Mapped to vine biology</a:t>
            </a:r>
            <a:endParaRPr lang="en-US" sz="1500" dirty="0"/>
          </a:p>
        </p:txBody>
      </p:sp>
      <p:sp>
        <p:nvSpPr>
          <p:cNvPr id="23" name="Text 21"/>
          <p:cNvSpPr/>
          <p:nvPr/>
        </p:nvSpPr>
        <p:spPr>
          <a:xfrm>
            <a:off x="6446520" y="4937760"/>
            <a:ext cx="4480560" cy="822960"/>
          </a:xfrm>
          <a:prstGeom prst="rect">
            <a:avLst/>
          </a:prstGeom>
          <a:noFill/>
          <a:ln/>
        </p:spPr>
        <p:txBody>
          <a:bodyPr wrap="square" lIns="0" tIns="0" rIns="0" bIns="0" rtlCol="0" anchor="ctr"/>
          <a:lstStyle/>
          <a:p>
            <a:pPr indent="0" marL="0">
              <a:buNone/>
            </a:pPr>
            <a:r>
              <a:rPr lang="en-US" sz="1300" dirty="0">
                <a:solidFill>
                  <a:srgbClr val="7A6F5E"/>
                </a:solidFill>
                <a:latin typeface="Calibri" pitchFamily="34" charset="0"/>
                <a:ea typeface="Calibri" pitchFamily="34" charset="-122"/>
                <a:cs typeface="Calibri" pitchFamily="34" charset="-120"/>
              </a:rPr>
              <a:t>Each threshold sits in a named phenological window — flowering, veraison, harvest — so it is agronomically legible.</a:t>
            </a:r>
            <a:endParaRPr lang="en-US" sz="1300" dirty="0"/>
          </a:p>
        </p:txBody>
      </p:sp>
      <p:sp>
        <p:nvSpPr>
          <p:cNvPr id="24" name="Text 22"/>
          <p:cNvSpPr/>
          <p:nvPr/>
        </p:nvSpPr>
        <p:spPr>
          <a:xfrm>
            <a:off x="11475720" y="6419088"/>
            <a:ext cx="548640" cy="274320"/>
          </a:xfrm>
          <a:prstGeom prst="rect">
            <a:avLst/>
          </a:prstGeom>
          <a:noFill/>
          <a:ln/>
        </p:spPr>
        <p:txBody>
          <a:bodyPr wrap="square" lIns="0" tIns="0" rIns="0" bIns="0" rtlCol="0" anchor="ctr"/>
          <a:lstStyle/>
          <a:p>
            <a:pPr algn="r" indent="0" marL="0">
              <a:buNone/>
            </a:pPr>
            <a:r>
              <a:rPr lang="en-US" sz="1000" dirty="0">
                <a:solidFill>
                  <a:srgbClr val="7A6F5E"/>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30352"/>
            <a:ext cx="7680960" cy="868680"/>
          </a:xfrm>
          <a:prstGeom prst="rect">
            <a:avLst/>
          </a:prstGeom>
          <a:noFill/>
          <a:ln/>
        </p:spPr>
        <p:txBody>
          <a:bodyPr wrap="square" lIns="0" tIns="0" rIns="0" bIns="0" rtlCol="0" anchor="t"/>
          <a:lstStyle/>
          <a:p>
            <a:pPr indent="0" marL="0">
              <a:buNone/>
            </a:pPr>
            <a:r>
              <a:rPr lang="en-US" sz="2900" b="1" dirty="0">
                <a:solidFill>
                  <a:srgbClr val="6D2E46"/>
                </a:solidFill>
                <a:latin typeface="Cambria" pitchFamily="34" charset="0"/>
                <a:ea typeface="Cambria" pitchFamily="34" charset="-122"/>
                <a:cs typeface="Cambria" pitchFamily="34" charset="-120"/>
              </a:rPr>
              <a:t>The honest result: nobody beats the median</a:t>
            </a:r>
            <a:endParaRPr lang="en-US" sz="2900" dirty="0"/>
          </a:p>
        </p:txBody>
      </p:sp>
      <p:sp>
        <p:nvSpPr>
          <p:cNvPr id="3" name="Shape 1"/>
          <p:cNvSpPr/>
          <p:nvPr/>
        </p:nvSpPr>
        <p:spPr>
          <a:xfrm>
            <a:off x="10346436" y="260604"/>
            <a:ext cx="137160" cy="137160"/>
          </a:xfrm>
          <a:prstGeom prst="ellipse">
            <a:avLst/>
          </a:prstGeom>
          <a:solidFill>
            <a:srgbClr val="FFFFFF"/>
          </a:solidFill>
          <a:ln w="12700">
            <a:solidFill>
              <a:srgbClr val="7A6F5E"/>
            </a:solidFill>
            <a:prstDash val="solid"/>
          </a:ln>
        </p:spPr>
      </p:sp>
      <p:sp>
        <p:nvSpPr>
          <p:cNvPr id="4" name="Shape 2"/>
          <p:cNvSpPr/>
          <p:nvPr/>
        </p:nvSpPr>
        <p:spPr>
          <a:xfrm>
            <a:off x="10657332" y="260604"/>
            <a:ext cx="137160" cy="137160"/>
          </a:xfrm>
          <a:prstGeom prst="ellipse">
            <a:avLst/>
          </a:prstGeom>
          <a:solidFill>
            <a:srgbClr val="FFFFFF"/>
          </a:solidFill>
          <a:ln w="12700">
            <a:solidFill>
              <a:srgbClr val="7A6F5E"/>
            </a:solidFill>
            <a:prstDash val="solid"/>
          </a:ln>
        </p:spPr>
      </p:sp>
      <p:sp>
        <p:nvSpPr>
          <p:cNvPr id="5" name="Shape 3"/>
          <p:cNvSpPr/>
          <p:nvPr/>
        </p:nvSpPr>
        <p:spPr>
          <a:xfrm>
            <a:off x="10968228" y="260604"/>
            <a:ext cx="137160" cy="137160"/>
          </a:xfrm>
          <a:prstGeom prst="ellipse">
            <a:avLst/>
          </a:prstGeom>
          <a:solidFill>
            <a:srgbClr val="FFFFFF"/>
          </a:solidFill>
          <a:ln w="12700">
            <a:solidFill>
              <a:srgbClr val="7A6F5E"/>
            </a:solidFill>
            <a:prstDash val="solid"/>
          </a:ln>
        </p:spPr>
      </p:sp>
      <p:sp>
        <p:nvSpPr>
          <p:cNvPr id="6" name="Shape 4"/>
          <p:cNvSpPr/>
          <p:nvPr/>
        </p:nvSpPr>
        <p:spPr>
          <a:xfrm>
            <a:off x="11256264" y="237744"/>
            <a:ext cx="182880" cy="182880"/>
          </a:xfrm>
          <a:prstGeom prst="ellipse">
            <a:avLst/>
          </a:prstGeom>
          <a:solidFill>
            <a:srgbClr val="C89B3C"/>
          </a:solidFill>
          <a:ln w="12700">
            <a:solidFill>
              <a:srgbClr val="C89B3C"/>
            </a:solidFill>
            <a:prstDash val="solid"/>
          </a:ln>
        </p:spPr>
      </p:sp>
      <p:sp>
        <p:nvSpPr>
          <p:cNvPr id="7" name="Shape 5"/>
          <p:cNvSpPr/>
          <p:nvPr/>
        </p:nvSpPr>
        <p:spPr>
          <a:xfrm>
            <a:off x="11590020" y="260604"/>
            <a:ext cx="137160" cy="137160"/>
          </a:xfrm>
          <a:prstGeom prst="ellipse">
            <a:avLst/>
          </a:prstGeom>
          <a:solidFill>
            <a:srgbClr val="FFFFFF"/>
          </a:solidFill>
          <a:ln w="12700">
            <a:solidFill>
              <a:srgbClr val="7A6F5E"/>
            </a:solidFill>
            <a:prstDash val="solid"/>
          </a:ln>
        </p:spPr>
      </p:sp>
      <p:sp>
        <p:nvSpPr>
          <p:cNvPr id="8" name="Text 6"/>
          <p:cNvSpPr/>
          <p:nvPr/>
        </p:nvSpPr>
        <p:spPr>
          <a:xfrm>
            <a:off x="5394960" y="182880"/>
            <a:ext cx="4480560" cy="320040"/>
          </a:xfrm>
          <a:prstGeom prst="rect">
            <a:avLst/>
          </a:prstGeom>
          <a:noFill/>
          <a:ln/>
        </p:spPr>
        <p:txBody>
          <a:bodyPr wrap="square" lIns="0" tIns="0" rIns="0" bIns="0" rtlCol="0" anchor="ctr"/>
          <a:lstStyle/>
          <a:p>
            <a:pPr algn="r" indent="0" marL="0">
              <a:buNone/>
            </a:pPr>
            <a:r>
              <a:rPr lang="en-US" sz="1100" dirty="0">
                <a:solidFill>
                  <a:srgbClr val="7A6F5E"/>
                </a:solidFill>
                <a:latin typeface="Calibri" pitchFamily="34" charset="0"/>
                <a:ea typeface="Calibri" pitchFamily="34" charset="-122"/>
                <a:cs typeface="Calibri" pitchFamily="34" charset="-120"/>
              </a:rPr>
              <a:t>IDEA 4  ·  </a:t>
            </a:r>
            <a:pPr algn="r" indent="0" marL="0">
              <a:buNone/>
            </a:pPr>
            <a:r>
              <a:rPr lang="en-US" sz="1100" b="1" dirty="0">
                <a:solidFill>
                  <a:srgbClr val="6D2E46"/>
                </a:solidFill>
                <a:latin typeface="Calibri" pitchFamily="34" charset="0"/>
                <a:ea typeface="Calibri" pitchFamily="34" charset="-122"/>
                <a:cs typeface="Calibri" pitchFamily="34" charset="-120"/>
              </a:rPr>
              <a:t>LAWFUL FAILURE</a:t>
            </a:r>
            <a:endParaRPr lang="en-US" sz="1100" dirty="0"/>
          </a:p>
        </p:txBody>
      </p:sp>
      <p:pic>
        <p:nvPicPr>
          <p:cNvPr id="9" name="Image 0" descr="/sessions/trusting-lucid-keller/mnt/Thesis/latex/figures/fig51_weighted_mae_rdd.png">    </p:cNvPr>
          <p:cNvPicPr>
            <a:picLocks noChangeAspect="1"/>
          </p:cNvPicPr>
          <p:nvPr/>
        </p:nvPicPr>
        <p:blipFill>
          <a:blip r:embed="rId1"/>
          <a:stretch>
            <a:fillRect/>
          </a:stretch>
        </p:blipFill>
        <p:spPr>
          <a:xfrm>
            <a:off x="548640" y="1828800"/>
            <a:ext cx="6400800" cy="3839712"/>
          </a:xfrm>
          <a:prstGeom prst="rect">
            <a:avLst/>
          </a:prstGeom>
        </p:spPr>
      </p:pic>
      <p:sp>
        <p:nvSpPr>
          <p:cNvPr id="10" name="Text 7"/>
          <p:cNvSpPr/>
          <p:nvPr/>
        </p:nvSpPr>
        <p:spPr>
          <a:xfrm>
            <a:off x="548640" y="5686800"/>
            <a:ext cx="6400800" cy="274320"/>
          </a:xfrm>
          <a:prstGeom prst="rect">
            <a:avLst/>
          </a:prstGeom>
          <a:noFill/>
          <a:ln/>
        </p:spPr>
        <p:txBody>
          <a:bodyPr wrap="square" lIns="0" tIns="0" rIns="0" bIns="0" rtlCol="0" anchor="ctr"/>
          <a:lstStyle/>
          <a:p>
            <a:pPr algn="ctr" indent="0" marL="0">
              <a:buNone/>
            </a:pPr>
            <a:r>
              <a:rPr lang="en-US" sz="1100" i="1" dirty="0">
                <a:solidFill>
                  <a:srgbClr val="7A6F5E"/>
                </a:solidFill>
                <a:latin typeface="Calibri" pitchFamily="34" charset="0"/>
                <a:ea typeface="Calibri" pitchFamily="34" charset="-122"/>
                <a:cs typeface="Calibri" pitchFamily="34" charset="-120"/>
              </a:rPr>
              <a:t>Douro — weighted MAE, all 17 models (lower is better)</a:t>
            </a:r>
            <a:endParaRPr lang="en-US" sz="1100" dirty="0"/>
          </a:p>
        </p:txBody>
      </p:sp>
      <p:sp>
        <p:nvSpPr>
          <p:cNvPr id="11" name="Shape 8"/>
          <p:cNvSpPr/>
          <p:nvPr/>
        </p:nvSpPr>
        <p:spPr>
          <a:xfrm>
            <a:off x="7223760" y="1874520"/>
            <a:ext cx="4434840" cy="1600200"/>
          </a:xfrm>
          <a:prstGeom prst="roundRect">
            <a:avLst>
              <a:gd name="adj" fmla="val 4571"/>
            </a:avLst>
          </a:prstGeom>
          <a:solidFill>
            <a:srgbClr val="F6ECED"/>
          </a:solidFill>
          <a:ln w="12700">
            <a:solidFill>
              <a:srgbClr val="7A2E39"/>
            </a:solidFill>
            <a:prstDash val="solid"/>
          </a:ln>
          <a:effectLst>
            <a:outerShdw sx="100000" sy="100000" kx="0" ky="0" algn="bl" rotWithShape="0" blurRad="88900" dist="38100" dir="5400000">
              <a:srgbClr val="000000">
                <a:alpha val="14000"/>
              </a:srgbClr>
            </a:outerShdw>
          </a:effectLst>
        </p:spPr>
      </p:sp>
      <p:sp>
        <p:nvSpPr>
          <p:cNvPr id="12" name="Text 9"/>
          <p:cNvSpPr/>
          <p:nvPr/>
        </p:nvSpPr>
        <p:spPr>
          <a:xfrm>
            <a:off x="7452360" y="2011680"/>
            <a:ext cx="4023360" cy="274320"/>
          </a:xfrm>
          <a:prstGeom prst="rect">
            <a:avLst/>
          </a:prstGeom>
          <a:noFill/>
          <a:ln/>
        </p:spPr>
        <p:txBody>
          <a:bodyPr wrap="square" lIns="0" tIns="0" rIns="0" bIns="0" rtlCol="0" anchor="ctr"/>
          <a:lstStyle/>
          <a:p>
            <a:pPr indent="0" marL="0">
              <a:buNone/>
            </a:pPr>
            <a:r>
              <a:rPr lang="en-US" sz="1200" b="1" spc="100" kern="0" dirty="0">
                <a:solidFill>
                  <a:srgbClr val="7A2E39"/>
                </a:solidFill>
                <a:latin typeface="Calibri" pitchFamily="34" charset="0"/>
                <a:ea typeface="Calibri" pitchFamily="34" charset="-122"/>
                <a:cs typeface="Calibri" pitchFamily="34" charset="-120"/>
              </a:rPr>
              <a:t>DOURO</a:t>
            </a:r>
            <a:endParaRPr lang="en-US" sz="1200" dirty="0"/>
          </a:p>
        </p:txBody>
      </p:sp>
      <p:sp>
        <p:nvSpPr>
          <p:cNvPr id="13" name="Text 10"/>
          <p:cNvSpPr/>
          <p:nvPr/>
        </p:nvSpPr>
        <p:spPr>
          <a:xfrm>
            <a:off x="7452360" y="2286000"/>
            <a:ext cx="1828800" cy="731520"/>
          </a:xfrm>
          <a:prstGeom prst="rect">
            <a:avLst/>
          </a:prstGeom>
          <a:noFill/>
          <a:ln/>
        </p:spPr>
        <p:txBody>
          <a:bodyPr wrap="square" lIns="0" tIns="0" rIns="0" bIns="0" rtlCol="0" anchor="ctr"/>
          <a:lstStyle/>
          <a:p>
            <a:pPr indent="0" marL="0">
              <a:buNone/>
            </a:pPr>
            <a:r>
              <a:rPr lang="en-US" sz="4000" b="1" dirty="0">
                <a:solidFill>
                  <a:srgbClr val="7A2E39"/>
                </a:solidFill>
                <a:latin typeface="Cambria" pitchFamily="34" charset="0"/>
                <a:ea typeface="Cambria" pitchFamily="34" charset="-122"/>
                <a:cs typeface="Cambria" pitchFamily="34" charset="-120"/>
              </a:rPr>
              <a:t>+3%</a:t>
            </a:r>
            <a:endParaRPr lang="en-US" sz="4000" dirty="0"/>
          </a:p>
        </p:txBody>
      </p:sp>
      <p:sp>
        <p:nvSpPr>
          <p:cNvPr id="14" name="Text 11"/>
          <p:cNvSpPr/>
          <p:nvPr/>
        </p:nvSpPr>
        <p:spPr>
          <a:xfrm>
            <a:off x="9144000" y="2377440"/>
            <a:ext cx="2377440" cy="822960"/>
          </a:xfrm>
          <a:prstGeom prst="rect">
            <a:avLst/>
          </a:prstGeom>
          <a:noFill/>
          <a:ln/>
        </p:spPr>
        <p:txBody>
          <a:bodyPr wrap="square" lIns="0" tIns="0" rIns="0" bIns="0" rtlCol="0" anchor="ctr"/>
          <a:lstStyle/>
          <a:p>
            <a:pPr indent="0" marL="0">
              <a:buNone/>
            </a:pPr>
            <a:r>
              <a:rPr lang="en-US" sz="1300" dirty="0">
                <a:solidFill>
                  <a:srgbClr val="2B2320"/>
                </a:solidFill>
                <a:latin typeface="Calibri" pitchFamily="34" charset="0"/>
                <a:ea typeface="Calibri" pitchFamily="34" charset="-122"/>
                <a:cs typeface="Calibri" pitchFamily="34" charset="-120"/>
              </a:rPr>
              <a:t>189 vs 184 mhl</a:t>
            </a:r>
            <a:endParaRPr lang="en-US" sz="1300" dirty="0"/>
          </a:p>
          <a:p>
            <a:pPr indent="0" marL="0">
              <a:buNone/>
            </a:pPr>
            <a:r>
              <a:rPr lang="en-US" sz="1300" dirty="0">
                <a:solidFill>
                  <a:srgbClr val="2B2320"/>
                </a:solidFill>
                <a:latin typeface="Calibri" pitchFamily="34" charset="0"/>
                <a:ea typeface="Calibri" pitchFamily="34" charset="-122"/>
                <a:cs typeface="Calibri" pitchFamily="34" charset="-120"/>
              </a:rPr>
              <a:t>Wilcoxon p = 0.468 (n.s.)</a:t>
            </a:r>
            <a:endParaRPr lang="en-US" sz="1300" dirty="0"/>
          </a:p>
        </p:txBody>
      </p:sp>
      <p:sp>
        <p:nvSpPr>
          <p:cNvPr id="15" name="Shape 12"/>
          <p:cNvSpPr/>
          <p:nvPr/>
        </p:nvSpPr>
        <p:spPr>
          <a:xfrm>
            <a:off x="7223760" y="3657600"/>
            <a:ext cx="4434840" cy="1600200"/>
          </a:xfrm>
          <a:prstGeom prst="roundRect">
            <a:avLst>
              <a:gd name="adj" fmla="val 4571"/>
            </a:avLst>
          </a:prstGeom>
          <a:solidFill>
            <a:srgbClr val="F1F5EE"/>
          </a:solidFill>
          <a:ln w="12700">
            <a:solidFill>
              <a:srgbClr val="5E7148"/>
            </a:solidFill>
            <a:prstDash val="solid"/>
          </a:ln>
          <a:effectLst>
            <a:outerShdw sx="100000" sy="100000" kx="0" ky="0" algn="bl" rotWithShape="0" blurRad="88900" dist="38100" dir="5400000">
              <a:srgbClr val="000000">
                <a:alpha val="14000"/>
              </a:srgbClr>
            </a:outerShdw>
          </a:effectLst>
        </p:spPr>
      </p:sp>
      <p:sp>
        <p:nvSpPr>
          <p:cNvPr id="16" name="Text 13"/>
          <p:cNvSpPr/>
          <p:nvPr/>
        </p:nvSpPr>
        <p:spPr>
          <a:xfrm>
            <a:off x="7452360" y="3794760"/>
            <a:ext cx="4023360" cy="274320"/>
          </a:xfrm>
          <a:prstGeom prst="rect">
            <a:avLst/>
          </a:prstGeom>
          <a:noFill/>
          <a:ln/>
        </p:spPr>
        <p:txBody>
          <a:bodyPr wrap="square" lIns="0" tIns="0" rIns="0" bIns="0" rtlCol="0" anchor="ctr"/>
          <a:lstStyle/>
          <a:p>
            <a:pPr indent="0" marL="0">
              <a:buNone/>
            </a:pPr>
            <a:r>
              <a:rPr lang="en-US" sz="1200" b="1" spc="100" kern="0" dirty="0">
                <a:solidFill>
                  <a:srgbClr val="5E7148"/>
                </a:solidFill>
                <a:latin typeface="Calibri" pitchFamily="34" charset="0"/>
                <a:ea typeface="Calibri" pitchFamily="34" charset="-122"/>
                <a:cs typeface="Calibri" pitchFamily="34" charset="-120"/>
              </a:rPr>
              <a:t>VINHO VERDE</a:t>
            </a:r>
            <a:endParaRPr lang="en-US" sz="1200" dirty="0"/>
          </a:p>
        </p:txBody>
      </p:sp>
      <p:sp>
        <p:nvSpPr>
          <p:cNvPr id="17" name="Text 14"/>
          <p:cNvSpPr/>
          <p:nvPr/>
        </p:nvSpPr>
        <p:spPr>
          <a:xfrm>
            <a:off x="7452360" y="4069080"/>
            <a:ext cx="2011680" cy="731520"/>
          </a:xfrm>
          <a:prstGeom prst="rect">
            <a:avLst/>
          </a:prstGeom>
          <a:noFill/>
          <a:ln/>
        </p:spPr>
        <p:txBody>
          <a:bodyPr wrap="square" lIns="0" tIns="0" rIns="0" bIns="0" rtlCol="0" anchor="ctr"/>
          <a:lstStyle/>
          <a:p>
            <a:pPr indent="0" marL="0">
              <a:buNone/>
            </a:pPr>
            <a:r>
              <a:rPr lang="en-US" sz="4000" b="1" dirty="0">
                <a:solidFill>
                  <a:srgbClr val="5E7148"/>
                </a:solidFill>
                <a:latin typeface="Cambria" pitchFamily="34" charset="0"/>
                <a:ea typeface="Cambria" pitchFamily="34" charset="-122"/>
                <a:cs typeface="Cambria" pitchFamily="34" charset="-120"/>
              </a:rPr>
              <a:t>+22%</a:t>
            </a:r>
            <a:endParaRPr lang="en-US" sz="4000" dirty="0"/>
          </a:p>
        </p:txBody>
      </p:sp>
      <p:sp>
        <p:nvSpPr>
          <p:cNvPr id="18" name="Text 15"/>
          <p:cNvSpPr/>
          <p:nvPr/>
        </p:nvSpPr>
        <p:spPr>
          <a:xfrm>
            <a:off x="9281160" y="4160520"/>
            <a:ext cx="2240280" cy="822960"/>
          </a:xfrm>
          <a:prstGeom prst="rect">
            <a:avLst/>
          </a:prstGeom>
          <a:noFill/>
          <a:ln/>
        </p:spPr>
        <p:txBody>
          <a:bodyPr wrap="square" lIns="0" tIns="0" rIns="0" bIns="0" rtlCol="0" anchor="ctr"/>
          <a:lstStyle/>
          <a:p>
            <a:pPr indent="0" marL="0">
              <a:buNone/>
            </a:pPr>
            <a:r>
              <a:rPr lang="en-US" sz="1300" dirty="0">
                <a:solidFill>
                  <a:srgbClr val="2B2320"/>
                </a:solidFill>
                <a:latin typeface="Calibri" pitchFamily="34" charset="0"/>
                <a:ea typeface="Calibri" pitchFamily="34" charset="-122"/>
                <a:cs typeface="Calibri" pitchFamily="34" charset="-120"/>
              </a:rPr>
              <a:t>172 vs 140 mhl</a:t>
            </a:r>
            <a:endParaRPr lang="en-US" sz="1300" dirty="0"/>
          </a:p>
          <a:p>
            <a:pPr indent="0" marL="0">
              <a:buNone/>
            </a:pPr>
            <a:r>
              <a:rPr lang="en-US" sz="1300" dirty="0">
                <a:solidFill>
                  <a:srgbClr val="2B2320"/>
                </a:solidFill>
                <a:latin typeface="Calibri" pitchFamily="34" charset="0"/>
                <a:ea typeface="Calibri" pitchFamily="34" charset="-122"/>
                <a:cs typeface="Calibri" pitchFamily="34" charset="-120"/>
              </a:rPr>
              <a:t>rules actively harm, p = 0.004</a:t>
            </a:r>
            <a:endParaRPr lang="en-US" sz="1300" dirty="0"/>
          </a:p>
        </p:txBody>
      </p:sp>
      <p:sp>
        <p:nvSpPr>
          <p:cNvPr id="19" name="Text 16"/>
          <p:cNvSpPr/>
          <p:nvPr/>
        </p:nvSpPr>
        <p:spPr>
          <a:xfrm>
            <a:off x="7223760" y="5440680"/>
            <a:ext cx="4434840" cy="731520"/>
          </a:xfrm>
          <a:prstGeom prst="rect">
            <a:avLst/>
          </a:prstGeom>
          <a:noFill/>
          <a:ln/>
        </p:spPr>
        <p:txBody>
          <a:bodyPr wrap="square" lIns="0" tIns="0" rIns="0" bIns="0" rtlCol="0" anchor="ctr"/>
          <a:lstStyle/>
          <a:p>
            <a:pPr indent="0" marL="0">
              <a:buNone/>
            </a:pPr>
            <a:r>
              <a:rPr lang="en-US" sz="1600" b="1" i="1" dirty="0">
                <a:solidFill>
                  <a:srgbClr val="6D2E46"/>
                </a:solidFill>
                <a:latin typeface="Cambria" pitchFamily="34" charset="0"/>
                <a:ea typeface="Cambria" pitchFamily="34" charset="-122"/>
                <a:cs typeface="Cambria" pitchFamily="34" charset="-120"/>
              </a:rPr>
              <a:t>Predict the historical median → you beat every rule-based model.</a:t>
            </a:r>
            <a:endParaRPr lang="en-US" sz="1600" dirty="0"/>
          </a:p>
        </p:txBody>
      </p:sp>
      <p:sp>
        <p:nvSpPr>
          <p:cNvPr id="20" name="Text 17"/>
          <p:cNvSpPr/>
          <p:nvPr/>
        </p:nvSpPr>
        <p:spPr>
          <a:xfrm>
            <a:off x="11475720" y="6419088"/>
            <a:ext cx="548640" cy="274320"/>
          </a:xfrm>
          <a:prstGeom prst="rect">
            <a:avLst/>
          </a:prstGeom>
          <a:noFill/>
          <a:ln/>
        </p:spPr>
        <p:txBody>
          <a:bodyPr wrap="square" lIns="0" tIns="0" rIns="0" bIns="0" rtlCol="0" anchor="ctr"/>
          <a:lstStyle/>
          <a:p>
            <a:pPr algn="r" indent="0" marL="0">
              <a:buNone/>
            </a:pPr>
            <a:r>
              <a:rPr lang="en-US" sz="1000" dirty="0">
                <a:solidFill>
                  <a:srgbClr val="7A6F5E"/>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30352"/>
            <a:ext cx="7680960" cy="868680"/>
          </a:xfrm>
          <a:prstGeom prst="rect">
            <a:avLst/>
          </a:prstGeom>
          <a:noFill/>
          <a:ln/>
        </p:spPr>
        <p:txBody>
          <a:bodyPr wrap="square" lIns="0" tIns="0" rIns="0" bIns="0" rtlCol="0" anchor="t"/>
          <a:lstStyle/>
          <a:p>
            <a:pPr indent="0" marL="0">
              <a:buNone/>
            </a:pPr>
            <a:r>
              <a:rPr lang="en-US" sz="2900" b="1" dirty="0">
                <a:solidFill>
                  <a:srgbClr val="6D2E46"/>
                </a:solidFill>
                <a:latin typeface="Cambria" pitchFamily="34" charset="0"/>
                <a:ea typeface="Cambria" pitchFamily="34" charset="-122"/>
                <a:cs typeface="Cambria" pitchFamily="34" charset="-120"/>
              </a:rPr>
              <a:t>Discovery ≠ Prediction — and I can prove why</a:t>
            </a:r>
            <a:endParaRPr lang="en-US" sz="2900" dirty="0"/>
          </a:p>
        </p:txBody>
      </p:sp>
      <p:sp>
        <p:nvSpPr>
          <p:cNvPr id="3" name="Shape 1"/>
          <p:cNvSpPr/>
          <p:nvPr/>
        </p:nvSpPr>
        <p:spPr>
          <a:xfrm>
            <a:off x="10346436" y="260604"/>
            <a:ext cx="137160" cy="137160"/>
          </a:xfrm>
          <a:prstGeom prst="ellipse">
            <a:avLst/>
          </a:prstGeom>
          <a:solidFill>
            <a:srgbClr val="FFFFFF"/>
          </a:solidFill>
          <a:ln w="12700">
            <a:solidFill>
              <a:srgbClr val="7A6F5E"/>
            </a:solidFill>
            <a:prstDash val="solid"/>
          </a:ln>
        </p:spPr>
      </p:sp>
      <p:sp>
        <p:nvSpPr>
          <p:cNvPr id="4" name="Shape 2"/>
          <p:cNvSpPr/>
          <p:nvPr/>
        </p:nvSpPr>
        <p:spPr>
          <a:xfrm>
            <a:off x="10657332" y="260604"/>
            <a:ext cx="137160" cy="137160"/>
          </a:xfrm>
          <a:prstGeom prst="ellipse">
            <a:avLst/>
          </a:prstGeom>
          <a:solidFill>
            <a:srgbClr val="FFFFFF"/>
          </a:solidFill>
          <a:ln w="12700">
            <a:solidFill>
              <a:srgbClr val="7A6F5E"/>
            </a:solidFill>
            <a:prstDash val="solid"/>
          </a:ln>
        </p:spPr>
      </p:sp>
      <p:sp>
        <p:nvSpPr>
          <p:cNvPr id="5" name="Shape 3"/>
          <p:cNvSpPr/>
          <p:nvPr/>
        </p:nvSpPr>
        <p:spPr>
          <a:xfrm>
            <a:off x="10968228" y="260604"/>
            <a:ext cx="137160" cy="137160"/>
          </a:xfrm>
          <a:prstGeom prst="ellipse">
            <a:avLst/>
          </a:prstGeom>
          <a:solidFill>
            <a:srgbClr val="FFFFFF"/>
          </a:solidFill>
          <a:ln w="12700">
            <a:solidFill>
              <a:srgbClr val="7A6F5E"/>
            </a:solidFill>
            <a:prstDash val="solid"/>
          </a:ln>
        </p:spPr>
      </p:sp>
      <p:sp>
        <p:nvSpPr>
          <p:cNvPr id="6" name="Shape 4"/>
          <p:cNvSpPr/>
          <p:nvPr/>
        </p:nvSpPr>
        <p:spPr>
          <a:xfrm>
            <a:off x="11256264" y="237744"/>
            <a:ext cx="182880" cy="182880"/>
          </a:xfrm>
          <a:prstGeom prst="ellipse">
            <a:avLst/>
          </a:prstGeom>
          <a:solidFill>
            <a:srgbClr val="C89B3C"/>
          </a:solidFill>
          <a:ln w="12700">
            <a:solidFill>
              <a:srgbClr val="C89B3C"/>
            </a:solidFill>
            <a:prstDash val="solid"/>
          </a:ln>
        </p:spPr>
      </p:sp>
      <p:sp>
        <p:nvSpPr>
          <p:cNvPr id="7" name="Shape 5"/>
          <p:cNvSpPr/>
          <p:nvPr/>
        </p:nvSpPr>
        <p:spPr>
          <a:xfrm>
            <a:off x="11590020" y="260604"/>
            <a:ext cx="137160" cy="137160"/>
          </a:xfrm>
          <a:prstGeom prst="ellipse">
            <a:avLst/>
          </a:prstGeom>
          <a:solidFill>
            <a:srgbClr val="FFFFFF"/>
          </a:solidFill>
          <a:ln w="12700">
            <a:solidFill>
              <a:srgbClr val="7A6F5E"/>
            </a:solidFill>
            <a:prstDash val="solid"/>
          </a:ln>
        </p:spPr>
      </p:sp>
      <p:sp>
        <p:nvSpPr>
          <p:cNvPr id="8" name="Text 6"/>
          <p:cNvSpPr/>
          <p:nvPr/>
        </p:nvSpPr>
        <p:spPr>
          <a:xfrm>
            <a:off x="5394960" y="182880"/>
            <a:ext cx="4480560" cy="320040"/>
          </a:xfrm>
          <a:prstGeom prst="rect">
            <a:avLst/>
          </a:prstGeom>
          <a:noFill/>
          <a:ln/>
        </p:spPr>
        <p:txBody>
          <a:bodyPr wrap="square" lIns="0" tIns="0" rIns="0" bIns="0" rtlCol="0" anchor="ctr"/>
          <a:lstStyle/>
          <a:p>
            <a:pPr algn="r" indent="0" marL="0">
              <a:buNone/>
            </a:pPr>
            <a:r>
              <a:rPr lang="en-US" sz="1100" dirty="0">
                <a:solidFill>
                  <a:srgbClr val="7A6F5E"/>
                </a:solidFill>
                <a:latin typeface="Calibri" pitchFamily="34" charset="0"/>
                <a:ea typeface="Calibri" pitchFamily="34" charset="-122"/>
                <a:cs typeface="Calibri" pitchFamily="34" charset="-120"/>
              </a:rPr>
              <a:t>IDEA 4  ·  </a:t>
            </a:r>
            <a:pPr algn="r" indent="0" marL="0">
              <a:buNone/>
            </a:pPr>
            <a:r>
              <a:rPr lang="en-US" sz="1100" b="1" dirty="0">
                <a:solidFill>
                  <a:srgbClr val="6D2E46"/>
                </a:solidFill>
                <a:latin typeface="Calibri" pitchFamily="34" charset="0"/>
                <a:ea typeface="Calibri" pitchFamily="34" charset="-122"/>
                <a:cs typeface="Calibri" pitchFamily="34" charset="-120"/>
              </a:rPr>
              <a:t>LAWFUL FAILURE</a:t>
            </a:r>
            <a:endParaRPr lang="en-US" sz="1100" dirty="0"/>
          </a:p>
        </p:txBody>
      </p:sp>
      <p:pic>
        <p:nvPicPr>
          <p:cNvPr id="9" name="Image 0" descr="/sessions/trusting-lucid-keller/mnt/outputs/deck/assets/motif_seesaw.png">    </p:cNvPr>
          <p:cNvPicPr>
            <a:picLocks noChangeAspect="1"/>
          </p:cNvPicPr>
          <p:nvPr/>
        </p:nvPicPr>
        <p:blipFill>
          <a:blip r:embed="rId1"/>
          <a:stretch>
            <a:fillRect/>
          </a:stretch>
        </p:blipFill>
        <p:spPr>
          <a:xfrm>
            <a:off x="5577840" y="1783080"/>
            <a:ext cx="6309360" cy="3856577"/>
          </a:xfrm>
          <a:prstGeom prst="rect">
            <a:avLst/>
          </a:prstGeom>
        </p:spPr>
      </p:pic>
      <p:sp>
        <p:nvSpPr>
          <p:cNvPr id="10" name="Text 7"/>
          <p:cNvSpPr/>
          <p:nvPr/>
        </p:nvSpPr>
        <p:spPr>
          <a:xfrm>
            <a:off x="640080" y="1828800"/>
            <a:ext cx="4663440" cy="457200"/>
          </a:xfrm>
          <a:prstGeom prst="rect">
            <a:avLst/>
          </a:prstGeom>
          <a:noFill/>
          <a:ln/>
        </p:spPr>
        <p:txBody>
          <a:bodyPr wrap="square" lIns="0" tIns="0" rIns="0" bIns="0" rtlCol="0" anchor="ctr"/>
          <a:lstStyle/>
          <a:p>
            <a:pPr indent="0" marL="0">
              <a:buNone/>
            </a:pPr>
            <a:r>
              <a:rPr lang="en-US" sz="1800" b="1" dirty="0">
                <a:solidFill>
                  <a:srgbClr val="6D2E46"/>
                </a:solidFill>
                <a:latin typeface="Cambria" pitchFamily="34" charset="0"/>
                <a:ea typeface="Cambria" pitchFamily="34" charset="-122"/>
                <a:cs typeface="Cambria" pitchFamily="34" charset="-120"/>
              </a:rPr>
              <a:t>The failure is lawful, not random.</a:t>
            </a:r>
            <a:endParaRPr lang="en-US" sz="1800" dirty="0"/>
          </a:p>
        </p:txBody>
      </p:sp>
      <p:sp>
        <p:nvSpPr>
          <p:cNvPr id="11" name="Text 8"/>
          <p:cNvSpPr/>
          <p:nvPr/>
        </p:nvSpPr>
        <p:spPr>
          <a:xfrm>
            <a:off x="640080" y="2423160"/>
            <a:ext cx="4709160" cy="1188720"/>
          </a:xfrm>
          <a:prstGeom prst="rect">
            <a:avLst/>
          </a:prstGeom>
          <a:noFill/>
          <a:ln/>
        </p:spPr>
        <p:txBody>
          <a:bodyPr wrap="square" lIns="0" tIns="0" rIns="0" bIns="0" rtlCol="0" anchor="ctr"/>
          <a:lstStyle/>
          <a:p>
            <a:pPr indent="0" marL="0">
              <a:buNone/>
            </a:pPr>
            <a:r>
              <a:rPr lang="en-US" sz="1400" dirty="0">
                <a:solidFill>
                  <a:srgbClr val="2B2320"/>
                </a:solidFill>
                <a:latin typeface="Calibri" pitchFamily="34" charset="0"/>
                <a:ea typeface="Calibri" pitchFamily="34" charset="-122"/>
                <a:cs typeface="Calibri" pitchFamily="34" charset="-120"/>
              </a:rPr>
              <a:t>Discovery needs only that an association exists. Prediction needs it to beat the median. The same time-only detrend cannot serve both.</a:t>
            </a:r>
            <a:endParaRPr lang="en-US" sz="1400" dirty="0"/>
          </a:p>
        </p:txBody>
      </p:sp>
      <p:sp>
        <p:nvSpPr>
          <p:cNvPr id="12" name="Shape 9"/>
          <p:cNvSpPr/>
          <p:nvPr/>
        </p:nvSpPr>
        <p:spPr>
          <a:xfrm>
            <a:off x="640080" y="3794760"/>
            <a:ext cx="4709160" cy="2148840"/>
          </a:xfrm>
          <a:prstGeom prst="roundRect">
            <a:avLst>
              <a:gd name="adj" fmla="val 3404"/>
            </a:avLst>
          </a:prstGeom>
          <a:solidFill>
            <a:srgbClr val="F7F1E7"/>
          </a:solidFill>
          <a:ln w="12700">
            <a:solidFill>
              <a:srgbClr val="C89B3C"/>
            </a:solidFill>
            <a:prstDash val="solid"/>
          </a:ln>
          <a:effectLst>
            <a:outerShdw sx="100000" sy="100000" kx="0" ky="0" algn="bl" rotWithShape="0" blurRad="88900" dist="38100" dir="5400000">
              <a:srgbClr val="000000">
                <a:alpha val="14000"/>
              </a:srgbClr>
            </a:outerShdw>
          </a:effectLst>
        </p:spPr>
      </p:sp>
      <p:sp>
        <p:nvSpPr>
          <p:cNvPr id="13" name="Text 10"/>
          <p:cNvSpPr/>
          <p:nvPr/>
        </p:nvSpPr>
        <p:spPr>
          <a:xfrm>
            <a:off x="868680" y="3950208"/>
            <a:ext cx="4297680" cy="274320"/>
          </a:xfrm>
          <a:prstGeom prst="rect">
            <a:avLst/>
          </a:prstGeom>
          <a:noFill/>
          <a:ln/>
        </p:spPr>
        <p:txBody>
          <a:bodyPr wrap="square" lIns="0" tIns="0" rIns="0" bIns="0" rtlCol="0" anchor="ctr"/>
          <a:lstStyle/>
          <a:p>
            <a:pPr indent="0" marL="0">
              <a:buNone/>
            </a:pPr>
            <a:r>
              <a:rPr lang="en-US" sz="1150" b="1" spc="100" kern="0" dirty="0">
                <a:solidFill>
                  <a:srgbClr val="C89B3C"/>
                </a:solidFill>
                <a:latin typeface="Calibri" pitchFamily="34" charset="0"/>
                <a:ea typeface="Calibri" pitchFamily="34" charset="-122"/>
                <a:cs typeface="Calibri" pitchFamily="34" charset="-120"/>
              </a:rPr>
              <a:t>THE ERA MIRROR</a:t>
            </a:r>
            <a:endParaRPr lang="en-US" sz="1150" dirty="0"/>
          </a:p>
        </p:txBody>
      </p:sp>
      <p:sp>
        <p:nvSpPr>
          <p:cNvPr id="14" name="Text 11"/>
          <p:cNvSpPr/>
          <p:nvPr/>
        </p:nvSpPr>
        <p:spPr>
          <a:xfrm>
            <a:off x="868680" y="4297680"/>
            <a:ext cx="4297680" cy="777240"/>
          </a:xfrm>
          <a:prstGeom prst="rect">
            <a:avLst/>
          </a:prstGeom>
          <a:noFill/>
          <a:ln/>
        </p:spPr>
        <p:txBody>
          <a:bodyPr wrap="square" lIns="0" tIns="0" rIns="0" bIns="0" rtlCol="0" anchor="ctr"/>
          <a:lstStyle/>
          <a:p>
            <a:pPr indent="0" marL="0">
              <a:buNone/>
            </a:pPr>
            <a:r>
              <a:rPr lang="en-US" sz="1350" b="1" dirty="0">
                <a:solidFill>
                  <a:srgbClr val="7A2E39"/>
                </a:solidFill>
                <a:latin typeface="Calibri" pitchFamily="34" charset="0"/>
                <a:ea typeface="Calibri" pitchFamily="34" charset="-122"/>
                <a:cs typeface="Calibri" pitchFamily="34" charset="-120"/>
              </a:rPr>
              <a:t>Douro:</a:t>
            </a:r>
            <a:pPr indent="0" marL="0">
              <a:buNone/>
            </a:pPr>
            <a:r>
              <a:rPr lang="en-US" sz="1350" dirty="0">
                <a:solidFill>
                  <a:srgbClr val="2B2320"/>
                </a:solidFill>
                <a:latin typeface="Calibri" pitchFamily="34" charset="0"/>
                <a:ea typeface="Calibri" pitchFamily="34" charset="-122"/>
                <a:cs typeface="Calibri" pitchFamily="34" charset="-120"/>
              </a:rPr>
              <a:t> once era-balanced (~29% modern), CarenR wins 5 / 5 scenarios.</a:t>
            </a:r>
            <a:endParaRPr lang="en-US" sz="1350" dirty="0"/>
          </a:p>
        </p:txBody>
      </p:sp>
      <p:sp>
        <p:nvSpPr>
          <p:cNvPr id="15" name="Text 12"/>
          <p:cNvSpPr/>
          <p:nvPr/>
        </p:nvSpPr>
        <p:spPr>
          <a:xfrm>
            <a:off x="868680" y="5074920"/>
            <a:ext cx="4297680" cy="777240"/>
          </a:xfrm>
          <a:prstGeom prst="rect">
            <a:avLst/>
          </a:prstGeom>
          <a:noFill/>
          <a:ln/>
        </p:spPr>
        <p:txBody>
          <a:bodyPr wrap="square" lIns="0" tIns="0" rIns="0" bIns="0" rtlCol="0" anchor="ctr"/>
          <a:lstStyle/>
          <a:p>
            <a:pPr indent="0" marL="0">
              <a:buNone/>
            </a:pPr>
            <a:r>
              <a:rPr lang="en-US" sz="1350" b="1" dirty="0">
                <a:solidFill>
                  <a:srgbClr val="5E7148"/>
                </a:solidFill>
                <a:latin typeface="Calibri" pitchFamily="34" charset="0"/>
                <a:ea typeface="Calibri" pitchFamily="34" charset="-122"/>
                <a:cs typeface="Calibri" pitchFamily="34" charset="-120"/>
              </a:rPr>
              <a:t>Vinho Verde:</a:t>
            </a:r>
            <a:pPr indent="0" marL="0">
              <a:buNone/>
            </a:pPr>
            <a:r>
              <a:rPr lang="en-US" sz="1350" dirty="0">
                <a:solidFill>
                  <a:srgbClr val="2B2320"/>
                </a:solidFill>
                <a:latin typeface="Calibri" pitchFamily="34" charset="0"/>
                <a:ea typeface="Calibri" pitchFamily="34" charset="-122"/>
                <a:cs typeface="Calibri" pitchFamily="34" charset="-120"/>
              </a:rPr>
              <a:t> more modern data makes it steadily worse — the mirror opposite.</a:t>
            </a:r>
            <a:endParaRPr lang="en-US" sz="1350" dirty="0"/>
          </a:p>
        </p:txBody>
      </p:sp>
      <p:sp>
        <p:nvSpPr>
          <p:cNvPr id="16" name="Text 13"/>
          <p:cNvSpPr/>
          <p:nvPr/>
        </p:nvSpPr>
        <p:spPr>
          <a:xfrm>
            <a:off x="11475720" y="6419088"/>
            <a:ext cx="548640" cy="274320"/>
          </a:xfrm>
          <a:prstGeom prst="rect">
            <a:avLst/>
          </a:prstGeom>
          <a:noFill/>
          <a:ln/>
        </p:spPr>
        <p:txBody>
          <a:bodyPr wrap="square" lIns="0" tIns="0" rIns="0" bIns="0" rtlCol="0" anchor="ctr"/>
          <a:lstStyle/>
          <a:p>
            <a:pPr algn="r" indent="0" marL="0">
              <a:buNone/>
            </a:pPr>
            <a:r>
              <a:rPr lang="en-US" sz="1000" dirty="0">
                <a:solidFill>
                  <a:srgbClr val="7A6F5E"/>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30352"/>
            <a:ext cx="7680960" cy="868680"/>
          </a:xfrm>
          <a:prstGeom prst="rect">
            <a:avLst/>
          </a:prstGeom>
          <a:noFill/>
          <a:ln/>
        </p:spPr>
        <p:txBody>
          <a:bodyPr wrap="square" lIns="0" tIns="0" rIns="0" bIns="0" rtlCol="0" anchor="t"/>
          <a:lstStyle/>
          <a:p>
            <a:pPr indent="0" marL="0">
              <a:buNone/>
            </a:pPr>
            <a:r>
              <a:rPr lang="en-US" sz="2900" b="1" dirty="0">
                <a:solidFill>
                  <a:srgbClr val="6D2E46"/>
                </a:solidFill>
                <a:latin typeface="Cambria" pitchFamily="34" charset="0"/>
                <a:ea typeface="Cambria" pitchFamily="34" charset="-122"/>
                <a:cs typeface="Cambria" pitchFamily="34" charset="-120"/>
              </a:rPr>
              <a:t>Contributions</a:t>
            </a:r>
            <a:endParaRPr lang="en-US" sz="2900" dirty="0"/>
          </a:p>
        </p:txBody>
      </p:sp>
      <p:sp>
        <p:nvSpPr>
          <p:cNvPr id="3" name="Shape 1"/>
          <p:cNvSpPr/>
          <p:nvPr/>
        </p:nvSpPr>
        <p:spPr>
          <a:xfrm>
            <a:off x="10346436" y="260604"/>
            <a:ext cx="137160" cy="137160"/>
          </a:xfrm>
          <a:prstGeom prst="ellipse">
            <a:avLst/>
          </a:prstGeom>
          <a:solidFill>
            <a:srgbClr val="FFFFFF"/>
          </a:solidFill>
          <a:ln w="12700">
            <a:solidFill>
              <a:srgbClr val="7A6F5E"/>
            </a:solidFill>
            <a:prstDash val="solid"/>
          </a:ln>
        </p:spPr>
      </p:sp>
      <p:sp>
        <p:nvSpPr>
          <p:cNvPr id="4" name="Shape 2"/>
          <p:cNvSpPr/>
          <p:nvPr/>
        </p:nvSpPr>
        <p:spPr>
          <a:xfrm>
            <a:off x="10657332" y="260604"/>
            <a:ext cx="137160" cy="137160"/>
          </a:xfrm>
          <a:prstGeom prst="ellipse">
            <a:avLst/>
          </a:prstGeom>
          <a:solidFill>
            <a:srgbClr val="FFFFFF"/>
          </a:solidFill>
          <a:ln w="12700">
            <a:solidFill>
              <a:srgbClr val="7A6F5E"/>
            </a:solidFill>
            <a:prstDash val="solid"/>
          </a:ln>
        </p:spPr>
      </p:sp>
      <p:sp>
        <p:nvSpPr>
          <p:cNvPr id="5" name="Shape 3"/>
          <p:cNvSpPr/>
          <p:nvPr/>
        </p:nvSpPr>
        <p:spPr>
          <a:xfrm>
            <a:off x="10968228" y="260604"/>
            <a:ext cx="137160" cy="137160"/>
          </a:xfrm>
          <a:prstGeom prst="ellipse">
            <a:avLst/>
          </a:prstGeom>
          <a:solidFill>
            <a:srgbClr val="FFFFFF"/>
          </a:solidFill>
          <a:ln w="12700">
            <a:solidFill>
              <a:srgbClr val="7A6F5E"/>
            </a:solidFill>
            <a:prstDash val="solid"/>
          </a:ln>
        </p:spPr>
      </p:sp>
      <p:sp>
        <p:nvSpPr>
          <p:cNvPr id="6" name="Shape 4"/>
          <p:cNvSpPr/>
          <p:nvPr/>
        </p:nvSpPr>
        <p:spPr>
          <a:xfrm>
            <a:off x="11279124" y="260604"/>
            <a:ext cx="137160" cy="137160"/>
          </a:xfrm>
          <a:prstGeom prst="ellipse">
            <a:avLst/>
          </a:prstGeom>
          <a:solidFill>
            <a:srgbClr val="FFFFFF"/>
          </a:solidFill>
          <a:ln w="12700">
            <a:solidFill>
              <a:srgbClr val="7A6F5E"/>
            </a:solidFill>
            <a:prstDash val="solid"/>
          </a:ln>
        </p:spPr>
      </p:sp>
      <p:sp>
        <p:nvSpPr>
          <p:cNvPr id="7" name="Shape 5"/>
          <p:cNvSpPr/>
          <p:nvPr/>
        </p:nvSpPr>
        <p:spPr>
          <a:xfrm>
            <a:off x="11567160" y="237744"/>
            <a:ext cx="182880" cy="182880"/>
          </a:xfrm>
          <a:prstGeom prst="ellipse">
            <a:avLst/>
          </a:prstGeom>
          <a:solidFill>
            <a:srgbClr val="C89B3C"/>
          </a:solidFill>
          <a:ln w="12700">
            <a:solidFill>
              <a:srgbClr val="C89B3C"/>
            </a:solidFill>
            <a:prstDash val="solid"/>
          </a:ln>
        </p:spPr>
      </p:sp>
      <p:sp>
        <p:nvSpPr>
          <p:cNvPr id="8" name="Text 6"/>
          <p:cNvSpPr/>
          <p:nvPr/>
        </p:nvSpPr>
        <p:spPr>
          <a:xfrm>
            <a:off x="5394960" y="182880"/>
            <a:ext cx="4480560" cy="320040"/>
          </a:xfrm>
          <a:prstGeom prst="rect">
            <a:avLst/>
          </a:prstGeom>
          <a:noFill/>
          <a:ln/>
        </p:spPr>
        <p:txBody>
          <a:bodyPr wrap="square" lIns="0" tIns="0" rIns="0" bIns="0" rtlCol="0" anchor="ctr"/>
          <a:lstStyle/>
          <a:p>
            <a:pPr algn="r" indent="0" marL="0">
              <a:buNone/>
            </a:pPr>
            <a:r>
              <a:rPr lang="en-US" sz="1100" dirty="0">
                <a:solidFill>
                  <a:srgbClr val="7A6F5E"/>
                </a:solidFill>
                <a:latin typeface="Calibri" pitchFamily="34" charset="0"/>
                <a:ea typeface="Calibri" pitchFamily="34" charset="-122"/>
                <a:cs typeface="Calibri" pitchFamily="34" charset="-120"/>
              </a:rPr>
              <a:t>IDEA 5  ·  </a:t>
            </a:r>
            <a:pPr algn="r" indent="0" marL="0">
              <a:buNone/>
            </a:pPr>
            <a:r>
              <a:rPr lang="en-US" sz="1100" b="1" dirty="0">
                <a:solidFill>
                  <a:srgbClr val="6D2E46"/>
                </a:solidFill>
                <a:latin typeface="Calibri" pitchFamily="34" charset="0"/>
                <a:ea typeface="Calibri" pitchFamily="34" charset="-122"/>
                <a:cs typeface="Calibri" pitchFamily="34" charset="-120"/>
              </a:rPr>
              <a:t>DIAGNOSIS</a:t>
            </a:r>
            <a:endParaRPr lang="en-US" sz="1100" dirty="0"/>
          </a:p>
        </p:txBody>
      </p:sp>
      <p:sp>
        <p:nvSpPr>
          <p:cNvPr id="9" name="Shape 7"/>
          <p:cNvSpPr/>
          <p:nvPr/>
        </p:nvSpPr>
        <p:spPr>
          <a:xfrm>
            <a:off x="640080" y="1783080"/>
            <a:ext cx="10927080" cy="1325880"/>
          </a:xfrm>
          <a:prstGeom prst="roundRect">
            <a:avLst>
              <a:gd name="adj" fmla="val 5517"/>
            </a:avLst>
          </a:prstGeom>
          <a:solidFill>
            <a:srgbClr val="5A2439"/>
          </a:solidFill>
          <a:ln w="12700">
            <a:solidFill>
              <a:srgbClr val="C89B3C"/>
            </a:solidFill>
            <a:prstDash val="solid"/>
          </a:ln>
          <a:effectLst>
            <a:outerShdw sx="100000" sy="100000" kx="0" ky="0" algn="bl" rotWithShape="0" blurRad="88900" dist="38100" dir="5400000">
              <a:srgbClr val="000000">
                <a:alpha val="14000"/>
              </a:srgbClr>
            </a:outerShdw>
          </a:effectLst>
        </p:spPr>
      </p:sp>
      <p:sp>
        <p:nvSpPr>
          <p:cNvPr id="10" name="Text 8"/>
          <p:cNvSpPr/>
          <p:nvPr/>
        </p:nvSpPr>
        <p:spPr>
          <a:xfrm>
            <a:off x="868680" y="1965960"/>
            <a:ext cx="822960" cy="960120"/>
          </a:xfrm>
          <a:prstGeom prst="rect">
            <a:avLst/>
          </a:prstGeom>
          <a:noFill/>
          <a:ln/>
        </p:spPr>
        <p:txBody>
          <a:bodyPr wrap="square" lIns="0" tIns="0" rIns="0" bIns="0" rtlCol="0" anchor="ctr"/>
          <a:lstStyle/>
          <a:p>
            <a:pPr algn="ctr" indent="0" marL="0">
              <a:buNone/>
            </a:pPr>
            <a:r>
              <a:rPr lang="en-US" sz="4400" b="1" dirty="0">
                <a:solidFill>
                  <a:srgbClr val="C89B3C"/>
                </a:solidFill>
                <a:latin typeface="Cambria" pitchFamily="34" charset="0"/>
                <a:ea typeface="Cambria" pitchFamily="34" charset="-122"/>
                <a:cs typeface="Cambria" pitchFamily="34" charset="-120"/>
              </a:rPr>
              <a:t>1</a:t>
            </a:r>
            <a:endParaRPr lang="en-US" sz="4400" dirty="0"/>
          </a:p>
        </p:txBody>
      </p:sp>
      <p:sp>
        <p:nvSpPr>
          <p:cNvPr id="11" name="Text 9"/>
          <p:cNvSpPr/>
          <p:nvPr/>
        </p:nvSpPr>
        <p:spPr>
          <a:xfrm>
            <a:off x="1783080" y="1965960"/>
            <a:ext cx="9601200" cy="9601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two-decision framework  </a:t>
            </a:r>
            <a:pPr indent="0" marL="0">
              <a:buNone/>
            </a:pPr>
            <a:r>
              <a:rPr lang="en-US" sz="1600" dirty="0">
                <a:solidFill>
                  <a:srgbClr val="E7D9C4"/>
                </a:solidFill>
                <a:latin typeface="Calibri" pitchFamily="34" charset="0"/>
                <a:ea typeface="Calibri" pitchFamily="34" charset="-122"/>
                <a:cs typeface="Calibri" pitchFamily="34" charset="-120"/>
              </a:rPr>
              <a:t>— a diagnostic that explains why rule-based prediction fails even when genuine signal exists.</a:t>
            </a:r>
            <a:endParaRPr lang="en-US" sz="1600" dirty="0"/>
          </a:p>
        </p:txBody>
      </p:sp>
      <p:sp>
        <p:nvSpPr>
          <p:cNvPr id="12" name="Shape 10"/>
          <p:cNvSpPr/>
          <p:nvPr/>
        </p:nvSpPr>
        <p:spPr>
          <a:xfrm>
            <a:off x="640080" y="3337560"/>
            <a:ext cx="5349240" cy="1234440"/>
          </a:xfrm>
          <a:prstGeom prst="roundRect">
            <a:avLst>
              <a:gd name="adj" fmla="val 5926"/>
            </a:avLst>
          </a:prstGeom>
          <a:solidFill>
            <a:srgbClr val="FFFFFF"/>
          </a:solidFill>
          <a:ln w="12700">
            <a:solidFill>
              <a:srgbClr val="D9CFBE"/>
            </a:solidFill>
            <a:prstDash val="solid"/>
          </a:ln>
          <a:effectLst>
            <a:outerShdw sx="100000" sy="100000" kx="0" ky="0" algn="bl" rotWithShape="0" blurRad="88900" dist="38100" dir="5400000">
              <a:srgbClr val="000000">
                <a:alpha val="14000"/>
              </a:srgbClr>
            </a:outerShdw>
          </a:effectLst>
        </p:spPr>
      </p:sp>
      <p:sp>
        <p:nvSpPr>
          <p:cNvPr id="13" name="Shape 11"/>
          <p:cNvSpPr/>
          <p:nvPr/>
        </p:nvSpPr>
        <p:spPr>
          <a:xfrm>
            <a:off x="822960" y="3657600"/>
            <a:ext cx="566928" cy="566928"/>
          </a:xfrm>
          <a:prstGeom prst="ellipse">
            <a:avLst/>
          </a:prstGeom>
          <a:solidFill>
            <a:srgbClr val="6D2E46"/>
          </a:solidFill>
          <a:ln/>
        </p:spPr>
      </p:sp>
      <p:sp>
        <p:nvSpPr>
          <p:cNvPr id="14" name="Text 12"/>
          <p:cNvSpPr/>
          <p:nvPr/>
        </p:nvSpPr>
        <p:spPr>
          <a:xfrm>
            <a:off x="822960" y="36576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5" name="Text 13"/>
          <p:cNvSpPr/>
          <p:nvPr/>
        </p:nvSpPr>
        <p:spPr>
          <a:xfrm>
            <a:off x="1554480" y="3502152"/>
            <a:ext cx="4251960" cy="36576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Structured 11-variant analysis</a:t>
            </a:r>
            <a:endParaRPr lang="en-US" sz="1500" dirty="0"/>
          </a:p>
        </p:txBody>
      </p:sp>
      <p:sp>
        <p:nvSpPr>
          <p:cNvPr id="16" name="Text 14"/>
          <p:cNvSpPr/>
          <p:nvPr/>
        </p:nvSpPr>
        <p:spPr>
          <a:xfrm>
            <a:off x="1554480" y="3867912"/>
            <a:ext cx="4251960" cy="640080"/>
          </a:xfrm>
          <a:prstGeom prst="rect">
            <a:avLst/>
          </a:prstGeom>
          <a:noFill/>
          <a:ln/>
        </p:spPr>
        <p:txBody>
          <a:bodyPr wrap="square" lIns="0" tIns="0" rIns="0" bIns="0" rtlCol="0" anchor="ctr"/>
          <a:lstStyle/>
          <a:p>
            <a:pPr indent="0" marL="0">
              <a:buNone/>
            </a:pPr>
            <a:r>
              <a:rPr lang="en-US" sz="1200" dirty="0">
                <a:solidFill>
                  <a:srgbClr val="7A6F5E"/>
                </a:solidFill>
                <a:latin typeface="Calibri" pitchFamily="34" charset="0"/>
                <a:ea typeface="Calibri" pitchFamily="34" charset="-122"/>
                <a:cs typeface="Calibri" pitchFamily="34" charset="-120"/>
              </a:rPr>
              <a:t>Optimal CarenR configuration is problem-specific — η² for Douro, Sup_FS for Vinho Verde.</a:t>
            </a:r>
            <a:endParaRPr lang="en-US" sz="1200" dirty="0"/>
          </a:p>
        </p:txBody>
      </p:sp>
      <p:sp>
        <p:nvSpPr>
          <p:cNvPr id="17" name="Shape 15"/>
          <p:cNvSpPr/>
          <p:nvPr/>
        </p:nvSpPr>
        <p:spPr>
          <a:xfrm>
            <a:off x="6217920" y="3337560"/>
            <a:ext cx="5349240" cy="1234440"/>
          </a:xfrm>
          <a:prstGeom prst="roundRect">
            <a:avLst>
              <a:gd name="adj" fmla="val 5926"/>
            </a:avLst>
          </a:prstGeom>
          <a:solidFill>
            <a:srgbClr val="FFFFFF"/>
          </a:solidFill>
          <a:ln w="12700">
            <a:solidFill>
              <a:srgbClr val="D9CFBE"/>
            </a:solidFill>
            <a:prstDash val="solid"/>
          </a:ln>
          <a:effectLst>
            <a:outerShdw sx="100000" sy="100000" kx="0" ky="0" algn="bl" rotWithShape="0" blurRad="88900" dist="38100" dir="5400000">
              <a:srgbClr val="000000">
                <a:alpha val="14000"/>
              </a:srgbClr>
            </a:outerShdw>
          </a:effectLst>
        </p:spPr>
      </p:sp>
      <p:sp>
        <p:nvSpPr>
          <p:cNvPr id="18" name="Shape 16"/>
          <p:cNvSpPr/>
          <p:nvPr/>
        </p:nvSpPr>
        <p:spPr>
          <a:xfrm>
            <a:off x="6400800" y="3657600"/>
            <a:ext cx="566928" cy="566928"/>
          </a:xfrm>
          <a:prstGeom prst="ellipse">
            <a:avLst/>
          </a:prstGeom>
          <a:solidFill>
            <a:srgbClr val="6D2E46"/>
          </a:solidFill>
          <a:ln/>
        </p:spPr>
      </p:sp>
      <p:sp>
        <p:nvSpPr>
          <p:cNvPr id="19" name="Text 17"/>
          <p:cNvSpPr/>
          <p:nvPr/>
        </p:nvSpPr>
        <p:spPr>
          <a:xfrm>
            <a:off x="6400800" y="36576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0" name="Text 18"/>
          <p:cNvSpPr/>
          <p:nvPr/>
        </p:nvSpPr>
        <p:spPr>
          <a:xfrm>
            <a:off x="7132320" y="3502152"/>
            <a:ext cx="4251960" cy="36576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Era-composition regime</a:t>
            </a:r>
            <a:endParaRPr lang="en-US" sz="1500" dirty="0"/>
          </a:p>
        </p:txBody>
      </p:sp>
      <p:sp>
        <p:nvSpPr>
          <p:cNvPr id="21" name="Text 19"/>
          <p:cNvSpPr/>
          <p:nvPr/>
        </p:nvSpPr>
        <p:spPr>
          <a:xfrm>
            <a:off x="7132320" y="3867912"/>
            <a:ext cx="4251960" cy="640080"/>
          </a:xfrm>
          <a:prstGeom prst="rect">
            <a:avLst/>
          </a:prstGeom>
          <a:noFill/>
          <a:ln/>
        </p:spPr>
        <p:txBody>
          <a:bodyPr wrap="square" lIns="0" tIns="0" rIns="0" bIns="0" rtlCol="0" anchor="ctr"/>
          <a:lstStyle/>
          <a:p>
            <a:pPr indent="0" marL="0">
              <a:buNone/>
            </a:pPr>
            <a:r>
              <a:rPr lang="en-US" sz="1200" dirty="0">
                <a:solidFill>
                  <a:srgbClr val="7A6F5E"/>
                </a:solidFill>
                <a:latin typeface="Calibri" pitchFamily="34" charset="0"/>
                <a:ea typeface="Calibri" pitchFamily="34" charset="-122"/>
                <a:cs typeface="Calibri" pitchFamily="34" charset="-120"/>
              </a:rPr>
              <a:t>A conditional window where rule-based prediction becomes competitive (Douro).</a:t>
            </a:r>
            <a:endParaRPr lang="en-US" sz="1200" dirty="0"/>
          </a:p>
        </p:txBody>
      </p:sp>
      <p:sp>
        <p:nvSpPr>
          <p:cNvPr id="22" name="Shape 20"/>
          <p:cNvSpPr/>
          <p:nvPr/>
        </p:nvSpPr>
        <p:spPr>
          <a:xfrm>
            <a:off x="640080" y="4773168"/>
            <a:ext cx="5349240" cy="1234440"/>
          </a:xfrm>
          <a:prstGeom prst="roundRect">
            <a:avLst>
              <a:gd name="adj" fmla="val 5926"/>
            </a:avLst>
          </a:prstGeom>
          <a:solidFill>
            <a:srgbClr val="FFFFFF"/>
          </a:solidFill>
          <a:ln w="12700">
            <a:solidFill>
              <a:srgbClr val="D9CFBE"/>
            </a:solidFill>
            <a:prstDash val="solid"/>
          </a:ln>
          <a:effectLst>
            <a:outerShdw sx="100000" sy="100000" kx="0" ky="0" algn="bl" rotWithShape="0" blurRad="88900" dist="38100" dir="5400000">
              <a:srgbClr val="000000">
                <a:alpha val="14000"/>
              </a:srgbClr>
            </a:outerShdw>
          </a:effectLst>
        </p:spPr>
      </p:sp>
      <p:sp>
        <p:nvSpPr>
          <p:cNvPr id="23" name="Shape 21"/>
          <p:cNvSpPr/>
          <p:nvPr/>
        </p:nvSpPr>
        <p:spPr>
          <a:xfrm>
            <a:off x="822960" y="5093208"/>
            <a:ext cx="566928" cy="566928"/>
          </a:xfrm>
          <a:prstGeom prst="ellipse">
            <a:avLst/>
          </a:prstGeom>
          <a:solidFill>
            <a:srgbClr val="6D2E46"/>
          </a:solidFill>
          <a:ln/>
        </p:spPr>
      </p:sp>
      <p:sp>
        <p:nvSpPr>
          <p:cNvPr id="24" name="Text 22"/>
          <p:cNvSpPr/>
          <p:nvPr/>
        </p:nvSpPr>
        <p:spPr>
          <a:xfrm>
            <a:off x="822960" y="509320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5" name="Text 23"/>
          <p:cNvSpPr/>
          <p:nvPr/>
        </p:nvSpPr>
        <p:spPr>
          <a:xfrm>
            <a:off x="1554480" y="4937760"/>
            <a:ext cx="4251960" cy="36576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Cross-algorithm validation</a:t>
            </a:r>
            <a:endParaRPr lang="en-US" sz="1500" dirty="0"/>
          </a:p>
        </p:txBody>
      </p:sp>
      <p:sp>
        <p:nvSpPr>
          <p:cNvPr id="26" name="Text 24"/>
          <p:cNvSpPr/>
          <p:nvPr/>
        </p:nvSpPr>
        <p:spPr>
          <a:xfrm>
            <a:off x="1554480" y="5303520"/>
            <a:ext cx="4251960" cy="640080"/>
          </a:xfrm>
          <a:prstGeom prst="rect">
            <a:avLst/>
          </a:prstGeom>
          <a:noFill/>
          <a:ln/>
        </p:spPr>
        <p:txBody>
          <a:bodyPr wrap="square" lIns="0" tIns="0" rIns="0" bIns="0" rtlCol="0" anchor="ctr"/>
          <a:lstStyle/>
          <a:p>
            <a:pPr indent="0" marL="0">
              <a:buNone/>
            </a:pPr>
            <a:r>
              <a:rPr lang="en-US" sz="1200" dirty="0">
                <a:solidFill>
                  <a:srgbClr val="7A6F5E"/>
                </a:solidFill>
                <a:latin typeface="Calibri" pitchFamily="34" charset="0"/>
                <a:ea typeface="Calibri" pitchFamily="34" charset="-122"/>
                <a:cs typeface="Calibri" pitchFamily="34" charset="-120"/>
              </a:rPr>
              <a:t>RIPPER and M5Rules confirm CarenR's features via different criteria.</a:t>
            </a:r>
            <a:endParaRPr lang="en-US" sz="1200" dirty="0"/>
          </a:p>
        </p:txBody>
      </p:sp>
      <p:sp>
        <p:nvSpPr>
          <p:cNvPr id="27" name="Shape 25"/>
          <p:cNvSpPr/>
          <p:nvPr/>
        </p:nvSpPr>
        <p:spPr>
          <a:xfrm>
            <a:off x="6217920" y="4773168"/>
            <a:ext cx="5349240" cy="1234440"/>
          </a:xfrm>
          <a:prstGeom prst="roundRect">
            <a:avLst>
              <a:gd name="adj" fmla="val 5926"/>
            </a:avLst>
          </a:prstGeom>
          <a:solidFill>
            <a:srgbClr val="FFFFFF"/>
          </a:solidFill>
          <a:ln w="12700">
            <a:solidFill>
              <a:srgbClr val="D9CFBE"/>
            </a:solidFill>
            <a:prstDash val="solid"/>
          </a:ln>
          <a:effectLst>
            <a:outerShdw sx="100000" sy="100000" kx="0" ky="0" algn="bl" rotWithShape="0" blurRad="88900" dist="38100" dir="5400000">
              <a:srgbClr val="000000">
                <a:alpha val="14000"/>
              </a:srgbClr>
            </a:outerShdw>
          </a:effectLst>
        </p:spPr>
      </p:sp>
      <p:sp>
        <p:nvSpPr>
          <p:cNvPr id="28" name="Shape 26"/>
          <p:cNvSpPr/>
          <p:nvPr/>
        </p:nvSpPr>
        <p:spPr>
          <a:xfrm>
            <a:off x="6400800" y="5093208"/>
            <a:ext cx="566928" cy="566928"/>
          </a:xfrm>
          <a:prstGeom prst="ellipse">
            <a:avLst/>
          </a:prstGeom>
          <a:solidFill>
            <a:srgbClr val="6D2E46"/>
          </a:solidFill>
          <a:ln/>
        </p:spPr>
      </p:sp>
      <p:sp>
        <p:nvSpPr>
          <p:cNvPr id="29" name="Text 27"/>
          <p:cNvSpPr/>
          <p:nvPr/>
        </p:nvSpPr>
        <p:spPr>
          <a:xfrm>
            <a:off x="6400800" y="5093208"/>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30" name="Text 28"/>
          <p:cNvSpPr/>
          <p:nvPr/>
        </p:nvSpPr>
        <p:spPr>
          <a:xfrm>
            <a:off x="7132320" y="4937760"/>
            <a:ext cx="4251960" cy="365760"/>
          </a:xfrm>
          <a:prstGeom prst="rect">
            <a:avLst/>
          </a:prstGeom>
          <a:noFill/>
          <a:ln/>
        </p:spPr>
        <p:txBody>
          <a:bodyPr wrap="square" lIns="0" tIns="0" rIns="0" bIns="0" rtlCol="0" anchor="ctr"/>
          <a:lstStyle/>
          <a:p>
            <a:pPr indent="0" marL="0">
              <a:buNone/>
            </a:pPr>
            <a:r>
              <a:rPr lang="en-US" sz="1500" b="1" dirty="0">
                <a:solidFill>
                  <a:srgbClr val="2B2320"/>
                </a:solidFill>
                <a:latin typeface="Cambria" pitchFamily="34" charset="0"/>
                <a:ea typeface="Cambria" pitchFamily="34" charset="-122"/>
                <a:cs typeface="Cambria" pitchFamily="34" charset="-120"/>
              </a:rPr>
              <a:t>A demanding real-world testbed</a:t>
            </a:r>
            <a:endParaRPr lang="en-US" sz="1500" dirty="0"/>
          </a:p>
        </p:txBody>
      </p:sp>
      <p:sp>
        <p:nvSpPr>
          <p:cNvPr id="31" name="Text 29"/>
          <p:cNvSpPr/>
          <p:nvPr/>
        </p:nvSpPr>
        <p:spPr>
          <a:xfrm>
            <a:off x="7132320" y="5303520"/>
            <a:ext cx="4251960" cy="640080"/>
          </a:xfrm>
          <a:prstGeom prst="rect">
            <a:avLst/>
          </a:prstGeom>
          <a:noFill/>
          <a:ln/>
        </p:spPr>
        <p:txBody>
          <a:bodyPr wrap="square" lIns="0" tIns="0" rIns="0" bIns="0" rtlCol="0" anchor="ctr"/>
          <a:lstStyle/>
          <a:p>
            <a:pPr indent="0" marL="0">
              <a:buNone/>
            </a:pPr>
            <a:r>
              <a:rPr lang="en-US" sz="1200" dirty="0">
                <a:solidFill>
                  <a:srgbClr val="7A6F5E"/>
                </a:solidFill>
                <a:latin typeface="Calibri" pitchFamily="34" charset="0"/>
                <a:ea typeface="Calibri" pitchFamily="34" charset="-122"/>
                <a:cs typeface="Calibri" pitchFamily="34" charset="-120"/>
              </a:rPr>
              <a:t>80–90 years, genuine non-stationarity, expert-verifiable output.</a:t>
            </a:r>
            <a:endParaRPr lang="en-US" sz="1200" dirty="0"/>
          </a:p>
        </p:txBody>
      </p:sp>
      <p:sp>
        <p:nvSpPr>
          <p:cNvPr id="32" name="Text 30"/>
          <p:cNvSpPr/>
          <p:nvPr/>
        </p:nvSpPr>
        <p:spPr>
          <a:xfrm>
            <a:off x="11475720" y="6419088"/>
            <a:ext cx="548640" cy="274320"/>
          </a:xfrm>
          <a:prstGeom prst="rect">
            <a:avLst/>
          </a:prstGeom>
          <a:noFill/>
          <a:ln/>
        </p:spPr>
        <p:txBody>
          <a:bodyPr wrap="square" lIns="0" tIns="0" rIns="0" bIns="0" rtlCol="0" anchor="ctr"/>
          <a:lstStyle/>
          <a:p>
            <a:pPr algn="r" indent="0" marL="0">
              <a:buNone/>
            </a:pPr>
            <a:r>
              <a:rPr lang="en-US" sz="1000" dirty="0">
                <a:solidFill>
                  <a:srgbClr val="7A6F5E"/>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30352"/>
            <a:ext cx="7680960" cy="868680"/>
          </a:xfrm>
          <a:prstGeom prst="rect">
            <a:avLst/>
          </a:prstGeom>
          <a:noFill/>
          <a:ln/>
        </p:spPr>
        <p:txBody>
          <a:bodyPr wrap="square" lIns="0" tIns="0" rIns="0" bIns="0" rtlCol="0" anchor="t"/>
          <a:lstStyle/>
          <a:p>
            <a:pPr indent="0" marL="0">
              <a:buNone/>
            </a:pPr>
            <a:r>
              <a:rPr lang="en-US" sz="2900" b="1" dirty="0">
                <a:solidFill>
                  <a:srgbClr val="6D2E46"/>
                </a:solidFill>
                <a:latin typeface="Cambria" pitchFamily="34" charset="0"/>
                <a:ea typeface="Cambria" pitchFamily="34" charset="-122"/>
                <a:cs typeface="Cambria" pitchFamily="34" charset="-120"/>
              </a:rPr>
              <a:t>What I don't claim — and the fix that follows</a:t>
            </a:r>
            <a:endParaRPr lang="en-US" sz="2900" dirty="0"/>
          </a:p>
        </p:txBody>
      </p:sp>
      <p:sp>
        <p:nvSpPr>
          <p:cNvPr id="3" name="Shape 1"/>
          <p:cNvSpPr/>
          <p:nvPr/>
        </p:nvSpPr>
        <p:spPr>
          <a:xfrm>
            <a:off x="10346436" y="260604"/>
            <a:ext cx="137160" cy="137160"/>
          </a:xfrm>
          <a:prstGeom prst="ellipse">
            <a:avLst/>
          </a:prstGeom>
          <a:solidFill>
            <a:srgbClr val="FFFFFF"/>
          </a:solidFill>
          <a:ln w="12700">
            <a:solidFill>
              <a:srgbClr val="7A6F5E"/>
            </a:solidFill>
            <a:prstDash val="solid"/>
          </a:ln>
        </p:spPr>
      </p:sp>
      <p:sp>
        <p:nvSpPr>
          <p:cNvPr id="4" name="Shape 2"/>
          <p:cNvSpPr/>
          <p:nvPr/>
        </p:nvSpPr>
        <p:spPr>
          <a:xfrm>
            <a:off x="10657332" y="260604"/>
            <a:ext cx="137160" cy="137160"/>
          </a:xfrm>
          <a:prstGeom prst="ellipse">
            <a:avLst/>
          </a:prstGeom>
          <a:solidFill>
            <a:srgbClr val="FFFFFF"/>
          </a:solidFill>
          <a:ln w="12700">
            <a:solidFill>
              <a:srgbClr val="7A6F5E"/>
            </a:solidFill>
            <a:prstDash val="solid"/>
          </a:ln>
        </p:spPr>
      </p:sp>
      <p:sp>
        <p:nvSpPr>
          <p:cNvPr id="5" name="Shape 3"/>
          <p:cNvSpPr/>
          <p:nvPr/>
        </p:nvSpPr>
        <p:spPr>
          <a:xfrm>
            <a:off x="10968228" y="260604"/>
            <a:ext cx="137160" cy="137160"/>
          </a:xfrm>
          <a:prstGeom prst="ellipse">
            <a:avLst/>
          </a:prstGeom>
          <a:solidFill>
            <a:srgbClr val="FFFFFF"/>
          </a:solidFill>
          <a:ln w="12700">
            <a:solidFill>
              <a:srgbClr val="7A6F5E"/>
            </a:solidFill>
            <a:prstDash val="solid"/>
          </a:ln>
        </p:spPr>
      </p:sp>
      <p:sp>
        <p:nvSpPr>
          <p:cNvPr id="6" name="Shape 4"/>
          <p:cNvSpPr/>
          <p:nvPr/>
        </p:nvSpPr>
        <p:spPr>
          <a:xfrm>
            <a:off x="11279124" y="260604"/>
            <a:ext cx="137160" cy="137160"/>
          </a:xfrm>
          <a:prstGeom prst="ellipse">
            <a:avLst/>
          </a:prstGeom>
          <a:solidFill>
            <a:srgbClr val="FFFFFF"/>
          </a:solidFill>
          <a:ln w="12700">
            <a:solidFill>
              <a:srgbClr val="7A6F5E"/>
            </a:solidFill>
            <a:prstDash val="solid"/>
          </a:ln>
        </p:spPr>
      </p:sp>
      <p:sp>
        <p:nvSpPr>
          <p:cNvPr id="7" name="Shape 5"/>
          <p:cNvSpPr/>
          <p:nvPr/>
        </p:nvSpPr>
        <p:spPr>
          <a:xfrm>
            <a:off x="11567160" y="237744"/>
            <a:ext cx="182880" cy="182880"/>
          </a:xfrm>
          <a:prstGeom prst="ellipse">
            <a:avLst/>
          </a:prstGeom>
          <a:solidFill>
            <a:srgbClr val="C89B3C"/>
          </a:solidFill>
          <a:ln w="12700">
            <a:solidFill>
              <a:srgbClr val="C89B3C"/>
            </a:solidFill>
            <a:prstDash val="solid"/>
          </a:ln>
        </p:spPr>
      </p:sp>
      <p:sp>
        <p:nvSpPr>
          <p:cNvPr id="8" name="Text 6"/>
          <p:cNvSpPr/>
          <p:nvPr/>
        </p:nvSpPr>
        <p:spPr>
          <a:xfrm>
            <a:off x="5394960" y="182880"/>
            <a:ext cx="4480560" cy="320040"/>
          </a:xfrm>
          <a:prstGeom prst="rect">
            <a:avLst/>
          </a:prstGeom>
          <a:noFill/>
          <a:ln/>
        </p:spPr>
        <p:txBody>
          <a:bodyPr wrap="square" lIns="0" tIns="0" rIns="0" bIns="0" rtlCol="0" anchor="ctr"/>
          <a:lstStyle/>
          <a:p>
            <a:pPr algn="r" indent="0" marL="0">
              <a:buNone/>
            </a:pPr>
            <a:r>
              <a:rPr lang="en-US" sz="1100" dirty="0">
                <a:solidFill>
                  <a:srgbClr val="7A6F5E"/>
                </a:solidFill>
                <a:latin typeface="Calibri" pitchFamily="34" charset="0"/>
                <a:ea typeface="Calibri" pitchFamily="34" charset="-122"/>
                <a:cs typeface="Calibri" pitchFamily="34" charset="-120"/>
              </a:rPr>
              <a:t>IDEA 5  ·  </a:t>
            </a:r>
            <a:pPr algn="r" indent="0" marL="0">
              <a:buNone/>
            </a:pPr>
            <a:r>
              <a:rPr lang="en-US" sz="1100" b="1" dirty="0">
                <a:solidFill>
                  <a:srgbClr val="6D2E46"/>
                </a:solidFill>
                <a:latin typeface="Calibri" pitchFamily="34" charset="0"/>
                <a:ea typeface="Calibri" pitchFamily="34" charset="-122"/>
                <a:cs typeface="Calibri" pitchFamily="34" charset="-120"/>
              </a:rPr>
              <a:t>DIAGNOSIS</a:t>
            </a:r>
            <a:endParaRPr lang="en-US" sz="1100" dirty="0"/>
          </a:p>
        </p:txBody>
      </p:sp>
      <p:sp>
        <p:nvSpPr>
          <p:cNvPr id="9" name="Shape 7"/>
          <p:cNvSpPr/>
          <p:nvPr/>
        </p:nvSpPr>
        <p:spPr>
          <a:xfrm>
            <a:off x="640080" y="1828800"/>
            <a:ext cx="5074920" cy="4023360"/>
          </a:xfrm>
          <a:prstGeom prst="roundRect">
            <a:avLst>
              <a:gd name="adj" fmla="val 1818"/>
            </a:avLst>
          </a:prstGeom>
          <a:solidFill>
            <a:srgbClr val="FFFFFF"/>
          </a:solidFill>
          <a:ln w="12700">
            <a:solidFill>
              <a:srgbClr val="D9CFBE"/>
            </a:solidFill>
            <a:prstDash val="solid"/>
          </a:ln>
          <a:effectLst>
            <a:outerShdw sx="100000" sy="100000" kx="0" ky="0" algn="bl" rotWithShape="0" blurRad="88900" dist="38100" dir="5400000">
              <a:srgbClr val="000000">
                <a:alpha val="14000"/>
              </a:srgbClr>
            </a:outerShdw>
          </a:effectLst>
        </p:spPr>
      </p:sp>
      <p:sp>
        <p:nvSpPr>
          <p:cNvPr id="10" name="Text 8"/>
          <p:cNvSpPr/>
          <p:nvPr/>
        </p:nvSpPr>
        <p:spPr>
          <a:xfrm>
            <a:off x="868680" y="2011680"/>
            <a:ext cx="4572000" cy="320040"/>
          </a:xfrm>
          <a:prstGeom prst="rect">
            <a:avLst/>
          </a:prstGeom>
          <a:noFill/>
          <a:ln/>
        </p:spPr>
        <p:txBody>
          <a:bodyPr wrap="square" lIns="0" tIns="0" rIns="0" bIns="0" rtlCol="0" anchor="ctr"/>
          <a:lstStyle/>
          <a:p>
            <a:pPr indent="0" marL="0">
              <a:buNone/>
            </a:pPr>
            <a:r>
              <a:rPr lang="en-US" sz="1200" b="1" spc="100" kern="0" dirty="0">
                <a:solidFill>
                  <a:srgbClr val="7A2E39"/>
                </a:solidFill>
                <a:latin typeface="Calibri" pitchFamily="34" charset="0"/>
                <a:ea typeface="Calibri" pitchFamily="34" charset="-122"/>
                <a:cs typeface="Calibri" pitchFamily="34" charset="-120"/>
              </a:rPr>
              <a:t>LIMITATIONS</a:t>
            </a:r>
            <a:endParaRPr lang="en-US" sz="1200" dirty="0"/>
          </a:p>
        </p:txBody>
      </p:sp>
      <p:sp>
        <p:nvSpPr>
          <p:cNvPr id="11" name="Text 9"/>
          <p:cNvSpPr/>
          <p:nvPr/>
        </p:nvSpPr>
        <p:spPr>
          <a:xfrm>
            <a:off x="868680" y="2423160"/>
            <a:ext cx="4617720" cy="3291840"/>
          </a:xfrm>
          <a:prstGeom prst="rect">
            <a:avLst/>
          </a:prstGeom>
          <a:noFill/>
          <a:ln/>
        </p:spPr>
        <p:txBody>
          <a:bodyPr wrap="square" lIns="0" tIns="0" rIns="0" bIns="0" rtlCol="0" anchor="ctr"/>
          <a:lstStyle/>
          <a:p>
            <a:pPr indent="0" marL="0">
              <a:buNone/>
            </a:pPr>
            <a:r>
              <a:rPr lang="en-US" sz="1450" b="1" dirty="0">
                <a:solidFill>
                  <a:srgbClr val="2B2320"/>
                </a:solidFill>
                <a:latin typeface="Calibri" pitchFamily="34" charset="0"/>
                <a:ea typeface="Calibri" pitchFamily="34" charset="-122"/>
                <a:cs typeface="Calibri" pitchFamily="34" charset="-120"/>
              </a:rPr>
              <a:t>Time-only detrending</a:t>
            </a:r>
            <a:endParaRPr lang="en-US" sz="1450" dirty="0"/>
          </a:p>
          <a:p>
            <a:pPr indent="0" marL="0">
              <a:buNone/>
            </a:pPr>
            <a:r>
              <a:rPr lang="en-US" sz="1250" dirty="0">
                <a:solidFill>
                  <a:srgbClr val="7A6F5E"/>
                </a:solidFill>
                <a:latin typeface="Calibri" pitchFamily="34" charset="0"/>
                <a:ea typeface="Calibri" pitchFamily="34" charset="-122"/>
                <a:cs typeface="Calibri" pitchFamily="34" charset="-120"/>
              </a:rPr>
              <a:t>the structural root of the whole trade-off.</a:t>
            </a:r>
            <a:endParaRPr lang="en-US" sz="1450" dirty="0"/>
          </a:p>
          <a:p>
            <a:pPr indent="0" marL="0">
              <a:buNone/>
            </a:pPr>
            <a:endParaRPr lang="en-US" sz="1450" dirty="0"/>
          </a:p>
          <a:p>
            <a:pPr indent="0" marL="0">
              <a:buNone/>
            </a:pPr>
            <a:r>
              <a:rPr lang="en-US" sz="1450" b="1" dirty="0">
                <a:solidFill>
                  <a:srgbClr val="2B2320"/>
                </a:solidFill>
                <a:latin typeface="Calibri" pitchFamily="34" charset="0"/>
                <a:ea typeface="Calibri" pitchFamily="34" charset="-122"/>
                <a:cs typeface="Calibri" pitchFamily="34" charset="-120"/>
              </a:rPr>
              <a:t>n = 5 era-balanced window</a:t>
            </a:r>
            <a:endParaRPr lang="en-US" sz="1450" dirty="0"/>
          </a:p>
          <a:p>
            <a:pPr indent="0" marL="0">
              <a:buNone/>
            </a:pPr>
            <a:r>
              <a:rPr lang="en-US" sz="1250" dirty="0">
                <a:solidFill>
                  <a:srgbClr val="7A6F5E"/>
                </a:solidFill>
                <a:latin typeface="Calibri" pitchFamily="34" charset="0"/>
                <a:ea typeface="Calibri" pitchFamily="34" charset="-122"/>
                <a:cs typeface="Calibri" pitchFamily="34" charset="-120"/>
              </a:rPr>
              <a:t>post-hoc and underpowered — a hypothesis, labelled as such.</a:t>
            </a:r>
            <a:endParaRPr lang="en-US" sz="1450" dirty="0"/>
          </a:p>
          <a:p>
            <a:pPr indent="0" marL="0">
              <a:buNone/>
            </a:pPr>
            <a:endParaRPr lang="en-US" sz="1450" dirty="0"/>
          </a:p>
          <a:p>
            <a:pPr indent="0" marL="0">
              <a:buNone/>
            </a:pPr>
            <a:r>
              <a:rPr lang="en-US" sz="1450" b="1" dirty="0">
                <a:solidFill>
                  <a:srgbClr val="2B2320"/>
                </a:solidFill>
                <a:latin typeface="Calibri" pitchFamily="34" charset="0"/>
                <a:ea typeface="Calibri" pitchFamily="34" charset="-122"/>
                <a:cs typeface="Calibri" pitchFamily="34" charset="-120"/>
              </a:rPr>
              <a:t>Single-region annual aggregates</a:t>
            </a:r>
            <a:endParaRPr lang="en-US" sz="1450" dirty="0"/>
          </a:p>
          <a:p>
            <a:pPr indent="0" marL="0">
              <a:buNone/>
            </a:pPr>
            <a:r>
              <a:rPr lang="en-US" sz="1250" dirty="0">
                <a:solidFill>
                  <a:srgbClr val="7A6F5E"/>
                </a:solidFill>
                <a:latin typeface="Calibri" pitchFamily="34" charset="0"/>
                <a:ea typeface="Calibri" pitchFamily="34" charset="-122"/>
                <a:cs typeface="Calibri" pitchFamily="34" charset="-120"/>
              </a:rPr>
              <a:t>no sub-regional or spatial signal available.</a:t>
            </a:r>
            <a:endParaRPr lang="en-US" sz="1450" dirty="0"/>
          </a:p>
        </p:txBody>
      </p:sp>
      <p:sp>
        <p:nvSpPr>
          <p:cNvPr id="12" name="Shape 10"/>
          <p:cNvSpPr/>
          <p:nvPr/>
        </p:nvSpPr>
        <p:spPr>
          <a:xfrm>
            <a:off x="5943600" y="1828800"/>
            <a:ext cx="5623560" cy="4023360"/>
          </a:xfrm>
          <a:prstGeom prst="roundRect">
            <a:avLst>
              <a:gd name="adj" fmla="val 1818"/>
            </a:avLst>
          </a:prstGeom>
          <a:solidFill>
            <a:srgbClr val="F1F5EE"/>
          </a:solidFill>
          <a:ln w="12700">
            <a:solidFill>
              <a:srgbClr val="5E7148"/>
            </a:solidFill>
            <a:prstDash val="solid"/>
          </a:ln>
          <a:effectLst>
            <a:outerShdw sx="100000" sy="100000" kx="0" ky="0" algn="bl" rotWithShape="0" blurRad="88900" dist="38100" dir="5400000">
              <a:srgbClr val="000000">
                <a:alpha val="14000"/>
              </a:srgbClr>
            </a:outerShdw>
          </a:effectLst>
        </p:spPr>
      </p:sp>
      <p:sp>
        <p:nvSpPr>
          <p:cNvPr id="13" name="Text 11"/>
          <p:cNvSpPr/>
          <p:nvPr/>
        </p:nvSpPr>
        <p:spPr>
          <a:xfrm>
            <a:off x="6172200" y="2011680"/>
            <a:ext cx="5120640" cy="320040"/>
          </a:xfrm>
          <a:prstGeom prst="rect">
            <a:avLst/>
          </a:prstGeom>
          <a:noFill/>
          <a:ln/>
        </p:spPr>
        <p:txBody>
          <a:bodyPr wrap="square" lIns="0" tIns="0" rIns="0" bIns="0" rtlCol="0" anchor="ctr"/>
          <a:lstStyle/>
          <a:p>
            <a:pPr indent="0" marL="0">
              <a:buNone/>
            </a:pPr>
            <a:r>
              <a:rPr lang="en-US" sz="1200" b="1" spc="100" kern="0" dirty="0">
                <a:solidFill>
                  <a:srgbClr val="5E7148"/>
                </a:solidFill>
                <a:latin typeface="Calibri" pitchFamily="34" charset="0"/>
                <a:ea typeface="Calibri" pitchFamily="34" charset="-122"/>
                <a:cs typeface="Calibri" pitchFamily="34" charset="-120"/>
              </a:rPr>
              <a:t>THE FIX THE DIAGNOSIS POINTS TO</a:t>
            </a:r>
            <a:endParaRPr lang="en-US" sz="1200" dirty="0"/>
          </a:p>
        </p:txBody>
      </p:sp>
      <p:sp>
        <p:nvSpPr>
          <p:cNvPr id="14" name="Text 12"/>
          <p:cNvSpPr/>
          <p:nvPr/>
        </p:nvSpPr>
        <p:spPr>
          <a:xfrm>
            <a:off x="6172200" y="2331720"/>
            <a:ext cx="5120640" cy="457200"/>
          </a:xfrm>
          <a:prstGeom prst="rect">
            <a:avLst/>
          </a:prstGeom>
          <a:noFill/>
          <a:ln/>
        </p:spPr>
        <p:txBody>
          <a:bodyPr wrap="square" lIns="0" tIns="0" rIns="0" bIns="0" rtlCol="0" anchor="ctr"/>
          <a:lstStyle/>
          <a:p>
            <a:pPr indent="0" marL="0">
              <a:buNone/>
            </a:pPr>
            <a:r>
              <a:rPr lang="en-US" sz="2000" b="1" dirty="0">
                <a:solidFill>
                  <a:srgbClr val="2B2320"/>
                </a:solidFill>
                <a:latin typeface="Cambria" pitchFamily="34" charset="0"/>
                <a:ea typeface="Cambria" pitchFamily="34" charset="-122"/>
                <a:cs typeface="Cambria" pitchFamily="34" charset="-120"/>
              </a:rPr>
              <a:t>Structural detrending</a:t>
            </a:r>
            <a:endParaRPr lang="en-US" sz="2000" dirty="0"/>
          </a:p>
        </p:txBody>
      </p:sp>
      <p:sp>
        <p:nvSpPr>
          <p:cNvPr id="15" name="Shape 13"/>
          <p:cNvSpPr/>
          <p:nvPr/>
        </p:nvSpPr>
        <p:spPr>
          <a:xfrm>
            <a:off x="6172200" y="2926080"/>
            <a:ext cx="5166360" cy="868680"/>
          </a:xfrm>
          <a:prstGeom prst="roundRect">
            <a:avLst>
              <a:gd name="adj" fmla="val 6316"/>
            </a:avLst>
          </a:prstGeom>
          <a:solidFill>
            <a:srgbClr val="FFFFFF"/>
          </a:solidFill>
          <a:ln w="12700">
            <a:solidFill>
              <a:srgbClr val="5E7148"/>
            </a:solidFill>
            <a:prstDash val="solid"/>
          </a:ln>
        </p:spPr>
      </p:sp>
      <p:sp>
        <p:nvSpPr>
          <p:cNvPr id="16" name="Text 14"/>
          <p:cNvSpPr/>
          <p:nvPr/>
        </p:nvSpPr>
        <p:spPr>
          <a:xfrm>
            <a:off x="6172200" y="2926080"/>
            <a:ext cx="5166360" cy="868680"/>
          </a:xfrm>
          <a:prstGeom prst="rect">
            <a:avLst/>
          </a:prstGeom>
          <a:noFill/>
          <a:ln/>
        </p:spPr>
        <p:txBody>
          <a:bodyPr wrap="square" lIns="0" tIns="0" rIns="0" bIns="0" rtlCol="0" anchor="ctr"/>
          <a:lstStyle/>
          <a:p>
            <a:pPr algn="ctr" indent="0" marL="0">
              <a:buNone/>
            </a:pPr>
            <a:r>
              <a:rPr lang="en-US" sz="2000" b="1" i="1" dirty="0">
                <a:solidFill>
                  <a:srgbClr val="2B2320"/>
                </a:solidFill>
                <a:latin typeface="Cambria" pitchFamily="34" charset="0"/>
                <a:ea typeface="Cambria" pitchFamily="34" charset="-122"/>
                <a:cs typeface="Cambria" pitchFamily="34" charset="-120"/>
              </a:rPr>
              <a:t>y</a:t>
            </a:r>
            <a:pPr algn="ctr" indent="0" marL="0">
              <a:buNone/>
            </a:pPr>
            <a:r>
              <a:rPr lang="en-US" sz="2000" b="1" dirty="0">
                <a:solidFill>
                  <a:srgbClr val="2B2320"/>
                </a:solidFill>
                <a:latin typeface="Cambria" pitchFamily="34" charset="0"/>
                <a:ea typeface="Cambria" pitchFamily="34" charset="-122"/>
                <a:cs typeface="Cambria" pitchFamily="34" charset="-120"/>
              </a:rPr>
              <a:t>ₜ = α + β₁t + β₂·area + β₃·quota + </a:t>
            </a:r>
            <a:pPr algn="ctr" indent="0" marL="0">
              <a:buNone/>
            </a:pPr>
            <a:r>
              <a:rPr lang="en-US" sz="2000" b="1" i="1" dirty="0">
                <a:solidFill>
                  <a:srgbClr val="5E7148"/>
                </a:solidFill>
                <a:latin typeface="Cambria" pitchFamily="34" charset="0"/>
                <a:ea typeface="Cambria" pitchFamily="34" charset="-122"/>
                <a:cs typeface="Cambria" pitchFamily="34" charset="-120"/>
              </a:rPr>
              <a:t>ε</a:t>
            </a:r>
            <a:endParaRPr lang="en-US" sz="2000" dirty="0"/>
          </a:p>
        </p:txBody>
      </p:sp>
      <p:sp>
        <p:nvSpPr>
          <p:cNvPr id="17" name="Text 15"/>
          <p:cNvSpPr/>
          <p:nvPr/>
        </p:nvSpPr>
        <p:spPr>
          <a:xfrm>
            <a:off x="6172200" y="3977640"/>
            <a:ext cx="5120640" cy="1005840"/>
          </a:xfrm>
          <a:prstGeom prst="rect">
            <a:avLst/>
          </a:prstGeom>
          <a:noFill/>
          <a:ln/>
        </p:spPr>
        <p:txBody>
          <a:bodyPr wrap="square" lIns="0" tIns="0" rIns="0" bIns="0" rtlCol="0" anchor="ctr"/>
          <a:lstStyle/>
          <a:p>
            <a:pPr indent="0" marL="0">
              <a:buNone/>
            </a:pPr>
            <a:r>
              <a:rPr lang="en-US" sz="1400" dirty="0">
                <a:solidFill>
                  <a:srgbClr val="2B2320"/>
                </a:solidFill>
                <a:latin typeface="Calibri" pitchFamily="34" charset="0"/>
                <a:ea typeface="Calibri" pitchFamily="34" charset="-122"/>
                <a:cs typeface="Calibri" pitchFamily="34" charset="-120"/>
              </a:rPr>
              <a:t>Put planted area, quota and producer count into the trend, and the climate signal stays in the residual ε. Decisions 1 and 2 stop competing.</a:t>
            </a:r>
            <a:endParaRPr lang="en-US" sz="1400" dirty="0"/>
          </a:p>
        </p:txBody>
      </p:sp>
      <p:sp>
        <p:nvSpPr>
          <p:cNvPr id="18" name="Text 16"/>
          <p:cNvSpPr/>
          <p:nvPr/>
        </p:nvSpPr>
        <p:spPr>
          <a:xfrm>
            <a:off x="6172200" y="5166360"/>
            <a:ext cx="5120640" cy="457200"/>
          </a:xfrm>
          <a:prstGeom prst="rect">
            <a:avLst/>
          </a:prstGeom>
          <a:noFill/>
          <a:ln/>
        </p:spPr>
        <p:txBody>
          <a:bodyPr wrap="square" lIns="0" tIns="0" rIns="0" bIns="0" rtlCol="0" anchor="ctr"/>
          <a:lstStyle/>
          <a:p>
            <a:pPr indent="0" marL="0">
              <a:buNone/>
            </a:pPr>
            <a:r>
              <a:rPr lang="en-US" sz="1500" b="1" i="1" dirty="0">
                <a:solidFill>
                  <a:srgbClr val="6D2E46"/>
                </a:solidFill>
                <a:latin typeface="Cambria" pitchFamily="34" charset="0"/>
                <a:ea typeface="Cambria" pitchFamily="34" charset="-122"/>
                <a:cs typeface="Cambria" pitchFamily="34" charset="-120"/>
              </a:rPr>
              <a:t>My own framework hands the next researcher the fix.</a:t>
            </a:r>
            <a:endParaRPr lang="en-US" sz="1500" dirty="0"/>
          </a:p>
        </p:txBody>
      </p:sp>
      <p:sp>
        <p:nvSpPr>
          <p:cNvPr id="19" name="Text 17"/>
          <p:cNvSpPr/>
          <p:nvPr/>
        </p:nvSpPr>
        <p:spPr>
          <a:xfrm>
            <a:off x="11475720" y="6419088"/>
            <a:ext cx="548640" cy="274320"/>
          </a:xfrm>
          <a:prstGeom prst="rect">
            <a:avLst/>
          </a:prstGeom>
          <a:noFill/>
          <a:ln/>
        </p:spPr>
        <p:txBody>
          <a:bodyPr wrap="square" lIns="0" tIns="0" rIns="0" bIns="0" rtlCol="0" anchor="ctr"/>
          <a:lstStyle/>
          <a:p>
            <a:pPr algn="r" indent="0" marL="0">
              <a:buNone/>
            </a:pPr>
            <a:r>
              <a:rPr lang="en-US" sz="1000" dirty="0">
                <a:solidFill>
                  <a:srgbClr val="7A6F5E"/>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6D2E46"/>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C89B3C"/>
          </a:solidFill>
          <a:ln/>
        </p:spPr>
      </p:sp>
      <p:sp>
        <p:nvSpPr>
          <p:cNvPr id="3" name="Text 1"/>
          <p:cNvSpPr/>
          <p:nvPr/>
        </p:nvSpPr>
        <p:spPr>
          <a:xfrm>
            <a:off x="822960" y="685800"/>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negative result that knows why</a:t>
            </a:r>
            <a:endParaRPr lang="en-US" sz="3200" dirty="0"/>
          </a:p>
        </p:txBody>
      </p:sp>
      <p:sp>
        <p:nvSpPr>
          <p:cNvPr id="4" name="Shape 2"/>
          <p:cNvSpPr/>
          <p:nvPr/>
        </p:nvSpPr>
        <p:spPr>
          <a:xfrm>
            <a:off x="822960" y="1783080"/>
            <a:ext cx="457200" cy="457200"/>
          </a:xfrm>
          <a:prstGeom prst="ellipse">
            <a:avLst/>
          </a:prstGeom>
          <a:solidFill>
            <a:srgbClr val="C89B3C"/>
          </a:solidFill>
          <a:ln/>
        </p:spPr>
      </p:sp>
      <p:sp>
        <p:nvSpPr>
          <p:cNvPr id="5" name="Text 3"/>
          <p:cNvSpPr/>
          <p:nvPr/>
        </p:nvSpPr>
        <p:spPr>
          <a:xfrm>
            <a:off x="822960" y="1783080"/>
            <a:ext cx="457200" cy="457200"/>
          </a:xfrm>
          <a:prstGeom prst="rect">
            <a:avLst/>
          </a:prstGeom>
          <a:noFill/>
          <a:ln/>
        </p:spPr>
        <p:txBody>
          <a:bodyPr wrap="square" lIns="0" tIns="0" rIns="0" bIns="0" rtlCol="0" anchor="ctr"/>
          <a:lstStyle/>
          <a:p>
            <a:pPr algn="ctr" indent="0" marL="0">
              <a:buNone/>
            </a:pPr>
            <a:r>
              <a:rPr lang="en-US" sz="1800" b="1" dirty="0">
                <a:solidFill>
                  <a:srgbClr val="6D2E46"/>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463040" y="1764792"/>
            <a:ext cx="9966960" cy="502920"/>
          </a:xfrm>
          <a:prstGeom prst="rect">
            <a:avLst/>
          </a:prstGeom>
          <a:noFill/>
          <a:ln/>
        </p:spPr>
        <p:txBody>
          <a:bodyPr wrap="square" lIns="0" tIns="0" rIns="0" bIns="0" rtlCol="0" anchor="ctr"/>
          <a:lstStyle/>
          <a:p>
            <a:pPr indent="0" marL="0">
              <a:buNone/>
            </a:pPr>
            <a:r>
              <a:rPr lang="en-US" sz="1650" b="1" dirty="0">
                <a:solidFill>
                  <a:srgbClr val="C89B3C"/>
                </a:solidFill>
                <a:latin typeface="Calibri" pitchFamily="34" charset="0"/>
                <a:ea typeface="Calibri" pitchFamily="34" charset="-122"/>
                <a:cs typeface="Calibri" pitchFamily="34" charset="-120"/>
              </a:rPr>
              <a:t>HARD   </a:t>
            </a:r>
            <a:pPr indent="0" marL="0">
              <a:buNone/>
            </a:pPr>
            <a:r>
              <a:rPr lang="en-US" sz="1650" dirty="0">
                <a:solidFill>
                  <a:srgbClr val="FFFFFF"/>
                </a:solidFill>
                <a:latin typeface="Calibri" pitchFamily="34" charset="0"/>
                <a:ea typeface="Calibri" pitchFamily="34" charset="-122"/>
                <a:cs typeface="Calibri" pitchFamily="34" charset="-120"/>
              </a:rPr>
              <a:t>Real climate signal, buried in enormous noise.</a:t>
            </a:r>
            <a:endParaRPr lang="en-US" sz="1650" dirty="0"/>
          </a:p>
        </p:txBody>
      </p:sp>
      <p:sp>
        <p:nvSpPr>
          <p:cNvPr id="7" name="Shape 5"/>
          <p:cNvSpPr/>
          <p:nvPr/>
        </p:nvSpPr>
        <p:spPr>
          <a:xfrm>
            <a:off x="822960" y="2441448"/>
            <a:ext cx="457200" cy="457200"/>
          </a:xfrm>
          <a:prstGeom prst="ellipse">
            <a:avLst/>
          </a:prstGeom>
          <a:solidFill>
            <a:srgbClr val="C89B3C"/>
          </a:solidFill>
          <a:ln/>
        </p:spPr>
      </p:sp>
      <p:sp>
        <p:nvSpPr>
          <p:cNvPr id="8" name="Text 6"/>
          <p:cNvSpPr/>
          <p:nvPr/>
        </p:nvSpPr>
        <p:spPr>
          <a:xfrm>
            <a:off x="822960" y="2441448"/>
            <a:ext cx="457200" cy="457200"/>
          </a:xfrm>
          <a:prstGeom prst="rect">
            <a:avLst/>
          </a:prstGeom>
          <a:noFill/>
          <a:ln/>
        </p:spPr>
        <p:txBody>
          <a:bodyPr wrap="square" lIns="0" tIns="0" rIns="0" bIns="0" rtlCol="0" anchor="ctr"/>
          <a:lstStyle/>
          <a:p>
            <a:pPr algn="ctr" indent="0" marL="0">
              <a:buNone/>
            </a:pPr>
            <a:r>
              <a:rPr lang="en-US" sz="1800" b="1" dirty="0">
                <a:solidFill>
                  <a:srgbClr val="6D2E46"/>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1463040" y="2423160"/>
            <a:ext cx="9966960" cy="502920"/>
          </a:xfrm>
          <a:prstGeom prst="rect">
            <a:avLst/>
          </a:prstGeom>
          <a:noFill/>
          <a:ln/>
        </p:spPr>
        <p:txBody>
          <a:bodyPr wrap="square" lIns="0" tIns="0" rIns="0" bIns="0" rtlCol="0" anchor="ctr"/>
          <a:lstStyle/>
          <a:p>
            <a:pPr indent="0" marL="0">
              <a:buNone/>
            </a:pPr>
            <a:r>
              <a:rPr lang="en-US" sz="1650" b="1" dirty="0">
                <a:solidFill>
                  <a:srgbClr val="C89B3C"/>
                </a:solidFill>
                <a:latin typeface="Calibri" pitchFamily="34" charset="0"/>
                <a:ea typeface="Calibri" pitchFamily="34" charset="-122"/>
                <a:cs typeface="Calibri" pitchFamily="34" charset="-120"/>
              </a:rPr>
              <a:t>AUDITABLE   </a:t>
            </a:r>
            <a:pPr indent="0" marL="0">
              <a:buNone/>
            </a:pPr>
            <a:r>
              <a:rPr lang="en-US" sz="1650" dirty="0">
                <a:solidFill>
                  <a:srgbClr val="FFFFFF"/>
                </a:solidFill>
                <a:latin typeface="Calibri" pitchFamily="34" charset="0"/>
                <a:ea typeface="Calibri" pitchFamily="34" charset="-122"/>
                <a:cs typeface="Calibri" pitchFamily="34" charset="-120"/>
              </a:rPr>
              <a:t>I chose rules you can question, not a black box.</a:t>
            </a:r>
            <a:endParaRPr lang="en-US" sz="1650" dirty="0"/>
          </a:p>
        </p:txBody>
      </p:sp>
      <p:sp>
        <p:nvSpPr>
          <p:cNvPr id="10" name="Shape 8"/>
          <p:cNvSpPr/>
          <p:nvPr/>
        </p:nvSpPr>
        <p:spPr>
          <a:xfrm>
            <a:off x="822960" y="3099816"/>
            <a:ext cx="457200" cy="457200"/>
          </a:xfrm>
          <a:prstGeom prst="ellipse">
            <a:avLst/>
          </a:prstGeom>
          <a:solidFill>
            <a:srgbClr val="C89B3C"/>
          </a:solidFill>
          <a:ln/>
        </p:spPr>
      </p:sp>
      <p:sp>
        <p:nvSpPr>
          <p:cNvPr id="11" name="Text 9"/>
          <p:cNvSpPr/>
          <p:nvPr/>
        </p:nvSpPr>
        <p:spPr>
          <a:xfrm>
            <a:off x="822960" y="3099816"/>
            <a:ext cx="457200" cy="457200"/>
          </a:xfrm>
          <a:prstGeom prst="rect">
            <a:avLst/>
          </a:prstGeom>
          <a:noFill/>
          <a:ln/>
        </p:spPr>
        <p:txBody>
          <a:bodyPr wrap="square" lIns="0" tIns="0" rIns="0" bIns="0" rtlCol="0" anchor="ctr"/>
          <a:lstStyle/>
          <a:p>
            <a:pPr algn="ctr" indent="0" marL="0">
              <a:buNone/>
            </a:pPr>
            <a:r>
              <a:rPr lang="en-US" sz="1800" b="1" dirty="0">
                <a:solidFill>
                  <a:srgbClr val="6D2E46"/>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1463040" y="3081528"/>
            <a:ext cx="9966960" cy="502920"/>
          </a:xfrm>
          <a:prstGeom prst="rect">
            <a:avLst/>
          </a:prstGeom>
          <a:noFill/>
          <a:ln/>
        </p:spPr>
        <p:txBody>
          <a:bodyPr wrap="square" lIns="0" tIns="0" rIns="0" bIns="0" rtlCol="0" anchor="ctr"/>
          <a:lstStyle/>
          <a:p>
            <a:pPr indent="0" marL="0">
              <a:buNone/>
            </a:pPr>
            <a:r>
              <a:rPr lang="en-US" sz="1650" b="1" dirty="0">
                <a:solidFill>
                  <a:srgbClr val="C89B3C"/>
                </a:solidFill>
                <a:latin typeface="Calibri" pitchFamily="34" charset="0"/>
                <a:ea typeface="Calibri" pitchFamily="34" charset="-122"/>
                <a:cs typeface="Calibri" pitchFamily="34" charset="-120"/>
              </a:rPr>
              <a:t>REAL   </a:t>
            </a:r>
            <a:pPr indent="0" marL="0">
              <a:buNone/>
            </a:pPr>
            <a:r>
              <a:rPr lang="en-US" sz="1650" dirty="0">
                <a:solidFill>
                  <a:srgbClr val="FFFFFF"/>
                </a:solidFill>
                <a:latin typeface="Calibri" pitchFamily="34" charset="0"/>
                <a:ea typeface="Calibri" pitchFamily="34" charset="-122"/>
                <a:cs typeface="Calibri" pitchFamily="34" charset="-120"/>
              </a:rPr>
              <a:t>68 rules · three algorithms agree · survive stress-testing.</a:t>
            </a:r>
            <a:endParaRPr lang="en-US" sz="1650" dirty="0"/>
          </a:p>
        </p:txBody>
      </p:sp>
      <p:sp>
        <p:nvSpPr>
          <p:cNvPr id="13" name="Shape 11"/>
          <p:cNvSpPr/>
          <p:nvPr/>
        </p:nvSpPr>
        <p:spPr>
          <a:xfrm>
            <a:off x="822960" y="3758184"/>
            <a:ext cx="457200" cy="457200"/>
          </a:xfrm>
          <a:prstGeom prst="ellipse">
            <a:avLst/>
          </a:prstGeom>
          <a:solidFill>
            <a:srgbClr val="C89B3C"/>
          </a:solidFill>
          <a:ln/>
        </p:spPr>
      </p:sp>
      <p:sp>
        <p:nvSpPr>
          <p:cNvPr id="14" name="Text 12"/>
          <p:cNvSpPr/>
          <p:nvPr/>
        </p:nvSpPr>
        <p:spPr>
          <a:xfrm>
            <a:off x="822960" y="3758184"/>
            <a:ext cx="457200" cy="457200"/>
          </a:xfrm>
          <a:prstGeom prst="rect">
            <a:avLst/>
          </a:prstGeom>
          <a:noFill/>
          <a:ln/>
        </p:spPr>
        <p:txBody>
          <a:bodyPr wrap="square" lIns="0" tIns="0" rIns="0" bIns="0" rtlCol="0" anchor="ctr"/>
          <a:lstStyle/>
          <a:p>
            <a:pPr algn="ctr" indent="0" marL="0">
              <a:buNone/>
            </a:pPr>
            <a:r>
              <a:rPr lang="en-US" sz="1800" b="1" dirty="0">
                <a:solidFill>
                  <a:srgbClr val="6D2E46"/>
                </a:solidFill>
                <a:latin typeface="Cambria" pitchFamily="34" charset="0"/>
                <a:ea typeface="Cambria" pitchFamily="34" charset="-122"/>
                <a:cs typeface="Cambria" pitchFamily="34" charset="-120"/>
              </a:rPr>
              <a:t>4</a:t>
            </a:r>
            <a:endParaRPr lang="en-US" sz="1800" dirty="0"/>
          </a:p>
        </p:txBody>
      </p:sp>
      <p:sp>
        <p:nvSpPr>
          <p:cNvPr id="15" name="Text 13"/>
          <p:cNvSpPr/>
          <p:nvPr/>
        </p:nvSpPr>
        <p:spPr>
          <a:xfrm>
            <a:off x="1463040" y="3739896"/>
            <a:ext cx="9966960" cy="502920"/>
          </a:xfrm>
          <a:prstGeom prst="rect">
            <a:avLst/>
          </a:prstGeom>
          <a:noFill/>
          <a:ln/>
        </p:spPr>
        <p:txBody>
          <a:bodyPr wrap="square" lIns="0" tIns="0" rIns="0" bIns="0" rtlCol="0" anchor="ctr"/>
          <a:lstStyle/>
          <a:p>
            <a:pPr indent="0" marL="0">
              <a:buNone/>
            </a:pPr>
            <a:r>
              <a:rPr lang="en-US" sz="1650" b="1" dirty="0">
                <a:solidFill>
                  <a:srgbClr val="C89B3C"/>
                </a:solidFill>
                <a:latin typeface="Calibri" pitchFamily="34" charset="0"/>
                <a:ea typeface="Calibri" pitchFamily="34" charset="-122"/>
                <a:cs typeface="Calibri" pitchFamily="34" charset="-120"/>
              </a:rPr>
              <a:t>LAWFUL FAILURE   </a:t>
            </a:r>
            <a:pPr indent="0" marL="0">
              <a:buNone/>
            </a:pPr>
            <a:r>
              <a:rPr lang="en-US" sz="1650" dirty="0">
                <a:solidFill>
                  <a:srgbClr val="FFFFFF"/>
                </a:solidFill>
                <a:latin typeface="Calibri" pitchFamily="34" charset="0"/>
                <a:ea typeface="Calibri" pitchFamily="34" charset="-122"/>
                <a:cs typeface="Calibri" pitchFamily="34" charset="-120"/>
              </a:rPr>
              <a:t>They don't predict — the two-decision trade-off says why.</a:t>
            </a:r>
            <a:endParaRPr lang="en-US" sz="1650" dirty="0"/>
          </a:p>
        </p:txBody>
      </p:sp>
      <p:sp>
        <p:nvSpPr>
          <p:cNvPr id="16" name="Shape 14"/>
          <p:cNvSpPr/>
          <p:nvPr/>
        </p:nvSpPr>
        <p:spPr>
          <a:xfrm>
            <a:off x="822960" y="4416552"/>
            <a:ext cx="457200" cy="457200"/>
          </a:xfrm>
          <a:prstGeom prst="ellipse">
            <a:avLst/>
          </a:prstGeom>
          <a:solidFill>
            <a:srgbClr val="C89B3C"/>
          </a:solidFill>
          <a:ln/>
        </p:spPr>
      </p:sp>
      <p:sp>
        <p:nvSpPr>
          <p:cNvPr id="17" name="Text 15"/>
          <p:cNvSpPr/>
          <p:nvPr/>
        </p:nvSpPr>
        <p:spPr>
          <a:xfrm>
            <a:off x="822960" y="4416552"/>
            <a:ext cx="457200" cy="457200"/>
          </a:xfrm>
          <a:prstGeom prst="rect">
            <a:avLst/>
          </a:prstGeom>
          <a:noFill/>
          <a:ln/>
        </p:spPr>
        <p:txBody>
          <a:bodyPr wrap="square" lIns="0" tIns="0" rIns="0" bIns="0" rtlCol="0" anchor="ctr"/>
          <a:lstStyle/>
          <a:p>
            <a:pPr algn="ctr" indent="0" marL="0">
              <a:buNone/>
            </a:pPr>
            <a:r>
              <a:rPr lang="en-US" sz="1800" b="1" dirty="0">
                <a:solidFill>
                  <a:srgbClr val="6D2E46"/>
                </a:solidFill>
                <a:latin typeface="Cambria" pitchFamily="34" charset="0"/>
                <a:ea typeface="Cambria" pitchFamily="34" charset="-122"/>
                <a:cs typeface="Cambria" pitchFamily="34" charset="-120"/>
              </a:rPr>
              <a:t>5</a:t>
            </a:r>
            <a:endParaRPr lang="en-US" sz="1800" dirty="0"/>
          </a:p>
        </p:txBody>
      </p:sp>
      <p:sp>
        <p:nvSpPr>
          <p:cNvPr id="18" name="Text 16"/>
          <p:cNvSpPr/>
          <p:nvPr/>
        </p:nvSpPr>
        <p:spPr>
          <a:xfrm>
            <a:off x="1463040" y="4398264"/>
            <a:ext cx="9966960" cy="502920"/>
          </a:xfrm>
          <a:prstGeom prst="rect">
            <a:avLst/>
          </a:prstGeom>
          <a:noFill/>
          <a:ln/>
        </p:spPr>
        <p:txBody>
          <a:bodyPr wrap="square" lIns="0" tIns="0" rIns="0" bIns="0" rtlCol="0" anchor="ctr"/>
          <a:lstStyle/>
          <a:p>
            <a:pPr indent="0" marL="0">
              <a:buNone/>
            </a:pPr>
            <a:r>
              <a:rPr lang="en-US" sz="1650" b="1" dirty="0">
                <a:solidFill>
                  <a:srgbClr val="C89B3C"/>
                </a:solidFill>
                <a:latin typeface="Calibri" pitchFamily="34" charset="0"/>
                <a:ea typeface="Calibri" pitchFamily="34" charset="-122"/>
                <a:cs typeface="Calibri" pitchFamily="34" charset="-120"/>
              </a:rPr>
              <a:t>DIAGNOSIS   </a:t>
            </a:r>
            <a:pPr indent="0" marL="0">
              <a:buNone/>
            </a:pPr>
            <a:r>
              <a:rPr lang="en-US" sz="1650" dirty="0">
                <a:solidFill>
                  <a:srgbClr val="FFFFFF"/>
                </a:solidFill>
                <a:latin typeface="Calibri" pitchFamily="34" charset="0"/>
                <a:ea typeface="Calibri" pitchFamily="34" charset="-122"/>
                <a:cs typeface="Calibri" pitchFamily="34" charset="-120"/>
              </a:rPr>
              <a:t>The contribution is knowing where to fix it — and it transfers.</a:t>
            </a:r>
            <a:endParaRPr lang="en-US" sz="1650" dirty="0"/>
          </a:p>
        </p:txBody>
      </p:sp>
      <p:sp>
        <p:nvSpPr>
          <p:cNvPr id="19" name="Text 17"/>
          <p:cNvSpPr/>
          <p:nvPr/>
        </p:nvSpPr>
        <p:spPr>
          <a:xfrm>
            <a:off x="822960" y="5257800"/>
            <a:ext cx="10515600" cy="548640"/>
          </a:xfrm>
          <a:prstGeom prst="rect">
            <a:avLst/>
          </a:prstGeom>
          <a:noFill/>
          <a:ln/>
        </p:spPr>
        <p:txBody>
          <a:bodyPr wrap="square" lIns="0" tIns="0" rIns="0" bIns="0" rtlCol="0" anchor="ctr"/>
          <a:lstStyle/>
          <a:p>
            <a:pPr indent="0" marL="0">
              <a:buNone/>
            </a:pPr>
            <a:r>
              <a:rPr lang="en-US" sz="1700" b="1" i="1" dirty="0">
                <a:solidFill>
                  <a:srgbClr val="C89B3C"/>
                </a:solidFill>
                <a:latin typeface="Cambria" pitchFamily="34" charset="0"/>
                <a:ea typeface="Cambria" pitchFamily="34" charset="-122"/>
                <a:cs typeface="Cambria" pitchFamily="34" charset="-120"/>
              </a:rPr>
              <a:t>The contribution is the diagnosis — and it transfers to any structurally non-stationary time series.</a:t>
            </a:r>
            <a:endParaRPr lang="en-US" sz="1700" dirty="0"/>
          </a:p>
        </p:txBody>
      </p:sp>
      <p:sp>
        <p:nvSpPr>
          <p:cNvPr id="20" name="Text 18"/>
          <p:cNvSpPr/>
          <p:nvPr/>
        </p:nvSpPr>
        <p:spPr>
          <a:xfrm>
            <a:off x="822960" y="5989320"/>
            <a:ext cx="10515600" cy="457200"/>
          </a:xfrm>
          <a:prstGeom prst="rect">
            <a:avLst/>
          </a:prstGeom>
          <a:noFill/>
          <a:ln/>
        </p:spPr>
        <p:txBody>
          <a:bodyPr wrap="square" lIns="0" tIns="0" rIns="0" bIns="0" rtlCol="0" anchor="ctr"/>
          <a:lstStyle/>
          <a:p>
            <a:pPr indent="0" marL="0">
              <a:buNone/>
            </a:pPr>
            <a:r>
              <a:rPr lang="en-US" sz="1500" dirty="0">
                <a:solidFill>
                  <a:srgbClr val="E7D9C4"/>
                </a:solidFill>
                <a:latin typeface="Calibri" pitchFamily="34" charset="0"/>
                <a:ea typeface="Calibri" pitchFamily="34" charset="-122"/>
                <a:cs typeface="Calibri" pitchFamily="34" charset="-120"/>
              </a:rPr>
              <a:t>Thank you — I welcome your questions.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MSc Defense — Wine Production Forecasting with Rule-Based ML</dc:title>
  <dc:subject>PptxGenJS Presentation</dc:subject>
  <dc:creator>Hugo Filipe Queiróz Nogueira</dc:creator>
  <cp:lastModifiedBy>Hugo Filipe Queiróz Nogueira</cp:lastModifiedBy>
  <cp:revision>1</cp:revision>
  <dcterms:created xsi:type="dcterms:W3CDTF">2026-07-09T20:23:54Z</dcterms:created>
  <dcterms:modified xsi:type="dcterms:W3CDTF">2026-07-09T20:23:54Z</dcterms:modified>
</cp:coreProperties>
</file>