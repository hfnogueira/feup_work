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77" r:id="rId9"/>
    <p:sldId id="263" r:id="rId10"/>
    <p:sldId id="278" r:id="rId11"/>
    <p:sldId id="265" r:id="rId12"/>
    <p:sldId id="266" r:id="rId13"/>
    <p:sldId id="279" r:id="rId14"/>
    <p:sldId id="267" r:id="rId15"/>
    <p:sldId id="309" r:id="rId16"/>
    <p:sldId id="268" r:id="rId17"/>
    <p:sldId id="280" r:id="rId18"/>
    <p:sldId id="281" r:id="rId19"/>
    <p:sldId id="269" r:id="rId20"/>
    <p:sldId id="270" r:id="rId21"/>
    <p:sldId id="271" r:id="rId22"/>
    <p:sldId id="273" r:id="rId23"/>
    <p:sldId id="274" r:id="rId24"/>
    <p:sldId id="275" r:id="rId25"/>
    <p:sldId id="308" r:id="rId26"/>
    <p:sldId id="282" r:id="rId27"/>
    <p:sldId id="283" r:id="rId28"/>
    <p:sldId id="284" r:id="rId29"/>
    <p:sldId id="285" r:id="rId30"/>
    <p:sldId id="272" r:id="rId31"/>
    <p:sldId id="286" r:id="rId32"/>
    <p:sldId id="264"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AF50E8B-4349-6745-983E-C6BA7952CE16}">
          <p14:sldIdLst>
            <p14:sldId id="256"/>
            <p14:sldId id="257"/>
            <p14:sldId id="258"/>
            <p14:sldId id="259"/>
            <p14:sldId id="260"/>
            <p14:sldId id="261"/>
            <p14:sldId id="262"/>
            <p14:sldId id="277"/>
            <p14:sldId id="263"/>
            <p14:sldId id="278"/>
            <p14:sldId id="265"/>
            <p14:sldId id="266"/>
            <p14:sldId id="279"/>
            <p14:sldId id="267"/>
            <p14:sldId id="309"/>
            <p14:sldId id="268"/>
            <p14:sldId id="280"/>
            <p14:sldId id="281"/>
            <p14:sldId id="269"/>
            <p14:sldId id="270"/>
            <p14:sldId id="271"/>
            <p14:sldId id="273"/>
            <p14:sldId id="274"/>
            <p14:sldId id="275"/>
            <p14:sldId id="308"/>
          </p14:sldIdLst>
        </p14:section>
        <p14:section name="graveyard" id="{9CDE9253-B376-9546-8D27-9E6E8F417752}">
          <p14:sldIdLst>
            <p14:sldId id="282"/>
            <p14:sldId id="283"/>
            <p14:sldId id="284"/>
            <p14:sldId id="285"/>
            <p14:sldId id="272"/>
            <p14:sldId id="286"/>
            <p14:sldId id="264"/>
            <p14:sldId id="287"/>
            <p14:sldId id="288"/>
            <p14:sldId id="289"/>
            <p14:sldId id="290"/>
            <p14:sldId id="291"/>
            <p14:sldId id="292"/>
            <p14:sldId id="293"/>
            <p14:sldId id="294"/>
            <p14:sldId id="295"/>
            <p14:sldId id="296"/>
            <p14:sldId id="297"/>
            <p14:sldId id="298"/>
            <p14:sldId id="299"/>
            <p14:sldId id="300"/>
            <p14:sldId id="301"/>
            <p14:sldId id="302"/>
            <p14:sldId id="303"/>
            <p14:sldId id="304"/>
            <p14:sldId id="305"/>
            <p14:sldId id="306"/>
            <p14:sldId id="30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5468"/>
    <a:srgbClr val="F5E9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40"/>
    <p:restoredTop sz="79157"/>
  </p:normalViewPr>
  <p:slideViewPr>
    <p:cSldViewPr snapToGrid="0">
      <p:cViewPr varScale="1">
        <p:scale>
          <a:sx n="124" d="100"/>
          <a:sy n="124" d="100"/>
        </p:scale>
        <p:origin x="1416" y="184"/>
      </p:cViewPr>
      <p:guideLst/>
    </p:cSldViewPr>
  </p:slideViewPr>
  <p:notesTextViewPr>
    <p:cViewPr>
      <p:scale>
        <a:sx n="1" d="1"/>
        <a:sy n="1" d="1"/>
      </p:scale>
      <p:origin x="0" y="0"/>
    </p:cViewPr>
  </p:notesTextViewPr>
  <p:sorterViewPr>
    <p:cViewPr>
      <p:scale>
        <a:sx n="98" d="100"/>
        <a:sy n="98"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a:effectLst/>
          </c:spPr>
          <c:invertIfNegative val="0"/>
          <c:dPt>
            <c:idx val="0"/>
            <c:invertIfNegative val="0"/>
            <c:bubble3D val="0"/>
            <c:extLst>
              <c:ext xmlns:c16="http://schemas.microsoft.com/office/drawing/2014/chart" uri="{C3380CC4-5D6E-409C-BE32-E72D297353CC}">
                <c16:uniqueId val="{00000001-3EC9-844A-ADAA-0C3099731595}"/>
              </c:ext>
            </c:extLst>
          </c:dPt>
          <c:dPt>
            <c:idx val="1"/>
            <c:invertIfNegative val="0"/>
            <c:bubble3D val="0"/>
            <c:spPr>
              <a:solidFill>
                <a:srgbClr val="0D7377"/>
              </a:solidFill>
              <a:effectLst/>
            </c:spPr>
            <c:extLst>
              <c:ext xmlns:c16="http://schemas.microsoft.com/office/drawing/2014/chart" uri="{C3380CC4-5D6E-409C-BE32-E72D297353CC}">
                <c16:uniqueId val="{00000003-3EC9-844A-ADAA-0C3099731595}"/>
              </c:ext>
            </c:extLst>
          </c:dPt>
          <c:dPt>
            <c:idx val="2"/>
            <c:invertIfNegative val="0"/>
            <c:bubble3D val="0"/>
            <c:spPr>
              <a:solidFill>
                <a:srgbClr val="8AAAB5"/>
              </a:solidFill>
              <a:effectLst/>
            </c:spPr>
            <c:extLst>
              <c:ext xmlns:c16="http://schemas.microsoft.com/office/drawing/2014/chart" uri="{C3380CC4-5D6E-409C-BE32-E72D297353CC}">
                <c16:uniqueId val="{00000005-3EC9-844A-ADAA-0C3099731595}"/>
              </c:ext>
            </c:extLst>
          </c:dPt>
          <c:dPt>
            <c:idx val="3"/>
            <c:invertIfNegative val="0"/>
            <c:bubble3D val="0"/>
            <c:spPr>
              <a:solidFill>
                <a:srgbClr val="8AAAB5"/>
              </a:solidFill>
              <a:effectLst/>
            </c:spPr>
            <c:extLst>
              <c:ext xmlns:c16="http://schemas.microsoft.com/office/drawing/2014/chart" uri="{C3380CC4-5D6E-409C-BE32-E72D297353CC}">
                <c16:uniqueId val="{00000007-3EC9-844A-ADAA-0C3099731595}"/>
              </c:ext>
            </c:extLst>
          </c:dPt>
          <c:dPt>
            <c:idx val="4"/>
            <c:invertIfNegative val="0"/>
            <c:bubble3D val="0"/>
            <c:spPr>
              <a:solidFill>
                <a:srgbClr val="B03A2E"/>
              </a:solidFill>
              <a:effectLst/>
            </c:spPr>
            <c:extLst>
              <c:ext xmlns:c16="http://schemas.microsoft.com/office/drawing/2014/chart" uri="{C3380CC4-5D6E-409C-BE32-E72D297353CC}">
                <c16:uniqueId val="{00000009-3EC9-844A-ADAA-0C3099731595}"/>
              </c:ext>
            </c:extLst>
          </c:dPt>
          <c:dPt>
            <c:idx val="5"/>
            <c:invertIfNegative val="0"/>
            <c:bubble3D val="0"/>
            <c:spPr>
              <a:solidFill>
                <a:srgbClr val="8B2222"/>
              </a:solidFill>
              <a:effectLst/>
            </c:spPr>
            <c:extLst>
              <c:ext xmlns:c16="http://schemas.microsoft.com/office/drawing/2014/chart" uri="{C3380CC4-5D6E-409C-BE32-E72D297353CC}">
                <c16:uniqueId val="{0000000B-3EC9-844A-ADAA-0C3099731595}"/>
              </c:ext>
            </c:extLst>
          </c:dPt>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Naive_Median
(baseline)</c:v>
                </c:pt>
                <c:pt idx="1">
                  <c:v>CarenR
Eta2</c:v>
                </c:pt>
                <c:pt idx="2">
                  <c:v>Naive
MA</c:v>
                </c:pt>
                <c:pt idx="3">
                  <c:v>M5
Rules</c:v>
                </c:pt>
                <c:pt idx="4">
                  <c:v>DT</c:v>
                </c:pt>
                <c:pt idx="5">
                  <c:v>RIPPER</c:v>
                </c:pt>
              </c:strCache>
            </c:strRef>
          </c:cat>
          <c:val>
            <c:numRef>
              <c:f>Sheet1!$B$2:$B$7</c:f>
              <c:numCache>
                <c:formatCode>General</c:formatCode>
                <c:ptCount val="6"/>
                <c:pt idx="0">
                  <c:v>184</c:v>
                </c:pt>
                <c:pt idx="1">
                  <c:v>189</c:v>
                </c:pt>
                <c:pt idx="2">
                  <c:v>195</c:v>
                </c:pt>
                <c:pt idx="3">
                  <c:v>200</c:v>
                </c:pt>
                <c:pt idx="4">
                  <c:v>250</c:v>
                </c:pt>
                <c:pt idx="5">
                  <c:v>279</c:v>
                </c:pt>
              </c:numCache>
            </c:numRef>
          </c:val>
          <c:extLst>
            <c:ext xmlns:c16="http://schemas.microsoft.com/office/drawing/2014/chart" uri="{C3380CC4-5D6E-409C-BE32-E72D297353CC}">
              <c16:uniqueId val="{0000000C-3EC9-844A-ADAA-0C309973159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310"/>
          <c:min val="15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c:style val="2"/>
  <c:chart>
    <c:autoTitleDeleted val="1"/>
    <c:plotArea>
      <c:layout/>
      <c:barChart>
        <c:barDir val="col"/>
        <c:grouping val="clustered"/>
        <c:varyColors val="0"/>
        <c:ser>
          <c:idx val="0"/>
          <c:order val="0"/>
          <c:tx>
            <c:strRef>
              <c:f>Sheet1!$B$1</c:f>
              <c:strCache>
                <c:ptCount val="1"/>
                <c:pt idx="0">
                  <c:v>Wtd MAE</c:v>
                </c:pt>
              </c:strCache>
            </c:strRef>
          </c:tx>
          <c:spPr>
            <a:solidFill>
              <a:srgbClr val="D4A853"/>
            </a:solidFill>
            <a:effectLst/>
          </c:spPr>
          <c:invertIfNegative val="0"/>
          <c:dPt>
            <c:idx val="0"/>
            <c:invertIfNegative val="0"/>
            <c:bubble3D val="0"/>
            <c:extLst>
              <c:ext xmlns:c16="http://schemas.microsoft.com/office/drawing/2014/chart" uri="{C3380CC4-5D6E-409C-BE32-E72D297353CC}">
                <c16:uniqueId val="{00000001-EB0B-124C-A82C-D7C62DE8AB7B}"/>
              </c:ext>
            </c:extLst>
          </c:dPt>
          <c:dPt>
            <c:idx val="1"/>
            <c:invertIfNegative val="0"/>
            <c:bubble3D val="0"/>
            <c:spPr>
              <a:solidFill>
                <a:srgbClr val="0D7377"/>
              </a:solidFill>
              <a:effectLst/>
            </c:spPr>
            <c:extLst>
              <c:ext xmlns:c16="http://schemas.microsoft.com/office/drawing/2014/chart" uri="{C3380CC4-5D6E-409C-BE32-E72D297353CC}">
                <c16:uniqueId val="{00000003-EB0B-124C-A82C-D7C62DE8AB7B}"/>
              </c:ext>
            </c:extLst>
          </c:dPt>
          <c:dPt>
            <c:idx val="2"/>
            <c:invertIfNegative val="0"/>
            <c:bubble3D val="0"/>
            <c:spPr>
              <a:solidFill>
                <a:srgbClr val="8AAAB5"/>
              </a:solidFill>
              <a:effectLst/>
            </c:spPr>
            <c:extLst>
              <c:ext xmlns:c16="http://schemas.microsoft.com/office/drawing/2014/chart" uri="{C3380CC4-5D6E-409C-BE32-E72D297353CC}">
                <c16:uniqueId val="{00000005-EB0B-124C-A82C-D7C62DE8AB7B}"/>
              </c:ext>
            </c:extLst>
          </c:dPt>
          <c:dPt>
            <c:idx val="3"/>
            <c:invertIfNegative val="0"/>
            <c:bubble3D val="0"/>
            <c:spPr>
              <a:solidFill>
                <a:srgbClr val="8AAAB5"/>
              </a:solidFill>
              <a:effectLst/>
            </c:spPr>
            <c:extLst>
              <c:ext xmlns:c16="http://schemas.microsoft.com/office/drawing/2014/chart" uri="{C3380CC4-5D6E-409C-BE32-E72D297353CC}">
                <c16:uniqueId val="{00000007-EB0B-124C-A82C-D7C62DE8AB7B}"/>
              </c:ext>
            </c:extLst>
          </c:dPt>
          <c:dPt>
            <c:idx val="4"/>
            <c:invertIfNegative val="0"/>
            <c:bubble3D val="0"/>
            <c:spPr>
              <a:solidFill>
                <a:srgbClr val="B03A2E"/>
              </a:solidFill>
              <a:effectLst/>
            </c:spPr>
            <c:extLst>
              <c:ext xmlns:c16="http://schemas.microsoft.com/office/drawing/2014/chart" uri="{C3380CC4-5D6E-409C-BE32-E72D297353CC}">
                <c16:uniqueId val="{00000009-EB0B-124C-A82C-D7C62DE8AB7B}"/>
              </c:ext>
            </c:extLst>
          </c:dPt>
          <c:dPt>
            <c:idx val="5"/>
            <c:invertIfNegative val="0"/>
            <c:bubble3D val="0"/>
            <c:spPr>
              <a:solidFill>
                <a:srgbClr val="8B2222"/>
              </a:solidFill>
              <a:effectLst/>
            </c:spPr>
            <c:extLst>
              <c:ext xmlns:c16="http://schemas.microsoft.com/office/drawing/2014/chart" uri="{C3380CC4-5D6E-409C-BE32-E72D297353CC}">
                <c16:uniqueId val="{0000000B-EB0B-124C-A82C-D7C62DE8AB7B}"/>
              </c:ext>
            </c:extLst>
          </c:dPt>
          <c:dPt>
            <c:idx val="6"/>
            <c:invertIfNegative val="0"/>
            <c:bubble3D val="0"/>
            <c:spPr>
              <a:solidFill>
                <a:srgbClr val="8B2222"/>
              </a:solidFill>
              <a:effectLst/>
            </c:spPr>
            <c:extLst>
              <c:ext xmlns:c16="http://schemas.microsoft.com/office/drawing/2014/chart" uri="{C3380CC4-5D6E-409C-BE32-E72D297353CC}">
                <c16:uniqueId val="{0000000D-EB0B-124C-A82C-D7C62DE8AB7B}"/>
              </c:ext>
            </c:extLst>
          </c:dPt>
          <c:dLbls>
            <c:numFmt formatCode="#,##0" sourceLinked="0"/>
            <c:spPr>
              <a:noFill/>
              <a:ln>
                <a:noFill/>
              </a:ln>
              <a:effectLst/>
            </c:spPr>
            <c:txPr>
              <a:bodyPr/>
              <a:lstStyle/>
              <a:p>
                <a:pPr>
                  <a:defRPr sz="8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
(baseline)</c:v>
                </c:pt>
                <c:pt idx="1">
                  <c:v>CarenR
Sup_FS</c:v>
                </c:pt>
                <c:pt idx="2">
                  <c:v>Naive
MA</c:v>
                </c:pt>
                <c:pt idx="3">
                  <c:v>M5
Rules</c:v>
                </c:pt>
                <c:pt idx="4">
                  <c:v>CarenR
Eta2</c:v>
                </c:pt>
                <c:pt idx="5">
                  <c:v>DT</c:v>
                </c:pt>
                <c:pt idx="6">
                  <c:v>RIPPER</c:v>
                </c:pt>
              </c:strCache>
            </c:strRef>
          </c:cat>
          <c:val>
            <c:numRef>
              <c:f>Sheet1!$B$2:$B$8</c:f>
              <c:numCache>
                <c:formatCode>General</c:formatCode>
                <c:ptCount val="7"/>
                <c:pt idx="0">
                  <c:v>140</c:v>
                </c:pt>
                <c:pt idx="1">
                  <c:v>172</c:v>
                </c:pt>
                <c:pt idx="2">
                  <c:v>171</c:v>
                </c:pt>
                <c:pt idx="3">
                  <c:v>268</c:v>
                </c:pt>
                <c:pt idx="4">
                  <c:v>226</c:v>
                </c:pt>
                <c:pt idx="5">
                  <c:v>479</c:v>
                </c:pt>
                <c:pt idx="6">
                  <c:v>508</c:v>
                </c:pt>
              </c:numCache>
            </c:numRef>
          </c:val>
          <c:extLst>
            <c:ext xmlns:c16="http://schemas.microsoft.com/office/drawing/2014/chart" uri="{C3380CC4-5D6E-409C-BE32-E72D297353CC}">
              <c16:uniqueId val="{0000000E-EB0B-124C-A82C-D7C62DE8AB7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560"/>
          <c:min val="10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6B2737"/>
            </a:solidFill>
            <a:effectLst/>
          </c:spPr>
          <c:invertIfNegative val="0"/>
          <c:dPt>
            <c:idx val="0"/>
            <c:invertIfNegative val="0"/>
            <c:bubble3D val="0"/>
            <c:extLst>
              <c:ext xmlns:c16="http://schemas.microsoft.com/office/drawing/2014/chart" uri="{C3380CC4-5D6E-409C-BE32-E72D297353CC}">
                <c16:uniqueId val="{00000001-7B32-A542-9370-271C0B1F2654}"/>
              </c:ext>
            </c:extLst>
          </c:dPt>
          <c:dPt>
            <c:idx val="1"/>
            <c:invertIfNegative val="0"/>
            <c:bubble3D val="0"/>
            <c:spPr>
              <a:solidFill>
                <a:srgbClr val="9A8E8B"/>
              </a:solidFill>
              <a:effectLst/>
            </c:spPr>
            <c:extLst>
              <c:ext xmlns:c16="http://schemas.microsoft.com/office/drawing/2014/chart" uri="{C3380CC4-5D6E-409C-BE32-E72D297353CC}">
                <c16:uniqueId val="{00000003-7B32-A542-9370-271C0B1F2654}"/>
              </c:ext>
            </c:extLst>
          </c:dPt>
          <c:dPt>
            <c:idx val="2"/>
            <c:invertIfNegative val="0"/>
            <c:bubble3D val="0"/>
            <c:spPr>
              <a:solidFill>
                <a:srgbClr val="9A8E8B"/>
              </a:solidFill>
              <a:effectLst/>
            </c:spPr>
            <c:extLst>
              <c:ext xmlns:c16="http://schemas.microsoft.com/office/drawing/2014/chart" uri="{C3380CC4-5D6E-409C-BE32-E72D297353CC}">
                <c16:uniqueId val="{00000005-7B32-A542-9370-271C0B1F2654}"/>
              </c:ext>
            </c:extLst>
          </c:dPt>
          <c:dPt>
            <c:idx val="3"/>
            <c:invertIfNegative val="0"/>
            <c:bubble3D val="0"/>
            <c:spPr>
              <a:solidFill>
                <a:srgbClr val="9A8E8B"/>
              </a:solidFill>
              <a:effectLst/>
            </c:spPr>
            <c:extLst>
              <c:ext xmlns:c16="http://schemas.microsoft.com/office/drawing/2014/chart" uri="{C3380CC4-5D6E-409C-BE32-E72D297353CC}">
                <c16:uniqueId val="{00000007-7B32-A542-9370-271C0B1F2654}"/>
              </c:ext>
            </c:extLst>
          </c:dPt>
          <c:dPt>
            <c:idx val="4"/>
            <c:invertIfNegative val="0"/>
            <c:bubble3D val="0"/>
            <c:spPr>
              <a:solidFill>
                <a:srgbClr val="9A8E8B"/>
              </a:solidFill>
              <a:effectLst/>
            </c:spPr>
            <c:extLst>
              <c:ext xmlns:c16="http://schemas.microsoft.com/office/drawing/2014/chart" uri="{C3380CC4-5D6E-409C-BE32-E72D297353CC}">
                <c16:uniqueId val="{00000009-7B32-A542-9370-271C0B1F2654}"/>
              </c:ext>
            </c:extLst>
          </c:dPt>
          <c:dPt>
            <c:idx val="5"/>
            <c:invertIfNegative val="0"/>
            <c:bubble3D val="0"/>
            <c:spPr>
              <a:solidFill>
                <a:srgbClr val="B74A4A"/>
              </a:solidFill>
              <a:effectLst/>
            </c:spPr>
            <c:extLst>
              <c:ext xmlns:c16="http://schemas.microsoft.com/office/drawing/2014/chart" uri="{C3380CC4-5D6E-409C-BE32-E72D297353CC}">
                <c16:uniqueId val="{0000000B-7B32-A542-9370-271C0B1F2654}"/>
              </c:ext>
            </c:extLst>
          </c:dPt>
          <c:dPt>
            <c:idx val="6"/>
            <c:invertIfNegative val="0"/>
            <c:bubble3D val="0"/>
            <c:spPr>
              <a:solidFill>
                <a:srgbClr val="B74A4A"/>
              </a:solidFill>
              <a:effectLst/>
            </c:spPr>
            <c:extLst>
              <c:ext xmlns:c16="http://schemas.microsoft.com/office/drawing/2014/chart" uri="{C3380CC4-5D6E-409C-BE32-E72D297353CC}">
                <c16:uniqueId val="{0000000D-7B32-A542-9370-271C0B1F2654}"/>
              </c:ext>
            </c:extLst>
          </c:dPt>
          <c:dLbls>
            <c:numFmt formatCode="#,##0" sourceLinked="0"/>
            <c:spPr>
              <a:noFill/>
              <a:ln>
                <a:noFill/>
              </a:ln>
              <a:effectLst/>
            </c:spPr>
            <c:txPr>
              <a:bodyPr/>
              <a:lstStyle/>
              <a:p>
                <a:pPr>
                  <a:defRPr sz="900" b="0" i="0" u="none" strike="noStrike">
                    <a:solidFill>
                      <a:srgbClr val="1C121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CarenR_Eta2</c:v>
                </c:pt>
                <c:pt idx="2">
                  <c:v>CarenR_FS</c:v>
                </c:pt>
                <c:pt idx="3">
                  <c:v>Naive_MA</c:v>
                </c:pt>
                <c:pt idx="4">
                  <c:v>M5Rules</c:v>
                </c:pt>
                <c:pt idx="5">
                  <c:v>Decision Tree</c:v>
                </c:pt>
                <c:pt idx="6">
                  <c:v>RIPPER</c:v>
                </c:pt>
              </c:strCache>
            </c:strRef>
          </c:cat>
          <c:val>
            <c:numRef>
              <c:f>Sheet1!$B$2:$B$8</c:f>
              <c:numCache>
                <c:formatCode>General</c:formatCode>
                <c:ptCount val="7"/>
                <c:pt idx="0">
                  <c:v>184</c:v>
                </c:pt>
                <c:pt idx="1">
                  <c:v>189.2</c:v>
                </c:pt>
                <c:pt idx="2">
                  <c:v>193.5</c:v>
                </c:pt>
                <c:pt idx="3">
                  <c:v>194.6</c:v>
                </c:pt>
                <c:pt idx="4">
                  <c:v>200</c:v>
                </c:pt>
                <c:pt idx="5">
                  <c:v>249.7</c:v>
                </c:pt>
                <c:pt idx="6">
                  <c:v>279.39999999999998</c:v>
                </c:pt>
              </c:numCache>
            </c:numRef>
          </c:val>
          <c:extLst>
            <c:ext xmlns:c16="http://schemas.microsoft.com/office/drawing/2014/chart" uri="{C3380CC4-5D6E-409C-BE32-E72D297353CC}">
              <c16:uniqueId val="{0000000E-7B32-A542-9370-271C0B1F265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C1214"/>
                </a:solidFill>
                <a:latin typeface="Arial"/>
              </a:defRPr>
            </a:pPr>
            <a:endParaRPr lang="en-US"/>
          </a:p>
        </c:txPr>
        <c:crossAx val="2094734552"/>
        <c:crosses val="autoZero"/>
        <c:auto val="1"/>
        <c:lblAlgn val="ctr"/>
        <c:lblOffset val="100"/>
        <c:noMultiLvlLbl val="1"/>
      </c:catAx>
      <c:valAx>
        <c:axId val="2094734552"/>
        <c:scaling>
          <c:orientation val="minMax"/>
          <c:min val="160"/>
        </c:scaling>
        <c:delete val="0"/>
        <c:axPos val="b"/>
        <c:majorGridlines>
          <c:spPr>
            <a:ln w="6350" cap="flat">
              <a:solidFill>
                <a:srgbClr val="D4CAC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404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2E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Weighted MAE (mhl)</c:v>
                </c:pt>
              </c:strCache>
            </c:strRef>
          </c:tx>
          <c:spPr>
            <a:solidFill>
              <a:srgbClr val="2A7F7F"/>
            </a:solidFill>
            <a:effectLst/>
          </c:spPr>
          <c:invertIfNegative val="0"/>
          <c:dPt>
            <c:idx val="0"/>
            <c:invertIfNegative val="0"/>
            <c:bubble3D val="0"/>
            <c:extLst>
              <c:ext xmlns:c16="http://schemas.microsoft.com/office/drawing/2014/chart" uri="{C3380CC4-5D6E-409C-BE32-E72D297353CC}">
                <c16:uniqueId val="{00000001-CA78-6841-8A5B-91D751F866B7}"/>
              </c:ext>
            </c:extLst>
          </c:dPt>
          <c:dPt>
            <c:idx val="1"/>
            <c:invertIfNegative val="0"/>
            <c:bubble3D val="0"/>
            <c:spPr>
              <a:solidFill>
                <a:srgbClr val="9A8E8B"/>
              </a:solidFill>
              <a:effectLst/>
            </c:spPr>
            <c:extLst>
              <c:ext xmlns:c16="http://schemas.microsoft.com/office/drawing/2014/chart" uri="{C3380CC4-5D6E-409C-BE32-E72D297353CC}">
                <c16:uniqueId val="{00000003-CA78-6841-8A5B-91D751F866B7}"/>
              </c:ext>
            </c:extLst>
          </c:dPt>
          <c:dPt>
            <c:idx val="2"/>
            <c:invertIfNegative val="0"/>
            <c:bubble3D val="0"/>
            <c:spPr>
              <a:solidFill>
                <a:srgbClr val="9A8E8B"/>
              </a:solidFill>
              <a:effectLst/>
            </c:spPr>
            <c:extLst>
              <c:ext xmlns:c16="http://schemas.microsoft.com/office/drawing/2014/chart" uri="{C3380CC4-5D6E-409C-BE32-E72D297353CC}">
                <c16:uniqueId val="{00000005-CA78-6841-8A5B-91D751F866B7}"/>
              </c:ext>
            </c:extLst>
          </c:dPt>
          <c:dPt>
            <c:idx val="3"/>
            <c:invertIfNegative val="0"/>
            <c:bubble3D val="0"/>
            <c:spPr>
              <a:solidFill>
                <a:srgbClr val="9A8E8B"/>
              </a:solidFill>
              <a:effectLst/>
            </c:spPr>
            <c:extLst>
              <c:ext xmlns:c16="http://schemas.microsoft.com/office/drawing/2014/chart" uri="{C3380CC4-5D6E-409C-BE32-E72D297353CC}">
                <c16:uniqueId val="{00000007-CA78-6841-8A5B-91D751F866B7}"/>
              </c:ext>
            </c:extLst>
          </c:dPt>
          <c:dPt>
            <c:idx val="4"/>
            <c:invertIfNegative val="0"/>
            <c:bubble3D val="0"/>
            <c:spPr>
              <a:solidFill>
                <a:srgbClr val="9A8E8B"/>
              </a:solidFill>
              <a:effectLst/>
            </c:spPr>
            <c:extLst>
              <c:ext xmlns:c16="http://schemas.microsoft.com/office/drawing/2014/chart" uri="{C3380CC4-5D6E-409C-BE32-E72D297353CC}">
                <c16:uniqueId val="{00000009-CA78-6841-8A5B-91D751F866B7}"/>
              </c:ext>
            </c:extLst>
          </c:dPt>
          <c:dPt>
            <c:idx val="5"/>
            <c:invertIfNegative val="0"/>
            <c:bubble3D val="0"/>
            <c:spPr>
              <a:solidFill>
                <a:srgbClr val="B74A4A"/>
              </a:solidFill>
              <a:effectLst/>
            </c:spPr>
            <c:extLst>
              <c:ext xmlns:c16="http://schemas.microsoft.com/office/drawing/2014/chart" uri="{C3380CC4-5D6E-409C-BE32-E72D297353CC}">
                <c16:uniqueId val="{0000000B-CA78-6841-8A5B-91D751F866B7}"/>
              </c:ext>
            </c:extLst>
          </c:dPt>
          <c:dPt>
            <c:idx val="6"/>
            <c:invertIfNegative val="0"/>
            <c:bubble3D val="0"/>
            <c:spPr>
              <a:solidFill>
                <a:srgbClr val="B74A4A"/>
              </a:solidFill>
              <a:effectLst/>
            </c:spPr>
            <c:extLst>
              <c:ext xmlns:c16="http://schemas.microsoft.com/office/drawing/2014/chart" uri="{C3380CC4-5D6E-409C-BE32-E72D297353CC}">
                <c16:uniqueId val="{0000000D-CA78-6841-8A5B-91D751F866B7}"/>
              </c:ext>
            </c:extLst>
          </c:dPt>
          <c:dLbls>
            <c:numFmt formatCode="#,##0" sourceLinked="0"/>
            <c:spPr>
              <a:noFill/>
              <a:ln>
                <a:noFill/>
              </a:ln>
              <a:effectLst/>
            </c:spPr>
            <c:txPr>
              <a:bodyPr/>
              <a:lstStyle/>
              <a:p>
                <a:pPr>
                  <a:defRPr sz="900" b="0" i="0" u="none" strike="noStrike">
                    <a:solidFill>
                      <a:srgbClr val="1C121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Naive_Median</c:v>
                </c:pt>
                <c:pt idx="1">
                  <c:v>Naive</c:v>
                </c:pt>
                <c:pt idx="2">
                  <c:v>Naive_MA</c:v>
                </c:pt>
                <c:pt idx="3">
                  <c:v>CarenR_Sup_FS</c:v>
                </c:pt>
                <c:pt idx="4">
                  <c:v>M5Rules</c:v>
                </c:pt>
                <c:pt idx="5">
                  <c:v>Decision Tree</c:v>
                </c:pt>
                <c:pt idx="6">
                  <c:v>RIPPER</c:v>
                </c:pt>
              </c:strCache>
            </c:strRef>
          </c:cat>
          <c:val>
            <c:numRef>
              <c:f>Sheet1!$B$2:$B$8</c:f>
              <c:numCache>
                <c:formatCode>General</c:formatCode>
                <c:ptCount val="7"/>
                <c:pt idx="0">
                  <c:v>140.4</c:v>
                </c:pt>
                <c:pt idx="1">
                  <c:v>143.80000000000001</c:v>
                </c:pt>
                <c:pt idx="2">
                  <c:v>170.5</c:v>
                </c:pt>
                <c:pt idx="3">
                  <c:v>171.6</c:v>
                </c:pt>
                <c:pt idx="4">
                  <c:v>267.5</c:v>
                </c:pt>
                <c:pt idx="5">
                  <c:v>479.3</c:v>
                </c:pt>
                <c:pt idx="6">
                  <c:v>508.2</c:v>
                </c:pt>
              </c:numCache>
            </c:numRef>
          </c:val>
          <c:extLst>
            <c:ext xmlns:c16="http://schemas.microsoft.com/office/drawing/2014/chart" uri="{C3380CC4-5D6E-409C-BE32-E72D297353CC}">
              <c16:uniqueId val="{0000000E-CA78-6841-8A5B-91D751F866B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C1214"/>
                </a:solidFill>
                <a:latin typeface="Arial"/>
              </a:defRPr>
            </a:pPr>
            <a:endParaRPr lang="en-US"/>
          </a:p>
        </c:txPr>
        <c:crossAx val="2094734552"/>
        <c:crosses val="autoZero"/>
        <c:auto val="1"/>
        <c:lblAlgn val="ctr"/>
        <c:lblOffset val="100"/>
        <c:noMultiLvlLbl val="1"/>
      </c:catAx>
      <c:valAx>
        <c:axId val="2094734552"/>
        <c:scaling>
          <c:orientation val="minMax"/>
          <c:min val="100"/>
        </c:scaling>
        <c:delete val="0"/>
        <c:axPos val="b"/>
        <c:majorGridlines>
          <c:spPr>
            <a:ln w="6350" cap="flat">
              <a:solidFill>
                <a:srgbClr val="D4CAC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4042"/>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2E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35 seconds.</a:t>
            </a:r>
          </a:p>
          <a:p>
            <a:endParaRPr/>
          </a:p>
          <a:p>
            <a:r>
              <a:t>Open with the practical question: can we forecast Portuguese wine production in a way that is useful before harvest and still understandable to domain experts? Emphasise that this is a Master's dissertation at FEUP, and that the central tension is not only accuracy. Wine-sector stakeholders also need explanations they can inspect, challenge, and relate to agronomic mechanisms.</a:t>
            </a:r>
          </a:p>
          <a:p>
            <a:endParaRPr/>
          </a:p>
          <a:p>
            <a:r>
              <a:t>Set the promise of the talk: first I show why this forecasting task is difficult, then how I designed a rule-based evaluation around CarenR, and finally what the results say about prediction, interpretation, and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Start from the operational context. Regional wine production matters for cooperatives, supply planning, policy, and market expectations, but it is affected by many drivers at once: climate, management, planted area, regulation, and long-term structural change.</a:t>
            </a:r>
          </a:p>
          <a:p>
            <a:endParaRPr/>
          </a:p>
          <a:p>
            <a:r>
              <a:t>The important point is that a model that gives only a number is not enough. If the forecast is wrong, or if the region is changing structurally, stakeholders need to know whether the model found a plausible climate signal or only followed historical drift.</a:t>
            </a:r>
          </a:p>
          <a:p>
            <a:endParaRPr/>
          </a:p>
          <a:p>
            <a:r>
              <a:t>Transition: this leads to the research gap - forecasting has to be interpretable and auditable, not only predictive.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state the thesis problem clearly. Modern machine learning methods can be good predictors, but they usually do not produce rules that an agronomist can read directly. On the other side, classical statistical approaches are interpretable, but may not capture local non-linear climate conditions.</a:t>
            </a:r>
          </a:p>
          <a:p>
            <a:endParaRPr/>
          </a:p>
          <a:p>
            <a:r>
              <a:t>CarenR is positioned in the middle: it searches for rule-defined subgroups where the production distribution differs meaningfully from the baseline. The value is that every rule has conditions, support, and a statistical test.</a:t>
            </a:r>
          </a:p>
          <a:p>
            <a:endParaRPr/>
          </a:p>
          <a:p>
            <a:r>
              <a:t>Point to the rule example: this is the kind of output the thesis aims for - not just "wetness matters", but a concrete combination of phenological windows and thresholds.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This slide explains why the target is difficult. Climate does not act in isolation. The production series includes biological carry-over, annual variability, industry structure, policy changes, and region-specific histories.</a:t>
            </a:r>
          </a:p>
          <a:p>
            <a:endParaRPr/>
          </a:p>
          <a:p>
            <a:r>
              <a:t>Stress that this makes the signal-to-noise problem severe. Even if temperature, rainfall, soil water, or LAI genuinely affect yield, their effect can be hidden by stronger structural movements in production.</a:t>
            </a:r>
          </a:p>
          <a:p>
            <a:endParaRPr/>
          </a:p>
          <a:p>
            <a:r>
              <a:t>The key message is: a weak forecasting result does not automatically mean no climate signal exists. It may mean that the climate signal is being diluted or confounded by the production series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Frame Douro and Vinho Verde as a deliberate comparison, not just two case studies. The same pipeline is applied to two regions with different historical structures.</a:t>
            </a:r>
          </a:p>
          <a:p>
            <a:endParaRPr/>
          </a:p>
          <a:p>
            <a:r>
              <a:t>Douro has a long record and a production series with a gradual positive trend. Vinho Verde has a strong structural decline, linked to broader regional and policy changes. This contrast is useful because it tests whether the same rule-based method behaves consistently under different data histories.</a:t>
            </a:r>
          </a:p>
          <a:p>
            <a:endParaRPr/>
          </a:p>
          <a:p>
            <a:r>
              <a:t>Transition: before modelling, the feature design has to respect the vine's biological calendar, because climate timing matters as much as climate amount.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50 seconds.</a:t>
            </a:r>
          </a:p>
          <a:p>
            <a:endParaRPr/>
          </a:p>
          <a:p>
            <a:r>
              <a:t>Use this as a bridge from domain knowledge to machine learning. The vine response is seasonal and delayed. Conditions around flowering, maturation, harvest, and even the previous year can affect the current harvest.</a:t>
            </a:r>
          </a:p>
          <a:p>
            <a:endParaRPr/>
          </a:p>
          <a:p>
            <a:r>
              <a:t>Mention the carry-over mechanism: climate in one season may influence bud formation or canopy development that only affects production later. This is why the features are not generic annual averages.</a:t>
            </a:r>
          </a:p>
          <a:p>
            <a:endParaRPr/>
          </a:p>
          <a:p>
            <a:r>
              <a:t>The modelling implication is that every climate variable is anchored to phenological periods. That makes the rules more interpretable because a condition refers to an agronomically meaningful window.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Explain the feature engineering in plain terms. Daily weather and agrometeorological data are transformed into 59 features per region: temperature, rainfall, soil water, LAI, heat days, frost days, and previous-year lags.</a:t>
            </a:r>
          </a:p>
          <a:p>
            <a:endParaRPr/>
          </a:p>
          <a:p>
            <a:r>
              <a:t>The important design choice is comparability. The same feature families are created for both regions, so differences in results are less likely to come from different preprocessing choices.</a:t>
            </a:r>
          </a:p>
          <a:p>
            <a:endParaRPr/>
          </a:p>
          <a:p>
            <a:r>
              <a:t>Also note that preprocessing is done inside each training fold later. This avoids leaking information from the test period into the model, which is especially important in time series.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is deliberately not a contest against every black-box model. It targets the missing combination: continuous target, long non-stationary data, interpretable rules and rigorous predictive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55 seconds.</a:t>
            </a:r>
          </a:p>
          <a:p>
            <a:endParaRPr/>
          </a:p>
          <a:p>
            <a:r>
              <a:t>Make the two goals explicit. Goal 1 is discovery: can interpretable rules identify meaningful production deviations and recurring feature families? Goal 2 is forecasting: do those rules improve out-of-sample prediction relative to a simple median baseline?</a:t>
            </a:r>
          </a:p>
          <a:p>
            <a:endParaRPr/>
          </a:p>
          <a:p>
            <a:r>
              <a:t>These goals are related but not identical. A rule can be scientifically informative even if it is not yet strong enough to beat the baseline in a forecasting contest.</a:t>
            </a:r>
          </a:p>
          <a:p>
            <a:endParaRPr/>
          </a:p>
          <a:p>
            <a:r>
              <a:t>This distinction is central to the defence: the thesis does not hide the negative forecasting result. It uses it to understand the boundary between explanation and reliable prediction.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scientific value comes from holding the pipeline constant. Divergent outcomes can then be interpreted in relation to structural history, signal availability and noise rather than arbitrary modelling choices.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Introduce the model family, then focus on CarenR. CarenR is the primary method and links the two parts of the thesis: it discovers interpretable distributional rules and its variants are also tested in prediction.</a:t>
            </a:r>
          </a:p>
          <a:p>
            <a:endParaRPr/>
          </a:p>
          <a:p>
            <a:r>
              <a:t>Make the role distinction explicit. RIPPER and M5Rules are rule learners, so they are useful for cross-checking whether the same feature families appear outside CarenR; they are also included as prediction comparators. The Decision Tree is prediction-only and non-rule-based. The naive median, last-value, and moving-average baselines are prediction-only references.</a:t>
            </a:r>
          </a:p>
          <a:p>
            <a:endParaRPr/>
          </a:p>
          <a:p>
            <a:r>
              <a:t>The key defence point is that the algorithms are not all doing the same job. Some support interpretability, some support forecasting comparison, and CarenR connects both.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about 1 minute.</a:t>
            </a:r>
          </a:p>
          <a:p>
            <a:endParaRPr dirty="0"/>
          </a:p>
          <a:p>
            <a:r>
              <a:rPr dirty="0"/>
              <a:t>Explain CarenR conceptually rather than technically. It starts with </a:t>
            </a:r>
            <a:r>
              <a:rPr dirty="0" err="1"/>
              <a:t>discretised</a:t>
            </a:r>
            <a:r>
              <a:rPr dirty="0"/>
              <a:t> feature intervals, combines them into readable rule conditions, and asks whether observations inside the rule have a different production-residual distribution from all observations.</a:t>
            </a:r>
          </a:p>
          <a:p>
            <a:endParaRPr dirty="0"/>
          </a:p>
          <a:p>
            <a:r>
              <a:rPr dirty="0"/>
              <a:t>Use the distribution plot: the black curve represents all years, and the burgundy curve represents the years matching a rule. CarenR is not only checking a mean difference; the Kolmogorov-Smirnov statistic asks whether the whole residual distribution shifts, including the tails.</a:t>
            </a:r>
          </a:p>
          <a:p>
            <a:endParaRPr dirty="0"/>
          </a:p>
          <a:p>
            <a:r>
              <a:rPr dirty="0"/>
              <a:t>The small rule card is what makes the result auditable. A domain expert can challenge the conditions, check the support, and inspect the p-value. That is the interpretability advantage over a black-box forecast explanation.</a:t>
            </a:r>
          </a:p>
          <a:p>
            <a:endParaRPr dirty="0"/>
          </a:p>
          <a:p>
            <a:r>
              <a:rPr dirty="0"/>
              <a:t>Use this slide to prepare the audience for the next one: the rules are not final policy prescriptions. They are evidence about which climate windows repeatedly separate high or low production years.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with rule counts and then the dominant variables. Avoid implying causality. These are statistically validated associations with agronomic coherence, not controlled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 20 seconds.</a:t>
            </a:r>
          </a:p>
          <a:p>
            <a:endParaRPr/>
          </a:p>
          <a:p>
            <a:r>
              <a:t>This is the main rule-finding slide. Start with Douro. The strongest Douro rules point to water availability and wet days around post-flowering, maturation, and harvest. The positive rules suggest that moderate soil water and limited wet-day stress can be associated with production above trend.</a:t>
            </a:r>
          </a:p>
          <a:p>
            <a:endParaRPr/>
          </a:p>
          <a:p>
            <a:r>
              <a:t>Then contrast Vinho Verde. The rules are larger in absolute deviation, but they also mix soil water, LAI, and heat-day conditions in a region with a much stronger structural break.</a:t>
            </a:r>
          </a:p>
          <a:p>
            <a:endParaRPr/>
          </a:p>
          <a:p>
            <a:r>
              <a:t>The takeaway is not that one listed rule should be operationalised immediately. The scientific finding is that water-related variables and canopy/LAI-related variables keep appearing as meaningful explanatory families.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audit version of the rules slide. Say that the previous simplified labels are now expanded into the actual thresholds reported by CarenR. Emphasise that a rule is not a black-box importance score: it names the subgroup, reports how many years match it, gives the KS p-value, and states the observed shift in residual production. For Douro, the strongest rules mostly say that dry post-flowering and post-maturity windows, sometimes with moderate pre-harvest soil water, correspond to above-trend production. Rule 2 is the exception: high LAI at flowering together with high post-flowering soil water is below trend, which is agronomically plausible because canopy vigour and moisture can shift growth away from fruit. For Vinho Verde, four of five rules are below trend and capture cool, moist, low-heat patterns; the single above-trend rule is the warm previous-year budburst / mild flowering case. Close by reminding the committee that these intervals are what make the findings auditable: an agronomist can challenge the thresholds directly.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Use this slide to strengthen the credibility of the rule findings. CarenR, RIPPER, and M5Rules optimise different objectives, so agreement across them is meaningful.</a:t>
            </a:r>
          </a:p>
          <a:p>
            <a:endParaRPr/>
          </a:p>
          <a:p>
            <a:r>
              <a:t>The two strongest cross-algorithm findings are harvest soil water and the LAI family. Soil water appears in CarenR rules, RIPPER rules, and M5Rules coefficients. LAI is especially strong in Vinho Verde, appearing across all 20 CarenR rules and in the other rule learners.</a:t>
            </a:r>
          </a:p>
          <a:p>
            <a:endParaRPr/>
          </a:p>
          <a:p>
            <a:r>
              <a:t>Be careful with wording: this is not causal proof. It is convergent evidence that these feature families capture real structure in the data rather than only algorithm-specific noise.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slide answers RQ2 with nuance. LOESS confirms that the Douro signals, and the RVV wet-days signal, are not merely era labels. But RVV LAI and harvest soil-water collapse under LOESS, which is itself informative: some discovered structure is climate signal, and some is entangled with regional structural change. Cross-algorithm convergence gives a second robustness check because the three methods </a:t>
            </a:r>
            <a:r>
              <a:rPr dirty="0" err="1"/>
              <a:t>optimise</a:t>
            </a:r>
            <a:r>
              <a:rPr dirty="0"/>
              <a:t> different criteria.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Emphasise leakage prevention. Each scenario behaves like a real historical forecast: all thresholds, features and rules are learned only from the past. The primary comparator is the training median because it is the optimal constant forecast under MAE.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State the forecasting result directly. No rule-based model beats the median baseline overall. In Douro, the best CarenR variant is close to the baseline - about 3 percent worse and not statistically significant. In Vinho Verde, performance is clearly worse.</a:t>
            </a:r>
          </a:p>
          <a:p>
            <a:endParaRPr/>
          </a:p>
          <a:p>
            <a:r>
              <a:t>This is an important negative result, and it should be presented confidently. The models discover interpretable associations, but those associations do not yet translate into reliable out-of-sample forecasts.</a:t>
            </a:r>
          </a:p>
          <a:p>
            <a:endParaRPr/>
          </a:p>
          <a:p>
            <a:r>
              <a:t>The strongest explanation is data structure: limited observations, noisy annual aggregates, and especially the structural history of Vinho Verde make forecasting harder than rule discovery.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Timing: about 50 seconds.</a:t>
            </a:r>
          </a:p>
          <a:p>
            <a:endParaRPr dirty="0"/>
          </a:p>
          <a:p>
            <a:r>
              <a:rPr dirty="0"/>
              <a:t>This slide separates two ideas that are easy to confuse. Discovery is about identifying patterns that are plausible, interpretable, and statistically supported. Prediction is about using those patterns to improve future numerical forecasts.</a:t>
            </a:r>
          </a:p>
          <a:p>
            <a:endParaRPr dirty="0"/>
          </a:p>
          <a:p>
            <a:r>
              <a:rPr dirty="0"/>
              <a:t>The thesis result is that discovery works better than prediction in this setting. That is not a failure of the thesis; it is the main diagnosis. Rule-based machine learning can explain parts of the climate-production relationship, but the current data are not sufficient for reliable regional forecasting.</a:t>
            </a:r>
          </a:p>
          <a:p>
            <a:endParaRPr dirty="0"/>
          </a:p>
          <a:p>
            <a:r>
              <a:rPr dirty="0"/>
              <a:t>Transition: the next slide </a:t>
            </a:r>
            <a:r>
              <a:rPr dirty="0" err="1"/>
              <a:t>formalises</a:t>
            </a:r>
            <a:r>
              <a:rPr dirty="0"/>
              <a:t> this diagnosis as a two-decision 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Explain the two-decision framework as one of the methodological contributions. Decision 1 is how to remove or represent the long-term production trend. Decision 2 is how to extract the climate signal from the remaining residuals.</a:t>
            </a:r>
          </a:p>
          <a:p>
            <a:endParaRPr/>
          </a:p>
          <a:p>
            <a:r>
              <a:t>These decisions interact. If detrending is too weak, the climate model may learn structural drift. If detrending is too aggressive, it can remove genuine climate-related variation.</a:t>
            </a:r>
          </a:p>
          <a:p>
            <a:endParaRPr/>
          </a:p>
          <a:p>
            <a:r>
              <a:t>This framework is transferable beyond wine production. Any agri-climatic forecasting problem with long histories and structural non-stationarity faces the same separation problem: what is trend, and what is climate signal?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Present the contributions as what remains scientifically useful after the negative forecasting result. First, the thesis provides a two-decision decomposition for separating trend modelling from climate signal extraction. Second, it runs a systematic walk-forward evaluation with preprocessing inside each fold.</a:t>
            </a:r>
          </a:p>
          <a:p>
            <a:endParaRPr/>
          </a:p>
          <a:p>
            <a:r>
              <a:t>Third, it compares sensitivity variants rather than assuming one configuration is universal. Fourth, it introduces era-composition analysis to diagnose when apparent skill depends on the historical composition of the training and test periods.</a:t>
            </a:r>
          </a:p>
          <a:p>
            <a:endParaRPr/>
          </a:p>
          <a:p>
            <a:r>
              <a:t>Finally, it uses cross-algorithm validation to show that key feature families - especially soil water and LAI - are not only CarenR artefacts.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Be transparent here. The main limitations are the use of time as the main detrending covariate, small test sets, and annual regional aggregates. These choices make the problem realistic but also underpowered.</a:t>
            </a:r>
          </a:p>
          <a:p>
            <a:endParaRPr/>
          </a:p>
          <a:p>
            <a:r>
              <a:t>For future work, mention structural detrending with explicit covariates such as planted area, quotas, or the number of certified producers. Also mention prospective validation of the 29 percent era-balanced threshold, and testing additional regional time series, especially regions with weaker trend or less structural break.</a:t>
            </a:r>
          </a:p>
          <a:p>
            <a:endParaRPr/>
          </a:p>
          <a:p>
            <a:r>
              <a:t>The closing point is that the thesis identifies what must be fixed before these rules can become reliable operational forecasts.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36C68-850B-AAC0-1EF9-D6D2F197F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61038E-0A96-7F67-6F7A-47336B57E5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3F0B8A-EA49-7411-2A96-2E0446D72C15}"/>
              </a:ext>
            </a:extLst>
          </p:cNvPr>
          <p:cNvSpPr>
            <a:spLocks noGrp="1"/>
          </p:cNvSpPr>
          <p:nvPr>
            <p:ph type="body" idx="1"/>
          </p:nvPr>
        </p:nvSpPr>
        <p:spPr/>
        <p:txBody>
          <a:bodyPr/>
          <a:lstStyle/>
          <a:p>
            <a:r>
              <a:t>Timing: about 45 seconds.</a:t>
            </a:r>
          </a:p>
          <a:p>
            <a:endParaRPr/>
          </a:p>
          <a:p>
            <a:r>
              <a:t>Close by returning to the opening question. The answer is deliberately nuanced: rule-based machine learning cannot yet forecast Portuguese wine production reliably from these annual regional series. But it can explain parts of the climate-production relationship in a way that is auditable and agronomically meaningful.</a:t>
            </a:r>
          </a:p>
          <a:p>
            <a:endParaRPr/>
          </a:p>
          <a:p>
            <a:r>
              <a:t>Summarise the next steps as a research path: add structural covariates, test more regions and less trend-dominated series, validate prospectively, and use subgroup methods such as EMM to understand when climate-production relationships are exceptional.</a:t>
            </a:r>
          </a:p>
          <a:p>
            <a:endParaRPr/>
          </a:p>
          <a:p>
            <a:r>
              <a:t>End with the main defence sentence: understanding why forecasting fails is itself a scientific contribution, because it tells us what evidence is missing for reliable deployment.</a:t>
            </a:r>
          </a:p>
        </p:txBody>
      </p:sp>
      <p:sp>
        <p:nvSpPr>
          <p:cNvPr id="4" name="Slide Number Placeholder 3">
            <a:extLst>
              <a:ext uri="{FF2B5EF4-FFF2-40B4-BE49-F238E27FC236}">
                <a16:creationId xmlns:a16="http://schemas.microsoft.com/office/drawing/2014/main" id="{111C4161-70F1-A529-B682-8432CB6872A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082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Wine is Europe's most climate-sensitive crop and forecasting matters for producers, cooperatives and regulators. But the signal is real yet explains barely a fifth of the variance, in a series that swings ~47% year to year. Two regions, opposite structural directions. Easy wins don't exist here.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an insight the committee should sit with. It is not only production that is non-stationary — the climate itself has moved over the same 90 years. In the Douro, heat-stress days above 35°C are up about 44%, frost days have more than halved, rainfall is down ~7%. Note the link to the rules: the heat-stress-day family that CarenR selects is itself trending. This matters because when both production AND a climate feature trend over the record, the feature can look predictive just by co-trending with the era — which is precisely the trap the LOESS stress-test on the next block is designed to expose.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two regions with opposite histories. The Douro rose gradually, partly buffered by the Port quota. Vinho Verde collapsed after EU accession — subsidies, training-system change, rural exodus. Same algorithm on both; that contrast is what lets me separate climate from structure later.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pipeline. Expanding-window walk-forward, every preprocessing step inside the fold — no leakage. And remember one idea: error is a trend part and a signal part. I'll come back to why those two fight.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confounding explanation. Douro and Vinho Verde do not fail in the same way. Douro retains more climate signal after LOESS checks and shows a small performance gap. Vinho Verde shows stronger structural contamination: the production series contains a major regime shift, and the extracted rules become more era-driven.</a:t>
            </a:r>
          </a:p>
          <a:p>
            <a:endParaRPr/>
          </a:p>
          <a:p>
            <a:r>
              <a:t>The important sentence to say aloud is the one at the bottom: the same algorithm produces qualitatively different outcomes depending on the structural history of the production series.</a:t>
            </a:r>
          </a:p>
          <a:p>
            <a:endParaRPr/>
          </a:p>
          <a:p>
            <a:r>
              <a:t>This justifies the limitations and future work: better structural covariates and additional regions are not optional improvements; they are required for stronger forecasting claims.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738089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deep model forecasts and can't explain; SHAP approximates. Where the question is which conditions drive production, that's disqualifying. CarenR asks a distributional question — does a set of conditions shift the whole distribution, tails included — and every rule reports its own evidence. That auditability is the point.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Timing: about 1 minute.</a:t>
            </a:r>
          </a:p>
          <a:p>
            <a:endParaRPr/>
          </a:p>
          <a:p>
            <a:r>
              <a:t>This is the methodological control slide. The same pipeline is applied to Douro and Vinho Verde: same feature construction, same families of algorithms, and walk-forward expanding-window validation.</a:t>
            </a:r>
          </a:p>
          <a:p>
            <a:endParaRPr/>
          </a:p>
          <a:p>
            <a:r>
              <a:t>Point to the time-series validation. Each scenario trains on the past and tests on the future. All preprocessing is inside the training fold, so the test years remain genuinely unseen.</a:t>
            </a:r>
          </a:p>
          <a:p>
            <a:endParaRPr/>
          </a:p>
          <a:p>
            <a:r>
              <a:t>The baseline is deliberately simple: the training median residual. This is a hard but fair benchmark because annual wine production has strong noise, and a constant robust predictor is difficult to beat with small test sets.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648568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rules read like agronomy. Harvest soil water dominates both regions — but in opposite directions, and CarenR detects that without seeing the regions together. A mild deficit concentrates berries in the dry Douro; the same range signals cool-wet, low-quality years in Vinho Verde. The method resolves a sign reversal correctly — that's real structure.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won't dress this up. Predict the historical median and you beat every rule model — 3% in the Douro, 22% in Vinho Verde, where firing rules makes it worse. Real rules, no forecast edge. That's the puzzle. I refused to stop at 'it didn't work,' because the failure has a shape.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finding and why it's not a dead end. Make the trend more flexible with LOESS and Vinho Verde's baseline improves 36% — but every rule disappears, because the flexible trend ate the variation the rules were built from. Decision 1 and Decision 2 fight over the same variance because both are parameterized by time alone. Discovery and prediction ask different things of the same signal. That's the two-decision trade-off — the name I'd like you to remember. The p=0.031 era-balanced win is post-hoc; I lead with the pattern, which is robust. [If challenged on the negative result, cite Prof. Cunha's own review: in this field 'the statistics are usually very good, but the predictions are not useful for production' — my two-decision framework explains exactly why.]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research questions:
RQ1 — answered YES: CarenR discovers 48 + 20 validated rules.
RQ2 — answered YES for RDD (features genuine), partially NO for RVV (dominant features are era artefacts).
RQ3 — answered NO: no model beats Naive_Median in aggregate.
RQ4 — answered by the two-decision decomposition framework.
The core story: success at discovery, failure at prediction, and a principled explanation of why. Negative results, when properly diagnosed, are scientifically valuable.
Estimated time: ~1 min.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regions as a natural comparative experiment.
RDD: upward production trend due to quality-focused market growth.
RVV: sharp decline driven by EU accession and industry restructuring — the dominant structural story there.
59 features constructed from 30,000+ daily records by combining meteorological variables with phenological stage dates. The naming convention encodes everything: variable, stage, year offset, window width.
I won't dwell on the agronomy — this is just the input scaffolding for the ML problem.
Estimated time: ~1 min.</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pipeline. Six stages, two output goals.
Key design choices:
1. Linear detrending within-fold: trend parameters estimated only on training data.
2. Feature selection inside the walk-forward loop: no leakage.
3. Goal 1 uses all 89/80 years for discovery; Goal 2 uses expanding training windows.
The anti-leakage design is essential. Every modelling decision is made from training data only.
Estimated time: ~1 min 15 sec.</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a random forest or neural network? Because interpretability IS the research objective — we want to know WHICH climate conditions explain production anomalies.
CarenR is uniquely appropriate:
1. KS test is non-parametric — no normality assumption for agricultural data.
2. Tests distributional shift, not just mean shift: a variable is informative if it changes the SHAPE of the production distribution.
3. No target pre-discretisation needed — unlike RIPPER.
4. Explicit fallback mechanism: when no rules fire, predicts training median (= Naive_Median). CarenR can only add noise if it fires a wrong rule; it never forces an uninformed prediction.
Estimated time: ~1 min 15 sec.</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is achieved.
Douro: 48 rules, dominated by harvest-period soil water (54% of rules) and post-flowering wet days. 65% point above trend. The strongest rule covers 28% of years (p=0.0043) — a recurrent, statistically robust pattern.
Vinho Verde: 20 rules, dominated by heat-stress days (~50%) and LAI at harvest (present in all 20 rules). 80% below trend — reflecting the structural decline.
Directional inversion: harvest soil water is dominant in BOTH regions but predicts ABOVE trend in RDD and BELOW trend in RVV. This is a method validation point: CarenR correctly detects opposite signals in different climatic contexts.
Cross-algorithm convergence: RIPPER and M5Rules agree on the same feature families. Three different optimisation criteria, same answer.
Estimated time: ~1 min 30 sec.</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LOESS detrending stress test: if a feature's correlation survives aggressive era-trend removal, it carries genuine within-era signal. If it collapses, it was era co-variation.
RDD: harvest soil water and wet days INCREASE their correlation under LOESS (125% and 103% retention). These features are genuinely within-era.
RVV: LAI at harvest and harvest soil water collapse to 15-16% retention. The dominant RVV features were largely era artefacts — they looked informative only because they co-trended with the structural production decline.
This is the key finding that explains why Goal 1 succeeds in discovery (patterns exist) but Goal 2 fails in prediction for RVV (the patterns don't generalise because they're era-specific).
Estimated time: ~1 min 30 sec.</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2 is not achieved in aggregate.
RDD: Naive_Median wins at 184 mhl. Best CarenR is 189 mhl — 3% gap. Wilcoxon p=0.468, not significant. RIPPER and DT are much worse (250-279 mhl).
RVV: Naive_Median wins at 140 mhl. Best CarenR is 172 mhl — 22% gap. When CarenR fires rules in RVV, they are significantly harmful (p=0.004).
Era-balanced finding in RDD: in scenarios 10-14 (training data at 29-32% post-1990), CarenR wins 5/5 consecutive scenarios by 17-32 mhl. BUT this was identified post-hoc — it's an exploratory hypothesis, not a confirmed finding. Binomial p=0.031 but n=5.
Benchmark context: RIPPER and DT are 35-175% worse than Naive_Median — the limitation is not the interpretability constraint but the signal strength.
Estimated time: ~1 min 30 sec.</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interlocking failure modes:
1. Signal strength: real but insufficient. 22% explained variance is detectable by KS test but cannot overcome 78% noise in individual held-out years.
2. Structural tension: the Two-Decision framework shows these demands cannot be simultaneously satisfied. Not a tuning problem — a fundamental structural incompatibility.
3. Era contamination: rules learned on pre-1990 data don't generalise to post-1990 test years. This is formally confirmed by the LOESS validation.
4. Missing covariates: time alone cannot model the structural production trajectory. Planted area, EU policy, number of producers — these are the actual drivers of the trend. Without them, Decision 1 is fundamentally limited.
Estimated time: ~1 min 30 sec.</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methodological contributions — all transferable beyond wine:
1. Two-decision framework: any domain where structural non-stationarity meets climate/environmental signal can use this decomposition to diagnose failures.
2. Sensitivity analysis: the structured 11-variant comparison shows the optimal approach is domain-specific. The lesson is to conduct this evaluation rather than picking one configuration a priori.
3. Era-composition analysis: the finding that CarenR succeeds specifically when training data reaches 29% modern-era representation gives practitioners a concrete diagnostic criterion.
4. Cross-algorithm convergence: three independent algorithms agreeing on features is a strong validation — applicable to any feature importance analysis.
5. LOESS protocol: a reusable method for distinguishing real within-era signal from structural co-variation.
Estimated time: ~1 min 30 sec.</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acknowledgement of limitations:
1. The primary limitation is structural: time-only detrending. This is the bottleneck for Decision 1 and the root cause of the era confound. It's not a bug in the analysis — it's an inherent property of what detrending with time can and cannot do.
2. Statistical power: 18/16 scenarios, decreasing test-set sizes in later scenarios. Not enough for high-power confirmatory tests.
3. The era-balanced finding is genuinely post-hoc. I need to be transparent about this with the jury.
Priority future work: structural detrending. If we add planted area, EU quotas, and number of certified producers as explicit detrending covariates, we separate the structural production changes from climate residuals. This directly addresses Decision 1 and potentially resolves the fundamental tension.
Estimated time: ~1 min.</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1. Discovery works. CarenR is a valid and effective distributional subgroup discovery tool. The rules are real, validated, cross-confirmed.
2. Prediction does not work in aggregate. But we understand EXACTLY why — the Two-Decision framework gives a precise, testable structural explanation.
3. The core scientific insight: explanation and prediction require different things from the data. Genuine association ≠ predictive power. This is a general principle, not a limitation of CarenR specifically.
4. Path forward: structural detrending. This is the single change most likely to unlock reliable prediction.
Total presentation time target: ~15 minutes.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makes this precise. The gap is interpretability: even when production can be predicted, it can't be explained.</a:t>
            </a:r>
          </a:p>
          <a:p>
            <a:endParaRPr/>
          </a:p>
          <a:p>
            <a:r>
              <a:t>The example rule on the right is what CarenR produces. It tells you: in years where soil water at harvest was between 74 and 101 mm AND wet days after flowering were 3.3 or fewer, production was 192 mhl above trend — in 21% of years, with a KS p-value of 0.010.</a:t>
            </a:r>
          </a:p>
          <a:p>
            <a:endParaRPr/>
          </a:p>
          <a:p>
            <a:r>
              <a:t>An agronomist can read that, challenge it, and decide whether it matches their knowledge of vine physiology. No prior work has applied this kind of distributional rule induction to multi-decade regional production records.</a:t>
            </a:r>
          </a:p>
          <a:p>
            <a:endParaRPr/>
          </a:p>
          <a:p>
            <a:r>
              <a:t>The bottom line: no published work, as documented in our Table 2.1 literature review, combines interpretable rules, statistical validation, a distributional framing, multi-decade records, and regional granularity. This thesis is the first to do so.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28079-9A55-5BC8-5AC7-7CAF58C10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4C3ADB-DA9B-C6D7-284C-184AE70CB0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313123-95E1-A414-1BDF-D315B9213A2B}"/>
              </a:ext>
            </a:extLst>
          </p:cNvPr>
          <p:cNvSpPr>
            <a:spLocks noGrp="1"/>
          </p:cNvSpPr>
          <p:nvPr>
            <p:ph type="body" idx="1"/>
          </p:nvPr>
        </p:nvSpPr>
        <p:spPr/>
        <p:txBody>
          <a:bodyPr/>
          <a:lstStyle/>
          <a:p>
            <a:r>
              <a:t>The thesis has two goals.</a:t>
            </a:r>
          </a:p>
          <a:p>
            <a:endParaRPr/>
          </a:p>
          <a:p>
            <a:r>
              <a:t>Goal 1 — rule discovery — was achieved. CarenR found 48 rules for Douro and 20 for Vinho Verde, answering RQ1 and RQ2: which climate variables matter, and are they genuine signals or artefacts of era-level structural change?</a:t>
            </a:r>
          </a:p>
          <a:p>
            <a:endParaRPr/>
          </a:p>
          <a:p>
            <a:r>
              <a:t>Goal 2 — predictive validation — was not achieved in aggregate. Across all walk-forward scenarios, no model reliably beats the naive baseline. But — and this is the key point — there is a conditional finding in Douro that I'll explain in slides 11 and 12.</a:t>
            </a:r>
          </a:p>
          <a:p>
            <a:endParaRPr/>
          </a:p>
          <a:p>
            <a:r>
              <a:t>RQ3 asks whether three independent algorithms converge on the same features. They do, and that convergence is the strongest evidence that the discovered patterns are real. RQ4 asks whether prediction improves — the answer is nuanced.</a:t>
            </a:r>
          </a:p>
          <a:p>
            <a:endParaRPr/>
          </a:p>
          <a:p>
            <a:r>
              <a:t>I want to flag now that the most scientifically interesting finding was not that prediction failed. It was why it failed — and that diagnosis has clear implications for future work.</a:t>
            </a:r>
          </a:p>
        </p:txBody>
      </p:sp>
      <p:sp>
        <p:nvSpPr>
          <p:cNvPr id="4" name="Slide Number Placeholder 3">
            <a:extLst>
              <a:ext uri="{FF2B5EF4-FFF2-40B4-BE49-F238E27FC236}">
                <a16:creationId xmlns:a16="http://schemas.microsoft.com/office/drawing/2014/main" id="{85498036-E740-0B08-2B36-E800DE16D7E1}"/>
              </a:ext>
            </a:extLst>
          </p:cNvPr>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5043074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three algorithms address structurally different questions.</a:t>
            </a:r>
          </a:p>
          <a:p>
            <a:endParaRPr/>
          </a:p>
          <a:p>
            <a:r>
              <a:t>CarenR asks: when does the shape of the production distribution shift? It uses the Kolmogorov–Smirnov two-sample test, which is non-parametric — no normality assumption, no need to discretise the target. Output is a rule with a distributional shift in mhl.</a:t>
            </a:r>
          </a:p>
          <a:p>
            <a:endParaRPr/>
          </a:p>
          <a:p>
            <a:r>
              <a:t>RIPPER asks: which production class does a year belong to? It requires discretising the target into tertiles — Low, Medium, High — and uses FOIL information gain. Well-established baseline, but the discretisation loses information.</a:t>
            </a:r>
          </a:p>
          <a:p>
            <a:endParaRPr/>
          </a:p>
          <a:p>
            <a:r>
              <a:t>M5Rules asks: what's the exact production level? It minimises MSE to build piecewise linear regression rules. The problem is that on datasets smaller than 89 observations, it collapses to a single global model with no meaningful splits.</a:t>
            </a:r>
          </a:p>
          <a:p>
            <a:endParaRPr/>
          </a:p>
          <a:p>
            <a:r>
              <a:t>The key point in the bottom callout: all three use the same 59 features and the same walk-forward protocol. So when they converge on the same features — as slide 9 will show — that convergence is extremely strong evidence.</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one of the strongest slides in the thesis.</a:t>
            </a:r>
          </a:p>
          <a:p>
            <a:endParaRPr/>
          </a:p>
          <a:p>
            <a:r>
              <a:t>Three algorithms with completely different optimisation criteria — KS test, FOIL gain, MSE minimisation — independently select the same feature families.</a:t>
            </a:r>
          </a:p>
          <a:p>
            <a:endParaRPr/>
          </a:p>
          <a:p>
            <a:r>
              <a:t>Harvest soil water appears in 54% of RDD rules via CarenR, in RIPPER's RVV Rule 3, and in M5Rules with a coefficient of −2.3 mhl/mm in Douro. LAI at harvest dominates all 20 RVV rules via CarenR, appears in RIPPER's RVV rules, and gets a coefficient of −2064 mhl per unit in M5Rules. Prior-year summer temperature is selected by all three for Vinho Verde.</a:t>
            </a:r>
          </a:p>
          <a:p>
            <a:endParaRPr/>
          </a:p>
          <a:p>
            <a:r>
              <a:t>The confidence labels on the right reflect this: harvest soil water and LAI are HIGH confidence — universal agreement. Wet days post-flowering is MODERATE — CarenR finds it but RIPPER and M5Rules don't, suggesting it's a distributional signal rather than a classification or regression signal.</a:t>
            </a:r>
          </a:p>
          <a:p>
            <a:endParaRPr/>
          </a:p>
          <a:p>
            <a:r>
              <a:t>This convergence is not a statistical artefact. Three independent optimisation criteria would only agree if the features are genuinely load-bearing in the data.</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10 shows the headline numbers — and they're honest.</a:t>
            </a:r>
          </a:p>
          <a:p>
            <a:endParaRPr/>
          </a:p>
          <a:p>
            <a:r>
              <a:t>In Douro: the best CarenR variant achieves a weighted MAE of 189 mhl versus Naive_Median's 184 mhl. That's a 3% degradation. Wilcoxon p = 0.468 — not significant. In aggregate, CarenR does not beat the naive baseline in Douro.</a:t>
            </a:r>
          </a:p>
          <a:p>
            <a:endParaRPr/>
          </a:p>
          <a:p>
            <a:r>
              <a:t>In Vinho Verde: Best CarenR at 172 mhl versus Naive at 140 mhl. That's a 22% degradation, with p = 0.004 — the rules actively harm prediction.</a:t>
            </a:r>
          </a:p>
          <a:p>
            <a:endParaRPr/>
          </a:p>
          <a:p>
            <a:r>
              <a:t>These are uncomfortable numbers but they're the right numbers. The question is: why? And the answer is on the next two slides.</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contrast between Douro and Vinho Verde was by design, not by accident.</a:t>
            </a:r>
          </a:p>
          <a:p>
            <a:endParaRPr/>
          </a:p>
          <a:p>
            <a:r>
              <a:t>The two regions have different structural histories. Douro experienced a production increase driven by vinification technology and market access. Vinho Verde experienced a decline driven by EU quotas. These are different structural regimes, and the algorithms respond differently.</a:t>
            </a:r>
          </a:p>
          <a:p>
            <a:endParaRPr/>
          </a:p>
          <a:p>
            <a:r>
              <a:t>In Douro: genuine within-era signal survives LOESS detrending, three algorithms converge, and era-balanced scenarios show conditional improvement.</a:t>
            </a:r>
          </a:p>
          <a:p>
            <a:endParaRPr/>
          </a:p>
          <a:p>
            <a:r>
              <a:t>In Vinho Verde: features are largely era-membership proxies, LOESS detrending removes all signal, and rules cannot generalise across the 1986 structural break.</a:t>
            </a:r>
          </a:p>
          <a:p>
            <a:endParaRPr/>
          </a:p>
          <a:p>
            <a:r>
              <a:t>The thesis is not about two failures. It's about how the same algorithm, on the same feature set, with the same protocol, produces qualitatively different outcomes depending on the structural history of the production series. That's a methodological contribution independent of whether prediction succeeds.</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pic>
        <p:nvPicPr>
          <p:cNvPr id="2" name="Picture 1" descr="Faculdade de Engenharia - TECH4 Sustainability">
            <a:extLst>
              <a:ext uri="{FF2B5EF4-FFF2-40B4-BE49-F238E27FC236}">
                <a16:creationId xmlns:a16="http://schemas.microsoft.com/office/drawing/2014/main" id="{9EB15215-1DF5-6C44-6C0A-FEA6D91FD9BE}"/>
              </a:ext>
            </a:extLst>
          </p:cNvPr>
          <p:cNvPicPr>
            <a:picLocks noChangeAspect="1"/>
          </p:cNvPicPr>
          <p:nvPr userDrawn="1"/>
        </p:nvPicPr>
        <p:blipFill>
          <a:blip r:embed="rId2"/>
          <a:srcRect l="18097" t="34404" r="17656" b="35003"/>
          <a:stretch>
            <a:fillRect/>
          </a:stretch>
        </p:blipFill>
        <p:spPr>
          <a:xfrm>
            <a:off x="11342158" y="42144"/>
            <a:ext cx="804333" cy="31980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5177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98AAC14-D9D2-421D-87CA-74CBACF475D7}"/>
              </a:ext>
            </a:extLst>
          </p:cNvPr>
          <p:cNvSpPr>
            <a:spLocks noGrp="1"/>
          </p:cNvSpPr>
          <p:nvPr/>
        </p:nvSpPr>
        <p:spPr>
          <a:xfrm>
            <a:off x="400050" y="361950"/>
            <a:ext cx="723900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t>MASTER'S DISSERTATION · FEUP · 2026</a:t>
            </a:r>
          </a:p>
        </p:txBody>
      </p:sp>
      <p:sp>
        <p:nvSpPr>
          <p:cNvPr id="2" name="Rectangle 1">
            <a:extLst>
              <a:ext uri="{FF2B5EF4-FFF2-40B4-BE49-F238E27FC236}">
                <a16:creationId xmlns:a16="http://schemas.microsoft.com/office/drawing/2014/main" id="{8D7BC4C7-9A32-42AC-8B68-758399A684C9}"/>
              </a:ext>
            </a:extLst>
          </p:cNvPr>
          <p:cNvSpPr>
            <a:spLocks noGrp="1"/>
          </p:cNvSpPr>
          <p:nvPr/>
        </p:nvSpPr>
        <p:spPr>
          <a:xfrm>
            <a:off x="400051" y="989647"/>
            <a:ext cx="5695950" cy="2706053"/>
          </a:xfrm>
          <a:prstGeom prst="rect">
            <a:avLst/>
          </a:prstGeom>
        </p:spPr>
        <p:txBody>
          <a:bodyPr lIns="0" tIns="0" rIns="0" bIns="0" anchor="b">
            <a:normAutofit fontScale="92500"/>
          </a:bodyPr>
          <a:lstStyle/>
          <a:p>
            <a:pPr algn="l">
              <a:buNone/>
              <a:defRPr sz="5400" b="1">
                <a:solidFill>
                  <a:srgbClr val="151515"/>
                </a:solidFill>
                <a:latin typeface="Arial"/>
                <a:ea typeface="Arial"/>
                <a:cs typeface="Arial"/>
              </a:defRPr>
            </a:pPr>
            <a:r>
              <a:rPr dirty="0"/>
              <a:t>Wine production forecasting with interpretable rules</a:t>
            </a:r>
          </a:p>
        </p:txBody>
      </p:sp>
      <p:sp>
        <p:nvSpPr>
          <p:cNvPr id="3" name="Rectangle 2">
            <a:extLst>
              <a:ext uri="{FF2B5EF4-FFF2-40B4-BE49-F238E27FC236}">
                <a16:creationId xmlns:a16="http://schemas.microsoft.com/office/drawing/2014/main" id="{1BFA9A0A-E8FA-4A33-B80D-4EE9AF4FDBCA}"/>
              </a:ext>
            </a:extLst>
          </p:cNvPr>
          <p:cNvSpPr>
            <a:spLocks noGrp="1"/>
          </p:cNvSpPr>
          <p:nvPr/>
        </p:nvSpPr>
        <p:spPr>
          <a:xfrm>
            <a:off x="400050" y="4095750"/>
            <a:ext cx="8096250" cy="590550"/>
          </a:xfrm>
          <a:prstGeom prst="rect">
            <a:avLst/>
          </a:prstGeom>
        </p:spPr>
        <p:txBody>
          <a:bodyPr lIns="0" tIns="0" rIns="0" bIns="0" anchor="t">
            <a:normAutofit/>
          </a:bodyPr>
          <a:lstStyle/>
          <a:p>
            <a:pPr algn="l">
              <a:buNone/>
              <a:defRPr sz="2325" b="0">
                <a:solidFill>
                  <a:srgbClr val="60656C"/>
                </a:solidFill>
                <a:latin typeface="Arial"/>
                <a:ea typeface="Arial"/>
                <a:cs typeface="Arial"/>
              </a:defRPr>
            </a:pPr>
            <a:r>
              <a:rPr dirty="0"/>
              <a:t>What can climate explain — and what can it reliably predict?</a:t>
            </a:r>
          </a:p>
        </p:txBody>
      </p:sp>
      <p:cxnSp>
        <p:nvCxnSpPr>
          <p:cNvPr id="135" name="Straight Arrow Connector 134"/>
          <p:cNvCxnSpPr/>
          <p:nvPr/>
        </p:nvCxnSpPr>
        <p:spPr>
          <a:xfrm>
            <a:off x="400050" y="5048250"/>
            <a:ext cx="11391900" cy="953"/>
          </a:xfrm>
          <a:prstGeom prst="straightConnector1">
            <a:avLst/>
          </a:prstGeom>
          <a:ln w="38100">
            <a:solidFill>
              <a:srgbClr val="7B1E3A"/>
            </a:solidFill>
            <a:prstDash val="solid"/>
          </a:ln>
        </p:spPr>
      </p:cxnSp>
      <p:sp>
        <p:nvSpPr>
          <p:cNvPr id="5" name="Rectangle 4">
            <a:extLst>
              <a:ext uri="{FF2B5EF4-FFF2-40B4-BE49-F238E27FC236}">
                <a16:creationId xmlns:a16="http://schemas.microsoft.com/office/drawing/2014/main" id="{020FEF38-FF70-441C-B96F-A52F19298A0B}"/>
              </a:ext>
            </a:extLst>
          </p:cNvPr>
          <p:cNvSpPr>
            <a:spLocks noGrp="1"/>
          </p:cNvSpPr>
          <p:nvPr/>
        </p:nvSpPr>
        <p:spPr>
          <a:xfrm>
            <a:off x="400050" y="5353050"/>
            <a:ext cx="495300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Hugo Filipe Queiróz Nogueira</a:t>
            </a:r>
          </a:p>
        </p:txBody>
      </p:sp>
      <p:sp>
        <p:nvSpPr>
          <p:cNvPr id="6" name="Rectangle 5">
            <a:extLst>
              <a:ext uri="{FF2B5EF4-FFF2-40B4-BE49-F238E27FC236}">
                <a16:creationId xmlns:a16="http://schemas.microsoft.com/office/drawing/2014/main" id="{89389F8B-3B99-4B1C-8CBA-75729E826F04}"/>
              </a:ext>
            </a:extLst>
          </p:cNvPr>
          <p:cNvSpPr>
            <a:spLocks noGrp="1"/>
          </p:cNvSpPr>
          <p:nvPr/>
        </p:nvSpPr>
        <p:spPr>
          <a:xfrm>
            <a:off x="400050" y="5753100"/>
            <a:ext cx="7429500" cy="266700"/>
          </a:xfrm>
          <a:prstGeom prst="rect">
            <a:avLst/>
          </a:prstGeom>
        </p:spPr>
        <p:txBody>
          <a:bodyPr lIns="0" tIns="0" rIns="0" bIns="0" anchor="t">
            <a:normAutofit/>
          </a:bodyPr>
          <a:lstStyle/>
          <a:p>
            <a:pPr algn="l">
              <a:buNone/>
              <a:defRPr sz="1350" b="0">
                <a:solidFill>
                  <a:srgbClr val="60656C"/>
                </a:solidFill>
                <a:latin typeface="Arial"/>
                <a:ea typeface="Arial"/>
                <a:cs typeface="Arial"/>
              </a:defRPr>
            </a:pPr>
            <a:r>
              <a:t>Supervisors: João Mendes Moreira · Mário Campos Cunha</a:t>
            </a:r>
          </a:p>
        </p:txBody>
      </p:sp>
      <p:sp>
        <p:nvSpPr>
          <p:cNvPr id="7" name="Rectangle 6">
            <a:extLst>
              <a:ext uri="{FF2B5EF4-FFF2-40B4-BE49-F238E27FC236}">
                <a16:creationId xmlns:a16="http://schemas.microsoft.com/office/drawing/2014/main" id="{35B0F1BA-3A3B-4D80-A22A-B53E9AFC39DD}"/>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01</a:t>
            </a:r>
          </a:p>
        </p:txBody>
      </p:sp>
      <p:pic>
        <p:nvPicPr>
          <p:cNvPr id="11" name="Picture 10">
            <a:extLst>
              <a:ext uri="{FF2B5EF4-FFF2-40B4-BE49-F238E27FC236}">
                <a16:creationId xmlns:a16="http://schemas.microsoft.com/office/drawing/2014/main" id="{297B1E15-F371-3C90-F320-628F46DF4E20}"/>
              </a:ext>
            </a:extLst>
          </p:cNvPr>
          <p:cNvPicPr>
            <a:picLocks noChangeAspect="1"/>
          </p:cNvPicPr>
          <p:nvPr/>
        </p:nvPicPr>
        <p:blipFill>
          <a:blip r:embed="rId3"/>
          <a:stretch>
            <a:fillRect/>
          </a:stretch>
        </p:blipFill>
        <p:spPr>
          <a:xfrm>
            <a:off x="8588787" y="989647"/>
            <a:ext cx="3036604" cy="349642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987848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79E55-FD5E-4085-AC93-5DE540B8DE96}"/>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dirty="0"/>
              <a:t>CONTEXT</a:t>
            </a:r>
          </a:p>
        </p:txBody>
      </p:sp>
      <p:sp>
        <p:nvSpPr>
          <p:cNvPr id="2" name="Rectangle 1">
            <a:extLst>
              <a:ext uri="{FF2B5EF4-FFF2-40B4-BE49-F238E27FC236}">
                <a16:creationId xmlns:a16="http://schemas.microsoft.com/office/drawing/2014/main" id="{13142EE0-DD7B-4E64-A124-689FECFA3EB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The business question is a decision question</a:t>
            </a:r>
          </a:p>
        </p:txBody>
      </p:sp>
      <p:sp>
        <p:nvSpPr>
          <p:cNvPr id="3" name="Rectangle 2">
            <a:extLst>
              <a:ext uri="{FF2B5EF4-FFF2-40B4-BE49-F238E27FC236}">
                <a16:creationId xmlns:a16="http://schemas.microsoft.com/office/drawing/2014/main" id="{D248877D-50A3-43B8-AE9B-A0E24193878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02</a:t>
            </a:r>
          </a:p>
        </p:txBody>
      </p:sp>
      <p:sp>
        <p:nvSpPr>
          <p:cNvPr id="4" name="Rectangle 3">
            <a:extLst>
              <a:ext uri="{FF2B5EF4-FFF2-40B4-BE49-F238E27FC236}">
                <a16:creationId xmlns:a16="http://schemas.microsoft.com/office/drawing/2014/main" id="{D281F049-5824-448C-BCEF-E7DB4C33261F}"/>
              </a:ext>
            </a:extLst>
          </p:cNvPr>
          <p:cNvSpPr>
            <a:spLocks noGrp="1"/>
          </p:cNvSpPr>
          <p:nvPr/>
        </p:nvSpPr>
        <p:spPr>
          <a:xfrm>
            <a:off x="400050" y="1619250"/>
            <a:ext cx="7143750" cy="1809750"/>
          </a:xfrm>
          <a:prstGeom prst="rect">
            <a:avLst/>
          </a:prstGeom>
        </p:spPr>
        <p:txBody>
          <a:bodyPr lIns="0" tIns="0" rIns="0" bIns="0" anchor="t">
            <a:normAutofit fontScale="94246" lnSpcReduction="10000"/>
          </a:bodyPr>
          <a:lstStyle/>
          <a:p>
            <a:pPr algn="l">
              <a:buNone/>
              <a:defRPr sz="3150" b="1">
                <a:solidFill>
                  <a:srgbClr val="151515"/>
                </a:solidFill>
                <a:latin typeface="Arial"/>
                <a:ea typeface="Arial"/>
                <a:cs typeface="Arial"/>
              </a:defRPr>
            </a:pPr>
            <a:r>
              <a:t>Can regional climate and vine development data improve the annual production forecast — early enough to change a decision?</a:t>
            </a:r>
          </a:p>
        </p:txBody>
      </p:sp>
      <p:sp>
        <p:nvSpPr>
          <p:cNvPr id="5" name="Rectangle 4">
            <a:extLst>
              <a:ext uri="{FF2B5EF4-FFF2-40B4-BE49-F238E27FC236}">
                <a16:creationId xmlns:a16="http://schemas.microsoft.com/office/drawing/2014/main" id="{77B1A66B-BE8A-4518-8CE2-97A96689A671}"/>
              </a:ext>
            </a:extLst>
          </p:cNvPr>
          <p:cNvSpPr>
            <a:spLocks noGrp="1"/>
          </p:cNvSpPr>
          <p:nvPr/>
        </p:nvSpPr>
        <p:spPr>
          <a:xfrm>
            <a:off x="8096250" y="1571625"/>
            <a:ext cx="3333750" cy="4000500"/>
          </a:xfrm>
          <a:prstGeom prst="rect">
            <a:avLst/>
          </a:prstGeom>
          <a:solidFill>
            <a:srgbClr val="F0F1F2"/>
          </a:solidFill>
          <a:ln w="0">
            <a:noFill/>
            <a:prstDash val="solid"/>
          </a:ln>
        </p:spPr>
        <p:txBody>
          <a:bodyPr/>
          <a:lstStyle/>
          <a:p>
            <a:endParaRPr lang="en-US"/>
          </a:p>
        </p:txBody>
      </p:sp>
      <p:sp>
        <p:nvSpPr>
          <p:cNvPr id="6" name="Rectangle 5">
            <a:extLst>
              <a:ext uri="{FF2B5EF4-FFF2-40B4-BE49-F238E27FC236}">
                <a16:creationId xmlns:a16="http://schemas.microsoft.com/office/drawing/2014/main" id="{83909464-0CE7-4D73-859B-2F8EA427FCD3}"/>
              </a:ext>
            </a:extLst>
          </p:cNvPr>
          <p:cNvSpPr>
            <a:spLocks noGrp="1"/>
          </p:cNvSpPr>
          <p:nvPr/>
        </p:nvSpPr>
        <p:spPr>
          <a:xfrm>
            <a:off x="8429625" y="185737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Who uses the answer</a:t>
            </a:r>
          </a:p>
        </p:txBody>
      </p:sp>
      <p:sp>
        <p:nvSpPr>
          <p:cNvPr id="7" name="Rectangle 6">
            <a:extLst>
              <a:ext uri="{FF2B5EF4-FFF2-40B4-BE49-F238E27FC236}">
                <a16:creationId xmlns:a16="http://schemas.microsoft.com/office/drawing/2014/main" id="{334E2884-2BC2-4896-AF19-268020E91848}"/>
              </a:ext>
            </a:extLst>
          </p:cNvPr>
          <p:cNvSpPr>
            <a:spLocks noGrp="1"/>
          </p:cNvSpPr>
          <p:nvPr/>
        </p:nvSpPr>
        <p:spPr>
          <a:xfrm>
            <a:off x="8429625" y="238125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Producers and cooperatives
Regulatory bodies
Supply-chain planners</a:t>
            </a:r>
          </a:p>
        </p:txBody>
      </p:sp>
      <p:cxnSp>
        <p:nvCxnSpPr>
          <p:cNvPr id="269" name="Straight Arrow Connector 268"/>
          <p:cNvCxnSpPr/>
          <p:nvPr/>
        </p:nvCxnSpPr>
        <p:spPr>
          <a:xfrm>
            <a:off x="8429625" y="3781425"/>
            <a:ext cx="2667000" cy="953"/>
          </a:xfrm>
          <a:prstGeom prst="straightConnector1">
            <a:avLst/>
          </a:prstGeom>
          <a:ln w="9525">
            <a:solidFill>
              <a:srgbClr val="B8BCC4"/>
            </a:solidFill>
            <a:prstDash val="solid"/>
          </a:ln>
        </p:spPr>
      </p:cxnSp>
      <p:sp>
        <p:nvSpPr>
          <p:cNvPr id="9" name="Rectangle 8">
            <a:extLst>
              <a:ext uri="{FF2B5EF4-FFF2-40B4-BE49-F238E27FC236}">
                <a16:creationId xmlns:a16="http://schemas.microsoft.com/office/drawing/2014/main" id="{11ADD122-BB52-4AC0-8D49-D42EE4937B80}"/>
              </a:ext>
            </a:extLst>
          </p:cNvPr>
          <p:cNvSpPr>
            <a:spLocks noGrp="1"/>
          </p:cNvSpPr>
          <p:nvPr/>
        </p:nvSpPr>
        <p:spPr>
          <a:xfrm>
            <a:off x="8429625" y="4048125"/>
            <a:ext cx="2667000" cy="333375"/>
          </a:xfrm>
          <a:prstGeom prst="rect">
            <a:avLst/>
          </a:prstGeom>
        </p:spPr>
        <p:txBody>
          <a:bodyPr lIns="0" tIns="0" rIns="0" bIns="0" anchor="t">
            <a:normAutofit/>
          </a:bodyPr>
          <a:lstStyle/>
          <a:p>
            <a:pPr algn="l">
              <a:buNone/>
              <a:defRPr sz="1725" b="1">
                <a:solidFill>
                  <a:srgbClr val="7B1E3A"/>
                </a:solidFill>
                <a:latin typeface="Arial"/>
                <a:ea typeface="Arial"/>
                <a:cs typeface="Arial"/>
              </a:defRPr>
            </a:pPr>
            <a:r>
              <a:t>Decisions affected</a:t>
            </a:r>
          </a:p>
        </p:txBody>
      </p:sp>
      <p:sp>
        <p:nvSpPr>
          <p:cNvPr id="10" name="Rectangle 9">
            <a:extLst>
              <a:ext uri="{FF2B5EF4-FFF2-40B4-BE49-F238E27FC236}">
                <a16:creationId xmlns:a16="http://schemas.microsoft.com/office/drawing/2014/main" id="{2E27EE99-1FFC-4DBD-A128-364BDB61554C}"/>
              </a:ext>
            </a:extLst>
          </p:cNvPr>
          <p:cNvSpPr>
            <a:spLocks noGrp="1"/>
          </p:cNvSpPr>
          <p:nvPr/>
        </p:nvSpPr>
        <p:spPr>
          <a:xfrm>
            <a:off x="8429625" y="4572000"/>
            <a:ext cx="2667000" cy="11906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Harvest planning
Storage and capacity
Risk assessment</a:t>
            </a:r>
          </a:p>
        </p:txBody>
      </p:sp>
      <p:sp>
        <p:nvSpPr>
          <p:cNvPr id="11" name="Rectangle 10">
            <a:extLst>
              <a:ext uri="{FF2B5EF4-FFF2-40B4-BE49-F238E27FC236}">
                <a16:creationId xmlns:a16="http://schemas.microsoft.com/office/drawing/2014/main" id="{53F371CF-A98C-4C17-B82D-D696D74F99BA}"/>
              </a:ext>
            </a:extLst>
          </p:cNvPr>
          <p:cNvSpPr>
            <a:spLocks noGrp="1"/>
          </p:cNvSpPr>
          <p:nvPr/>
        </p:nvSpPr>
        <p:spPr>
          <a:xfrm>
            <a:off x="400050" y="4810125"/>
            <a:ext cx="6858000" cy="514350"/>
          </a:xfrm>
          <a:prstGeom prst="rect">
            <a:avLst/>
          </a:prstGeom>
        </p:spPr>
        <p:txBody>
          <a:bodyPr lIns="0" tIns="0" rIns="0" bIns="0" anchor="t">
            <a:normAutofit fontScale="85625"/>
          </a:bodyPr>
          <a:lstStyle/>
          <a:p>
            <a:pPr algn="l">
              <a:buNone/>
              <a:defRPr sz="2250" b="1">
                <a:solidFill>
                  <a:srgbClr val="7B1E3A"/>
                </a:solidFill>
                <a:latin typeface="Arial"/>
                <a:ea typeface="Arial"/>
                <a:cs typeface="Arial"/>
              </a:defRPr>
            </a:pPr>
            <a:r>
              <a:t>A useful model must add accuracy and preserve trust.</a:t>
            </a:r>
          </a:p>
        </p:txBody>
      </p:sp>
      <p:sp>
        <p:nvSpPr>
          <p:cNvPr id="12" name="Rectangle 11">
            <a:extLst>
              <a:ext uri="{FF2B5EF4-FFF2-40B4-BE49-F238E27FC236}">
                <a16:creationId xmlns:a16="http://schemas.microsoft.com/office/drawing/2014/main" id="{47AC93E7-E0D3-418D-A665-D7BD9F465F88}"/>
              </a:ext>
            </a:extLst>
          </p:cNvPr>
          <p:cNvSpPr>
            <a:spLocks noGrp="1"/>
          </p:cNvSpPr>
          <p:nvPr/>
        </p:nvSpPr>
        <p:spPr>
          <a:xfrm>
            <a:off x="400050" y="5476875"/>
            <a:ext cx="6667500" cy="5238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Prediction alone is insufficient when the mechanism cannot be explained or challenged.</a:t>
            </a:r>
          </a:p>
        </p:txBody>
      </p:sp>
    </p:spTree>
    <p:extLst>
      <p:ext uri="{BB962C8B-B14F-4D97-AF65-F5344CB8AC3E}">
        <p14:creationId xmlns:p14="http://schemas.microsoft.com/office/powerpoint/2010/main" val="1233822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white-background">
            <a:extLst>
              <a:ext uri="{FF2B5EF4-FFF2-40B4-BE49-F238E27FC236}">
                <a16:creationId xmlns:a16="http://schemas.microsoft.com/office/drawing/2014/main" id="{8191A2E2-1C5F-4E23-9595-BFFBB831DFD7}"/>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lang="en-US"/>
          </a:p>
        </p:txBody>
      </p:sp>
      <p:sp>
        <p:nvSpPr>
          <p:cNvPr id="2" name="section-label">
            <a:extLst>
              <a:ext uri="{FF2B5EF4-FFF2-40B4-BE49-F238E27FC236}">
                <a16:creationId xmlns:a16="http://schemas.microsoft.com/office/drawing/2014/main" id="{4A4BD214-BDF3-4D1A-ACEE-97713EE1D52D}"/>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RESEARCH PROBLEM</a:t>
            </a:r>
          </a:p>
        </p:txBody>
      </p:sp>
      <p:sp>
        <p:nvSpPr>
          <p:cNvPr id="3" name="title">
            <a:extLst>
              <a:ext uri="{FF2B5EF4-FFF2-40B4-BE49-F238E27FC236}">
                <a16:creationId xmlns:a16="http://schemas.microsoft.com/office/drawing/2014/main" id="{36FB7E76-8173-490E-8DC3-AA953BB870B2}"/>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problem is not only forecasting, but auditable forecasting</a:t>
            </a:r>
          </a:p>
        </p:txBody>
      </p:sp>
      <p:sp>
        <p:nvSpPr>
          <p:cNvPr id="4" name="gap-panel">
            <a:extLst>
              <a:ext uri="{FF2B5EF4-FFF2-40B4-BE49-F238E27FC236}">
                <a16:creationId xmlns:a16="http://schemas.microsoft.com/office/drawing/2014/main" id="{D77A0810-E48F-4C7F-951D-98AB1B9564E7}"/>
              </a:ext>
            </a:extLst>
          </p:cNvPr>
          <p:cNvSpPr>
            <a:spLocks noGrp="1"/>
          </p:cNvSpPr>
          <p:nvPr/>
        </p:nvSpPr>
        <p:spPr>
          <a:xfrm>
            <a:off x="400050" y="1571625"/>
            <a:ext cx="5286375" cy="1619250"/>
          </a:xfrm>
          <a:prstGeom prst="rect">
            <a:avLst/>
          </a:prstGeom>
          <a:solidFill>
            <a:srgbClr val="F0F1F2"/>
          </a:solidFill>
          <a:ln w="0">
            <a:noFill/>
            <a:prstDash val="solid"/>
          </a:ln>
        </p:spPr>
        <p:txBody>
          <a:bodyPr/>
          <a:lstStyle/>
          <a:p>
            <a:endParaRPr lang="en-US"/>
          </a:p>
        </p:txBody>
      </p:sp>
      <p:sp>
        <p:nvSpPr>
          <p:cNvPr id="5" name="gap-stripe">
            <a:extLst>
              <a:ext uri="{FF2B5EF4-FFF2-40B4-BE49-F238E27FC236}">
                <a16:creationId xmlns:a16="http://schemas.microsoft.com/office/drawing/2014/main" id="{790A3E25-2C06-46A5-811C-4128039E70E0}"/>
              </a:ext>
            </a:extLst>
          </p:cNvPr>
          <p:cNvSpPr>
            <a:spLocks noGrp="1"/>
          </p:cNvSpPr>
          <p:nvPr/>
        </p:nvSpPr>
        <p:spPr>
          <a:xfrm>
            <a:off x="400050" y="1571625"/>
            <a:ext cx="76200" cy="1619250"/>
          </a:xfrm>
          <a:prstGeom prst="rect">
            <a:avLst/>
          </a:prstGeom>
          <a:solidFill>
            <a:srgbClr val="7B1E3A"/>
          </a:solidFill>
          <a:ln w="0">
            <a:noFill/>
            <a:prstDash val="solid"/>
          </a:ln>
        </p:spPr>
        <p:txBody>
          <a:bodyPr/>
          <a:lstStyle/>
          <a:p>
            <a:endParaRPr lang="en-US"/>
          </a:p>
        </p:txBody>
      </p:sp>
      <p:sp>
        <p:nvSpPr>
          <p:cNvPr id="6" name="gap-title">
            <a:extLst>
              <a:ext uri="{FF2B5EF4-FFF2-40B4-BE49-F238E27FC236}">
                <a16:creationId xmlns:a16="http://schemas.microsoft.com/office/drawing/2014/main" id="{CEC84097-32CE-4459-A681-5DA46251C78D}"/>
              </a:ext>
            </a:extLst>
          </p:cNvPr>
          <p:cNvSpPr>
            <a:spLocks noGrp="1"/>
          </p:cNvSpPr>
          <p:nvPr/>
        </p:nvSpPr>
        <p:spPr>
          <a:xfrm>
            <a:off x="666750" y="1790700"/>
            <a:ext cx="200025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The gap</a:t>
            </a:r>
          </a:p>
        </p:txBody>
      </p:sp>
      <p:sp>
        <p:nvSpPr>
          <p:cNvPr id="7" name="gap-body">
            <a:extLst>
              <a:ext uri="{FF2B5EF4-FFF2-40B4-BE49-F238E27FC236}">
                <a16:creationId xmlns:a16="http://schemas.microsoft.com/office/drawing/2014/main" id="{31D6C479-90F0-4AE9-9C92-942A7BF4D96C}"/>
              </a:ext>
            </a:extLst>
          </p:cNvPr>
          <p:cNvSpPr>
            <a:spLocks noGrp="1"/>
          </p:cNvSpPr>
          <p:nvPr/>
        </p:nvSpPr>
        <p:spPr>
          <a:xfrm>
            <a:off x="666750" y="2286000"/>
            <a:ext cx="4572000" cy="685800"/>
          </a:xfrm>
          <a:prstGeom prst="rect">
            <a:avLst/>
          </a:prstGeom>
          <a:noFill/>
          <a:ln w="0">
            <a:noFill/>
            <a:prstDash val="solid"/>
          </a:ln>
        </p:spPr>
        <p:txBody>
          <a:bodyPr/>
          <a:lstStyle/>
          <a:p>
            <a:pPr>
              <a:buNone/>
              <a:defRPr sz="1725" b="1">
                <a:solidFill>
                  <a:srgbClr val="111111"/>
                </a:solidFill>
                <a:latin typeface="Arial"/>
                <a:ea typeface="Arial"/>
                <a:cs typeface="Arial"/>
              </a:defRPr>
            </a:pPr>
            <a:r>
              <a:rPr sz="1725" b="1">
                <a:solidFill>
                  <a:srgbClr val="111111"/>
                </a:solidFill>
                <a:latin typeface="Arial"/>
                <a:ea typeface="Arial"/>
                <a:cs typeface="Arial"/>
              </a:rPr>
              <a:t>Modern ML can predict wine yield, but decision-makers need readable rules they can challenge with domain knowledge.</a:t>
            </a:r>
          </a:p>
        </p:txBody>
      </p:sp>
      <p:sp>
        <p:nvSpPr>
          <p:cNvPr id="8" name="rule-panel">
            <a:extLst>
              <a:ext uri="{FF2B5EF4-FFF2-40B4-BE49-F238E27FC236}">
                <a16:creationId xmlns:a16="http://schemas.microsoft.com/office/drawing/2014/main" id="{3A28869A-E8C4-488B-B71B-0D3CDF960E51}"/>
              </a:ext>
            </a:extLst>
          </p:cNvPr>
          <p:cNvSpPr>
            <a:spLocks noGrp="1"/>
          </p:cNvSpPr>
          <p:nvPr/>
        </p:nvSpPr>
        <p:spPr>
          <a:xfrm>
            <a:off x="6115050" y="1571625"/>
            <a:ext cx="5667375" cy="1619250"/>
          </a:xfrm>
          <a:prstGeom prst="rect">
            <a:avLst/>
          </a:prstGeom>
          <a:solidFill>
            <a:srgbClr val="F7EAF0"/>
          </a:solidFill>
          <a:ln w="0">
            <a:noFill/>
            <a:prstDash val="solid"/>
          </a:ln>
        </p:spPr>
        <p:txBody>
          <a:bodyPr/>
          <a:lstStyle/>
          <a:p>
            <a:endParaRPr lang="en-US"/>
          </a:p>
        </p:txBody>
      </p:sp>
      <p:sp>
        <p:nvSpPr>
          <p:cNvPr id="9" name="rule-stripe">
            <a:extLst>
              <a:ext uri="{FF2B5EF4-FFF2-40B4-BE49-F238E27FC236}">
                <a16:creationId xmlns:a16="http://schemas.microsoft.com/office/drawing/2014/main" id="{D0F61BE2-DEE5-4F30-9CEC-81DBA6836FDD}"/>
              </a:ext>
            </a:extLst>
          </p:cNvPr>
          <p:cNvSpPr>
            <a:spLocks noGrp="1"/>
          </p:cNvSpPr>
          <p:nvPr/>
        </p:nvSpPr>
        <p:spPr>
          <a:xfrm>
            <a:off x="6115050" y="1571625"/>
            <a:ext cx="76200" cy="1619250"/>
          </a:xfrm>
          <a:prstGeom prst="rect">
            <a:avLst/>
          </a:prstGeom>
          <a:solidFill>
            <a:srgbClr val="C79A41"/>
          </a:solidFill>
          <a:ln w="0">
            <a:noFill/>
            <a:prstDash val="solid"/>
          </a:ln>
        </p:spPr>
        <p:txBody>
          <a:bodyPr/>
          <a:lstStyle/>
          <a:p>
            <a:endParaRPr lang="en-US"/>
          </a:p>
        </p:txBody>
      </p:sp>
      <p:sp>
        <p:nvSpPr>
          <p:cNvPr id="10" name="rule-title">
            <a:extLst>
              <a:ext uri="{FF2B5EF4-FFF2-40B4-BE49-F238E27FC236}">
                <a16:creationId xmlns:a16="http://schemas.microsoft.com/office/drawing/2014/main" id="{DB90714C-C28C-4644-BEF2-BAB5C9E5A66E}"/>
              </a:ext>
            </a:extLst>
          </p:cNvPr>
          <p:cNvSpPr>
            <a:spLocks noGrp="1"/>
          </p:cNvSpPr>
          <p:nvPr/>
        </p:nvSpPr>
        <p:spPr>
          <a:xfrm>
            <a:off x="6381750" y="1790700"/>
            <a:ext cx="2667000" cy="266700"/>
          </a:xfrm>
          <a:prstGeom prst="rect">
            <a:avLst/>
          </a:prstGeom>
          <a:noFill/>
          <a:ln w="0">
            <a:noFill/>
            <a:prstDash val="solid"/>
          </a:ln>
        </p:spPr>
        <p:txBody>
          <a:bodyPr/>
          <a:lstStyle/>
          <a:p>
            <a:pPr>
              <a:buNone/>
              <a:defRPr sz="1500" b="1">
                <a:solidFill>
                  <a:srgbClr val="9A6A16"/>
                </a:solidFill>
                <a:latin typeface="Arial"/>
                <a:ea typeface="Arial"/>
                <a:cs typeface="Arial"/>
              </a:defRPr>
            </a:pPr>
            <a:r>
              <a:rPr sz="1500" b="1">
                <a:solidFill>
                  <a:srgbClr val="9A6A16"/>
                </a:solidFill>
                <a:latin typeface="Arial"/>
                <a:ea typeface="Arial"/>
                <a:cs typeface="Arial"/>
              </a:rPr>
              <a:t>What a rule looks like</a:t>
            </a:r>
          </a:p>
        </p:txBody>
      </p:sp>
      <p:sp>
        <p:nvSpPr>
          <p:cNvPr id="11" name="rule-body">
            <a:extLst>
              <a:ext uri="{FF2B5EF4-FFF2-40B4-BE49-F238E27FC236}">
                <a16:creationId xmlns:a16="http://schemas.microsoft.com/office/drawing/2014/main" id="{32801C43-2240-4ACD-93BA-16FF531F3AB9}"/>
              </a:ext>
            </a:extLst>
          </p:cNvPr>
          <p:cNvSpPr>
            <a:spLocks noGrp="1"/>
          </p:cNvSpPr>
          <p:nvPr/>
        </p:nvSpPr>
        <p:spPr>
          <a:xfrm>
            <a:off x="6381750" y="2190750"/>
            <a:ext cx="4953000" cy="838200"/>
          </a:xfrm>
          <a:prstGeom prst="rect">
            <a:avLst/>
          </a:prstGeom>
          <a:noFill/>
          <a:ln w="0">
            <a:noFill/>
            <a:prstDash val="solid"/>
          </a:ln>
        </p:spPr>
        <p:txBody>
          <a:bodyPr/>
          <a:lstStyle/>
          <a:p>
            <a:pPr>
              <a:buNone/>
              <a:defRPr sz="1425" i="1">
                <a:solidFill>
                  <a:srgbClr val="111111"/>
                </a:solidFill>
                <a:latin typeface="Arial"/>
                <a:ea typeface="Arial"/>
                <a:cs typeface="Arial"/>
              </a:defRPr>
            </a:pPr>
            <a:r>
              <a:rPr sz="1425" i="1">
                <a:solidFill>
                  <a:srgbClr val="111111"/>
                </a:solidFill>
                <a:latin typeface="Arial"/>
                <a:ea typeface="Arial"/>
                <a:cs typeface="Arial"/>
              </a:rPr>
              <a:t>IF harvest soil water is moderate</a:t>
            </a:r>
          </a:p>
          <a:p>
            <a:pPr>
              <a:buNone/>
              <a:defRPr sz="1425" i="1">
                <a:solidFill>
                  <a:srgbClr val="111111"/>
                </a:solidFill>
                <a:latin typeface="Arial"/>
                <a:ea typeface="Arial"/>
                <a:cs typeface="Arial"/>
              </a:defRPr>
            </a:pPr>
            <a:r>
              <a:rPr sz="1425" i="1">
                <a:solidFill>
                  <a:srgbClr val="111111"/>
                </a:solidFill>
                <a:latin typeface="Arial"/>
                <a:ea typeface="Arial"/>
                <a:cs typeface="Arial"/>
              </a:rPr>
              <a:t>AND post-maturity wet days are low</a:t>
            </a:r>
          </a:p>
          <a:p>
            <a:pPr>
              <a:buNone/>
              <a:defRPr sz="1425" i="1">
                <a:solidFill>
                  <a:srgbClr val="111111"/>
                </a:solidFill>
                <a:latin typeface="Arial"/>
                <a:ea typeface="Arial"/>
                <a:cs typeface="Arial"/>
              </a:defRPr>
            </a:pPr>
            <a:r>
              <a:rPr sz="1425" i="1">
                <a:solidFill>
                  <a:srgbClr val="111111"/>
                </a:solidFill>
                <a:latin typeface="Arial"/>
                <a:ea typeface="Arial"/>
                <a:cs typeface="Arial"/>
              </a:rPr>
              <a:t>THEN production is +192 mhl</a:t>
            </a:r>
          </a:p>
          <a:p>
            <a:pPr>
              <a:buNone/>
              <a:defRPr sz="1425" i="1">
                <a:solidFill>
                  <a:srgbClr val="111111"/>
                </a:solidFill>
                <a:latin typeface="Arial"/>
                <a:ea typeface="Arial"/>
                <a:cs typeface="Arial"/>
              </a:defRPr>
            </a:pPr>
            <a:r>
              <a:rPr sz="1425" i="1">
                <a:solidFill>
                  <a:srgbClr val="111111"/>
                </a:solidFill>
                <a:latin typeface="Arial"/>
                <a:ea typeface="Arial"/>
                <a:cs typeface="Arial"/>
              </a:rPr>
              <a:t>support 21.3% · p = 0.0095</a:t>
            </a:r>
          </a:p>
        </p:txBody>
      </p:sp>
      <p:sp>
        <p:nvSpPr>
          <p:cNvPr id="12" name="properties-panel">
            <a:extLst>
              <a:ext uri="{FF2B5EF4-FFF2-40B4-BE49-F238E27FC236}">
                <a16:creationId xmlns:a16="http://schemas.microsoft.com/office/drawing/2014/main" id="{A962D9F2-EE8C-4A0F-B89A-EB27119CE4F5}"/>
              </a:ext>
            </a:extLst>
          </p:cNvPr>
          <p:cNvSpPr>
            <a:spLocks noGrp="1"/>
          </p:cNvSpPr>
          <p:nvPr/>
        </p:nvSpPr>
        <p:spPr>
          <a:xfrm>
            <a:off x="400050" y="3571875"/>
            <a:ext cx="5286375" cy="2000250"/>
          </a:xfrm>
          <a:prstGeom prst="rect">
            <a:avLst/>
          </a:prstGeom>
          <a:solidFill>
            <a:srgbClr val="F8F0DC"/>
          </a:solidFill>
          <a:ln w="0">
            <a:noFill/>
            <a:prstDash val="solid"/>
          </a:ln>
        </p:spPr>
        <p:txBody>
          <a:bodyPr/>
          <a:lstStyle/>
          <a:p>
            <a:endParaRPr lang="en-US"/>
          </a:p>
        </p:txBody>
      </p:sp>
      <p:sp>
        <p:nvSpPr>
          <p:cNvPr id="13" name="properties-stripe">
            <a:extLst>
              <a:ext uri="{FF2B5EF4-FFF2-40B4-BE49-F238E27FC236}">
                <a16:creationId xmlns:a16="http://schemas.microsoft.com/office/drawing/2014/main" id="{77E43754-E203-491D-921A-6B9BF8ABDFD1}"/>
              </a:ext>
            </a:extLst>
          </p:cNvPr>
          <p:cNvSpPr>
            <a:spLocks noGrp="1"/>
          </p:cNvSpPr>
          <p:nvPr/>
        </p:nvSpPr>
        <p:spPr>
          <a:xfrm>
            <a:off x="400050" y="3571875"/>
            <a:ext cx="76200" cy="2000250"/>
          </a:xfrm>
          <a:prstGeom prst="rect">
            <a:avLst/>
          </a:prstGeom>
          <a:solidFill>
            <a:srgbClr val="7B1E3A"/>
          </a:solidFill>
          <a:ln w="0">
            <a:noFill/>
            <a:prstDash val="solid"/>
          </a:ln>
        </p:spPr>
        <p:txBody>
          <a:bodyPr/>
          <a:lstStyle/>
          <a:p>
            <a:endParaRPr lang="en-US"/>
          </a:p>
        </p:txBody>
      </p:sp>
      <p:sp>
        <p:nvSpPr>
          <p:cNvPr id="14" name="properties-title">
            <a:extLst>
              <a:ext uri="{FF2B5EF4-FFF2-40B4-BE49-F238E27FC236}">
                <a16:creationId xmlns:a16="http://schemas.microsoft.com/office/drawing/2014/main" id="{4FC8F8CC-39AE-4591-92E1-D2CB07FAE1CF}"/>
              </a:ext>
            </a:extLst>
          </p:cNvPr>
          <p:cNvSpPr>
            <a:spLocks noGrp="1"/>
          </p:cNvSpPr>
          <p:nvPr/>
        </p:nvSpPr>
        <p:spPr>
          <a:xfrm>
            <a:off x="666750" y="3790950"/>
            <a:ext cx="4572000" cy="24765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No prior work combines all five properties</a:t>
            </a:r>
          </a:p>
        </p:txBody>
      </p:sp>
      <p:sp>
        <p:nvSpPr>
          <p:cNvPr id="15" name="prop-0-0">
            <a:extLst>
              <a:ext uri="{FF2B5EF4-FFF2-40B4-BE49-F238E27FC236}">
                <a16:creationId xmlns:a16="http://schemas.microsoft.com/office/drawing/2014/main" id="{8A5DBD53-D4C9-4EB0-AC3D-A071893A0DE6}"/>
              </a:ext>
            </a:extLst>
          </p:cNvPr>
          <p:cNvSpPr>
            <a:spLocks noGrp="1"/>
          </p:cNvSpPr>
          <p:nvPr/>
        </p:nvSpPr>
        <p:spPr>
          <a:xfrm>
            <a:off x="666750" y="4171950"/>
            <a:ext cx="1714500" cy="266700"/>
          </a:xfrm>
          <a:prstGeom prst="rect">
            <a:avLst/>
          </a:prstGeom>
          <a:noFill/>
          <a:ln w="0">
            <a:noFill/>
            <a:prstDash val="solid"/>
          </a:ln>
        </p:spPr>
        <p:txBody>
          <a:bodyPr/>
          <a:lstStyle/>
          <a:p>
            <a:pPr algn="l">
              <a:buNone/>
              <a:defRPr sz="975" b="1">
                <a:solidFill>
                  <a:srgbClr val="111111"/>
                </a:solidFill>
                <a:latin typeface="Arial"/>
                <a:ea typeface="Arial"/>
                <a:cs typeface="Arial"/>
              </a:defRPr>
            </a:pPr>
            <a:r>
              <a:rPr sz="975" b="1">
                <a:solidFill>
                  <a:srgbClr val="111111"/>
                </a:solidFill>
                <a:latin typeface="Arial"/>
                <a:ea typeface="Arial"/>
                <a:cs typeface="Arial"/>
              </a:rPr>
              <a:t>Interpretable</a:t>
            </a:r>
          </a:p>
        </p:txBody>
      </p:sp>
      <p:sp>
        <p:nvSpPr>
          <p:cNvPr id="16" name="prop-0-1">
            <a:extLst>
              <a:ext uri="{FF2B5EF4-FFF2-40B4-BE49-F238E27FC236}">
                <a16:creationId xmlns:a16="http://schemas.microsoft.com/office/drawing/2014/main" id="{605E9160-13F2-40B1-B96F-21DEDFF435D9}"/>
              </a:ext>
            </a:extLst>
          </p:cNvPr>
          <p:cNvSpPr>
            <a:spLocks noGrp="1"/>
          </p:cNvSpPr>
          <p:nvPr/>
        </p:nvSpPr>
        <p:spPr>
          <a:xfrm>
            <a:off x="2571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Long-term</a:t>
            </a:r>
          </a:p>
        </p:txBody>
      </p:sp>
      <p:sp>
        <p:nvSpPr>
          <p:cNvPr id="17" name="prop-0-2">
            <a:extLst>
              <a:ext uri="{FF2B5EF4-FFF2-40B4-BE49-F238E27FC236}">
                <a16:creationId xmlns:a16="http://schemas.microsoft.com/office/drawing/2014/main" id="{A22FAC11-43E8-4CEC-8C8E-E9B63F35AE3E}"/>
              </a:ext>
            </a:extLst>
          </p:cNvPr>
          <p:cNvSpPr>
            <a:spLocks noGrp="1"/>
          </p:cNvSpPr>
          <p:nvPr/>
        </p:nvSpPr>
        <p:spPr>
          <a:xfrm>
            <a:off x="3714750"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Predictive</a:t>
            </a:r>
          </a:p>
        </p:txBody>
      </p:sp>
      <p:sp>
        <p:nvSpPr>
          <p:cNvPr id="18" name="prop-0-3">
            <a:extLst>
              <a:ext uri="{FF2B5EF4-FFF2-40B4-BE49-F238E27FC236}">
                <a16:creationId xmlns:a16="http://schemas.microsoft.com/office/drawing/2014/main" id="{7C4A4A25-D213-45F9-B4D7-1F9776BB1967}"/>
              </a:ext>
            </a:extLst>
          </p:cNvPr>
          <p:cNvSpPr>
            <a:spLocks noGrp="1"/>
          </p:cNvSpPr>
          <p:nvPr/>
        </p:nvSpPr>
        <p:spPr>
          <a:xfrm>
            <a:off x="4810125" y="4171950"/>
            <a:ext cx="952500" cy="266700"/>
          </a:xfrm>
          <a:prstGeom prst="rect">
            <a:avLst/>
          </a:prstGeom>
          <a:noFill/>
          <a:ln w="0">
            <a:noFill/>
            <a:prstDash val="solid"/>
          </a:ln>
        </p:spPr>
        <p:txBody>
          <a:bodyPr/>
          <a:lstStyle/>
          <a:p>
            <a:pPr algn="ctr">
              <a:buNone/>
              <a:defRPr sz="975" b="1">
                <a:solidFill>
                  <a:srgbClr val="111111"/>
                </a:solidFill>
                <a:latin typeface="Arial"/>
                <a:ea typeface="Arial"/>
                <a:cs typeface="Arial"/>
              </a:defRPr>
            </a:pPr>
            <a:r>
              <a:rPr sz="975" b="1">
                <a:solidFill>
                  <a:srgbClr val="111111"/>
                </a:solidFill>
                <a:latin typeface="Arial"/>
                <a:ea typeface="Arial"/>
                <a:cs typeface="Arial"/>
              </a:rPr>
              <a:t>Wine region</a:t>
            </a:r>
          </a:p>
        </p:txBody>
      </p:sp>
      <p:sp>
        <p:nvSpPr>
          <p:cNvPr id="19" name="prop-1-0">
            <a:extLst>
              <a:ext uri="{FF2B5EF4-FFF2-40B4-BE49-F238E27FC236}">
                <a16:creationId xmlns:a16="http://schemas.microsoft.com/office/drawing/2014/main" id="{DBB12BD9-97DA-49B9-B235-E2C3B6789004}"/>
              </a:ext>
            </a:extLst>
          </p:cNvPr>
          <p:cNvSpPr>
            <a:spLocks noGrp="1"/>
          </p:cNvSpPr>
          <p:nvPr/>
        </p:nvSpPr>
        <p:spPr>
          <a:xfrm>
            <a:off x="666750" y="4486275"/>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Modern ML</a:t>
            </a:r>
          </a:p>
        </p:txBody>
      </p:sp>
      <p:sp>
        <p:nvSpPr>
          <p:cNvPr id="20" name="prop-1-1">
            <a:extLst>
              <a:ext uri="{FF2B5EF4-FFF2-40B4-BE49-F238E27FC236}">
                <a16:creationId xmlns:a16="http://schemas.microsoft.com/office/drawing/2014/main" id="{FC2430EE-90C2-45B4-A8FE-5A20FFBC59DE}"/>
              </a:ext>
            </a:extLst>
          </p:cNvPr>
          <p:cNvSpPr>
            <a:spLocks noGrp="1"/>
          </p:cNvSpPr>
          <p:nvPr/>
        </p:nvSpPr>
        <p:spPr>
          <a:xfrm>
            <a:off x="2571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1" name="prop-1-2">
            <a:extLst>
              <a:ext uri="{FF2B5EF4-FFF2-40B4-BE49-F238E27FC236}">
                <a16:creationId xmlns:a16="http://schemas.microsoft.com/office/drawing/2014/main" id="{FB6C4CD0-9D23-4B7B-A202-CF54C3F011C0}"/>
              </a:ext>
            </a:extLst>
          </p:cNvPr>
          <p:cNvSpPr>
            <a:spLocks noGrp="1"/>
          </p:cNvSpPr>
          <p:nvPr/>
        </p:nvSpPr>
        <p:spPr>
          <a:xfrm>
            <a:off x="3714750"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partial</a:t>
            </a:r>
          </a:p>
        </p:txBody>
      </p:sp>
      <p:sp>
        <p:nvSpPr>
          <p:cNvPr id="22" name="prop-1-3">
            <a:extLst>
              <a:ext uri="{FF2B5EF4-FFF2-40B4-BE49-F238E27FC236}">
                <a16:creationId xmlns:a16="http://schemas.microsoft.com/office/drawing/2014/main" id="{FD02C65A-9A3A-4F65-89EE-DF1FC53EFE68}"/>
              </a:ext>
            </a:extLst>
          </p:cNvPr>
          <p:cNvSpPr>
            <a:spLocks noGrp="1"/>
          </p:cNvSpPr>
          <p:nvPr/>
        </p:nvSpPr>
        <p:spPr>
          <a:xfrm>
            <a:off x="4810125" y="4486275"/>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3" name="prop-2-0">
            <a:extLst>
              <a:ext uri="{FF2B5EF4-FFF2-40B4-BE49-F238E27FC236}">
                <a16:creationId xmlns:a16="http://schemas.microsoft.com/office/drawing/2014/main" id="{FBF2D9BE-5EDF-42AE-8093-D23D43750D6F}"/>
              </a:ext>
            </a:extLst>
          </p:cNvPr>
          <p:cNvSpPr>
            <a:spLocks noGrp="1"/>
          </p:cNvSpPr>
          <p:nvPr/>
        </p:nvSpPr>
        <p:spPr>
          <a:xfrm>
            <a:off x="666750" y="4800600"/>
            <a:ext cx="1714500" cy="266700"/>
          </a:xfrm>
          <a:prstGeom prst="rect">
            <a:avLst/>
          </a:prstGeom>
          <a:noFill/>
          <a:ln w="0">
            <a:noFill/>
            <a:prstDash val="solid"/>
          </a:ln>
        </p:spPr>
        <p:txBody>
          <a:bodyPr/>
          <a:lstStyle/>
          <a:p>
            <a:pPr algn="l">
              <a:buNone/>
              <a:defRPr sz="1125" b="0">
                <a:solidFill>
                  <a:srgbClr val="111111"/>
                </a:solidFill>
                <a:latin typeface="Arial"/>
                <a:ea typeface="Arial"/>
                <a:cs typeface="Arial"/>
              </a:defRPr>
            </a:pPr>
            <a:r>
              <a:rPr sz="1125" b="0">
                <a:solidFill>
                  <a:srgbClr val="111111"/>
                </a:solidFill>
                <a:latin typeface="Arial"/>
                <a:ea typeface="Arial"/>
                <a:cs typeface="Arial"/>
              </a:rPr>
              <a:t>Subgroup discovery</a:t>
            </a:r>
          </a:p>
        </p:txBody>
      </p:sp>
      <p:sp>
        <p:nvSpPr>
          <p:cNvPr id="24" name="prop-2-1">
            <a:extLst>
              <a:ext uri="{FF2B5EF4-FFF2-40B4-BE49-F238E27FC236}">
                <a16:creationId xmlns:a16="http://schemas.microsoft.com/office/drawing/2014/main" id="{F7772FCB-8E3C-4D9F-8469-468747E63FBE}"/>
              </a:ext>
            </a:extLst>
          </p:cNvPr>
          <p:cNvSpPr>
            <a:spLocks noGrp="1"/>
          </p:cNvSpPr>
          <p:nvPr/>
        </p:nvSpPr>
        <p:spPr>
          <a:xfrm>
            <a:off x="2571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yes</a:t>
            </a:r>
          </a:p>
        </p:txBody>
      </p:sp>
      <p:sp>
        <p:nvSpPr>
          <p:cNvPr id="25" name="prop-2-2">
            <a:extLst>
              <a:ext uri="{FF2B5EF4-FFF2-40B4-BE49-F238E27FC236}">
                <a16:creationId xmlns:a16="http://schemas.microsoft.com/office/drawing/2014/main" id="{02E28D6E-D69E-42CD-AB93-B3BBDB9A28EE}"/>
              </a:ext>
            </a:extLst>
          </p:cNvPr>
          <p:cNvSpPr>
            <a:spLocks noGrp="1"/>
          </p:cNvSpPr>
          <p:nvPr/>
        </p:nvSpPr>
        <p:spPr>
          <a:xfrm>
            <a:off x="3714750"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6" name="prop-2-3">
            <a:extLst>
              <a:ext uri="{FF2B5EF4-FFF2-40B4-BE49-F238E27FC236}">
                <a16:creationId xmlns:a16="http://schemas.microsoft.com/office/drawing/2014/main" id="{95BCAA5C-8534-4E6A-9860-8FE327BBF1C4}"/>
              </a:ext>
            </a:extLst>
          </p:cNvPr>
          <p:cNvSpPr>
            <a:spLocks noGrp="1"/>
          </p:cNvSpPr>
          <p:nvPr/>
        </p:nvSpPr>
        <p:spPr>
          <a:xfrm>
            <a:off x="4810125" y="4800600"/>
            <a:ext cx="952500" cy="266700"/>
          </a:xfrm>
          <a:prstGeom prst="rect">
            <a:avLst/>
          </a:prstGeom>
          <a:noFill/>
          <a:ln w="0">
            <a:noFill/>
            <a:prstDash val="solid"/>
          </a:ln>
        </p:spPr>
        <p:txBody>
          <a:bodyPr/>
          <a:lstStyle/>
          <a:p>
            <a:pPr algn="ctr">
              <a:buNone/>
              <a:defRPr sz="1125" b="0">
                <a:solidFill>
                  <a:srgbClr val="111111"/>
                </a:solidFill>
                <a:latin typeface="Arial"/>
                <a:ea typeface="Arial"/>
                <a:cs typeface="Arial"/>
              </a:defRPr>
            </a:pPr>
            <a:r>
              <a:rPr sz="1125" b="0">
                <a:solidFill>
                  <a:srgbClr val="111111"/>
                </a:solidFill>
                <a:latin typeface="Arial"/>
                <a:ea typeface="Arial"/>
                <a:cs typeface="Arial"/>
              </a:rPr>
              <a:t>no</a:t>
            </a:r>
          </a:p>
        </p:txBody>
      </p:sp>
      <p:sp>
        <p:nvSpPr>
          <p:cNvPr id="27" name="prop-3-0">
            <a:extLst>
              <a:ext uri="{FF2B5EF4-FFF2-40B4-BE49-F238E27FC236}">
                <a16:creationId xmlns:a16="http://schemas.microsoft.com/office/drawing/2014/main" id="{B446589B-F740-4A12-8D43-3882BA561987}"/>
              </a:ext>
            </a:extLst>
          </p:cNvPr>
          <p:cNvSpPr>
            <a:spLocks noGrp="1"/>
          </p:cNvSpPr>
          <p:nvPr/>
        </p:nvSpPr>
        <p:spPr>
          <a:xfrm>
            <a:off x="666750" y="5114925"/>
            <a:ext cx="1714500" cy="266700"/>
          </a:xfrm>
          <a:prstGeom prst="rect">
            <a:avLst/>
          </a:prstGeom>
          <a:noFill/>
          <a:ln w="0">
            <a:noFill/>
            <a:prstDash val="solid"/>
          </a:ln>
        </p:spPr>
        <p:txBody>
          <a:bodyPr/>
          <a:lstStyle/>
          <a:p>
            <a:pPr algn="l">
              <a:buNone/>
              <a:defRPr sz="1125" b="1">
                <a:solidFill>
                  <a:srgbClr val="7B1E3A"/>
                </a:solidFill>
                <a:latin typeface="Arial"/>
                <a:ea typeface="Arial"/>
                <a:cs typeface="Arial"/>
              </a:defRPr>
            </a:pPr>
            <a:r>
              <a:rPr sz="1125" b="1">
                <a:solidFill>
                  <a:srgbClr val="7B1E3A"/>
                </a:solidFill>
                <a:latin typeface="Arial"/>
                <a:ea typeface="Arial"/>
                <a:cs typeface="Arial"/>
              </a:rPr>
              <a:t>This thesis</a:t>
            </a:r>
          </a:p>
        </p:txBody>
      </p:sp>
      <p:sp>
        <p:nvSpPr>
          <p:cNvPr id="28" name="prop-3-1">
            <a:extLst>
              <a:ext uri="{FF2B5EF4-FFF2-40B4-BE49-F238E27FC236}">
                <a16:creationId xmlns:a16="http://schemas.microsoft.com/office/drawing/2014/main" id="{F459A0AB-C00F-4FD4-B01B-B0B13102B0CA}"/>
              </a:ext>
            </a:extLst>
          </p:cNvPr>
          <p:cNvSpPr>
            <a:spLocks noGrp="1"/>
          </p:cNvSpPr>
          <p:nvPr/>
        </p:nvSpPr>
        <p:spPr>
          <a:xfrm>
            <a:off x="2571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29" name="prop-3-2">
            <a:extLst>
              <a:ext uri="{FF2B5EF4-FFF2-40B4-BE49-F238E27FC236}">
                <a16:creationId xmlns:a16="http://schemas.microsoft.com/office/drawing/2014/main" id="{E1CEA3EE-F592-4EED-BBB6-8B8D988B4932}"/>
              </a:ext>
            </a:extLst>
          </p:cNvPr>
          <p:cNvSpPr>
            <a:spLocks noGrp="1"/>
          </p:cNvSpPr>
          <p:nvPr/>
        </p:nvSpPr>
        <p:spPr>
          <a:xfrm>
            <a:off x="3714750"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0" name="prop-3-3">
            <a:extLst>
              <a:ext uri="{FF2B5EF4-FFF2-40B4-BE49-F238E27FC236}">
                <a16:creationId xmlns:a16="http://schemas.microsoft.com/office/drawing/2014/main" id="{2AC03407-D545-4B55-A11C-D71F1BA09A80}"/>
              </a:ext>
            </a:extLst>
          </p:cNvPr>
          <p:cNvSpPr>
            <a:spLocks noGrp="1"/>
          </p:cNvSpPr>
          <p:nvPr/>
        </p:nvSpPr>
        <p:spPr>
          <a:xfrm>
            <a:off x="4810125" y="5114925"/>
            <a:ext cx="952500" cy="266700"/>
          </a:xfrm>
          <a:prstGeom prst="rect">
            <a:avLst/>
          </a:prstGeom>
          <a:noFill/>
          <a:ln w="0">
            <a:noFill/>
            <a:prstDash val="solid"/>
          </a:ln>
        </p:spPr>
        <p:txBody>
          <a:bodyPr/>
          <a:lstStyle/>
          <a:p>
            <a:pPr algn="ctr">
              <a:buNone/>
              <a:defRPr sz="1125" b="1">
                <a:solidFill>
                  <a:srgbClr val="7B1E3A"/>
                </a:solidFill>
                <a:latin typeface="Arial"/>
                <a:ea typeface="Arial"/>
                <a:cs typeface="Arial"/>
              </a:defRPr>
            </a:pPr>
            <a:r>
              <a:rPr sz="1125" b="1">
                <a:solidFill>
                  <a:srgbClr val="7B1E3A"/>
                </a:solidFill>
                <a:latin typeface="Arial"/>
                <a:ea typeface="Arial"/>
                <a:cs typeface="Arial"/>
              </a:rPr>
              <a:t>yes</a:t>
            </a:r>
          </a:p>
        </p:txBody>
      </p:sp>
      <p:sp>
        <p:nvSpPr>
          <p:cNvPr id="31" name="why-panel">
            <a:extLst>
              <a:ext uri="{FF2B5EF4-FFF2-40B4-BE49-F238E27FC236}">
                <a16:creationId xmlns:a16="http://schemas.microsoft.com/office/drawing/2014/main" id="{6102CF9C-5841-4F16-B22B-C0C972AB318A}"/>
              </a:ext>
            </a:extLst>
          </p:cNvPr>
          <p:cNvSpPr>
            <a:spLocks noGrp="1"/>
          </p:cNvSpPr>
          <p:nvPr/>
        </p:nvSpPr>
        <p:spPr>
          <a:xfrm>
            <a:off x="6115050" y="3571875"/>
            <a:ext cx="5667375" cy="2000250"/>
          </a:xfrm>
          <a:prstGeom prst="rect">
            <a:avLst/>
          </a:prstGeom>
          <a:solidFill>
            <a:srgbClr val="EAF5EE"/>
          </a:solidFill>
          <a:ln w="0">
            <a:noFill/>
            <a:prstDash val="solid"/>
          </a:ln>
        </p:spPr>
        <p:txBody>
          <a:bodyPr/>
          <a:lstStyle/>
          <a:p>
            <a:endParaRPr lang="en-US"/>
          </a:p>
        </p:txBody>
      </p:sp>
      <p:sp>
        <p:nvSpPr>
          <p:cNvPr id="32" name="why-stripe">
            <a:extLst>
              <a:ext uri="{FF2B5EF4-FFF2-40B4-BE49-F238E27FC236}">
                <a16:creationId xmlns:a16="http://schemas.microsoft.com/office/drawing/2014/main" id="{447D9D22-5352-4F51-ADFA-1E12F42E3B2F}"/>
              </a:ext>
            </a:extLst>
          </p:cNvPr>
          <p:cNvSpPr>
            <a:spLocks noGrp="1"/>
          </p:cNvSpPr>
          <p:nvPr/>
        </p:nvSpPr>
        <p:spPr>
          <a:xfrm>
            <a:off x="6115050" y="3571875"/>
            <a:ext cx="76200" cy="2000250"/>
          </a:xfrm>
          <a:prstGeom prst="rect">
            <a:avLst/>
          </a:prstGeom>
          <a:solidFill>
            <a:srgbClr val="268A8A"/>
          </a:solidFill>
          <a:ln w="0">
            <a:noFill/>
            <a:prstDash val="solid"/>
          </a:ln>
        </p:spPr>
        <p:txBody>
          <a:bodyPr/>
          <a:lstStyle/>
          <a:p>
            <a:endParaRPr lang="en-US"/>
          </a:p>
        </p:txBody>
      </p:sp>
      <p:sp>
        <p:nvSpPr>
          <p:cNvPr id="33" name="why-title">
            <a:extLst>
              <a:ext uri="{FF2B5EF4-FFF2-40B4-BE49-F238E27FC236}">
                <a16:creationId xmlns:a16="http://schemas.microsoft.com/office/drawing/2014/main" id="{EF1593B0-19F6-465F-BA55-7C9E6BC893EB}"/>
              </a:ext>
            </a:extLst>
          </p:cNvPr>
          <p:cNvSpPr>
            <a:spLocks noGrp="1"/>
          </p:cNvSpPr>
          <p:nvPr/>
        </p:nvSpPr>
        <p:spPr>
          <a:xfrm>
            <a:off x="6381750" y="3790950"/>
            <a:ext cx="3429000" cy="266700"/>
          </a:xfrm>
          <a:prstGeom prst="rect">
            <a:avLst/>
          </a:prstGeom>
          <a:noFill/>
          <a:ln w="0">
            <a:noFill/>
            <a:prstDash val="solid"/>
          </a:ln>
        </p:spPr>
        <p:txBody>
          <a:bodyPr/>
          <a:lstStyle/>
          <a:p>
            <a:pPr>
              <a:buNone/>
              <a:defRPr sz="1500" b="1">
                <a:solidFill>
                  <a:srgbClr val="268A8A"/>
                </a:solidFill>
                <a:latin typeface="Arial"/>
                <a:ea typeface="Arial"/>
                <a:cs typeface="Arial"/>
              </a:defRPr>
            </a:pPr>
            <a:r>
              <a:rPr sz="1500" b="1" dirty="0">
                <a:solidFill>
                  <a:srgbClr val="268A8A"/>
                </a:solidFill>
                <a:latin typeface="Arial"/>
                <a:ea typeface="Arial"/>
                <a:cs typeface="Arial"/>
              </a:rPr>
              <a:t>Why interpretability matters</a:t>
            </a:r>
          </a:p>
        </p:txBody>
      </p:sp>
      <p:sp>
        <p:nvSpPr>
          <p:cNvPr id="34" name="why-body">
            <a:extLst>
              <a:ext uri="{FF2B5EF4-FFF2-40B4-BE49-F238E27FC236}">
                <a16:creationId xmlns:a16="http://schemas.microsoft.com/office/drawing/2014/main" id="{A279BAF8-C4CF-4C0A-A723-62959C4F3CCD}"/>
              </a:ext>
            </a:extLst>
          </p:cNvPr>
          <p:cNvSpPr>
            <a:spLocks noGrp="1"/>
          </p:cNvSpPr>
          <p:nvPr/>
        </p:nvSpPr>
        <p:spPr>
          <a:xfrm>
            <a:off x="6572250" y="4333875"/>
            <a:ext cx="4762500" cy="1000125"/>
          </a:xfrm>
          <a:prstGeom prst="rect">
            <a:avLst/>
          </a:prstGeom>
          <a:noFill/>
          <a:ln w="0">
            <a:noFill/>
            <a:prstDash val="solid"/>
          </a:ln>
        </p:spPr>
        <p:txBody>
          <a:bodyPr/>
          <a:lstStyle/>
          <a:p>
            <a:pPr>
              <a:buNone/>
              <a:defRPr sz="1425">
                <a:solidFill>
                  <a:srgbClr val="111111"/>
                </a:solidFill>
                <a:latin typeface="Arial"/>
                <a:ea typeface="Arial"/>
                <a:cs typeface="Arial"/>
              </a:defRPr>
            </a:pPr>
            <a:r>
              <a:rPr sz="1425" dirty="0">
                <a:solidFill>
                  <a:srgbClr val="111111"/>
                </a:solidFill>
                <a:latin typeface="Arial"/>
                <a:ea typeface="Arial"/>
                <a:cs typeface="Arial"/>
              </a:rPr>
              <a:t>Readable by agronomists without ML expertise</a:t>
            </a:r>
          </a:p>
          <a:p>
            <a:pPr>
              <a:buNone/>
              <a:defRPr sz="1425">
                <a:solidFill>
                  <a:srgbClr val="111111"/>
                </a:solidFill>
                <a:latin typeface="Arial"/>
                <a:ea typeface="Arial"/>
                <a:cs typeface="Arial"/>
              </a:defRPr>
            </a:pPr>
            <a:r>
              <a:rPr sz="1425" dirty="0">
                <a:solidFill>
                  <a:srgbClr val="111111"/>
                </a:solidFill>
                <a:latin typeface="Arial"/>
                <a:ea typeface="Arial"/>
                <a:cs typeface="Arial"/>
              </a:rPr>
              <a:t>Each rule carries support and a p-value</a:t>
            </a:r>
          </a:p>
          <a:p>
            <a:pPr>
              <a:buNone/>
              <a:defRPr sz="1425">
                <a:solidFill>
                  <a:srgbClr val="111111"/>
                </a:solidFill>
                <a:latin typeface="Arial"/>
                <a:ea typeface="Arial"/>
                <a:cs typeface="Arial"/>
              </a:defRPr>
            </a:pPr>
            <a:r>
              <a:rPr sz="1425" dirty="0">
                <a:solidFill>
                  <a:srgbClr val="111111"/>
                </a:solidFill>
                <a:latin typeface="Arial"/>
                <a:ea typeface="Arial"/>
                <a:cs typeface="Arial"/>
              </a:rPr>
              <a:t>Can be challenged and domain-validated</a:t>
            </a:r>
          </a:p>
          <a:p>
            <a:pPr>
              <a:buNone/>
              <a:defRPr sz="1425">
                <a:solidFill>
                  <a:srgbClr val="111111"/>
                </a:solidFill>
                <a:latin typeface="Arial"/>
                <a:ea typeface="Arial"/>
                <a:cs typeface="Arial"/>
              </a:defRPr>
            </a:pPr>
            <a:r>
              <a:rPr sz="1425" dirty="0">
                <a:solidFill>
                  <a:srgbClr val="111111"/>
                </a:solidFill>
                <a:latin typeface="Arial"/>
                <a:ea typeface="Arial"/>
                <a:cs typeface="Arial"/>
              </a:rPr>
              <a:t>Useful for diagnosis even when forecasting fails</a:t>
            </a:r>
          </a:p>
        </p:txBody>
      </p:sp>
      <p:sp>
        <p:nvSpPr>
          <p:cNvPr id="36" name="slide-number">
            <a:extLst>
              <a:ext uri="{FF2B5EF4-FFF2-40B4-BE49-F238E27FC236}">
                <a16:creationId xmlns:a16="http://schemas.microsoft.com/office/drawing/2014/main" id="{4D52E4B0-8C58-48A2-8164-DFE0BDB9B4F1}"/>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7" name="slide-number-03">
            <a:extLst>
              <a:ext uri="{FF2B5EF4-FFF2-40B4-BE49-F238E27FC236}">
                <a16:creationId xmlns:a16="http://schemas.microsoft.com/office/drawing/2014/main" id="{C18A7B2B-F2A8-47B0-B405-4CD7822C71EB}"/>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03</a:t>
            </a:r>
          </a:p>
        </p:txBody>
      </p:sp>
    </p:spTree>
    <p:extLst>
      <p:ext uri="{BB962C8B-B14F-4D97-AF65-F5344CB8AC3E}">
        <p14:creationId xmlns:p14="http://schemas.microsoft.com/office/powerpoint/2010/main" val="1583641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D421323-B346-45E5-8EDF-5D04D7534FF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PROBLEM</a:t>
            </a:r>
          </a:p>
        </p:txBody>
      </p:sp>
      <p:sp>
        <p:nvSpPr>
          <p:cNvPr id="2" name="Rectangle 1">
            <a:extLst>
              <a:ext uri="{FF2B5EF4-FFF2-40B4-BE49-F238E27FC236}">
                <a16:creationId xmlns:a16="http://schemas.microsoft.com/office/drawing/2014/main" id="{AB98D7D5-703B-45E1-B93A-BD9D4E27C658}"/>
              </a:ext>
            </a:extLst>
          </p:cNvPr>
          <p:cNvSpPr>
            <a:spLocks noGrp="1"/>
          </p:cNvSpPr>
          <p:nvPr/>
        </p:nvSpPr>
        <p:spPr>
          <a:xfrm>
            <a:off x="400050" y="552450"/>
            <a:ext cx="11391900" cy="781050"/>
          </a:xfrm>
          <a:prstGeom prst="rect">
            <a:avLst/>
          </a:prstGeom>
        </p:spPr>
        <p:txBody>
          <a:bodyPr lIns="0" tIns="0" rIns="0" bIns="0" anchor="t">
            <a:normAutofit fontScale="97493"/>
          </a:bodyPr>
          <a:lstStyle/>
          <a:p>
            <a:pPr algn="l">
              <a:buNone/>
              <a:defRPr sz="3600" b="1">
                <a:solidFill>
                  <a:srgbClr val="151515"/>
                </a:solidFill>
                <a:latin typeface="Arial"/>
                <a:ea typeface="Arial"/>
                <a:cs typeface="Arial"/>
              </a:defRPr>
            </a:pPr>
            <a:r>
              <a:rPr dirty="0"/>
              <a:t>Why this is hard: the climate signal is real, but diluted</a:t>
            </a:r>
          </a:p>
        </p:txBody>
      </p:sp>
      <p:sp>
        <p:nvSpPr>
          <p:cNvPr id="3" name="Rectangle 2">
            <a:extLst>
              <a:ext uri="{FF2B5EF4-FFF2-40B4-BE49-F238E27FC236}">
                <a16:creationId xmlns:a16="http://schemas.microsoft.com/office/drawing/2014/main" id="{28D8FF44-D18B-4F9F-B6F8-697392C63D4A}"/>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04</a:t>
            </a:r>
          </a:p>
        </p:txBody>
      </p:sp>
      <p:sp>
        <p:nvSpPr>
          <p:cNvPr id="4" name="Rectangle 3">
            <a:extLst>
              <a:ext uri="{FF2B5EF4-FFF2-40B4-BE49-F238E27FC236}">
                <a16:creationId xmlns:a16="http://schemas.microsoft.com/office/drawing/2014/main" id="{F482CCB1-1288-4841-9BD6-59E2CB024E10}"/>
              </a:ext>
            </a:extLst>
          </p:cNvPr>
          <p:cNvSpPr>
            <a:spLocks noGrp="1"/>
          </p:cNvSpPr>
          <p:nvPr/>
        </p:nvSpPr>
        <p:spPr>
          <a:xfrm>
            <a:off x="400050" y="1362075"/>
            <a:ext cx="10668000" cy="666750"/>
          </a:xfrm>
          <a:prstGeom prst="rect">
            <a:avLst/>
          </a:prstGeom>
        </p:spPr>
        <p:txBody>
          <a:bodyPr lIns="0" tIns="0" rIns="0" bIns="0" anchor="t">
            <a:normAutofit fontScale="97222" lnSpcReduction="10000"/>
          </a:bodyPr>
          <a:lstStyle/>
          <a:p>
            <a:pPr algn="l">
              <a:buNone/>
              <a:defRPr sz="2250" b="1">
                <a:solidFill>
                  <a:srgbClr val="151515"/>
                </a:solidFill>
                <a:latin typeface="Arial"/>
                <a:ea typeface="Arial"/>
                <a:cs typeface="Arial"/>
              </a:defRPr>
            </a:pPr>
            <a:r>
              <a:rPr dirty="0"/>
              <a:t>The target combines climate, physiology, human decisions and structural change in one annual regional number.</a:t>
            </a:r>
          </a:p>
        </p:txBody>
      </p:sp>
      <p:sp>
        <p:nvSpPr>
          <p:cNvPr id="5" name="Rectangle 4">
            <a:extLst>
              <a:ext uri="{FF2B5EF4-FFF2-40B4-BE49-F238E27FC236}">
                <a16:creationId xmlns:a16="http://schemas.microsoft.com/office/drawing/2014/main" id="{8ACF006F-92E9-4F4A-9BDC-F9A914396A36}"/>
              </a:ext>
            </a:extLst>
          </p:cNvPr>
          <p:cNvSpPr>
            <a:spLocks noGrp="1"/>
          </p:cNvSpPr>
          <p:nvPr/>
        </p:nvSpPr>
        <p:spPr>
          <a:xfrm>
            <a:off x="400050" y="2476500"/>
            <a:ext cx="2495550" cy="2857500"/>
          </a:xfrm>
          <a:prstGeom prst="rect">
            <a:avLst/>
          </a:prstGeom>
          <a:solidFill>
            <a:schemeClr val="bg2">
              <a:lumMod val="90000"/>
            </a:schemeClr>
          </a:solidFill>
          <a:ln w="0">
            <a:noFill/>
            <a:prstDash val="solid"/>
          </a:ln>
        </p:spPr>
        <p:txBody>
          <a:bodyPr/>
          <a:lstStyle/>
          <a:p>
            <a:endParaRPr lang="en-US"/>
          </a:p>
        </p:txBody>
      </p:sp>
      <p:sp>
        <p:nvSpPr>
          <p:cNvPr id="6" name="Rectangle 5">
            <a:extLst>
              <a:ext uri="{FF2B5EF4-FFF2-40B4-BE49-F238E27FC236}">
                <a16:creationId xmlns:a16="http://schemas.microsoft.com/office/drawing/2014/main" id="{D59C99F2-32E2-4BC9-A4C0-64529514F429}"/>
              </a:ext>
            </a:extLst>
          </p:cNvPr>
          <p:cNvSpPr>
            <a:spLocks noGrp="1"/>
          </p:cNvSpPr>
          <p:nvPr/>
        </p:nvSpPr>
        <p:spPr>
          <a:xfrm>
            <a:off x="59055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01</a:t>
            </a:r>
          </a:p>
        </p:txBody>
      </p:sp>
      <p:sp>
        <p:nvSpPr>
          <p:cNvPr id="7" name="Rectangle 6">
            <a:extLst>
              <a:ext uri="{FF2B5EF4-FFF2-40B4-BE49-F238E27FC236}">
                <a16:creationId xmlns:a16="http://schemas.microsoft.com/office/drawing/2014/main" id="{8615011A-FF6E-4E62-8717-3717386B2F42}"/>
              </a:ext>
            </a:extLst>
          </p:cNvPr>
          <p:cNvSpPr>
            <a:spLocks noGrp="1"/>
          </p:cNvSpPr>
          <p:nvPr/>
        </p:nvSpPr>
        <p:spPr>
          <a:xfrm>
            <a:off x="590550"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Biology spans years</a:t>
            </a:r>
          </a:p>
        </p:txBody>
      </p:sp>
      <p:sp>
        <p:nvSpPr>
          <p:cNvPr id="8" name="Rectangle 7">
            <a:extLst>
              <a:ext uri="{FF2B5EF4-FFF2-40B4-BE49-F238E27FC236}">
                <a16:creationId xmlns:a16="http://schemas.microsoft.com/office/drawing/2014/main" id="{E6411935-BF4D-469F-A11C-02DB0F9CC3BC}"/>
              </a:ext>
            </a:extLst>
          </p:cNvPr>
          <p:cNvSpPr>
            <a:spLocks noGrp="1"/>
          </p:cNvSpPr>
          <p:nvPr/>
        </p:nvSpPr>
        <p:spPr>
          <a:xfrm>
            <a:off x="59055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Yield potential is partly set in the previous season, before the harvest year begins.</a:t>
            </a:r>
          </a:p>
        </p:txBody>
      </p:sp>
      <p:sp>
        <p:nvSpPr>
          <p:cNvPr id="9" name="Rectangle 8">
            <a:extLst>
              <a:ext uri="{FF2B5EF4-FFF2-40B4-BE49-F238E27FC236}">
                <a16:creationId xmlns:a16="http://schemas.microsoft.com/office/drawing/2014/main" id="{1577F519-54EC-4B05-B179-0DAD26BDBC2C}"/>
              </a:ext>
            </a:extLst>
          </p:cNvPr>
          <p:cNvSpPr>
            <a:spLocks noGrp="1"/>
          </p:cNvSpPr>
          <p:nvPr/>
        </p:nvSpPr>
        <p:spPr>
          <a:xfrm>
            <a:off x="3305175" y="2476500"/>
            <a:ext cx="2495550" cy="2857500"/>
          </a:xfrm>
          <a:prstGeom prst="rect">
            <a:avLst/>
          </a:prstGeom>
          <a:solidFill>
            <a:schemeClr val="tx1">
              <a:lumMod val="75000"/>
              <a:lumOff val="25000"/>
            </a:schemeClr>
          </a:solidFill>
          <a:ln w="0">
            <a:noFill/>
            <a:prstDash val="solid"/>
          </a:ln>
        </p:spPr>
        <p:txBody>
          <a:bodyPr/>
          <a:lstStyle/>
          <a:p>
            <a:endParaRPr lang="en-US">
              <a:solidFill>
                <a:schemeClr val="bg1"/>
              </a:solidFill>
            </a:endParaRPr>
          </a:p>
        </p:txBody>
      </p:sp>
      <p:sp>
        <p:nvSpPr>
          <p:cNvPr id="10" name="Rectangle 9">
            <a:extLst>
              <a:ext uri="{FF2B5EF4-FFF2-40B4-BE49-F238E27FC236}">
                <a16:creationId xmlns:a16="http://schemas.microsoft.com/office/drawing/2014/main" id="{DA8B20F4-FBBF-493B-B007-384398B030E6}"/>
              </a:ext>
            </a:extLst>
          </p:cNvPr>
          <p:cNvSpPr>
            <a:spLocks noGrp="1"/>
          </p:cNvSpPr>
          <p:nvPr/>
        </p:nvSpPr>
        <p:spPr>
          <a:xfrm>
            <a:off x="349567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bg1"/>
                </a:solidFill>
              </a:rPr>
              <a:t>02</a:t>
            </a:r>
          </a:p>
        </p:txBody>
      </p:sp>
      <p:sp>
        <p:nvSpPr>
          <p:cNvPr id="11" name="Rectangle 10">
            <a:extLst>
              <a:ext uri="{FF2B5EF4-FFF2-40B4-BE49-F238E27FC236}">
                <a16:creationId xmlns:a16="http://schemas.microsoft.com/office/drawing/2014/main" id="{D149855F-071A-4689-A4E1-3A717C7C81F1}"/>
              </a:ext>
            </a:extLst>
          </p:cNvPr>
          <p:cNvSpPr>
            <a:spLocks noGrp="1"/>
          </p:cNvSpPr>
          <p:nvPr/>
        </p:nvSpPr>
        <p:spPr>
          <a:xfrm>
            <a:off x="349567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dirty="0">
                <a:solidFill>
                  <a:schemeClr val="bg1"/>
                </a:solidFill>
              </a:rPr>
              <a:t>Aggregation hides variation</a:t>
            </a:r>
          </a:p>
        </p:txBody>
      </p:sp>
      <p:sp>
        <p:nvSpPr>
          <p:cNvPr id="12" name="Rectangle 11">
            <a:extLst>
              <a:ext uri="{FF2B5EF4-FFF2-40B4-BE49-F238E27FC236}">
                <a16:creationId xmlns:a16="http://schemas.microsoft.com/office/drawing/2014/main" id="{34F9A7E6-61D9-4486-A6BD-6D99FBC02C2B}"/>
              </a:ext>
            </a:extLst>
          </p:cNvPr>
          <p:cNvSpPr>
            <a:spLocks noGrp="1"/>
          </p:cNvSpPr>
          <p:nvPr/>
        </p:nvSpPr>
        <p:spPr>
          <a:xfrm>
            <a:off x="349567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Thousands of vineyards differ in soil, altitude, practices and local weather.</a:t>
            </a:r>
          </a:p>
        </p:txBody>
      </p:sp>
      <p:sp>
        <p:nvSpPr>
          <p:cNvPr id="13" name="Rectangle 12">
            <a:extLst>
              <a:ext uri="{FF2B5EF4-FFF2-40B4-BE49-F238E27FC236}">
                <a16:creationId xmlns:a16="http://schemas.microsoft.com/office/drawing/2014/main" id="{715AC4D5-BA7D-478F-85F3-11EB53A4E31B}"/>
              </a:ext>
            </a:extLst>
          </p:cNvPr>
          <p:cNvSpPr>
            <a:spLocks noGrp="1"/>
          </p:cNvSpPr>
          <p:nvPr/>
        </p:nvSpPr>
        <p:spPr>
          <a:xfrm>
            <a:off x="6210300" y="2476500"/>
            <a:ext cx="2495550" cy="2857500"/>
          </a:xfrm>
          <a:prstGeom prst="rect">
            <a:avLst/>
          </a:prstGeom>
          <a:solidFill>
            <a:schemeClr val="accent2">
              <a:lumMod val="40000"/>
              <a:lumOff val="60000"/>
            </a:schemeClr>
          </a:solidFill>
          <a:ln w="0">
            <a:noFill/>
            <a:prstDash val="solid"/>
          </a:ln>
        </p:spPr>
        <p:txBody>
          <a:bodyPr/>
          <a:lstStyle/>
          <a:p>
            <a:endParaRPr lang="en-US"/>
          </a:p>
        </p:txBody>
      </p:sp>
      <p:sp>
        <p:nvSpPr>
          <p:cNvPr id="14" name="Rectangle 13">
            <a:extLst>
              <a:ext uri="{FF2B5EF4-FFF2-40B4-BE49-F238E27FC236}">
                <a16:creationId xmlns:a16="http://schemas.microsoft.com/office/drawing/2014/main" id="{531F6572-4A83-4B82-BA93-DB2283B30BAB}"/>
              </a:ext>
            </a:extLst>
          </p:cNvPr>
          <p:cNvSpPr>
            <a:spLocks noGrp="1"/>
          </p:cNvSpPr>
          <p:nvPr/>
        </p:nvSpPr>
        <p:spPr>
          <a:xfrm>
            <a:off x="6400800"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03</a:t>
            </a:r>
          </a:p>
        </p:txBody>
      </p:sp>
      <p:sp>
        <p:nvSpPr>
          <p:cNvPr id="15" name="Rectangle 14">
            <a:extLst>
              <a:ext uri="{FF2B5EF4-FFF2-40B4-BE49-F238E27FC236}">
                <a16:creationId xmlns:a16="http://schemas.microsoft.com/office/drawing/2014/main" id="{E87EE950-D403-4613-BD8F-DB6DFD6A1463}"/>
              </a:ext>
            </a:extLst>
          </p:cNvPr>
          <p:cNvSpPr>
            <a:spLocks noGrp="1"/>
          </p:cNvSpPr>
          <p:nvPr/>
        </p:nvSpPr>
        <p:spPr>
          <a:xfrm>
            <a:off x="6400800" y="3219450"/>
            <a:ext cx="2114550" cy="666750"/>
          </a:xfrm>
          <a:prstGeom prst="rect">
            <a:avLst/>
          </a:prstGeom>
        </p:spPr>
        <p:txBody>
          <a:bodyPr lIns="0" tIns="0" rIns="0" bIns="0" anchor="t">
            <a:normAutofit fontScale="89794"/>
          </a:bodyPr>
          <a:lstStyle/>
          <a:p>
            <a:pPr algn="l">
              <a:buNone/>
              <a:defRPr sz="1950" b="1">
                <a:solidFill>
                  <a:srgbClr val="151515"/>
                </a:solidFill>
                <a:latin typeface="Arial"/>
                <a:ea typeface="Arial"/>
                <a:cs typeface="Arial"/>
              </a:defRPr>
            </a:pPr>
            <a:r>
              <a:t>Structure changes over time</a:t>
            </a:r>
          </a:p>
        </p:txBody>
      </p:sp>
      <p:sp>
        <p:nvSpPr>
          <p:cNvPr id="16" name="Rectangle 15">
            <a:extLst>
              <a:ext uri="{FF2B5EF4-FFF2-40B4-BE49-F238E27FC236}">
                <a16:creationId xmlns:a16="http://schemas.microsoft.com/office/drawing/2014/main" id="{D928A929-187D-4CB4-9D3C-210211828C6C}"/>
              </a:ext>
            </a:extLst>
          </p:cNvPr>
          <p:cNvSpPr>
            <a:spLocks noGrp="1"/>
          </p:cNvSpPr>
          <p:nvPr/>
        </p:nvSpPr>
        <p:spPr>
          <a:xfrm>
            <a:off x="6400800"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t>Policy, planted area, producers and market conditions shift the production baseline.</a:t>
            </a:r>
          </a:p>
        </p:txBody>
      </p:sp>
      <p:sp>
        <p:nvSpPr>
          <p:cNvPr id="17" name="Rectangle 16">
            <a:extLst>
              <a:ext uri="{FF2B5EF4-FFF2-40B4-BE49-F238E27FC236}">
                <a16:creationId xmlns:a16="http://schemas.microsoft.com/office/drawing/2014/main" id="{54793575-0FA8-4C0E-9F41-B59818F54372}"/>
              </a:ext>
            </a:extLst>
          </p:cNvPr>
          <p:cNvSpPr>
            <a:spLocks noGrp="1"/>
          </p:cNvSpPr>
          <p:nvPr/>
        </p:nvSpPr>
        <p:spPr>
          <a:xfrm>
            <a:off x="9115425" y="2476500"/>
            <a:ext cx="2495550" cy="2857500"/>
          </a:xfrm>
          <a:prstGeom prst="rect">
            <a:avLst/>
          </a:prstGeom>
          <a:solidFill>
            <a:schemeClr val="accent2">
              <a:lumMod val="75000"/>
            </a:schemeClr>
          </a:solidFill>
          <a:ln w="0">
            <a:noFill/>
            <a:prstDash val="solid"/>
          </a:ln>
        </p:spPr>
        <p:txBody>
          <a:bodyPr/>
          <a:lstStyle/>
          <a:p>
            <a:endParaRPr lang="en-US"/>
          </a:p>
        </p:txBody>
      </p:sp>
      <p:sp>
        <p:nvSpPr>
          <p:cNvPr id="18" name="Rectangle 17">
            <a:extLst>
              <a:ext uri="{FF2B5EF4-FFF2-40B4-BE49-F238E27FC236}">
                <a16:creationId xmlns:a16="http://schemas.microsoft.com/office/drawing/2014/main" id="{046DF157-CD5C-42F4-99F6-4CBDA3F84659}"/>
              </a:ext>
            </a:extLst>
          </p:cNvPr>
          <p:cNvSpPr>
            <a:spLocks noGrp="1"/>
          </p:cNvSpPr>
          <p:nvPr/>
        </p:nvSpPr>
        <p:spPr>
          <a:xfrm>
            <a:off x="9305925" y="2714625"/>
            <a:ext cx="476250" cy="3238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bg1"/>
                </a:solidFill>
              </a:rPr>
              <a:t>04</a:t>
            </a:r>
          </a:p>
        </p:txBody>
      </p:sp>
      <p:sp>
        <p:nvSpPr>
          <p:cNvPr id="19" name="Rectangle 18">
            <a:extLst>
              <a:ext uri="{FF2B5EF4-FFF2-40B4-BE49-F238E27FC236}">
                <a16:creationId xmlns:a16="http://schemas.microsoft.com/office/drawing/2014/main" id="{CFF451FE-73AA-4499-BF15-71945A663523}"/>
              </a:ext>
            </a:extLst>
          </p:cNvPr>
          <p:cNvSpPr>
            <a:spLocks noGrp="1"/>
          </p:cNvSpPr>
          <p:nvPr/>
        </p:nvSpPr>
        <p:spPr>
          <a:xfrm>
            <a:off x="9305925" y="3219450"/>
            <a:ext cx="2114550" cy="6667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rPr dirty="0">
                <a:solidFill>
                  <a:schemeClr val="bg1"/>
                </a:solidFill>
              </a:rPr>
              <a:t>The sample is small</a:t>
            </a:r>
          </a:p>
        </p:txBody>
      </p:sp>
      <p:sp>
        <p:nvSpPr>
          <p:cNvPr id="20" name="Rectangle 19">
            <a:extLst>
              <a:ext uri="{FF2B5EF4-FFF2-40B4-BE49-F238E27FC236}">
                <a16:creationId xmlns:a16="http://schemas.microsoft.com/office/drawing/2014/main" id="{44B91F0A-DA05-4907-953A-97ED089079B1}"/>
              </a:ext>
            </a:extLst>
          </p:cNvPr>
          <p:cNvSpPr>
            <a:spLocks noGrp="1"/>
          </p:cNvSpPr>
          <p:nvPr/>
        </p:nvSpPr>
        <p:spPr>
          <a:xfrm>
            <a:off x="9305925" y="4095750"/>
            <a:ext cx="2114550" cy="952500"/>
          </a:xfrm>
          <a:prstGeom prst="rect">
            <a:avLst/>
          </a:prstGeom>
        </p:spPr>
        <p:txBody>
          <a:bodyPr lIns="0" tIns="0" rIns="0" bIns="0" anchor="t">
            <a:normAutofit fontScale="99206" lnSpcReduction="10000"/>
          </a:bodyPr>
          <a:lstStyle/>
          <a:p>
            <a:pPr algn="l">
              <a:buNone/>
              <a:defRPr sz="1575" b="0">
                <a:solidFill>
                  <a:srgbClr val="60656C"/>
                </a:solidFill>
                <a:latin typeface="Arial"/>
                <a:ea typeface="Arial"/>
                <a:cs typeface="Arial"/>
              </a:defRPr>
            </a:pPr>
            <a:r>
              <a:rPr>
                <a:solidFill>
                  <a:schemeClr val="bg1"/>
                </a:solidFill>
              </a:rPr>
              <a:t>Only 80–89 annual observations must support 59 engineered features.</a:t>
            </a:r>
          </a:p>
        </p:txBody>
      </p:sp>
    </p:spTree>
    <p:extLst>
      <p:ext uri="{BB962C8B-B14F-4D97-AF65-F5344CB8AC3E}">
        <p14:creationId xmlns:p14="http://schemas.microsoft.com/office/powerpoint/2010/main" val="1546590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0D917EC-6F72-45E3-8486-6E30511C9C05}"/>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NATURAL EXPERIMENT</a:t>
            </a:r>
          </a:p>
        </p:txBody>
      </p:sp>
      <p:sp>
        <p:nvSpPr>
          <p:cNvPr id="2" name="Rectangle 1">
            <a:extLst>
              <a:ext uri="{FF2B5EF4-FFF2-40B4-BE49-F238E27FC236}">
                <a16:creationId xmlns:a16="http://schemas.microsoft.com/office/drawing/2014/main" id="{741C5456-1906-4539-88B9-DF0FEB4F79EF}"/>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same pipeline meets two different histories</a:t>
            </a:r>
          </a:p>
        </p:txBody>
      </p:sp>
      <p:sp>
        <p:nvSpPr>
          <p:cNvPr id="3" name="Rectangle 2">
            <a:extLst>
              <a:ext uri="{FF2B5EF4-FFF2-40B4-BE49-F238E27FC236}">
                <a16:creationId xmlns:a16="http://schemas.microsoft.com/office/drawing/2014/main" id="{7DF8E6DE-1640-4178-A5F0-71950DF53A7C}"/>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05</a:t>
            </a:r>
          </a:p>
        </p:txBody>
      </p:sp>
      <p:pic>
        <p:nvPicPr>
          <p:cNvPr id="18" name="Picture 17"/>
          <p:cNvPicPr>
            <a:picLocks noChangeAspect="1"/>
          </p:cNvPicPr>
          <p:nvPr/>
        </p:nvPicPr>
        <p:blipFill>
          <a:blip r:embed="rId3"/>
          <a:stretch/>
        </p:blipFill>
        <p:spPr>
          <a:xfrm>
            <a:off x="400050" y="1930797"/>
            <a:ext cx="5476875" cy="2282031"/>
          </a:xfrm>
          <a:prstGeom prst="rect">
            <a:avLst/>
          </a:prstGeom>
        </p:spPr>
      </p:pic>
      <p:pic>
        <p:nvPicPr>
          <p:cNvPr id="19" name="Picture 18"/>
          <p:cNvPicPr>
            <a:picLocks noChangeAspect="1"/>
          </p:cNvPicPr>
          <p:nvPr/>
        </p:nvPicPr>
        <p:blipFill>
          <a:blip r:embed="rId4"/>
          <a:stretch/>
        </p:blipFill>
        <p:spPr>
          <a:xfrm>
            <a:off x="6305550" y="1930797"/>
            <a:ext cx="5476875" cy="2282031"/>
          </a:xfrm>
          <a:prstGeom prst="rect">
            <a:avLst/>
          </a:prstGeom>
        </p:spPr>
      </p:pic>
      <p:sp>
        <p:nvSpPr>
          <p:cNvPr id="6" name="Rectangle 5">
            <a:extLst>
              <a:ext uri="{FF2B5EF4-FFF2-40B4-BE49-F238E27FC236}">
                <a16:creationId xmlns:a16="http://schemas.microsoft.com/office/drawing/2014/main" id="{C176A673-3B6D-4E80-B7B2-325AA68A2A34}"/>
              </a:ext>
            </a:extLst>
          </p:cNvPr>
          <p:cNvSpPr>
            <a:spLocks noGrp="1"/>
          </p:cNvSpPr>
          <p:nvPr/>
        </p:nvSpPr>
        <p:spPr>
          <a:xfrm>
            <a:off x="400050" y="4953000"/>
            <a:ext cx="5476875" cy="1000125"/>
          </a:xfrm>
          <a:prstGeom prst="rect">
            <a:avLst/>
          </a:prstGeom>
          <a:solidFill>
            <a:schemeClr val="bg2">
              <a:lumMod val="90000"/>
            </a:schemeClr>
          </a:solidFill>
          <a:ln w="0">
            <a:noFill/>
            <a:prstDash val="solid"/>
          </a:ln>
        </p:spPr>
        <p:txBody>
          <a:bodyPr/>
          <a:lstStyle/>
          <a:p>
            <a:endParaRPr lang="en-US"/>
          </a:p>
        </p:txBody>
      </p:sp>
      <p:sp>
        <p:nvSpPr>
          <p:cNvPr id="7" name="Rectangle 6">
            <a:extLst>
              <a:ext uri="{FF2B5EF4-FFF2-40B4-BE49-F238E27FC236}">
                <a16:creationId xmlns:a16="http://schemas.microsoft.com/office/drawing/2014/main" id="{0268D9F2-1E44-413F-B220-2FEE780C8432}"/>
              </a:ext>
            </a:extLst>
          </p:cNvPr>
          <p:cNvSpPr>
            <a:spLocks noGrp="1"/>
          </p:cNvSpPr>
          <p:nvPr/>
        </p:nvSpPr>
        <p:spPr>
          <a:xfrm>
            <a:off x="6305550" y="4953000"/>
            <a:ext cx="5476875" cy="1000125"/>
          </a:xfrm>
          <a:prstGeom prst="rect">
            <a:avLst/>
          </a:prstGeom>
          <a:solidFill>
            <a:schemeClr val="accent2">
              <a:lumMod val="20000"/>
              <a:lumOff val="80000"/>
            </a:schemeClr>
          </a:solidFill>
          <a:ln w="0">
            <a:noFill/>
            <a:prstDash val="solid"/>
          </a:ln>
        </p:spPr>
        <p:txBody>
          <a:bodyPr/>
          <a:lstStyle/>
          <a:p>
            <a:endParaRPr lang="en-US"/>
          </a:p>
        </p:txBody>
      </p:sp>
      <p:sp>
        <p:nvSpPr>
          <p:cNvPr id="8" name="Rectangle 7">
            <a:extLst>
              <a:ext uri="{FF2B5EF4-FFF2-40B4-BE49-F238E27FC236}">
                <a16:creationId xmlns:a16="http://schemas.microsoft.com/office/drawing/2014/main" id="{4DE5A3E0-8854-4FC9-8E8C-B9BA83D637E2}"/>
              </a:ext>
            </a:extLst>
          </p:cNvPr>
          <p:cNvSpPr>
            <a:spLocks noGrp="1"/>
          </p:cNvSpPr>
          <p:nvPr/>
        </p:nvSpPr>
        <p:spPr>
          <a:xfrm>
            <a:off x="609600" y="5162550"/>
            <a:ext cx="2190750" cy="266700"/>
          </a:xfrm>
          <a:prstGeom prst="rect">
            <a:avLst/>
          </a:prstGeom>
        </p:spPr>
        <p:txBody>
          <a:bodyPr lIns="0" tIns="0" rIns="0" bIns="0" anchor="t">
            <a:normAutofit/>
          </a:bodyPr>
          <a:lstStyle/>
          <a:p>
            <a:pPr algn="l">
              <a:buNone/>
              <a:defRPr sz="1500" b="1">
                <a:solidFill>
                  <a:srgbClr val="2563A6"/>
                </a:solidFill>
                <a:latin typeface="Arial"/>
                <a:ea typeface="Arial"/>
                <a:cs typeface="Arial"/>
              </a:defRPr>
            </a:pPr>
            <a:r>
              <a:t>DOURO · 89 years</a:t>
            </a:r>
          </a:p>
        </p:txBody>
      </p:sp>
      <p:sp>
        <p:nvSpPr>
          <p:cNvPr id="9" name="Rectangle 8">
            <a:extLst>
              <a:ext uri="{FF2B5EF4-FFF2-40B4-BE49-F238E27FC236}">
                <a16:creationId xmlns:a16="http://schemas.microsoft.com/office/drawing/2014/main" id="{B0DFC4E3-AD38-42FF-8715-8ABB72C2F1B6}"/>
              </a:ext>
            </a:extLst>
          </p:cNvPr>
          <p:cNvSpPr>
            <a:spLocks noGrp="1"/>
          </p:cNvSpPr>
          <p:nvPr/>
        </p:nvSpPr>
        <p:spPr>
          <a:xfrm>
            <a:off x="6096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Gradual +80% structural rise; CV 27%</a:t>
            </a:r>
          </a:p>
        </p:txBody>
      </p:sp>
      <p:sp>
        <p:nvSpPr>
          <p:cNvPr id="10" name="Rectangle 9">
            <a:extLst>
              <a:ext uri="{FF2B5EF4-FFF2-40B4-BE49-F238E27FC236}">
                <a16:creationId xmlns:a16="http://schemas.microsoft.com/office/drawing/2014/main" id="{F70FC68F-3DD9-41F0-A4E4-075BF8D4A29F}"/>
              </a:ext>
            </a:extLst>
          </p:cNvPr>
          <p:cNvSpPr>
            <a:spLocks noGrp="1"/>
          </p:cNvSpPr>
          <p:nvPr/>
        </p:nvSpPr>
        <p:spPr>
          <a:xfrm>
            <a:off x="6515100" y="5162550"/>
            <a:ext cx="2857500" cy="2667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t>VINHO VERDE · 80 years</a:t>
            </a:r>
          </a:p>
        </p:txBody>
      </p:sp>
      <p:sp>
        <p:nvSpPr>
          <p:cNvPr id="11" name="Rectangle 10">
            <a:extLst>
              <a:ext uri="{FF2B5EF4-FFF2-40B4-BE49-F238E27FC236}">
                <a16:creationId xmlns:a16="http://schemas.microsoft.com/office/drawing/2014/main" id="{4443B952-EDAB-4F79-8E6F-FF13A84EBD9F}"/>
              </a:ext>
            </a:extLst>
          </p:cNvPr>
          <p:cNvSpPr>
            <a:spLocks noGrp="1"/>
          </p:cNvSpPr>
          <p:nvPr/>
        </p:nvSpPr>
        <p:spPr>
          <a:xfrm>
            <a:off x="6515100" y="5495925"/>
            <a:ext cx="4762500" cy="228600"/>
          </a:xfrm>
          <a:prstGeom prst="rect">
            <a:avLst/>
          </a:prstGeom>
        </p:spPr>
        <p:txBody>
          <a:bodyPr lIns="0" tIns="0" rIns="0" bIns="0" anchor="t">
            <a:normAutofit/>
          </a:bodyPr>
          <a:lstStyle/>
          <a:p>
            <a:pPr algn="l">
              <a:buNone/>
              <a:defRPr sz="1500" b="0">
                <a:solidFill>
                  <a:srgbClr val="151515"/>
                </a:solidFill>
                <a:latin typeface="Arial"/>
                <a:ea typeface="Arial"/>
                <a:cs typeface="Arial"/>
              </a:defRPr>
            </a:pPr>
            <a:r>
              <a:t>Sharp structural decline; CV 47%</a:t>
            </a:r>
          </a:p>
        </p:txBody>
      </p:sp>
    </p:spTree>
    <p:extLst>
      <p:ext uri="{BB962C8B-B14F-4D97-AF65-F5344CB8AC3E}">
        <p14:creationId xmlns:p14="http://schemas.microsoft.com/office/powerpoint/2010/main" val="15527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CC556DB-F450-4F6C-BC5A-F9E5CD30B487}"/>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GRAPEVINE CYCLE</a:t>
            </a:r>
          </a:p>
        </p:txBody>
      </p:sp>
      <p:sp>
        <p:nvSpPr>
          <p:cNvPr id="2" name="Rectangle 1">
            <a:extLst>
              <a:ext uri="{FF2B5EF4-FFF2-40B4-BE49-F238E27FC236}">
                <a16:creationId xmlns:a16="http://schemas.microsoft.com/office/drawing/2014/main" id="{89B5817A-BFE4-4C34-962D-0067E0F3441F}"/>
              </a:ext>
            </a:extLst>
          </p:cNvPr>
          <p:cNvSpPr>
            <a:spLocks noGrp="1"/>
          </p:cNvSpPr>
          <p:nvPr/>
        </p:nvSpPr>
        <p:spPr>
          <a:xfrm>
            <a:off x="400050" y="552450"/>
            <a:ext cx="11391900" cy="781050"/>
          </a:xfrm>
          <a:prstGeom prst="rect">
            <a:avLst/>
          </a:prstGeom>
        </p:spPr>
        <p:txBody>
          <a:bodyPr lIns="0" tIns="0" rIns="0" bIns="0" anchor="t">
            <a:normAutofit fontScale="89324"/>
          </a:bodyPr>
          <a:lstStyle/>
          <a:p>
            <a:pPr algn="l">
              <a:buNone/>
              <a:defRPr sz="3600" b="1">
                <a:solidFill>
                  <a:srgbClr val="151515"/>
                </a:solidFill>
                <a:latin typeface="Arial"/>
                <a:ea typeface="Arial"/>
                <a:cs typeface="Arial"/>
              </a:defRPr>
            </a:pPr>
            <a:r>
              <a:t>Current production begins in the previous growing season</a:t>
            </a:r>
          </a:p>
        </p:txBody>
      </p:sp>
      <p:sp>
        <p:nvSpPr>
          <p:cNvPr id="3" name="Rectangle 2">
            <a:extLst>
              <a:ext uri="{FF2B5EF4-FFF2-40B4-BE49-F238E27FC236}">
                <a16:creationId xmlns:a16="http://schemas.microsoft.com/office/drawing/2014/main" id="{7BF656C4-456B-497C-A275-1CD0CD46BAF6}"/>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06</a:t>
            </a:r>
          </a:p>
        </p:txBody>
      </p:sp>
      <p:sp>
        <p:nvSpPr>
          <p:cNvPr id="4" name="Rectangle 3">
            <a:extLst>
              <a:ext uri="{FF2B5EF4-FFF2-40B4-BE49-F238E27FC236}">
                <a16:creationId xmlns:a16="http://schemas.microsoft.com/office/drawing/2014/main" id="{17D940BD-92D4-4FC2-AE9D-04FCC326BE96}"/>
              </a:ext>
            </a:extLst>
          </p:cNvPr>
          <p:cNvSpPr>
            <a:spLocks noGrp="1"/>
          </p:cNvSpPr>
          <p:nvPr/>
        </p:nvSpPr>
        <p:spPr>
          <a:xfrm>
            <a:off x="400050" y="1524000"/>
            <a:ext cx="285750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y0 · POTENTIAL</a:t>
            </a:r>
          </a:p>
        </p:txBody>
      </p:sp>
      <p:sp>
        <p:nvSpPr>
          <p:cNvPr id="5" name="Rectangle 4">
            <a:extLst>
              <a:ext uri="{FF2B5EF4-FFF2-40B4-BE49-F238E27FC236}">
                <a16:creationId xmlns:a16="http://schemas.microsoft.com/office/drawing/2014/main" id="{2CB268A6-AF03-42FB-BE68-182059FD8CF1}"/>
              </a:ext>
            </a:extLst>
          </p:cNvPr>
          <p:cNvSpPr>
            <a:spLocks noGrp="1"/>
          </p:cNvSpPr>
          <p:nvPr/>
        </p:nvSpPr>
        <p:spPr>
          <a:xfrm>
            <a:off x="6381750" y="1524000"/>
            <a:ext cx="3333750" cy="26670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YEAR y1 · REALISATION</a:t>
            </a:r>
          </a:p>
        </p:txBody>
      </p:sp>
      <p:cxnSp>
        <p:nvCxnSpPr>
          <p:cNvPr id="214" name="Straight Arrow Connector 213"/>
          <p:cNvCxnSpPr/>
          <p:nvPr/>
        </p:nvCxnSpPr>
        <p:spPr>
          <a:xfrm>
            <a:off x="666750" y="3143250"/>
            <a:ext cx="10668000" cy="953"/>
          </a:xfrm>
          <a:prstGeom prst="straightConnector1">
            <a:avLst/>
          </a:prstGeom>
          <a:ln w="19050">
            <a:solidFill>
              <a:srgbClr val="151515"/>
            </a:solidFill>
            <a:prstDash val="solid"/>
          </a:ln>
        </p:spPr>
      </p:cxnSp>
      <p:sp>
        <p:nvSpPr>
          <p:cNvPr id="7" name="Oval 6">
            <a:extLst>
              <a:ext uri="{FF2B5EF4-FFF2-40B4-BE49-F238E27FC236}">
                <a16:creationId xmlns:a16="http://schemas.microsoft.com/office/drawing/2014/main" id="{D4D0AC70-4D09-47CB-9E28-5A4B814C1AAC}"/>
              </a:ext>
            </a:extLst>
          </p:cNvPr>
          <p:cNvSpPr>
            <a:spLocks noGrp="1"/>
          </p:cNvSpPr>
          <p:nvPr/>
        </p:nvSpPr>
        <p:spPr>
          <a:xfrm>
            <a:off x="1047750" y="3048000"/>
            <a:ext cx="190500" cy="190500"/>
          </a:xfrm>
          <a:prstGeom prst="ellipse">
            <a:avLst/>
          </a:prstGeom>
          <a:solidFill>
            <a:srgbClr val="7B1E3A"/>
          </a:solidFill>
        </p:spPr>
        <p:txBody>
          <a:bodyPr/>
          <a:lstStyle/>
          <a:p>
            <a:endParaRPr lang="en-US"/>
          </a:p>
        </p:txBody>
      </p:sp>
      <p:sp>
        <p:nvSpPr>
          <p:cNvPr id="8" name="Oval 7">
            <a:extLst>
              <a:ext uri="{FF2B5EF4-FFF2-40B4-BE49-F238E27FC236}">
                <a16:creationId xmlns:a16="http://schemas.microsoft.com/office/drawing/2014/main" id="{340A997A-01AB-4267-9843-C877E38A3B65}"/>
              </a:ext>
            </a:extLst>
          </p:cNvPr>
          <p:cNvSpPr>
            <a:spLocks noGrp="1"/>
          </p:cNvSpPr>
          <p:nvPr/>
        </p:nvSpPr>
        <p:spPr>
          <a:xfrm>
            <a:off x="3714750" y="3048000"/>
            <a:ext cx="190500" cy="190500"/>
          </a:xfrm>
          <a:prstGeom prst="ellipse">
            <a:avLst/>
          </a:prstGeom>
          <a:solidFill>
            <a:srgbClr val="7B1E3A"/>
          </a:solidFill>
        </p:spPr>
        <p:txBody>
          <a:bodyPr/>
          <a:lstStyle/>
          <a:p>
            <a:endParaRPr lang="en-US"/>
          </a:p>
        </p:txBody>
      </p:sp>
      <p:sp>
        <p:nvSpPr>
          <p:cNvPr id="9" name="Oval 8">
            <a:extLst>
              <a:ext uri="{FF2B5EF4-FFF2-40B4-BE49-F238E27FC236}">
                <a16:creationId xmlns:a16="http://schemas.microsoft.com/office/drawing/2014/main" id="{71E4AF41-9845-417B-AC0C-9BAAE4E81987}"/>
              </a:ext>
            </a:extLst>
          </p:cNvPr>
          <p:cNvSpPr>
            <a:spLocks noGrp="1"/>
          </p:cNvSpPr>
          <p:nvPr/>
        </p:nvSpPr>
        <p:spPr>
          <a:xfrm>
            <a:off x="6715125" y="3048000"/>
            <a:ext cx="190500" cy="190500"/>
          </a:xfrm>
          <a:prstGeom prst="ellipse">
            <a:avLst/>
          </a:prstGeom>
          <a:solidFill>
            <a:srgbClr val="7B1E3A"/>
          </a:solidFill>
        </p:spPr>
        <p:txBody>
          <a:bodyPr/>
          <a:lstStyle/>
          <a:p>
            <a:endParaRPr lang="en-US"/>
          </a:p>
        </p:txBody>
      </p:sp>
      <p:sp>
        <p:nvSpPr>
          <p:cNvPr id="10" name="Oval 9">
            <a:extLst>
              <a:ext uri="{FF2B5EF4-FFF2-40B4-BE49-F238E27FC236}">
                <a16:creationId xmlns:a16="http://schemas.microsoft.com/office/drawing/2014/main" id="{623CB1F9-16B8-49CF-ABBE-CF9BE4807DA8}"/>
              </a:ext>
            </a:extLst>
          </p:cNvPr>
          <p:cNvSpPr>
            <a:spLocks noGrp="1"/>
          </p:cNvSpPr>
          <p:nvPr/>
        </p:nvSpPr>
        <p:spPr>
          <a:xfrm>
            <a:off x="8858250" y="3048000"/>
            <a:ext cx="190500" cy="190500"/>
          </a:xfrm>
          <a:prstGeom prst="ellipse">
            <a:avLst/>
          </a:prstGeom>
          <a:solidFill>
            <a:srgbClr val="7B1E3A"/>
          </a:solidFill>
        </p:spPr>
        <p:txBody>
          <a:bodyPr/>
          <a:lstStyle/>
          <a:p>
            <a:endParaRPr lang="en-US"/>
          </a:p>
        </p:txBody>
      </p:sp>
      <p:sp>
        <p:nvSpPr>
          <p:cNvPr id="11" name="Oval 10">
            <a:extLst>
              <a:ext uri="{FF2B5EF4-FFF2-40B4-BE49-F238E27FC236}">
                <a16:creationId xmlns:a16="http://schemas.microsoft.com/office/drawing/2014/main" id="{556DA865-E87D-4B4F-A879-37FE08ACEC1C}"/>
              </a:ext>
            </a:extLst>
          </p:cNvPr>
          <p:cNvSpPr>
            <a:spLocks noGrp="1"/>
          </p:cNvSpPr>
          <p:nvPr/>
        </p:nvSpPr>
        <p:spPr>
          <a:xfrm>
            <a:off x="11049000" y="3048000"/>
            <a:ext cx="190500" cy="190500"/>
          </a:xfrm>
          <a:prstGeom prst="ellipse">
            <a:avLst/>
          </a:prstGeom>
          <a:solidFill>
            <a:srgbClr val="7B1E3A"/>
          </a:solidFill>
        </p:spPr>
        <p:txBody>
          <a:bodyPr/>
          <a:lstStyle/>
          <a:p>
            <a:endParaRPr lang="en-US"/>
          </a:p>
        </p:txBody>
      </p:sp>
      <p:sp>
        <p:nvSpPr>
          <p:cNvPr id="12" name="Rectangle 11">
            <a:extLst>
              <a:ext uri="{FF2B5EF4-FFF2-40B4-BE49-F238E27FC236}">
                <a16:creationId xmlns:a16="http://schemas.microsoft.com/office/drawing/2014/main" id="{25708AAF-9A48-4B46-AC39-732BC6FBD6FD}"/>
              </a:ext>
            </a:extLst>
          </p:cNvPr>
          <p:cNvSpPr>
            <a:spLocks noGrp="1"/>
          </p:cNvSpPr>
          <p:nvPr/>
        </p:nvSpPr>
        <p:spPr>
          <a:xfrm>
            <a:off x="762000" y="2333625"/>
            <a:ext cx="15240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Primordia
formation</a:t>
            </a:r>
          </a:p>
        </p:txBody>
      </p:sp>
      <p:sp>
        <p:nvSpPr>
          <p:cNvPr id="13" name="Rectangle 12">
            <a:extLst>
              <a:ext uri="{FF2B5EF4-FFF2-40B4-BE49-F238E27FC236}">
                <a16:creationId xmlns:a16="http://schemas.microsoft.com/office/drawing/2014/main" id="{65218A72-6673-4418-9540-9F0295897B14}"/>
              </a:ext>
            </a:extLst>
          </p:cNvPr>
          <p:cNvSpPr>
            <a:spLocks noGrp="1"/>
          </p:cNvSpPr>
          <p:nvPr/>
        </p:nvSpPr>
        <p:spPr>
          <a:xfrm>
            <a:off x="3333750" y="3476625"/>
            <a:ext cx="133350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Reserve
building</a:t>
            </a:r>
          </a:p>
        </p:txBody>
      </p:sp>
      <p:sp>
        <p:nvSpPr>
          <p:cNvPr id="14" name="Rectangle 13">
            <a:extLst>
              <a:ext uri="{FF2B5EF4-FFF2-40B4-BE49-F238E27FC236}">
                <a16:creationId xmlns:a16="http://schemas.microsoft.com/office/drawing/2014/main" id="{36FF02B0-F366-4A5D-9876-658705489C08}"/>
              </a:ext>
            </a:extLst>
          </p:cNvPr>
          <p:cNvSpPr>
            <a:spLocks noGrp="1"/>
          </p:cNvSpPr>
          <p:nvPr/>
        </p:nvSpPr>
        <p:spPr>
          <a:xfrm>
            <a:off x="6286500" y="2333625"/>
            <a:ext cx="1143000" cy="33337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Bud break</a:t>
            </a:r>
          </a:p>
        </p:txBody>
      </p:sp>
      <p:sp>
        <p:nvSpPr>
          <p:cNvPr id="15" name="Rectangle 14">
            <a:extLst>
              <a:ext uri="{FF2B5EF4-FFF2-40B4-BE49-F238E27FC236}">
                <a16:creationId xmlns:a16="http://schemas.microsoft.com/office/drawing/2014/main" id="{4E256DB5-0030-44F3-B624-2F54A14D545E}"/>
              </a:ext>
            </a:extLst>
          </p:cNvPr>
          <p:cNvSpPr>
            <a:spLocks noGrp="1"/>
          </p:cNvSpPr>
          <p:nvPr/>
        </p:nvSpPr>
        <p:spPr>
          <a:xfrm>
            <a:off x="8286750" y="3476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Flowering &amp;
fruit set</a:t>
            </a:r>
          </a:p>
        </p:txBody>
      </p:sp>
      <p:sp>
        <p:nvSpPr>
          <p:cNvPr id="16" name="Rectangle 15">
            <a:extLst>
              <a:ext uri="{FF2B5EF4-FFF2-40B4-BE49-F238E27FC236}">
                <a16:creationId xmlns:a16="http://schemas.microsoft.com/office/drawing/2014/main" id="{E9BC41E2-6ACD-4622-9CE4-8D3434719865}"/>
              </a:ext>
            </a:extLst>
          </p:cNvPr>
          <p:cNvSpPr>
            <a:spLocks noGrp="1"/>
          </p:cNvSpPr>
          <p:nvPr/>
        </p:nvSpPr>
        <p:spPr>
          <a:xfrm>
            <a:off x="10477500" y="2333625"/>
            <a:ext cx="1428750" cy="619125"/>
          </a:xfrm>
          <a:prstGeom prst="rect">
            <a:avLst/>
          </a:prstGeom>
        </p:spPr>
        <p:txBody>
          <a:bodyPr lIns="0" tIns="0" rIns="0" bIns="0" anchor="t">
            <a:normAutofit/>
          </a:bodyPr>
          <a:lstStyle/>
          <a:p>
            <a:pPr algn="ctr">
              <a:buNone/>
              <a:defRPr sz="1725" b="1">
                <a:solidFill>
                  <a:srgbClr val="151515"/>
                </a:solidFill>
                <a:latin typeface="Arial"/>
                <a:ea typeface="Arial"/>
                <a:cs typeface="Arial"/>
              </a:defRPr>
            </a:pPr>
            <a:r>
              <a:t>Veraison to
harvest</a:t>
            </a:r>
          </a:p>
        </p:txBody>
      </p:sp>
      <p:sp>
        <p:nvSpPr>
          <p:cNvPr id="17" name="Rectangle 16">
            <a:extLst>
              <a:ext uri="{FF2B5EF4-FFF2-40B4-BE49-F238E27FC236}">
                <a16:creationId xmlns:a16="http://schemas.microsoft.com/office/drawing/2014/main" id="{827693FB-C01D-43A7-8FD0-B7863B4CA36B}"/>
              </a:ext>
            </a:extLst>
          </p:cNvPr>
          <p:cNvSpPr>
            <a:spLocks noGrp="1"/>
          </p:cNvSpPr>
          <p:nvPr/>
        </p:nvSpPr>
        <p:spPr>
          <a:xfrm>
            <a:off x="523875" y="4476750"/>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Temperature and light set the upper bound on bunch number.</a:t>
            </a:r>
          </a:p>
        </p:txBody>
      </p:sp>
      <p:sp>
        <p:nvSpPr>
          <p:cNvPr id="18" name="Rectangle 17">
            <a:extLst>
              <a:ext uri="{FF2B5EF4-FFF2-40B4-BE49-F238E27FC236}">
                <a16:creationId xmlns:a16="http://schemas.microsoft.com/office/drawing/2014/main" id="{2354E540-9AB1-4ABE-8F76-BC24FFF00897}"/>
              </a:ext>
            </a:extLst>
          </p:cNvPr>
          <p:cNvSpPr>
            <a:spLocks noGrp="1"/>
          </p:cNvSpPr>
          <p:nvPr/>
        </p:nvSpPr>
        <p:spPr>
          <a:xfrm>
            <a:off x="523875" y="5191125"/>
            <a:ext cx="3905250" cy="590550"/>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Prior water and thermal stress shape carbohydrate reserves.</a:t>
            </a:r>
          </a:p>
        </p:txBody>
      </p:sp>
      <p:sp>
        <p:nvSpPr>
          <p:cNvPr id="19" name="Rectangle 18">
            <a:extLst>
              <a:ext uri="{FF2B5EF4-FFF2-40B4-BE49-F238E27FC236}">
                <a16:creationId xmlns:a16="http://schemas.microsoft.com/office/drawing/2014/main" id="{0A76E74B-E32A-4244-8031-BA143E297E2E}"/>
              </a:ext>
            </a:extLst>
          </p:cNvPr>
          <p:cNvSpPr>
            <a:spLocks noGrp="1"/>
          </p:cNvSpPr>
          <p:nvPr/>
        </p:nvSpPr>
        <p:spPr>
          <a:xfrm>
            <a:off x="6381750" y="4476750"/>
            <a:ext cx="4953000" cy="952500"/>
          </a:xfrm>
          <a:prstGeom prst="rect">
            <a:avLst/>
          </a:prstGeom>
        </p:spPr>
        <p:txBody>
          <a:bodyPr lIns="0" tIns="0" rIns="0" bIns="0" anchor="t">
            <a:normAutofit/>
          </a:bodyPr>
          <a:lstStyle/>
          <a:p>
            <a:pPr algn="l">
              <a:buNone/>
              <a:defRPr sz="1875" b="0">
                <a:solidFill>
                  <a:srgbClr val="60656C"/>
                </a:solidFill>
                <a:latin typeface="Arial"/>
                <a:ea typeface="Arial"/>
                <a:cs typeface="Arial"/>
              </a:defRPr>
            </a:pPr>
            <a:r>
              <a:t>Current-year temperature, rain, canopy and soil water determine fruit set and berry development.</a:t>
            </a:r>
          </a:p>
        </p:txBody>
      </p:sp>
      <p:sp>
        <p:nvSpPr>
          <p:cNvPr id="20" name="Rectangle 19">
            <a:extLst>
              <a:ext uri="{FF2B5EF4-FFF2-40B4-BE49-F238E27FC236}">
                <a16:creationId xmlns:a16="http://schemas.microsoft.com/office/drawing/2014/main" id="{E150513E-AC46-450E-BA43-FBBFD43FFB90}"/>
              </a:ext>
            </a:extLst>
          </p:cNvPr>
          <p:cNvSpPr>
            <a:spLocks noGrp="1"/>
          </p:cNvSpPr>
          <p:nvPr/>
        </p:nvSpPr>
        <p:spPr>
          <a:xfrm>
            <a:off x="4953000" y="2047875"/>
            <a:ext cx="904875" cy="2667000"/>
          </a:xfrm>
          <a:prstGeom prst="rect">
            <a:avLst/>
          </a:prstGeom>
          <a:solidFill>
            <a:srgbClr val="F0F1F2"/>
          </a:solidFill>
          <a:ln w="0">
            <a:noFill/>
            <a:prstDash val="solid"/>
          </a:ln>
        </p:spPr>
        <p:txBody>
          <a:bodyPr/>
          <a:lstStyle/>
          <a:p>
            <a:endParaRPr lang="en-US"/>
          </a:p>
        </p:txBody>
      </p:sp>
      <p:sp>
        <p:nvSpPr>
          <p:cNvPr id="21" name="Rectangle 20">
            <a:extLst>
              <a:ext uri="{FF2B5EF4-FFF2-40B4-BE49-F238E27FC236}">
                <a16:creationId xmlns:a16="http://schemas.microsoft.com/office/drawing/2014/main" id="{B7B6926A-835E-4BB3-9E59-017C60377BD5}"/>
              </a:ext>
            </a:extLst>
          </p:cNvPr>
          <p:cNvSpPr>
            <a:spLocks noGrp="1"/>
          </p:cNvSpPr>
          <p:nvPr/>
        </p:nvSpPr>
        <p:spPr>
          <a:xfrm>
            <a:off x="5048250" y="2952750"/>
            <a:ext cx="714375" cy="66675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CARRY-
OVER</a:t>
            </a:r>
          </a:p>
        </p:txBody>
      </p:sp>
    </p:spTree>
    <p:extLst>
      <p:ext uri="{BB962C8B-B14F-4D97-AF65-F5344CB8AC3E}">
        <p14:creationId xmlns:p14="http://schemas.microsoft.com/office/powerpoint/2010/main" val="165550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815EAE2-EEC0-4E1A-8935-E7CDD9FCCC02}"/>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FEATURE ENGINEERING</a:t>
            </a:r>
          </a:p>
        </p:txBody>
      </p:sp>
      <p:sp>
        <p:nvSpPr>
          <p:cNvPr id="2" name="Rectangle 1">
            <a:extLst>
              <a:ext uri="{FF2B5EF4-FFF2-40B4-BE49-F238E27FC236}">
                <a16:creationId xmlns:a16="http://schemas.microsoft.com/office/drawing/2014/main" id="{4E279752-B484-4AF2-A91D-719CFE162F26}"/>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Features follow the biology, not the calendar</a:t>
            </a:r>
          </a:p>
        </p:txBody>
      </p:sp>
      <p:sp>
        <p:nvSpPr>
          <p:cNvPr id="5" name="Rectangle 4">
            <a:extLst>
              <a:ext uri="{FF2B5EF4-FFF2-40B4-BE49-F238E27FC236}">
                <a16:creationId xmlns:a16="http://schemas.microsoft.com/office/drawing/2014/main" id="{EED1B0E2-54BE-4A09-B44B-BE0A7D54EE49}"/>
              </a:ext>
            </a:extLst>
          </p:cNvPr>
          <p:cNvSpPr>
            <a:spLocks noGrp="1"/>
          </p:cNvSpPr>
          <p:nvPr/>
        </p:nvSpPr>
        <p:spPr>
          <a:xfrm>
            <a:off x="187938" y="6419850"/>
            <a:ext cx="8873808" cy="342900"/>
          </a:xfrm>
          <a:prstGeom prst="rect">
            <a:avLst/>
          </a:prstGeom>
          <a:solidFill>
            <a:srgbClr val="F0F1F2"/>
          </a:solidFill>
          <a:ln w="0">
            <a:noFill/>
            <a:prstDash val="solid"/>
          </a:ln>
        </p:spPr>
        <p:txBody>
          <a:bodyPr/>
          <a:lstStyle/>
          <a:p>
            <a:endParaRPr lang="en-US"/>
          </a:p>
        </p:txBody>
      </p:sp>
      <p:sp>
        <p:nvSpPr>
          <p:cNvPr id="6" name="Rectangle 5">
            <a:extLst>
              <a:ext uri="{FF2B5EF4-FFF2-40B4-BE49-F238E27FC236}">
                <a16:creationId xmlns:a16="http://schemas.microsoft.com/office/drawing/2014/main" id="{82C98972-EF5A-4C16-830E-328D228E453D}"/>
              </a:ext>
            </a:extLst>
          </p:cNvPr>
          <p:cNvSpPr>
            <a:spLocks noGrp="1"/>
          </p:cNvSpPr>
          <p:nvPr/>
        </p:nvSpPr>
        <p:spPr>
          <a:xfrm>
            <a:off x="314646" y="6477000"/>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rPr dirty="0"/>
              <a:t>32,842 / 29,902 daily records</a:t>
            </a:r>
          </a:p>
        </p:txBody>
      </p:sp>
      <p:sp>
        <p:nvSpPr>
          <p:cNvPr id="7" name="Rectangle 6">
            <a:extLst>
              <a:ext uri="{FF2B5EF4-FFF2-40B4-BE49-F238E27FC236}">
                <a16:creationId xmlns:a16="http://schemas.microsoft.com/office/drawing/2014/main" id="{B99BB5E0-F51B-42A1-A0F7-F0A1F0CAE880}"/>
              </a:ext>
            </a:extLst>
          </p:cNvPr>
          <p:cNvSpPr>
            <a:spLocks noGrp="1"/>
          </p:cNvSpPr>
          <p:nvPr/>
        </p:nvSpPr>
        <p:spPr>
          <a:xfrm>
            <a:off x="2589679" y="6477000"/>
            <a:ext cx="2143125" cy="2286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rPr dirty="0"/>
              <a:t>→ 59 annual predictors</a:t>
            </a:r>
          </a:p>
        </p:txBody>
      </p:sp>
      <p:sp>
        <p:nvSpPr>
          <p:cNvPr id="8" name="Rectangle 7">
            <a:extLst>
              <a:ext uri="{FF2B5EF4-FFF2-40B4-BE49-F238E27FC236}">
                <a16:creationId xmlns:a16="http://schemas.microsoft.com/office/drawing/2014/main" id="{C2A7C5DE-C604-48DF-AE6D-B71ADDD34007}"/>
              </a:ext>
            </a:extLst>
          </p:cNvPr>
          <p:cNvSpPr>
            <a:spLocks noGrp="1"/>
          </p:cNvSpPr>
          <p:nvPr/>
        </p:nvSpPr>
        <p:spPr>
          <a:xfrm>
            <a:off x="4513009" y="6477000"/>
            <a:ext cx="228600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rPr dirty="0"/>
              <a:t>→ 4 phenological anchors</a:t>
            </a:r>
          </a:p>
        </p:txBody>
      </p:sp>
      <p:sp>
        <p:nvSpPr>
          <p:cNvPr id="9" name="Rectangle 8">
            <a:extLst>
              <a:ext uri="{FF2B5EF4-FFF2-40B4-BE49-F238E27FC236}">
                <a16:creationId xmlns:a16="http://schemas.microsoft.com/office/drawing/2014/main" id="{DF562E81-0D2D-48F5-8FE6-AA89126C2529}"/>
              </a:ext>
            </a:extLst>
          </p:cNvPr>
          <p:cNvSpPr>
            <a:spLocks noGrp="1"/>
          </p:cNvSpPr>
          <p:nvPr/>
        </p:nvSpPr>
        <p:spPr>
          <a:xfrm>
            <a:off x="6799009" y="6481281"/>
            <a:ext cx="2571750" cy="228600"/>
          </a:xfrm>
          <a:prstGeom prst="rect">
            <a:avLst/>
          </a:prstGeom>
        </p:spPr>
        <p:txBody>
          <a:bodyPr lIns="0" tIns="0" rIns="0" bIns="0" anchor="t">
            <a:normAutofit/>
          </a:bodyPr>
          <a:lstStyle/>
          <a:p>
            <a:pPr algn="l">
              <a:buNone/>
              <a:defRPr sz="1275" b="1">
                <a:solidFill>
                  <a:srgbClr val="151515"/>
                </a:solidFill>
                <a:latin typeface="Arial"/>
                <a:ea typeface="Arial"/>
                <a:cs typeface="Arial"/>
              </a:defRPr>
            </a:pPr>
            <a:r>
              <a:rPr dirty="0"/>
              <a:t>→ current + previous year</a:t>
            </a:r>
          </a:p>
        </p:txBody>
      </p:sp>
      <p:pic>
        <p:nvPicPr>
          <p:cNvPr id="11" name="Picture 10">
            <a:extLst>
              <a:ext uri="{FF2B5EF4-FFF2-40B4-BE49-F238E27FC236}">
                <a16:creationId xmlns:a16="http://schemas.microsoft.com/office/drawing/2014/main" id="{5CB97C39-D0DA-F49A-4C4D-AA8F65642F22}"/>
              </a:ext>
            </a:extLst>
          </p:cNvPr>
          <p:cNvPicPr>
            <a:picLocks noChangeAspect="1"/>
          </p:cNvPicPr>
          <p:nvPr/>
        </p:nvPicPr>
        <p:blipFill>
          <a:blip r:embed="rId3"/>
          <a:srcRect b="24053"/>
          <a:stretch>
            <a:fillRect/>
          </a:stretch>
        </p:blipFill>
        <p:spPr>
          <a:xfrm>
            <a:off x="9149058" y="3174715"/>
            <a:ext cx="2806751" cy="1200504"/>
          </a:xfrm>
          <a:prstGeom prst="rect">
            <a:avLst/>
          </a:prstGeom>
        </p:spPr>
      </p:pic>
      <p:pic>
        <p:nvPicPr>
          <p:cNvPr id="12" name="Picture 11">
            <a:extLst>
              <a:ext uri="{FF2B5EF4-FFF2-40B4-BE49-F238E27FC236}">
                <a16:creationId xmlns:a16="http://schemas.microsoft.com/office/drawing/2014/main" id="{E4BA8D16-2310-A9A9-B0A2-48BBE037191B}"/>
              </a:ext>
            </a:extLst>
          </p:cNvPr>
          <p:cNvPicPr>
            <a:picLocks noChangeAspect="1"/>
          </p:cNvPicPr>
          <p:nvPr/>
        </p:nvPicPr>
        <p:blipFill>
          <a:blip r:embed="rId4"/>
          <a:stretch/>
        </p:blipFill>
        <p:spPr>
          <a:xfrm>
            <a:off x="187938" y="1369625"/>
            <a:ext cx="8873808" cy="4935814"/>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64490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3029C1A-AD73-4E86-AE48-41FDA9425EE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POSITIONING</a:t>
            </a:r>
          </a:p>
        </p:txBody>
      </p:sp>
      <p:sp>
        <p:nvSpPr>
          <p:cNvPr id="2" name="Rectangle 1">
            <a:extLst>
              <a:ext uri="{FF2B5EF4-FFF2-40B4-BE49-F238E27FC236}">
                <a16:creationId xmlns:a16="http://schemas.microsoft.com/office/drawing/2014/main" id="{B53F188D-AC5D-4429-9B17-71710734DEAC}"/>
              </a:ext>
            </a:extLst>
          </p:cNvPr>
          <p:cNvSpPr>
            <a:spLocks noGrp="1"/>
          </p:cNvSpPr>
          <p:nvPr/>
        </p:nvSpPr>
        <p:spPr>
          <a:xfrm>
            <a:off x="400050" y="552450"/>
            <a:ext cx="11391900" cy="781050"/>
          </a:xfrm>
          <a:prstGeom prst="rect">
            <a:avLst/>
          </a:prstGeom>
        </p:spPr>
        <p:txBody>
          <a:bodyPr lIns="0" tIns="0" rIns="0" bIns="0" anchor="t">
            <a:normAutofit fontScale="82897" lnSpcReduction="10000"/>
          </a:bodyPr>
          <a:lstStyle/>
          <a:p>
            <a:pPr algn="l">
              <a:buNone/>
              <a:defRPr sz="3600" b="1">
                <a:solidFill>
                  <a:srgbClr val="151515"/>
                </a:solidFill>
                <a:latin typeface="Arial"/>
                <a:ea typeface="Arial"/>
                <a:cs typeface="Arial"/>
              </a:defRPr>
            </a:pPr>
            <a:r>
              <a:t>The research gap sits between explanation and prediction</a:t>
            </a:r>
          </a:p>
        </p:txBody>
      </p:sp>
      <p:sp>
        <p:nvSpPr>
          <p:cNvPr id="3" name="Rectangle 2">
            <a:extLst>
              <a:ext uri="{FF2B5EF4-FFF2-40B4-BE49-F238E27FC236}">
                <a16:creationId xmlns:a16="http://schemas.microsoft.com/office/drawing/2014/main" id="{3E9CB3F4-C705-4602-9FEB-0455FD8A0555}"/>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5EE6283D-6CA5-4574-B02B-1C5CBA4EF20D}"/>
              </a:ext>
            </a:extLst>
          </p:cNvPr>
          <p:cNvSpPr>
            <a:spLocks noGrp="1"/>
          </p:cNvSpPr>
          <p:nvPr/>
        </p:nvSpPr>
        <p:spPr>
          <a:xfrm>
            <a:off x="400050" y="1809750"/>
            <a:ext cx="4953000" cy="3429000"/>
          </a:xfrm>
          <a:prstGeom prst="rect">
            <a:avLst/>
          </a:prstGeom>
          <a:solidFill>
            <a:srgbClr val="F0F1F2"/>
          </a:solidFill>
          <a:ln w="0">
            <a:noFill/>
            <a:prstDash val="solid"/>
          </a:ln>
        </p:spPr>
        <p:txBody>
          <a:bodyPr/>
          <a:lstStyle/>
          <a:p>
            <a:endParaRPr lang="en-US"/>
          </a:p>
        </p:txBody>
      </p:sp>
      <p:sp>
        <p:nvSpPr>
          <p:cNvPr id="5" name="Rectangle 4">
            <a:extLst>
              <a:ext uri="{FF2B5EF4-FFF2-40B4-BE49-F238E27FC236}">
                <a16:creationId xmlns:a16="http://schemas.microsoft.com/office/drawing/2014/main" id="{9F808345-5AB2-46FF-B149-FECA926C74C0}"/>
              </a:ext>
            </a:extLst>
          </p:cNvPr>
          <p:cNvSpPr>
            <a:spLocks noGrp="1"/>
          </p:cNvSpPr>
          <p:nvPr/>
        </p:nvSpPr>
        <p:spPr>
          <a:xfrm>
            <a:off x="6838950" y="1809750"/>
            <a:ext cx="4953000" cy="3429000"/>
          </a:xfrm>
          <a:prstGeom prst="rect">
            <a:avLst/>
          </a:prstGeom>
          <a:solidFill>
            <a:srgbClr val="F4E9ED"/>
          </a:solidFill>
          <a:ln w="0">
            <a:noFill/>
            <a:prstDash val="solid"/>
          </a:ln>
        </p:spPr>
        <p:txBody>
          <a:bodyPr/>
          <a:lstStyle/>
          <a:p>
            <a:endParaRPr lang="en-US"/>
          </a:p>
        </p:txBody>
      </p:sp>
      <p:sp>
        <p:nvSpPr>
          <p:cNvPr id="6" name="Rectangle 5">
            <a:extLst>
              <a:ext uri="{FF2B5EF4-FFF2-40B4-BE49-F238E27FC236}">
                <a16:creationId xmlns:a16="http://schemas.microsoft.com/office/drawing/2014/main" id="{304A3BBD-B4A6-4ABC-B28F-BDDD14A30DF4}"/>
              </a:ext>
            </a:extLst>
          </p:cNvPr>
          <p:cNvSpPr>
            <a:spLocks noGrp="1"/>
          </p:cNvSpPr>
          <p:nvPr/>
        </p:nvSpPr>
        <p:spPr>
          <a:xfrm>
            <a:off x="714375" y="2143125"/>
            <a:ext cx="4000500" cy="400050"/>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t>Modern machine learning</a:t>
            </a:r>
          </a:p>
        </p:txBody>
      </p:sp>
      <p:sp>
        <p:nvSpPr>
          <p:cNvPr id="7" name="Rectangle 6">
            <a:extLst>
              <a:ext uri="{FF2B5EF4-FFF2-40B4-BE49-F238E27FC236}">
                <a16:creationId xmlns:a16="http://schemas.microsoft.com/office/drawing/2014/main" id="{5470ED02-65B2-472A-B023-24EE9C77D89E}"/>
              </a:ext>
            </a:extLst>
          </p:cNvPr>
          <p:cNvSpPr>
            <a:spLocks noGrp="1"/>
          </p:cNvSpPr>
          <p:nvPr/>
        </p:nvSpPr>
        <p:spPr>
          <a:xfrm>
            <a:off x="714375"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Handles nonlinear interactions
Often strong predictive accuracy
Decision logic remains opaque</a:t>
            </a:r>
          </a:p>
        </p:txBody>
      </p:sp>
      <p:sp>
        <p:nvSpPr>
          <p:cNvPr id="8" name="Rectangle 7">
            <a:extLst>
              <a:ext uri="{FF2B5EF4-FFF2-40B4-BE49-F238E27FC236}">
                <a16:creationId xmlns:a16="http://schemas.microsoft.com/office/drawing/2014/main" id="{E2865458-5055-47B9-AFCB-E6CF5FD0B05D}"/>
              </a:ext>
            </a:extLst>
          </p:cNvPr>
          <p:cNvSpPr>
            <a:spLocks noGrp="1"/>
          </p:cNvSpPr>
          <p:nvPr/>
        </p:nvSpPr>
        <p:spPr>
          <a:xfrm>
            <a:off x="7143750" y="2143125"/>
            <a:ext cx="4000500" cy="400050"/>
          </a:xfrm>
          <a:prstGeom prst="rect">
            <a:avLst/>
          </a:prstGeom>
        </p:spPr>
        <p:txBody>
          <a:bodyPr lIns="0" tIns="0" rIns="0" bIns="0" anchor="t">
            <a:normAutofit/>
          </a:bodyPr>
          <a:lstStyle/>
          <a:p>
            <a:pPr algn="l">
              <a:buNone/>
              <a:defRPr sz="2325" b="1">
                <a:solidFill>
                  <a:srgbClr val="7B1E3A"/>
                </a:solidFill>
                <a:latin typeface="Arial"/>
                <a:ea typeface="Arial"/>
                <a:cs typeface="Arial"/>
              </a:defRPr>
            </a:pPr>
            <a:r>
              <a:t>Rule-based discovery</a:t>
            </a:r>
          </a:p>
        </p:txBody>
      </p:sp>
      <p:sp>
        <p:nvSpPr>
          <p:cNvPr id="9" name="Rectangle 8">
            <a:extLst>
              <a:ext uri="{FF2B5EF4-FFF2-40B4-BE49-F238E27FC236}">
                <a16:creationId xmlns:a16="http://schemas.microsoft.com/office/drawing/2014/main" id="{55022B84-614B-411B-AE7C-C67CDCC1F378}"/>
              </a:ext>
            </a:extLst>
          </p:cNvPr>
          <p:cNvSpPr>
            <a:spLocks noGrp="1"/>
          </p:cNvSpPr>
          <p:nvPr/>
        </p:nvSpPr>
        <p:spPr>
          <a:xfrm>
            <a:off x="7143750" y="2857500"/>
            <a:ext cx="4000500" cy="1428750"/>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Produces explicit IF–THEN rules
Auditable support and significance
Predictive value is unproven here</a:t>
            </a:r>
          </a:p>
        </p:txBody>
      </p:sp>
      <p:sp>
        <p:nvSpPr>
          <p:cNvPr id="10" name="Rectangle 9">
            <a:extLst>
              <a:ext uri="{FF2B5EF4-FFF2-40B4-BE49-F238E27FC236}">
                <a16:creationId xmlns:a16="http://schemas.microsoft.com/office/drawing/2014/main" id="{758A4DBE-D04A-46CD-90AA-60129E506804}"/>
              </a:ext>
            </a:extLst>
          </p:cNvPr>
          <p:cNvSpPr>
            <a:spLocks noGrp="1"/>
          </p:cNvSpPr>
          <p:nvPr/>
        </p:nvSpPr>
        <p:spPr>
          <a:xfrm>
            <a:off x="5305425" y="2667000"/>
            <a:ext cx="1581150" cy="1714500"/>
          </a:xfrm>
          <a:prstGeom prst="rect">
            <a:avLst/>
          </a:prstGeom>
          <a:solidFill>
            <a:srgbClr val="151515"/>
          </a:solidFill>
          <a:ln w="0">
            <a:noFill/>
            <a:prstDash val="solid"/>
          </a:ln>
        </p:spPr>
        <p:txBody>
          <a:bodyPr/>
          <a:lstStyle/>
          <a:p>
            <a:endParaRPr lang="en-US"/>
          </a:p>
        </p:txBody>
      </p:sp>
      <p:sp>
        <p:nvSpPr>
          <p:cNvPr id="11" name="Rectangle 10">
            <a:extLst>
              <a:ext uri="{FF2B5EF4-FFF2-40B4-BE49-F238E27FC236}">
                <a16:creationId xmlns:a16="http://schemas.microsoft.com/office/drawing/2014/main" id="{3FBFDE12-413B-4856-813D-6D3A174F110E}"/>
              </a:ext>
            </a:extLst>
          </p:cNvPr>
          <p:cNvSpPr>
            <a:spLocks noGrp="1"/>
          </p:cNvSpPr>
          <p:nvPr/>
        </p:nvSpPr>
        <p:spPr>
          <a:xfrm>
            <a:off x="5476875" y="3067050"/>
            <a:ext cx="1238250" cy="952500"/>
          </a:xfrm>
          <a:prstGeom prst="rect">
            <a:avLst/>
          </a:prstGeom>
        </p:spPr>
        <p:txBody>
          <a:bodyPr lIns="0" tIns="0" rIns="0" bIns="0" anchor="t">
            <a:normAutofit fontScale="95785" lnSpcReduction="10000"/>
          </a:bodyPr>
          <a:lstStyle/>
          <a:p>
            <a:pPr algn="ctr">
              <a:buNone/>
              <a:defRPr sz="2175" b="1">
                <a:solidFill>
                  <a:srgbClr val="FFFFFF"/>
                </a:solidFill>
                <a:latin typeface="Arial"/>
                <a:ea typeface="Arial"/>
                <a:cs typeface="Arial"/>
              </a:defRPr>
            </a:pPr>
            <a:r>
              <a:t>Can we
have
both?</a:t>
            </a:r>
          </a:p>
        </p:txBody>
      </p:sp>
      <p:sp>
        <p:nvSpPr>
          <p:cNvPr id="12" name="Rectangle 11">
            <a:extLst>
              <a:ext uri="{FF2B5EF4-FFF2-40B4-BE49-F238E27FC236}">
                <a16:creationId xmlns:a16="http://schemas.microsoft.com/office/drawing/2014/main" id="{DD9A3A8B-D727-4A32-8A96-0E912EE90316}"/>
              </a:ext>
            </a:extLst>
          </p:cNvPr>
          <p:cNvSpPr>
            <a:spLocks noGrp="1"/>
          </p:cNvSpPr>
          <p:nvPr/>
        </p:nvSpPr>
        <p:spPr>
          <a:xfrm>
            <a:off x="1285875" y="5619750"/>
            <a:ext cx="9620250" cy="457200"/>
          </a:xfrm>
          <a:prstGeom prst="rect">
            <a:avLst/>
          </a:prstGeom>
        </p:spPr>
        <p:txBody>
          <a:bodyPr lIns="0" tIns="0" rIns="0" bIns="0" anchor="t">
            <a:normAutofit fontScale="87500" lnSpcReduction="10000"/>
          </a:bodyPr>
          <a:lstStyle/>
          <a:p>
            <a:pPr algn="ctr">
              <a:buNone/>
              <a:defRPr sz="1875" b="1">
                <a:solidFill>
                  <a:srgbClr val="151515"/>
                </a:solidFill>
                <a:latin typeface="Arial"/>
                <a:ea typeface="Arial"/>
                <a:cs typeface="Arial"/>
              </a:defRPr>
            </a:pPr>
            <a:r>
              <a:t>No prior work systematically evaluated distributional subgroup discovery in walk-forward wine production forecasting.</a:t>
            </a:r>
          </a:p>
        </p:txBody>
      </p:sp>
    </p:spTree>
    <p:extLst>
      <p:ext uri="{BB962C8B-B14F-4D97-AF65-F5344CB8AC3E}">
        <p14:creationId xmlns:p14="http://schemas.microsoft.com/office/powerpoint/2010/main" val="47205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8DD33668-8A5B-4D16-83E1-9969BC7A86C4}"/>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RESEARCH DESIGN</a:t>
            </a:r>
          </a:p>
        </p:txBody>
      </p:sp>
      <p:sp>
        <p:nvSpPr>
          <p:cNvPr id="2" name="Rectangle 1">
            <a:extLst>
              <a:ext uri="{FF2B5EF4-FFF2-40B4-BE49-F238E27FC236}">
                <a16:creationId xmlns:a16="http://schemas.microsoft.com/office/drawing/2014/main" id="{9505EA40-7291-41D5-8960-9A31A145B09B}"/>
              </a:ext>
            </a:extLst>
          </p:cNvPr>
          <p:cNvSpPr>
            <a:spLocks noGrp="1"/>
          </p:cNvSpPr>
          <p:nvPr/>
        </p:nvSpPr>
        <p:spPr>
          <a:xfrm>
            <a:off x="400050" y="552450"/>
            <a:ext cx="11391900" cy="781050"/>
          </a:xfrm>
          <a:prstGeom prst="rect">
            <a:avLst/>
          </a:prstGeom>
        </p:spPr>
        <p:txBody>
          <a:bodyPr lIns="0" tIns="0" rIns="0" bIns="0" anchor="t">
            <a:normAutofit fontScale="95409"/>
          </a:bodyPr>
          <a:lstStyle/>
          <a:p>
            <a:pPr algn="l">
              <a:buNone/>
              <a:defRPr sz="3600" b="1">
                <a:solidFill>
                  <a:srgbClr val="151515"/>
                </a:solidFill>
                <a:latin typeface="Arial"/>
                <a:ea typeface="Arial"/>
                <a:cs typeface="Arial"/>
              </a:defRPr>
            </a:pPr>
            <a:r>
              <a:t>Two goals separate historical insight from future utility</a:t>
            </a:r>
          </a:p>
        </p:txBody>
      </p:sp>
      <p:sp>
        <p:nvSpPr>
          <p:cNvPr id="3" name="Rectangle 2">
            <a:extLst>
              <a:ext uri="{FF2B5EF4-FFF2-40B4-BE49-F238E27FC236}">
                <a16:creationId xmlns:a16="http://schemas.microsoft.com/office/drawing/2014/main" id="{472FA34E-8C03-47C0-B5A4-5E08CC27979F}"/>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08</a:t>
            </a:r>
          </a:p>
        </p:txBody>
      </p:sp>
      <p:sp>
        <p:nvSpPr>
          <p:cNvPr id="4" name="Rectangle 3">
            <a:extLst>
              <a:ext uri="{FF2B5EF4-FFF2-40B4-BE49-F238E27FC236}">
                <a16:creationId xmlns:a16="http://schemas.microsoft.com/office/drawing/2014/main" id="{E2C7CC3E-5FC9-45F8-A3F2-44DF3B163789}"/>
              </a:ext>
            </a:extLst>
          </p:cNvPr>
          <p:cNvSpPr>
            <a:spLocks noGrp="1"/>
          </p:cNvSpPr>
          <p:nvPr/>
        </p:nvSpPr>
        <p:spPr>
          <a:xfrm>
            <a:off x="400050" y="1571625"/>
            <a:ext cx="5476875" cy="3857625"/>
          </a:xfrm>
          <a:prstGeom prst="rect">
            <a:avLst/>
          </a:prstGeom>
          <a:solidFill>
            <a:srgbClr val="EAF3FA"/>
          </a:solidFill>
          <a:ln w="0">
            <a:noFill/>
            <a:prstDash val="solid"/>
          </a:ln>
        </p:spPr>
        <p:txBody>
          <a:bodyPr/>
          <a:lstStyle/>
          <a:p>
            <a:endParaRPr lang="en-US"/>
          </a:p>
        </p:txBody>
      </p:sp>
      <p:sp>
        <p:nvSpPr>
          <p:cNvPr id="5" name="Rectangle 4">
            <a:extLst>
              <a:ext uri="{FF2B5EF4-FFF2-40B4-BE49-F238E27FC236}">
                <a16:creationId xmlns:a16="http://schemas.microsoft.com/office/drawing/2014/main" id="{A086F652-6877-4DF1-AA1B-D7307C5B6C25}"/>
              </a:ext>
            </a:extLst>
          </p:cNvPr>
          <p:cNvSpPr>
            <a:spLocks noGrp="1"/>
          </p:cNvSpPr>
          <p:nvPr/>
        </p:nvSpPr>
        <p:spPr>
          <a:xfrm>
            <a:off x="6305550" y="1571625"/>
            <a:ext cx="5476875" cy="3857625"/>
          </a:xfrm>
          <a:prstGeom prst="rect">
            <a:avLst/>
          </a:prstGeom>
          <a:solidFill>
            <a:srgbClr val="E8F3EB"/>
          </a:solidFill>
          <a:ln w="0">
            <a:noFill/>
            <a:prstDash val="solid"/>
          </a:ln>
        </p:spPr>
        <p:txBody>
          <a:bodyPr/>
          <a:lstStyle/>
          <a:p>
            <a:endParaRPr lang="en-US"/>
          </a:p>
        </p:txBody>
      </p:sp>
      <p:sp>
        <p:nvSpPr>
          <p:cNvPr id="6" name="Rectangle 5">
            <a:extLst>
              <a:ext uri="{FF2B5EF4-FFF2-40B4-BE49-F238E27FC236}">
                <a16:creationId xmlns:a16="http://schemas.microsoft.com/office/drawing/2014/main" id="{5D39DEEF-CB24-4542-A28C-E29905560AE8}"/>
              </a:ext>
            </a:extLst>
          </p:cNvPr>
          <p:cNvSpPr>
            <a:spLocks noGrp="1"/>
          </p:cNvSpPr>
          <p:nvPr/>
        </p:nvSpPr>
        <p:spPr>
          <a:xfrm>
            <a:off x="714375" y="1905000"/>
            <a:ext cx="161925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GOAL 1</a:t>
            </a:r>
          </a:p>
        </p:txBody>
      </p:sp>
      <p:sp>
        <p:nvSpPr>
          <p:cNvPr id="7" name="Rectangle 6">
            <a:extLst>
              <a:ext uri="{FF2B5EF4-FFF2-40B4-BE49-F238E27FC236}">
                <a16:creationId xmlns:a16="http://schemas.microsoft.com/office/drawing/2014/main" id="{8A8F5A80-4744-4506-8377-0467801053F3}"/>
              </a:ext>
            </a:extLst>
          </p:cNvPr>
          <p:cNvSpPr>
            <a:spLocks noGrp="1"/>
          </p:cNvSpPr>
          <p:nvPr/>
        </p:nvSpPr>
        <p:spPr>
          <a:xfrm>
            <a:off x="7143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Discover</a:t>
            </a:r>
          </a:p>
        </p:txBody>
      </p:sp>
      <p:sp>
        <p:nvSpPr>
          <p:cNvPr id="8" name="Rectangle 7">
            <a:extLst>
              <a:ext uri="{FF2B5EF4-FFF2-40B4-BE49-F238E27FC236}">
                <a16:creationId xmlns:a16="http://schemas.microsoft.com/office/drawing/2014/main" id="{7460BDCC-3B84-47AD-AD85-255096D10049}"/>
              </a:ext>
            </a:extLst>
          </p:cNvPr>
          <p:cNvSpPr>
            <a:spLocks noGrp="1"/>
          </p:cNvSpPr>
          <p:nvPr/>
        </p:nvSpPr>
        <p:spPr>
          <a:xfrm>
            <a:off x="714375" y="3095625"/>
            <a:ext cx="4572000" cy="857250"/>
          </a:xfrm>
          <a:prstGeom prst="rect">
            <a:avLst/>
          </a:prstGeom>
        </p:spPr>
        <p:txBody>
          <a:bodyPr lIns="0" tIns="0" rIns="0" bIns="0" anchor="t">
            <a:normAutofit fontScale="94965"/>
          </a:bodyPr>
          <a:lstStyle/>
          <a:p>
            <a:pPr algn="l">
              <a:buNone/>
              <a:defRPr sz="2025" b="0">
                <a:solidFill>
                  <a:srgbClr val="151515"/>
                </a:solidFill>
                <a:latin typeface="Arial"/>
                <a:ea typeface="Arial"/>
                <a:cs typeface="Arial"/>
              </a:defRPr>
            </a:pPr>
            <a:r>
              <a:t>Which agroclimatic conditions distinguish above- and below-trend production years?</a:t>
            </a:r>
          </a:p>
        </p:txBody>
      </p:sp>
      <p:sp>
        <p:nvSpPr>
          <p:cNvPr id="9" name="Rectangle 8">
            <a:extLst>
              <a:ext uri="{FF2B5EF4-FFF2-40B4-BE49-F238E27FC236}">
                <a16:creationId xmlns:a16="http://schemas.microsoft.com/office/drawing/2014/main" id="{4443AB3D-E977-4666-9964-D5F0CE912BDB}"/>
              </a:ext>
            </a:extLst>
          </p:cNvPr>
          <p:cNvSpPr>
            <a:spLocks noGrp="1"/>
          </p:cNvSpPr>
          <p:nvPr/>
        </p:nvSpPr>
        <p:spPr>
          <a:xfrm>
            <a:off x="714375" y="4333875"/>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RQ1 · dominant variables
RQ2 · genuine signal or era confound?</a:t>
            </a:r>
          </a:p>
        </p:txBody>
      </p:sp>
      <p:sp>
        <p:nvSpPr>
          <p:cNvPr id="10" name="Rectangle 9">
            <a:extLst>
              <a:ext uri="{FF2B5EF4-FFF2-40B4-BE49-F238E27FC236}">
                <a16:creationId xmlns:a16="http://schemas.microsoft.com/office/drawing/2014/main" id="{4875AB7E-9E72-4FBE-8CEC-4F52FAAE70BE}"/>
              </a:ext>
            </a:extLst>
          </p:cNvPr>
          <p:cNvSpPr>
            <a:spLocks noGrp="1"/>
          </p:cNvSpPr>
          <p:nvPr/>
        </p:nvSpPr>
        <p:spPr>
          <a:xfrm>
            <a:off x="6619875" y="1905000"/>
            <a:ext cx="161925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t>GOAL 2</a:t>
            </a:r>
          </a:p>
        </p:txBody>
      </p:sp>
      <p:sp>
        <p:nvSpPr>
          <p:cNvPr id="11" name="Rectangle 10">
            <a:extLst>
              <a:ext uri="{FF2B5EF4-FFF2-40B4-BE49-F238E27FC236}">
                <a16:creationId xmlns:a16="http://schemas.microsoft.com/office/drawing/2014/main" id="{0D6B46AF-E04C-4B36-B9F0-A39228A0AA4E}"/>
              </a:ext>
            </a:extLst>
          </p:cNvPr>
          <p:cNvSpPr>
            <a:spLocks noGrp="1"/>
          </p:cNvSpPr>
          <p:nvPr/>
        </p:nvSpPr>
        <p:spPr>
          <a:xfrm>
            <a:off x="6619875" y="2381250"/>
            <a:ext cx="4286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Validate</a:t>
            </a:r>
          </a:p>
        </p:txBody>
      </p:sp>
      <p:sp>
        <p:nvSpPr>
          <p:cNvPr id="12" name="Rectangle 11">
            <a:extLst>
              <a:ext uri="{FF2B5EF4-FFF2-40B4-BE49-F238E27FC236}">
                <a16:creationId xmlns:a16="http://schemas.microsoft.com/office/drawing/2014/main" id="{483BCECB-A95D-440D-B4AB-2D752425BA70}"/>
              </a:ext>
            </a:extLst>
          </p:cNvPr>
          <p:cNvSpPr>
            <a:spLocks noGrp="1"/>
          </p:cNvSpPr>
          <p:nvPr/>
        </p:nvSpPr>
        <p:spPr>
          <a:xfrm>
            <a:off x="6619875" y="3095625"/>
            <a:ext cx="4572000" cy="857250"/>
          </a:xfrm>
          <a:prstGeom prst="rect">
            <a:avLst/>
          </a:prstGeom>
        </p:spPr>
        <p:txBody>
          <a:bodyPr lIns="0" tIns="0" rIns="0" bIns="0" anchor="t">
            <a:normAutofit fontScale="96354" lnSpcReduction="10000"/>
          </a:bodyPr>
          <a:lstStyle/>
          <a:p>
            <a:pPr algn="l">
              <a:buNone/>
              <a:defRPr sz="2025" b="0">
                <a:solidFill>
                  <a:srgbClr val="151515"/>
                </a:solidFill>
                <a:latin typeface="Arial"/>
                <a:ea typeface="Arial"/>
                <a:cs typeface="Arial"/>
              </a:defRPr>
            </a:pPr>
            <a:r>
              <a:t>Can rule-based models beat the historical median in genuine future periods?</a:t>
            </a:r>
          </a:p>
        </p:txBody>
      </p:sp>
      <p:sp>
        <p:nvSpPr>
          <p:cNvPr id="13" name="Rectangle 12">
            <a:extLst>
              <a:ext uri="{FF2B5EF4-FFF2-40B4-BE49-F238E27FC236}">
                <a16:creationId xmlns:a16="http://schemas.microsoft.com/office/drawing/2014/main" id="{24871CD9-66BE-4434-BEDC-C59FD5456578}"/>
              </a:ext>
            </a:extLst>
          </p:cNvPr>
          <p:cNvSpPr>
            <a:spLocks noGrp="1"/>
          </p:cNvSpPr>
          <p:nvPr/>
        </p:nvSpPr>
        <p:spPr>
          <a:xfrm>
            <a:off x="6619875" y="4333875"/>
            <a:ext cx="4572000" cy="714375"/>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t>RQ3 · out-of-sample improvement
RQ4 · conditions for success or failure</a:t>
            </a:r>
          </a:p>
        </p:txBody>
      </p:sp>
      <p:sp>
        <p:nvSpPr>
          <p:cNvPr id="14" name="Rectangle 13">
            <a:extLst>
              <a:ext uri="{FF2B5EF4-FFF2-40B4-BE49-F238E27FC236}">
                <a16:creationId xmlns:a16="http://schemas.microsoft.com/office/drawing/2014/main" id="{7B83F7CF-E2C4-4734-BF8B-45937F337CD9}"/>
              </a:ext>
            </a:extLst>
          </p:cNvPr>
          <p:cNvSpPr>
            <a:spLocks noGrp="1"/>
          </p:cNvSpPr>
          <p:nvPr/>
        </p:nvSpPr>
        <p:spPr>
          <a:xfrm>
            <a:off x="400050" y="5715000"/>
            <a:ext cx="11382375" cy="400050"/>
          </a:xfrm>
          <a:prstGeom prst="rect">
            <a:avLst/>
          </a:prstGeom>
        </p:spPr>
        <p:txBody>
          <a:bodyPr lIns="0" tIns="0" rIns="0" bIns="0" anchor="t">
            <a:normAutofit/>
          </a:bodyPr>
          <a:lstStyle/>
          <a:p>
            <a:pPr algn="ctr">
              <a:buNone/>
              <a:defRPr sz="2100" b="1">
                <a:solidFill>
                  <a:srgbClr val="7B1E3A"/>
                </a:solidFill>
                <a:latin typeface="Arial"/>
                <a:ea typeface="Arial"/>
                <a:cs typeface="Arial"/>
              </a:defRPr>
            </a:pPr>
            <a:r>
              <a:t>Same data and rule family — different standard of evidence.</a:t>
            </a:r>
          </a:p>
        </p:txBody>
      </p:sp>
    </p:spTree>
    <p:extLst>
      <p:ext uri="{BB962C8B-B14F-4D97-AF65-F5344CB8AC3E}">
        <p14:creationId xmlns:p14="http://schemas.microsoft.com/office/powerpoint/2010/main" val="1238573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entagon 17">
            <a:extLst>
              <a:ext uri="{FF2B5EF4-FFF2-40B4-BE49-F238E27FC236}">
                <a16:creationId xmlns:a16="http://schemas.microsoft.com/office/drawing/2014/main" id="{0F772BBF-27BF-C93E-BE15-73A16566D339}"/>
              </a:ext>
            </a:extLst>
          </p:cNvPr>
          <p:cNvSpPr/>
          <p:nvPr/>
        </p:nvSpPr>
        <p:spPr>
          <a:xfrm>
            <a:off x="4309822"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entagon 16">
            <a:extLst>
              <a:ext uri="{FF2B5EF4-FFF2-40B4-BE49-F238E27FC236}">
                <a16:creationId xmlns:a16="http://schemas.microsoft.com/office/drawing/2014/main" id="{465A2075-D300-23C6-8FA4-F90D2E944B83}"/>
              </a:ext>
            </a:extLst>
          </p:cNvPr>
          <p:cNvSpPr/>
          <p:nvPr/>
        </p:nvSpPr>
        <p:spPr>
          <a:xfrm>
            <a:off x="442060" y="1926940"/>
            <a:ext cx="3572356" cy="281041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BDD2E6F-8C2E-4F2A-974B-DDDDC1B2CA2A}"/>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STUDY DESIGN</a:t>
            </a:r>
          </a:p>
        </p:txBody>
      </p:sp>
      <p:sp>
        <p:nvSpPr>
          <p:cNvPr id="2" name="Rectangle 1">
            <a:extLst>
              <a:ext uri="{FF2B5EF4-FFF2-40B4-BE49-F238E27FC236}">
                <a16:creationId xmlns:a16="http://schemas.microsoft.com/office/drawing/2014/main" id="{B26B4D77-7C92-4747-8CFF-E037A732255B}"/>
              </a:ext>
            </a:extLst>
          </p:cNvPr>
          <p:cNvSpPr>
            <a:spLocks noGrp="1"/>
          </p:cNvSpPr>
          <p:nvPr/>
        </p:nvSpPr>
        <p:spPr>
          <a:xfrm>
            <a:off x="400050" y="552450"/>
            <a:ext cx="11391900" cy="781050"/>
          </a:xfrm>
          <a:prstGeom prst="rect">
            <a:avLst/>
          </a:prstGeom>
        </p:spPr>
        <p:txBody>
          <a:bodyPr lIns="0" tIns="0" rIns="0" bIns="0" anchor="t">
            <a:normAutofit fontScale="89518"/>
          </a:bodyPr>
          <a:lstStyle/>
          <a:p>
            <a:pPr algn="l">
              <a:buNone/>
              <a:defRPr sz="3600" b="1">
                <a:solidFill>
                  <a:srgbClr val="151515"/>
                </a:solidFill>
                <a:latin typeface="Arial"/>
                <a:ea typeface="Arial"/>
                <a:cs typeface="Arial"/>
              </a:defRPr>
            </a:pPr>
            <a:r>
              <a:t>A controlled comparison isolates the role of data structure</a:t>
            </a:r>
          </a:p>
        </p:txBody>
      </p:sp>
      <p:sp>
        <p:nvSpPr>
          <p:cNvPr id="3" name="Rectangle 2">
            <a:extLst>
              <a:ext uri="{FF2B5EF4-FFF2-40B4-BE49-F238E27FC236}">
                <a16:creationId xmlns:a16="http://schemas.microsoft.com/office/drawing/2014/main" id="{FF48BE71-38CB-4488-8113-ECE3EA12E0E9}"/>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49A84AED-9033-4229-9348-6C1737B8F9C7}"/>
              </a:ext>
            </a:extLst>
          </p:cNvPr>
          <p:cNvSpPr>
            <a:spLocks noGrp="1"/>
          </p:cNvSpPr>
          <p:nvPr/>
        </p:nvSpPr>
        <p:spPr>
          <a:xfrm>
            <a:off x="604466" y="2356100"/>
            <a:ext cx="17145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dirty="0">
                <a:solidFill>
                  <a:schemeClr val="accent2"/>
                </a:solidFill>
              </a:rPr>
              <a:t>SAME</a:t>
            </a:r>
          </a:p>
        </p:txBody>
      </p:sp>
      <p:sp>
        <p:nvSpPr>
          <p:cNvPr id="5" name="Rectangle 4">
            <a:extLst>
              <a:ext uri="{FF2B5EF4-FFF2-40B4-BE49-F238E27FC236}">
                <a16:creationId xmlns:a16="http://schemas.microsoft.com/office/drawing/2014/main" id="{85F1B518-CFC7-448A-ADB1-56AF71E33566}"/>
              </a:ext>
            </a:extLst>
          </p:cNvPr>
          <p:cNvSpPr>
            <a:spLocks noGrp="1"/>
          </p:cNvSpPr>
          <p:nvPr/>
        </p:nvSpPr>
        <p:spPr>
          <a:xfrm>
            <a:off x="60446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t>Feature engineering
Detrending logic
Rule learners
Evaluation metric</a:t>
            </a:r>
          </a:p>
        </p:txBody>
      </p:sp>
      <p:sp>
        <p:nvSpPr>
          <p:cNvPr id="6" name="Rectangle 5">
            <a:extLst>
              <a:ext uri="{FF2B5EF4-FFF2-40B4-BE49-F238E27FC236}">
                <a16:creationId xmlns:a16="http://schemas.microsoft.com/office/drawing/2014/main" id="{74197C70-67D5-4C64-AF01-FC6A51E41321}"/>
              </a:ext>
            </a:extLst>
          </p:cNvPr>
          <p:cNvSpPr>
            <a:spLocks noGrp="1"/>
          </p:cNvSpPr>
          <p:nvPr/>
        </p:nvSpPr>
        <p:spPr>
          <a:xfrm>
            <a:off x="4639156" y="2356100"/>
            <a:ext cx="1905000" cy="361950"/>
          </a:xfrm>
          <a:prstGeom prst="rect">
            <a:avLst/>
          </a:prstGeom>
          <a:ln>
            <a:noFill/>
          </a:ln>
        </p:spPr>
        <p:txBody>
          <a:bodyPr lIns="0" tIns="0" rIns="0" bIns="0" anchor="t">
            <a:normAutofit/>
          </a:bodyPr>
          <a:lstStyle/>
          <a:p>
            <a:pPr algn="l">
              <a:buNone/>
              <a:defRPr sz="1500" b="1">
                <a:solidFill>
                  <a:srgbClr val="7B1E3A"/>
                </a:solidFill>
                <a:latin typeface="Arial"/>
                <a:ea typeface="Arial"/>
                <a:cs typeface="Arial"/>
              </a:defRPr>
            </a:pPr>
            <a:r>
              <a:rPr dirty="0">
                <a:solidFill>
                  <a:schemeClr val="accent2"/>
                </a:solidFill>
              </a:rPr>
              <a:t>DIFFERENT</a:t>
            </a:r>
          </a:p>
        </p:txBody>
      </p:sp>
      <p:sp>
        <p:nvSpPr>
          <p:cNvPr id="7" name="Rectangle 6">
            <a:extLst>
              <a:ext uri="{FF2B5EF4-FFF2-40B4-BE49-F238E27FC236}">
                <a16:creationId xmlns:a16="http://schemas.microsoft.com/office/drawing/2014/main" id="{DBB472A9-A525-4858-98B8-EB1452E86328}"/>
              </a:ext>
            </a:extLst>
          </p:cNvPr>
          <p:cNvSpPr>
            <a:spLocks noGrp="1"/>
          </p:cNvSpPr>
          <p:nvPr/>
        </p:nvSpPr>
        <p:spPr>
          <a:xfrm>
            <a:off x="4639156" y="2927600"/>
            <a:ext cx="2952750" cy="1809750"/>
          </a:xfrm>
          <a:prstGeom prst="rect">
            <a:avLst/>
          </a:prstGeom>
          <a:ln>
            <a:noFill/>
          </a:ln>
        </p:spPr>
        <p:txBody>
          <a:bodyPr lIns="0" tIns="0" rIns="0" bIns="0" anchor="t">
            <a:normAutofit/>
          </a:bodyPr>
          <a:lstStyle/>
          <a:p>
            <a:pPr algn="l">
              <a:buNone/>
              <a:defRPr sz="2025" b="0">
                <a:solidFill>
                  <a:srgbClr val="151515"/>
                </a:solidFill>
                <a:latin typeface="Arial"/>
                <a:ea typeface="Arial"/>
                <a:cs typeface="Arial"/>
              </a:defRPr>
            </a:pPr>
            <a:r>
              <a:rPr dirty="0"/>
              <a:t>Climate regime
Structural trajectory
Noise level
Era composition</a:t>
            </a:r>
          </a:p>
        </p:txBody>
      </p:sp>
      <p:sp>
        <p:nvSpPr>
          <p:cNvPr id="8" name="Rectangle 7">
            <a:extLst>
              <a:ext uri="{FF2B5EF4-FFF2-40B4-BE49-F238E27FC236}">
                <a16:creationId xmlns:a16="http://schemas.microsoft.com/office/drawing/2014/main" id="{43D6DB48-E23A-443A-BE28-E108FFFDF07B}"/>
              </a:ext>
            </a:extLst>
          </p:cNvPr>
          <p:cNvSpPr>
            <a:spLocks noGrp="1"/>
          </p:cNvSpPr>
          <p:nvPr/>
        </p:nvSpPr>
        <p:spPr>
          <a:xfrm>
            <a:off x="8096250" y="1524000"/>
            <a:ext cx="3333750" cy="3714750"/>
          </a:xfrm>
          <a:prstGeom prst="rect">
            <a:avLst/>
          </a:prstGeom>
          <a:solidFill>
            <a:schemeClr val="tx1">
              <a:lumMod val="75000"/>
              <a:lumOff val="25000"/>
            </a:schemeClr>
          </a:solidFill>
          <a:ln w="0">
            <a:noFill/>
            <a:prstDash val="solid"/>
          </a:ln>
        </p:spPr>
        <p:txBody>
          <a:bodyPr/>
          <a:lstStyle/>
          <a:p>
            <a:endParaRPr lang="en-US"/>
          </a:p>
        </p:txBody>
      </p:sp>
      <p:sp>
        <p:nvSpPr>
          <p:cNvPr id="9" name="Rectangle 8">
            <a:extLst>
              <a:ext uri="{FF2B5EF4-FFF2-40B4-BE49-F238E27FC236}">
                <a16:creationId xmlns:a16="http://schemas.microsoft.com/office/drawing/2014/main" id="{AE8C0179-CD2E-4C56-8DEA-0201BABB399E}"/>
              </a:ext>
            </a:extLst>
          </p:cNvPr>
          <p:cNvSpPr>
            <a:spLocks noGrp="1"/>
          </p:cNvSpPr>
          <p:nvPr/>
        </p:nvSpPr>
        <p:spPr>
          <a:xfrm>
            <a:off x="8429625" y="1857375"/>
            <a:ext cx="2571750" cy="857250"/>
          </a:xfrm>
          <a:prstGeom prst="rect">
            <a:avLst/>
          </a:prstGeom>
        </p:spPr>
        <p:txBody>
          <a:bodyPr lIns="0" tIns="0" rIns="0" bIns="0" anchor="t">
            <a:normAutofit/>
          </a:bodyPr>
          <a:lstStyle/>
          <a:p>
            <a:pPr algn="l">
              <a:buNone/>
              <a:defRPr sz="5250" b="1">
                <a:solidFill>
                  <a:srgbClr val="FFFFFF"/>
                </a:solidFill>
                <a:latin typeface="Arial"/>
                <a:ea typeface="Arial"/>
                <a:cs typeface="Arial"/>
              </a:defRPr>
            </a:pPr>
            <a:r>
              <a:t>2</a:t>
            </a:r>
          </a:p>
        </p:txBody>
      </p:sp>
      <p:sp>
        <p:nvSpPr>
          <p:cNvPr id="10" name="Rectangle 9">
            <a:extLst>
              <a:ext uri="{FF2B5EF4-FFF2-40B4-BE49-F238E27FC236}">
                <a16:creationId xmlns:a16="http://schemas.microsoft.com/office/drawing/2014/main" id="{F3353210-76A2-4998-95EA-CA4DDB493AAF}"/>
              </a:ext>
            </a:extLst>
          </p:cNvPr>
          <p:cNvSpPr>
            <a:spLocks noGrp="1"/>
          </p:cNvSpPr>
          <p:nvPr/>
        </p:nvSpPr>
        <p:spPr>
          <a:xfrm>
            <a:off x="8429625" y="2647950"/>
            <a:ext cx="2571750" cy="381000"/>
          </a:xfrm>
          <a:prstGeom prst="rect">
            <a:avLst/>
          </a:prstGeom>
        </p:spPr>
        <p:txBody>
          <a:bodyPr lIns="0" tIns="0" rIns="0" bIns="0" anchor="t">
            <a:normAutofit/>
          </a:bodyPr>
          <a:lstStyle/>
          <a:p>
            <a:pPr algn="l">
              <a:buNone/>
              <a:defRPr sz="2100" b="1">
                <a:solidFill>
                  <a:srgbClr val="FFFFFF"/>
                </a:solidFill>
                <a:latin typeface="Arial"/>
                <a:ea typeface="Arial"/>
                <a:cs typeface="Arial"/>
              </a:defRPr>
            </a:pPr>
            <a:r>
              <a:t>regions</a:t>
            </a:r>
          </a:p>
        </p:txBody>
      </p:sp>
      <p:cxnSp>
        <p:nvCxnSpPr>
          <p:cNvPr id="136" name="Straight Arrow Connector 135"/>
          <p:cNvCxnSpPr/>
          <p:nvPr/>
        </p:nvCxnSpPr>
        <p:spPr>
          <a:xfrm>
            <a:off x="8429625" y="3257550"/>
            <a:ext cx="2524125" cy="953"/>
          </a:xfrm>
          <a:prstGeom prst="straightConnector1">
            <a:avLst/>
          </a:prstGeom>
          <a:ln w="38100">
            <a:solidFill>
              <a:schemeClr val="accent2"/>
            </a:solidFill>
            <a:prstDash val="solid"/>
          </a:ln>
        </p:spPr>
      </p:cxnSp>
      <p:sp>
        <p:nvSpPr>
          <p:cNvPr id="12" name="Rectangle 11">
            <a:extLst>
              <a:ext uri="{FF2B5EF4-FFF2-40B4-BE49-F238E27FC236}">
                <a16:creationId xmlns:a16="http://schemas.microsoft.com/office/drawing/2014/main" id="{82A5AD17-3BB2-4150-BB73-3A1872B6D533}"/>
              </a:ext>
            </a:extLst>
          </p:cNvPr>
          <p:cNvSpPr>
            <a:spLocks noGrp="1"/>
          </p:cNvSpPr>
          <p:nvPr/>
        </p:nvSpPr>
        <p:spPr>
          <a:xfrm>
            <a:off x="8429625" y="3571875"/>
            <a:ext cx="2571750" cy="590550"/>
          </a:xfrm>
          <a:prstGeom prst="rect">
            <a:avLst/>
          </a:prstGeom>
        </p:spPr>
        <p:txBody>
          <a:bodyPr lIns="0" tIns="0" rIns="0" bIns="0" anchor="t">
            <a:normAutofit/>
          </a:bodyPr>
          <a:lstStyle/>
          <a:p>
            <a:pPr algn="l">
              <a:buNone/>
              <a:defRPr sz="3600" b="1">
                <a:solidFill>
                  <a:srgbClr val="FFFFFF"/>
                </a:solidFill>
                <a:latin typeface="Arial"/>
                <a:ea typeface="Arial"/>
                <a:cs typeface="Arial"/>
              </a:defRPr>
            </a:pPr>
            <a:r>
              <a:t>89 + 80</a:t>
            </a:r>
          </a:p>
        </p:txBody>
      </p:sp>
      <p:sp>
        <p:nvSpPr>
          <p:cNvPr id="13" name="Rectangle 12">
            <a:extLst>
              <a:ext uri="{FF2B5EF4-FFF2-40B4-BE49-F238E27FC236}">
                <a16:creationId xmlns:a16="http://schemas.microsoft.com/office/drawing/2014/main" id="{D0E6F9C4-9DBE-46A9-B730-BA02B1333379}"/>
              </a:ext>
            </a:extLst>
          </p:cNvPr>
          <p:cNvSpPr>
            <a:spLocks noGrp="1"/>
          </p:cNvSpPr>
          <p:nvPr/>
        </p:nvSpPr>
        <p:spPr>
          <a:xfrm>
            <a:off x="8429625" y="4238625"/>
            <a:ext cx="2571750" cy="333375"/>
          </a:xfrm>
          <a:prstGeom prst="rect">
            <a:avLst/>
          </a:prstGeom>
        </p:spPr>
        <p:txBody>
          <a:bodyPr lIns="0" tIns="0" rIns="0" bIns="0" anchor="t">
            <a:normAutofit/>
          </a:bodyPr>
          <a:lstStyle/>
          <a:p>
            <a:pPr algn="l">
              <a:buNone/>
              <a:defRPr sz="1650" b="0">
                <a:solidFill>
                  <a:srgbClr val="FFFFFF"/>
                </a:solidFill>
                <a:latin typeface="Arial"/>
                <a:ea typeface="Arial"/>
                <a:cs typeface="Arial"/>
              </a:defRPr>
            </a:pPr>
            <a:r>
              <a:t>annual observations</a:t>
            </a:r>
          </a:p>
        </p:txBody>
      </p:sp>
      <p:sp>
        <p:nvSpPr>
          <p:cNvPr id="14" name="Rectangle 13">
            <a:extLst>
              <a:ext uri="{FF2B5EF4-FFF2-40B4-BE49-F238E27FC236}">
                <a16:creationId xmlns:a16="http://schemas.microsoft.com/office/drawing/2014/main" id="{1851DD13-E77D-4F48-A8BA-75749E2EAC78}"/>
              </a:ext>
            </a:extLst>
          </p:cNvPr>
          <p:cNvSpPr>
            <a:spLocks noGrp="1"/>
          </p:cNvSpPr>
          <p:nvPr/>
        </p:nvSpPr>
        <p:spPr>
          <a:xfrm>
            <a:off x="1257300" y="5810250"/>
            <a:ext cx="9997397" cy="666750"/>
          </a:xfrm>
          <a:prstGeom prst="rect">
            <a:avLst/>
          </a:prstGeom>
        </p:spPr>
        <p:txBody>
          <a:bodyPr lIns="0" tIns="0" rIns="0" bIns="0" anchor="t">
            <a:normAutofit fontScale="98646"/>
          </a:bodyPr>
          <a:lstStyle/>
          <a:p>
            <a:pPr algn="l">
              <a:buNone/>
              <a:defRPr sz="2400" b="1">
                <a:solidFill>
                  <a:srgbClr val="151515"/>
                </a:solidFill>
                <a:latin typeface="Arial"/>
                <a:ea typeface="Arial"/>
                <a:cs typeface="Arial"/>
              </a:defRPr>
            </a:pPr>
            <a:r>
              <a:rPr dirty="0">
                <a:solidFill>
                  <a:schemeClr val="accent2"/>
                </a:solidFill>
              </a:rPr>
              <a:t>The contrast turns two case studies into a natural experiment.</a:t>
            </a:r>
          </a:p>
        </p:txBody>
      </p:sp>
    </p:spTree>
    <p:extLst>
      <p:ext uri="{BB962C8B-B14F-4D97-AF65-F5344CB8AC3E}">
        <p14:creationId xmlns:p14="http://schemas.microsoft.com/office/powerpoint/2010/main" val="1296423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08FD44-1015-46D6-8F63-7C4C38682C2F}"/>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ALGORITHMS</a:t>
            </a:r>
          </a:p>
        </p:txBody>
      </p:sp>
      <p:sp>
        <p:nvSpPr>
          <p:cNvPr id="2" name="Rectangle 1">
            <a:extLst>
              <a:ext uri="{FF2B5EF4-FFF2-40B4-BE49-F238E27FC236}">
                <a16:creationId xmlns:a16="http://schemas.microsoft.com/office/drawing/2014/main" id="{7D07663B-C646-4431-9207-C6AEF67EACE1}"/>
              </a:ext>
            </a:extLst>
          </p:cNvPr>
          <p:cNvSpPr>
            <a:spLocks noGrp="1"/>
          </p:cNvSpPr>
          <p:nvPr/>
        </p:nvSpPr>
        <p:spPr>
          <a:xfrm>
            <a:off x="400050" y="552450"/>
            <a:ext cx="11391900" cy="781050"/>
          </a:xfrm>
          <a:prstGeom prst="rect">
            <a:avLst/>
          </a:prstGeom>
        </p:spPr>
        <p:txBody>
          <a:bodyPr lIns="0" tIns="0" rIns="0" bIns="0" anchor="t">
            <a:normAutofit fontScale="97916"/>
          </a:bodyPr>
          <a:lstStyle/>
          <a:p>
            <a:pPr algn="l">
              <a:buNone/>
              <a:defRPr sz="3600" b="1">
                <a:solidFill>
                  <a:srgbClr val="151515"/>
                </a:solidFill>
                <a:latin typeface="Arial"/>
                <a:ea typeface="Arial"/>
                <a:cs typeface="Arial"/>
              </a:defRPr>
            </a:pPr>
            <a:r>
              <a:t>CarenR is the primary lens among five model families</a:t>
            </a:r>
          </a:p>
        </p:txBody>
      </p:sp>
      <p:sp>
        <p:nvSpPr>
          <p:cNvPr id="3" name="Rectangle 2">
            <a:extLst>
              <a:ext uri="{FF2B5EF4-FFF2-40B4-BE49-F238E27FC236}">
                <a16:creationId xmlns:a16="http://schemas.microsoft.com/office/drawing/2014/main" id="{A4F9EA1D-190B-4939-809A-B0D9D8A92E60}"/>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10</a:t>
            </a:r>
          </a:p>
        </p:txBody>
      </p:sp>
      <p:sp>
        <p:nvSpPr>
          <p:cNvPr id="4" name="Rectangle 3">
            <a:extLst>
              <a:ext uri="{FF2B5EF4-FFF2-40B4-BE49-F238E27FC236}">
                <a16:creationId xmlns:a16="http://schemas.microsoft.com/office/drawing/2014/main" id="{CA84679D-FD78-4A8C-B621-155288704D63}"/>
              </a:ext>
            </a:extLst>
          </p:cNvPr>
          <p:cNvSpPr>
            <a:spLocks noGrp="1"/>
          </p:cNvSpPr>
          <p:nvPr/>
        </p:nvSpPr>
        <p:spPr>
          <a:xfrm>
            <a:off x="400050" y="1476375"/>
            <a:ext cx="6858000" cy="4524375"/>
          </a:xfrm>
          <a:prstGeom prst="rect">
            <a:avLst/>
          </a:prstGeom>
          <a:solidFill>
            <a:srgbClr val="EAF3FA"/>
          </a:solidFill>
          <a:ln w="0">
            <a:noFill/>
            <a:prstDash val="solid"/>
          </a:ln>
        </p:spPr>
        <p:txBody>
          <a:bodyPr/>
          <a:lstStyle/>
          <a:p>
            <a:endParaRPr lang="en-US"/>
          </a:p>
        </p:txBody>
      </p:sp>
      <p:sp>
        <p:nvSpPr>
          <p:cNvPr id="5" name="Rectangle 4">
            <a:extLst>
              <a:ext uri="{FF2B5EF4-FFF2-40B4-BE49-F238E27FC236}">
                <a16:creationId xmlns:a16="http://schemas.microsoft.com/office/drawing/2014/main" id="{9098D154-78C0-4C70-A9D2-6DCC8E597B30}"/>
              </a:ext>
            </a:extLst>
          </p:cNvPr>
          <p:cNvSpPr>
            <a:spLocks noGrp="1"/>
          </p:cNvSpPr>
          <p:nvPr/>
        </p:nvSpPr>
        <p:spPr>
          <a:xfrm>
            <a:off x="685800" y="1733550"/>
            <a:ext cx="1809750" cy="266700"/>
          </a:xfrm>
          <a:prstGeom prst="rect">
            <a:avLst/>
          </a:prstGeom>
        </p:spPr>
        <p:txBody>
          <a:bodyPr lIns="0" tIns="0" rIns="0" bIns="0" anchor="t">
            <a:normAutofit/>
          </a:bodyPr>
          <a:lstStyle/>
          <a:p>
            <a:pPr algn="l">
              <a:buNone/>
              <a:defRPr sz="1275" b="1">
                <a:solidFill>
                  <a:srgbClr val="2563A6"/>
                </a:solidFill>
                <a:latin typeface="Arial"/>
                <a:ea typeface="Arial"/>
                <a:cs typeface="Arial"/>
              </a:defRPr>
            </a:pPr>
            <a:r>
              <a:t>PRIMARY METHOD</a:t>
            </a:r>
          </a:p>
        </p:txBody>
      </p:sp>
      <p:sp>
        <p:nvSpPr>
          <p:cNvPr id="6" name="Rectangle 5">
            <a:extLst>
              <a:ext uri="{FF2B5EF4-FFF2-40B4-BE49-F238E27FC236}">
                <a16:creationId xmlns:a16="http://schemas.microsoft.com/office/drawing/2014/main" id="{FB5071B9-8F1B-4FD7-B68E-0F36B2FDB7AC}"/>
              </a:ext>
            </a:extLst>
          </p:cNvPr>
          <p:cNvSpPr>
            <a:spLocks noGrp="1"/>
          </p:cNvSpPr>
          <p:nvPr/>
        </p:nvSpPr>
        <p:spPr>
          <a:xfrm>
            <a:off x="685800" y="2095500"/>
            <a:ext cx="2381250" cy="523875"/>
          </a:xfrm>
          <a:prstGeom prst="rect">
            <a:avLst/>
          </a:prstGeom>
        </p:spPr>
        <p:txBody>
          <a:bodyPr lIns="0" tIns="0" rIns="0" bIns="0" anchor="t">
            <a:normAutofit/>
          </a:bodyPr>
          <a:lstStyle/>
          <a:p>
            <a:pPr algn="l">
              <a:buNone/>
              <a:defRPr sz="3150" b="1">
                <a:solidFill>
                  <a:srgbClr val="151515"/>
                </a:solidFill>
                <a:latin typeface="Arial"/>
                <a:ea typeface="Arial"/>
                <a:cs typeface="Arial"/>
              </a:defRPr>
            </a:pPr>
            <a:r>
              <a:t>CarenR</a:t>
            </a:r>
          </a:p>
        </p:txBody>
      </p:sp>
      <p:sp>
        <p:nvSpPr>
          <p:cNvPr id="7" name="Rectangle 6">
            <a:extLst>
              <a:ext uri="{FF2B5EF4-FFF2-40B4-BE49-F238E27FC236}">
                <a16:creationId xmlns:a16="http://schemas.microsoft.com/office/drawing/2014/main" id="{BFDD85E5-6D6B-4313-AD74-7AF7F037EF49}"/>
              </a:ext>
            </a:extLst>
          </p:cNvPr>
          <p:cNvSpPr>
            <a:spLocks noGrp="1"/>
          </p:cNvSpPr>
          <p:nvPr/>
        </p:nvSpPr>
        <p:spPr>
          <a:xfrm>
            <a:off x="3143250" y="2238375"/>
            <a:ext cx="3667125" cy="323850"/>
          </a:xfrm>
          <a:prstGeom prst="rect">
            <a:avLst/>
          </a:prstGeom>
        </p:spPr>
        <p:txBody>
          <a:bodyPr lIns="0" tIns="0" rIns="0" bIns="0" anchor="t">
            <a:normAutofit fontScale="91161"/>
          </a:bodyPr>
          <a:lstStyle/>
          <a:p>
            <a:pPr algn="l">
              <a:buNone/>
              <a:defRPr sz="1650" b="1">
                <a:solidFill>
                  <a:srgbClr val="2269AE"/>
                </a:solidFill>
                <a:latin typeface="Arial"/>
                <a:ea typeface="Arial"/>
                <a:cs typeface="Arial"/>
              </a:defRPr>
            </a:pPr>
            <a:r>
              <a:rPr sz="1650" b="1">
                <a:solidFill>
                  <a:srgbClr val="2269AE"/>
                </a:solidFill>
                <a:latin typeface="Arial"/>
                <a:ea typeface="Arial"/>
                <a:cs typeface="Arial"/>
              </a:rPr>
              <a:t>Distributional rules + prediction variants</a:t>
            </a:r>
          </a:p>
        </p:txBody>
      </p:sp>
      <p:sp>
        <p:nvSpPr>
          <p:cNvPr id="8" name="Rectangle 7">
            <a:extLst>
              <a:ext uri="{FF2B5EF4-FFF2-40B4-BE49-F238E27FC236}">
                <a16:creationId xmlns:a16="http://schemas.microsoft.com/office/drawing/2014/main" id="{8C04CF94-5D4E-48C8-A0D7-A2D78174BF55}"/>
              </a:ext>
            </a:extLst>
          </p:cNvPr>
          <p:cNvSpPr>
            <a:spLocks noGrp="1"/>
          </p:cNvSpPr>
          <p:nvPr/>
        </p:nvSpPr>
        <p:spPr>
          <a:xfrm>
            <a:off x="714375" y="300037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rPr dirty="0"/>
              <a:t>1</a:t>
            </a:r>
          </a:p>
        </p:txBody>
      </p:sp>
      <p:sp>
        <p:nvSpPr>
          <p:cNvPr id="9" name="Rectangle 8">
            <a:extLst>
              <a:ext uri="{FF2B5EF4-FFF2-40B4-BE49-F238E27FC236}">
                <a16:creationId xmlns:a16="http://schemas.microsoft.com/office/drawing/2014/main" id="{803C315C-5E47-4AE3-95BC-7817F3F31D3B}"/>
              </a:ext>
            </a:extLst>
          </p:cNvPr>
          <p:cNvSpPr>
            <a:spLocks noGrp="1"/>
          </p:cNvSpPr>
          <p:nvPr/>
        </p:nvSpPr>
        <p:spPr>
          <a:xfrm>
            <a:off x="1066800" y="300037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Discretise</a:t>
            </a:r>
          </a:p>
        </p:txBody>
      </p:sp>
      <p:sp>
        <p:nvSpPr>
          <p:cNvPr id="10" name="Rectangle 9">
            <a:extLst>
              <a:ext uri="{FF2B5EF4-FFF2-40B4-BE49-F238E27FC236}">
                <a16:creationId xmlns:a16="http://schemas.microsoft.com/office/drawing/2014/main" id="{32007DEA-0229-4B80-B599-47E8F4D4411D}"/>
              </a:ext>
            </a:extLst>
          </p:cNvPr>
          <p:cNvSpPr>
            <a:spLocks noGrp="1"/>
          </p:cNvSpPr>
          <p:nvPr/>
        </p:nvSpPr>
        <p:spPr>
          <a:xfrm>
            <a:off x="2381250" y="300037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rPr dirty="0"/>
              <a:t>Climate features become equal-frequency bins.</a:t>
            </a:r>
          </a:p>
        </p:txBody>
      </p:sp>
      <p:cxnSp>
        <p:nvCxnSpPr>
          <p:cNvPr id="655" name="Straight Arrow Connector 654"/>
          <p:cNvCxnSpPr/>
          <p:nvPr/>
        </p:nvCxnSpPr>
        <p:spPr>
          <a:xfrm>
            <a:off x="838200" y="3352800"/>
            <a:ext cx="953" cy="323850"/>
          </a:xfrm>
          <a:prstGeom prst="straightConnector1">
            <a:avLst/>
          </a:prstGeom>
          <a:ln w="28575">
            <a:solidFill>
              <a:srgbClr val="2563A6"/>
            </a:solidFill>
            <a:prstDash val="solid"/>
          </a:ln>
        </p:spPr>
      </p:cxnSp>
      <p:sp>
        <p:nvSpPr>
          <p:cNvPr id="12" name="Rectangle 11">
            <a:extLst>
              <a:ext uri="{FF2B5EF4-FFF2-40B4-BE49-F238E27FC236}">
                <a16:creationId xmlns:a16="http://schemas.microsoft.com/office/drawing/2014/main" id="{B3A409D9-BA5F-4725-AD8C-83CB1A578202}"/>
              </a:ext>
            </a:extLst>
          </p:cNvPr>
          <p:cNvSpPr>
            <a:spLocks noGrp="1"/>
          </p:cNvSpPr>
          <p:nvPr/>
        </p:nvSpPr>
        <p:spPr>
          <a:xfrm>
            <a:off x="714375" y="371475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rPr dirty="0"/>
              <a:t>2</a:t>
            </a:r>
          </a:p>
        </p:txBody>
      </p:sp>
      <p:sp>
        <p:nvSpPr>
          <p:cNvPr id="13" name="Rectangle 12">
            <a:extLst>
              <a:ext uri="{FF2B5EF4-FFF2-40B4-BE49-F238E27FC236}">
                <a16:creationId xmlns:a16="http://schemas.microsoft.com/office/drawing/2014/main" id="{4F72473F-CD40-4956-9705-24738BD5F900}"/>
              </a:ext>
            </a:extLst>
          </p:cNvPr>
          <p:cNvSpPr>
            <a:spLocks noGrp="1"/>
          </p:cNvSpPr>
          <p:nvPr/>
        </p:nvSpPr>
        <p:spPr>
          <a:xfrm>
            <a:off x="1066800" y="371475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Search</a:t>
            </a:r>
          </a:p>
        </p:txBody>
      </p:sp>
      <p:sp>
        <p:nvSpPr>
          <p:cNvPr id="14" name="Rectangle 13">
            <a:extLst>
              <a:ext uri="{FF2B5EF4-FFF2-40B4-BE49-F238E27FC236}">
                <a16:creationId xmlns:a16="http://schemas.microsoft.com/office/drawing/2014/main" id="{5E510A53-7D6A-4C8A-84BB-D76D106A8126}"/>
              </a:ext>
            </a:extLst>
          </p:cNvPr>
          <p:cNvSpPr>
            <a:spLocks noGrp="1"/>
          </p:cNvSpPr>
          <p:nvPr/>
        </p:nvSpPr>
        <p:spPr>
          <a:xfrm>
            <a:off x="2381250" y="3714750"/>
            <a:ext cx="4333875" cy="304800"/>
          </a:xfrm>
          <a:prstGeom prst="rect">
            <a:avLst/>
          </a:prstGeom>
        </p:spPr>
        <p:txBody>
          <a:bodyPr lIns="0" tIns="0" rIns="0" bIns="0" anchor="t">
            <a:noAutofit/>
          </a:bodyPr>
          <a:lstStyle/>
          <a:p>
            <a:pPr algn="l">
              <a:buNone/>
              <a:defRPr sz="1575" b="0">
                <a:solidFill>
                  <a:srgbClr val="60656C"/>
                </a:solidFill>
                <a:latin typeface="Arial"/>
                <a:ea typeface="Arial"/>
                <a:cs typeface="Arial"/>
              </a:defRPr>
            </a:pPr>
            <a:r>
              <a:rPr sz="1500" dirty="0"/>
              <a:t>Level-wise search (</a:t>
            </a:r>
            <a:r>
              <a:rPr sz="1500" dirty="0" err="1"/>
              <a:t>Apriori</a:t>
            </a:r>
            <a:r>
              <a:rPr sz="1500" dirty="0"/>
              <a:t>-style) combines feature-bin conditions.</a:t>
            </a:r>
          </a:p>
        </p:txBody>
      </p:sp>
      <p:cxnSp>
        <p:nvCxnSpPr>
          <p:cNvPr id="659" name="Straight Arrow Connector 658"/>
          <p:cNvCxnSpPr/>
          <p:nvPr/>
        </p:nvCxnSpPr>
        <p:spPr>
          <a:xfrm>
            <a:off x="838200" y="4067175"/>
            <a:ext cx="953" cy="323850"/>
          </a:xfrm>
          <a:prstGeom prst="straightConnector1">
            <a:avLst/>
          </a:prstGeom>
          <a:ln w="28575">
            <a:solidFill>
              <a:srgbClr val="2563A6"/>
            </a:solidFill>
            <a:prstDash val="solid"/>
          </a:ln>
        </p:spPr>
      </p:cxnSp>
      <p:sp>
        <p:nvSpPr>
          <p:cNvPr id="16" name="Rectangle 15">
            <a:extLst>
              <a:ext uri="{FF2B5EF4-FFF2-40B4-BE49-F238E27FC236}">
                <a16:creationId xmlns:a16="http://schemas.microsoft.com/office/drawing/2014/main" id="{FF17C4DE-6BD6-43DC-A7FF-2363E0A24B6A}"/>
              </a:ext>
            </a:extLst>
          </p:cNvPr>
          <p:cNvSpPr>
            <a:spLocks noGrp="1"/>
          </p:cNvSpPr>
          <p:nvPr/>
        </p:nvSpPr>
        <p:spPr>
          <a:xfrm>
            <a:off x="714375" y="4429125"/>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3</a:t>
            </a:r>
          </a:p>
        </p:txBody>
      </p:sp>
      <p:sp>
        <p:nvSpPr>
          <p:cNvPr id="17" name="Rectangle 16">
            <a:extLst>
              <a:ext uri="{FF2B5EF4-FFF2-40B4-BE49-F238E27FC236}">
                <a16:creationId xmlns:a16="http://schemas.microsoft.com/office/drawing/2014/main" id="{B5187112-7BE1-412B-BC25-ED899F4E4D5E}"/>
              </a:ext>
            </a:extLst>
          </p:cNvPr>
          <p:cNvSpPr>
            <a:spLocks noGrp="1"/>
          </p:cNvSpPr>
          <p:nvPr/>
        </p:nvSpPr>
        <p:spPr>
          <a:xfrm>
            <a:off x="1066800" y="4429125"/>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Compare</a:t>
            </a:r>
          </a:p>
        </p:txBody>
      </p:sp>
      <p:sp>
        <p:nvSpPr>
          <p:cNvPr id="18" name="Rectangle 17">
            <a:extLst>
              <a:ext uri="{FF2B5EF4-FFF2-40B4-BE49-F238E27FC236}">
                <a16:creationId xmlns:a16="http://schemas.microsoft.com/office/drawing/2014/main" id="{89E9CDE2-5E88-42B6-9AE2-3F956178F783}"/>
              </a:ext>
            </a:extLst>
          </p:cNvPr>
          <p:cNvSpPr>
            <a:spLocks noGrp="1"/>
          </p:cNvSpPr>
          <p:nvPr/>
        </p:nvSpPr>
        <p:spPr>
          <a:xfrm>
            <a:off x="2381250" y="4429125"/>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KS test: subgroup residuals vs global residuals.</a:t>
            </a:r>
          </a:p>
        </p:txBody>
      </p:sp>
      <p:cxnSp>
        <p:nvCxnSpPr>
          <p:cNvPr id="663" name="Straight Arrow Connector 662"/>
          <p:cNvCxnSpPr/>
          <p:nvPr/>
        </p:nvCxnSpPr>
        <p:spPr>
          <a:xfrm>
            <a:off x="838200" y="4781550"/>
            <a:ext cx="953" cy="323850"/>
          </a:xfrm>
          <a:prstGeom prst="straightConnector1">
            <a:avLst/>
          </a:prstGeom>
          <a:ln w="28575">
            <a:solidFill>
              <a:srgbClr val="2563A6"/>
            </a:solidFill>
            <a:prstDash val="solid"/>
          </a:ln>
        </p:spPr>
      </p:cxnSp>
      <p:sp>
        <p:nvSpPr>
          <p:cNvPr id="20" name="Rectangle 19">
            <a:extLst>
              <a:ext uri="{FF2B5EF4-FFF2-40B4-BE49-F238E27FC236}">
                <a16:creationId xmlns:a16="http://schemas.microsoft.com/office/drawing/2014/main" id="{38D01D2C-03BF-4DCB-B1D6-7DFFE9BAB247}"/>
              </a:ext>
            </a:extLst>
          </p:cNvPr>
          <p:cNvSpPr>
            <a:spLocks noGrp="1"/>
          </p:cNvSpPr>
          <p:nvPr/>
        </p:nvSpPr>
        <p:spPr>
          <a:xfrm>
            <a:off x="714375" y="5143500"/>
            <a:ext cx="285750" cy="304800"/>
          </a:xfrm>
          <a:prstGeom prst="rect">
            <a:avLst/>
          </a:prstGeom>
        </p:spPr>
        <p:txBody>
          <a:bodyPr lIns="0" tIns="0" rIns="0" bIns="0" anchor="t">
            <a:normAutofit/>
          </a:bodyPr>
          <a:lstStyle/>
          <a:p>
            <a:pPr algn="ctr">
              <a:buNone/>
              <a:defRPr sz="1650" b="1">
                <a:solidFill>
                  <a:srgbClr val="2563A6"/>
                </a:solidFill>
                <a:latin typeface="Arial"/>
                <a:ea typeface="Arial"/>
                <a:cs typeface="Arial"/>
              </a:defRPr>
            </a:pPr>
            <a:r>
              <a:t>4</a:t>
            </a:r>
          </a:p>
        </p:txBody>
      </p:sp>
      <p:sp>
        <p:nvSpPr>
          <p:cNvPr id="21" name="Rectangle 20">
            <a:extLst>
              <a:ext uri="{FF2B5EF4-FFF2-40B4-BE49-F238E27FC236}">
                <a16:creationId xmlns:a16="http://schemas.microsoft.com/office/drawing/2014/main" id="{F996DFCF-5EFE-4C4E-AA2D-83FDD117F395}"/>
              </a:ext>
            </a:extLst>
          </p:cNvPr>
          <p:cNvSpPr>
            <a:spLocks noGrp="1"/>
          </p:cNvSpPr>
          <p:nvPr/>
        </p:nvSpPr>
        <p:spPr>
          <a:xfrm>
            <a:off x="1066800" y="5143500"/>
            <a:ext cx="1285875" cy="304800"/>
          </a:xfrm>
          <a:prstGeom prst="rect">
            <a:avLst/>
          </a:prstGeom>
        </p:spPr>
        <p:txBody>
          <a:bodyPr lIns="0" tIns="0" rIns="0" bIns="0" anchor="t">
            <a:normAutofit/>
          </a:bodyPr>
          <a:lstStyle/>
          <a:p>
            <a:pPr algn="l">
              <a:buNone/>
              <a:defRPr sz="1725" b="1">
                <a:solidFill>
                  <a:srgbClr val="151515"/>
                </a:solidFill>
                <a:latin typeface="Arial"/>
                <a:ea typeface="Arial"/>
                <a:cs typeface="Arial"/>
              </a:defRPr>
            </a:pPr>
            <a:r>
              <a:t>Retain</a:t>
            </a:r>
          </a:p>
        </p:txBody>
      </p:sp>
      <p:sp>
        <p:nvSpPr>
          <p:cNvPr id="22" name="Rectangle 21">
            <a:extLst>
              <a:ext uri="{FF2B5EF4-FFF2-40B4-BE49-F238E27FC236}">
                <a16:creationId xmlns:a16="http://schemas.microsoft.com/office/drawing/2014/main" id="{38FB3703-3680-476C-93C2-127A43164427}"/>
              </a:ext>
            </a:extLst>
          </p:cNvPr>
          <p:cNvSpPr>
            <a:spLocks noGrp="1"/>
          </p:cNvSpPr>
          <p:nvPr/>
        </p:nvSpPr>
        <p:spPr>
          <a:xfrm>
            <a:off x="2381250" y="5143500"/>
            <a:ext cx="4333875" cy="304800"/>
          </a:xfrm>
          <a:prstGeom prst="rect">
            <a:avLst/>
          </a:prstGeom>
        </p:spPr>
        <p:txBody>
          <a:bodyPr lIns="0" tIns="0" rIns="0" bIns="0" anchor="t">
            <a:normAutofit/>
          </a:bodyPr>
          <a:lstStyle/>
          <a:p>
            <a:pPr algn="l">
              <a:buNone/>
              <a:defRPr sz="1575" b="0">
                <a:solidFill>
                  <a:srgbClr val="60656C"/>
                </a:solidFill>
                <a:latin typeface="Arial"/>
                <a:ea typeface="Arial"/>
                <a:cs typeface="Arial"/>
              </a:defRPr>
            </a:pPr>
            <a:r>
              <a:t>Keep significant rules with sufficient support.</a:t>
            </a:r>
          </a:p>
        </p:txBody>
      </p:sp>
      <p:sp>
        <p:nvSpPr>
          <p:cNvPr id="23" name="Rectangle 22">
            <a:extLst>
              <a:ext uri="{FF2B5EF4-FFF2-40B4-BE49-F238E27FC236}">
                <a16:creationId xmlns:a16="http://schemas.microsoft.com/office/drawing/2014/main" id="{DC2445A9-DE58-4F17-865B-E18BD55DB754}"/>
              </a:ext>
            </a:extLst>
          </p:cNvPr>
          <p:cNvSpPr>
            <a:spLocks noGrp="1"/>
          </p:cNvSpPr>
          <p:nvPr/>
        </p:nvSpPr>
        <p:spPr>
          <a:xfrm>
            <a:off x="685800" y="5572125"/>
            <a:ext cx="6000750" cy="285750"/>
          </a:xfrm>
          <a:prstGeom prst="rect">
            <a:avLst/>
          </a:prstGeom>
          <a:solidFill>
            <a:srgbClr val="2563A6"/>
          </a:solidFill>
          <a:ln w="0">
            <a:noFill/>
            <a:prstDash val="solid"/>
          </a:ln>
        </p:spPr>
        <p:txBody>
          <a:bodyPr/>
          <a:lstStyle/>
          <a:p>
            <a:endParaRPr lang="en-US"/>
          </a:p>
        </p:txBody>
      </p:sp>
      <p:sp>
        <p:nvSpPr>
          <p:cNvPr id="24" name="Rectangle 23">
            <a:extLst>
              <a:ext uri="{FF2B5EF4-FFF2-40B4-BE49-F238E27FC236}">
                <a16:creationId xmlns:a16="http://schemas.microsoft.com/office/drawing/2014/main" id="{0C919960-1641-490B-A9A3-55D306CE0C3C}"/>
              </a:ext>
            </a:extLst>
          </p:cNvPr>
          <p:cNvSpPr>
            <a:spLocks noGrp="1"/>
          </p:cNvSpPr>
          <p:nvPr/>
        </p:nvSpPr>
        <p:spPr>
          <a:xfrm>
            <a:off x="838200" y="5629275"/>
            <a:ext cx="5715000" cy="190500"/>
          </a:xfrm>
          <a:prstGeom prst="rect">
            <a:avLst/>
          </a:prstGeom>
        </p:spPr>
        <p:txBody>
          <a:bodyPr lIns="0" tIns="0" rIns="0" bIns="0" anchor="t">
            <a:normAutofit/>
          </a:bodyPr>
          <a:lstStyle/>
          <a:p>
            <a:pPr algn="ctr">
              <a:buNone/>
              <a:defRPr sz="1200" b="1">
                <a:solidFill>
                  <a:srgbClr val="FFFFFF"/>
                </a:solidFill>
                <a:latin typeface="Arial"/>
                <a:ea typeface="Arial"/>
                <a:cs typeface="Arial"/>
              </a:defRPr>
            </a:pPr>
            <a:r>
              <a:t>OUTPUT  ·  IF climate conditions  →  shifted production-residual distribution</a:t>
            </a:r>
          </a:p>
        </p:txBody>
      </p:sp>
      <p:sp>
        <p:nvSpPr>
          <p:cNvPr id="25" name="Rectangle 24">
            <a:extLst>
              <a:ext uri="{FF2B5EF4-FFF2-40B4-BE49-F238E27FC236}">
                <a16:creationId xmlns:a16="http://schemas.microsoft.com/office/drawing/2014/main" id="{56D4E54D-A5F1-4770-BD3C-2107D2655207}"/>
              </a:ext>
            </a:extLst>
          </p:cNvPr>
          <p:cNvSpPr>
            <a:spLocks noGrp="1"/>
          </p:cNvSpPr>
          <p:nvPr/>
        </p:nvSpPr>
        <p:spPr>
          <a:xfrm>
            <a:off x="7810500" y="1571625"/>
            <a:ext cx="1714500" cy="266700"/>
          </a:xfrm>
          <a:prstGeom prst="rect">
            <a:avLst/>
          </a:prstGeom>
        </p:spPr>
        <p:txBody>
          <a:bodyPr lIns="0" tIns="0" rIns="0" bIns="0" anchor="t">
            <a:normAutofit/>
          </a:bodyPr>
          <a:lstStyle/>
          <a:p>
            <a:pPr algn="l">
              <a:buNone/>
              <a:defRPr sz="1275" b="1">
                <a:solidFill>
                  <a:srgbClr val="7B1E3A"/>
                </a:solidFill>
                <a:latin typeface="Arial"/>
                <a:ea typeface="Arial"/>
                <a:cs typeface="Arial"/>
              </a:defRPr>
            </a:pPr>
            <a:r>
              <a:t>COMPARATORS</a:t>
            </a:r>
          </a:p>
        </p:txBody>
      </p:sp>
      <p:sp>
        <p:nvSpPr>
          <p:cNvPr id="26" name="Rectangle 25">
            <a:extLst>
              <a:ext uri="{FF2B5EF4-FFF2-40B4-BE49-F238E27FC236}">
                <a16:creationId xmlns:a16="http://schemas.microsoft.com/office/drawing/2014/main" id="{806037D9-DFEC-4812-808A-4E7CB7034B32}"/>
              </a:ext>
            </a:extLst>
          </p:cNvPr>
          <p:cNvSpPr>
            <a:spLocks noGrp="1"/>
          </p:cNvSpPr>
          <p:nvPr/>
        </p:nvSpPr>
        <p:spPr>
          <a:xfrm>
            <a:off x="7715250" y="1952625"/>
            <a:ext cx="4076700" cy="781050"/>
          </a:xfrm>
          <a:prstGeom prst="rect">
            <a:avLst/>
          </a:prstGeom>
          <a:solidFill>
            <a:srgbClr val="F0F1F2"/>
          </a:solidFill>
          <a:ln w="0">
            <a:noFill/>
            <a:prstDash val="solid"/>
          </a:ln>
        </p:spPr>
        <p:txBody>
          <a:bodyPr/>
          <a:lstStyle/>
          <a:p>
            <a:endParaRPr lang="en-US"/>
          </a:p>
        </p:txBody>
      </p:sp>
      <p:sp>
        <p:nvSpPr>
          <p:cNvPr id="27" name="Rectangle 26">
            <a:extLst>
              <a:ext uri="{FF2B5EF4-FFF2-40B4-BE49-F238E27FC236}">
                <a16:creationId xmlns:a16="http://schemas.microsoft.com/office/drawing/2014/main" id="{70C4DF85-C753-4A16-86DA-2A92744FB260}"/>
              </a:ext>
            </a:extLst>
          </p:cNvPr>
          <p:cNvSpPr>
            <a:spLocks noGrp="1"/>
          </p:cNvSpPr>
          <p:nvPr/>
        </p:nvSpPr>
        <p:spPr>
          <a:xfrm>
            <a:off x="7953375" y="2195993"/>
            <a:ext cx="1095375"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RIPPER</a:t>
            </a:r>
          </a:p>
        </p:txBody>
      </p:sp>
      <p:sp>
        <p:nvSpPr>
          <p:cNvPr id="28" name="Rectangle 27">
            <a:extLst>
              <a:ext uri="{FF2B5EF4-FFF2-40B4-BE49-F238E27FC236}">
                <a16:creationId xmlns:a16="http://schemas.microsoft.com/office/drawing/2014/main" id="{FF90E92F-EB87-4359-AF83-5114DDBDD0DE}"/>
              </a:ext>
            </a:extLst>
          </p:cNvPr>
          <p:cNvSpPr>
            <a:spLocks noGrp="1"/>
          </p:cNvSpPr>
          <p:nvPr/>
        </p:nvSpPr>
        <p:spPr>
          <a:xfrm>
            <a:off x="9239250" y="2138843"/>
            <a:ext cx="22669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29" name="Rectangle 28">
            <a:extLst>
              <a:ext uri="{FF2B5EF4-FFF2-40B4-BE49-F238E27FC236}">
                <a16:creationId xmlns:a16="http://schemas.microsoft.com/office/drawing/2014/main" id="{FF0CBD0F-FA7D-40BE-9D97-B4DBBCC28D47}"/>
              </a:ext>
            </a:extLst>
          </p:cNvPr>
          <p:cNvSpPr>
            <a:spLocks noGrp="1"/>
          </p:cNvSpPr>
          <p:nvPr/>
        </p:nvSpPr>
        <p:spPr>
          <a:xfrm>
            <a:off x="7715250" y="2876550"/>
            <a:ext cx="4076700" cy="781050"/>
          </a:xfrm>
          <a:prstGeom prst="rect">
            <a:avLst/>
          </a:prstGeom>
          <a:solidFill>
            <a:srgbClr val="F0F1F2"/>
          </a:solidFill>
          <a:ln w="0">
            <a:noFill/>
            <a:prstDash val="solid"/>
          </a:ln>
        </p:spPr>
        <p:txBody>
          <a:bodyPr/>
          <a:lstStyle/>
          <a:p>
            <a:endParaRPr lang="en-US"/>
          </a:p>
        </p:txBody>
      </p:sp>
      <p:sp>
        <p:nvSpPr>
          <p:cNvPr id="30" name="Rectangle 29">
            <a:extLst>
              <a:ext uri="{FF2B5EF4-FFF2-40B4-BE49-F238E27FC236}">
                <a16:creationId xmlns:a16="http://schemas.microsoft.com/office/drawing/2014/main" id="{35C13C4A-23B9-4127-A97B-424493CC4561}"/>
              </a:ext>
            </a:extLst>
          </p:cNvPr>
          <p:cNvSpPr>
            <a:spLocks noGrp="1"/>
          </p:cNvSpPr>
          <p:nvPr/>
        </p:nvSpPr>
        <p:spPr>
          <a:xfrm>
            <a:off x="7953375" y="3119918"/>
            <a:ext cx="1143000" cy="247650"/>
          </a:xfrm>
          <a:prstGeom prst="rect">
            <a:avLst/>
          </a:prstGeom>
        </p:spPr>
        <p:txBody>
          <a:bodyPr lIns="0" tIns="0" rIns="0" bIns="0" anchor="t">
            <a:normAutofit/>
          </a:bodyPr>
          <a:lstStyle/>
          <a:p>
            <a:pPr algn="l">
              <a:buNone/>
              <a:defRPr sz="1575" b="1">
                <a:solidFill>
                  <a:srgbClr val="151515"/>
                </a:solidFill>
                <a:latin typeface="Arial"/>
                <a:ea typeface="Arial"/>
                <a:cs typeface="Arial"/>
              </a:defRPr>
            </a:pPr>
            <a:r>
              <a:rPr dirty="0"/>
              <a:t>M5Rules</a:t>
            </a:r>
          </a:p>
        </p:txBody>
      </p:sp>
      <p:sp>
        <p:nvSpPr>
          <p:cNvPr id="31" name="Rectangle 30">
            <a:extLst>
              <a:ext uri="{FF2B5EF4-FFF2-40B4-BE49-F238E27FC236}">
                <a16:creationId xmlns:a16="http://schemas.microsoft.com/office/drawing/2014/main" id="{7BA9B414-F435-49BB-BB79-57A48BCDB405}"/>
              </a:ext>
            </a:extLst>
          </p:cNvPr>
          <p:cNvSpPr>
            <a:spLocks noGrp="1"/>
          </p:cNvSpPr>
          <p:nvPr/>
        </p:nvSpPr>
        <p:spPr>
          <a:xfrm>
            <a:off x="9239250" y="3119918"/>
            <a:ext cx="2266950" cy="428625"/>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a:solidFill>
                  <a:srgbClr val="6B6E73"/>
                </a:solidFill>
                <a:latin typeface="Arial"/>
                <a:ea typeface="Arial"/>
                <a:cs typeface="Arial"/>
              </a:rPr>
              <a:t>Rule learner + prediction comparator</a:t>
            </a:r>
          </a:p>
        </p:txBody>
      </p:sp>
      <p:sp>
        <p:nvSpPr>
          <p:cNvPr id="32" name="Rectangle 31">
            <a:extLst>
              <a:ext uri="{FF2B5EF4-FFF2-40B4-BE49-F238E27FC236}">
                <a16:creationId xmlns:a16="http://schemas.microsoft.com/office/drawing/2014/main" id="{43BE02B3-B024-4AD0-87DD-A91217473D7B}"/>
              </a:ext>
            </a:extLst>
          </p:cNvPr>
          <p:cNvSpPr>
            <a:spLocks noGrp="1"/>
          </p:cNvSpPr>
          <p:nvPr/>
        </p:nvSpPr>
        <p:spPr>
          <a:xfrm>
            <a:off x="7715250" y="3800475"/>
            <a:ext cx="4076700" cy="781050"/>
          </a:xfrm>
          <a:prstGeom prst="rect">
            <a:avLst/>
          </a:prstGeom>
          <a:solidFill>
            <a:srgbClr val="F5E9ED"/>
          </a:solidFill>
          <a:ln w="0">
            <a:noFill/>
            <a:prstDash val="solid"/>
          </a:ln>
        </p:spPr>
        <p:txBody>
          <a:bodyPr/>
          <a:lstStyle/>
          <a:p>
            <a:endParaRPr lang="en-US"/>
          </a:p>
        </p:txBody>
      </p:sp>
      <p:sp>
        <p:nvSpPr>
          <p:cNvPr id="33" name="Rectangle 32">
            <a:extLst>
              <a:ext uri="{FF2B5EF4-FFF2-40B4-BE49-F238E27FC236}">
                <a16:creationId xmlns:a16="http://schemas.microsoft.com/office/drawing/2014/main" id="{C9ACD4E6-3800-4991-8ACB-A435F5CB1445}"/>
              </a:ext>
            </a:extLst>
          </p:cNvPr>
          <p:cNvSpPr>
            <a:spLocks noGrp="1"/>
          </p:cNvSpPr>
          <p:nvPr/>
        </p:nvSpPr>
        <p:spPr>
          <a:xfrm>
            <a:off x="7953375" y="4054117"/>
            <a:ext cx="1285875" cy="247650"/>
          </a:xfrm>
          <a:prstGeom prst="rect">
            <a:avLst/>
          </a:prstGeom>
        </p:spPr>
        <p:txBody>
          <a:bodyPr lIns="0" tIns="0" rIns="0" bIns="0" anchor="t">
            <a:normAutofit fontScale="98064"/>
          </a:bodyPr>
          <a:lstStyle/>
          <a:p>
            <a:pPr algn="l">
              <a:buNone/>
              <a:defRPr sz="1575" b="1">
                <a:solidFill>
                  <a:srgbClr val="151515"/>
                </a:solidFill>
                <a:latin typeface="Arial"/>
                <a:ea typeface="Arial"/>
                <a:cs typeface="Arial"/>
              </a:defRPr>
            </a:pPr>
            <a:r>
              <a:rPr dirty="0"/>
              <a:t>Decision Tree</a:t>
            </a:r>
          </a:p>
        </p:txBody>
      </p:sp>
      <p:sp>
        <p:nvSpPr>
          <p:cNvPr id="34" name="Rectangle 33">
            <a:extLst>
              <a:ext uri="{FF2B5EF4-FFF2-40B4-BE49-F238E27FC236}">
                <a16:creationId xmlns:a16="http://schemas.microsoft.com/office/drawing/2014/main" id="{03B99BAA-1081-4A8B-82B7-712236139009}"/>
              </a:ext>
            </a:extLst>
          </p:cNvPr>
          <p:cNvSpPr>
            <a:spLocks noGrp="1"/>
          </p:cNvSpPr>
          <p:nvPr/>
        </p:nvSpPr>
        <p:spPr>
          <a:xfrm>
            <a:off x="9429750" y="3996967"/>
            <a:ext cx="2076450"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dirty="0">
                <a:solidFill>
                  <a:srgbClr val="6B6E73"/>
                </a:solidFill>
                <a:latin typeface="Arial"/>
                <a:ea typeface="Arial"/>
                <a:cs typeface="Arial"/>
              </a:rPr>
              <a:t>Prediction-only non-rule ML comparator</a:t>
            </a:r>
          </a:p>
        </p:txBody>
      </p:sp>
      <p:sp>
        <p:nvSpPr>
          <p:cNvPr id="35" name="Rectangle 34">
            <a:extLst>
              <a:ext uri="{FF2B5EF4-FFF2-40B4-BE49-F238E27FC236}">
                <a16:creationId xmlns:a16="http://schemas.microsoft.com/office/drawing/2014/main" id="{2E973BE0-90E9-4085-A534-FD2E2B8A754E}"/>
              </a:ext>
            </a:extLst>
          </p:cNvPr>
          <p:cNvSpPr>
            <a:spLocks noGrp="1"/>
          </p:cNvSpPr>
          <p:nvPr/>
        </p:nvSpPr>
        <p:spPr>
          <a:xfrm>
            <a:off x="7715250" y="4724400"/>
            <a:ext cx="4076700" cy="781050"/>
          </a:xfrm>
          <a:prstGeom prst="rect">
            <a:avLst/>
          </a:prstGeom>
          <a:solidFill>
            <a:srgbClr val="F4E9ED"/>
          </a:solidFill>
          <a:ln w="0">
            <a:noFill/>
            <a:prstDash val="solid"/>
          </a:ln>
        </p:spPr>
        <p:txBody>
          <a:bodyPr/>
          <a:lstStyle/>
          <a:p>
            <a:endParaRPr lang="en-US"/>
          </a:p>
        </p:txBody>
      </p:sp>
      <p:sp>
        <p:nvSpPr>
          <p:cNvPr id="36" name="Rectangle 35">
            <a:extLst>
              <a:ext uri="{FF2B5EF4-FFF2-40B4-BE49-F238E27FC236}">
                <a16:creationId xmlns:a16="http://schemas.microsoft.com/office/drawing/2014/main" id="{11194DCF-3E0C-47F5-B24A-CAC77810E15A}"/>
              </a:ext>
            </a:extLst>
          </p:cNvPr>
          <p:cNvSpPr>
            <a:spLocks noGrp="1"/>
          </p:cNvSpPr>
          <p:nvPr/>
        </p:nvSpPr>
        <p:spPr>
          <a:xfrm>
            <a:off x="7953375" y="4895850"/>
            <a:ext cx="1381125" cy="247650"/>
          </a:xfrm>
          <a:prstGeom prst="rect">
            <a:avLst/>
          </a:prstGeom>
        </p:spPr>
        <p:txBody>
          <a:bodyPr lIns="0" tIns="0" rIns="0" bIns="0" anchor="t">
            <a:normAutofit fontScale="92036"/>
          </a:bodyPr>
          <a:lstStyle/>
          <a:p>
            <a:pPr algn="l">
              <a:buNone/>
              <a:defRPr sz="1575" b="1">
                <a:solidFill>
                  <a:srgbClr val="7B1E3A"/>
                </a:solidFill>
                <a:latin typeface="Arial"/>
                <a:ea typeface="Arial"/>
                <a:cs typeface="Arial"/>
              </a:defRPr>
            </a:pPr>
            <a:r>
              <a:t>Naive baselines</a:t>
            </a:r>
          </a:p>
        </p:txBody>
      </p:sp>
      <p:sp>
        <p:nvSpPr>
          <p:cNvPr id="37" name="Rectangle 36">
            <a:extLst>
              <a:ext uri="{FF2B5EF4-FFF2-40B4-BE49-F238E27FC236}">
                <a16:creationId xmlns:a16="http://schemas.microsoft.com/office/drawing/2014/main" id="{82B7F7E4-6EE0-44A5-B19D-C67F3FAEC8A8}"/>
              </a:ext>
            </a:extLst>
          </p:cNvPr>
          <p:cNvSpPr>
            <a:spLocks noGrp="1"/>
          </p:cNvSpPr>
          <p:nvPr/>
        </p:nvSpPr>
        <p:spPr>
          <a:xfrm>
            <a:off x="9477375" y="4895850"/>
            <a:ext cx="2028825" cy="495300"/>
          </a:xfrm>
          <a:prstGeom prst="rect">
            <a:avLst/>
          </a:prstGeom>
        </p:spPr>
        <p:txBody>
          <a:bodyPr lIns="0" tIns="0" rIns="0" bIns="0" anchor="t">
            <a:normAutofit/>
          </a:bodyPr>
          <a:lstStyle/>
          <a:p>
            <a:pPr algn="l">
              <a:buNone/>
              <a:defRPr sz="1238" b="0">
                <a:solidFill>
                  <a:srgbClr val="6B6E73"/>
                </a:solidFill>
                <a:latin typeface="Arial"/>
                <a:ea typeface="Arial"/>
                <a:cs typeface="Arial"/>
              </a:defRPr>
            </a:pPr>
            <a:r>
              <a:rPr sz="1238" b="0" dirty="0">
                <a:solidFill>
                  <a:srgbClr val="6B6E73"/>
                </a:solidFill>
                <a:latin typeface="Arial"/>
                <a:ea typeface="Arial"/>
                <a:cs typeface="Arial"/>
              </a:rPr>
              <a:t>Prediction-only references</a:t>
            </a:r>
          </a:p>
        </p:txBody>
      </p:sp>
      <p:sp>
        <p:nvSpPr>
          <p:cNvPr id="38" name="Rectangle 37">
            <a:extLst>
              <a:ext uri="{FF2B5EF4-FFF2-40B4-BE49-F238E27FC236}">
                <a16:creationId xmlns:a16="http://schemas.microsoft.com/office/drawing/2014/main" id="{96207C93-AE02-41AD-9243-5078C18690B0}"/>
              </a:ext>
            </a:extLst>
          </p:cNvPr>
          <p:cNvSpPr>
            <a:spLocks noGrp="1"/>
          </p:cNvSpPr>
          <p:nvPr/>
        </p:nvSpPr>
        <p:spPr>
          <a:xfrm>
            <a:off x="7715250" y="5600700"/>
            <a:ext cx="4048125" cy="514350"/>
          </a:xfrm>
          <a:prstGeom prst="rect">
            <a:avLst/>
          </a:prstGeom>
        </p:spPr>
        <p:txBody>
          <a:bodyPr lIns="0" tIns="0" rIns="0" bIns="0" anchor="t">
            <a:normAutofit/>
          </a:bodyPr>
          <a:lstStyle/>
          <a:p>
            <a:pPr algn="l">
              <a:buNone/>
              <a:defRPr sz="1050" b="1">
                <a:solidFill>
                  <a:srgbClr val="76283E"/>
                </a:solidFill>
                <a:latin typeface="Arial"/>
                <a:ea typeface="Arial"/>
                <a:cs typeface="Arial"/>
              </a:defRPr>
            </a:pPr>
            <a:r>
              <a:rPr sz="1050" i="1" dirty="0">
                <a:solidFill>
                  <a:schemeClr val="tx1">
                    <a:lumMod val="50000"/>
                    <a:lumOff val="50000"/>
                  </a:schemeClr>
                </a:solidFill>
                <a:latin typeface="Arial"/>
                <a:ea typeface="Arial"/>
                <a:cs typeface="Arial"/>
              </a:rPr>
              <a:t>Roles: CarenR links rules + prediction; RIPPER/M5Rules cross-check rules; Decision Tree and naïve baselines test prediction only.</a:t>
            </a:r>
          </a:p>
        </p:txBody>
      </p:sp>
    </p:spTree>
    <p:extLst>
      <p:ext uri="{BB962C8B-B14F-4D97-AF65-F5344CB8AC3E}">
        <p14:creationId xmlns:p14="http://schemas.microsoft.com/office/powerpoint/2010/main" val="307420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3F35365-02FC-083E-3342-B1DFDDA1809A}"/>
              </a:ext>
            </a:extLst>
          </p:cNvPr>
          <p:cNvSpPr>
            <a:spLocks noGrp="1"/>
          </p:cNvSpPr>
          <p:nvPr/>
        </p:nvSpPr>
        <p:spPr>
          <a:xfrm>
            <a:off x="400049" y="1566279"/>
            <a:ext cx="11173841" cy="676905"/>
          </a:xfrm>
          <a:prstGeom prst="rect">
            <a:avLst/>
          </a:prstGeom>
          <a:solidFill>
            <a:schemeClr val="tx1">
              <a:lumMod val="50000"/>
              <a:lumOff val="50000"/>
            </a:schemeClr>
          </a:solidFill>
          <a:ln w="0">
            <a:noFill/>
            <a:prstDash val="solid"/>
          </a:ln>
        </p:spPr>
        <p:txBody>
          <a:bodyPr/>
          <a:lstStyle/>
          <a:p>
            <a:endParaRPr lang="en-US">
              <a:solidFill>
                <a:schemeClr val="bg1"/>
              </a:solidFill>
            </a:endParaRPr>
          </a:p>
        </p:txBody>
      </p:sp>
      <p:sp>
        <p:nvSpPr>
          <p:cNvPr id="4" name="Rectangle 3">
            <a:extLst>
              <a:ext uri="{FF2B5EF4-FFF2-40B4-BE49-F238E27FC236}">
                <a16:creationId xmlns:a16="http://schemas.microsoft.com/office/drawing/2014/main" id="{E325144A-1585-4407-BE50-12168B67CBDA}"/>
              </a:ext>
            </a:extLst>
          </p:cNvPr>
          <p:cNvSpPr>
            <a:spLocks noGrp="1"/>
          </p:cNvSpPr>
          <p:nvPr/>
        </p:nvSpPr>
        <p:spPr>
          <a:xfrm>
            <a:off x="436538" y="1653605"/>
            <a:ext cx="11137353" cy="6858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rPr lang="en-GB" sz="1600" dirty="0">
                <a:solidFill>
                  <a:schemeClr val="bg1"/>
                </a:solidFill>
              </a:rPr>
              <a:t>DO YEARS MATCHING THESE CLIMATE CONDITIONS HAVE A PRODUCTION-RESIDUAL DISTRIBUTION THAT DIFFERS FROM ALL YEARS?</a:t>
            </a:r>
          </a:p>
        </p:txBody>
      </p:sp>
      <p:sp>
        <p:nvSpPr>
          <p:cNvPr id="2" name="Rectangle 1">
            <a:extLst>
              <a:ext uri="{FF2B5EF4-FFF2-40B4-BE49-F238E27FC236}">
                <a16:creationId xmlns:a16="http://schemas.microsoft.com/office/drawing/2014/main" id="{1C974E71-CB8D-4FB8-9877-3808ABB7797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Goal 1 finds statistically exceptional subgroups</a:t>
            </a:r>
          </a:p>
        </p:txBody>
      </p:sp>
      <p:sp>
        <p:nvSpPr>
          <p:cNvPr id="60" name="slide11-stray-text-cover">
            <a:extLst>
              <a:ext uri="{FF2B5EF4-FFF2-40B4-BE49-F238E27FC236}">
                <a16:creationId xmlns:a16="http://schemas.microsoft.com/office/drawing/2014/main" id="{49FBF974-8943-4348-B3EA-528B119FDF90}"/>
              </a:ext>
            </a:extLst>
          </p:cNvPr>
          <p:cNvSpPr>
            <a:spLocks noGrp="1"/>
          </p:cNvSpPr>
          <p:nvPr/>
        </p:nvSpPr>
        <p:spPr>
          <a:xfrm>
            <a:off x="6883129" y="5067300"/>
            <a:ext cx="5191125" cy="361950"/>
          </a:xfrm>
          <a:prstGeom prst="rect">
            <a:avLst/>
          </a:prstGeom>
          <a:solidFill>
            <a:srgbClr val="FFFFFF"/>
          </a:solidFill>
          <a:ln w="0">
            <a:solidFill>
              <a:srgbClr val="FFFFFF"/>
            </a:solidFill>
            <a:prstDash val="solid"/>
          </a:ln>
        </p:spPr>
        <p:txBody>
          <a:bodyPr/>
          <a:lstStyle/>
          <a:p>
            <a:endParaRPr lang="en-US"/>
          </a:p>
        </p:txBody>
      </p:sp>
      <p:pic>
        <p:nvPicPr>
          <p:cNvPr id="84" name="Picture 83"/>
          <p:cNvPicPr>
            <a:picLocks noChangeAspect="1"/>
          </p:cNvPicPr>
          <p:nvPr/>
        </p:nvPicPr>
        <p:blipFill>
          <a:blip r:embed="rId3"/>
          <a:stretch/>
        </p:blipFill>
        <p:spPr>
          <a:xfrm>
            <a:off x="476511" y="2310845"/>
            <a:ext cx="5124093" cy="2966580"/>
          </a:xfrm>
          <a:prstGeom prst="rect">
            <a:avLst/>
          </a:prstGeom>
          <a:ln>
            <a:noFill/>
          </a:ln>
          <a:effectLst>
            <a:outerShdw blurRad="292100" dist="139700" dir="2700000" algn="tl" rotWithShape="0">
              <a:srgbClr val="333333">
                <a:alpha val="65000"/>
              </a:srgbClr>
            </a:outerShdw>
          </a:effectLst>
        </p:spPr>
      </p:pic>
      <p:sp>
        <p:nvSpPr>
          <p:cNvPr id="65" name="slide11-clean-audit-card">
            <a:extLst>
              <a:ext uri="{FF2B5EF4-FFF2-40B4-BE49-F238E27FC236}">
                <a16:creationId xmlns:a16="http://schemas.microsoft.com/office/drawing/2014/main" id="{C8B5CCD5-ACF4-41BA-AAB1-C35C67B28D34}"/>
              </a:ext>
            </a:extLst>
          </p:cNvPr>
          <p:cNvSpPr>
            <a:spLocks noGrp="1"/>
          </p:cNvSpPr>
          <p:nvPr/>
        </p:nvSpPr>
        <p:spPr>
          <a:xfrm>
            <a:off x="476510" y="5490028"/>
            <a:ext cx="11188165" cy="1198447"/>
          </a:xfrm>
          <a:prstGeom prst="roundRect">
            <a:avLst>
              <a:gd name="adj" fmla="val 3947"/>
            </a:avLst>
          </a:prstGeom>
          <a:solidFill>
            <a:srgbClr val="F6F0E8"/>
          </a:solidFill>
          <a:ln w="11430">
            <a:solidFill>
              <a:srgbClr val="C99A3E"/>
            </a:solidFill>
            <a:prstDash val="solid"/>
          </a:ln>
        </p:spPr>
        <p:txBody>
          <a:bodyPr/>
          <a:lstStyle/>
          <a:p>
            <a:endParaRPr lang="en-US" dirty="0"/>
          </a:p>
        </p:txBody>
      </p:sp>
      <p:sp>
        <p:nvSpPr>
          <p:cNvPr id="66" name="Rectangle 65">
            <a:extLst>
              <a:ext uri="{FF2B5EF4-FFF2-40B4-BE49-F238E27FC236}">
                <a16:creationId xmlns:a16="http://schemas.microsoft.com/office/drawing/2014/main" id="{696A13C2-82FD-4BE3-B3A7-CAC763BA7FC3}"/>
              </a:ext>
            </a:extLst>
          </p:cNvPr>
          <p:cNvSpPr>
            <a:spLocks noGrp="1"/>
          </p:cNvSpPr>
          <p:nvPr/>
        </p:nvSpPr>
        <p:spPr>
          <a:xfrm>
            <a:off x="695721" y="5568682"/>
            <a:ext cx="2910004" cy="292822"/>
          </a:xfrm>
          <a:prstGeom prst="rect">
            <a:avLst/>
          </a:prstGeom>
          <a:noFill/>
          <a:ln w="0">
            <a:noFill/>
            <a:prstDash val="solid"/>
          </a:ln>
        </p:spPr>
        <p:txBody>
          <a:bodyPr/>
          <a:lstStyle/>
          <a:p>
            <a:pPr>
              <a:defRPr sz="825" b="1">
                <a:solidFill>
                  <a:srgbClr val="C99A3E"/>
                </a:solidFill>
              </a:defRPr>
            </a:pPr>
            <a:r>
              <a:rPr sz="1600" b="1" dirty="0">
                <a:solidFill>
                  <a:srgbClr val="C99A3E"/>
                </a:solidFill>
              </a:rPr>
              <a:t>A RULE YOU CAN AUDIT</a:t>
            </a:r>
          </a:p>
        </p:txBody>
      </p:sp>
      <p:sp>
        <p:nvSpPr>
          <p:cNvPr id="67" name="Rectangle 66">
            <a:extLst>
              <a:ext uri="{FF2B5EF4-FFF2-40B4-BE49-F238E27FC236}">
                <a16:creationId xmlns:a16="http://schemas.microsoft.com/office/drawing/2014/main" id="{52C196E9-289E-42D7-B941-70F9D0E60781}"/>
              </a:ext>
            </a:extLst>
          </p:cNvPr>
          <p:cNvSpPr>
            <a:spLocks noGrp="1"/>
          </p:cNvSpPr>
          <p:nvPr/>
        </p:nvSpPr>
        <p:spPr>
          <a:xfrm>
            <a:off x="673264" y="5948830"/>
            <a:ext cx="5109178" cy="438150"/>
          </a:xfrm>
          <a:prstGeom prst="rect">
            <a:avLst/>
          </a:prstGeom>
          <a:noFill/>
          <a:ln w="0">
            <a:noFill/>
            <a:prstDash val="solid"/>
          </a:ln>
        </p:spPr>
        <p:txBody>
          <a:bodyPr/>
          <a:lstStyle/>
          <a:p>
            <a:pPr>
              <a:defRPr sz="975">
                <a:solidFill>
                  <a:srgbClr val="171313"/>
                </a:solidFill>
              </a:defRPr>
            </a:pPr>
            <a:r>
              <a:rPr sz="1400" b="1" dirty="0">
                <a:solidFill>
                  <a:srgbClr val="171313"/>
                </a:solidFill>
              </a:rPr>
              <a:t>IF</a:t>
            </a:r>
            <a:r>
              <a:rPr sz="1400" dirty="0">
                <a:solidFill>
                  <a:srgbClr val="171313"/>
                </a:solidFill>
              </a:rPr>
              <a:t> dry post-flowering</a:t>
            </a:r>
            <a:r>
              <a:rPr lang="pt-PT" sz="1400" dirty="0">
                <a:solidFill>
                  <a:srgbClr val="171313"/>
                </a:solidFill>
              </a:rPr>
              <a:t> </a:t>
            </a:r>
            <a:r>
              <a:rPr sz="1400" b="1" dirty="0">
                <a:solidFill>
                  <a:srgbClr val="171313"/>
                </a:solidFill>
              </a:rPr>
              <a:t>AND</a:t>
            </a:r>
            <a:r>
              <a:rPr sz="1400" dirty="0">
                <a:solidFill>
                  <a:srgbClr val="171313"/>
                </a:solidFill>
              </a:rPr>
              <a:t> moderate harvest soil water</a:t>
            </a:r>
          </a:p>
        </p:txBody>
      </p:sp>
      <p:sp>
        <p:nvSpPr>
          <p:cNvPr id="68" name="Rectangle 67">
            <a:extLst>
              <a:ext uri="{FF2B5EF4-FFF2-40B4-BE49-F238E27FC236}">
                <a16:creationId xmlns:a16="http://schemas.microsoft.com/office/drawing/2014/main" id="{99C3ACF3-58DC-41AD-AEA7-835146124EF4}"/>
              </a:ext>
            </a:extLst>
          </p:cNvPr>
          <p:cNvSpPr>
            <a:spLocks noGrp="1"/>
          </p:cNvSpPr>
          <p:nvPr/>
        </p:nvSpPr>
        <p:spPr>
          <a:xfrm>
            <a:off x="6883129" y="5942569"/>
            <a:ext cx="3156075" cy="342900"/>
          </a:xfrm>
          <a:prstGeom prst="rect">
            <a:avLst/>
          </a:prstGeom>
          <a:noFill/>
          <a:ln w="0">
            <a:noFill/>
            <a:prstDash val="solid"/>
          </a:ln>
        </p:spPr>
        <p:txBody>
          <a:bodyPr/>
          <a:lstStyle/>
          <a:p>
            <a:pPr>
              <a:defRPr sz="1050" b="1">
                <a:solidFill>
                  <a:srgbClr val="2F7D4D"/>
                </a:solidFill>
              </a:defRPr>
            </a:pPr>
            <a:r>
              <a:rPr sz="1400" b="1" dirty="0">
                <a:solidFill>
                  <a:srgbClr val="2F7D4D"/>
                </a:solidFill>
              </a:rPr>
              <a:t>THEN +121 </a:t>
            </a:r>
            <a:r>
              <a:rPr sz="1400" b="1" dirty="0" err="1">
                <a:solidFill>
                  <a:srgbClr val="2F7D4D"/>
                </a:solidFill>
              </a:rPr>
              <a:t>mhl</a:t>
            </a:r>
            <a:r>
              <a:rPr lang="pt-PT" sz="1400" b="1" dirty="0">
                <a:solidFill>
                  <a:srgbClr val="2F7D4D"/>
                </a:solidFill>
              </a:rPr>
              <a:t> </a:t>
            </a:r>
            <a:r>
              <a:rPr sz="1400" b="1" dirty="0">
                <a:solidFill>
                  <a:srgbClr val="2F7D4D"/>
                </a:solidFill>
              </a:rPr>
              <a:t>above trend</a:t>
            </a:r>
          </a:p>
        </p:txBody>
      </p:sp>
      <p:sp>
        <p:nvSpPr>
          <p:cNvPr id="69" name="Rectangle 68">
            <a:extLst>
              <a:ext uri="{FF2B5EF4-FFF2-40B4-BE49-F238E27FC236}">
                <a16:creationId xmlns:a16="http://schemas.microsoft.com/office/drawing/2014/main" id="{8304F2A1-B38D-4F3B-BC02-B8AA7A947CA4}"/>
              </a:ext>
            </a:extLst>
          </p:cNvPr>
          <p:cNvSpPr>
            <a:spLocks noGrp="1"/>
          </p:cNvSpPr>
          <p:nvPr/>
        </p:nvSpPr>
        <p:spPr>
          <a:xfrm>
            <a:off x="5334000" y="6453262"/>
            <a:ext cx="1524000" cy="152400"/>
          </a:xfrm>
          <a:prstGeom prst="rect">
            <a:avLst/>
          </a:prstGeom>
          <a:noFill/>
          <a:ln w="0">
            <a:noFill/>
            <a:prstDash val="solid"/>
          </a:ln>
        </p:spPr>
        <p:txBody>
          <a:bodyPr/>
          <a:lstStyle/>
          <a:p>
            <a:pPr>
              <a:defRPr sz="863" i="1">
                <a:solidFill>
                  <a:srgbClr val="6F6761"/>
                </a:solidFill>
              </a:defRPr>
            </a:pPr>
            <a:r>
              <a:rPr sz="863" i="1" dirty="0">
                <a:solidFill>
                  <a:srgbClr val="6F6761"/>
                </a:solidFill>
              </a:rPr>
              <a:t>support 28% · p = 0.004</a:t>
            </a:r>
          </a:p>
        </p:txBody>
      </p:sp>
      <p:sp>
        <p:nvSpPr>
          <p:cNvPr id="7" name="Rectangle 6">
            <a:extLst>
              <a:ext uri="{FF2B5EF4-FFF2-40B4-BE49-F238E27FC236}">
                <a16:creationId xmlns:a16="http://schemas.microsoft.com/office/drawing/2014/main" id="{71D2983F-3FEE-1911-F758-9330D9AB2DC1}"/>
              </a:ext>
            </a:extLst>
          </p:cNvPr>
          <p:cNvSpPr>
            <a:spLocks noGrp="1"/>
          </p:cNvSpPr>
          <p:nvPr/>
        </p:nvSpPr>
        <p:spPr>
          <a:xfrm>
            <a:off x="449697" y="1209675"/>
            <a:ext cx="4572000" cy="495300"/>
          </a:xfrm>
          <a:prstGeom prst="rect">
            <a:avLst/>
          </a:prstGeom>
        </p:spPr>
        <p:txBody>
          <a:bodyPr lIns="0" tIns="0" rIns="0" bIns="0" anchor="t">
            <a:normAutofit fontScale="89165"/>
          </a:bodyPr>
          <a:lstStyle/>
          <a:p>
            <a:pPr algn="l">
              <a:buNone/>
              <a:defRPr sz="2250" b="1">
                <a:solidFill>
                  <a:srgbClr val="151515"/>
                </a:solidFill>
                <a:latin typeface="Arial"/>
                <a:ea typeface="Arial"/>
                <a:cs typeface="Arial"/>
              </a:defRPr>
            </a:pPr>
            <a:r>
              <a:rPr dirty="0">
                <a:solidFill>
                  <a:schemeClr val="accent2"/>
                </a:solidFill>
              </a:rPr>
              <a:t>CarenR asks a distributional question</a:t>
            </a:r>
          </a:p>
        </p:txBody>
      </p:sp>
      <p:pic>
        <p:nvPicPr>
          <p:cNvPr id="19" name="Picture 18">
            <a:extLst>
              <a:ext uri="{FF2B5EF4-FFF2-40B4-BE49-F238E27FC236}">
                <a16:creationId xmlns:a16="http://schemas.microsoft.com/office/drawing/2014/main" id="{7B7F3437-CE0F-77FD-183B-BA2F54FBAED3}"/>
              </a:ext>
            </a:extLst>
          </p:cNvPr>
          <p:cNvPicPr>
            <a:picLocks noChangeAspect="1"/>
          </p:cNvPicPr>
          <p:nvPr/>
        </p:nvPicPr>
        <p:blipFill>
          <a:blip r:embed="rId4"/>
          <a:stretch>
            <a:fillRect/>
          </a:stretch>
        </p:blipFill>
        <p:spPr>
          <a:xfrm>
            <a:off x="6409825" y="2310845"/>
            <a:ext cx="5254851" cy="2966580"/>
          </a:xfrm>
          <a:prstGeom prst="rect">
            <a:avLst/>
          </a:prstGeom>
          <a:ln>
            <a:noFill/>
          </a:ln>
          <a:effectLst>
            <a:outerShdw blurRad="292100" dist="139700" dir="2700000" algn="tl" rotWithShape="0">
              <a:srgbClr val="333333">
                <a:alpha val="65000"/>
              </a:srgbClr>
            </a:outerShdw>
          </a:effectLst>
        </p:spPr>
      </p:pic>
      <p:cxnSp>
        <p:nvCxnSpPr>
          <p:cNvPr id="22" name="Elbow Connector 21">
            <a:extLst>
              <a:ext uri="{FF2B5EF4-FFF2-40B4-BE49-F238E27FC236}">
                <a16:creationId xmlns:a16="http://schemas.microsoft.com/office/drawing/2014/main" id="{F312B02E-184B-45FE-B563-C6CF6A52933A}"/>
              </a:ext>
            </a:extLst>
          </p:cNvPr>
          <p:cNvCxnSpPr>
            <a:cxnSpLocks/>
          </p:cNvCxnSpPr>
          <p:nvPr/>
        </p:nvCxnSpPr>
        <p:spPr>
          <a:xfrm rot="5400000" flipH="1" flipV="1">
            <a:off x="7556676" y="4560730"/>
            <a:ext cx="1775764" cy="987915"/>
          </a:xfrm>
          <a:prstGeom prst="bentConnector3">
            <a:avLst>
              <a:gd name="adj1" fmla="val 18757"/>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FEC6CF5D-636D-FA46-5733-CAD3D24024BD}"/>
              </a:ext>
            </a:extLst>
          </p:cNvPr>
          <p:cNvCxnSpPr>
            <a:cxnSpLocks/>
          </p:cNvCxnSpPr>
          <p:nvPr/>
        </p:nvCxnSpPr>
        <p:spPr>
          <a:xfrm flipV="1">
            <a:off x="5053223" y="2526332"/>
            <a:ext cx="3764622" cy="3432528"/>
          </a:xfrm>
          <a:prstGeom prst="bentConnector4">
            <a:avLst>
              <a:gd name="adj1" fmla="val 27936"/>
              <a:gd name="adj2" fmla="val 107260"/>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0062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10FADE3-346D-4C9C-92D8-2385CD70AC2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DISCOVERY</a:t>
            </a:r>
          </a:p>
        </p:txBody>
      </p:sp>
      <p:sp>
        <p:nvSpPr>
          <p:cNvPr id="2" name="Rectangle 1">
            <a:extLst>
              <a:ext uri="{FF2B5EF4-FFF2-40B4-BE49-F238E27FC236}">
                <a16:creationId xmlns:a16="http://schemas.microsoft.com/office/drawing/2014/main" id="{9198F82D-A154-49FE-B5CA-B9D780AC6B7A}"/>
              </a:ext>
            </a:extLst>
          </p:cNvPr>
          <p:cNvSpPr>
            <a:spLocks noGrp="1"/>
          </p:cNvSpPr>
          <p:nvPr/>
        </p:nvSpPr>
        <p:spPr>
          <a:xfrm>
            <a:off x="400050" y="552450"/>
            <a:ext cx="11391900" cy="781050"/>
          </a:xfrm>
          <a:prstGeom prst="rect">
            <a:avLst/>
          </a:prstGeom>
        </p:spPr>
        <p:txBody>
          <a:bodyPr lIns="0" tIns="0" rIns="0" bIns="0" anchor="t">
            <a:normAutofit fontScale="92838"/>
          </a:bodyPr>
          <a:lstStyle/>
          <a:p>
            <a:pPr algn="l">
              <a:buNone/>
              <a:defRPr sz="3600" b="1">
                <a:solidFill>
                  <a:srgbClr val="151515"/>
                </a:solidFill>
                <a:latin typeface="Arial"/>
                <a:ea typeface="Arial"/>
                <a:cs typeface="Arial"/>
              </a:defRPr>
            </a:pPr>
            <a:r>
              <a:t>Goal 1 succeeded: compact rules reveal regional drivers</a:t>
            </a:r>
          </a:p>
        </p:txBody>
      </p:sp>
      <p:sp>
        <p:nvSpPr>
          <p:cNvPr id="3" name="Rectangle 2">
            <a:extLst>
              <a:ext uri="{FF2B5EF4-FFF2-40B4-BE49-F238E27FC236}">
                <a16:creationId xmlns:a16="http://schemas.microsoft.com/office/drawing/2014/main" id="{72819D24-836E-4D97-AD95-3A807E6F4448}"/>
              </a:ext>
            </a:extLst>
          </p:cNvPr>
          <p:cNvSpPr>
            <a:spLocks noGrp="1"/>
          </p:cNvSpPr>
          <p:nvPr/>
        </p:nvSpPr>
        <p:spPr>
          <a:xfrm>
            <a:off x="11287125" y="6381750"/>
            <a:ext cx="457200" cy="190500"/>
          </a:xfrm>
          <a:prstGeom prst="rect">
            <a:avLst/>
          </a:prstGeom>
        </p:spPr>
        <p:txBody>
          <a:bodyPr lIns="0" tIns="0" rIns="0" bIns="0" anchor="t">
            <a:normAutofit/>
          </a:bodyPr>
          <a:lstStyle/>
          <a:p>
            <a:pPr algn="r">
              <a:buNone/>
              <a:defRPr sz="1050" b="0">
                <a:solidFill>
                  <a:srgbClr val="60656C"/>
                </a:solidFill>
                <a:latin typeface="Arial"/>
                <a:ea typeface="Arial"/>
                <a:cs typeface="Arial"/>
              </a:defRPr>
            </a:pPr>
            <a:r>
              <a:t>14</a:t>
            </a:r>
          </a:p>
        </p:txBody>
      </p:sp>
      <p:sp>
        <p:nvSpPr>
          <p:cNvPr id="4" name="Rectangle 3">
            <a:extLst>
              <a:ext uri="{FF2B5EF4-FFF2-40B4-BE49-F238E27FC236}">
                <a16:creationId xmlns:a16="http://schemas.microsoft.com/office/drawing/2014/main" id="{EC42CDC2-01ED-4F16-BB24-C091C7E02657}"/>
              </a:ext>
            </a:extLst>
          </p:cNvPr>
          <p:cNvSpPr>
            <a:spLocks noGrp="1"/>
          </p:cNvSpPr>
          <p:nvPr/>
        </p:nvSpPr>
        <p:spPr>
          <a:xfrm>
            <a:off x="400050" y="1571625"/>
            <a:ext cx="5429250" cy="4191000"/>
          </a:xfrm>
          <a:prstGeom prst="rect">
            <a:avLst/>
          </a:prstGeom>
          <a:solidFill>
            <a:schemeClr val="bg1">
              <a:lumMod val="95000"/>
            </a:schemeClr>
          </a:solidFill>
          <a:ln w="0">
            <a:noFill/>
            <a:prstDash val="solid"/>
          </a:ln>
        </p:spPr>
        <p:txBody>
          <a:bodyPr/>
          <a:lstStyle/>
          <a:p>
            <a:endParaRPr lang="en-US"/>
          </a:p>
        </p:txBody>
      </p:sp>
      <p:sp>
        <p:nvSpPr>
          <p:cNvPr id="5" name="Rectangle 4">
            <a:extLst>
              <a:ext uri="{FF2B5EF4-FFF2-40B4-BE49-F238E27FC236}">
                <a16:creationId xmlns:a16="http://schemas.microsoft.com/office/drawing/2014/main" id="{0CBE1F26-F9F2-4921-8726-9AA52BF62123}"/>
              </a:ext>
            </a:extLst>
          </p:cNvPr>
          <p:cNvSpPr>
            <a:spLocks noGrp="1"/>
          </p:cNvSpPr>
          <p:nvPr/>
        </p:nvSpPr>
        <p:spPr>
          <a:xfrm>
            <a:off x="6353175" y="1571625"/>
            <a:ext cx="5429250" cy="4191000"/>
          </a:xfrm>
          <a:prstGeom prst="rect">
            <a:avLst/>
          </a:prstGeom>
          <a:solidFill>
            <a:schemeClr val="accent2">
              <a:lumMod val="20000"/>
              <a:lumOff val="80000"/>
            </a:schemeClr>
          </a:solidFill>
          <a:ln w="0">
            <a:noFill/>
            <a:prstDash val="solid"/>
          </a:ln>
        </p:spPr>
        <p:txBody>
          <a:bodyPr/>
          <a:lstStyle/>
          <a:p>
            <a:endParaRPr lang="en-US"/>
          </a:p>
        </p:txBody>
      </p:sp>
      <p:sp>
        <p:nvSpPr>
          <p:cNvPr id="6" name="Rectangle 5">
            <a:extLst>
              <a:ext uri="{FF2B5EF4-FFF2-40B4-BE49-F238E27FC236}">
                <a16:creationId xmlns:a16="http://schemas.microsoft.com/office/drawing/2014/main" id="{69DFDC61-914B-4D17-80FE-52EFBE1DB3AD}"/>
              </a:ext>
            </a:extLst>
          </p:cNvPr>
          <p:cNvSpPr>
            <a:spLocks noGrp="1"/>
          </p:cNvSpPr>
          <p:nvPr/>
        </p:nvSpPr>
        <p:spPr>
          <a:xfrm>
            <a:off x="714375" y="1857375"/>
            <a:ext cx="1905000" cy="28575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t>DOURO</a:t>
            </a:r>
          </a:p>
        </p:txBody>
      </p:sp>
      <p:sp>
        <p:nvSpPr>
          <p:cNvPr id="7" name="Rectangle 6">
            <a:extLst>
              <a:ext uri="{FF2B5EF4-FFF2-40B4-BE49-F238E27FC236}">
                <a16:creationId xmlns:a16="http://schemas.microsoft.com/office/drawing/2014/main" id="{E9A60B71-99B8-4335-8A75-9CBF6FE594D5}"/>
              </a:ext>
            </a:extLst>
          </p:cNvPr>
          <p:cNvSpPr>
            <a:spLocks noGrp="1"/>
          </p:cNvSpPr>
          <p:nvPr/>
        </p:nvSpPr>
        <p:spPr>
          <a:xfrm>
            <a:off x="714375"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48</a:t>
            </a:r>
          </a:p>
        </p:txBody>
      </p:sp>
      <p:sp>
        <p:nvSpPr>
          <p:cNvPr id="8" name="Rectangle 7">
            <a:extLst>
              <a:ext uri="{FF2B5EF4-FFF2-40B4-BE49-F238E27FC236}">
                <a16:creationId xmlns:a16="http://schemas.microsoft.com/office/drawing/2014/main" id="{DD8BAB65-D261-4E68-AA2F-A6D399971949}"/>
              </a:ext>
            </a:extLst>
          </p:cNvPr>
          <p:cNvSpPr>
            <a:spLocks noGrp="1"/>
          </p:cNvSpPr>
          <p:nvPr/>
        </p:nvSpPr>
        <p:spPr>
          <a:xfrm>
            <a:off x="2381250"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9" name="Rectangle 8">
            <a:extLst>
              <a:ext uri="{FF2B5EF4-FFF2-40B4-BE49-F238E27FC236}">
                <a16:creationId xmlns:a16="http://schemas.microsoft.com/office/drawing/2014/main" id="{D7E680C5-C0BD-4340-A796-AABBE6318478}"/>
              </a:ext>
            </a:extLst>
          </p:cNvPr>
          <p:cNvSpPr>
            <a:spLocks noGrp="1"/>
          </p:cNvSpPr>
          <p:nvPr/>
        </p:nvSpPr>
        <p:spPr>
          <a:xfrm>
            <a:off x="714375"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Harvest soil water appears in 54% of rules.</a:t>
            </a:r>
          </a:p>
        </p:txBody>
      </p:sp>
      <p:sp>
        <p:nvSpPr>
          <p:cNvPr id="10" name="Rectangle 9">
            <a:extLst>
              <a:ext uri="{FF2B5EF4-FFF2-40B4-BE49-F238E27FC236}">
                <a16:creationId xmlns:a16="http://schemas.microsoft.com/office/drawing/2014/main" id="{B93417D7-82CC-474A-8B1F-016DC5043731}"/>
              </a:ext>
            </a:extLst>
          </p:cNvPr>
          <p:cNvSpPr>
            <a:spLocks noGrp="1"/>
          </p:cNvSpPr>
          <p:nvPr/>
        </p:nvSpPr>
        <p:spPr>
          <a:xfrm>
            <a:off x="714375"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Dry post-flowering conditions and bounded heat repeatedly associate with above-trend production.</a:t>
            </a:r>
          </a:p>
        </p:txBody>
      </p:sp>
      <p:sp>
        <p:nvSpPr>
          <p:cNvPr id="11" name="Rectangle 10">
            <a:extLst>
              <a:ext uri="{FF2B5EF4-FFF2-40B4-BE49-F238E27FC236}">
                <a16:creationId xmlns:a16="http://schemas.microsoft.com/office/drawing/2014/main" id="{CA3E4264-7562-493B-B638-FAE60078DC83}"/>
              </a:ext>
            </a:extLst>
          </p:cNvPr>
          <p:cNvSpPr>
            <a:spLocks noGrp="1"/>
          </p:cNvSpPr>
          <p:nvPr/>
        </p:nvSpPr>
        <p:spPr>
          <a:xfrm>
            <a:off x="6667500" y="1857375"/>
            <a:ext cx="20955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t>VINHO VERDE</a:t>
            </a:r>
          </a:p>
        </p:txBody>
      </p:sp>
      <p:sp>
        <p:nvSpPr>
          <p:cNvPr id="12" name="Rectangle 11">
            <a:extLst>
              <a:ext uri="{FF2B5EF4-FFF2-40B4-BE49-F238E27FC236}">
                <a16:creationId xmlns:a16="http://schemas.microsoft.com/office/drawing/2014/main" id="{393BFAAB-4DCE-4B1B-98FE-61FCDC28A918}"/>
              </a:ext>
            </a:extLst>
          </p:cNvPr>
          <p:cNvSpPr>
            <a:spLocks noGrp="1"/>
          </p:cNvSpPr>
          <p:nvPr/>
        </p:nvSpPr>
        <p:spPr>
          <a:xfrm>
            <a:off x="6667500" y="2238375"/>
            <a:ext cx="1619250" cy="762000"/>
          </a:xfrm>
          <a:prstGeom prst="rect">
            <a:avLst/>
          </a:prstGeom>
        </p:spPr>
        <p:txBody>
          <a:bodyPr lIns="0" tIns="0" rIns="0" bIns="0" anchor="t">
            <a:normAutofit fontScale="98039"/>
          </a:bodyPr>
          <a:lstStyle/>
          <a:p>
            <a:pPr algn="l">
              <a:buNone/>
              <a:defRPr sz="5100" b="1">
                <a:solidFill>
                  <a:srgbClr val="151515"/>
                </a:solidFill>
                <a:latin typeface="Arial"/>
                <a:ea typeface="Arial"/>
                <a:cs typeface="Arial"/>
              </a:defRPr>
            </a:pPr>
            <a:r>
              <a:t>20</a:t>
            </a:r>
          </a:p>
        </p:txBody>
      </p:sp>
      <p:sp>
        <p:nvSpPr>
          <p:cNvPr id="13" name="Rectangle 12">
            <a:extLst>
              <a:ext uri="{FF2B5EF4-FFF2-40B4-BE49-F238E27FC236}">
                <a16:creationId xmlns:a16="http://schemas.microsoft.com/office/drawing/2014/main" id="{9D3BFAA6-4079-4DC7-81E8-47F17D108B0D}"/>
              </a:ext>
            </a:extLst>
          </p:cNvPr>
          <p:cNvSpPr>
            <a:spLocks noGrp="1"/>
          </p:cNvSpPr>
          <p:nvPr/>
        </p:nvSpPr>
        <p:spPr>
          <a:xfrm>
            <a:off x="8334375" y="2524125"/>
            <a:ext cx="1428750" cy="323850"/>
          </a:xfrm>
          <a:prstGeom prst="rect">
            <a:avLst/>
          </a:prstGeom>
        </p:spPr>
        <p:txBody>
          <a:bodyPr lIns="0" tIns="0" rIns="0" bIns="0" anchor="t">
            <a:normAutofit/>
          </a:bodyPr>
          <a:lstStyle/>
          <a:p>
            <a:pPr algn="l">
              <a:buNone/>
              <a:defRPr sz="1800" b="1">
                <a:solidFill>
                  <a:srgbClr val="151515"/>
                </a:solidFill>
                <a:latin typeface="Arial"/>
                <a:ea typeface="Arial"/>
                <a:cs typeface="Arial"/>
              </a:defRPr>
            </a:pPr>
            <a:r>
              <a:t>rules</a:t>
            </a:r>
          </a:p>
        </p:txBody>
      </p:sp>
      <p:sp>
        <p:nvSpPr>
          <p:cNvPr id="14" name="Rectangle 13">
            <a:extLst>
              <a:ext uri="{FF2B5EF4-FFF2-40B4-BE49-F238E27FC236}">
                <a16:creationId xmlns:a16="http://schemas.microsoft.com/office/drawing/2014/main" id="{4E12E096-AEFD-4CC0-9752-BAB3607FBEA8}"/>
              </a:ext>
            </a:extLst>
          </p:cNvPr>
          <p:cNvSpPr>
            <a:spLocks noGrp="1"/>
          </p:cNvSpPr>
          <p:nvPr/>
        </p:nvSpPr>
        <p:spPr>
          <a:xfrm>
            <a:off x="6667500" y="3286125"/>
            <a:ext cx="4286250" cy="609600"/>
          </a:xfrm>
          <a:prstGeom prst="rect">
            <a:avLst/>
          </a:prstGeom>
        </p:spPr>
        <p:txBody>
          <a:bodyPr lIns="0" tIns="0" rIns="0" bIns="0" anchor="t">
            <a:normAutofit fontScale="95238"/>
          </a:bodyPr>
          <a:lstStyle/>
          <a:p>
            <a:pPr algn="l">
              <a:buNone/>
              <a:defRPr sz="2100" b="1">
                <a:solidFill>
                  <a:srgbClr val="151515"/>
                </a:solidFill>
                <a:latin typeface="Arial"/>
                <a:ea typeface="Arial"/>
                <a:cs typeface="Arial"/>
              </a:defRPr>
            </a:pPr>
            <a:r>
              <a:t>LAI at harvest appears in all 20 rules.</a:t>
            </a:r>
          </a:p>
        </p:txBody>
      </p:sp>
      <p:sp>
        <p:nvSpPr>
          <p:cNvPr id="15" name="Rectangle 14">
            <a:extLst>
              <a:ext uri="{FF2B5EF4-FFF2-40B4-BE49-F238E27FC236}">
                <a16:creationId xmlns:a16="http://schemas.microsoft.com/office/drawing/2014/main" id="{0CD1C761-F1E4-462B-838A-FF2CEA27802F}"/>
              </a:ext>
            </a:extLst>
          </p:cNvPr>
          <p:cNvSpPr>
            <a:spLocks noGrp="1"/>
          </p:cNvSpPr>
          <p:nvPr/>
        </p:nvSpPr>
        <p:spPr>
          <a:xfrm>
            <a:off x="6667500" y="4095750"/>
            <a:ext cx="4333875" cy="1000125"/>
          </a:xfrm>
          <a:prstGeom prst="rect">
            <a:avLst/>
          </a:prstGeom>
        </p:spPr>
        <p:txBody>
          <a:bodyPr lIns="0" tIns="0" rIns="0" bIns="0" anchor="t">
            <a:normAutofit/>
          </a:bodyPr>
          <a:lstStyle/>
          <a:p>
            <a:pPr algn="l">
              <a:buNone/>
              <a:defRPr sz="1725" b="0">
                <a:solidFill>
                  <a:srgbClr val="60656C"/>
                </a:solidFill>
                <a:latin typeface="Arial"/>
                <a:ea typeface="Arial"/>
                <a:cs typeface="Arial"/>
              </a:defRPr>
            </a:pPr>
            <a:r>
              <a:t>Canopy development, heat stress and harvest soil water dominate the regional rule set.</a:t>
            </a:r>
          </a:p>
        </p:txBody>
      </p:sp>
      <p:sp>
        <p:nvSpPr>
          <p:cNvPr id="16" name="Rectangle 15">
            <a:extLst>
              <a:ext uri="{FF2B5EF4-FFF2-40B4-BE49-F238E27FC236}">
                <a16:creationId xmlns:a16="http://schemas.microsoft.com/office/drawing/2014/main" id="{F42077EF-E0D3-4D7E-A7D3-EF68F6232C3F}"/>
              </a:ext>
            </a:extLst>
          </p:cNvPr>
          <p:cNvSpPr>
            <a:spLocks noGrp="1"/>
          </p:cNvSpPr>
          <p:nvPr/>
        </p:nvSpPr>
        <p:spPr>
          <a:xfrm>
            <a:off x="1000125" y="5953125"/>
            <a:ext cx="10144125" cy="333375"/>
          </a:xfrm>
          <a:prstGeom prst="rect">
            <a:avLst/>
          </a:prstGeom>
        </p:spPr>
        <p:txBody>
          <a:bodyPr lIns="0" tIns="0" rIns="0" bIns="0" anchor="t">
            <a:normAutofit fontScale="88046"/>
          </a:bodyPr>
          <a:lstStyle/>
          <a:p>
            <a:pPr algn="ctr">
              <a:buNone/>
              <a:defRPr sz="1725" b="1">
                <a:solidFill>
                  <a:srgbClr val="7B1E3A"/>
                </a:solidFill>
                <a:latin typeface="Arial"/>
                <a:ea typeface="Arial"/>
                <a:cs typeface="Arial"/>
              </a:defRPr>
            </a:pPr>
            <a:r>
              <a:rPr dirty="0">
                <a:solidFill>
                  <a:schemeClr val="accent2"/>
                </a:solidFill>
              </a:rPr>
              <a:t>The same variable can have a different direction across regions — interpretation must remain context-specific.</a:t>
            </a:r>
          </a:p>
        </p:txBody>
      </p:sp>
    </p:spTree>
    <p:extLst>
      <p:ext uri="{BB962C8B-B14F-4D97-AF65-F5344CB8AC3E}">
        <p14:creationId xmlns:p14="http://schemas.microsoft.com/office/powerpoint/2010/main" val="6329365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4763" y="285750"/>
            <a:ext cx="12192000" cy="6858000"/>
          </a:xfrm>
          <a:prstGeom prst="rect">
            <a:avLst/>
          </a:prstGeom>
          <a:solidFill>
            <a:srgbClr val="FFFFFF"/>
          </a:solidFill>
          <a:ln w="0">
            <a:noFill/>
            <a:prstDash val="solid"/>
          </a:ln>
        </p:spPr>
        <p:txBody>
          <a:bodyPr/>
          <a:lstStyle/>
          <a:p>
            <a:endParaRPr lang="en-US"/>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400050" y="1476375"/>
            <a:ext cx="5476875" cy="3476625"/>
          </a:xfrm>
          <a:prstGeom prst="rect">
            <a:avLst/>
          </a:prstGeom>
          <a:solidFill>
            <a:schemeClr val="bg1">
              <a:lumMod val="95000"/>
            </a:schemeClr>
          </a:solidFill>
          <a:ln w="0">
            <a:noFill/>
            <a:prstDash val="solid"/>
          </a:ln>
        </p:spPr>
        <p:txBody>
          <a:bodyPr/>
          <a:lstStyle/>
          <a:p>
            <a:endParaRPr lang="en-US"/>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305550" y="1476375"/>
            <a:ext cx="5476875" cy="3476625"/>
          </a:xfrm>
          <a:prstGeom prst="rect">
            <a:avLst/>
          </a:prstGeom>
          <a:solidFill>
            <a:schemeClr val="accent2">
              <a:lumMod val="20000"/>
              <a:lumOff val="80000"/>
            </a:schemeClr>
          </a:solidFill>
          <a:ln w="0">
            <a:noFill/>
            <a:prstDash val="solid"/>
          </a:ln>
        </p:spPr>
        <p:txBody>
          <a:bodyPr/>
          <a:lstStyle/>
          <a:p>
            <a:endParaRPr lang="en-US"/>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714375" y="1752600"/>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7143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7143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763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314825" y="25812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763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7143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763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3148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dirty="0">
                <a:solidFill>
                  <a:srgbClr val="7B1E3A"/>
                </a:solidFill>
                <a:latin typeface="Arial"/>
                <a:ea typeface="Arial"/>
                <a:cs typeface="Arial"/>
              </a:rPr>
              <a:t>-131 </a:t>
            </a:r>
            <a:r>
              <a:rPr sz="1125" b="1" dirty="0" err="1">
                <a:solidFill>
                  <a:srgbClr val="7B1E3A"/>
                </a:solidFill>
                <a:latin typeface="Arial"/>
                <a:ea typeface="Arial"/>
                <a:cs typeface="Arial"/>
              </a:rPr>
              <a:t>mhl</a:t>
            </a:r>
            <a:endParaRPr sz="1125" b="1" dirty="0">
              <a:solidFill>
                <a:srgbClr val="7B1E3A"/>
              </a:solidFill>
              <a:latin typeface="Arial"/>
              <a:ea typeface="Arial"/>
              <a:cs typeface="Arial"/>
            </a:endParaRP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763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7143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763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314825" y="34194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763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7143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763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3148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763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7143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763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314825" y="42576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763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619875" y="1752600"/>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dirty="0">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619875" y="2038350"/>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619875" y="26098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81825" y="25717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220325" y="25812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81825" y="28003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619875" y="30289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81825" y="29908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220325" y="30003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81825" y="32194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619875" y="34480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81825" y="34099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220325" y="34194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81825" y="36385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619875" y="38671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81825" y="38290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220325" y="3838575"/>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81825" y="40576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619875" y="4286250"/>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81825" y="4248150"/>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220325" y="4257675"/>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81825" y="4476750"/>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chemeClr val="bg2">
              <a:lumMod val="90000"/>
            </a:schemeClr>
          </a:solidFill>
          <a:ln w="0">
            <a:noFill/>
            <a:prstDash val="solid"/>
          </a:ln>
        </p:spPr>
        <p:txBody>
          <a:bodyPr/>
          <a:lstStyle/>
          <a:p>
            <a:endParaRPr lang="en-US"/>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550417" y="5482119"/>
            <a:ext cx="2610706" cy="495300"/>
          </a:xfrm>
          <a:prstGeom prst="rect">
            <a:avLst/>
          </a:prstGeom>
          <a:noFill/>
          <a:ln w="0">
            <a:noFill/>
            <a:prstDash val="solid"/>
          </a:ln>
        </p:spPr>
        <p:txBody>
          <a:bodyPr/>
          <a:lstStyle/>
          <a:p>
            <a:pPr>
              <a:buNone/>
              <a:defRPr sz="1125" b="1">
                <a:solidFill>
                  <a:srgbClr val="7B1E3A"/>
                </a:solidFill>
                <a:latin typeface="Arial"/>
                <a:ea typeface="Arial"/>
                <a:cs typeface="Arial"/>
              </a:defRPr>
            </a:pPr>
            <a:r>
              <a:rPr sz="1600" b="1" dirty="0">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2952750" y="5381625"/>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2579670" y="5808110"/>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dirty="0">
                <a:solidFill>
                  <a:srgbClr val="5E6670"/>
                </a:solidFill>
                <a:latin typeface="Arial"/>
                <a:ea typeface="Arial"/>
                <a:cs typeface="Arial"/>
              </a:rPr>
              <a:t>CarenR, RIPPER and M5Rules all select them, so the signal is not tied to one optimization criterion.</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Tree>
    <p:extLst>
      <p:ext uri="{BB962C8B-B14F-4D97-AF65-F5344CB8AC3E}">
        <p14:creationId xmlns:p14="http://schemas.microsoft.com/office/powerpoint/2010/main" val="7958035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white-background">
            <a:extLst>
              <a:ext uri="{FF2B5EF4-FFF2-40B4-BE49-F238E27FC236}">
                <a16:creationId xmlns:a16="http://schemas.microsoft.com/office/drawing/2014/main" id="{A61AC48A-4009-4360-A58A-CB33345CB8D4}"/>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a:p>
        </p:txBody>
      </p:sp>
      <p:sp>
        <p:nvSpPr>
          <p:cNvPr id="2" name="section-label">
            <a:extLst>
              <a:ext uri="{FF2B5EF4-FFF2-40B4-BE49-F238E27FC236}">
                <a16:creationId xmlns:a16="http://schemas.microsoft.com/office/drawing/2014/main" id="{AA3E5C72-18C4-4820-A946-3AFADD1B9D87}"/>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3" name="title">
            <a:extLst>
              <a:ext uri="{FF2B5EF4-FFF2-40B4-BE49-F238E27FC236}">
                <a16:creationId xmlns:a16="http://schemas.microsoft.com/office/drawing/2014/main" id="{A235780E-12D0-4C1A-A029-A99CA3019A2C}"/>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strongest CarenR rules point to water and canopy structure</a:t>
            </a:r>
          </a:p>
        </p:txBody>
      </p:sp>
      <p:sp>
        <p:nvSpPr>
          <p:cNvPr id="4" name="douro-panel">
            <a:extLst>
              <a:ext uri="{FF2B5EF4-FFF2-40B4-BE49-F238E27FC236}">
                <a16:creationId xmlns:a16="http://schemas.microsoft.com/office/drawing/2014/main" id="{DB3A9BFA-81C6-4691-9368-F9F7C131BC49}"/>
              </a:ext>
            </a:extLst>
          </p:cNvPr>
          <p:cNvSpPr>
            <a:spLocks noGrp="1"/>
          </p:cNvSpPr>
          <p:nvPr/>
        </p:nvSpPr>
        <p:spPr>
          <a:xfrm>
            <a:off x="361950" y="1640974"/>
            <a:ext cx="5476875" cy="3476625"/>
          </a:xfrm>
          <a:prstGeom prst="rect">
            <a:avLst/>
          </a:prstGeom>
          <a:solidFill>
            <a:srgbClr val="EAF4FB"/>
          </a:solidFill>
          <a:ln w="0">
            <a:noFill/>
            <a:prstDash val="solid"/>
          </a:ln>
        </p:spPr>
        <p:txBody>
          <a:bodyPr/>
          <a:lstStyle/>
          <a:p>
            <a:endParaRPr/>
          </a:p>
        </p:txBody>
      </p:sp>
      <p:sp>
        <p:nvSpPr>
          <p:cNvPr id="5" name="rvv-panel">
            <a:extLst>
              <a:ext uri="{FF2B5EF4-FFF2-40B4-BE49-F238E27FC236}">
                <a16:creationId xmlns:a16="http://schemas.microsoft.com/office/drawing/2014/main" id="{5F21EEA4-8328-44C4-BCCB-EDEE6BE775BF}"/>
              </a:ext>
            </a:extLst>
          </p:cNvPr>
          <p:cNvSpPr>
            <a:spLocks noGrp="1"/>
          </p:cNvSpPr>
          <p:nvPr/>
        </p:nvSpPr>
        <p:spPr>
          <a:xfrm>
            <a:off x="6267450" y="1640974"/>
            <a:ext cx="5476875" cy="3476625"/>
          </a:xfrm>
          <a:prstGeom prst="rect">
            <a:avLst/>
          </a:prstGeom>
          <a:solidFill>
            <a:srgbClr val="F7EAF0"/>
          </a:solidFill>
          <a:ln w="0">
            <a:noFill/>
            <a:prstDash val="solid"/>
          </a:ln>
        </p:spPr>
        <p:txBody>
          <a:bodyPr/>
          <a:lstStyle/>
          <a:p>
            <a:endParaRPr/>
          </a:p>
        </p:txBody>
      </p:sp>
      <p:sp>
        <p:nvSpPr>
          <p:cNvPr id="6" name="douro-label">
            <a:extLst>
              <a:ext uri="{FF2B5EF4-FFF2-40B4-BE49-F238E27FC236}">
                <a16:creationId xmlns:a16="http://schemas.microsoft.com/office/drawing/2014/main" id="{25377249-CE38-488A-B5C9-0BA00F376236}"/>
              </a:ext>
            </a:extLst>
          </p:cNvPr>
          <p:cNvSpPr>
            <a:spLocks noGrp="1"/>
          </p:cNvSpPr>
          <p:nvPr/>
        </p:nvSpPr>
        <p:spPr>
          <a:xfrm>
            <a:off x="676275" y="1917199"/>
            <a:ext cx="3143250" cy="266700"/>
          </a:xfrm>
          <a:prstGeom prst="rect">
            <a:avLst/>
          </a:prstGeom>
          <a:noFill/>
          <a:ln w="0">
            <a:noFill/>
            <a:prstDash val="solid"/>
          </a:ln>
        </p:spPr>
        <p:txBody>
          <a:bodyPr/>
          <a:lstStyle/>
          <a:p>
            <a:pPr>
              <a:buNone/>
              <a:defRPr sz="1125" b="1">
                <a:solidFill>
                  <a:srgbClr val="2B6F9A"/>
                </a:solidFill>
                <a:latin typeface="Arial"/>
                <a:ea typeface="Arial"/>
                <a:cs typeface="Arial"/>
              </a:defRPr>
            </a:pPr>
            <a:r>
              <a:rPr sz="1125" b="1">
                <a:solidFill>
                  <a:srgbClr val="2B6F9A"/>
                </a:solidFill>
                <a:latin typeface="Arial"/>
                <a:ea typeface="Arial"/>
                <a:cs typeface="Arial"/>
              </a:rPr>
              <a:t>DOURO · top 5 CarenR rules</a:t>
            </a:r>
          </a:p>
        </p:txBody>
      </p:sp>
      <p:sp>
        <p:nvSpPr>
          <p:cNvPr id="7" name="douro-summary">
            <a:extLst>
              <a:ext uri="{FF2B5EF4-FFF2-40B4-BE49-F238E27FC236}">
                <a16:creationId xmlns:a16="http://schemas.microsoft.com/office/drawing/2014/main" id="{B0EE3D9C-DDB3-406D-9D3B-939E14A1EB8A}"/>
              </a:ext>
            </a:extLst>
          </p:cNvPr>
          <p:cNvSpPr>
            <a:spLocks noGrp="1"/>
          </p:cNvSpPr>
          <p:nvPr/>
        </p:nvSpPr>
        <p:spPr>
          <a:xfrm>
            <a:off x="6762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above-trend: dry flowering and bounded heat define good years.</a:t>
            </a:r>
          </a:p>
        </p:txBody>
      </p:sp>
      <p:sp>
        <p:nvSpPr>
          <p:cNvPr id="8" name="rule-douro-1-rank">
            <a:extLst>
              <a:ext uri="{FF2B5EF4-FFF2-40B4-BE49-F238E27FC236}">
                <a16:creationId xmlns:a16="http://schemas.microsoft.com/office/drawing/2014/main" id="{112D12CD-BA90-42C9-88B7-1E895D2F2C81}"/>
              </a:ext>
            </a:extLst>
          </p:cNvPr>
          <p:cNvSpPr>
            <a:spLocks noGrp="1"/>
          </p:cNvSpPr>
          <p:nvPr/>
        </p:nvSpPr>
        <p:spPr>
          <a:xfrm>
            <a:off x="6762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9" name="rule-douro-1-pattern">
            <a:extLst>
              <a:ext uri="{FF2B5EF4-FFF2-40B4-BE49-F238E27FC236}">
                <a16:creationId xmlns:a16="http://schemas.microsoft.com/office/drawing/2014/main" id="{55214A11-6F83-415F-8DA9-B3080B6E33DA}"/>
              </a:ext>
            </a:extLst>
          </p:cNvPr>
          <p:cNvSpPr>
            <a:spLocks noGrp="1"/>
          </p:cNvSpPr>
          <p:nvPr/>
        </p:nvSpPr>
        <p:spPr>
          <a:xfrm>
            <a:off x="10382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dry maturity</a:t>
            </a:r>
          </a:p>
        </p:txBody>
      </p:sp>
      <p:sp>
        <p:nvSpPr>
          <p:cNvPr id="10" name="rule-douro-1-delta">
            <a:extLst>
              <a:ext uri="{FF2B5EF4-FFF2-40B4-BE49-F238E27FC236}">
                <a16:creationId xmlns:a16="http://schemas.microsoft.com/office/drawing/2014/main" id="{DFDE73BD-FA63-4BAF-B9DC-3411C9E99A24}"/>
              </a:ext>
            </a:extLst>
          </p:cNvPr>
          <p:cNvSpPr>
            <a:spLocks noGrp="1"/>
          </p:cNvSpPr>
          <p:nvPr/>
        </p:nvSpPr>
        <p:spPr>
          <a:xfrm>
            <a:off x="4276725" y="27458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+121 mhl</a:t>
            </a:r>
          </a:p>
        </p:txBody>
      </p:sp>
      <p:sp>
        <p:nvSpPr>
          <p:cNvPr id="11" name="rule-douro-1-support">
            <a:extLst>
              <a:ext uri="{FF2B5EF4-FFF2-40B4-BE49-F238E27FC236}">
                <a16:creationId xmlns:a16="http://schemas.microsoft.com/office/drawing/2014/main" id="{196B7EFD-1B7D-43F6-A653-19032DEE096D}"/>
              </a:ext>
            </a:extLst>
          </p:cNvPr>
          <p:cNvSpPr>
            <a:spLocks noGrp="1"/>
          </p:cNvSpPr>
          <p:nvPr/>
        </p:nvSpPr>
        <p:spPr>
          <a:xfrm>
            <a:off x="10382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28.1% support · p=0.0043</a:t>
            </a:r>
          </a:p>
        </p:txBody>
      </p:sp>
      <p:sp>
        <p:nvSpPr>
          <p:cNvPr id="12" name="rule-douro-2-rank">
            <a:extLst>
              <a:ext uri="{FF2B5EF4-FFF2-40B4-BE49-F238E27FC236}">
                <a16:creationId xmlns:a16="http://schemas.microsoft.com/office/drawing/2014/main" id="{4A24E729-C905-4488-911C-CF23826CA50C}"/>
              </a:ext>
            </a:extLst>
          </p:cNvPr>
          <p:cNvSpPr>
            <a:spLocks noGrp="1"/>
          </p:cNvSpPr>
          <p:nvPr/>
        </p:nvSpPr>
        <p:spPr>
          <a:xfrm>
            <a:off x="6762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13" name="rule-douro-2-pattern">
            <a:extLst>
              <a:ext uri="{FF2B5EF4-FFF2-40B4-BE49-F238E27FC236}">
                <a16:creationId xmlns:a16="http://schemas.microsoft.com/office/drawing/2014/main" id="{1AB09955-D902-451F-8068-D37DC71E7A90}"/>
              </a:ext>
            </a:extLst>
          </p:cNvPr>
          <p:cNvSpPr>
            <a:spLocks noGrp="1"/>
          </p:cNvSpPr>
          <p:nvPr/>
        </p:nvSpPr>
        <p:spPr>
          <a:xfrm>
            <a:off x="10382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High LAI + wet flowering</a:t>
            </a:r>
          </a:p>
        </p:txBody>
      </p:sp>
      <p:sp>
        <p:nvSpPr>
          <p:cNvPr id="14" name="rule-douro-2-delta">
            <a:extLst>
              <a:ext uri="{FF2B5EF4-FFF2-40B4-BE49-F238E27FC236}">
                <a16:creationId xmlns:a16="http://schemas.microsoft.com/office/drawing/2014/main" id="{6E7B2FF2-119F-4F33-BFA5-AE072BABE6E6}"/>
              </a:ext>
            </a:extLst>
          </p:cNvPr>
          <p:cNvSpPr>
            <a:spLocks noGrp="1"/>
          </p:cNvSpPr>
          <p:nvPr/>
        </p:nvSpPr>
        <p:spPr>
          <a:xfrm>
            <a:off x="42767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-131 mhl</a:t>
            </a:r>
          </a:p>
        </p:txBody>
      </p:sp>
      <p:sp>
        <p:nvSpPr>
          <p:cNvPr id="15" name="rule-douro-2-support">
            <a:extLst>
              <a:ext uri="{FF2B5EF4-FFF2-40B4-BE49-F238E27FC236}">
                <a16:creationId xmlns:a16="http://schemas.microsoft.com/office/drawing/2014/main" id="{0B1B3A52-047D-4C39-A204-8601FE2E4945}"/>
              </a:ext>
            </a:extLst>
          </p:cNvPr>
          <p:cNvSpPr>
            <a:spLocks noGrp="1"/>
          </p:cNvSpPr>
          <p:nvPr/>
        </p:nvSpPr>
        <p:spPr>
          <a:xfrm>
            <a:off x="10382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20.2% support · p=0.0084</a:t>
            </a:r>
          </a:p>
        </p:txBody>
      </p:sp>
      <p:sp>
        <p:nvSpPr>
          <p:cNvPr id="16" name="rule-douro-3-rank">
            <a:extLst>
              <a:ext uri="{FF2B5EF4-FFF2-40B4-BE49-F238E27FC236}">
                <a16:creationId xmlns:a16="http://schemas.microsoft.com/office/drawing/2014/main" id="{5019C0E2-BF17-4050-A65B-77E6958920F4}"/>
              </a:ext>
            </a:extLst>
          </p:cNvPr>
          <p:cNvSpPr>
            <a:spLocks noGrp="1"/>
          </p:cNvSpPr>
          <p:nvPr/>
        </p:nvSpPr>
        <p:spPr>
          <a:xfrm>
            <a:off x="6762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17" name="rule-douro-3-pattern">
            <a:extLst>
              <a:ext uri="{FF2B5EF4-FFF2-40B4-BE49-F238E27FC236}">
                <a16:creationId xmlns:a16="http://schemas.microsoft.com/office/drawing/2014/main" id="{09468597-E04A-42DB-9B94-D08BFF973430}"/>
              </a:ext>
            </a:extLst>
          </p:cNvPr>
          <p:cNvSpPr>
            <a:spLocks noGrp="1"/>
          </p:cNvSpPr>
          <p:nvPr/>
        </p:nvSpPr>
        <p:spPr>
          <a:xfrm>
            <a:off x="10382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 moderate heat after flowering</a:t>
            </a:r>
          </a:p>
        </p:txBody>
      </p:sp>
      <p:sp>
        <p:nvSpPr>
          <p:cNvPr id="18" name="rule-douro-3-delta">
            <a:extLst>
              <a:ext uri="{FF2B5EF4-FFF2-40B4-BE49-F238E27FC236}">
                <a16:creationId xmlns:a16="http://schemas.microsoft.com/office/drawing/2014/main" id="{4D2781A6-FD45-4BDD-96F8-F874F0309752}"/>
              </a:ext>
            </a:extLst>
          </p:cNvPr>
          <p:cNvSpPr>
            <a:spLocks noGrp="1"/>
          </p:cNvSpPr>
          <p:nvPr/>
        </p:nvSpPr>
        <p:spPr>
          <a:xfrm>
            <a:off x="4276725" y="35840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+113 mhl</a:t>
            </a:r>
          </a:p>
        </p:txBody>
      </p:sp>
      <p:sp>
        <p:nvSpPr>
          <p:cNvPr id="19" name="rule-douro-3-support">
            <a:extLst>
              <a:ext uri="{FF2B5EF4-FFF2-40B4-BE49-F238E27FC236}">
                <a16:creationId xmlns:a16="http://schemas.microsoft.com/office/drawing/2014/main" id="{52EB5F2F-8DDE-41DA-8315-A078CEE0AA96}"/>
              </a:ext>
            </a:extLst>
          </p:cNvPr>
          <p:cNvSpPr>
            <a:spLocks noGrp="1"/>
          </p:cNvSpPr>
          <p:nvPr/>
        </p:nvSpPr>
        <p:spPr>
          <a:xfrm>
            <a:off x="10382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25.8% support · p=0.0089</a:t>
            </a:r>
          </a:p>
        </p:txBody>
      </p:sp>
      <p:sp>
        <p:nvSpPr>
          <p:cNvPr id="20" name="rule-douro-4-rank">
            <a:extLst>
              <a:ext uri="{FF2B5EF4-FFF2-40B4-BE49-F238E27FC236}">
                <a16:creationId xmlns:a16="http://schemas.microsoft.com/office/drawing/2014/main" id="{DE76DB4C-BA55-4BB0-9737-CAA4D7BA2841}"/>
              </a:ext>
            </a:extLst>
          </p:cNvPr>
          <p:cNvSpPr>
            <a:spLocks noGrp="1"/>
          </p:cNvSpPr>
          <p:nvPr/>
        </p:nvSpPr>
        <p:spPr>
          <a:xfrm>
            <a:off x="6762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21" name="rule-douro-4-pattern">
            <a:extLst>
              <a:ext uri="{FF2B5EF4-FFF2-40B4-BE49-F238E27FC236}">
                <a16:creationId xmlns:a16="http://schemas.microsoft.com/office/drawing/2014/main" id="{C449AB7D-C8C5-40C8-83FF-33A99F574C14}"/>
              </a:ext>
            </a:extLst>
          </p:cNvPr>
          <p:cNvSpPr>
            <a:spLocks noGrp="1"/>
          </p:cNvSpPr>
          <p:nvPr/>
        </p:nvSpPr>
        <p:spPr>
          <a:xfrm>
            <a:off x="10382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Harvest water + carry-over dryness</a:t>
            </a:r>
          </a:p>
        </p:txBody>
      </p:sp>
      <p:sp>
        <p:nvSpPr>
          <p:cNvPr id="22" name="rule-douro-4-delta">
            <a:extLst>
              <a:ext uri="{FF2B5EF4-FFF2-40B4-BE49-F238E27FC236}">
                <a16:creationId xmlns:a16="http://schemas.microsoft.com/office/drawing/2014/main" id="{F9C4DCB7-D20F-4830-8BB0-2A0415B56461}"/>
              </a:ext>
            </a:extLst>
          </p:cNvPr>
          <p:cNvSpPr>
            <a:spLocks noGrp="1"/>
          </p:cNvSpPr>
          <p:nvPr/>
        </p:nvSpPr>
        <p:spPr>
          <a:xfrm>
            <a:off x="42767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+192 mhl</a:t>
            </a:r>
          </a:p>
        </p:txBody>
      </p:sp>
      <p:sp>
        <p:nvSpPr>
          <p:cNvPr id="23" name="rule-douro-4-support">
            <a:extLst>
              <a:ext uri="{FF2B5EF4-FFF2-40B4-BE49-F238E27FC236}">
                <a16:creationId xmlns:a16="http://schemas.microsoft.com/office/drawing/2014/main" id="{C121A40C-07E9-462B-B526-F3EDEBD3F21B}"/>
              </a:ext>
            </a:extLst>
          </p:cNvPr>
          <p:cNvSpPr>
            <a:spLocks noGrp="1"/>
          </p:cNvSpPr>
          <p:nvPr/>
        </p:nvSpPr>
        <p:spPr>
          <a:xfrm>
            <a:off x="10382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21.3% support · p=0.0095</a:t>
            </a:r>
          </a:p>
        </p:txBody>
      </p:sp>
      <p:sp>
        <p:nvSpPr>
          <p:cNvPr id="24" name="rule-douro-5-rank">
            <a:extLst>
              <a:ext uri="{FF2B5EF4-FFF2-40B4-BE49-F238E27FC236}">
                <a16:creationId xmlns:a16="http://schemas.microsoft.com/office/drawing/2014/main" id="{49D74733-37B0-420C-8729-01C160AAC178}"/>
              </a:ext>
            </a:extLst>
          </p:cNvPr>
          <p:cNvSpPr>
            <a:spLocks noGrp="1"/>
          </p:cNvSpPr>
          <p:nvPr/>
        </p:nvSpPr>
        <p:spPr>
          <a:xfrm>
            <a:off x="6762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25" name="rule-douro-5-pattern">
            <a:extLst>
              <a:ext uri="{FF2B5EF4-FFF2-40B4-BE49-F238E27FC236}">
                <a16:creationId xmlns:a16="http://schemas.microsoft.com/office/drawing/2014/main" id="{C8E3B63F-C73E-4788-929A-032DCC57F794}"/>
              </a:ext>
            </a:extLst>
          </p:cNvPr>
          <p:cNvSpPr>
            <a:spLocks noGrp="1"/>
          </p:cNvSpPr>
          <p:nvPr/>
        </p:nvSpPr>
        <p:spPr>
          <a:xfrm>
            <a:off x="10382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Dry flowering + bounded heat</a:t>
            </a:r>
          </a:p>
        </p:txBody>
      </p:sp>
      <p:sp>
        <p:nvSpPr>
          <p:cNvPr id="26" name="rule-douro-5-delta">
            <a:extLst>
              <a:ext uri="{FF2B5EF4-FFF2-40B4-BE49-F238E27FC236}">
                <a16:creationId xmlns:a16="http://schemas.microsoft.com/office/drawing/2014/main" id="{42274413-F26D-4849-976D-26C270D2A655}"/>
              </a:ext>
            </a:extLst>
          </p:cNvPr>
          <p:cNvSpPr>
            <a:spLocks noGrp="1"/>
          </p:cNvSpPr>
          <p:nvPr/>
        </p:nvSpPr>
        <p:spPr>
          <a:xfrm>
            <a:off x="4276725" y="44222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+115 mhl</a:t>
            </a:r>
          </a:p>
        </p:txBody>
      </p:sp>
      <p:sp>
        <p:nvSpPr>
          <p:cNvPr id="27" name="rule-douro-5-support">
            <a:extLst>
              <a:ext uri="{FF2B5EF4-FFF2-40B4-BE49-F238E27FC236}">
                <a16:creationId xmlns:a16="http://schemas.microsoft.com/office/drawing/2014/main" id="{71C78432-7F79-4E12-BE6A-133365A5EE81}"/>
              </a:ext>
            </a:extLst>
          </p:cNvPr>
          <p:cNvSpPr>
            <a:spLocks noGrp="1"/>
          </p:cNvSpPr>
          <p:nvPr/>
        </p:nvSpPr>
        <p:spPr>
          <a:xfrm>
            <a:off x="10382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24.7% support · p=0.0110</a:t>
            </a:r>
          </a:p>
        </p:txBody>
      </p:sp>
      <p:sp>
        <p:nvSpPr>
          <p:cNvPr id="28" name="rvv-label">
            <a:extLst>
              <a:ext uri="{FF2B5EF4-FFF2-40B4-BE49-F238E27FC236}">
                <a16:creationId xmlns:a16="http://schemas.microsoft.com/office/drawing/2014/main" id="{2F1552A8-347D-481A-B089-9A9E082A767C}"/>
              </a:ext>
            </a:extLst>
          </p:cNvPr>
          <p:cNvSpPr>
            <a:spLocks noGrp="1"/>
          </p:cNvSpPr>
          <p:nvPr/>
        </p:nvSpPr>
        <p:spPr>
          <a:xfrm>
            <a:off x="6581775" y="1917199"/>
            <a:ext cx="3333750" cy="2667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VINHO VERDE · top 5 CarenR rules</a:t>
            </a:r>
          </a:p>
        </p:txBody>
      </p:sp>
      <p:sp>
        <p:nvSpPr>
          <p:cNvPr id="29" name="rvv-summary">
            <a:extLst>
              <a:ext uri="{FF2B5EF4-FFF2-40B4-BE49-F238E27FC236}">
                <a16:creationId xmlns:a16="http://schemas.microsoft.com/office/drawing/2014/main" id="{82782C39-0358-4435-8058-3C41B3311F09}"/>
              </a:ext>
            </a:extLst>
          </p:cNvPr>
          <p:cNvSpPr>
            <a:spLocks noGrp="1"/>
          </p:cNvSpPr>
          <p:nvPr/>
        </p:nvSpPr>
        <p:spPr>
          <a:xfrm>
            <a:off x="6581775" y="2202949"/>
            <a:ext cx="4476750" cy="419100"/>
          </a:xfrm>
          <a:prstGeom prst="rect">
            <a:avLst/>
          </a:prstGeom>
          <a:noFill/>
          <a:ln w="0">
            <a:noFill/>
            <a:prstDash val="solid"/>
          </a:ln>
        </p:spPr>
        <p:txBody>
          <a:bodyPr/>
          <a:lstStyle/>
          <a:p>
            <a:pPr>
              <a:buNone/>
              <a:defRPr sz="1238" b="1">
                <a:solidFill>
                  <a:srgbClr val="111111"/>
                </a:solidFill>
                <a:latin typeface="Arial"/>
                <a:ea typeface="Arial"/>
                <a:cs typeface="Arial"/>
              </a:defRPr>
            </a:pPr>
            <a:r>
              <a:rPr sz="1238" b="1">
                <a:solidFill>
                  <a:srgbClr val="111111"/>
                </a:solidFill>
                <a:latin typeface="Arial"/>
                <a:ea typeface="Arial"/>
                <a:cs typeface="Arial"/>
              </a:rPr>
              <a:t>4 of 5 are below-trend: cool, moist conditions dominate the Atlantic region.</a:t>
            </a:r>
          </a:p>
        </p:txBody>
      </p:sp>
      <p:sp>
        <p:nvSpPr>
          <p:cNvPr id="30" name="rule-rvv-1-rank">
            <a:extLst>
              <a:ext uri="{FF2B5EF4-FFF2-40B4-BE49-F238E27FC236}">
                <a16:creationId xmlns:a16="http://schemas.microsoft.com/office/drawing/2014/main" id="{3BCE3140-0718-44A2-9391-55465FD76E5A}"/>
              </a:ext>
            </a:extLst>
          </p:cNvPr>
          <p:cNvSpPr>
            <a:spLocks noGrp="1"/>
          </p:cNvSpPr>
          <p:nvPr/>
        </p:nvSpPr>
        <p:spPr>
          <a:xfrm>
            <a:off x="6581775" y="27744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1</a:t>
            </a:r>
          </a:p>
        </p:txBody>
      </p:sp>
      <p:sp>
        <p:nvSpPr>
          <p:cNvPr id="31" name="rule-rvv-1-pattern">
            <a:extLst>
              <a:ext uri="{FF2B5EF4-FFF2-40B4-BE49-F238E27FC236}">
                <a16:creationId xmlns:a16="http://schemas.microsoft.com/office/drawing/2014/main" id="{AC8B2939-682F-4026-8C9A-F568819FE41A}"/>
              </a:ext>
            </a:extLst>
          </p:cNvPr>
          <p:cNvSpPr>
            <a:spLocks noGrp="1"/>
          </p:cNvSpPr>
          <p:nvPr/>
        </p:nvSpPr>
        <p:spPr>
          <a:xfrm>
            <a:off x="6943725" y="27363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harvest + no heat stress</a:t>
            </a:r>
          </a:p>
        </p:txBody>
      </p:sp>
      <p:sp>
        <p:nvSpPr>
          <p:cNvPr id="32" name="rule-rvv-1-delta">
            <a:extLst>
              <a:ext uri="{FF2B5EF4-FFF2-40B4-BE49-F238E27FC236}">
                <a16:creationId xmlns:a16="http://schemas.microsoft.com/office/drawing/2014/main" id="{AECDF222-280F-462E-AE28-34B618414F5A}"/>
              </a:ext>
            </a:extLst>
          </p:cNvPr>
          <p:cNvSpPr>
            <a:spLocks noGrp="1"/>
          </p:cNvSpPr>
          <p:nvPr/>
        </p:nvSpPr>
        <p:spPr>
          <a:xfrm>
            <a:off x="10182225" y="27458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-338 mhl</a:t>
            </a:r>
          </a:p>
        </p:txBody>
      </p:sp>
      <p:sp>
        <p:nvSpPr>
          <p:cNvPr id="33" name="rule-rvv-1-support">
            <a:extLst>
              <a:ext uri="{FF2B5EF4-FFF2-40B4-BE49-F238E27FC236}">
                <a16:creationId xmlns:a16="http://schemas.microsoft.com/office/drawing/2014/main" id="{6AA05EBD-8F11-4265-AEC8-64E1622BDE37}"/>
              </a:ext>
            </a:extLst>
          </p:cNvPr>
          <p:cNvSpPr>
            <a:spLocks noGrp="1"/>
          </p:cNvSpPr>
          <p:nvPr/>
        </p:nvSpPr>
        <p:spPr>
          <a:xfrm>
            <a:off x="6943725" y="29649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p=0.0198</a:t>
            </a:r>
          </a:p>
        </p:txBody>
      </p:sp>
      <p:sp>
        <p:nvSpPr>
          <p:cNvPr id="34" name="rule-rvv-2-rank">
            <a:extLst>
              <a:ext uri="{FF2B5EF4-FFF2-40B4-BE49-F238E27FC236}">
                <a16:creationId xmlns:a16="http://schemas.microsoft.com/office/drawing/2014/main" id="{738E64DC-DFC6-4CB7-85B8-1C02D584C72F}"/>
              </a:ext>
            </a:extLst>
          </p:cNvPr>
          <p:cNvSpPr>
            <a:spLocks noGrp="1"/>
          </p:cNvSpPr>
          <p:nvPr/>
        </p:nvSpPr>
        <p:spPr>
          <a:xfrm>
            <a:off x="6581775" y="31935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2</a:t>
            </a:r>
          </a:p>
        </p:txBody>
      </p:sp>
      <p:sp>
        <p:nvSpPr>
          <p:cNvPr id="35" name="rule-rvv-2-pattern">
            <a:extLst>
              <a:ext uri="{FF2B5EF4-FFF2-40B4-BE49-F238E27FC236}">
                <a16:creationId xmlns:a16="http://schemas.microsoft.com/office/drawing/2014/main" id="{8444DC70-ED85-455B-813A-27A64FF0D9FB}"/>
              </a:ext>
            </a:extLst>
          </p:cNvPr>
          <p:cNvSpPr>
            <a:spLocks noGrp="1"/>
          </p:cNvSpPr>
          <p:nvPr/>
        </p:nvSpPr>
        <p:spPr>
          <a:xfrm>
            <a:off x="6943725" y="31554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flowering + prior soil saturation</a:t>
            </a:r>
          </a:p>
        </p:txBody>
      </p:sp>
      <p:sp>
        <p:nvSpPr>
          <p:cNvPr id="36" name="rule-rvv-2-delta">
            <a:extLst>
              <a:ext uri="{FF2B5EF4-FFF2-40B4-BE49-F238E27FC236}">
                <a16:creationId xmlns:a16="http://schemas.microsoft.com/office/drawing/2014/main" id="{76A3BD4A-EA20-42AE-8A16-A83432A04D26}"/>
              </a:ext>
            </a:extLst>
          </p:cNvPr>
          <p:cNvSpPr>
            <a:spLocks noGrp="1"/>
          </p:cNvSpPr>
          <p:nvPr/>
        </p:nvSpPr>
        <p:spPr>
          <a:xfrm>
            <a:off x="10182225" y="31649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-268 mhl</a:t>
            </a:r>
          </a:p>
        </p:txBody>
      </p:sp>
      <p:sp>
        <p:nvSpPr>
          <p:cNvPr id="37" name="rule-rvv-2-support">
            <a:extLst>
              <a:ext uri="{FF2B5EF4-FFF2-40B4-BE49-F238E27FC236}">
                <a16:creationId xmlns:a16="http://schemas.microsoft.com/office/drawing/2014/main" id="{1839A862-962D-43A2-AB77-AFC2EF3B472A}"/>
              </a:ext>
            </a:extLst>
          </p:cNvPr>
          <p:cNvSpPr>
            <a:spLocks noGrp="1"/>
          </p:cNvSpPr>
          <p:nvPr/>
        </p:nvSpPr>
        <p:spPr>
          <a:xfrm>
            <a:off x="6943725" y="33840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21.2% support · p=0.0216</a:t>
            </a:r>
          </a:p>
        </p:txBody>
      </p:sp>
      <p:sp>
        <p:nvSpPr>
          <p:cNvPr id="38" name="rule-rvv-3-rank">
            <a:extLst>
              <a:ext uri="{FF2B5EF4-FFF2-40B4-BE49-F238E27FC236}">
                <a16:creationId xmlns:a16="http://schemas.microsoft.com/office/drawing/2014/main" id="{BC23706C-D096-49B9-BF6E-2D667716A79D}"/>
              </a:ext>
            </a:extLst>
          </p:cNvPr>
          <p:cNvSpPr>
            <a:spLocks noGrp="1"/>
          </p:cNvSpPr>
          <p:nvPr/>
        </p:nvSpPr>
        <p:spPr>
          <a:xfrm>
            <a:off x="6581775" y="36126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3</a:t>
            </a:r>
          </a:p>
        </p:txBody>
      </p:sp>
      <p:sp>
        <p:nvSpPr>
          <p:cNvPr id="39" name="rule-rvv-3-pattern">
            <a:extLst>
              <a:ext uri="{FF2B5EF4-FFF2-40B4-BE49-F238E27FC236}">
                <a16:creationId xmlns:a16="http://schemas.microsoft.com/office/drawing/2014/main" id="{03703D47-8B79-4A74-A005-5D985A06D48C}"/>
              </a:ext>
            </a:extLst>
          </p:cNvPr>
          <p:cNvSpPr>
            <a:spLocks noGrp="1"/>
          </p:cNvSpPr>
          <p:nvPr/>
        </p:nvSpPr>
        <p:spPr>
          <a:xfrm>
            <a:off x="6943725" y="35745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Moist post-flowering + low heat</a:t>
            </a:r>
          </a:p>
        </p:txBody>
      </p:sp>
      <p:sp>
        <p:nvSpPr>
          <p:cNvPr id="40" name="rule-rvv-3-delta">
            <a:extLst>
              <a:ext uri="{FF2B5EF4-FFF2-40B4-BE49-F238E27FC236}">
                <a16:creationId xmlns:a16="http://schemas.microsoft.com/office/drawing/2014/main" id="{9E81AC55-F369-464A-B839-6D05261A07F8}"/>
              </a:ext>
            </a:extLst>
          </p:cNvPr>
          <p:cNvSpPr>
            <a:spLocks noGrp="1"/>
          </p:cNvSpPr>
          <p:nvPr/>
        </p:nvSpPr>
        <p:spPr>
          <a:xfrm>
            <a:off x="10182225" y="35840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-365 mhl</a:t>
            </a:r>
          </a:p>
        </p:txBody>
      </p:sp>
      <p:sp>
        <p:nvSpPr>
          <p:cNvPr id="41" name="rule-rvv-3-support">
            <a:extLst>
              <a:ext uri="{FF2B5EF4-FFF2-40B4-BE49-F238E27FC236}">
                <a16:creationId xmlns:a16="http://schemas.microsoft.com/office/drawing/2014/main" id="{43ABB15C-4475-4CB9-AC06-320D871F3853}"/>
              </a:ext>
            </a:extLst>
          </p:cNvPr>
          <p:cNvSpPr>
            <a:spLocks noGrp="1"/>
          </p:cNvSpPr>
          <p:nvPr/>
        </p:nvSpPr>
        <p:spPr>
          <a:xfrm>
            <a:off x="6943725" y="38031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27.5% support · p=0.0294</a:t>
            </a:r>
          </a:p>
        </p:txBody>
      </p:sp>
      <p:sp>
        <p:nvSpPr>
          <p:cNvPr id="42" name="rule-rvv-4-rank">
            <a:extLst>
              <a:ext uri="{FF2B5EF4-FFF2-40B4-BE49-F238E27FC236}">
                <a16:creationId xmlns:a16="http://schemas.microsoft.com/office/drawing/2014/main" id="{7375654A-DC75-4FD7-8413-22DDF5606C78}"/>
              </a:ext>
            </a:extLst>
          </p:cNvPr>
          <p:cNvSpPr>
            <a:spLocks noGrp="1"/>
          </p:cNvSpPr>
          <p:nvPr/>
        </p:nvSpPr>
        <p:spPr>
          <a:xfrm>
            <a:off x="6581775" y="40317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4</a:t>
            </a:r>
          </a:p>
        </p:txBody>
      </p:sp>
      <p:sp>
        <p:nvSpPr>
          <p:cNvPr id="43" name="rule-rvv-4-pattern">
            <a:extLst>
              <a:ext uri="{FF2B5EF4-FFF2-40B4-BE49-F238E27FC236}">
                <a16:creationId xmlns:a16="http://schemas.microsoft.com/office/drawing/2014/main" id="{F0703326-34FD-4E0C-945A-3E0C98EC6E20}"/>
              </a:ext>
            </a:extLst>
          </p:cNvPr>
          <p:cNvSpPr>
            <a:spLocks noGrp="1"/>
          </p:cNvSpPr>
          <p:nvPr/>
        </p:nvSpPr>
        <p:spPr>
          <a:xfrm>
            <a:off x="6943725" y="39936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Warm prior budburst + mild flowering</a:t>
            </a:r>
          </a:p>
        </p:txBody>
      </p:sp>
      <p:sp>
        <p:nvSpPr>
          <p:cNvPr id="44" name="rule-rvv-4-delta">
            <a:extLst>
              <a:ext uri="{FF2B5EF4-FFF2-40B4-BE49-F238E27FC236}">
                <a16:creationId xmlns:a16="http://schemas.microsoft.com/office/drawing/2014/main" id="{7FBDE785-9B3A-4AF6-8BB7-62F653682300}"/>
              </a:ext>
            </a:extLst>
          </p:cNvPr>
          <p:cNvSpPr>
            <a:spLocks noGrp="1"/>
          </p:cNvSpPr>
          <p:nvPr/>
        </p:nvSpPr>
        <p:spPr>
          <a:xfrm>
            <a:off x="10182225" y="4003174"/>
            <a:ext cx="1066800" cy="228600"/>
          </a:xfrm>
          <a:prstGeom prst="rect">
            <a:avLst/>
          </a:prstGeom>
          <a:noFill/>
          <a:ln w="0">
            <a:noFill/>
            <a:prstDash val="solid"/>
          </a:ln>
        </p:spPr>
        <p:txBody>
          <a:bodyPr/>
          <a:lstStyle/>
          <a:p>
            <a:pPr algn="r">
              <a:buNone/>
              <a:defRPr sz="1125" b="1">
                <a:solidFill>
                  <a:srgbClr val="146C43"/>
                </a:solidFill>
                <a:latin typeface="Arial"/>
                <a:ea typeface="Arial"/>
                <a:cs typeface="Arial"/>
              </a:defRPr>
            </a:pPr>
            <a:r>
              <a:rPr sz="1125" b="1">
                <a:solidFill>
                  <a:srgbClr val="146C43"/>
                </a:solidFill>
                <a:latin typeface="Arial"/>
                <a:ea typeface="Arial"/>
                <a:cs typeface="Arial"/>
              </a:rPr>
              <a:t>+311 mhl</a:t>
            </a:r>
          </a:p>
        </p:txBody>
      </p:sp>
      <p:sp>
        <p:nvSpPr>
          <p:cNvPr id="45" name="rule-rvv-4-support">
            <a:extLst>
              <a:ext uri="{FF2B5EF4-FFF2-40B4-BE49-F238E27FC236}">
                <a16:creationId xmlns:a16="http://schemas.microsoft.com/office/drawing/2014/main" id="{B8374B38-8FDB-4D74-86FF-CCA1FA2DAEFF}"/>
              </a:ext>
            </a:extLst>
          </p:cNvPr>
          <p:cNvSpPr>
            <a:spLocks noGrp="1"/>
          </p:cNvSpPr>
          <p:nvPr/>
        </p:nvSpPr>
        <p:spPr>
          <a:xfrm>
            <a:off x="6943725" y="42222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25.0% support · p=0.0298</a:t>
            </a:r>
          </a:p>
        </p:txBody>
      </p:sp>
      <p:sp>
        <p:nvSpPr>
          <p:cNvPr id="46" name="rule-rvv-5-rank">
            <a:extLst>
              <a:ext uri="{FF2B5EF4-FFF2-40B4-BE49-F238E27FC236}">
                <a16:creationId xmlns:a16="http://schemas.microsoft.com/office/drawing/2014/main" id="{254E947A-560F-4CF9-A71D-7350BAE8F025}"/>
              </a:ext>
            </a:extLst>
          </p:cNvPr>
          <p:cNvSpPr>
            <a:spLocks noGrp="1"/>
          </p:cNvSpPr>
          <p:nvPr/>
        </p:nvSpPr>
        <p:spPr>
          <a:xfrm>
            <a:off x="6581775" y="4450849"/>
            <a:ext cx="266700" cy="228600"/>
          </a:xfrm>
          <a:prstGeom prst="rect">
            <a:avLst/>
          </a:prstGeom>
          <a:noFill/>
          <a:ln w="0">
            <a:noFill/>
            <a:prstDash val="solid"/>
          </a:ln>
        </p:spPr>
        <p:txBody>
          <a:bodyPr/>
          <a:lstStyle/>
          <a:p>
            <a:pPr algn="ctr">
              <a:buNone/>
              <a:defRPr sz="975" b="1">
                <a:solidFill>
                  <a:srgbClr val="7B1E3A"/>
                </a:solidFill>
                <a:latin typeface="Arial"/>
                <a:ea typeface="Arial"/>
                <a:cs typeface="Arial"/>
              </a:defRPr>
            </a:pPr>
            <a:r>
              <a:rPr sz="975" b="1">
                <a:solidFill>
                  <a:srgbClr val="7B1E3A"/>
                </a:solidFill>
                <a:latin typeface="Arial"/>
                <a:ea typeface="Arial"/>
                <a:cs typeface="Arial"/>
              </a:rPr>
              <a:t>5</a:t>
            </a:r>
          </a:p>
        </p:txBody>
      </p:sp>
      <p:sp>
        <p:nvSpPr>
          <p:cNvPr id="47" name="rule-rvv-5-pattern">
            <a:extLst>
              <a:ext uri="{FF2B5EF4-FFF2-40B4-BE49-F238E27FC236}">
                <a16:creationId xmlns:a16="http://schemas.microsoft.com/office/drawing/2014/main" id="{E448A1AD-71F7-4D75-8D6D-6ADBACFDC21F}"/>
              </a:ext>
            </a:extLst>
          </p:cNvPr>
          <p:cNvSpPr>
            <a:spLocks noGrp="1"/>
          </p:cNvSpPr>
          <p:nvPr/>
        </p:nvSpPr>
        <p:spPr>
          <a:xfrm>
            <a:off x="6943725" y="4412749"/>
            <a:ext cx="3143250" cy="295275"/>
          </a:xfrm>
          <a:prstGeom prst="rect">
            <a:avLst/>
          </a:prstGeom>
          <a:noFill/>
          <a:ln w="0">
            <a:noFill/>
            <a:prstDash val="solid"/>
          </a:ln>
        </p:spPr>
        <p:txBody>
          <a:bodyPr/>
          <a:lstStyle/>
          <a:p>
            <a:pPr>
              <a:buNone/>
              <a:defRPr sz="1163" b="1">
                <a:solidFill>
                  <a:srgbClr val="111111"/>
                </a:solidFill>
                <a:latin typeface="Arial"/>
                <a:ea typeface="Arial"/>
                <a:cs typeface="Arial"/>
              </a:defRPr>
            </a:pPr>
            <a:r>
              <a:rPr sz="1163" b="1">
                <a:solidFill>
                  <a:srgbClr val="111111"/>
                </a:solidFill>
                <a:latin typeface="Arial"/>
                <a:ea typeface="Arial"/>
                <a:cs typeface="Arial"/>
              </a:rPr>
              <a:t>Cool post-flowering + wet carry-over</a:t>
            </a:r>
          </a:p>
        </p:txBody>
      </p:sp>
      <p:sp>
        <p:nvSpPr>
          <p:cNvPr id="48" name="rule-rvv-5-delta">
            <a:extLst>
              <a:ext uri="{FF2B5EF4-FFF2-40B4-BE49-F238E27FC236}">
                <a16:creationId xmlns:a16="http://schemas.microsoft.com/office/drawing/2014/main" id="{E15D61DB-9A5A-4AA1-ADD4-7483AE220458}"/>
              </a:ext>
            </a:extLst>
          </p:cNvPr>
          <p:cNvSpPr>
            <a:spLocks noGrp="1"/>
          </p:cNvSpPr>
          <p:nvPr/>
        </p:nvSpPr>
        <p:spPr>
          <a:xfrm>
            <a:off x="10182225" y="4422274"/>
            <a:ext cx="1066800" cy="228600"/>
          </a:xfrm>
          <a:prstGeom prst="rect">
            <a:avLst/>
          </a:prstGeom>
          <a:noFill/>
          <a:ln w="0">
            <a:noFill/>
            <a:prstDash val="solid"/>
          </a:ln>
        </p:spPr>
        <p:txBody>
          <a:bodyPr/>
          <a:lstStyle/>
          <a:p>
            <a:pPr algn="r">
              <a:buNone/>
              <a:defRPr sz="1125" b="1">
                <a:solidFill>
                  <a:srgbClr val="7B1E3A"/>
                </a:solidFill>
                <a:latin typeface="Arial"/>
                <a:ea typeface="Arial"/>
                <a:cs typeface="Arial"/>
              </a:defRPr>
            </a:pPr>
            <a:r>
              <a:rPr sz="1125" b="1">
                <a:solidFill>
                  <a:srgbClr val="7B1E3A"/>
                </a:solidFill>
                <a:latin typeface="Arial"/>
                <a:ea typeface="Arial"/>
                <a:cs typeface="Arial"/>
              </a:rPr>
              <a:t>-292 mhl</a:t>
            </a:r>
          </a:p>
        </p:txBody>
      </p:sp>
      <p:sp>
        <p:nvSpPr>
          <p:cNvPr id="49" name="rule-rvv-5-support">
            <a:extLst>
              <a:ext uri="{FF2B5EF4-FFF2-40B4-BE49-F238E27FC236}">
                <a16:creationId xmlns:a16="http://schemas.microsoft.com/office/drawing/2014/main" id="{4C8426F4-53AD-4FFF-9552-78ABA5ADDFEC}"/>
              </a:ext>
            </a:extLst>
          </p:cNvPr>
          <p:cNvSpPr>
            <a:spLocks noGrp="1"/>
          </p:cNvSpPr>
          <p:nvPr/>
        </p:nvSpPr>
        <p:spPr>
          <a:xfrm>
            <a:off x="6943725" y="4641349"/>
            <a:ext cx="4305300" cy="171450"/>
          </a:xfrm>
          <a:prstGeom prst="rect">
            <a:avLst/>
          </a:prstGeom>
          <a:noFill/>
          <a:ln w="0">
            <a:noFill/>
            <a:prstDash val="solid"/>
          </a:ln>
        </p:spPr>
        <p:txBody>
          <a:bodyPr/>
          <a:lstStyle/>
          <a:p>
            <a:pPr>
              <a:buNone/>
              <a:defRPr sz="788">
                <a:solidFill>
                  <a:srgbClr val="5E6670"/>
                </a:solidFill>
                <a:latin typeface="Arial"/>
                <a:ea typeface="Arial"/>
                <a:cs typeface="Arial"/>
              </a:defRPr>
            </a:pPr>
            <a:r>
              <a:rPr sz="788">
                <a:solidFill>
                  <a:srgbClr val="5E6670"/>
                </a:solidFill>
                <a:latin typeface="Arial"/>
                <a:ea typeface="Arial"/>
                <a:cs typeface="Arial"/>
              </a:rPr>
              <a:t>23.8% support · p=0.0299</a:t>
            </a:r>
          </a:p>
        </p:txBody>
      </p:sp>
      <p:sp>
        <p:nvSpPr>
          <p:cNvPr id="50" name="finding-band">
            <a:extLst>
              <a:ext uri="{FF2B5EF4-FFF2-40B4-BE49-F238E27FC236}">
                <a16:creationId xmlns:a16="http://schemas.microsoft.com/office/drawing/2014/main" id="{1C3A083A-E546-4493-B335-10679EDF5198}"/>
              </a:ext>
            </a:extLst>
          </p:cNvPr>
          <p:cNvSpPr>
            <a:spLocks noGrp="1"/>
          </p:cNvSpPr>
          <p:nvPr/>
        </p:nvSpPr>
        <p:spPr>
          <a:xfrm>
            <a:off x="400050" y="5219700"/>
            <a:ext cx="11382375" cy="838200"/>
          </a:xfrm>
          <a:prstGeom prst="rect">
            <a:avLst/>
          </a:prstGeom>
          <a:solidFill>
            <a:srgbClr val="EAF5EE"/>
          </a:solidFill>
          <a:ln w="0">
            <a:noFill/>
            <a:prstDash val="solid"/>
          </a:ln>
        </p:spPr>
        <p:txBody>
          <a:bodyPr/>
          <a:lstStyle/>
          <a:p>
            <a:endParaRPr/>
          </a:p>
        </p:txBody>
      </p:sp>
      <p:sp>
        <p:nvSpPr>
          <p:cNvPr id="51" name="finding-label">
            <a:extLst>
              <a:ext uri="{FF2B5EF4-FFF2-40B4-BE49-F238E27FC236}">
                <a16:creationId xmlns:a16="http://schemas.microsoft.com/office/drawing/2014/main" id="{D9F203B8-1FF5-4513-B24D-F012E26663F0}"/>
              </a:ext>
            </a:extLst>
          </p:cNvPr>
          <p:cNvSpPr>
            <a:spLocks noGrp="1"/>
          </p:cNvSpPr>
          <p:nvPr/>
        </p:nvSpPr>
        <p:spPr>
          <a:xfrm>
            <a:off x="714375" y="5222374"/>
            <a:ext cx="2476500" cy="24765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finding</a:t>
            </a:r>
          </a:p>
        </p:txBody>
      </p:sp>
      <p:sp>
        <p:nvSpPr>
          <p:cNvPr id="52" name="finding-main">
            <a:extLst>
              <a:ext uri="{FF2B5EF4-FFF2-40B4-BE49-F238E27FC236}">
                <a16:creationId xmlns:a16="http://schemas.microsoft.com/office/drawing/2014/main" id="{35900B4E-D9F9-4FB9-A88C-0B4F32F146D5}"/>
              </a:ext>
            </a:extLst>
          </p:cNvPr>
          <p:cNvSpPr>
            <a:spLocks noGrp="1"/>
          </p:cNvSpPr>
          <p:nvPr/>
        </p:nvSpPr>
        <p:spPr>
          <a:xfrm>
            <a:off x="3000375" y="5193799"/>
            <a:ext cx="8143875" cy="285750"/>
          </a:xfrm>
          <a:prstGeom prst="rect">
            <a:avLst/>
          </a:prstGeom>
          <a:noFill/>
          <a:ln w="0">
            <a:noFill/>
            <a:prstDash val="solid"/>
          </a:ln>
        </p:spPr>
        <p:txBody>
          <a:bodyPr/>
          <a:lstStyle/>
          <a:p>
            <a:pPr algn="ctr">
              <a:buNone/>
              <a:defRPr sz="1650" b="1">
                <a:solidFill>
                  <a:srgbClr val="111111"/>
                </a:solidFill>
                <a:latin typeface="Arial"/>
                <a:ea typeface="Arial"/>
                <a:cs typeface="Arial"/>
              </a:defRPr>
            </a:pPr>
            <a:r>
              <a:rPr sz="1650" b="1">
                <a:solidFill>
                  <a:srgbClr val="111111"/>
                </a:solidFill>
                <a:latin typeface="Arial"/>
                <a:ea typeface="Arial"/>
                <a:cs typeface="Arial"/>
              </a:rPr>
              <a:t>Across methods: harvest soil water and LAI/canopy survive.</a:t>
            </a:r>
          </a:p>
        </p:txBody>
      </p:sp>
      <p:sp>
        <p:nvSpPr>
          <p:cNvPr id="53" name="finding-sub">
            <a:extLst>
              <a:ext uri="{FF2B5EF4-FFF2-40B4-BE49-F238E27FC236}">
                <a16:creationId xmlns:a16="http://schemas.microsoft.com/office/drawing/2014/main" id="{AD1D53EE-DDC3-4E95-8F09-D56532736205}"/>
              </a:ext>
            </a:extLst>
          </p:cNvPr>
          <p:cNvSpPr>
            <a:spLocks noGrp="1"/>
          </p:cNvSpPr>
          <p:nvPr/>
        </p:nvSpPr>
        <p:spPr>
          <a:xfrm>
            <a:off x="1666875" y="5622424"/>
            <a:ext cx="8953500" cy="209550"/>
          </a:xfrm>
          <a:prstGeom prst="rect">
            <a:avLst/>
          </a:prstGeom>
          <a:noFill/>
          <a:ln w="0">
            <a:noFill/>
            <a:prstDash val="solid"/>
          </a:ln>
        </p:spPr>
        <p:txBody>
          <a:bodyPr/>
          <a:lstStyle/>
          <a:p>
            <a:pPr algn="ctr">
              <a:buNone/>
              <a:defRPr sz="1013">
                <a:solidFill>
                  <a:srgbClr val="5E6670"/>
                </a:solidFill>
                <a:latin typeface="Arial"/>
                <a:ea typeface="Arial"/>
                <a:cs typeface="Arial"/>
              </a:defRPr>
            </a:pPr>
            <a:r>
              <a:rPr sz="1013">
                <a:solidFill>
                  <a:srgbClr val="5E6670"/>
                </a:solidFill>
                <a:latin typeface="Arial"/>
                <a:ea typeface="Arial"/>
                <a:cs typeface="Arial"/>
              </a:rPr>
              <a:t>CarenR, RIPPER and M5Rules all select them, so the signal is not tied to one optimisation criterion.</a:t>
            </a:r>
          </a:p>
        </p:txBody>
      </p:sp>
      <p:sp>
        <p:nvSpPr>
          <p:cNvPr id="54" name="source">
            <a:extLst>
              <a:ext uri="{FF2B5EF4-FFF2-40B4-BE49-F238E27FC236}">
                <a16:creationId xmlns:a16="http://schemas.microsoft.com/office/drawing/2014/main" id="{1603C280-F355-46FB-A1B0-69AD0ABC7977}"/>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Tables 4.1-4.2 and 4.9</a:t>
            </a:r>
          </a:p>
        </p:txBody>
      </p:sp>
      <p:sp>
        <p:nvSpPr>
          <p:cNvPr id="55" name="slide-number">
            <a:extLst>
              <a:ext uri="{FF2B5EF4-FFF2-40B4-BE49-F238E27FC236}">
                <a16:creationId xmlns:a16="http://schemas.microsoft.com/office/drawing/2014/main" id="{3EAB9F83-A019-4CC3-B7E0-33987C3A751C}"/>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12</a:t>
            </a:r>
          </a:p>
        </p:txBody>
      </p:sp>
      <p:sp>
        <p:nvSpPr>
          <p:cNvPr id="57" name="exact-rules-cover">
            <a:extLst>
              <a:ext uri="{FF2B5EF4-FFF2-40B4-BE49-F238E27FC236}">
                <a16:creationId xmlns:a16="http://schemas.microsoft.com/office/drawing/2014/main" id="{A480573E-B841-4873-9728-D5491786324E}"/>
              </a:ext>
            </a:extLst>
          </p:cNvPr>
          <p:cNvSpPr>
            <a:spLocks noGrp="1"/>
          </p:cNvSpPr>
          <p:nvPr/>
        </p:nvSpPr>
        <p:spPr>
          <a:xfrm>
            <a:off x="0" y="269374"/>
            <a:ext cx="12192000" cy="6858000"/>
          </a:xfrm>
          <a:prstGeom prst="rect">
            <a:avLst/>
          </a:prstGeom>
          <a:solidFill>
            <a:srgbClr val="FFFFFF"/>
          </a:solidFill>
          <a:ln w="0">
            <a:noFill/>
            <a:prstDash val="solid"/>
          </a:ln>
        </p:spPr>
        <p:txBody>
          <a:bodyPr/>
          <a:lstStyle/>
          <a:p>
            <a:endParaRPr lang="en-US"/>
          </a:p>
        </p:txBody>
      </p:sp>
      <p:sp>
        <p:nvSpPr>
          <p:cNvPr id="58" name="exact-section-label">
            <a:extLst>
              <a:ext uri="{FF2B5EF4-FFF2-40B4-BE49-F238E27FC236}">
                <a16:creationId xmlns:a16="http://schemas.microsoft.com/office/drawing/2014/main" id="{BE0BF05B-C3B6-466C-8528-69B5ADCA2E06}"/>
              </a:ext>
            </a:extLst>
          </p:cNvPr>
          <p:cNvSpPr>
            <a:spLocks noGrp="1"/>
          </p:cNvSpPr>
          <p:nvPr/>
        </p:nvSpPr>
        <p:spPr>
          <a:xfrm>
            <a:off x="400050" y="266700"/>
            <a:ext cx="4000500" cy="228600"/>
          </a:xfrm>
          <a:prstGeom prst="rect">
            <a:avLst/>
          </a:prstGeom>
          <a:noFill/>
          <a:ln w="0">
            <a:noFill/>
            <a:prstDash val="solid"/>
          </a:ln>
        </p:spPr>
        <p:txBody>
          <a:bodyPr/>
          <a:lstStyle/>
          <a:p>
            <a:pPr>
              <a:defRPr sz="1125" b="1">
                <a:solidFill>
                  <a:srgbClr val="7B1E3A"/>
                </a:solidFill>
                <a:latin typeface="Arial"/>
                <a:ea typeface="Arial"/>
                <a:cs typeface="Arial"/>
              </a:defRPr>
            </a:pPr>
            <a:r>
              <a:rPr sz="1125" b="1">
                <a:solidFill>
                  <a:srgbClr val="7B1E3A"/>
                </a:solidFill>
                <a:latin typeface="Arial"/>
                <a:ea typeface="Arial"/>
                <a:cs typeface="Arial"/>
              </a:rPr>
              <a:t>RESULTS · RULES</a:t>
            </a:r>
          </a:p>
        </p:txBody>
      </p:sp>
      <p:sp>
        <p:nvSpPr>
          <p:cNvPr id="59" name="exact-title">
            <a:extLst>
              <a:ext uri="{FF2B5EF4-FFF2-40B4-BE49-F238E27FC236}">
                <a16:creationId xmlns:a16="http://schemas.microsoft.com/office/drawing/2014/main" id="{3BAFDCF3-4C41-451A-BC46-FFC1121DB351}"/>
              </a:ext>
            </a:extLst>
          </p:cNvPr>
          <p:cNvSpPr>
            <a:spLocks noGrp="1"/>
          </p:cNvSpPr>
          <p:nvPr/>
        </p:nvSpPr>
        <p:spPr>
          <a:xfrm>
            <a:off x="400050" y="552450"/>
            <a:ext cx="9953625" cy="533400"/>
          </a:xfrm>
          <a:prstGeom prst="rect">
            <a:avLst/>
          </a:prstGeom>
          <a:noFill/>
          <a:ln w="0">
            <a:noFill/>
            <a:prstDash val="solid"/>
          </a:ln>
        </p:spPr>
        <p:txBody>
          <a:bodyPr/>
          <a:lstStyle/>
          <a:p>
            <a:pPr>
              <a:defRPr sz="2400" b="1">
                <a:solidFill>
                  <a:srgbClr val="111111"/>
                </a:solidFill>
                <a:latin typeface="Arial"/>
                <a:ea typeface="Arial"/>
                <a:cs typeface="Arial"/>
              </a:defRPr>
            </a:pPr>
            <a:r>
              <a:rPr sz="2400" b="1">
                <a:solidFill>
                  <a:srgbClr val="111111"/>
                </a:solidFill>
                <a:latin typeface="Arial"/>
                <a:ea typeface="Arial"/>
                <a:cs typeface="Arial"/>
              </a:rPr>
              <a:t>Exact CarenR rule output: intervals behind the top rules</a:t>
            </a:r>
          </a:p>
        </p:txBody>
      </p:sp>
      <p:sp>
        <p:nvSpPr>
          <p:cNvPr id="60" name="exact-subtitle">
            <a:extLst>
              <a:ext uri="{FF2B5EF4-FFF2-40B4-BE49-F238E27FC236}">
                <a16:creationId xmlns:a16="http://schemas.microsoft.com/office/drawing/2014/main" id="{178CD848-CA37-4AC5-B49D-517C5D6EFF33}"/>
              </a:ext>
            </a:extLst>
          </p:cNvPr>
          <p:cNvSpPr>
            <a:spLocks noGrp="1"/>
          </p:cNvSpPr>
          <p:nvPr/>
        </p:nvSpPr>
        <p:spPr>
          <a:xfrm>
            <a:off x="400050" y="1066800"/>
            <a:ext cx="9334500" cy="228600"/>
          </a:xfrm>
          <a:prstGeom prst="rect">
            <a:avLst/>
          </a:prstGeom>
          <a:noFill/>
          <a:ln w="0">
            <a:noFill/>
            <a:prstDash val="solid"/>
          </a:ln>
        </p:spPr>
        <p:txBody>
          <a:bodyPr/>
          <a:lstStyle/>
          <a:p>
            <a:pPr>
              <a:defRPr sz="1050">
                <a:solidFill>
                  <a:srgbClr val="59636E"/>
                </a:solidFill>
                <a:latin typeface="Arial"/>
                <a:ea typeface="Arial"/>
                <a:cs typeface="Arial"/>
              </a:defRPr>
            </a:pPr>
            <a:r>
              <a:rPr sz="1050">
                <a:solidFill>
                  <a:srgbClr val="59636E"/>
                </a:solidFill>
                <a:latin typeface="Arial"/>
                <a:ea typeface="Arial"/>
                <a:cs typeface="Arial"/>
              </a:rPr>
              <a:t>Each row is an IF condition set; Delta is the median production residual shift from trend.</a:t>
            </a:r>
          </a:p>
        </p:txBody>
      </p:sp>
      <p:sp>
        <p:nvSpPr>
          <p:cNvPr id="61" name="DOURO (RDD) · top 5 exact rules-panel">
            <a:extLst>
              <a:ext uri="{FF2B5EF4-FFF2-40B4-BE49-F238E27FC236}">
                <a16:creationId xmlns:a16="http://schemas.microsoft.com/office/drawing/2014/main" id="{D8EA5858-5C67-48F3-9058-BA494E57D01B}"/>
              </a:ext>
            </a:extLst>
          </p:cNvPr>
          <p:cNvSpPr>
            <a:spLocks noGrp="1"/>
          </p:cNvSpPr>
          <p:nvPr/>
        </p:nvSpPr>
        <p:spPr>
          <a:xfrm>
            <a:off x="361950" y="1612399"/>
            <a:ext cx="5476875" cy="3952875"/>
          </a:xfrm>
          <a:prstGeom prst="rect">
            <a:avLst/>
          </a:prstGeom>
          <a:solidFill>
            <a:schemeClr val="bg1">
              <a:lumMod val="95000"/>
            </a:schemeClr>
          </a:solidFill>
          <a:ln w="0">
            <a:noFill/>
            <a:prstDash val="solid"/>
          </a:ln>
        </p:spPr>
        <p:txBody>
          <a:bodyPr/>
          <a:lstStyle/>
          <a:p>
            <a:endParaRPr lang="en-US"/>
          </a:p>
        </p:txBody>
      </p:sp>
      <p:sp>
        <p:nvSpPr>
          <p:cNvPr id="62" name="DOURO (RDD) · top 5 exact rules-title">
            <a:extLst>
              <a:ext uri="{FF2B5EF4-FFF2-40B4-BE49-F238E27FC236}">
                <a16:creationId xmlns:a16="http://schemas.microsoft.com/office/drawing/2014/main" id="{CC3BEF31-F023-4685-A7F5-96F9C5B51CB0}"/>
              </a:ext>
            </a:extLst>
          </p:cNvPr>
          <p:cNvSpPr>
            <a:spLocks noGrp="1"/>
          </p:cNvSpPr>
          <p:nvPr/>
        </p:nvSpPr>
        <p:spPr>
          <a:xfrm>
            <a:off x="590550" y="1821949"/>
            <a:ext cx="5019675" cy="209550"/>
          </a:xfrm>
          <a:prstGeom prst="rect">
            <a:avLst/>
          </a:prstGeom>
          <a:noFill/>
          <a:ln w="0">
            <a:noFill/>
            <a:prstDash val="solid"/>
          </a:ln>
        </p:spPr>
        <p:txBody>
          <a:bodyPr/>
          <a:lstStyle/>
          <a:p>
            <a:pPr>
              <a:defRPr sz="1088" b="1">
                <a:solidFill>
                  <a:srgbClr val="1E6F9F"/>
                </a:solidFill>
                <a:latin typeface="Arial"/>
                <a:ea typeface="Arial"/>
                <a:cs typeface="Arial"/>
              </a:defRPr>
            </a:pPr>
            <a:r>
              <a:rPr sz="1088" b="1">
                <a:solidFill>
                  <a:srgbClr val="1E6F9F"/>
                </a:solidFill>
                <a:latin typeface="Arial"/>
                <a:ea typeface="Arial"/>
                <a:cs typeface="Arial"/>
              </a:rPr>
              <a:t>DOURO (RDD) · top 5 exact rules</a:t>
            </a:r>
          </a:p>
        </p:txBody>
      </p:sp>
      <p:sp>
        <p:nvSpPr>
          <p:cNvPr id="63" name="DOURO (RDD) · top 5 exact rules-subtitle">
            <a:extLst>
              <a:ext uri="{FF2B5EF4-FFF2-40B4-BE49-F238E27FC236}">
                <a16:creationId xmlns:a16="http://schemas.microsoft.com/office/drawing/2014/main" id="{E4194728-3401-4413-8808-4DD6EAF12DD2}"/>
              </a:ext>
            </a:extLst>
          </p:cNvPr>
          <p:cNvSpPr>
            <a:spLocks noGrp="1"/>
          </p:cNvSpPr>
          <p:nvPr/>
        </p:nvSpPr>
        <p:spPr>
          <a:xfrm>
            <a:off x="590550" y="2069599"/>
            <a:ext cx="5019675" cy="342900"/>
          </a:xfrm>
          <a:prstGeom prst="rect">
            <a:avLst/>
          </a:prstGeom>
          <a:noFill/>
          <a:ln w="0">
            <a:noFill/>
            <a:prstDash val="solid"/>
          </a:ln>
        </p:spPr>
        <p:txBody>
          <a:bodyPr/>
          <a:lstStyle/>
          <a:p>
            <a:pPr>
              <a:defRPr sz="990" b="1">
                <a:solidFill>
                  <a:srgbClr val="111111"/>
                </a:solidFill>
                <a:latin typeface="Arial"/>
                <a:ea typeface="Arial"/>
                <a:cs typeface="Arial"/>
              </a:defRPr>
            </a:pPr>
            <a:r>
              <a:rPr sz="990" b="1">
                <a:solidFill>
                  <a:srgbClr val="111111"/>
                </a:solidFill>
                <a:latin typeface="Arial"/>
                <a:ea typeface="Arial"/>
                <a:cs typeface="Arial"/>
              </a:rPr>
              <a:t>Mostly above-trend: dry post-flowering / maturity windows and bounded heat.</a:t>
            </a:r>
          </a:p>
        </p:txBody>
      </p:sp>
      <p:sp>
        <p:nvSpPr>
          <p:cNvPr id="64" name="DOURO (RDD) · top 5 exact rules-header">
            <a:extLst>
              <a:ext uri="{FF2B5EF4-FFF2-40B4-BE49-F238E27FC236}">
                <a16:creationId xmlns:a16="http://schemas.microsoft.com/office/drawing/2014/main" id="{B6F6ECC0-2208-4D1E-A93D-CA2EE861AC74}"/>
              </a:ext>
            </a:extLst>
          </p:cNvPr>
          <p:cNvSpPr>
            <a:spLocks noGrp="1"/>
          </p:cNvSpPr>
          <p:nvPr/>
        </p:nvSpPr>
        <p:spPr>
          <a:xfrm>
            <a:off x="533400" y="2498224"/>
            <a:ext cx="5133975" cy="247650"/>
          </a:xfrm>
          <a:prstGeom prst="rect">
            <a:avLst/>
          </a:prstGeom>
          <a:solidFill>
            <a:srgbClr val="FFFFFF"/>
          </a:solidFill>
          <a:ln w="9525">
            <a:solidFill>
              <a:srgbClr val="D6D1CB"/>
            </a:solidFill>
            <a:prstDash val="solid"/>
          </a:ln>
        </p:spPr>
        <p:txBody>
          <a:bodyPr/>
          <a:lstStyle/>
          <a:p>
            <a:endParaRPr lang="en-US"/>
          </a:p>
        </p:txBody>
      </p:sp>
      <p:sp>
        <p:nvSpPr>
          <p:cNvPr id="65" name="DOURO (RDD) · top 5 exact rules-h1">
            <a:extLst>
              <a:ext uri="{FF2B5EF4-FFF2-40B4-BE49-F238E27FC236}">
                <a16:creationId xmlns:a16="http://schemas.microsoft.com/office/drawing/2014/main" id="{51B7EED1-975E-4FB4-9DC5-9CEA58FFA31E}"/>
              </a:ext>
            </a:extLst>
          </p:cNvPr>
          <p:cNvSpPr>
            <a:spLocks noGrp="1"/>
          </p:cNvSpPr>
          <p:nvPr/>
        </p:nvSpPr>
        <p:spPr>
          <a:xfrm>
            <a:off x="590550" y="2545849"/>
            <a:ext cx="247650" cy="152400"/>
          </a:xfrm>
          <a:prstGeom prst="rect">
            <a:avLst/>
          </a:prstGeom>
          <a:noFill/>
          <a:ln w="0">
            <a:noFill/>
            <a:prstDash val="solid"/>
          </a:ln>
        </p:spPr>
        <p:txBody>
          <a:bodyPr/>
          <a:lstStyle/>
          <a:p>
            <a:pPr algn="ctr">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66" name="DOURO (RDD) · top 5 exact rules-h2">
            <a:extLst>
              <a:ext uri="{FF2B5EF4-FFF2-40B4-BE49-F238E27FC236}">
                <a16:creationId xmlns:a16="http://schemas.microsoft.com/office/drawing/2014/main" id="{7A72DB73-F4F2-48FE-A952-BD1BE402DC03}"/>
              </a:ext>
            </a:extLst>
          </p:cNvPr>
          <p:cNvSpPr>
            <a:spLocks noGrp="1"/>
          </p:cNvSpPr>
          <p:nvPr/>
        </p:nvSpPr>
        <p:spPr>
          <a:xfrm>
            <a:off x="914400" y="2545849"/>
            <a:ext cx="3524250" cy="152400"/>
          </a:xfrm>
          <a:prstGeom prst="rect">
            <a:avLst/>
          </a:prstGeom>
          <a:noFill/>
          <a:ln w="0">
            <a:noFill/>
            <a:prstDash val="solid"/>
          </a:ln>
        </p:spPr>
        <p:txBody>
          <a:bodyPr/>
          <a:lstStyle/>
          <a:p>
            <a:pPr>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67" name="DOURO (RDD) · top 5 exact rules-h3">
            <a:extLst>
              <a:ext uri="{FF2B5EF4-FFF2-40B4-BE49-F238E27FC236}">
                <a16:creationId xmlns:a16="http://schemas.microsoft.com/office/drawing/2014/main" id="{C2B61C94-65FF-4D8B-925E-3FC1EDBB223E}"/>
              </a:ext>
            </a:extLst>
          </p:cNvPr>
          <p:cNvSpPr>
            <a:spLocks noGrp="1"/>
          </p:cNvSpPr>
          <p:nvPr/>
        </p:nvSpPr>
        <p:spPr>
          <a:xfrm>
            <a:off x="4457700" y="2545849"/>
            <a:ext cx="666750" cy="152400"/>
          </a:xfrm>
          <a:prstGeom prst="rect">
            <a:avLst/>
          </a:prstGeom>
          <a:noFill/>
          <a:ln w="0">
            <a:noFill/>
            <a:prstDash val="solid"/>
          </a:ln>
        </p:spPr>
        <p:txBody>
          <a:bodyPr/>
          <a:lstStyle/>
          <a:p>
            <a:pPr algn="ctr">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68" name="DOURO (RDD) · top 5 exact rules-h4">
            <a:extLst>
              <a:ext uri="{FF2B5EF4-FFF2-40B4-BE49-F238E27FC236}">
                <a16:creationId xmlns:a16="http://schemas.microsoft.com/office/drawing/2014/main" id="{42BE151A-E0FF-46F6-B487-43D947B9BCCB}"/>
              </a:ext>
            </a:extLst>
          </p:cNvPr>
          <p:cNvSpPr>
            <a:spLocks noGrp="1"/>
          </p:cNvSpPr>
          <p:nvPr/>
        </p:nvSpPr>
        <p:spPr>
          <a:xfrm>
            <a:off x="5172075" y="2545849"/>
            <a:ext cx="428625" cy="152400"/>
          </a:xfrm>
          <a:prstGeom prst="rect">
            <a:avLst/>
          </a:prstGeom>
          <a:noFill/>
          <a:ln w="0">
            <a:noFill/>
            <a:prstDash val="solid"/>
          </a:ln>
        </p:spPr>
        <p:txBody>
          <a:bodyPr/>
          <a:lstStyle/>
          <a:p>
            <a:pPr algn="r">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69" name="DOURO (RDD) · top 5 exact rules-row-1">
            <a:extLst>
              <a:ext uri="{FF2B5EF4-FFF2-40B4-BE49-F238E27FC236}">
                <a16:creationId xmlns:a16="http://schemas.microsoft.com/office/drawing/2014/main" id="{4E2E76A7-D4EB-4FFB-BD56-AF9BF9BCC8A4}"/>
              </a:ext>
            </a:extLst>
          </p:cNvPr>
          <p:cNvSpPr>
            <a:spLocks noGrp="1"/>
          </p:cNvSpPr>
          <p:nvPr/>
        </p:nvSpPr>
        <p:spPr>
          <a:xfrm>
            <a:off x="533400" y="2745874"/>
            <a:ext cx="5133975" cy="542925"/>
          </a:xfrm>
          <a:prstGeom prst="rect">
            <a:avLst/>
          </a:prstGeom>
          <a:solidFill>
            <a:srgbClr val="FFFFFF"/>
          </a:solidFill>
          <a:ln w="9525">
            <a:solidFill>
              <a:srgbClr val="D6D1CB"/>
            </a:solidFill>
            <a:prstDash val="solid"/>
          </a:ln>
        </p:spPr>
        <p:txBody>
          <a:bodyPr/>
          <a:lstStyle/>
          <a:p>
            <a:endParaRPr lang="en-US"/>
          </a:p>
        </p:txBody>
      </p:sp>
      <p:sp>
        <p:nvSpPr>
          <p:cNvPr id="70" name="DOURO (RDD) · top 5 exact rules-rank-1">
            <a:extLst>
              <a:ext uri="{FF2B5EF4-FFF2-40B4-BE49-F238E27FC236}">
                <a16:creationId xmlns:a16="http://schemas.microsoft.com/office/drawing/2014/main" id="{1CFC4AF2-4349-4453-8504-0B83A595E410}"/>
              </a:ext>
            </a:extLst>
          </p:cNvPr>
          <p:cNvSpPr>
            <a:spLocks noGrp="1"/>
          </p:cNvSpPr>
          <p:nvPr/>
        </p:nvSpPr>
        <p:spPr>
          <a:xfrm>
            <a:off x="590550" y="2822074"/>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71" name="DOURO (RDD) · top 5 exact rules-rule-1">
            <a:extLst>
              <a:ext uri="{FF2B5EF4-FFF2-40B4-BE49-F238E27FC236}">
                <a16:creationId xmlns:a16="http://schemas.microsoft.com/office/drawing/2014/main" id="{0E923B29-4C53-40D9-8E56-732DF19350F0}"/>
              </a:ext>
            </a:extLst>
          </p:cNvPr>
          <p:cNvSpPr>
            <a:spLocks noGrp="1"/>
          </p:cNvSpPr>
          <p:nvPr/>
        </p:nvSpPr>
        <p:spPr>
          <a:xfrm>
            <a:off x="914400" y="2812549"/>
            <a:ext cx="3429000" cy="419100"/>
          </a:xfrm>
          <a:prstGeom prst="rect">
            <a:avLst/>
          </a:prstGeom>
          <a:noFill/>
          <a:ln w="0">
            <a:noFill/>
            <a:prstDash val="solid"/>
          </a:ln>
        </p:spPr>
        <p:txBody>
          <a:bodyPr/>
          <a:lstStyle/>
          <a:p>
            <a:pPr>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defRPr sz="698">
                <a:solidFill>
                  <a:srgbClr val="111111"/>
                </a:solidFill>
                <a:latin typeface="Arial"/>
                <a:ea typeface="Arial"/>
                <a:cs typeface="Arial"/>
              </a:defRPr>
            </a:pPr>
            <a:r>
              <a:rPr sz="698">
                <a:solidFill>
                  <a:srgbClr val="111111"/>
                </a:solidFill>
                <a:latin typeface="Arial"/>
                <a:ea typeface="Arial"/>
                <a:cs typeface="Arial"/>
              </a:rPr>
              <a:t>AND Wet days post-Maturity [0-3.5 d]</a:t>
            </a:r>
          </a:p>
        </p:txBody>
      </p:sp>
      <p:sp>
        <p:nvSpPr>
          <p:cNvPr id="72" name="DOURO (RDD) · top 5 exact rules-stats-1">
            <a:extLst>
              <a:ext uri="{FF2B5EF4-FFF2-40B4-BE49-F238E27FC236}">
                <a16:creationId xmlns:a16="http://schemas.microsoft.com/office/drawing/2014/main" id="{EE8940D4-E953-4845-9B07-36A11A95249C}"/>
              </a:ext>
            </a:extLst>
          </p:cNvPr>
          <p:cNvSpPr>
            <a:spLocks noGrp="1"/>
          </p:cNvSpPr>
          <p:nvPr/>
        </p:nvSpPr>
        <p:spPr>
          <a:xfrm>
            <a:off x="4457700" y="2850649"/>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28.1%</a:t>
            </a:r>
          </a:p>
          <a:p>
            <a:pPr algn="ctr">
              <a:defRPr sz="690">
                <a:solidFill>
                  <a:srgbClr val="59636E"/>
                </a:solidFill>
                <a:latin typeface="Arial"/>
                <a:ea typeface="Arial"/>
                <a:cs typeface="Arial"/>
              </a:defRPr>
            </a:pPr>
            <a:r>
              <a:rPr sz="690">
                <a:solidFill>
                  <a:srgbClr val="59636E"/>
                </a:solidFill>
                <a:latin typeface="Arial"/>
                <a:ea typeface="Arial"/>
                <a:cs typeface="Arial"/>
              </a:rPr>
              <a:t>~25 yr</a:t>
            </a:r>
          </a:p>
          <a:p>
            <a:pPr algn="ctr">
              <a:defRPr sz="690">
                <a:solidFill>
                  <a:srgbClr val="59636E"/>
                </a:solidFill>
                <a:latin typeface="Arial"/>
                <a:ea typeface="Arial"/>
                <a:cs typeface="Arial"/>
              </a:defRPr>
            </a:pPr>
            <a:r>
              <a:rPr sz="690">
                <a:solidFill>
                  <a:srgbClr val="59636E"/>
                </a:solidFill>
                <a:latin typeface="Arial"/>
                <a:ea typeface="Arial"/>
                <a:cs typeface="Arial"/>
              </a:rPr>
              <a:t>p=0.0043</a:t>
            </a:r>
          </a:p>
        </p:txBody>
      </p:sp>
      <p:sp>
        <p:nvSpPr>
          <p:cNvPr id="73" name="DOURO (RDD) · top 5 exact rules-delta-1">
            <a:extLst>
              <a:ext uri="{FF2B5EF4-FFF2-40B4-BE49-F238E27FC236}">
                <a16:creationId xmlns:a16="http://schemas.microsoft.com/office/drawing/2014/main" id="{10912703-5FC6-4071-B1FA-A564DDCFE0E6}"/>
              </a:ext>
            </a:extLst>
          </p:cNvPr>
          <p:cNvSpPr>
            <a:spLocks noGrp="1"/>
          </p:cNvSpPr>
          <p:nvPr/>
        </p:nvSpPr>
        <p:spPr>
          <a:xfrm>
            <a:off x="5133975" y="2888749"/>
            <a:ext cx="476250" cy="190500"/>
          </a:xfrm>
          <a:prstGeom prst="rect">
            <a:avLst/>
          </a:prstGeom>
          <a:noFill/>
          <a:ln w="0">
            <a:noFill/>
            <a:prstDash val="solid"/>
          </a:ln>
        </p:spPr>
        <p:txBody>
          <a:bodyPr/>
          <a:lstStyle/>
          <a:p>
            <a:pPr algn="r">
              <a:defRPr sz="810" b="1">
                <a:solidFill>
                  <a:srgbClr val="006B45"/>
                </a:solidFill>
                <a:latin typeface="Arial"/>
                <a:ea typeface="Arial"/>
                <a:cs typeface="Arial"/>
              </a:defRPr>
            </a:pPr>
            <a:r>
              <a:rPr sz="810" b="1">
                <a:solidFill>
                  <a:srgbClr val="006B45"/>
                </a:solidFill>
                <a:latin typeface="Arial"/>
                <a:ea typeface="Arial"/>
                <a:cs typeface="Arial"/>
              </a:rPr>
              <a:t>+121</a:t>
            </a:r>
          </a:p>
        </p:txBody>
      </p:sp>
      <p:sp>
        <p:nvSpPr>
          <p:cNvPr id="74" name="DOURO (RDD) · top 5 exact rules-row-2">
            <a:extLst>
              <a:ext uri="{FF2B5EF4-FFF2-40B4-BE49-F238E27FC236}">
                <a16:creationId xmlns:a16="http://schemas.microsoft.com/office/drawing/2014/main" id="{BD39772D-3005-462B-8951-2EE50CA47571}"/>
              </a:ext>
            </a:extLst>
          </p:cNvPr>
          <p:cNvSpPr>
            <a:spLocks noGrp="1"/>
          </p:cNvSpPr>
          <p:nvPr/>
        </p:nvSpPr>
        <p:spPr>
          <a:xfrm>
            <a:off x="533400" y="3307849"/>
            <a:ext cx="5133975" cy="542925"/>
          </a:xfrm>
          <a:prstGeom prst="rect">
            <a:avLst/>
          </a:prstGeom>
          <a:solidFill>
            <a:srgbClr val="FAFAFA"/>
          </a:solidFill>
          <a:ln w="9525">
            <a:solidFill>
              <a:srgbClr val="D6D1CB"/>
            </a:solidFill>
            <a:prstDash val="solid"/>
          </a:ln>
        </p:spPr>
        <p:txBody>
          <a:bodyPr/>
          <a:lstStyle/>
          <a:p>
            <a:endParaRPr lang="en-US"/>
          </a:p>
        </p:txBody>
      </p:sp>
      <p:sp>
        <p:nvSpPr>
          <p:cNvPr id="75" name="DOURO (RDD) · top 5 exact rules-rank-2">
            <a:extLst>
              <a:ext uri="{FF2B5EF4-FFF2-40B4-BE49-F238E27FC236}">
                <a16:creationId xmlns:a16="http://schemas.microsoft.com/office/drawing/2014/main" id="{53170275-C534-44ED-A92D-7E1B14F00601}"/>
              </a:ext>
            </a:extLst>
          </p:cNvPr>
          <p:cNvSpPr>
            <a:spLocks noGrp="1"/>
          </p:cNvSpPr>
          <p:nvPr/>
        </p:nvSpPr>
        <p:spPr>
          <a:xfrm>
            <a:off x="590550" y="3384049"/>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76" name="DOURO (RDD) · top 5 exact rules-rule-2">
            <a:extLst>
              <a:ext uri="{FF2B5EF4-FFF2-40B4-BE49-F238E27FC236}">
                <a16:creationId xmlns:a16="http://schemas.microsoft.com/office/drawing/2014/main" id="{043A64A2-F0E4-423C-81D1-8BF762BA1806}"/>
              </a:ext>
            </a:extLst>
          </p:cNvPr>
          <p:cNvSpPr>
            <a:spLocks noGrp="1"/>
          </p:cNvSpPr>
          <p:nvPr/>
        </p:nvSpPr>
        <p:spPr>
          <a:xfrm>
            <a:off x="914400" y="3374524"/>
            <a:ext cx="3429000" cy="419100"/>
          </a:xfrm>
          <a:prstGeom prst="rect">
            <a:avLst/>
          </a:prstGeom>
          <a:noFill/>
          <a:ln w="0">
            <a:noFill/>
            <a:prstDash val="solid"/>
          </a:ln>
        </p:spPr>
        <p:txBody>
          <a:bodyPr/>
          <a:lstStyle/>
          <a:p>
            <a:pPr>
              <a:defRPr sz="698">
                <a:solidFill>
                  <a:srgbClr val="111111"/>
                </a:solidFill>
                <a:latin typeface="Arial"/>
                <a:ea typeface="Arial"/>
                <a:cs typeface="Arial"/>
              </a:defRPr>
            </a:pPr>
            <a:r>
              <a:rPr sz="698">
                <a:solidFill>
                  <a:srgbClr val="111111"/>
                </a:solidFill>
                <a:latin typeface="Arial"/>
                <a:ea typeface="Arial"/>
                <a:cs typeface="Arial"/>
              </a:rPr>
              <a:t>LAI at Flowering [0.74-0.88 m2/m2]</a:t>
            </a:r>
          </a:p>
          <a:p>
            <a:pPr>
              <a:defRPr sz="698">
                <a:solidFill>
                  <a:srgbClr val="111111"/>
                </a:solidFill>
                <a:latin typeface="Arial"/>
                <a:ea typeface="Arial"/>
                <a:cs typeface="Arial"/>
              </a:defRPr>
            </a:pPr>
            <a:r>
              <a:rPr sz="698">
                <a:solidFill>
                  <a:srgbClr val="111111"/>
                </a:solidFill>
                <a:latin typeface="Arial"/>
                <a:ea typeface="Arial"/>
                <a:cs typeface="Arial"/>
              </a:rPr>
              <a:t>AND Soil water post-Flowering [390-404 mm]</a:t>
            </a:r>
          </a:p>
        </p:txBody>
      </p:sp>
      <p:sp>
        <p:nvSpPr>
          <p:cNvPr id="77" name="DOURO (RDD) · top 5 exact rules-stats-2">
            <a:extLst>
              <a:ext uri="{FF2B5EF4-FFF2-40B4-BE49-F238E27FC236}">
                <a16:creationId xmlns:a16="http://schemas.microsoft.com/office/drawing/2014/main" id="{2F79A2C9-C627-4CAB-A66C-BF944A16D82D}"/>
              </a:ext>
            </a:extLst>
          </p:cNvPr>
          <p:cNvSpPr>
            <a:spLocks noGrp="1"/>
          </p:cNvSpPr>
          <p:nvPr/>
        </p:nvSpPr>
        <p:spPr>
          <a:xfrm>
            <a:off x="4457700" y="3412624"/>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20.2%</a:t>
            </a:r>
          </a:p>
          <a:p>
            <a:pPr algn="ctr">
              <a:defRPr sz="690">
                <a:solidFill>
                  <a:srgbClr val="59636E"/>
                </a:solidFill>
                <a:latin typeface="Arial"/>
                <a:ea typeface="Arial"/>
                <a:cs typeface="Arial"/>
              </a:defRPr>
            </a:pPr>
            <a:r>
              <a:rPr sz="690">
                <a:solidFill>
                  <a:srgbClr val="59636E"/>
                </a:solidFill>
                <a:latin typeface="Arial"/>
                <a:ea typeface="Arial"/>
                <a:cs typeface="Arial"/>
              </a:rPr>
              <a:t>~18 yr</a:t>
            </a:r>
          </a:p>
          <a:p>
            <a:pPr algn="ctr">
              <a:defRPr sz="690">
                <a:solidFill>
                  <a:srgbClr val="59636E"/>
                </a:solidFill>
                <a:latin typeface="Arial"/>
                <a:ea typeface="Arial"/>
                <a:cs typeface="Arial"/>
              </a:defRPr>
            </a:pPr>
            <a:r>
              <a:rPr sz="690">
                <a:solidFill>
                  <a:srgbClr val="59636E"/>
                </a:solidFill>
                <a:latin typeface="Arial"/>
                <a:ea typeface="Arial"/>
                <a:cs typeface="Arial"/>
              </a:rPr>
              <a:t>p=0.0084</a:t>
            </a:r>
          </a:p>
        </p:txBody>
      </p:sp>
      <p:sp>
        <p:nvSpPr>
          <p:cNvPr id="78" name="DOURO (RDD) · top 5 exact rules-delta-2">
            <a:extLst>
              <a:ext uri="{FF2B5EF4-FFF2-40B4-BE49-F238E27FC236}">
                <a16:creationId xmlns:a16="http://schemas.microsoft.com/office/drawing/2014/main" id="{1184537D-7225-47C3-831C-7B9ADD431764}"/>
              </a:ext>
            </a:extLst>
          </p:cNvPr>
          <p:cNvSpPr>
            <a:spLocks noGrp="1"/>
          </p:cNvSpPr>
          <p:nvPr/>
        </p:nvSpPr>
        <p:spPr>
          <a:xfrm>
            <a:off x="5133975" y="3450724"/>
            <a:ext cx="476250" cy="190500"/>
          </a:xfrm>
          <a:prstGeom prst="rect">
            <a:avLst/>
          </a:prstGeom>
          <a:noFill/>
          <a:ln w="0">
            <a:noFill/>
            <a:prstDash val="solid"/>
          </a:ln>
        </p:spPr>
        <p:txBody>
          <a:bodyPr/>
          <a:lstStyle/>
          <a:p>
            <a:pPr algn="r">
              <a:defRPr sz="810" b="1">
                <a:solidFill>
                  <a:srgbClr val="8B1E3F"/>
                </a:solidFill>
                <a:latin typeface="Arial"/>
                <a:ea typeface="Arial"/>
                <a:cs typeface="Arial"/>
              </a:defRPr>
            </a:pPr>
            <a:r>
              <a:rPr sz="810" b="1">
                <a:solidFill>
                  <a:srgbClr val="8B1E3F"/>
                </a:solidFill>
                <a:latin typeface="Arial"/>
                <a:ea typeface="Arial"/>
                <a:cs typeface="Arial"/>
              </a:rPr>
              <a:t>-131</a:t>
            </a:r>
          </a:p>
        </p:txBody>
      </p:sp>
      <p:sp>
        <p:nvSpPr>
          <p:cNvPr id="79" name="DOURO (RDD) · top 5 exact rules-row-3">
            <a:extLst>
              <a:ext uri="{FF2B5EF4-FFF2-40B4-BE49-F238E27FC236}">
                <a16:creationId xmlns:a16="http://schemas.microsoft.com/office/drawing/2014/main" id="{8D457A99-4D0B-456A-BB60-5BE581348E91}"/>
              </a:ext>
            </a:extLst>
          </p:cNvPr>
          <p:cNvSpPr>
            <a:spLocks noGrp="1"/>
          </p:cNvSpPr>
          <p:nvPr/>
        </p:nvSpPr>
        <p:spPr>
          <a:xfrm>
            <a:off x="533400" y="3869824"/>
            <a:ext cx="5133975" cy="542925"/>
          </a:xfrm>
          <a:prstGeom prst="rect">
            <a:avLst/>
          </a:prstGeom>
          <a:solidFill>
            <a:srgbClr val="FFFFFF"/>
          </a:solidFill>
          <a:ln w="9525">
            <a:solidFill>
              <a:srgbClr val="D6D1CB"/>
            </a:solidFill>
            <a:prstDash val="solid"/>
          </a:ln>
        </p:spPr>
        <p:txBody>
          <a:bodyPr/>
          <a:lstStyle/>
          <a:p>
            <a:endParaRPr lang="en-US"/>
          </a:p>
        </p:txBody>
      </p:sp>
      <p:sp>
        <p:nvSpPr>
          <p:cNvPr id="80" name="DOURO (RDD) · top 5 exact rules-rank-3">
            <a:extLst>
              <a:ext uri="{FF2B5EF4-FFF2-40B4-BE49-F238E27FC236}">
                <a16:creationId xmlns:a16="http://schemas.microsoft.com/office/drawing/2014/main" id="{43FE6023-56D1-4C4A-9E9F-20D395EFAC9A}"/>
              </a:ext>
            </a:extLst>
          </p:cNvPr>
          <p:cNvSpPr>
            <a:spLocks noGrp="1"/>
          </p:cNvSpPr>
          <p:nvPr/>
        </p:nvSpPr>
        <p:spPr>
          <a:xfrm>
            <a:off x="590550" y="3946024"/>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81" name="DOURO (RDD) · top 5 exact rules-rule-3">
            <a:extLst>
              <a:ext uri="{FF2B5EF4-FFF2-40B4-BE49-F238E27FC236}">
                <a16:creationId xmlns:a16="http://schemas.microsoft.com/office/drawing/2014/main" id="{DDEA01A3-D640-450A-A8A7-08DBCCAFDC8F}"/>
              </a:ext>
            </a:extLst>
          </p:cNvPr>
          <p:cNvSpPr>
            <a:spLocks noGrp="1"/>
          </p:cNvSpPr>
          <p:nvPr/>
        </p:nvSpPr>
        <p:spPr>
          <a:xfrm>
            <a:off x="914400" y="3936499"/>
            <a:ext cx="3429000" cy="419100"/>
          </a:xfrm>
          <a:prstGeom prst="rect">
            <a:avLst/>
          </a:prstGeom>
          <a:noFill/>
          <a:ln w="0">
            <a:noFill/>
            <a:prstDash val="solid"/>
          </a:ln>
        </p:spPr>
        <p:txBody>
          <a:bodyPr/>
          <a:lstStyle/>
          <a:p>
            <a:pPr>
              <a:defRPr sz="653">
                <a:solidFill>
                  <a:srgbClr val="111111"/>
                </a:solidFill>
                <a:latin typeface="Arial"/>
                <a:ea typeface="Arial"/>
                <a:cs typeface="Arial"/>
              </a:defRPr>
            </a:pPr>
            <a:r>
              <a:rPr sz="653">
                <a:solidFill>
                  <a:srgbClr val="111111"/>
                </a:solidFill>
                <a:latin typeface="Arial"/>
                <a:ea typeface="Arial"/>
                <a:cs typeface="Arial"/>
              </a:rPr>
              <a:t>Wet days post-Flowering [0-3.3 d]</a:t>
            </a:r>
          </a:p>
          <a:p>
            <a:pPr>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a:p>
            <a:pPr>
              <a:defRPr sz="653">
                <a:solidFill>
                  <a:srgbClr val="111111"/>
                </a:solidFill>
                <a:latin typeface="Arial"/>
                <a:ea typeface="Arial"/>
                <a:cs typeface="Arial"/>
              </a:defRPr>
            </a:pPr>
            <a:r>
              <a:rPr sz="653">
                <a:solidFill>
                  <a:srgbClr val="111111"/>
                </a:solidFill>
                <a:latin typeface="Arial"/>
                <a:ea typeface="Arial"/>
                <a:cs typeface="Arial"/>
              </a:rPr>
              <a:t>AND Heat days post-Flowering [0-0.6 d]</a:t>
            </a:r>
          </a:p>
        </p:txBody>
      </p:sp>
      <p:sp>
        <p:nvSpPr>
          <p:cNvPr id="82" name="DOURO (RDD) · top 5 exact rules-stats-3">
            <a:extLst>
              <a:ext uri="{FF2B5EF4-FFF2-40B4-BE49-F238E27FC236}">
                <a16:creationId xmlns:a16="http://schemas.microsoft.com/office/drawing/2014/main" id="{5C0CE2EA-8D1E-40C4-A4AC-1767436D33C5}"/>
              </a:ext>
            </a:extLst>
          </p:cNvPr>
          <p:cNvSpPr>
            <a:spLocks noGrp="1"/>
          </p:cNvSpPr>
          <p:nvPr/>
        </p:nvSpPr>
        <p:spPr>
          <a:xfrm>
            <a:off x="4457700" y="3974599"/>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25.8%</a:t>
            </a:r>
          </a:p>
          <a:p>
            <a:pPr algn="ctr">
              <a:defRPr sz="690">
                <a:solidFill>
                  <a:srgbClr val="59636E"/>
                </a:solidFill>
                <a:latin typeface="Arial"/>
                <a:ea typeface="Arial"/>
                <a:cs typeface="Arial"/>
              </a:defRPr>
            </a:pPr>
            <a:r>
              <a:rPr sz="690">
                <a:solidFill>
                  <a:srgbClr val="59636E"/>
                </a:solidFill>
                <a:latin typeface="Arial"/>
                <a:ea typeface="Arial"/>
                <a:cs typeface="Arial"/>
              </a:rPr>
              <a:t>~23 yr</a:t>
            </a:r>
          </a:p>
          <a:p>
            <a:pPr algn="ctr">
              <a:defRPr sz="690">
                <a:solidFill>
                  <a:srgbClr val="59636E"/>
                </a:solidFill>
                <a:latin typeface="Arial"/>
                <a:ea typeface="Arial"/>
                <a:cs typeface="Arial"/>
              </a:defRPr>
            </a:pPr>
            <a:r>
              <a:rPr sz="690">
                <a:solidFill>
                  <a:srgbClr val="59636E"/>
                </a:solidFill>
                <a:latin typeface="Arial"/>
                <a:ea typeface="Arial"/>
                <a:cs typeface="Arial"/>
              </a:rPr>
              <a:t>p=0.0089</a:t>
            </a:r>
          </a:p>
        </p:txBody>
      </p:sp>
      <p:sp>
        <p:nvSpPr>
          <p:cNvPr id="83" name="DOURO (RDD) · top 5 exact rules-delta-3">
            <a:extLst>
              <a:ext uri="{FF2B5EF4-FFF2-40B4-BE49-F238E27FC236}">
                <a16:creationId xmlns:a16="http://schemas.microsoft.com/office/drawing/2014/main" id="{D7059098-9CD0-4937-9AA0-90D4B7C992A6}"/>
              </a:ext>
            </a:extLst>
          </p:cNvPr>
          <p:cNvSpPr>
            <a:spLocks noGrp="1"/>
          </p:cNvSpPr>
          <p:nvPr/>
        </p:nvSpPr>
        <p:spPr>
          <a:xfrm>
            <a:off x="5133975" y="4012699"/>
            <a:ext cx="476250" cy="190500"/>
          </a:xfrm>
          <a:prstGeom prst="rect">
            <a:avLst/>
          </a:prstGeom>
          <a:noFill/>
          <a:ln w="0">
            <a:noFill/>
            <a:prstDash val="solid"/>
          </a:ln>
        </p:spPr>
        <p:txBody>
          <a:bodyPr/>
          <a:lstStyle/>
          <a:p>
            <a:pPr algn="r">
              <a:defRPr sz="810" b="1">
                <a:solidFill>
                  <a:srgbClr val="006B45"/>
                </a:solidFill>
                <a:latin typeface="Arial"/>
                <a:ea typeface="Arial"/>
                <a:cs typeface="Arial"/>
              </a:defRPr>
            </a:pPr>
            <a:r>
              <a:rPr sz="810" b="1">
                <a:solidFill>
                  <a:srgbClr val="006B45"/>
                </a:solidFill>
                <a:latin typeface="Arial"/>
                <a:ea typeface="Arial"/>
                <a:cs typeface="Arial"/>
              </a:rPr>
              <a:t>+113</a:t>
            </a:r>
          </a:p>
        </p:txBody>
      </p:sp>
      <p:sp>
        <p:nvSpPr>
          <p:cNvPr id="84" name="DOURO (RDD) · top 5 exact rules-row-4">
            <a:extLst>
              <a:ext uri="{FF2B5EF4-FFF2-40B4-BE49-F238E27FC236}">
                <a16:creationId xmlns:a16="http://schemas.microsoft.com/office/drawing/2014/main" id="{4038F29B-8BEB-4A64-8919-29DCF1AC505F}"/>
              </a:ext>
            </a:extLst>
          </p:cNvPr>
          <p:cNvSpPr>
            <a:spLocks noGrp="1"/>
          </p:cNvSpPr>
          <p:nvPr/>
        </p:nvSpPr>
        <p:spPr>
          <a:xfrm>
            <a:off x="533400" y="4431799"/>
            <a:ext cx="5133975" cy="542925"/>
          </a:xfrm>
          <a:prstGeom prst="rect">
            <a:avLst/>
          </a:prstGeom>
          <a:solidFill>
            <a:srgbClr val="FAFAFA"/>
          </a:solidFill>
          <a:ln w="9525">
            <a:solidFill>
              <a:srgbClr val="D6D1CB"/>
            </a:solidFill>
            <a:prstDash val="solid"/>
          </a:ln>
        </p:spPr>
        <p:txBody>
          <a:bodyPr/>
          <a:lstStyle/>
          <a:p>
            <a:endParaRPr lang="en-US"/>
          </a:p>
        </p:txBody>
      </p:sp>
      <p:sp>
        <p:nvSpPr>
          <p:cNvPr id="85" name="DOURO (RDD) · top 5 exact rules-rank-4">
            <a:extLst>
              <a:ext uri="{FF2B5EF4-FFF2-40B4-BE49-F238E27FC236}">
                <a16:creationId xmlns:a16="http://schemas.microsoft.com/office/drawing/2014/main" id="{AE05A6E4-CEAD-4993-AF63-90EB2DDE4CAF}"/>
              </a:ext>
            </a:extLst>
          </p:cNvPr>
          <p:cNvSpPr>
            <a:spLocks noGrp="1"/>
          </p:cNvSpPr>
          <p:nvPr/>
        </p:nvSpPr>
        <p:spPr>
          <a:xfrm>
            <a:off x="590550" y="4507999"/>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86" name="DOURO (RDD) · top 5 exact rules-rule-4">
            <a:extLst>
              <a:ext uri="{FF2B5EF4-FFF2-40B4-BE49-F238E27FC236}">
                <a16:creationId xmlns:a16="http://schemas.microsoft.com/office/drawing/2014/main" id="{3551F421-82DA-4337-A14C-B9FDFFB2064F}"/>
              </a:ext>
            </a:extLst>
          </p:cNvPr>
          <p:cNvSpPr>
            <a:spLocks noGrp="1"/>
          </p:cNvSpPr>
          <p:nvPr/>
        </p:nvSpPr>
        <p:spPr>
          <a:xfrm>
            <a:off x="914400" y="4498474"/>
            <a:ext cx="3429000" cy="419100"/>
          </a:xfrm>
          <a:prstGeom prst="rect">
            <a:avLst/>
          </a:prstGeom>
          <a:noFill/>
          <a:ln w="0">
            <a:noFill/>
            <a:prstDash val="solid"/>
          </a:ln>
        </p:spPr>
        <p:txBody>
          <a:bodyPr/>
          <a:lstStyle/>
          <a:p>
            <a:pPr>
              <a:defRPr sz="653">
                <a:solidFill>
                  <a:srgbClr val="111111"/>
                </a:solidFill>
                <a:latin typeface="Arial"/>
                <a:ea typeface="Arial"/>
                <a:cs typeface="Arial"/>
              </a:defRPr>
            </a:pPr>
            <a:r>
              <a:rPr sz="653">
                <a:solidFill>
                  <a:srgbClr val="111111"/>
                </a:solidFill>
                <a:latin typeface="Arial"/>
                <a:ea typeface="Arial"/>
                <a:cs typeface="Arial"/>
              </a:rPr>
              <a:t>Soil water pre-Harvest [74-101 mm]</a:t>
            </a:r>
          </a:p>
          <a:p>
            <a:pPr>
              <a:defRPr sz="653">
                <a:solidFill>
                  <a:srgbClr val="111111"/>
                </a:solidFill>
                <a:latin typeface="Arial"/>
                <a:ea typeface="Arial"/>
                <a:cs typeface="Arial"/>
              </a:defRPr>
            </a:pPr>
            <a:r>
              <a:rPr sz="653">
                <a:solidFill>
                  <a:srgbClr val="111111"/>
                </a:solidFill>
                <a:latin typeface="Arial"/>
                <a:ea typeface="Arial"/>
                <a:cs typeface="Arial"/>
              </a:rPr>
              <a:t>AND Wet days post-Harvest prev.yr [0-2.3 d]</a:t>
            </a:r>
          </a:p>
          <a:p>
            <a:pPr>
              <a:defRPr sz="653">
                <a:solidFill>
                  <a:srgbClr val="111111"/>
                </a:solidFill>
                <a:latin typeface="Arial"/>
                <a:ea typeface="Arial"/>
                <a:cs typeface="Arial"/>
              </a:defRPr>
            </a:pPr>
            <a:r>
              <a:rPr sz="653">
                <a:solidFill>
                  <a:srgbClr val="111111"/>
                </a:solidFill>
                <a:latin typeface="Arial"/>
                <a:ea typeface="Arial"/>
                <a:cs typeface="Arial"/>
              </a:rPr>
              <a:t>AND Wet days post-Maturity [0-3.5 d]</a:t>
            </a:r>
          </a:p>
        </p:txBody>
      </p:sp>
      <p:sp>
        <p:nvSpPr>
          <p:cNvPr id="87" name="DOURO (RDD) · top 5 exact rules-stats-4">
            <a:extLst>
              <a:ext uri="{FF2B5EF4-FFF2-40B4-BE49-F238E27FC236}">
                <a16:creationId xmlns:a16="http://schemas.microsoft.com/office/drawing/2014/main" id="{BF7170E4-1E2E-4BC6-88D7-FD1B3ACE6800}"/>
              </a:ext>
            </a:extLst>
          </p:cNvPr>
          <p:cNvSpPr>
            <a:spLocks noGrp="1"/>
          </p:cNvSpPr>
          <p:nvPr/>
        </p:nvSpPr>
        <p:spPr>
          <a:xfrm>
            <a:off x="4457700" y="4536574"/>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21.3%</a:t>
            </a:r>
          </a:p>
          <a:p>
            <a:pPr algn="ctr">
              <a:defRPr sz="690">
                <a:solidFill>
                  <a:srgbClr val="59636E"/>
                </a:solidFill>
                <a:latin typeface="Arial"/>
                <a:ea typeface="Arial"/>
                <a:cs typeface="Arial"/>
              </a:defRPr>
            </a:pPr>
            <a:r>
              <a:rPr sz="690">
                <a:solidFill>
                  <a:srgbClr val="59636E"/>
                </a:solidFill>
                <a:latin typeface="Arial"/>
                <a:ea typeface="Arial"/>
                <a:cs typeface="Arial"/>
              </a:rPr>
              <a:t>~19 yr</a:t>
            </a:r>
          </a:p>
          <a:p>
            <a:pPr algn="ctr">
              <a:defRPr sz="690">
                <a:solidFill>
                  <a:srgbClr val="59636E"/>
                </a:solidFill>
                <a:latin typeface="Arial"/>
                <a:ea typeface="Arial"/>
                <a:cs typeface="Arial"/>
              </a:defRPr>
            </a:pPr>
            <a:r>
              <a:rPr sz="690">
                <a:solidFill>
                  <a:srgbClr val="59636E"/>
                </a:solidFill>
                <a:latin typeface="Arial"/>
                <a:ea typeface="Arial"/>
                <a:cs typeface="Arial"/>
              </a:rPr>
              <a:t>p=0.0095</a:t>
            </a:r>
          </a:p>
        </p:txBody>
      </p:sp>
      <p:sp>
        <p:nvSpPr>
          <p:cNvPr id="88" name="DOURO (RDD) · top 5 exact rules-delta-4">
            <a:extLst>
              <a:ext uri="{FF2B5EF4-FFF2-40B4-BE49-F238E27FC236}">
                <a16:creationId xmlns:a16="http://schemas.microsoft.com/office/drawing/2014/main" id="{A769B487-565A-4CA7-A36F-B35031BC1005}"/>
              </a:ext>
            </a:extLst>
          </p:cNvPr>
          <p:cNvSpPr>
            <a:spLocks noGrp="1"/>
          </p:cNvSpPr>
          <p:nvPr/>
        </p:nvSpPr>
        <p:spPr>
          <a:xfrm>
            <a:off x="5133975" y="4574674"/>
            <a:ext cx="476250" cy="190500"/>
          </a:xfrm>
          <a:prstGeom prst="rect">
            <a:avLst/>
          </a:prstGeom>
          <a:noFill/>
          <a:ln w="0">
            <a:noFill/>
            <a:prstDash val="solid"/>
          </a:ln>
        </p:spPr>
        <p:txBody>
          <a:bodyPr/>
          <a:lstStyle/>
          <a:p>
            <a:pPr algn="r">
              <a:defRPr sz="810" b="1">
                <a:solidFill>
                  <a:srgbClr val="006B45"/>
                </a:solidFill>
                <a:latin typeface="Arial"/>
                <a:ea typeface="Arial"/>
                <a:cs typeface="Arial"/>
              </a:defRPr>
            </a:pPr>
            <a:r>
              <a:rPr sz="810" b="1">
                <a:solidFill>
                  <a:srgbClr val="006B45"/>
                </a:solidFill>
                <a:latin typeface="Arial"/>
                <a:ea typeface="Arial"/>
                <a:cs typeface="Arial"/>
              </a:rPr>
              <a:t>+192</a:t>
            </a:r>
          </a:p>
        </p:txBody>
      </p:sp>
      <p:sp>
        <p:nvSpPr>
          <p:cNvPr id="89" name="DOURO (RDD) · top 5 exact rules-row-5">
            <a:extLst>
              <a:ext uri="{FF2B5EF4-FFF2-40B4-BE49-F238E27FC236}">
                <a16:creationId xmlns:a16="http://schemas.microsoft.com/office/drawing/2014/main" id="{B60DCC57-2871-4489-9260-23A6714D105E}"/>
              </a:ext>
            </a:extLst>
          </p:cNvPr>
          <p:cNvSpPr>
            <a:spLocks noGrp="1"/>
          </p:cNvSpPr>
          <p:nvPr/>
        </p:nvSpPr>
        <p:spPr>
          <a:xfrm>
            <a:off x="533400" y="4993774"/>
            <a:ext cx="5133975" cy="542925"/>
          </a:xfrm>
          <a:prstGeom prst="rect">
            <a:avLst/>
          </a:prstGeom>
          <a:solidFill>
            <a:srgbClr val="FFFFFF"/>
          </a:solidFill>
          <a:ln w="9525">
            <a:solidFill>
              <a:srgbClr val="D6D1CB"/>
            </a:solidFill>
            <a:prstDash val="solid"/>
          </a:ln>
        </p:spPr>
        <p:txBody>
          <a:bodyPr/>
          <a:lstStyle/>
          <a:p>
            <a:endParaRPr lang="en-US"/>
          </a:p>
        </p:txBody>
      </p:sp>
      <p:sp>
        <p:nvSpPr>
          <p:cNvPr id="90" name="DOURO (RDD) · top 5 exact rules-rank-5">
            <a:extLst>
              <a:ext uri="{FF2B5EF4-FFF2-40B4-BE49-F238E27FC236}">
                <a16:creationId xmlns:a16="http://schemas.microsoft.com/office/drawing/2014/main" id="{6CFB75AF-055F-4945-9B14-2B789E41883C}"/>
              </a:ext>
            </a:extLst>
          </p:cNvPr>
          <p:cNvSpPr>
            <a:spLocks noGrp="1"/>
          </p:cNvSpPr>
          <p:nvPr/>
        </p:nvSpPr>
        <p:spPr>
          <a:xfrm>
            <a:off x="590550" y="5069974"/>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91" name="DOURO (RDD) · top 5 exact rules-rule-5">
            <a:extLst>
              <a:ext uri="{FF2B5EF4-FFF2-40B4-BE49-F238E27FC236}">
                <a16:creationId xmlns:a16="http://schemas.microsoft.com/office/drawing/2014/main" id="{8A3DC211-FD85-416B-B943-6F80A95EB3C3}"/>
              </a:ext>
            </a:extLst>
          </p:cNvPr>
          <p:cNvSpPr>
            <a:spLocks noGrp="1"/>
          </p:cNvSpPr>
          <p:nvPr/>
        </p:nvSpPr>
        <p:spPr>
          <a:xfrm>
            <a:off x="914400" y="5060449"/>
            <a:ext cx="3429000" cy="419100"/>
          </a:xfrm>
          <a:prstGeom prst="rect">
            <a:avLst/>
          </a:prstGeom>
          <a:noFill/>
          <a:ln w="0">
            <a:noFill/>
            <a:prstDash val="solid"/>
          </a:ln>
        </p:spPr>
        <p:txBody>
          <a:bodyPr/>
          <a:lstStyle/>
          <a:p>
            <a:pPr>
              <a:defRPr sz="698">
                <a:solidFill>
                  <a:srgbClr val="111111"/>
                </a:solidFill>
                <a:latin typeface="Arial"/>
                <a:ea typeface="Arial"/>
                <a:cs typeface="Arial"/>
              </a:defRPr>
            </a:pPr>
            <a:r>
              <a:rPr sz="698">
                <a:solidFill>
                  <a:srgbClr val="111111"/>
                </a:solidFill>
                <a:latin typeface="Arial"/>
                <a:ea typeface="Arial"/>
                <a:cs typeface="Arial"/>
              </a:rPr>
              <a:t>Wet days post-Flowering [0-3.3 d]</a:t>
            </a:r>
          </a:p>
          <a:p>
            <a:pPr>
              <a:defRPr sz="698">
                <a:solidFill>
                  <a:srgbClr val="111111"/>
                </a:solidFill>
                <a:latin typeface="Arial"/>
                <a:ea typeface="Arial"/>
                <a:cs typeface="Arial"/>
              </a:defRPr>
            </a:pPr>
            <a:r>
              <a:rPr sz="698">
                <a:solidFill>
                  <a:srgbClr val="111111"/>
                </a:solidFill>
                <a:latin typeface="Arial"/>
                <a:ea typeface="Arial"/>
                <a:cs typeface="Arial"/>
              </a:rPr>
              <a:t>AND Heat days pre-Maturity [0-3.7 d]</a:t>
            </a:r>
          </a:p>
        </p:txBody>
      </p:sp>
      <p:sp>
        <p:nvSpPr>
          <p:cNvPr id="92" name="DOURO (RDD) · top 5 exact rules-stats-5">
            <a:extLst>
              <a:ext uri="{FF2B5EF4-FFF2-40B4-BE49-F238E27FC236}">
                <a16:creationId xmlns:a16="http://schemas.microsoft.com/office/drawing/2014/main" id="{25DEE235-4A2F-428D-9ED7-6A29E6AEF646}"/>
              </a:ext>
            </a:extLst>
          </p:cNvPr>
          <p:cNvSpPr>
            <a:spLocks noGrp="1"/>
          </p:cNvSpPr>
          <p:nvPr/>
        </p:nvSpPr>
        <p:spPr>
          <a:xfrm>
            <a:off x="4457700" y="5098549"/>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24.7%</a:t>
            </a:r>
          </a:p>
          <a:p>
            <a:pPr algn="ctr">
              <a:defRPr sz="690">
                <a:solidFill>
                  <a:srgbClr val="59636E"/>
                </a:solidFill>
                <a:latin typeface="Arial"/>
                <a:ea typeface="Arial"/>
                <a:cs typeface="Arial"/>
              </a:defRPr>
            </a:pPr>
            <a:r>
              <a:rPr sz="690">
                <a:solidFill>
                  <a:srgbClr val="59636E"/>
                </a:solidFill>
                <a:latin typeface="Arial"/>
                <a:ea typeface="Arial"/>
                <a:cs typeface="Arial"/>
              </a:rPr>
              <a:t>~22 yr</a:t>
            </a:r>
          </a:p>
          <a:p>
            <a:pPr algn="ctr">
              <a:defRPr sz="690">
                <a:solidFill>
                  <a:srgbClr val="59636E"/>
                </a:solidFill>
                <a:latin typeface="Arial"/>
                <a:ea typeface="Arial"/>
                <a:cs typeface="Arial"/>
              </a:defRPr>
            </a:pPr>
            <a:r>
              <a:rPr sz="690">
                <a:solidFill>
                  <a:srgbClr val="59636E"/>
                </a:solidFill>
                <a:latin typeface="Arial"/>
                <a:ea typeface="Arial"/>
                <a:cs typeface="Arial"/>
              </a:rPr>
              <a:t>p=0.0110</a:t>
            </a:r>
          </a:p>
        </p:txBody>
      </p:sp>
      <p:sp>
        <p:nvSpPr>
          <p:cNvPr id="93" name="DOURO (RDD) · top 5 exact rules-delta-5">
            <a:extLst>
              <a:ext uri="{FF2B5EF4-FFF2-40B4-BE49-F238E27FC236}">
                <a16:creationId xmlns:a16="http://schemas.microsoft.com/office/drawing/2014/main" id="{2941ED15-9628-4E2E-9D47-E881274DF602}"/>
              </a:ext>
            </a:extLst>
          </p:cNvPr>
          <p:cNvSpPr>
            <a:spLocks noGrp="1"/>
          </p:cNvSpPr>
          <p:nvPr/>
        </p:nvSpPr>
        <p:spPr>
          <a:xfrm>
            <a:off x="5133975" y="5136649"/>
            <a:ext cx="476250" cy="190500"/>
          </a:xfrm>
          <a:prstGeom prst="rect">
            <a:avLst/>
          </a:prstGeom>
          <a:noFill/>
          <a:ln w="0">
            <a:noFill/>
            <a:prstDash val="solid"/>
          </a:ln>
        </p:spPr>
        <p:txBody>
          <a:bodyPr/>
          <a:lstStyle/>
          <a:p>
            <a:pPr algn="r">
              <a:defRPr sz="810" b="1">
                <a:solidFill>
                  <a:srgbClr val="006B45"/>
                </a:solidFill>
                <a:latin typeface="Arial"/>
                <a:ea typeface="Arial"/>
                <a:cs typeface="Arial"/>
              </a:defRPr>
            </a:pPr>
            <a:r>
              <a:rPr sz="810" b="1">
                <a:solidFill>
                  <a:srgbClr val="006B45"/>
                </a:solidFill>
                <a:latin typeface="Arial"/>
                <a:ea typeface="Arial"/>
                <a:cs typeface="Arial"/>
              </a:rPr>
              <a:t>+115</a:t>
            </a:r>
          </a:p>
        </p:txBody>
      </p:sp>
      <p:sp>
        <p:nvSpPr>
          <p:cNvPr id="94" name="VINHO VERDE (RVV) · top 5 exact rules-panel">
            <a:extLst>
              <a:ext uri="{FF2B5EF4-FFF2-40B4-BE49-F238E27FC236}">
                <a16:creationId xmlns:a16="http://schemas.microsoft.com/office/drawing/2014/main" id="{422777D9-8FF7-4D20-B720-3B1471F631D1}"/>
              </a:ext>
            </a:extLst>
          </p:cNvPr>
          <p:cNvSpPr>
            <a:spLocks noGrp="1"/>
          </p:cNvSpPr>
          <p:nvPr/>
        </p:nvSpPr>
        <p:spPr>
          <a:xfrm>
            <a:off x="6267450" y="1612399"/>
            <a:ext cx="5476875" cy="3952875"/>
          </a:xfrm>
          <a:prstGeom prst="rect">
            <a:avLst/>
          </a:prstGeom>
          <a:solidFill>
            <a:srgbClr val="F8E1D3"/>
          </a:solidFill>
          <a:ln w="0">
            <a:noFill/>
            <a:prstDash val="solid"/>
          </a:ln>
        </p:spPr>
        <p:txBody>
          <a:bodyPr/>
          <a:lstStyle/>
          <a:p>
            <a:endParaRPr lang="en-US"/>
          </a:p>
        </p:txBody>
      </p:sp>
      <p:sp>
        <p:nvSpPr>
          <p:cNvPr id="95" name="VINHO VERDE (RVV) · top 5 exact rules-title">
            <a:extLst>
              <a:ext uri="{FF2B5EF4-FFF2-40B4-BE49-F238E27FC236}">
                <a16:creationId xmlns:a16="http://schemas.microsoft.com/office/drawing/2014/main" id="{E4FF130D-2F13-40CC-8ABD-8D9C5062902F}"/>
              </a:ext>
            </a:extLst>
          </p:cNvPr>
          <p:cNvSpPr>
            <a:spLocks noGrp="1"/>
          </p:cNvSpPr>
          <p:nvPr/>
        </p:nvSpPr>
        <p:spPr>
          <a:xfrm>
            <a:off x="6496050" y="1821949"/>
            <a:ext cx="5019675" cy="209550"/>
          </a:xfrm>
          <a:prstGeom prst="rect">
            <a:avLst/>
          </a:prstGeom>
          <a:noFill/>
          <a:ln w="0">
            <a:noFill/>
            <a:prstDash val="solid"/>
          </a:ln>
        </p:spPr>
        <p:txBody>
          <a:bodyPr/>
          <a:lstStyle/>
          <a:p>
            <a:pPr>
              <a:defRPr sz="1088" b="1">
                <a:solidFill>
                  <a:srgbClr val="7B1E3A"/>
                </a:solidFill>
                <a:latin typeface="Arial"/>
                <a:ea typeface="Arial"/>
                <a:cs typeface="Arial"/>
              </a:defRPr>
            </a:pPr>
            <a:r>
              <a:rPr sz="1088" b="1">
                <a:solidFill>
                  <a:srgbClr val="7B1E3A"/>
                </a:solidFill>
                <a:latin typeface="Arial"/>
                <a:ea typeface="Arial"/>
                <a:cs typeface="Arial"/>
              </a:rPr>
              <a:t>VINHO VERDE (RVV) · top 5 exact rules</a:t>
            </a:r>
          </a:p>
        </p:txBody>
      </p:sp>
      <p:sp>
        <p:nvSpPr>
          <p:cNvPr id="96" name="VINHO VERDE (RVV) · top 5 exact rules-subtitle">
            <a:extLst>
              <a:ext uri="{FF2B5EF4-FFF2-40B4-BE49-F238E27FC236}">
                <a16:creationId xmlns:a16="http://schemas.microsoft.com/office/drawing/2014/main" id="{DB15BD91-EC28-4996-86DC-2E9BB6B7CBFD}"/>
              </a:ext>
            </a:extLst>
          </p:cNvPr>
          <p:cNvSpPr>
            <a:spLocks noGrp="1"/>
          </p:cNvSpPr>
          <p:nvPr/>
        </p:nvSpPr>
        <p:spPr>
          <a:xfrm>
            <a:off x="6496050" y="2069599"/>
            <a:ext cx="5019675" cy="342900"/>
          </a:xfrm>
          <a:prstGeom prst="rect">
            <a:avLst/>
          </a:prstGeom>
          <a:noFill/>
          <a:ln w="0">
            <a:noFill/>
            <a:prstDash val="solid"/>
          </a:ln>
        </p:spPr>
        <p:txBody>
          <a:bodyPr/>
          <a:lstStyle/>
          <a:p>
            <a:pPr>
              <a:defRPr sz="990" b="1">
                <a:solidFill>
                  <a:srgbClr val="111111"/>
                </a:solidFill>
                <a:latin typeface="Arial"/>
                <a:ea typeface="Arial"/>
                <a:cs typeface="Arial"/>
              </a:defRPr>
            </a:pPr>
            <a:r>
              <a:rPr sz="990" b="1">
                <a:solidFill>
                  <a:srgbClr val="111111"/>
                </a:solidFill>
                <a:latin typeface="Arial"/>
                <a:ea typeface="Arial"/>
                <a:cs typeface="Arial"/>
              </a:rPr>
              <a:t>Mostly below-trend: cool, moist conditions dominate the Atlantic region.</a:t>
            </a:r>
          </a:p>
        </p:txBody>
      </p:sp>
      <p:sp>
        <p:nvSpPr>
          <p:cNvPr id="97" name="VINHO VERDE (RVV) · top 5 exact rules-header">
            <a:extLst>
              <a:ext uri="{FF2B5EF4-FFF2-40B4-BE49-F238E27FC236}">
                <a16:creationId xmlns:a16="http://schemas.microsoft.com/office/drawing/2014/main" id="{F6527898-9793-4117-A67F-64E97FD453CA}"/>
              </a:ext>
            </a:extLst>
          </p:cNvPr>
          <p:cNvSpPr>
            <a:spLocks noGrp="1"/>
          </p:cNvSpPr>
          <p:nvPr/>
        </p:nvSpPr>
        <p:spPr>
          <a:xfrm>
            <a:off x="6438900" y="2498224"/>
            <a:ext cx="5133975" cy="247650"/>
          </a:xfrm>
          <a:prstGeom prst="rect">
            <a:avLst/>
          </a:prstGeom>
          <a:solidFill>
            <a:srgbClr val="FFFFFF"/>
          </a:solidFill>
          <a:ln w="9525">
            <a:solidFill>
              <a:srgbClr val="D6D1CB"/>
            </a:solidFill>
            <a:prstDash val="solid"/>
          </a:ln>
        </p:spPr>
        <p:txBody>
          <a:bodyPr/>
          <a:lstStyle/>
          <a:p>
            <a:endParaRPr lang="en-US"/>
          </a:p>
        </p:txBody>
      </p:sp>
      <p:sp>
        <p:nvSpPr>
          <p:cNvPr id="98" name="VINHO VERDE (RVV) · top 5 exact rules-h1">
            <a:extLst>
              <a:ext uri="{FF2B5EF4-FFF2-40B4-BE49-F238E27FC236}">
                <a16:creationId xmlns:a16="http://schemas.microsoft.com/office/drawing/2014/main" id="{32E01AC8-7921-467D-B0F8-AB21A99C1F50}"/>
              </a:ext>
            </a:extLst>
          </p:cNvPr>
          <p:cNvSpPr>
            <a:spLocks noGrp="1"/>
          </p:cNvSpPr>
          <p:nvPr/>
        </p:nvSpPr>
        <p:spPr>
          <a:xfrm>
            <a:off x="6496050" y="2545849"/>
            <a:ext cx="247650" cy="152400"/>
          </a:xfrm>
          <a:prstGeom prst="rect">
            <a:avLst/>
          </a:prstGeom>
          <a:noFill/>
          <a:ln w="0">
            <a:noFill/>
            <a:prstDash val="solid"/>
          </a:ln>
        </p:spPr>
        <p:txBody>
          <a:bodyPr/>
          <a:lstStyle/>
          <a:p>
            <a:pPr algn="ctr">
              <a:defRPr sz="713" b="1">
                <a:solidFill>
                  <a:srgbClr val="59636E"/>
                </a:solidFill>
                <a:latin typeface="Arial"/>
                <a:ea typeface="Arial"/>
                <a:cs typeface="Arial"/>
              </a:defRPr>
            </a:pPr>
            <a:r>
              <a:rPr sz="713" b="1">
                <a:solidFill>
                  <a:srgbClr val="59636E"/>
                </a:solidFill>
                <a:latin typeface="Arial"/>
                <a:ea typeface="Arial"/>
                <a:cs typeface="Arial"/>
              </a:rPr>
              <a:t>#</a:t>
            </a:r>
          </a:p>
        </p:txBody>
      </p:sp>
      <p:sp>
        <p:nvSpPr>
          <p:cNvPr id="99" name="VINHO VERDE (RVV) · top 5 exact rules-h2">
            <a:extLst>
              <a:ext uri="{FF2B5EF4-FFF2-40B4-BE49-F238E27FC236}">
                <a16:creationId xmlns:a16="http://schemas.microsoft.com/office/drawing/2014/main" id="{38ACC8F6-530C-4811-B6E3-D6BC9F4C966A}"/>
              </a:ext>
            </a:extLst>
          </p:cNvPr>
          <p:cNvSpPr>
            <a:spLocks noGrp="1"/>
          </p:cNvSpPr>
          <p:nvPr/>
        </p:nvSpPr>
        <p:spPr>
          <a:xfrm>
            <a:off x="6819900" y="2545849"/>
            <a:ext cx="3524250" cy="152400"/>
          </a:xfrm>
          <a:prstGeom prst="rect">
            <a:avLst/>
          </a:prstGeom>
          <a:noFill/>
          <a:ln w="0">
            <a:noFill/>
            <a:prstDash val="solid"/>
          </a:ln>
        </p:spPr>
        <p:txBody>
          <a:bodyPr/>
          <a:lstStyle/>
          <a:p>
            <a:pPr>
              <a:defRPr sz="713" b="1">
                <a:solidFill>
                  <a:srgbClr val="59636E"/>
                </a:solidFill>
                <a:latin typeface="Arial"/>
                <a:ea typeface="Arial"/>
                <a:cs typeface="Arial"/>
              </a:defRPr>
            </a:pPr>
            <a:r>
              <a:rPr sz="713" b="1">
                <a:solidFill>
                  <a:srgbClr val="59636E"/>
                </a:solidFill>
                <a:latin typeface="Arial"/>
                <a:ea typeface="Arial"/>
                <a:cs typeface="Arial"/>
              </a:rPr>
              <a:t>Exact conditions from CarenR output</a:t>
            </a:r>
          </a:p>
        </p:txBody>
      </p:sp>
      <p:sp>
        <p:nvSpPr>
          <p:cNvPr id="100" name="VINHO VERDE (RVV) · top 5 exact rules-h3">
            <a:extLst>
              <a:ext uri="{FF2B5EF4-FFF2-40B4-BE49-F238E27FC236}">
                <a16:creationId xmlns:a16="http://schemas.microsoft.com/office/drawing/2014/main" id="{55B8D43B-E474-4BCA-A049-74EA1BED8912}"/>
              </a:ext>
            </a:extLst>
          </p:cNvPr>
          <p:cNvSpPr>
            <a:spLocks noGrp="1"/>
          </p:cNvSpPr>
          <p:nvPr/>
        </p:nvSpPr>
        <p:spPr>
          <a:xfrm>
            <a:off x="10363200" y="2545849"/>
            <a:ext cx="666750" cy="152400"/>
          </a:xfrm>
          <a:prstGeom prst="rect">
            <a:avLst/>
          </a:prstGeom>
          <a:noFill/>
          <a:ln w="0">
            <a:noFill/>
            <a:prstDash val="solid"/>
          </a:ln>
        </p:spPr>
        <p:txBody>
          <a:bodyPr/>
          <a:lstStyle/>
          <a:p>
            <a:pPr algn="ctr">
              <a:defRPr sz="713" b="1">
                <a:solidFill>
                  <a:srgbClr val="59636E"/>
                </a:solidFill>
                <a:latin typeface="Arial"/>
                <a:ea typeface="Arial"/>
                <a:cs typeface="Arial"/>
              </a:defRPr>
            </a:pPr>
            <a:r>
              <a:rPr sz="713" b="1">
                <a:solidFill>
                  <a:srgbClr val="59636E"/>
                </a:solidFill>
                <a:latin typeface="Arial"/>
                <a:ea typeface="Arial"/>
                <a:cs typeface="Arial"/>
              </a:rPr>
              <a:t>support / p</a:t>
            </a:r>
          </a:p>
        </p:txBody>
      </p:sp>
      <p:sp>
        <p:nvSpPr>
          <p:cNvPr id="101" name="VINHO VERDE (RVV) · top 5 exact rules-h4">
            <a:extLst>
              <a:ext uri="{FF2B5EF4-FFF2-40B4-BE49-F238E27FC236}">
                <a16:creationId xmlns:a16="http://schemas.microsoft.com/office/drawing/2014/main" id="{34B9BCE8-05ED-442D-B9B8-A2164DA4E2DF}"/>
              </a:ext>
            </a:extLst>
          </p:cNvPr>
          <p:cNvSpPr>
            <a:spLocks noGrp="1"/>
          </p:cNvSpPr>
          <p:nvPr/>
        </p:nvSpPr>
        <p:spPr>
          <a:xfrm>
            <a:off x="11077575" y="2545849"/>
            <a:ext cx="428625" cy="152400"/>
          </a:xfrm>
          <a:prstGeom prst="rect">
            <a:avLst/>
          </a:prstGeom>
          <a:noFill/>
          <a:ln w="0">
            <a:noFill/>
            <a:prstDash val="solid"/>
          </a:ln>
        </p:spPr>
        <p:txBody>
          <a:bodyPr/>
          <a:lstStyle/>
          <a:p>
            <a:pPr algn="r">
              <a:defRPr sz="713" b="1">
                <a:solidFill>
                  <a:srgbClr val="59636E"/>
                </a:solidFill>
                <a:latin typeface="Arial"/>
                <a:ea typeface="Arial"/>
                <a:cs typeface="Arial"/>
              </a:defRPr>
            </a:pPr>
            <a:r>
              <a:rPr sz="713" b="1">
                <a:solidFill>
                  <a:srgbClr val="59636E"/>
                </a:solidFill>
                <a:latin typeface="Arial"/>
                <a:ea typeface="Arial"/>
                <a:cs typeface="Arial"/>
              </a:rPr>
              <a:t>Delta</a:t>
            </a:r>
          </a:p>
        </p:txBody>
      </p:sp>
      <p:sp>
        <p:nvSpPr>
          <p:cNvPr id="102" name="VINHO VERDE (RVV) · top 5 exact rules-row-1">
            <a:extLst>
              <a:ext uri="{FF2B5EF4-FFF2-40B4-BE49-F238E27FC236}">
                <a16:creationId xmlns:a16="http://schemas.microsoft.com/office/drawing/2014/main" id="{D7BD76E6-6821-43A6-8AE1-E20D277E1525}"/>
              </a:ext>
            </a:extLst>
          </p:cNvPr>
          <p:cNvSpPr>
            <a:spLocks noGrp="1"/>
          </p:cNvSpPr>
          <p:nvPr/>
        </p:nvSpPr>
        <p:spPr>
          <a:xfrm>
            <a:off x="6438900" y="2745874"/>
            <a:ext cx="5133975" cy="542925"/>
          </a:xfrm>
          <a:prstGeom prst="rect">
            <a:avLst/>
          </a:prstGeom>
          <a:solidFill>
            <a:srgbClr val="FFFFFF"/>
          </a:solidFill>
          <a:ln w="9525">
            <a:solidFill>
              <a:srgbClr val="D6D1CB"/>
            </a:solidFill>
            <a:prstDash val="solid"/>
          </a:ln>
        </p:spPr>
        <p:txBody>
          <a:bodyPr/>
          <a:lstStyle/>
          <a:p>
            <a:endParaRPr lang="en-US"/>
          </a:p>
        </p:txBody>
      </p:sp>
      <p:sp>
        <p:nvSpPr>
          <p:cNvPr id="103" name="VINHO VERDE (RVV) · top 5 exact rules-rank-1">
            <a:extLst>
              <a:ext uri="{FF2B5EF4-FFF2-40B4-BE49-F238E27FC236}">
                <a16:creationId xmlns:a16="http://schemas.microsoft.com/office/drawing/2014/main" id="{3FEF6280-78A9-4E7E-A57F-A8E8EA6F0A3F}"/>
              </a:ext>
            </a:extLst>
          </p:cNvPr>
          <p:cNvSpPr>
            <a:spLocks noGrp="1"/>
          </p:cNvSpPr>
          <p:nvPr/>
        </p:nvSpPr>
        <p:spPr>
          <a:xfrm>
            <a:off x="6496050" y="2822074"/>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1</a:t>
            </a:r>
          </a:p>
        </p:txBody>
      </p:sp>
      <p:sp>
        <p:nvSpPr>
          <p:cNvPr id="104" name="VINHO VERDE (RVV) · top 5 exact rules-rule-1">
            <a:extLst>
              <a:ext uri="{FF2B5EF4-FFF2-40B4-BE49-F238E27FC236}">
                <a16:creationId xmlns:a16="http://schemas.microsoft.com/office/drawing/2014/main" id="{B9A8FD12-2CAE-4D4A-849A-41358D68AB93}"/>
              </a:ext>
            </a:extLst>
          </p:cNvPr>
          <p:cNvSpPr>
            <a:spLocks noGrp="1"/>
          </p:cNvSpPr>
          <p:nvPr/>
        </p:nvSpPr>
        <p:spPr>
          <a:xfrm>
            <a:off x="6819900" y="2812549"/>
            <a:ext cx="3429000" cy="419100"/>
          </a:xfrm>
          <a:prstGeom prst="rect">
            <a:avLst/>
          </a:prstGeom>
          <a:noFill/>
          <a:ln w="0">
            <a:noFill/>
            <a:prstDash val="solid"/>
          </a:ln>
        </p:spPr>
        <p:txBody>
          <a:bodyPr/>
          <a:lstStyle/>
          <a:p>
            <a:pPr>
              <a:defRPr sz="653">
                <a:solidFill>
                  <a:srgbClr val="111111"/>
                </a:solidFill>
                <a:latin typeface="Arial"/>
                <a:ea typeface="Arial"/>
                <a:cs typeface="Arial"/>
              </a:defRPr>
            </a:pPr>
            <a:r>
              <a:rPr sz="653">
                <a:solidFill>
                  <a:srgbClr val="111111"/>
                </a:solidFill>
                <a:latin typeface="Arial"/>
                <a:ea typeface="Arial"/>
                <a:cs typeface="Arial"/>
              </a:rPr>
              <a:t>Soil water pre-Harvest [61-97 mm]</a:t>
            </a:r>
          </a:p>
          <a:p>
            <a:pPr>
              <a:defRPr sz="653">
                <a:solidFill>
                  <a:srgbClr val="111111"/>
                </a:solidFill>
                <a:latin typeface="Arial"/>
                <a:ea typeface="Arial"/>
                <a:cs typeface="Arial"/>
              </a:defRPr>
            </a:pPr>
            <a:r>
              <a:rPr sz="653">
                <a:solidFill>
                  <a:srgbClr val="111111"/>
                </a:solidFill>
                <a:latin typeface="Arial"/>
                <a:ea typeface="Arial"/>
                <a:cs typeface="Arial"/>
              </a:rPr>
              <a:t>AND Heat days pre-Maturity [0-1.9 d]</a:t>
            </a:r>
          </a:p>
          <a:p>
            <a:pPr>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05" name="VINHO VERDE (RVV) · top 5 exact rules-stats-1">
            <a:extLst>
              <a:ext uri="{FF2B5EF4-FFF2-40B4-BE49-F238E27FC236}">
                <a16:creationId xmlns:a16="http://schemas.microsoft.com/office/drawing/2014/main" id="{7F3E0124-A510-48D2-95CF-82530F0D6AE3}"/>
              </a:ext>
            </a:extLst>
          </p:cNvPr>
          <p:cNvSpPr>
            <a:spLocks noGrp="1"/>
          </p:cNvSpPr>
          <p:nvPr/>
        </p:nvSpPr>
        <p:spPr>
          <a:xfrm>
            <a:off x="10363200" y="2850649"/>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21.2%</a:t>
            </a:r>
          </a:p>
          <a:p>
            <a:pPr algn="ctr">
              <a:defRPr sz="690">
                <a:solidFill>
                  <a:srgbClr val="59636E"/>
                </a:solidFill>
                <a:latin typeface="Arial"/>
                <a:ea typeface="Arial"/>
                <a:cs typeface="Arial"/>
              </a:defRPr>
            </a:pPr>
            <a:r>
              <a:rPr sz="690">
                <a:solidFill>
                  <a:srgbClr val="59636E"/>
                </a:solidFill>
                <a:latin typeface="Arial"/>
                <a:ea typeface="Arial"/>
                <a:cs typeface="Arial"/>
              </a:rPr>
              <a:t>~17 yr</a:t>
            </a:r>
          </a:p>
          <a:p>
            <a:pPr algn="ctr">
              <a:defRPr sz="690">
                <a:solidFill>
                  <a:srgbClr val="59636E"/>
                </a:solidFill>
                <a:latin typeface="Arial"/>
                <a:ea typeface="Arial"/>
                <a:cs typeface="Arial"/>
              </a:defRPr>
            </a:pPr>
            <a:r>
              <a:rPr sz="690">
                <a:solidFill>
                  <a:srgbClr val="59636E"/>
                </a:solidFill>
                <a:latin typeface="Arial"/>
                <a:ea typeface="Arial"/>
                <a:cs typeface="Arial"/>
              </a:rPr>
              <a:t>p=0.0198</a:t>
            </a:r>
          </a:p>
        </p:txBody>
      </p:sp>
      <p:sp>
        <p:nvSpPr>
          <p:cNvPr id="106" name="VINHO VERDE (RVV) · top 5 exact rules-delta-1">
            <a:extLst>
              <a:ext uri="{FF2B5EF4-FFF2-40B4-BE49-F238E27FC236}">
                <a16:creationId xmlns:a16="http://schemas.microsoft.com/office/drawing/2014/main" id="{AF9FE562-0DCD-44DE-A1DF-EAA7C0609DE9}"/>
              </a:ext>
            </a:extLst>
          </p:cNvPr>
          <p:cNvSpPr>
            <a:spLocks noGrp="1"/>
          </p:cNvSpPr>
          <p:nvPr/>
        </p:nvSpPr>
        <p:spPr>
          <a:xfrm>
            <a:off x="11039475" y="2888749"/>
            <a:ext cx="476250" cy="190500"/>
          </a:xfrm>
          <a:prstGeom prst="rect">
            <a:avLst/>
          </a:prstGeom>
          <a:noFill/>
          <a:ln w="0">
            <a:noFill/>
            <a:prstDash val="solid"/>
          </a:ln>
        </p:spPr>
        <p:txBody>
          <a:bodyPr/>
          <a:lstStyle/>
          <a:p>
            <a:pPr algn="r">
              <a:defRPr sz="810" b="1">
                <a:solidFill>
                  <a:srgbClr val="8B1E3F"/>
                </a:solidFill>
                <a:latin typeface="Arial"/>
                <a:ea typeface="Arial"/>
                <a:cs typeface="Arial"/>
              </a:defRPr>
            </a:pPr>
            <a:r>
              <a:rPr sz="810" b="1">
                <a:solidFill>
                  <a:srgbClr val="8B1E3F"/>
                </a:solidFill>
                <a:latin typeface="Arial"/>
                <a:ea typeface="Arial"/>
                <a:cs typeface="Arial"/>
              </a:rPr>
              <a:t>-338</a:t>
            </a:r>
          </a:p>
        </p:txBody>
      </p:sp>
      <p:sp>
        <p:nvSpPr>
          <p:cNvPr id="107" name="VINHO VERDE (RVV) · top 5 exact rules-row-2">
            <a:extLst>
              <a:ext uri="{FF2B5EF4-FFF2-40B4-BE49-F238E27FC236}">
                <a16:creationId xmlns:a16="http://schemas.microsoft.com/office/drawing/2014/main" id="{373D1EC2-BBAB-46B0-854D-EA275A5D83A5}"/>
              </a:ext>
            </a:extLst>
          </p:cNvPr>
          <p:cNvSpPr>
            <a:spLocks noGrp="1"/>
          </p:cNvSpPr>
          <p:nvPr/>
        </p:nvSpPr>
        <p:spPr>
          <a:xfrm>
            <a:off x="6438900" y="3307849"/>
            <a:ext cx="5133975" cy="542925"/>
          </a:xfrm>
          <a:prstGeom prst="rect">
            <a:avLst/>
          </a:prstGeom>
          <a:solidFill>
            <a:srgbClr val="FAFAFA"/>
          </a:solidFill>
          <a:ln w="9525">
            <a:solidFill>
              <a:srgbClr val="D6D1CB"/>
            </a:solidFill>
            <a:prstDash val="solid"/>
          </a:ln>
        </p:spPr>
        <p:txBody>
          <a:bodyPr/>
          <a:lstStyle/>
          <a:p>
            <a:endParaRPr lang="en-US"/>
          </a:p>
        </p:txBody>
      </p:sp>
      <p:sp>
        <p:nvSpPr>
          <p:cNvPr id="108" name="VINHO VERDE (RVV) · top 5 exact rules-rank-2">
            <a:extLst>
              <a:ext uri="{FF2B5EF4-FFF2-40B4-BE49-F238E27FC236}">
                <a16:creationId xmlns:a16="http://schemas.microsoft.com/office/drawing/2014/main" id="{A4E68810-86DA-43E2-9F8A-A0A4961C36A6}"/>
              </a:ext>
            </a:extLst>
          </p:cNvPr>
          <p:cNvSpPr>
            <a:spLocks noGrp="1"/>
          </p:cNvSpPr>
          <p:nvPr/>
        </p:nvSpPr>
        <p:spPr>
          <a:xfrm>
            <a:off x="6496050" y="3384049"/>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2</a:t>
            </a:r>
          </a:p>
        </p:txBody>
      </p:sp>
      <p:sp>
        <p:nvSpPr>
          <p:cNvPr id="109" name="VINHO VERDE (RVV) · top 5 exact rules-rule-2">
            <a:extLst>
              <a:ext uri="{FF2B5EF4-FFF2-40B4-BE49-F238E27FC236}">
                <a16:creationId xmlns:a16="http://schemas.microsoft.com/office/drawing/2014/main" id="{6FF208B0-12A0-4F78-B688-A2C32692E926}"/>
              </a:ext>
            </a:extLst>
          </p:cNvPr>
          <p:cNvSpPr>
            <a:spLocks noGrp="1"/>
          </p:cNvSpPr>
          <p:nvPr/>
        </p:nvSpPr>
        <p:spPr>
          <a:xfrm>
            <a:off x="6819900" y="3374524"/>
            <a:ext cx="3429000" cy="419100"/>
          </a:xfrm>
          <a:prstGeom prst="rect">
            <a:avLst/>
          </a:prstGeom>
          <a:noFill/>
          <a:ln w="0">
            <a:noFill/>
            <a:prstDash val="solid"/>
          </a:ln>
        </p:spPr>
        <p:txBody>
          <a:bodyPr/>
          <a:lstStyle/>
          <a:p>
            <a:pPr>
              <a:defRPr sz="653">
                <a:solidFill>
                  <a:srgbClr val="111111"/>
                </a:solidFill>
                <a:latin typeface="Arial"/>
                <a:ea typeface="Arial"/>
                <a:cs typeface="Arial"/>
              </a:defRPr>
            </a:pPr>
            <a:r>
              <a:rPr sz="653">
                <a:solidFill>
                  <a:srgbClr val="111111"/>
                </a:solidFill>
                <a:latin typeface="Arial"/>
                <a:ea typeface="Arial"/>
                <a:cs typeface="Arial"/>
              </a:rPr>
              <a:t>Temp at Flowering [13.8-17.1 deg C]</a:t>
            </a:r>
          </a:p>
          <a:p>
            <a:pPr>
              <a:defRPr sz="653">
                <a:solidFill>
                  <a:srgbClr val="111111"/>
                </a:solidFill>
                <a:latin typeface="Arial"/>
                <a:ea typeface="Arial"/>
                <a:cs typeface="Arial"/>
              </a:defRPr>
            </a:pPr>
            <a:r>
              <a:rPr sz="653">
                <a:solidFill>
                  <a:srgbClr val="111111"/>
                </a:solidFill>
                <a:latin typeface="Arial"/>
                <a:ea typeface="Arial"/>
                <a:cs typeface="Arial"/>
              </a:rPr>
              <a:t>AND Temp post-Flowering [12.6-17.5 deg C]</a:t>
            </a:r>
          </a:p>
          <a:p>
            <a:pPr>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10" name="VINHO VERDE (RVV) · top 5 exact rules-stats-2">
            <a:extLst>
              <a:ext uri="{FF2B5EF4-FFF2-40B4-BE49-F238E27FC236}">
                <a16:creationId xmlns:a16="http://schemas.microsoft.com/office/drawing/2014/main" id="{A00D6CA8-3B4D-4693-92FC-25EE8654DD1C}"/>
              </a:ext>
            </a:extLst>
          </p:cNvPr>
          <p:cNvSpPr>
            <a:spLocks noGrp="1"/>
          </p:cNvSpPr>
          <p:nvPr/>
        </p:nvSpPr>
        <p:spPr>
          <a:xfrm>
            <a:off x="10363200" y="3412624"/>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21.2%</a:t>
            </a:r>
          </a:p>
          <a:p>
            <a:pPr algn="ctr">
              <a:defRPr sz="690">
                <a:solidFill>
                  <a:srgbClr val="59636E"/>
                </a:solidFill>
                <a:latin typeface="Arial"/>
                <a:ea typeface="Arial"/>
                <a:cs typeface="Arial"/>
              </a:defRPr>
            </a:pPr>
            <a:r>
              <a:rPr sz="690">
                <a:solidFill>
                  <a:srgbClr val="59636E"/>
                </a:solidFill>
                <a:latin typeface="Arial"/>
                <a:ea typeface="Arial"/>
                <a:cs typeface="Arial"/>
              </a:rPr>
              <a:t>~17 yr</a:t>
            </a:r>
          </a:p>
          <a:p>
            <a:pPr algn="ctr">
              <a:defRPr sz="690">
                <a:solidFill>
                  <a:srgbClr val="59636E"/>
                </a:solidFill>
                <a:latin typeface="Arial"/>
                <a:ea typeface="Arial"/>
                <a:cs typeface="Arial"/>
              </a:defRPr>
            </a:pPr>
            <a:r>
              <a:rPr sz="690">
                <a:solidFill>
                  <a:srgbClr val="59636E"/>
                </a:solidFill>
                <a:latin typeface="Arial"/>
                <a:ea typeface="Arial"/>
                <a:cs typeface="Arial"/>
              </a:rPr>
              <a:t>p=0.0216</a:t>
            </a:r>
          </a:p>
        </p:txBody>
      </p:sp>
      <p:sp>
        <p:nvSpPr>
          <p:cNvPr id="111" name="VINHO VERDE (RVV) · top 5 exact rules-delta-2">
            <a:extLst>
              <a:ext uri="{FF2B5EF4-FFF2-40B4-BE49-F238E27FC236}">
                <a16:creationId xmlns:a16="http://schemas.microsoft.com/office/drawing/2014/main" id="{941CB26F-CCE5-40EE-A42B-C13290AFA9E7}"/>
              </a:ext>
            </a:extLst>
          </p:cNvPr>
          <p:cNvSpPr>
            <a:spLocks noGrp="1"/>
          </p:cNvSpPr>
          <p:nvPr/>
        </p:nvSpPr>
        <p:spPr>
          <a:xfrm>
            <a:off x="11039475" y="3450724"/>
            <a:ext cx="476250" cy="190500"/>
          </a:xfrm>
          <a:prstGeom prst="rect">
            <a:avLst/>
          </a:prstGeom>
          <a:noFill/>
          <a:ln w="0">
            <a:noFill/>
            <a:prstDash val="solid"/>
          </a:ln>
        </p:spPr>
        <p:txBody>
          <a:bodyPr/>
          <a:lstStyle/>
          <a:p>
            <a:pPr algn="r">
              <a:defRPr sz="810" b="1">
                <a:solidFill>
                  <a:srgbClr val="8B1E3F"/>
                </a:solidFill>
                <a:latin typeface="Arial"/>
                <a:ea typeface="Arial"/>
                <a:cs typeface="Arial"/>
              </a:defRPr>
            </a:pPr>
            <a:r>
              <a:rPr sz="810" b="1">
                <a:solidFill>
                  <a:srgbClr val="8B1E3F"/>
                </a:solidFill>
                <a:latin typeface="Arial"/>
                <a:ea typeface="Arial"/>
                <a:cs typeface="Arial"/>
              </a:rPr>
              <a:t>-268</a:t>
            </a:r>
          </a:p>
        </p:txBody>
      </p:sp>
      <p:sp>
        <p:nvSpPr>
          <p:cNvPr id="112" name="VINHO VERDE (RVV) · top 5 exact rules-row-3">
            <a:extLst>
              <a:ext uri="{FF2B5EF4-FFF2-40B4-BE49-F238E27FC236}">
                <a16:creationId xmlns:a16="http://schemas.microsoft.com/office/drawing/2014/main" id="{C0D271DF-9622-40DD-AEFD-79DD728EFAE6}"/>
              </a:ext>
            </a:extLst>
          </p:cNvPr>
          <p:cNvSpPr>
            <a:spLocks noGrp="1"/>
          </p:cNvSpPr>
          <p:nvPr/>
        </p:nvSpPr>
        <p:spPr>
          <a:xfrm>
            <a:off x="6438900" y="3869824"/>
            <a:ext cx="5133975" cy="542925"/>
          </a:xfrm>
          <a:prstGeom prst="rect">
            <a:avLst/>
          </a:prstGeom>
          <a:solidFill>
            <a:srgbClr val="FFFFFF"/>
          </a:solidFill>
          <a:ln w="9525">
            <a:solidFill>
              <a:srgbClr val="D6D1CB"/>
            </a:solidFill>
            <a:prstDash val="solid"/>
          </a:ln>
        </p:spPr>
        <p:txBody>
          <a:bodyPr/>
          <a:lstStyle/>
          <a:p>
            <a:endParaRPr lang="en-US"/>
          </a:p>
        </p:txBody>
      </p:sp>
      <p:sp>
        <p:nvSpPr>
          <p:cNvPr id="113" name="VINHO VERDE (RVV) · top 5 exact rules-rank-3">
            <a:extLst>
              <a:ext uri="{FF2B5EF4-FFF2-40B4-BE49-F238E27FC236}">
                <a16:creationId xmlns:a16="http://schemas.microsoft.com/office/drawing/2014/main" id="{2AF7C3BD-C819-4FE0-BA17-582FBCE8C350}"/>
              </a:ext>
            </a:extLst>
          </p:cNvPr>
          <p:cNvSpPr>
            <a:spLocks noGrp="1"/>
          </p:cNvSpPr>
          <p:nvPr/>
        </p:nvSpPr>
        <p:spPr>
          <a:xfrm>
            <a:off x="6496050" y="3946024"/>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3</a:t>
            </a:r>
          </a:p>
        </p:txBody>
      </p:sp>
      <p:sp>
        <p:nvSpPr>
          <p:cNvPr id="114" name="VINHO VERDE (RVV) · top 5 exact rules-rule-3">
            <a:extLst>
              <a:ext uri="{FF2B5EF4-FFF2-40B4-BE49-F238E27FC236}">
                <a16:creationId xmlns:a16="http://schemas.microsoft.com/office/drawing/2014/main" id="{428B43F6-F93F-4B8C-88E1-D615DF4D7676}"/>
              </a:ext>
            </a:extLst>
          </p:cNvPr>
          <p:cNvSpPr>
            <a:spLocks noGrp="1"/>
          </p:cNvSpPr>
          <p:nvPr/>
        </p:nvSpPr>
        <p:spPr>
          <a:xfrm>
            <a:off x="6819900" y="3936499"/>
            <a:ext cx="3429000" cy="419100"/>
          </a:xfrm>
          <a:prstGeom prst="rect">
            <a:avLst/>
          </a:prstGeom>
          <a:noFill/>
          <a:ln w="0">
            <a:noFill/>
            <a:prstDash val="solid"/>
          </a:ln>
        </p:spPr>
        <p:txBody>
          <a:bodyPr/>
          <a:lstStyle/>
          <a:p>
            <a:pPr>
              <a:defRPr sz="698">
                <a:solidFill>
                  <a:srgbClr val="111111"/>
                </a:solidFill>
                <a:latin typeface="Arial"/>
                <a:ea typeface="Arial"/>
                <a:cs typeface="Arial"/>
              </a:defRPr>
            </a:pPr>
            <a:r>
              <a:rPr sz="698">
                <a:solidFill>
                  <a:srgbClr val="111111"/>
                </a:solidFill>
                <a:latin typeface="Arial"/>
                <a:ea typeface="Arial"/>
                <a:cs typeface="Arial"/>
              </a:rPr>
              <a:t>Soil water post-Flowering [143-234 mm]</a:t>
            </a:r>
          </a:p>
          <a:p>
            <a:pPr>
              <a:defRPr sz="698">
                <a:solidFill>
                  <a:srgbClr val="111111"/>
                </a:solidFill>
                <a:latin typeface="Arial"/>
                <a:ea typeface="Arial"/>
                <a:cs typeface="Arial"/>
              </a:defRPr>
            </a:pPr>
            <a:r>
              <a:rPr sz="698">
                <a:solidFill>
                  <a:srgbClr val="111111"/>
                </a:solidFill>
                <a:latin typeface="Arial"/>
                <a:ea typeface="Arial"/>
                <a:cs typeface="Arial"/>
              </a:rPr>
              <a:t>AND Heat days post-Maturity [0-2.4 d]</a:t>
            </a:r>
          </a:p>
        </p:txBody>
      </p:sp>
      <p:sp>
        <p:nvSpPr>
          <p:cNvPr id="115" name="VINHO VERDE (RVV) · top 5 exact rules-stats-3">
            <a:extLst>
              <a:ext uri="{FF2B5EF4-FFF2-40B4-BE49-F238E27FC236}">
                <a16:creationId xmlns:a16="http://schemas.microsoft.com/office/drawing/2014/main" id="{1F4B5520-16D5-4437-ABB5-D4BCB81A75C1}"/>
              </a:ext>
            </a:extLst>
          </p:cNvPr>
          <p:cNvSpPr>
            <a:spLocks noGrp="1"/>
          </p:cNvSpPr>
          <p:nvPr/>
        </p:nvSpPr>
        <p:spPr>
          <a:xfrm>
            <a:off x="10363200" y="3974599"/>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27.5%</a:t>
            </a:r>
          </a:p>
          <a:p>
            <a:pPr algn="ctr">
              <a:defRPr sz="690">
                <a:solidFill>
                  <a:srgbClr val="59636E"/>
                </a:solidFill>
                <a:latin typeface="Arial"/>
                <a:ea typeface="Arial"/>
                <a:cs typeface="Arial"/>
              </a:defRPr>
            </a:pPr>
            <a:r>
              <a:rPr sz="690">
                <a:solidFill>
                  <a:srgbClr val="59636E"/>
                </a:solidFill>
                <a:latin typeface="Arial"/>
                <a:ea typeface="Arial"/>
                <a:cs typeface="Arial"/>
              </a:rPr>
              <a:t>~22 yr</a:t>
            </a:r>
          </a:p>
          <a:p>
            <a:pPr algn="ctr">
              <a:defRPr sz="690">
                <a:solidFill>
                  <a:srgbClr val="59636E"/>
                </a:solidFill>
                <a:latin typeface="Arial"/>
                <a:ea typeface="Arial"/>
                <a:cs typeface="Arial"/>
              </a:defRPr>
            </a:pPr>
            <a:r>
              <a:rPr sz="690">
                <a:solidFill>
                  <a:srgbClr val="59636E"/>
                </a:solidFill>
                <a:latin typeface="Arial"/>
                <a:ea typeface="Arial"/>
                <a:cs typeface="Arial"/>
              </a:rPr>
              <a:t>p=0.0294</a:t>
            </a:r>
          </a:p>
        </p:txBody>
      </p:sp>
      <p:sp>
        <p:nvSpPr>
          <p:cNvPr id="116" name="VINHO VERDE (RVV) · top 5 exact rules-delta-3">
            <a:extLst>
              <a:ext uri="{FF2B5EF4-FFF2-40B4-BE49-F238E27FC236}">
                <a16:creationId xmlns:a16="http://schemas.microsoft.com/office/drawing/2014/main" id="{10845E78-9200-4353-9A9A-EA2F0AA445A4}"/>
              </a:ext>
            </a:extLst>
          </p:cNvPr>
          <p:cNvSpPr>
            <a:spLocks noGrp="1"/>
          </p:cNvSpPr>
          <p:nvPr/>
        </p:nvSpPr>
        <p:spPr>
          <a:xfrm>
            <a:off x="11039475" y="4012699"/>
            <a:ext cx="476250" cy="190500"/>
          </a:xfrm>
          <a:prstGeom prst="rect">
            <a:avLst/>
          </a:prstGeom>
          <a:noFill/>
          <a:ln w="0">
            <a:noFill/>
            <a:prstDash val="solid"/>
          </a:ln>
        </p:spPr>
        <p:txBody>
          <a:bodyPr/>
          <a:lstStyle/>
          <a:p>
            <a:pPr algn="r">
              <a:defRPr sz="810" b="1">
                <a:solidFill>
                  <a:srgbClr val="8B1E3F"/>
                </a:solidFill>
                <a:latin typeface="Arial"/>
                <a:ea typeface="Arial"/>
                <a:cs typeface="Arial"/>
              </a:defRPr>
            </a:pPr>
            <a:r>
              <a:rPr sz="810" b="1">
                <a:solidFill>
                  <a:srgbClr val="8B1E3F"/>
                </a:solidFill>
                <a:latin typeface="Arial"/>
                <a:ea typeface="Arial"/>
                <a:cs typeface="Arial"/>
              </a:rPr>
              <a:t>-365</a:t>
            </a:r>
          </a:p>
        </p:txBody>
      </p:sp>
      <p:sp>
        <p:nvSpPr>
          <p:cNvPr id="117" name="VINHO VERDE (RVV) · top 5 exact rules-row-4">
            <a:extLst>
              <a:ext uri="{FF2B5EF4-FFF2-40B4-BE49-F238E27FC236}">
                <a16:creationId xmlns:a16="http://schemas.microsoft.com/office/drawing/2014/main" id="{075D8346-807F-4E72-837A-F3385F79D05F}"/>
              </a:ext>
            </a:extLst>
          </p:cNvPr>
          <p:cNvSpPr>
            <a:spLocks noGrp="1"/>
          </p:cNvSpPr>
          <p:nvPr/>
        </p:nvSpPr>
        <p:spPr>
          <a:xfrm>
            <a:off x="6438900" y="4431799"/>
            <a:ext cx="5133975" cy="542925"/>
          </a:xfrm>
          <a:prstGeom prst="rect">
            <a:avLst/>
          </a:prstGeom>
          <a:solidFill>
            <a:srgbClr val="FAFAFA"/>
          </a:solidFill>
          <a:ln w="9525">
            <a:solidFill>
              <a:srgbClr val="D6D1CB"/>
            </a:solidFill>
            <a:prstDash val="solid"/>
          </a:ln>
        </p:spPr>
        <p:txBody>
          <a:bodyPr/>
          <a:lstStyle/>
          <a:p>
            <a:endParaRPr lang="en-US"/>
          </a:p>
        </p:txBody>
      </p:sp>
      <p:sp>
        <p:nvSpPr>
          <p:cNvPr id="118" name="VINHO VERDE (RVV) · top 5 exact rules-rank-4">
            <a:extLst>
              <a:ext uri="{FF2B5EF4-FFF2-40B4-BE49-F238E27FC236}">
                <a16:creationId xmlns:a16="http://schemas.microsoft.com/office/drawing/2014/main" id="{EFC3FE7D-F18B-45E5-8B09-5F83FD43BAB2}"/>
              </a:ext>
            </a:extLst>
          </p:cNvPr>
          <p:cNvSpPr>
            <a:spLocks noGrp="1"/>
          </p:cNvSpPr>
          <p:nvPr/>
        </p:nvSpPr>
        <p:spPr>
          <a:xfrm>
            <a:off x="6496050" y="4507999"/>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4</a:t>
            </a:r>
          </a:p>
        </p:txBody>
      </p:sp>
      <p:sp>
        <p:nvSpPr>
          <p:cNvPr id="119" name="VINHO VERDE (RVV) · top 5 exact rules-rule-4">
            <a:extLst>
              <a:ext uri="{FF2B5EF4-FFF2-40B4-BE49-F238E27FC236}">
                <a16:creationId xmlns:a16="http://schemas.microsoft.com/office/drawing/2014/main" id="{D47BE7F3-B4B5-411B-9414-C2751495F078}"/>
              </a:ext>
            </a:extLst>
          </p:cNvPr>
          <p:cNvSpPr>
            <a:spLocks noGrp="1"/>
          </p:cNvSpPr>
          <p:nvPr/>
        </p:nvSpPr>
        <p:spPr>
          <a:xfrm>
            <a:off x="6819900" y="4498474"/>
            <a:ext cx="3429000" cy="419100"/>
          </a:xfrm>
          <a:prstGeom prst="rect">
            <a:avLst/>
          </a:prstGeom>
          <a:noFill/>
          <a:ln w="0">
            <a:noFill/>
            <a:prstDash val="solid"/>
          </a:ln>
        </p:spPr>
        <p:txBody>
          <a:bodyPr/>
          <a:lstStyle/>
          <a:p>
            <a:pPr>
              <a:defRPr sz="653">
                <a:solidFill>
                  <a:srgbClr val="111111"/>
                </a:solidFill>
                <a:latin typeface="Arial"/>
                <a:ea typeface="Arial"/>
                <a:cs typeface="Arial"/>
              </a:defRPr>
            </a:pPr>
            <a:r>
              <a:rPr sz="653">
                <a:solidFill>
                  <a:srgbClr val="111111"/>
                </a:solidFill>
                <a:latin typeface="Arial"/>
                <a:ea typeface="Arial"/>
                <a:cs typeface="Arial"/>
              </a:rPr>
              <a:t>Temp post-Budburst prev.yr [11.2-13.5 deg C]</a:t>
            </a:r>
          </a:p>
          <a:p>
            <a:pPr>
              <a:defRPr sz="653">
                <a:solidFill>
                  <a:srgbClr val="111111"/>
                </a:solidFill>
                <a:latin typeface="Arial"/>
                <a:ea typeface="Arial"/>
                <a:cs typeface="Arial"/>
              </a:defRPr>
            </a:pPr>
            <a:r>
              <a:rPr sz="653">
                <a:solidFill>
                  <a:srgbClr val="111111"/>
                </a:solidFill>
                <a:latin typeface="Arial"/>
                <a:ea typeface="Arial"/>
                <a:cs typeface="Arial"/>
              </a:rPr>
              <a:t>AND Cold days at Flowering [0-3.4 d]</a:t>
            </a:r>
          </a:p>
          <a:p>
            <a:pPr>
              <a:defRPr sz="653">
                <a:solidFill>
                  <a:srgbClr val="111111"/>
                </a:solidFill>
                <a:latin typeface="Arial"/>
                <a:ea typeface="Arial"/>
                <a:cs typeface="Arial"/>
              </a:defRPr>
            </a:pPr>
            <a:r>
              <a:rPr sz="653">
                <a:solidFill>
                  <a:srgbClr val="111111"/>
                </a:solidFill>
                <a:latin typeface="Arial"/>
                <a:ea typeface="Arial"/>
                <a:cs typeface="Arial"/>
              </a:rPr>
              <a:t>AND Heat days post-Flowering [0-1.1 d]</a:t>
            </a:r>
          </a:p>
        </p:txBody>
      </p:sp>
      <p:sp>
        <p:nvSpPr>
          <p:cNvPr id="120" name="VINHO VERDE (RVV) · top 5 exact rules-stats-4">
            <a:extLst>
              <a:ext uri="{FF2B5EF4-FFF2-40B4-BE49-F238E27FC236}">
                <a16:creationId xmlns:a16="http://schemas.microsoft.com/office/drawing/2014/main" id="{2508B91C-B98B-4574-B6A5-4C8959FBAE7A}"/>
              </a:ext>
            </a:extLst>
          </p:cNvPr>
          <p:cNvSpPr>
            <a:spLocks noGrp="1"/>
          </p:cNvSpPr>
          <p:nvPr/>
        </p:nvSpPr>
        <p:spPr>
          <a:xfrm>
            <a:off x="10363200" y="4536574"/>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25.0%</a:t>
            </a:r>
          </a:p>
          <a:p>
            <a:pPr algn="ctr">
              <a:defRPr sz="690">
                <a:solidFill>
                  <a:srgbClr val="59636E"/>
                </a:solidFill>
                <a:latin typeface="Arial"/>
                <a:ea typeface="Arial"/>
                <a:cs typeface="Arial"/>
              </a:defRPr>
            </a:pPr>
            <a:r>
              <a:rPr sz="690">
                <a:solidFill>
                  <a:srgbClr val="59636E"/>
                </a:solidFill>
                <a:latin typeface="Arial"/>
                <a:ea typeface="Arial"/>
                <a:cs typeface="Arial"/>
              </a:rPr>
              <a:t>~20 yr</a:t>
            </a:r>
          </a:p>
          <a:p>
            <a:pPr algn="ctr">
              <a:defRPr sz="690">
                <a:solidFill>
                  <a:srgbClr val="59636E"/>
                </a:solidFill>
                <a:latin typeface="Arial"/>
                <a:ea typeface="Arial"/>
                <a:cs typeface="Arial"/>
              </a:defRPr>
            </a:pPr>
            <a:r>
              <a:rPr sz="690">
                <a:solidFill>
                  <a:srgbClr val="59636E"/>
                </a:solidFill>
                <a:latin typeface="Arial"/>
                <a:ea typeface="Arial"/>
                <a:cs typeface="Arial"/>
              </a:rPr>
              <a:t>p=0.0298</a:t>
            </a:r>
          </a:p>
        </p:txBody>
      </p:sp>
      <p:sp>
        <p:nvSpPr>
          <p:cNvPr id="121" name="VINHO VERDE (RVV) · top 5 exact rules-delta-4">
            <a:extLst>
              <a:ext uri="{FF2B5EF4-FFF2-40B4-BE49-F238E27FC236}">
                <a16:creationId xmlns:a16="http://schemas.microsoft.com/office/drawing/2014/main" id="{A63417C1-8376-4A5A-96C8-8CCF9FD81DF7}"/>
              </a:ext>
            </a:extLst>
          </p:cNvPr>
          <p:cNvSpPr>
            <a:spLocks noGrp="1"/>
          </p:cNvSpPr>
          <p:nvPr/>
        </p:nvSpPr>
        <p:spPr>
          <a:xfrm>
            <a:off x="11039475" y="4574674"/>
            <a:ext cx="476250" cy="190500"/>
          </a:xfrm>
          <a:prstGeom prst="rect">
            <a:avLst/>
          </a:prstGeom>
          <a:noFill/>
          <a:ln w="0">
            <a:noFill/>
            <a:prstDash val="solid"/>
          </a:ln>
        </p:spPr>
        <p:txBody>
          <a:bodyPr/>
          <a:lstStyle/>
          <a:p>
            <a:pPr algn="r">
              <a:defRPr sz="810" b="1">
                <a:solidFill>
                  <a:srgbClr val="006B45"/>
                </a:solidFill>
                <a:latin typeface="Arial"/>
                <a:ea typeface="Arial"/>
                <a:cs typeface="Arial"/>
              </a:defRPr>
            </a:pPr>
            <a:r>
              <a:rPr sz="810" b="1">
                <a:solidFill>
                  <a:srgbClr val="006B45"/>
                </a:solidFill>
                <a:latin typeface="Arial"/>
                <a:ea typeface="Arial"/>
                <a:cs typeface="Arial"/>
              </a:rPr>
              <a:t>+311</a:t>
            </a:r>
          </a:p>
        </p:txBody>
      </p:sp>
      <p:sp>
        <p:nvSpPr>
          <p:cNvPr id="122" name="VINHO VERDE (RVV) · top 5 exact rules-row-5">
            <a:extLst>
              <a:ext uri="{FF2B5EF4-FFF2-40B4-BE49-F238E27FC236}">
                <a16:creationId xmlns:a16="http://schemas.microsoft.com/office/drawing/2014/main" id="{BA18AF68-02F7-4E70-AC08-9AB15AA1948A}"/>
              </a:ext>
            </a:extLst>
          </p:cNvPr>
          <p:cNvSpPr>
            <a:spLocks noGrp="1"/>
          </p:cNvSpPr>
          <p:nvPr/>
        </p:nvSpPr>
        <p:spPr>
          <a:xfrm>
            <a:off x="6438900" y="4993774"/>
            <a:ext cx="5133975" cy="542925"/>
          </a:xfrm>
          <a:prstGeom prst="rect">
            <a:avLst/>
          </a:prstGeom>
          <a:solidFill>
            <a:srgbClr val="FFFFFF"/>
          </a:solidFill>
          <a:ln w="9525">
            <a:solidFill>
              <a:srgbClr val="D6D1CB"/>
            </a:solidFill>
            <a:prstDash val="solid"/>
          </a:ln>
        </p:spPr>
        <p:txBody>
          <a:bodyPr/>
          <a:lstStyle/>
          <a:p>
            <a:endParaRPr lang="en-US"/>
          </a:p>
        </p:txBody>
      </p:sp>
      <p:sp>
        <p:nvSpPr>
          <p:cNvPr id="123" name="VINHO VERDE (RVV) · top 5 exact rules-rank-5">
            <a:extLst>
              <a:ext uri="{FF2B5EF4-FFF2-40B4-BE49-F238E27FC236}">
                <a16:creationId xmlns:a16="http://schemas.microsoft.com/office/drawing/2014/main" id="{8B7A3652-A3A9-4FBE-934D-F3A4FDCC9B94}"/>
              </a:ext>
            </a:extLst>
          </p:cNvPr>
          <p:cNvSpPr>
            <a:spLocks noGrp="1"/>
          </p:cNvSpPr>
          <p:nvPr/>
        </p:nvSpPr>
        <p:spPr>
          <a:xfrm>
            <a:off x="6496050" y="5069974"/>
            <a:ext cx="247650" cy="171450"/>
          </a:xfrm>
          <a:prstGeom prst="rect">
            <a:avLst/>
          </a:prstGeom>
          <a:noFill/>
          <a:ln w="0">
            <a:noFill/>
            <a:prstDash val="solid"/>
          </a:ln>
        </p:spPr>
        <p:txBody>
          <a:bodyPr/>
          <a:lstStyle/>
          <a:p>
            <a:pPr algn="ctr">
              <a:defRPr sz="788" b="1">
                <a:solidFill>
                  <a:srgbClr val="7B1E3A"/>
                </a:solidFill>
                <a:latin typeface="Arial"/>
                <a:ea typeface="Arial"/>
                <a:cs typeface="Arial"/>
              </a:defRPr>
            </a:pPr>
            <a:r>
              <a:rPr sz="788" b="1">
                <a:solidFill>
                  <a:srgbClr val="7B1E3A"/>
                </a:solidFill>
                <a:latin typeface="Arial"/>
                <a:ea typeface="Arial"/>
                <a:cs typeface="Arial"/>
              </a:rPr>
              <a:t>5</a:t>
            </a:r>
          </a:p>
        </p:txBody>
      </p:sp>
      <p:sp>
        <p:nvSpPr>
          <p:cNvPr id="124" name="VINHO VERDE (RVV) · top 5 exact rules-rule-5">
            <a:extLst>
              <a:ext uri="{FF2B5EF4-FFF2-40B4-BE49-F238E27FC236}">
                <a16:creationId xmlns:a16="http://schemas.microsoft.com/office/drawing/2014/main" id="{00434A10-8EDF-4885-977A-A726DE335AD7}"/>
              </a:ext>
            </a:extLst>
          </p:cNvPr>
          <p:cNvSpPr>
            <a:spLocks noGrp="1"/>
          </p:cNvSpPr>
          <p:nvPr/>
        </p:nvSpPr>
        <p:spPr>
          <a:xfrm>
            <a:off x="6819900" y="5060449"/>
            <a:ext cx="3429000" cy="419100"/>
          </a:xfrm>
          <a:prstGeom prst="rect">
            <a:avLst/>
          </a:prstGeom>
          <a:noFill/>
          <a:ln w="0">
            <a:noFill/>
            <a:prstDash val="solid"/>
          </a:ln>
        </p:spPr>
        <p:txBody>
          <a:bodyPr/>
          <a:lstStyle/>
          <a:p>
            <a:pPr>
              <a:defRPr sz="653">
                <a:solidFill>
                  <a:srgbClr val="111111"/>
                </a:solidFill>
                <a:latin typeface="Arial"/>
                <a:ea typeface="Arial"/>
                <a:cs typeface="Arial"/>
              </a:defRPr>
            </a:pPr>
            <a:r>
              <a:rPr sz="653">
                <a:solidFill>
                  <a:srgbClr val="111111"/>
                </a:solidFill>
                <a:latin typeface="Arial"/>
                <a:ea typeface="Arial"/>
                <a:cs typeface="Arial"/>
              </a:rPr>
              <a:t>Temp post-Flowering [12.6-17.5 deg C]</a:t>
            </a:r>
          </a:p>
          <a:p>
            <a:pPr>
              <a:defRPr sz="653">
                <a:solidFill>
                  <a:srgbClr val="111111"/>
                </a:solidFill>
                <a:latin typeface="Arial"/>
                <a:ea typeface="Arial"/>
                <a:cs typeface="Arial"/>
              </a:defRPr>
            </a:pPr>
            <a:r>
              <a:rPr sz="653">
                <a:solidFill>
                  <a:srgbClr val="111111"/>
                </a:solidFill>
                <a:latin typeface="Arial"/>
                <a:ea typeface="Arial"/>
                <a:cs typeface="Arial"/>
              </a:rPr>
              <a:t>AND Heat days post-Maturity [0-2.4 d]</a:t>
            </a:r>
          </a:p>
          <a:p>
            <a:pPr>
              <a:defRPr sz="653">
                <a:solidFill>
                  <a:srgbClr val="111111"/>
                </a:solidFill>
                <a:latin typeface="Arial"/>
                <a:ea typeface="Arial"/>
                <a:cs typeface="Arial"/>
              </a:defRPr>
            </a:pPr>
            <a:r>
              <a:rPr sz="653">
                <a:solidFill>
                  <a:srgbClr val="111111"/>
                </a:solidFill>
                <a:latin typeface="Arial"/>
                <a:ea typeface="Arial"/>
                <a:cs typeface="Arial"/>
              </a:rPr>
              <a:t>AND Wet-soil days post-Flowering prev.yr [17.5-20 d]</a:t>
            </a:r>
          </a:p>
        </p:txBody>
      </p:sp>
      <p:sp>
        <p:nvSpPr>
          <p:cNvPr id="125" name="VINHO VERDE (RVV) · top 5 exact rules-stats-5">
            <a:extLst>
              <a:ext uri="{FF2B5EF4-FFF2-40B4-BE49-F238E27FC236}">
                <a16:creationId xmlns:a16="http://schemas.microsoft.com/office/drawing/2014/main" id="{52C52760-C72D-481A-8220-72974FD1C32D}"/>
              </a:ext>
            </a:extLst>
          </p:cNvPr>
          <p:cNvSpPr>
            <a:spLocks noGrp="1"/>
          </p:cNvSpPr>
          <p:nvPr/>
        </p:nvSpPr>
        <p:spPr>
          <a:xfrm>
            <a:off x="10363200" y="5098549"/>
            <a:ext cx="647700" cy="285750"/>
          </a:xfrm>
          <a:prstGeom prst="rect">
            <a:avLst/>
          </a:prstGeom>
          <a:noFill/>
          <a:ln w="0">
            <a:noFill/>
            <a:prstDash val="solid"/>
          </a:ln>
        </p:spPr>
        <p:txBody>
          <a:bodyPr/>
          <a:lstStyle/>
          <a:p>
            <a:pPr algn="ctr">
              <a:defRPr sz="690">
                <a:solidFill>
                  <a:srgbClr val="59636E"/>
                </a:solidFill>
                <a:latin typeface="Arial"/>
                <a:ea typeface="Arial"/>
                <a:cs typeface="Arial"/>
              </a:defRPr>
            </a:pPr>
            <a:r>
              <a:rPr sz="690">
                <a:solidFill>
                  <a:srgbClr val="59636E"/>
                </a:solidFill>
                <a:latin typeface="Arial"/>
                <a:ea typeface="Arial"/>
                <a:cs typeface="Arial"/>
              </a:rPr>
              <a:t>23.8%</a:t>
            </a:r>
          </a:p>
          <a:p>
            <a:pPr algn="ctr">
              <a:defRPr sz="690">
                <a:solidFill>
                  <a:srgbClr val="59636E"/>
                </a:solidFill>
                <a:latin typeface="Arial"/>
                <a:ea typeface="Arial"/>
                <a:cs typeface="Arial"/>
              </a:defRPr>
            </a:pPr>
            <a:r>
              <a:rPr sz="690">
                <a:solidFill>
                  <a:srgbClr val="59636E"/>
                </a:solidFill>
                <a:latin typeface="Arial"/>
                <a:ea typeface="Arial"/>
                <a:cs typeface="Arial"/>
              </a:rPr>
              <a:t>~19 yr</a:t>
            </a:r>
          </a:p>
          <a:p>
            <a:pPr algn="ctr">
              <a:defRPr sz="690">
                <a:solidFill>
                  <a:srgbClr val="59636E"/>
                </a:solidFill>
                <a:latin typeface="Arial"/>
                <a:ea typeface="Arial"/>
                <a:cs typeface="Arial"/>
              </a:defRPr>
            </a:pPr>
            <a:r>
              <a:rPr sz="690">
                <a:solidFill>
                  <a:srgbClr val="59636E"/>
                </a:solidFill>
                <a:latin typeface="Arial"/>
                <a:ea typeface="Arial"/>
                <a:cs typeface="Arial"/>
              </a:rPr>
              <a:t>p=0.0299</a:t>
            </a:r>
          </a:p>
        </p:txBody>
      </p:sp>
      <p:sp>
        <p:nvSpPr>
          <p:cNvPr id="126" name="VINHO VERDE (RVV) · top 5 exact rules-delta-5">
            <a:extLst>
              <a:ext uri="{FF2B5EF4-FFF2-40B4-BE49-F238E27FC236}">
                <a16:creationId xmlns:a16="http://schemas.microsoft.com/office/drawing/2014/main" id="{2909253D-BEB3-4131-B532-E8036CCA2001}"/>
              </a:ext>
            </a:extLst>
          </p:cNvPr>
          <p:cNvSpPr>
            <a:spLocks noGrp="1"/>
          </p:cNvSpPr>
          <p:nvPr/>
        </p:nvSpPr>
        <p:spPr>
          <a:xfrm>
            <a:off x="11039475" y="5136649"/>
            <a:ext cx="476250" cy="190500"/>
          </a:xfrm>
          <a:prstGeom prst="rect">
            <a:avLst/>
          </a:prstGeom>
          <a:noFill/>
          <a:ln w="0">
            <a:noFill/>
            <a:prstDash val="solid"/>
          </a:ln>
        </p:spPr>
        <p:txBody>
          <a:bodyPr/>
          <a:lstStyle/>
          <a:p>
            <a:pPr algn="r">
              <a:defRPr sz="810" b="1">
                <a:solidFill>
                  <a:srgbClr val="8B1E3F"/>
                </a:solidFill>
                <a:latin typeface="Arial"/>
                <a:ea typeface="Arial"/>
                <a:cs typeface="Arial"/>
              </a:defRPr>
            </a:pPr>
            <a:r>
              <a:rPr sz="810" b="1">
                <a:solidFill>
                  <a:srgbClr val="8B1E3F"/>
                </a:solidFill>
                <a:latin typeface="Arial"/>
                <a:ea typeface="Arial"/>
                <a:cs typeface="Arial"/>
              </a:rPr>
              <a:t>-292</a:t>
            </a:r>
          </a:p>
        </p:txBody>
      </p:sp>
      <p:sp>
        <p:nvSpPr>
          <p:cNvPr id="127" name="exact-reading-band">
            <a:extLst>
              <a:ext uri="{FF2B5EF4-FFF2-40B4-BE49-F238E27FC236}">
                <a16:creationId xmlns:a16="http://schemas.microsoft.com/office/drawing/2014/main" id="{9488725A-99EC-4950-93BC-E208804B1375}"/>
              </a:ext>
            </a:extLst>
          </p:cNvPr>
          <p:cNvSpPr>
            <a:spLocks noGrp="1"/>
          </p:cNvSpPr>
          <p:nvPr/>
        </p:nvSpPr>
        <p:spPr>
          <a:xfrm>
            <a:off x="400050" y="6245189"/>
            <a:ext cx="11382375" cy="514350"/>
          </a:xfrm>
          <a:prstGeom prst="rect">
            <a:avLst/>
          </a:prstGeom>
          <a:solidFill>
            <a:srgbClr val="E8ECE8"/>
          </a:solidFill>
          <a:ln w="0">
            <a:noFill/>
            <a:prstDash val="solid"/>
          </a:ln>
        </p:spPr>
        <p:txBody>
          <a:bodyPr/>
          <a:lstStyle/>
          <a:p>
            <a:endParaRPr lang="en-US"/>
          </a:p>
        </p:txBody>
      </p:sp>
      <p:sp>
        <p:nvSpPr>
          <p:cNvPr id="128" name="exact-reading-label">
            <a:extLst>
              <a:ext uri="{FF2B5EF4-FFF2-40B4-BE49-F238E27FC236}">
                <a16:creationId xmlns:a16="http://schemas.microsoft.com/office/drawing/2014/main" id="{B7419DBB-3FC5-412A-904D-228AC62E1C34}"/>
              </a:ext>
            </a:extLst>
          </p:cNvPr>
          <p:cNvSpPr>
            <a:spLocks noGrp="1"/>
          </p:cNvSpPr>
          <p:nvPr/>
        </p:nvSpPr>
        <p:spPr>
          <a:xfrm>
            <a:off x="666750" y="6397589"/>
            <a:ext cx="1524000" cy="209550"/>
          </a:xfrm>
          <a:prstGeom prst="rect">
            <a:avLst/>
          </a:prstGeom>
          <a:noFill/>
          <a:ln w="0">
            <a:noFill/>
            <a:prstDash val="solid"/>
          </a:ln>
        </p:spPr>
        <p:txBody>
          <a:bodyPr/>
          <a:lstStyle/>
          <a:p>
            <a:pPr>
              <a:defRPr sz="1088" b="1">
                <a:solidFill>
                  <a:srgbClr val="7B1E3A"/>
                </a:solidFill>
                <a:latin typeface="Arial"/>
                <a:ea typeface="Arial"/>
                <a:cs typeface="Arial"/>
              </a:defRPr>
            </a:pPr>
            <a:r>
              <a:rPr sz="1088" b="1" dirty="0">
                <a:solidFill>
                  <a:srgbClr val="7B1E3A"/>
                </a:solidFill>
                <a:latin typeface="Arial"/>
                <a:ea typeface="Arial"/>
                <a:cs typeface="Arial"/>
              </a:rPr>
              <a:t>How to read it</a:t>
            </a:r>
          </a:p>
        </p:txBody>
      </p:sp>
      <p:sp>
        <p:nvSpPr>
          <p:cNvPr id="129" name="exact-reading-main">
            <a:extLst>
              <a:ext uri="{FF2B5EF4-FFF2-40B4-BE49-F238E27FC236}">
                <a16:creationId xmlns:a16="http://schemas.microsoft.com/office/drawing/2014/main" id="{98556951-FCAE-4FC6-8D13-B394939FE914}"/>
              </a:ext>
            </a:extLst>
          </p:cNvPr>
          <p:cNvSpPr>
            <a:spLocks noGrp="1"/>
          </p:cNvSpPr>
          <p:nvPr/>
        </p:nvSpPr>
        <p:spPr>
          <a:xfrm>
            <a:off x="2047875" y="6378539"/>
            <a:ext cx="8858250" cy="266700"/>
          </a:xfrm>
          <a:prstGeom prst="rect">
            <a:avLst/>
          </a:prstGeom>
          <a:noFill/>
          <a:ln w="0">
            <a:noFill/>
            <a:prstDash val="solid"/>
          </a:ln>
        </p:spPr>
        <p:txBody>
          <a:bodyPr/>
          <a:lstStyle/>
          <a:p>
            <a:pPr>
              <a:defRPr sz="1065">
                <a:solidFill>
                  <a:srgbClr val="111111"/>
                </a:solidFill>
                <a:latin typeface="Arial"/>
                <a:ea typeface="Arial"/>
                <a:cs typeface="Arial"/>
              </a:defRPr>
            </a:pPr>
            <a:r>
              <a:rPr sz="1065">
                <a:solidFill>
                  <a:srgbClr val="111111"/>
                </a:solidFill>
                <a:latin typeface="Arial"/>
                <a:ea typeface="Arial"/>
                <a:cs typeface="Arial"/>
              </a:rPr>
              <a:t>Support is the share of historical years matching the rule; p is the KS-test evidence that the subgroup distribution differs from the full distribution.</a:t>
            </a:r>
          </a:p>
        </p:txBody>
      </p:sp>
    </p:spTree>
    <p:extLst>
      <p:ext uri="{BB962C8B-B14F-4D97-AF65-F5344CB8AC3E}">
        <p14:creationId xmlns:p14="http://schemas.microsoft.com/office/powerpoint/2010/main" val="2724724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white-background">
            <a:extLst>
              <a:ext uri="{FF2B5EF4-FFF2-40B4-BE49-F238E27FC236}">
                <a16:creationId xmlns:a16="http://schemas.microsoft.com/office/drawing/2014/main" id="{B516CC70-A1CF-4436-8E14-B3ECE8C12560}"/>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lang="en-US"/>
          </a:p>
        </p:txBody>
      </p:sp>
      <p:sp>
        <p:nvSpPr>
          <p:cNvPr id="2" name="section-label">
            <a:extLst>
              <a:ext uri="{FF2B5EF4-FFF2-40B4-BE49-F238E27FC236}">
                <a16:creationId xmlns:a16="http://schemas.microsoft.com/office/drawing/2014/main" id="{B4A5072B-BA12-434A-B2E7-F18E8ED57BDF}"/>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CROSS-ALGORITHM VALIDATION</a:t>
            </a:r>
          </a:p>
        </p:txBody>
      </p:sp>
      <p:sp>
        <p:nvSpPr>
          <p:cNvPr id="3" name="title">
            <a:extLst>
              <a:ext uri="{FF2B5EF4-FFF2-40B4-BE49-F238E27FC236}">
                <a16:creationId xmlns:a16="http://schemas.microsoft.com/office/drawing/2014/main" id="{51F264F9-E6AB-45DA-AB03-06AFAE1D6A29}"/>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Three optimisation criteria recover the same feature families</a:t>
            </a:r>
          </a:p>
        </p:txBody>
      </p:sp>
      <p:sp>
        <p:nvSpPr>
          <p:cNvPr id="4" name="head">
            <a:extLst>
              <a:ext uri="{FF2B5EF4-FFF2-40B4-BE49-F238E27FC236}">
                <a16:creationId xmlns:a16="http://schemas.microsoft.com/office/drawing/2014/main" id="{28004806-4E78-4306-98C7-16C76F2412D4}"/>
              </a:ext>
            </a:extLst>
          </p:cNvPr>
          <p:cNvSpPr>
            <a:spLocks noGrp="1"/>
          </p:cNvSpPr>
          <p:nvPr/>
        </p:nvSpPr>
        <p:spPr>
          <a:xfrm>
            <a:off x="400050" y="1428750"/>
            <a:ext cx="11061629" cy="476250"/>
          </a:xfrm>
          <a:prstGeom prst="rect">
            <a:avLst/>
          </a:prstGeom>
          <a:solidFill>
            <a:schemeClr val="tx1">
              <a:lumMod val="75000"/>
              <a:lumOff val="25000"/>
            </a:schemeClr>
          </a:solidFill>
          <a:ln w="0">
            <a:noFill/>
            <a:prstDash val="solid"/>
          </a:ln>
        </p:spPr>
        <p:txBody>
          <a:bodyPr/>
          <a:lstStyle/>
          <a:p>
            <a:endParaRPr lang="en-US">
              <a:solidFill>
                <a:schemeClr val="accent2"/>
              </a:solidFill>
            </a:endParaRPr>
          </a:p>
        </p:txBody>
      </p:sp>
      <p:sp>
        <p:nvSpPr>
          <p:cNvPr id="5" name="head-0">
            <a:extLst>
              <a:ext uri="{FF2B5EF4-FFF2-40B4-BE49-F238E27FC236}">
                <a16:creationId xmlns:a16="http://schemas.microsoft.com/office/drawing/2014/main" id="{240AE2D6-0698-4772-B9CD-DE99E2226137}"/>
              </a:ext>
            </a:extLst>
          </p:cNvPr>
          <p:cNvSpPr>
            <a:spLocks noGrp="1"/>
          </p:cNvSpPr>
          <p:nvPr/>
        </p:nvSpPr>
        <p:spPr>
          <a:xfrm>
            <a:off x="495300" y="1581150"/>
            <a:ext cx="1905000" cy="209550"/>
          </a:xfrm>
          <a:prstGeom prst="rect">
            <a:avLst/>
          </a:prstGeom>
          <a:noFill/>
          <a:ln w="0">
            <a:noFill/>
            <a:prstDash val="solid"/>
          </a:ln>
        </p:spPr>
        <p:txBody>
          <a:bodyPr/>
          <a:lstStyle/>
          <a:p>
            <a:pPr algn="l">
              <a:buNone/>
              <a:defRPr sz="1275" b="1">
                <a:solidFill>
                  <a:srgbClr val="FFFFFF"/>
                </a:solidFill>
                <a:latin typeface="Arial"/>
                <a:ea typeface="Arial"/>
                <a:cs typeface="Arial"/>
              </a:defRPr>
            </a:pPr>
            <a:r>
              <a:rPr sz="1275" b="1">
                <a:solidFill>
                  <a:srgbClr val="FFFFFF"/>
                </a:solidFill>
                <a:latin typeface="Arial"/>
                <a:ea typeface="Arial"/>
                <a:cs typeface="Arial"/>
              </a:rPr>
              <a:t>Feature</a:t>
            </a:r>
          </a:p>
        </p:txBody>
      </p:sp>
      <p:sp>
        <p:nvSpPr>
          <p:cNvPr id="6" name="head-1">
            <a:extLst>
              <a:ext uri="{FF2B5EF4-FFF2-40B4-BE49-F238E27FC236}">
                <a16:creationId xmlns:a16="http://schemas.microsoft.com/office/drawing/2014/main" id="{ECD317BD-7E1A-45FC-92F8-56AFA066E63C}"/>
              </a:ext>
            </a:extLst>
          </p:cNvPr>
          <p:cNvSpPr>
            <a:spLocks noGrp="1"/>
          </p:cNvSpPr>
          <p:nvPr/>
        </p:nvSpPr>
        <p:spPr>
          <a:xfrm>
            <a:off x="2762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CarenR</a:t>
            </a:r>
          </a:p>
        </p:txBody>
      </p:sp>
      <p:sp>
        <p:nvSpPr>
          <p:cNvPr id="7" name="head-2">
            <a:extLst>
              <a:ext uri="{FF2B5EF4-FFF2-40B4-BE49-F238E27FC236}">
                <a16:creationId xmlns:a16="http://schemas.microsoft.com/office/drawing/2014/main" id="{90CD6E49-F296-4D45-A364-D242FA0FE3A1}"/>
              </a:ext>
            </a:extLst>
          </p:cNvPr>
          <p:cNvSpPr>
            <a:spLocks noGrp="1"/>
          </p:cNvSpPr>
          <p:nvPr/>
        </p:nvSpPr>
        <p:spPr>
          <a:xfrm>
            <a:off x="504825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RIPPER</a:t>
            </a:r>
          </a:p>
        </p:txBody>
      </p:sp>
      <p:sp>
        <p:nvSpPr>
          <p:cNvPr id="8" name="head-3">
            <a:extLst>
              <a:ext uri="{FF2B5EF4-FFF2-40B4-BE49-F238E27FC236}">
                <a16:creationId xmlns:a16="http://schemas.microsoft.com/office/drawing/2014/main" id="{0EC2B971-7971-4EE0-A0EA-A56FCF57593C}"/>
              </a:ext>
            </a:extLst>
          </p:cNvPr>
          <p:cNvSpPr>
            <a:spLocks noGrp="1"/>
          </p:cNvSpPr>
          <p:nvPr/>
        </p:nvSpPr>
        <p:spPr>
          <a:xfrm>
            <a:off x="7334250" y="1581150"/>
            <a:ext cx="180975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M5Rules</a:t>
            </a:r>
          </a:p>
        </p:txBody>
      </p:sp>
      <p:sp>
        <p:nvSpPr>
          <p:cNvPr id="9" name="head-4">
            <a:extLst>
              <a:ext uri="{FF2B5EF4-FFF2-40B4-BE49-F238E27FC236}">
                <a16:creationId xmlns:a16="http://schemas.microsoft.com/office/drawing/2014/main" id="{B77E9BD3-1DD0-428B-A11B-E0AB12968431}"/>
              </a:ext>
            </a:extLst>
          </p:cNvPr>
          <p:cNvSpPr>
            <a:spLocks noGrp="1"/>
          </p:cNvSpPr>
          <p:nvPr/>
        </p:nvSpPr>
        <p:spPr>
          <a:xfrm>
            <a:off x="9525000" y="1581150"/>
            <a:ext cx="1905000" cy="20955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Confidence</a:t>
            </a:r>
          </a:p>
        </p:txBody>
      </p:sp>
      <p:sp>
        <p:nvSpPr>
          <p:cNvPr id="10" name="row-0">
            <a:extLst>
              <a:ext uri="{FF2B5EF4-FFF2-40B4-BE49-F238E27FC236}">
                <a16:creationId xmlns:a16="http://schemas.microsoft.com/office/drawing/2014/main" id="{3BF20E06-64D0-44E4-A5F0-36ECB195CBFF}"/>
              </a:ext>
            </a:extLst>
          </p:cNvPr>
          <p:cNvSpPr>
            <a:spLocks noGrp="1"/>
          </p:cNvSpPr>
          <p:nvPr/>
        </p:nvSpPr>
        <p:spPr>
          <a:xfrm>
            <a:off x="400050" y="2000250"/>
            <a:ext cx="11061629" cy="781050"/>
          </a:xfrm>
          <a:prstGeom prst="rect">
            <a:avLst/>
          </a:prstGeom>
          <a:solidFill>
            <a:schemeClr val="accent2">
              <a:lumMod val="20000"/>
              <a:lumOff val="80000"/>
            </a:schemeClr>
          </a:solidFill>
          <a:ln w="0">
            <a:noFill/>
            <a:prstDash val="solid"/>
          </a:ln>
        </p:spPr>
        <p:txBody>
          <a:bodyPr/>
          <a:lstStyle/>
          <a:p>
            <a:endParaRPr lang="en-US"/>
          </a:p>
        </p:txBody>
      </p:sp>
      <p:sp>
        <p:nvSpPr>
          <p:cNvPr id="11" name="row-stripe-0">
            <a:extLst>
              <a:ext uri="{FF2B5EF4-FFF2-40B4-BE49-F238E27FC236}">
                <a16:creationId xmlns:a16="http://schemas.microsoft.com/office/drawing/2014/main" id="{97066061-65EF-4749-90EC-18E090FD6823}"/>
              </a:ext>
            </a:extLst>
          </p:cNvPr>
          <p:cNvSpPr>
            <a:spLocks noGrp="1"/>
          </p:cNvSpPr>
          <p:nvPr/>
        </p:nvSpPr>
        <p:spPr>
          <a:xfrm>
            <a:off x="400050" y="2000250"/>
            <a:ext cx="76200" cy="781050"/>
          </a:xfrm>
          <a:prstGeom prst="rect">
            <a:avLst/>
          </a:prstGeom>
          <a:solidFill>
            <a:schemeClr val="accent2">
              <a:lumMod val="75000"/>
            </a:schemeClr>
          </a:solidFill>
          <a:ln w="0">
            <a:noFill/>
            <a:prstDash val="solid"/>
          </a:ln>
        </p:spPr>
        <p:txBody>
          <a:bodyPr/>
          <a:lstStyle/>
          <a:p>
            <a:endParaRPr lang="en-US"/>
          </a:p>
        </p:txBody>
      </p:sp>
      <p:sp>
        <p:nvSpPr>
          <p:cNvPr id="12" name="row-0-0">
            <a:extLst>
              <a:ext uri="{FF2B5EF4-FFF2-40B4-BE49-F238E27FC236}">
                <a16:creationId xmlns:a16="http://schemas.microsoft.com/office/drawing/2014/main" id="{AFD69B4A-BDEA-4746-954D-8A951C5FA76A}"/>
              </a:ext>
            </a:extLst>
          </p:cNvPr>
          <p:cNvSpPr>
            <a:spLocks noGrp="1"/>
          </p:cNvSpPr>
          <p:nvPr/>
        </p:nvSpPr>
        <p:spPr>
          <a:xfrm>
            <a:off x="514350" y="21907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Harvest soil water</a:t>
            </a:r>
          </a:p>
        </p:txBody>
      </p:sp>
      <p:sp>
        <p:nvSpPr>
          <p:cNvPr id="13" name="row-0-1">
            <a:extLst>
              <a:ext uri="{FF2B5EF4-FFF2-40B4-BE49-F238E27FC236}">
                <a16:creationId xmlns:a16="http://schemas.microsoft.com/office/drawing/2014/main" id="{5983EA86-C875-438D-A7E0-A3B40416D5B2}"/>
              </a:ext>
            </a:extLst>
          </p:cNvPr>
          <p:cNvSpPr>
            <a:spLocks noGrp="1"/>
          </p:cNvSpPr>
          <p:nvPr/>
        </p:nvSpPr>
        <p:spPr>
          <a:xfrm>
            <a:off x="2781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54% of RDD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25% of RVV rules</a:t>
            </a:r>
          </a:p>
        </p:txBody>
      </p:sp>
      <p:sp>
        <p:nvSpPr>
          <p:cNvPr id="14" name="row-0-2">
            <a:extLst>
              <a:ext uri="{FF2B5EF4-FFF2-40B4-BE49-F238E27FC236}">
                <a16:creationId xmlns:a16="http://schemas.microsoft.com/office/drawing/2014/main" id="{ED728A9F-94B2-478C-A0AC-4D37875D9033}"/>
              </a:ext>
            </a:extLst>
          </p:cNvPr>
          <p:cNvSpPr>
            <a:spLocks noGrp="1"/>
          </p:cNvSpPr>
          <p:nvPr/>
        </p:nvSpPr>
        <p:spPr>
          <a:xfrm>
            <a:off x="5067300" y="21907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15" name="row-0-3">
            <a:extLst>
              <a:ext uri="{FF2B5EF4-FFF2-40B4-BE49-F238E27FC236}">
                <a16:creationId xmlns:a16="http://schemas.microsoft.com/office/drawing/2014/main" id="{3876A42C-1A63-441E-8CBE-9469A3C3BE45}"/>
              </a:ext>
            </a:extLst>
          </p:cNvPr>
          <p:cNvSpPr>
            <a:spLocks noGrp="1"/>
          </p:cNvSpPr>
          <p:nvPr/>
        </p:nvSpPr>
        <p:spPr>
          <a:xfrm>
            <a:off x="7353300" y="21907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-2.3/mm RDD</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-8.1/mm RVV</a:t>
            </a:r>
          </a:p>
        </p:txBody>
      </p:sp>
      <p:sp>
        <p:nvSpPr>
          <p:cNvPr id="16" name="row-0-4">
            <a:extLst>
              <a:ext uri="{FF2B5EF4-FFF2-40B4-BE49-F238E27FC236}">
                <a16:creationId xmlns:a16="http://schemas.microsoft.com/office/drawing/2014/main" id="{CA77C176-376C-47DA-8128-292B2EE3CBA8}"/>
              </a:ext>
            </a:extLst>
          </p:cNvPr>
          <p:cNvSpPr>
            <a:spLocks noGrp="1"/>
          </p:cNvSpPr>
          <p:nvPr/>
        </p:nvSpPr>
        <p:spPr>
          <a:xfrm>
            <a:off x="9544050" y="21907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17" name="row-1">
            <a:extLst>
              <a:ext uri="{FF2B5EF4-FFF2-40B4-BE49-F238E27FC236}">
                <a16:creationId xmlns:a16="http://schemas.microsoft.com/office/drawing/2014/main" id="{9237A73F-35C1-4401-936C-C56A3468E4F7}"/>
              </a:ext>
            </a:extLst>
          </p:cNvPr>
          <p:cNvSpPr>
            <a:spLocks noGrp="1"/>
          </p:cNvSpPr>
          <p:nvPr/>
        </p:nvSpPr>
        <p:spPr>
          <a:xfrm>
            <a:off x="400050" y="2876550"/>
            <a:ext cx="11061629" cy="781050"/>
          </a:xfrm>
          <a:prstGeom prst="rect">
            <a:avLst/>
          </a:prstGeom>
          <a:solidFill>
            <a:srgbClr val="FFFFFF"/>
          </a:solidFill>
          <a:ln w="0">
            <a:noFill/>
            <a:prstDash val="solid"/>
          </a:ln>
        </p:spPr>
        <p:txBody>
          <a:bodyPr/>
          <a:lstStyle/>
          <a:p>
            <a:endParaRPr lang="en-US"/>
          </a:p>
        </p:txBody>
      </p:sp>
      <p:sp>
        <p:nvSpPr>
          <p:cNvPr id="18" name="row-stripe-1">
            <a:extLst>
              <a:ext uri="{FF2B5EF4-FFF2-40B4-BE49-F238E27FC236}">
                <a16:creationId xmlns:a16="http://schemas.microsoft.com/office/drawing/2014/main" id="{D46B007F-3CF0-45B9-981E-E1E07D31E43D}"/>
              </a:ext>
            </a:extLst>
          </p:cNvPr>
          <p:cNvSpPr>
            <a:spLocks noGrp="1"/>
          </p:cNvSpPr>
          <p:nvPr/>
        </p:nvSpPr>
        <p:spPr>
          <a:xfrm>
            <a:off x="400050" y="2876550"/>
            <a:ext cx="76200" cy="781050"/>
          </a:xfrm>
          <a:prstGeom prst="rect">
            <a:avLst/>
          </a:prstGeom>
          <a:solidFill>
            <a:schemeClr val="accent2">
              <a:lumMod val="60000"/>
              <a:lumOff val="40000"/>
            </a:schemeClr>
          </a:solidFill>
          <a:ln w="0">
            <a:noFill/>
            <a:prstDash val="solid"/>
          </a:ln>
        </p:spPr>
        <p:txBody>
          <a:bodyPr/>
          <a:lstStyle/>
          <a:p>
            <a:endParaRPr lang="en-US"/>
          </a:p>
        </p:txBody>
      </p:sp>
      <p:sp>
        <p:nvSpPr>
          <p:cNvPr id="19" name="row-1-0">
            <a:extLst>
              <a:ext uri="{FF2B5EF4-FFF2-40B4-BE49-F238E27FC236}">
                <a16:creationId xmlns:a16="http://schemas.microsoft.com/office/drawing/2014/main" id="{FE0181AA-C614-4683-874C-6F120FA0F0B6}"/>
              </a:ext>
            </a:extLst>
          </p:cNvPr>
          <p:cNvSpPr>
            <a:spLocks noGrp="1"/>
          </p:cNvSpPr>
          <p:nvPr/>
        </p:nvSpPr>
        <p:spPr>
          <a:xfrm>
            <a:off x="514350" y="30670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LAI / canopy family</a:t>
            </a:r>
          </a:p>
        </p:txBody>
      </p:sp>
      <p:sp>
        <p:nvSpPr>
          <p:cNvPr id="20" name="row-1-1">
            <a:extLst>
              <a:ext uri="{FF2B5EF4-FFF2-40B4-BE49-F238E27FC236}">
                <a16:creationId xmlns:a16="http://schemas.microsoft.com/office/drawing/2014/main" id="{4F54F749-F3E4-4106-9727-F344D6FACE27}"/>
              </a:ext>
            </a:extLst>
          </p:cNvPr>
          <p:cNvSpPr>
            <a:spLocks noGrp="1"/>
          </p:cNvSpPr>
          <p:nvPr/>
        </p:nvSpPr>
        <p:spPr>
          <a:xfrm>
            <a:off x="2781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All 20 RVV rules</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minor RDD signal</a:t>
            </a:r>
          </a:p>
        </p:txBody>
      </p:sp>
      <p:sp>
        <p:nvSpPr>
          <p:cNvPr id="21" name="row-1-2">
            <a:extLst>
              <a:ext uri="{FF2B5EF4-FFF2-40B4-BE49-F238E27FC236}">
                <a16:creationId xmlns:a16="http://schemas.microsoft.com/office/drawing/2014/main" id="{0A881306-6D0F-4BFF-87DC-85958CE1BD9B}"/>
              </a:ext>
            </a:extLst>
          </p:cNvPr>
          <p:cNvSpPr>
            <a:spLocks noGrp="1"/>
          </p:cNvSpPr>
          <p:nvPr/>
        </p:nvSpPr>
        <p:spPr>
          <a:xfrm>
            <a:off x="5067300" y="30670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Rules 1-2</a:t>
            </a:r>
          </a:p>
        </p:txBody>
      </p:sp>
      <p:sp>
        <p:nvSpPr>
          <p:cNvPr id="22" name="row-1-3">
            <a:extLst>
              <a:ext uri="{FF2B5EF4-FFF2-40B4-BE49-F238E27FC236}">
                <a16:creationId xmlns:a16="http://schemas.microsoft.com/office/drawing/2014/main" id="{CD471D5F-AD30-4BF7-85AF-F48754C71FC4}"/>
              </a:ext>
            </a:extLst>
          </p:cNvPr>
          <p:cNvSpPr>
            <a:spLocks noGrp="1"/>
          </p:cNvSpPr>
          <p:nvPr/>
        </p:nvSpPr>
        <p:spPr>
          <a:xfrm>
            <a:off x="7353300" y="30670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-2064/unit RVV</a:t>
            </a:r>
          </a:p>
          <a:p>
            <a:pPr algn="ctr">
              <a:buNone/>
              <a:defRPr sz="1238" b="0">
                <a:solidFill>
                  <a:srgbClr val="111111"/>
                </a:solidFill>
                <a:latin typeface="Arial"/>
                <a:ea typeface="Arial"/>
                <a:cs typeface="Arial"/>
              </a:defRPr>
            </a:pPr>
            <a:r>
              <a:rPr sz="1238" b="0">
                <a:solidFill>
                  <a:srgbClr val="111111"/>
                </a:solidFill>
                <a:latin typeface="Arial"/>
                <a:ea typeface="Arial"/>
                <a:cs typeface="Arial"/>
              </a:rPr>
              <a:t>variable selected</a:t>
            </a:r>
          </a:p>
        </p:txBody>
      </p:sp>
      <p:sp>
        <p:nvSpPr>
          <p:cNvPr id="23" name="row-1-4">
            <a:extLst>
              <a:ext uri="{FF2B5EF4-FFF2-40B4-BE49-F238E27FC236}">
                <a16:creationId xmlns:a16="http://schemas.microsoft.com/office/drawing/2014/main" id="{700F1BB6-3257-4BBB-9F08-B392C62F9890}"/>
              </a:ext>
            </a:extLst>
          </p:cNvPr>
          <p:cNvSpPr>
            <a:spLocks noGrp="1"/>
          </p:cNvSpPr>
          <p:nvPr/>
        </p:nvSpPr>
        <p:spPr>
          <a:xfrm>
            <a:off x="9544050" y="30670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universal</a:t>
            </a:r>
          </a:p>
        </p:txBody>
      </p:sp>
      <p:sp>
        <p:nvSpPr>
          <p:cNvPr id="24" name="row-2">
            <a:extLst>
              <a:ext uri="{FF2B5EF4-FFF2-40B4-BE49-F238E27FC236}">
                <a16:creationId xmlns:a16="http://schemas.microsoft.com/office/drawing/2014/main" id="{0AE1EFCF-7CCF-46E6-BFA1-4DCA2C293028}"/>
              </a:ext>
            </a:extLst>
          </p:cNvPr>
          <p:cNvSpPr>
            <a:spLocks noGrp="1"/>
          </p:cNvSpPr>
          <p:nvPr/>
        </p:nvSpPr>
        <p:spPr>
          <a:xfrm>
            <a:off x="400050" y="3752850"/>
            <a:ext cx="11061629" cy="781050"/>
          </a:xfrm>
          <a:prstGeom prst="rect">
            <a:avLst/>
          </a:prstGeom>
          <a:solidFill>
            <a:schemeClr val="accent2">
              <a:lumMod val="20000"/>
              <a:lumOff val="80000"/>
            </a:schemeClr>
          </a:solidFill>
          <a:ln w="0">
            <a:noFill/>
            <a:prstDash val="solid"/>
          </a:ln>
        </p:spPr>
        <p:txBody>
          <a:bodyPr/>
          <a:lstStyle/>
          <a:p>
            <a:endParaRPr lang="en-US"/>
          </a:p>
        </p:txBody>
      </p:sp>
      <p:sp>
        <p:nvSpPr>
          <p:cNvPr id="25" name="row-stripe-2">
            <a:extLst>
              <a:ext uri="{FF2B5EF4-FFF2-40B4-BE49-F238E27FC236}">
                <a16:creationId xmlns:a16="http://schemas.microsoft.com/office/drawing/2014/main" id="{FF693BBF-D29D-4FDE-95AB-F2021E0069E5}"/>
              </a:ext>
            </a:extLst>
          </p:cNvPr>
          <p:cNvSpPr>
            <a:spLocks noGrp="1"/>
          </p:cNvSpPr>
          <p:nvPr/>
        </p:nvSpPr>
        <p:spPr>
          <a:xfrm>
            <a:off x="400050" y="3752850"/>
            <a:ext cx="76200" cy="781050"/>
          </a:xfrm>
          <a:prstGeom prst="rect">
            <a:avLst/>
          </a:prstGeom>
          <a:solidFill>
            <a:schemeClr val="accent2">
              <a:lumMod val="40000"/>
              <a:lumOff val="60000"/>
            </a:schemeClr>
          </a:solidFill>
          <a:ln w="0">
            <a:noFill/>
            <a:prstDash val="solid"/>
          </a:ln>
        </p:spPr>
        <p:txBody>
          <a:bodyPr/>
          <a:lstStyle/>
          <a:p>
            <a:endParaRPr lang="en-US"/>
          </a:p>
        </p:txBody>
      </p:sp>
      <p:sp>
        <p:nvSpPr>
          <p:cNvPr id="26" name="row-2-0">
            <a:extLst>
              <a:ext uri="{FF2B5EF4-FFF2-40B4-BE49-F238E27FC236}">
                <a16:creationId xmlns:a16="http://schemas.microsoft.com/office/drawing/2014/main" id="{7D4C0145-8EAD-4464-AC0B-2D6F0FB58694}"/>
              </a:ext>
            </a:extLst>
          </p:cNvPr>
          <p:cNvSpPr>
            <a:spLocks noGrp="1"/>
          </p:cNvSpPr>
          <p:nvPr/>
        </p:nvSpPr>
        <p:spPr>
          <a:xfrm>
            <a:off x="514350" y="39433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Previous-year</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summer temperature</a:t>
            </a:r>
          </a:p>
        </p:txBody>
      </p:sp>
      <p:sp>
        <p:nvSpPr>
          <p:cNvPr id="27" name="row-2-1">
            <a:extLst>
              <a:ext uri="{FF2B5EF4-FFF2-40B4-BE49-F238E27FC236}">
                <a16:creationId xmlns:a16="http://schemas.microsoft.com/office/drawing/2014/main" id="{7665B875-F9D1-4FB5-8DB5-0A8D5D0D008F}"/>
              </a:ext>
            </a:extLst>
          </p:cNvPr>
          <p:cNvSpPr>
            <a:spLocks noGrp="1"/>
          </p:cNvSpPr>
          <p:nvPr/>
        </p:nvSpPr>
        <p:spPr>
          <a:xfrm>
            <a:off x="2781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carry-over</a:t>
            </a:r>
          </a:p>
        </p:txBody>
      </p:sp>
      <p:sp>
        <p:nvSpPr>
          <p:cNvPr id="28" name="row-2-2">
            <a:extLst>
              <a:ext uri="{FF2B5EF4-FFF2-40B4-BE49-F238E27FC236}">
                <a16:creationId xmlns:a16="http://schemas.microsoft.com/office/drawing/2014/main" id="{268EF026-D849-4583-BA3D-2B457FF0E364}"/>
              </a:ext>
            </a:extLst>
          </p:cNvPr>
          <p:cNvSpPr>
            <a:spLocks noGrp="1"/>
          </p:cNvSpPr>
          <p:nvPr/>
        </p:nvSpPr>
        <p:spPr>
          <a:xfrm>
            <a:off x="5067300" y="39433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RVV Rule 3</a:t>
            </a:r>
          </a:p>
        </p:txBody>
      </p:sp>
      <p:sp>
        <p:nvSpPr>
          <p:cNvPr id="29" name="row-2-3">
            <a:extLst>
              <a:ext uri="{FF2B5EF4-FFF2-40B4-BE49-F238E27FC236}">
                <a16:creationId xmlns:a16="http://schemas.microsoft.com/office/drawing/2014/main" id="{778F269B-027C-47CF-AB1F-6542C63BEE1D}"/>
              </a:ext>
            </a:extLst>
          </p:cNvPr>
          <p:cNvSpPr>
            <a:spLocks noGrp="1"/>
          </p:cNvSpPr>
          <p:nvPr/>
        </p:nvSpPr>
        <p:spPr>
          <a:xfrm>
            <a:off x="7353300" y="39433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+17.2/C RVV</a:t>
            </a:r>
          </a:p>
        </p:txBody>
      </p:sp>
      <p:sp>
        <p:nvSpPr>
          <p:cNvPr id="30" name="row-2-4">
            <a:extLst>
              <a:ext uri="{FF2B5EF4-FFF2-40B4-BE49-F238E27FC236}">
                <a16:creationId xmlns:a16="http://schemas.microsoft.com/office/drawing/2014/main" id="{786350BB-9810-468D-ACF9-D7BAE586E6DB}"/>
              </a:ext>
            </a:extLst>
          </p:cNvPr>
          <p:cNvSpPr>
            <a:spLocks noGrp="1"/>
          </p:cNvSpPr>
          <p:nvPr/>
        </p:nvSpPr>
        <p:spPr>
          <a:xfrm>
            <a:off x="9544050" y="3943350"/>
            <a:ext cx="1866900" cy="476250"/>
          </a:xfrm>
          <a:prstGeom prst="rect">
            <a:avLst/>
          </a:prstGeom>
          <a:noFill/>
          <a:ln w="0">
            <a:noFill/>
            <a:prstDash val="solid"/>
          </a:ln>
        </p:spPr>
        <p:txBody>
          <a:bodyPr/>
          <a:lstStyle/>
          <a:p>
            <a:pPr algn="ctr">
              <a:buNone/>
              <a:defRPr sz="1200" b="1">
                <a:solidFill>
                  <a:srgbClr val="2F7D50"/>
                </a:solidFill>
                <a:latin typeface="Arial"/>
                <a:ea typeface="Arial"/>
                <a:cs typeface="Arial"/>
              </a:defRPr>
            </a:pPr>
            <a:r>
              <a:rPr sz="1200" b="1">
                <a:solidFill>
                  <a:srgbClr val="2F7D50"/>
                </a:solidFill>
                <a:latin typeface="Arial"/>
                <a:ea typeface="Arial"/>
                <a:cs typeface="Arial"/>
              </a:rPr>
              <a:t>HIGH</a:t>
            </a:r>
          </a:p>
          <a:p>
            <a:pPr algn="ctr">
              <a:buNone/>
              <a:defRPr sz="1200" b="1">
                <a:solidFill>
                  <a:srgbClr val="2F7D50"/>
                </a:solidFill>
                <a:latin typeface="Arial"/>
                <a:ea typeface="Arial"/>
                <a:cs typeface="Arial"/>
              </a:defRPr>
            </a:pPr>
            <a:r>
              <a:rPr sz="1200" b="1">
                <a:solidFill>
                  <a:srgbClr val="2F7D50"/>
                </a:solidFill>
                <a:latin typeface="Arial"/>
                <a:ea typeface="Arial"/>
                <a:cs typeface="Arial"/>
              </a:rPr>
              <a:t>RVV focus</a:t>
            </a:r>
          </a:p>
        </p:txBody>
      </p:sp>
      <p:sp>
        <p:nvSpPr>
          <p:cNvPr id="31" name="row-3">
            <a:extLst>
              <a:ext uri="{FF2B5EF4-FFF2-40B4-BE49-F238E27FC236}">
                <a16:creationId xmlns:a16="http://schemas.microsoft.com/office/drawing/2014/main" id="{4B8BFF02-34BB-4A01-B8D4-B498C4C78FF0}"/>
              </a:ext>
            </a:extLst>
          </p:cNvPr>
          <p:cNvSpPr>
            <a:spLocks noGrp="1"/>
          </p:cNvSpPr>
          <p:nvPr/>
        </p:nvSpPr>
        <p:spPr>
          <a:xfrm>
            <a:off x="400050" y="4629150"/>
            <a:ext cx="11382375" cy="781050"/>
          </a:xfrm>
          <a:prstGeom prst="rect">
            <a:avLst/>
          </a:prstGeom>
          <a:solidFill>
            <a:srgbClr val="FFFFFF"/>
          </a:solidFill>
          <a:ln w="0">
            <a:noFill/>
            <a:prstDash val="solid"/>
          </a:ln>
        </p:spPr>
        <p:txBody>
          <a:bodyPr/>
          <a:lstStyle/>
          <a:p>
            <a:endParaRPr lang="en-US"/>
          </a:p>
        </p:txBody>
      </p:sp>
      <p:sp>
        <p:nvSpPr>
          <p:cNvPr id="32" name="row-stripe-3">
            <a:extLst>
              <a:ext uri="{FF2B5EF4-FFF2-40B4-BE49-F238E27FC236}">
                <a16:creationId xmlns:a16="http://schemas.microsoft.com/office/drawing/2014/main" id="{E84A46B4-8578-47C4-9B49-EC9BB6B3396D}"/>
              </a:ext>
            </a:extLst>
          </p:cNvPr>
          <p:cNvSpPr>
            <a:spLocks noGrp="1"/>
          </p:cNvSpPr>
          <p:nvPr/>
        </p:nvSpPr>
        <p:spPr>
          <a:xfrm>
            <a:off x="400050" y="4629150"/>
            <a:ext cx="76200" cy="781050"/>
          </a:xfrm>
          <a:prstGeom prst="rect">
            <a:avLst/>
          </a:prstGeom>
          <a:solidFill>
            <a:schemeClr val="accent2">
              <a:lumMod val="20000"/>
              <a:lumOff val="80000"/>
            </a:schemeClr>
          </a:solidFill>
          <a:ln w="0">
            <a:noFill/>
            <a:prstDash val="solid"/>
          </a:ln>
        </p:spPr>
        <p:txBody>
          <a:bodyPr/>
          <a:lstStyle/>
          <a:p>
            <a:endParaRPr lang="en-US"/>
          </a:p>
        </p:txBody>
      </p:sp>
      <p:sp>
        <p:nvSpPr>
          <p:cNvPr id="33" name="row-3-0">
            <a:extLst>
              <a:ext uri="{FF2B5EF4-FFF2-40B4-BE49-F238E27FC236}">
                <a16:creationId xmlns:a16="http://schemas.microsoft.com/office/drawing/2014/main" id="{AE7ABD1F-D258-4210-8C3A-FA1645505525}"/>
              </a:ext>
            </a:extLst>
          </p:cNvPr>
          <p:cNvSpPr>
            <a:spLocks noGrp="1"/>
          </p:cNvSpPr>
          <p:nvPr/>
        </p:nvSpPr>
        <p:spPr>
          <a:xfrm>
            <a:off x="514350" y="4819650"/>
            <a:ext cx="1866900" cy="476250"/>
          </a:xfrm>
          <a:prstGeom prst="rect">
            <a:avLst/>
          </a:prstGeom>
          <a:noFill/>
          <a:ln w="0">
            <a:noFill/>
            <a:prstDash val="solid"/>
          </a:ln>
        </p:spPr>
        <p:txBody>
          <a:bodyPr/>
          <a:lstStyle/>
          <a:p>
            <a:pPr algn="l">
              <a:buNone/>
              <a:defRPr sz="1238" b="1">
                <a:solidFill>
                  <a:srgbClr val="111111"/>
                </a:solidFill>
                <a:latin typeface="Arial"/>
                <a:ea typeface="Arial"/>
                <a:cs typeface="Arial"/>
              </a:defRPr>
            </a:pPr>
            <a:r>
              <a:rPr sz="1238" b="1">
                <a:solidFill>
                  <a:srgbClr val="111111"/>
                </a:solidFill>
                <a:latin typeface="Arial"/>
                <a:ea typeface="Arial"/>
                <a:cs typeface="Arial"/>
              </a:rPr>
              <a:t>Wet days</a:t>
            </a:r>
          </a:p>
          <a:p>
            <a:pPr algn="l">
              <a:buNone/>
              <a:defRPr sz="1238" b="1">
                <a:solidFill>
                  <a:srgbClr val="111111"/>
                </a:solidFill>
                <a:latin typeface="Arial"/>
                <a:ea typeface="Arial"/>
                <a:cs typeface="Arial"/>
              </a:defRPr>
            </a:pPr>
            <a:r>
              <a:rPr sz="1238" b="1">
                <a:solidFill>
                  <a:srgbClr val="111111"/>
                </a:solidFill>
                <a:latin typeface="Arial"/>
                <a:ea typeface="Arial"/>
                <a:cs typeface="Arial"/>
              </a:rPr>
              <a:t>after flowering</a:t>
            </a:r>
          </a:p>
        </p:txBody>
      </p:sp>
      <p:sp>
        <p:nvSpPr>
          <p:cNvPr id="34" name="row-3-1">
            <a:extLst>
              <a:ext uri="{FF2B5EF4-FFF2-40B4-BE49-F238E27FC236}">
                <a16:creationId xmlns:a16="http://schemas.microsoft.com/office/drawing/2014/main" id="{3DE46D45-4A28-48D5-8C76-8AC9DE51FB62}"/>
              </a:ext>
            </a:extLst>
          </p:cNvPr>
          <p:cNvSpPr>
            <a:spLocks noGrp="1"/>
          </p:cNvSpPr>
          <p:nvPr/>
        </p:nvSpPr>
        <p:spPr>
          <a:xfrm>
            <a:off x="2781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0">
                <a:solidFill>
                  <a:srgbClr val="111111"/>
                </a:solidFill>
                <a:latin typeface="Arial"/>
                <a:ea typeface="Arial"/>
                <a:cs typeface="Arial"/>
              </a:rPr>
              <a:t>21% of RDD rules</a:t>
            </a:r>
          </a:p>
        </p:txBody>
      </p:sp>
      <p:sp>
        <p:nvSpPr>
          <p:cNvPr id="35" name="row-3-2">
            <a:extLst>
              <a:ext uri="{FF2B5EF4-FFF2-40B4-BE49-F238E27FC236}">
                <a16:creationId xmlns:a16="http://schemas.microsoft.com/office/drawing/2014/main" id="{E5399C0F-F883-4011-8C65-931B275145E7}"/>
              </a:ext>
            </a:extLst>
          </p:cNvPr>
          <p:cNvSpPr>
            <a:spLocks noGrp="1"/>
          </p:cNvSpPr>
          <p:nvPr/>
        </p:nvSpPr>
        <p:spPr>
          <a:xfrm>
            <a:off x="5067300" y="4819650"/>
            <a:ext cx="186690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rgbClr val="C00000"/>
                </a:solidFill>
                <a:latin typeface="Arial"/>
                <a:ea typeface="Arial"/>
                <a:cs typeface="Arial"/>
              </a:rPr>
              <a:t>not selected</a:t>
            </a:r>
          </a:p>
        </p:txBody>
      </p:sp>
      <p:sp>
        <p:nvSpPr>
          <p:cNvPr id="36" name="row-3-3">
            <a:extLst>
              <a:ext uri="{FF2B5EF4-FFF2-40B4-BE49-F238E27FC236}">
                <a16:creationId xmlns:a16="http://schemas.microsoft.com/office/drawing/2014/main" id="{E9F969D3-742F-4BC0-B12F-3F7075610ECC}"/>
              </a:ext>
            </a:extLst>
          </p:cNvPr>
          <p:cNvSpPr>
            <a:spLocks noGrp="1"/>
          </p:cNvSpPr>
          <p:nvPr/>
        </p:nvSpPr>
        <p:spPr>
          <a:xfrm>
            <a:off x="7353300" y="4819650"/>
            <a:ext cx="1771650" cy="476250"/>
          </a:xfrm>
          <a:prstGeom prst="rect">
            <a:avLst/>
          </a:prstGeom>
          <a:noFill/>
          <a:ln w="0">
            <a:noFill/>
            <a:prstDash val="solid"/>
          </a:ln>
        </p:spPr>
        <p:txBody>
          <a:bodyPr/>
          <a:lstStyle/>
          <a:p>
            <a:pPr algn="ctr">
              <a:buNone/>
              <a:defRPr sz="1238" b="0">
                <a:solidFill>
                  <a:srgbClr val="111111"/>
                </a:solidFill>
                <a:latin typeface="Arial"/>
                <a:ea typeface="Arial"/>
                <a:cs typeface="Arial"/>
              </a:defRPr>
            </a:pPr>
            <a:r>
              <a:rPr sz="1238" b="1" dirty="0">
                <a:solidFill>
                  <a:srgbClr val="C00000"/>
                </a:solidFill>
                <a:latin typeface="Arial"/>
                <a:ea typeface="Arial"/>
                <a:cs typeface="Arial"/>
              </a:rPr>
              <a:t>not selected</a:t>
            </a:r>
          </a:p>
        </p:txBody>
      </p:sp>
      <p:sp>
        <p:nvSpPr>
          <p:cNvPr id="37" name="row-3-4">
            <a:extLst>
              <a:ext uri="{FF2B5EF4-FFF2-40B4-BE49-F238E27FC236}">
                <a16:creationId xmlns:a16="http://schemas.microsoft.com/office/drawing/2014/main" id="{8D20C81B-C994-4B52-9CBE-C2CE856C6901}"/>
              </a:ext>
            </a:extLst>
          </p:cNvPr>
          <p:cNvSpPr>
            <a:spLocks noGrp="1"/>
          </p:cNvSpPr>
          <p:nvPr/>
        </p:nvSpPr>
        <p:spPr>
          <a:xfrm>
            <a:off x="9544050" y="4819650"/>
            <a:ext cx="1866900" cy="476250"/>
          </a:xfrm>
          <a:prstGeom prst="rect">
            <a:avLst/>
          </a:prstGeom>
          <a:noFill/>
          <a:ln w="0">
            <a:noFill/>
            <a:prstDash val="solid"/>
          </a:ln>
        </p:spPr>
        <p:txBody>
          <a:bodyPr/>
          <a:lstStyle/>
          <a:p>
            <a:pPr algn="ctr">
              <a:buNone/>
              <a:defRPr sz="1200" b="1">
                <a:solidFill>
                  <a:srgbClr val="111111"/>
                </a:solidFill>
                <a:latin typeface="Arial"/>
                <a:ea typeface="Arial"/>
                <a:cs typeface="Arial"/>
              </a:defRPr>
            </a:pPr>
            <a:r>
              <a:rPr sz="1200" b="1">
                <a:solidFill>
                  <a:srgbClr val="111111"/>
                </a:solidFill>
                <a:latin typeface="Arial"/>
                <a:ea typeface="Arial"/>
                <a:cs typeface="Arial"/>
              </a:rPr>
              <a:t>MODERATE</a:t>
            </a:r>
          </a:p>
          <a:p>
            <a:pPr algn="ctr">
              <a:buNone/>
              <a:defRPr sz="1200" b="1">
                <a:solidFill>
                  <a:srgbClr val="111111"/>
                </a:solidFill>
                <a:latin typeface="Arial"/>
                <a:ea typeface="Arial"/>
                <a:cs typeface="Arial"/>
              </a:defRPr>
            </a:pPr>
            <a:r>
              <a:rPr sz="1200" b="1">
                <a:solidFill>
                  <a:srgbClr val="111111"/>
                </a:solidFill>
                <a:latin typeface="Arial"/>
                <a:ea typeface="Arial"/>
                <a:cs typeface="Arial"/>
              </a:rPr>
              <a:t>CarenR-specific</a:t>
            </a:r>
          </a:p>
        </p:txBody>
      </p:sp>
      <p:sp>
        <p:nvSpPr>
          <p:cNvPr id="40" name="takeaway-text">
            <a:extLst>
              <a:ext uri="{FF2B5EF4-FFF2-40B4-BE49-F238E27FC236}">
                <a16:creationId xmlns:a16="http://schemas.microsoft.com/office/drawing/2014/main" id="{6FD1F178-A44F-45E9-8AB7-038F799C304B}"/>
              </a:ext>
            </a:extLst>
          </p:cNvPr>
          <p:cNvSpPr>
            <a:spLocks noGrp="1"/>
          </p:cNvSpPr>
          <p:nvPr/>
        </p:nvSpPr>
        <p:spPr>
          <a:xfrm>
            <a:off x="714375" y="5848350"/>
            <a:ext cx="10572750" cy="228600"/>
          </a:xfrm>
          <a:prstGeom prst="rect">
            <a:avLst/>
          </a:prstGeom>
          <a:noFill/>
          <a:ln w="0">
            <a:noFill/>
            <a:prstDash val="solid"/>
          </a:ln>
        </p:spPr>
        <p:txBody>
          <a:bodyPr/>
          <a:lstStyle/>
          <a:p>
            <a:pPr algn="ctr">
              <a:buNone/>
              <a:defRPr sz="1350" b="1">
                <a:solidFill>
                  <a:srgbClr val="7B1E3A"/>
                </a:solidFill>
                <a:latin typeface="Arial"/>
                <a:ea typeface="Arial"/>
                <a:cs typeface="Arial"/>
              </a:defRPr>
            </a:pPr>
            <a:r>
              <a:rPr sz="1600" b="1" dirty="0">
                <a:solidFill>
                  <a:schemeClr val="accent2"/>
                </a:solidFill>
                <a:latin typeface="Arial"/>
                <a:ea typeface="Arial"/>
                <a:cs typeface="Arial"/>
              </a:rPr>
              <a:t>Agreement across three independent methods is the strongest evidence that the rule features reflect real data structure, not algorithmic noise.</a:t>
            </a:r>
          </a:p>
        </p:txBody>
      </p:sp>
      <p:sp>
        <p:nvSpPr>
          <p:cNvPr id="42" name="slide-number">
            <a:extLst>
              <a:ext uri="{FF2B5EF4-FFF2-40B4-BE49-F238E27FC236}">
                <a16:creationId xmlns:a16="http://schemas.microsoft.com/office/drawing/2014/main" id="{EBDE243A-B4DD-443E-ACD1-156DBD25910E}"/>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5" name="Rectangle 44">
            <a:extLst>
              <a:ext uri="{FF2B5EF4-FFF2-40B4-BE49-F238E27FC236}">
                <a16:creationId xmlns:a16="http://schemas.microsoft.com/office/drawing/2014/main" id="{8E3E24E9-762C-F6A6-E13B-D740169DA6C8}"/>
              </a:ext>
            </a:extLst>
          </p:cNvPr>
          <p:cNvSpPr/>
          <p:nvPr/>
        </p:nvSpPr>
        <p:spPr>
          <a:xfrm>
            <a:off x="9760448" y="1943100"/>
            <a:ext cx="1526677" cy="25908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DCA4A316-5C89-9931-7A24-0A9643A9BB1E}"/>
              </a:ext>
            </a:extLst>
          </p:cNvPr>
          <p:cNvSpPr/>
          <p:nvPr/>
        </p:nvSpPr>
        <p:spPr>
          <a:xfrm>
            <a:off x="9760447" y="4724400"/>
            <a:ext cx="1526677" cy="6857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31380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CAB6C1F-0607-4031-ABC5-0095DEF2528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VALIDATION</a:t>
            </a:r>
          </a:p>
        </p:txBody>
      </p:sp>
      <p:sp>
        <p:nvSpPr>
          <p:cNvPr id="2" name="Rectangle 1">
            <a:extLst>
              <a:ext uri="{FF2B5EF4-FFF2-40B4-BE49-F238E27FC236}">
                <a16:creationId xmlns:a16="http://schemas.microsoft.com/office/drawing/2014/main" id="{448489AE-2FE7-4C5E-AF86-6DC162B3ECD7}"/>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Two checks confirm the discovered signal</a:t>
            </a:r>
          </a:p>
        </p:txBody>
      </p:sp>
      <p:sp>
        <p:nvSpPr>
          <p:cNvPr id="4" name="Rectangle 3">
            <a:extLst>
              <a:ext uri="{FF2B5EF4-FFF2-40B4-BE49-F238E27FC236}">
                <a16:creationId xmlns:a16="http://schemas.microsoft.com/office/drawing/2014/main" id="{5E071813-178A-4668-B798-3B3BA67F7842}"/>
              </a:ext>
            </a:extLst>
          </p:cNvPr>
          <p:cNvSpPr>
            <a:spLocks noGrp="1"/>
          </p:cNvSpPr>
          <p:nvPr/>
        </p:nvSpPr>
        <p:spPr>
          <a:xfrm>
            <a:off x="400050" y="1714500"/>
            <a:ext cx="5334000" cy="3429000"/>
          </a:xfrm>
          <a:prstGeom prst="rect">
            <a:avLst/>
          </a:prstGeom>
          <a:solidFill>
            <a:schemeClr val="tx1">
              <a:lumMod val="75000"/>
              <a:lumOff val="25000"/>
            </a:schemeClr>
          </a:solidFill>
          <a:ln w="0">
            <a:noFill/>
            <a:prstDash val="solid"/>
          </a:ln>
        </p:spPr>
        <p:txBody>
          <a:bodyPr/>
          <a:lstStyle/>
          <a:p>
            <a:endParaRPr lang="en-US"/>
          </a:p>
        </p:txBody>
      </p:sp>
      <p:sp>
        <p:nvSpPr>
          <p:cNvPr id="5" name="Rectangle 4">
            <a:extLst>
              <a:ext uri="{FF2B5EF4-FFF2-40B4-BE49-F238E27FC236}">
                <a16:creationId xmlns:a16="http://schemas.microsoft.com/office/drawing/2014/main" id="{BEFFC28D-DB85-4E66-835D-59782951DDDC}"/>
              </a:ext>
            </a:extLst>
          </p:cNvPr>
          <p:cNvSpPr>
            <a:spLocks noGrp="1"/>
          </p:cNvSpPr>
          <p:nvPr/>
        </p:nvSpPr>
        <p:spPr>
          <a:xfrm>
            <a:off x="6457950" y="1714500"/>
            <a:ext cx="5334000" cy="3429000"/>
          </a:xfrm>
          <a:prstGeom prst="rect">
            <a:avLst/>
          </a:prstGeom>
          <a:solidFill>
            <a:srgbClr val="F0F1F2"/>
          </a:solidFill>
          <a:ln w="0">
            <a:noFill/>
            <a:prstDash val="solid"/>
          </a:ln>
        </p:spPr>
        <p:txBody>
          <a:bodyPr/>
          <a:lstStyle/>
          <a:p>
            <a:endParaRPr lang="en-US"/>
          </a:p>
        </p:txBody>
      </p:sp>
      <p:sp>
        <p:nvSpPr>
          <p:cNvPr id="6" name="Rectangle 5">
            <a:extLst>
              <a:ext uri="{FF2B5EF4-FFF2-40B4-BE49-F238E27FC236}">
                <a16:creationId xmlns:a16="http://schemas.microsoft.com/office/drawing/2014/main" id="{0528929C-D451-4275-8778-3921EC295B7D}"/>
              </a:ext>
            </a:extLst>
          </p:cNvPr>
          <p:cNvSpPr>
            <a:spLocks noGrp="1"/>
          </p:cNvSpPr>
          <p:nvPr/>
        </p:nvSpPr>
        <p:spPr>
          <a:xfrm>
            <a:off x="714375"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bg1"/>
                </a:solidFill>
              </a:rPr>
              <a:t>01</a:t>
            </a:r>
          </a:p>
        </p:txBody>
      </p:sp>
      <p:sp>
        <p:nvSpPr>
          <p:cNvPr id="7" name="Rectangle 6">
            <a:extLst>
              <a:ext uri="{FF2B5EF4-FFF2-40B4-BE49-F238E27FC236}">
                <a16:creationId xmlns:a16="http://schemas.microsoft.com/office/drawing/2014/main" id="{8B4248E8-66EB-4F98-A8F6-BE829DC1CE16}"/>
              </a:ext>
            </a:extLst>
          </p:cNvPr>
          <p:cNvSpPr>
            <a:spLocks noGrp="1"/>
          </p:cNvSpPr>
          <p:nvPr/>
        </p:nvSpPr>
        <p:spPr>
          <a:xfrm>
            <a:off x="714375" y="2571750"/>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lang="en-GB" dirty="0">
                <a:solidFill>
                  <a:schemeClr val="bg1"/>
                </a:solidFill>
              </a:rPr>
              <a:t>AGGRESSIVE DETRENDING</a:t>
            </a:r>
          </a:p>
        </p:txBody>
      </p:sp>
      <p:sp>
        <p:nvSpPr>
          <p:cNvPr id="8" name="Rectangle 7">
            <a:extLst>
              <a:ext uri="{FF2B5EF4-FFF2-40B4-BE49-F238E27FC236}">
                <a16:creationId xmlns:a16="http://schemas.microsoft.com/office/drawing/2014/main" id="{09EC56D5-02AF-4B5C-87FA-2B71BF7DDC75}"/>
              </a:ext>
            </a:extLst>
          </p:cNvPr>
          <p:cNvSpPr>
            <a:spLocks noGrp="1"/>
          </p:cNvSpPr>
          <p:nvPr/>
        </p:nvSpPr>
        <p:spPr>
          <a:xfrm>
            <a:off x="714375" y="3238500"/>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dirty="0">
                <a:solidFill>
                  <a:schemeClr val="bg1"/>
                </a:solidFill>
              </a:rPr>
              <a:t>RDD signals persist after LOESS; in RVV, wet-days persist while LAI and soil water are era-linked.</a:t>
            </a:r>
          </a:p>
        </p:txBody>
      </p:sp>
      <p:sp>
        <p:nvSpPr>
          <p:cNvPr id="9" name="Rectangle 8">
            <a:extLst>
              <a:ext uri="{FF2B5EF4-FFF2-40B4-BE49-F238E27FC236}">
                <a16:creationId xmlns:a16="http://schemas.microsoft.com/office/drawing/2014/main" id="{308B137C-1607-4469-8C8F-2479D534E651}"/>
              </a:ext>
            </a:extLst>
          </p:cNvPr>
          <p:cNvSpPr>
            <a:spLocks noGrp="1"/>
          </p:cNvSpPr>
          <p:nvPr/>
        </p:nvSpPr>
        <p:spPr>
          <a:xfrm>
            <a:off x="714374" y="4524375"/>
            <a:ext cx="4926137" cy="333375"/>
          </a:xfrm>
          <a:prstGeom prst="rect">
            <a:avLst/>
          </a:prstGeom>
        </p:spPr>
        <p:txBody>
          <a:bodyPr lIns="0" tIns="0" rIns="0" bIns="0" anchor="t">
            <a:noAutofit/>
          </a:bodyPr>
          <a:lstStyle/>
          <a:p>
            <a:pPr algn="l">
              <a:buNone/>
              <a:defRPr sz="1725" b="1">
                <a:solidFill>
                  <a:srgbClr val="166534"/>
                </a:solidFill>
                <a:latin typeface="Arial"/>
                <a:ea typeface="Arial"/>
                <a:cs typeface="Arial"/>
              </a:defRPr>
            </a:pPr>
            <a:r>
              <a:rPr sz="1700" dirty="0">
                <a:solidFill>
                  <a:schemeClr val="accent2"/>
                </a:solidFill>
              </a:rPr>
              <a:t>→ The signal is real, but not equally stable across regions.</a:t>
            </a:r>
          </a:p>
        </p:txBody>
      </p:sp>
      <p:sp>
        <p:nvSpPr>
          <p:cNvPr id="10" name="Rectangle 9">
            <a:extLst>
              <a:ext uri="{FF2B5EF4-FFF2-40B4-BE49-F238E27FC236}">
                <a16:creationId xmlns:a16="http://schemas.microsoft.com/office/drawing/2014/main" id="{00BB8BF4-90C8-457C-BBB5-F8839C747709}"/>
              </a:ext>
            </a:extLst>
          </p:cNvPr>
          <p:cNvSpPr>
            <a:spLocks noGrp="1"/>
          </p:cNvSpPr>
          <p:nvPr/>
        </p:nvSpPr>
        <p:spPr>
          <a:xfrm>
            <a:off x="6762750" y="2047875"/>
            <a:ext cx="523875" cy="333375"/>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tx1">
                    <a:lumMod val="95000"/>
                    <a:lumOff val="5000"/>
                  </a:schemeClr>
                </a:solidFill>
              </a:rPr>
              <a:t>02</a:t>
            </a:r>
          </a:p>
        </p:txBody>
      </p:sp>
      <p:sp>
        <p:nvSpPr>
          <p:cNvPr id="11" name="Rectangle 10">
            <a:extLst>
              <a:ext uri="{FF2B5EF4-FFF2-40B4-BE49-F238E27FC236}">
                <a16:creationId xmlns:a16="http://schemas.microsoft.com/office/drawing/2014/main" id="{7E51A354-F60E-492D-B694-BDAEFB3BE9B0}"/>
              </a:ext>
            </a:extLst>
          </p:cNvPr>
          <p:cNvSpPr>
            <a:spLocks noGrp="1"/>
          </p:cNvSpPr>
          <p:nvPr/>
        </p:nvSpPr>
        <p:spPr>
          <a:xfrm>
            <a:off x="6762750" y="2571750"/>
            <a:ext cx="4286250" cy="428625"/>
          </a:xfrm>
          <a:prstGeom prst="rect">
            <a:avLst/>
          </a:prstGeom>
        </p:spPr>
        <p:txBody>
          <a:bodyPr lIns="0" tIns="0" rIns="0" bIns="0" anchor="t">
            <a:normAutofit/>
          </a:bodyPr>
          <a:lstStyle/>
          <a:p>
            <a:pPr algn="l">
              <a:buNone/>
              <a:defRPr sz="2325" b="1">
                <a:solidFill>
                  <a:srgbClr val="151515"/>
                </a:solidFill>
                <a:latin typeface="Arial"/>
                <a:ea typeface="Arial"/>
                <a:cs typeface="Arial"/>
              </a:defRPr>
            </a:pPr>
            <a:r>
              <a:rPr lang="en-GB" dirty="0"/>
              <a:t>INDEPENDENT ALGORITHMS</a:t>
            </a:r>
          </a:p>
        </p:txBody>
      </p:sp>
      <p:sp>
        <p:nvSpPr>
          <p:cNvPr id="12" name="Rectangle 11">
            <a:extLst>
              <a:ext uri="{FF2B5EF4-FFF2-40B4-BE49-F238E27FC236}">
                <a16:creationId xmlns:a16="http://schemas.microsoft.com/office/drawing/2014/main" id="{BB2D1666-E110-43AC-85EF-E5775FEFDFDC}"/>
              </a:ext>
            </a:extLst>
          </p:cNvPr>
          <p:cNvSpPr>
            <a:spLocks noGrp="1"/>
          </p:cNvSpPr>
          <p:nvPr/>
        </p:nvSpPr>
        <p:spPr>
          <a:xfrm>
            <a:off x="6762750" y="3238500"/>
            <a:ext cx="4286250" cy="1095375"/>
          </a:xfrm>
          <a:prstGeom prst="rect">
            <a:avLst/>
          </a:prstGeom>
        </p:spPr>
        <p:txBody>
          <a:bodyPr lIns="0" tIns="0" rIns="0" bIns="0" anchor="t">
            <a:normAutofit/>
          </a:bodyPr>
          <a:lstStyle/>
          <a:p>
            <a:pPr algn="l">
              <a:buNone/>
              <a:defRPr sz="2025" b="0">
                <a:solidFill>
                  <a:srgbClr val="151515"/>
                </a:solidFill>
                <a:latin typeface="Arial"/>
                <a:ea typeface="Arial"/>
                <a:cs typeface="Arial"/>
              </a:defRPr>
            </a:pPr>
            <a:r>
              <a:rPr sz="2000" i="1" dirty="0"/>
              <a:t>RIPPER</a:t>
            </a:r>
            <a:r>
              <a:rPr sz="2000" dirty="0"/>
              <a:t> and </a:t>
            </a:r>
            <a:r>
              <a:rPr sz="2000" i="1" dirty="0"/>
              <a:t>M5Rules</a:t>
            </a:r>
            <a:r>
              <a:rPr sz="2000" dirty="0"/>
              <a:t> converge on harvest soil water, LAI and previous-year temperature.</a:t>
            </a:r>
          </a:p>
        </p:txBody>
      </p:sp>
      <p:sp>
        <p:nvSpPr>
          <p:cNvPr id="13" name="Rectangle 12">
            <a:extLst>
              <a:ext uri="{FF2B5EF4-FFF2-40B4-BE49-F238E27FC236}">
                <a16:creationId xmlns:a16="http://schemas.microsoft.com/office/drawing/2014/main" id="{5F8FDB59-49EE-4396-8FC6-4BC0D1F938AD}"/>
              </a:ext>
            </a:extLst>
          </p:cNvPr>
          <p:cNvSpPr>
            <a:spLocks noGrp="1"/>
          </p:cNvSpPr>
          <p:nvPr/>
        </p:nvSpPr>
        <p:spPr>
          <a:xfrm>
            <a:off x="6762750" y="4524375"/>
            <a:ext cx="4286250" cy="333375"/>
          </a:xfrm>
          <a:prstGeom prst="rect">
            <a:avLst/>
          </a:prstGeom>
        </p:spPr>
        <p:txBody>
          <a:bodyPr lIns="0" tIns="0" rIns="0" bIns="0" anchor="t">
            <a:normAutofit/>
          </a:bodyPr>
          <a:lstStyle/>
          <a:p>
            <a:pPr algn="l">
              <a:buNone/>
              <a:defRPr sz="1725" b="1">
                <a:solidFill>
                  <a:srgbClr val="166534"/>
                </a:solidFill>
                <a:latin typeface="Arial"/>
                <a:ea typeface="Arial"/>
                <a:cs typeface="Arial"/>
              </a:defRPr>
            </a:pPr>
            <a:r>
              <a:rPr dirty="0">
                <a:solidFill>
                  <a:schemeClr val="accent2"/>
                </a:solidFill>
              </a:rPr>
              <a:t>→ The signal is not CarenR-specific.</a:t>
            </a:r>
          </a:p>
        </p:txBody>
      </p:sp>
      <p:sp>
        <p:nvSpPr>
          <p:cNvPr id="14" name="Rectangle 13">
            <a:extLst>
              <a:ext uri="{FF2B5EF4-FFF2-40B4-BE49-F238E27FC236}">
                <a16:creationId xmlns:a16="http://schemas.microsoft.com/office/drawing/2014/main" id="{232C7B32-88CA-4491-9A68-8A0173A4B4FE}"/>
              </a:ext>
            </a:extLst>
          </p:cNvPr>
          <p:cNvSpPr>
            <a:spLocks noGrp="1"/>
          </p:cNvSpPr>
          <p:nvPr/>
        </p:nvSpPr>
        <p:spPr>
          <a:xfrm>
            <a:off x="400050" y="5599202"/>
            <a:ext cx="11382375" cy="457200"/>
          </a:xfrm>
          <a:prstGeom prst="rect">
            <a:avLst/>
          </a:prstGeom>
          <a:solidFill>
            <a:schemeClr val="tx1">
              <a:lumMod val="85000"/>
              <a:lumOff val="15000"/>
            </a:schemeClr>
          </a:solidFill>
        </p:spPr>
        <p:txBody>
          <a:bodyPr lIns="0" tIns="0" rIns="0" bIns="0" anchor="ctr">
            <a:normAutofit/>
          </a:bodyPr>
          <a:lstStyle/>
          <a:p>
            <a:pPr algn="ctr">
              <a:buNone/>
              <a:defRPr sz="2250" b="1">
                <a:solidFill>
                  <a:srgbClr val="7B1E3A"/>
                </a:solidFill>
                <a:latin typeface="Arial"/>
                <a:ea typeface="Arial"/>
                <a:cs typeface="Arial"/>
              </a:defRPr>
            </a:pPr>
            <a:r>
              <a:rPr dirty="0">
                <a:solidFill>
                  <a:schemeClr val="bg1"/>
                </a:solidFill>
              </a:rPr>
              <a:t>Discovery is credible — but credibility is not yet predictive utility.</a:t>
            </a:r>
          </a:p>
        </p:txBody>
      </p:sp>
      <p:sp>
        <p:nvSpPr>
          <p:cNvPr id="15" name="Rectangle 14">
            <a:extLst>
              <a:ext uri="{FF2B5EF4-FFF2-40B4-BE49-F238E27FC236}">
                <a16:creationId xmlns:a16="http://schemas.microsoft.com/office/drawing/2014/main" id="{BF54D350-7640-40AC-8E2C-7C92F85FCA30}"/>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Sections 4.2 and 4.5</a:t>
            </a:r>
          </a:p>
        </p:txBody>
      </p:sp>
    </p:spTree>
    <p:extLst>
      <p:ext uri="{BB962C8B-B14F-4D97-AF65-F5344CB8AC3E}">
        <p14:creationId xmlns:p14="http://schemas.microsoft.com/office/powerpoint/2010/main" val="1766828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C1475E-AA07-48A5-A121-AE8067E087C4}"/>
              </a:ext>
            </a:extLst>
          </p:cNvPr>
          <p:cNvSpPr>
            <a:spLocks noGrp="1"/>
          </p:cNvSpPr>
          <p:nvPr/>
        </p:nvSpPr>
        <p:spPr>
          <a:xfrm>
            <a:off x="449726" y="24765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METHOD · PREDICTION</a:t>
            </a:r>
          </a:p>
        </p:txBody>
      </p:sp>
      <p:sp>
        <p:nvSpPr>
          <p:cNvPr id="2" name="Rectangle 1">
            <a:extLst>
              <a:ext uri="{FF2B5EF4-FFF2-40B4-BE49-F238E27FC236}">
                <a16:creationId xmlns:a16="http://schemas.microsoft.com/office/drawing/2014/main" id="{8D96D8D4-2C78-44D0-B41C-8BF91500E80E}"/>
              </a:ext>
            </a:extLst>
          </p:cNvPr>
          <p:cNvSpPr>
            <a:spLocks noGrp="1"/>
          </p:cNvSpPr>
          <p:nvPr/>
        </p:nvSpPr>
        <p:spPr>
          <a:xfrm>
            <a:off x="449726" y="533400"/>
            <a:ext cx="9696450" cy="781050"/>
          </a:xfrm>
          <a:prstGeom prst="rect">
            <a:avLst/>
          </a:prstGeom>
        </p:spPr>
        <p:txBody>
          <a:bodyPr lIns="0" tIns="0" rIns="0" bIns="0" anchor="t">
            <a:normAutofit/>
          </a:bodyPr>
          <a:lstStyle/>
          <a:p>
            <a:pPr algn="l">
              <a:buNone/>
              <a:defRPr sz="3300" b="1">
                <a:solidFill>
                  <a:srgbClr val="151515"/>
                </a:solidFill>
                <a:latin typeface="Arial"/>
                <a:ea typeface="Arial"/>
                <a:cs typeface="Arial"/>
              </a:defRPr>
            </a:pPr>
            <a:r>
              <a:rPr dirty="0"/>
              <a:t>Goal 2 recreates prediction-time information</a:t>
            </a:r>
          </a:p>
        </p:txBody>
      </p:sp>
      <p:pic>
        <p:nvPicPr>
          <p:cNvPr id="96" name="Picture 95"/>
          <p:cNvPicPr>
            <a:picLocks noChangeAspect="1"/>
          </p:cNvPicPr>
          <p:nvPr/>
        </p:nvPicPr>
        <p:blipFill>
          <a:blip r:embed="rId3"/>
          <a:stretch/>
        </p:blipFill>
        <p:spPr>
          <a:xfrm>
            <a:off x="618250" y="1238126"/>
            <a:ext cx="4109377" cy="5429498"/>
          </a:xfrm>
          <a:prstGeom prst="rect">
            <a:avLst/>
          </a:prstGeom>
        </p:spPr>
      </p:pic>
      <p:sp>
        <p:nvSpPr>
          <p:cNvPr id="5" name="Rectangle 4">
            <a:extLst>
              <a:ext uri="{FF2B5EF4-FFF2-40B4-BE49-F238E27FC236}">
                <a16:creationId xmlns:a16="http://schemas.microsoft.com/office/drawing/2014/main" id="{A0BDA2EE-48CB-4940-88FA-F58EC07A5994}"/>
              </a:ext>
            </a:extLst>
          </p:cNvPr>
          <p:cNvSpPr>
            <a:spLocks noGrp="1"/>
          </p:cNvSpPr>
          <p:nvPr/>
        </p:nvSpPr>
        <p:spPr>
          <a:xfrm>
            <a:off x="6096000" y="1619250"/>
            <a:ext cx="4095750" cy="381000"/>
          </a:xfrm>
          <a:prstGeom prst="rect">
            <a:avLst/>
          </a:prstGeom>
        </p:spPr>
        <p:txBody>
          <a:bodyPr lIns="0" tIns="0" rIns="0" bIns="0" anchor="t">
            <a:normAutofit/>
          </a:bodyPr>
          <a:lstStyle/>
          <a:p>
            <a:pPr algn="l">
              <a:buNone/>
              <a:defRPr sz="2250" b="1">
                <a:solidFill>
                  <a:srgbClr val="151515"/>
                </a:solidFill>
                <a:latin typeface="Arial"/>
                <a:ea typeface="Arial"/>
                <a:cs typeface="Arial"/>
              </a:defRPr>
            </a:pPr>
            <a:r>
              <a:rPr sz="2000" dirty="0">
                <a:solidFill>
                  <a:schemeClr val="accent2"/>
                </a:solidFill>
              </a:rPr>
              <a:t>Expanding-window validation</a:t>
            </a:r>
          </a:p>
        </p:txBody>
      </p:sp>
      <p:sp>
        <p:nvSpPr>
          <p:cNvPr id="6" name="Rectangle 5">
            <a:extLst>
              <a:ext uri="{FF2B5EF4-FFF2-40B4-BE49-F238E27FC236}">
                <a16:creationId xmlns:a16="http://schemas.microsoft.com/office/drawing/2014/main" id="{24548772-30AE-4830-9AA8-8EC2A201924D}"/>
              </a:ext>
            </a:extLst>
          </p:cNvPr>
          <p:cNvSpPr>
            <a:spLocks noGrp="1"/>
          </p:cNvSpPr>
          <p:nvPr/>
        </p:nvSpPr>
        <p:spPr>
          <a:xfrm>
            <a:off x="6096000" y="2190750"/>
            <a:ext cx="4095750" cy="71437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18 scenarios · Douro
16 scenarios · Vinho Verde</a:t>
            </a:r>
          </a:p>
        </p:txBody>
      </p:sp>
      <p:cxnSp>
        <p:nvCxnSpPr>
          <p:cNvPr id="99" name="Straight Arrow Connector 98"/>
          <p:cNvCxnSpPr/>
          <p:nvPr/>
        </p:nvCxnSpPr>
        <p:spPr>
          <a:xfrm>
            <a:off x="6096000" y="3143250"/>
            <a:ext cx="4048125" cy="953"/>
          </a:xfrm>
          <a:prstGeom prst="straightConnector1">
            <a:avLst/>
          </a:prstGeom>
          <a:ln w="9525">
            <a:solidFill>
              <a:srgbClr val="B8BCC4"/>
            </a:solidFill>
            <a:prstDash val="solid"/>
          </a:ln>
        </p:spPr>
      </p:cxnSp>
      <p:sp>
        <p:nvSpPr>
          <p:cNvPr id="8" name="Rectangle 7">
            <a:extLst>
              <a:ext uri="{FF2B5EF4-FFF2-40B4-BE49-F238E27FC236}">
                <a16:creationId xmlns:a16="http://schemas.microsoft.com/office/drawing/2014/main" id="{2FD7EC9F-0650-4FE7-8304-C12DB8F06B85}"/>
              </a:ext>
            </a:extLst>
          </p:cNvPr>
          <p:cNvSpPr>
            <a:spLocks noGrp="1"/>
          </p:cNvSpPr>
          <p:nvPr/>
        </p:nvSpPr>
        <p:spPr>
          <a:xfrm>
            <a:off x="6095999" y="3562562"/>
            <a:ext cx="5606265" cy="523875"/>
          </a:xfrm>
          <a:prstGeom prst="rect">
            <a:avLst/>
          </a:prstGeom>
        </p:spPr>
        <p:txBody>
          <a:bodyPr lIns="0" tIns="0" rIns="0" bIns="0" anchor="t">
            <a:normAutofit fontScale="99638"/>
          </a:bodyPr>
          <a:lstStyle/>
          <a:p>
            <a:pPr algn="l">
              <a:buNone/>
              <a:defRPr sz="1725" b="1">
                <a:solidFill>
                  <a:srgbClr val="151515"/>
                </a:solidFill>
                <a:latin typeface="Arial"/>
                <a:ea typeface="Arial"/>
                <a:cs typeface="Arial"/>
              </a:defRPr>
            </a:pPr>
            <a:r>
              <a:rPr dirty="0">
                <a:solidFill>
                  <a:schemeClr val="accent2"/>
                </a:solidFill>
              </a:rPr>
              <a:t>All preprocessing stays inside each training fold:</a:t>
            </a:r>
          </a:p>
        </p:txBody>
      </p:sp>
      <p:sp>
        <p:nvSpPr>
          <p:cNvPr id="9" name="Rectangle 8">
            <a:extLst>
              <a:ext uri="{FF2B5EF4-FFF2-40B4-BE49-F238E27FC236}">
                <a16:creationId xmlns:a16="http://schemas.microsoft.com/office/drawing/2014/main" id="{7D3301BF-604C-4A08-80C1-AF289490CAB4}"/>
              </a:ext>
            </a:extLst>
          </p:cNvPr>
          <p:cNvSpPr>
            <a:spLocks noGrp="1"/>
          </p:cNvSpPr>
          <p:nvPr/>
        </p:nvSpPr>
        <p:spPr>
          <a:xfrm>
            <a:off x="6286500" y="4095750"/>
            <a:ext cx="3619500" cy="1381125"/>
          </a:xfrm>
          <a:prstGeom prst="rect">
            <a:avLst/>
          </a:prstGeom>
        </p:spPr>
        <p:txBody>
          <a:bodyPr lIns="0" tIns="0" rIns="0" bIns="0" anchor="t">
            <a:normAutofit/>
          </a:bodyPr>
          <a:lstStyle/>
          <a:p>
            <a:pPr algn="l">
              <a:buNone/>
              <a:defRPr sz="1800" b="0">
                <a:solidFill>
                  <a:srgbClr val="151515"/>
                </a:solidFill>
                <a:latin typeface="Arial"/>
                <a:ea typeface="Arial"/>
                <a:cs typeface="Arial"/>
              </a:defRPr>
            </a:pPr>
            <a:r>
              <a:t>• detrending
• discretisation
• feature selection
• rule induction</a:t>
            </a:r>
          </a:p>
        </p:txBody>
      </p:sp>
      <p:sp>
        <p:nvSpPr>
          <p:cNvPr id="10" name="Rectangle 9">
            <a:extLst>
              <a:ext uri="{FF2B5EF4-FFF2-40B4-BE49-F238E27FC236}">
                <a16:creationId xmlns:a16="http://schemas.microsoft.com/office/drawing/2014/main" id="{307D82F0-12A7-47D3-8D27-5689A1451592}"/>
              </a:ext>
            </a:extLst>
          </p:cNvPr>
          <p:cNvSpPr>
            <a:spLocks noGrp="1"/>
          </p:cNvSpPr>
          <p:nvPr/>
        </p:nvSpPr>
        <p:spPr>
          <a:xfrm>
            <a:off x="6096000" y="5619750"/>
            <a:ext cx="5477750" cy="476250"/>
          </a:xfrm>
          <a:prstGeom prst="rect">
            <a:avLst/>
          </a:prstGeom>
          <a:solidFill>
            <a:schemeClr val="tx1">
              <a:lumMod val="65000"/>
              <a:lumOff val="35000"/>
            </a:schemeClr>
          </a:solidFill>
          <a:ln w="0">
            <a:noFill/>
            <a:prstDash val="solid"/>
          </a:ln>
        </p:spPr>
        <p:txBody>
          <a:bodyPr/>
          <a:lstStyle/>
          <a:p>
            <a:endParaRPr lang="en-US">
              <a:solidFill>
                <a:schemeClr val="bg1"/>
              </a:solidFill>
            </a:endParaRPr>
          </a:p>
        </p:txBody>
      </p:sp>
      <p:sp>
        <p:nvSpPr>
          <p:cNvPr id="11" name="Rectangle 10">
            <a:extLst>
              <a:ext uri="{FF2B5EF4-FFF2-40B4-BE49-F238E27FC236}">
                <a16:creationId xmlns:a16="http://schemas.microsoft.com/office/drawing/2014/main" id="{1B2CCFAD-A5E1-4FA7-815A-522733367088}"/>
              </a:ext>
            </a:extLst>
          </p:cNvPr>
          <p:cNvSpPr>
            <a:spLocks noGrp="1"/>
          </p:cNvSpPr>
          <p:nvPr/>
        </p:nvSpPr>
        <p:spPr>
          <a:xfrm>
            <a:off x="6953687" y="5724525"/>
            <a:ext cx="3762375" cy="266700"/>
          </a:xfrm>
          <a:prstGeom prst="rect">
            <a:avLst/>
          </a:prstGeom>
        </p:spPr>
        <p:txBody>
          <a:bodyPr lIns="0" tIns="0" rIns="0" bIns="0" anchor="t">
            <a:normAutofit/>
          </a:bodyPr>
          <a:lstStyle/>
          <a:p>
            <a:pPr algn="l">
              <a:buNone/>
              <a:defRPr sz="1425" b="1">
                <a:solidFill>
                  <a:srgbClr val="7B1E3A"/>
                </a:solidFill>
                <a:latin typeface="Arial"/>
                <a:ea typeface="Arial"/>
                <a:cs typeface="Arial"/>
              </a:defRPr>
            </a:pPr>
            <a:r>
              <a:rPr dirty="0">
                <a:solidFill>
                  <a:schemeClr val="bg1"/>
                </a:solidFill>
              </a:rPr>
              <a:t>17 models · weighted MAE · lower is better</a:t>
            </a:r>
          </a:p>
        </p:txBody>
      </p:sp>
    </p:spTree>
    <p:extLst>
      <p:ext uri="{BB962C8B-B14F-4D97-AF65-F5344CB8AC3E}">
        <p14:creationId xmlns:p14="http://schemas.microsoft.com/office/powerpoint/2010/main" val="653216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A605CB5-20AB-4D1B-A9AB-5BB2D470786E}"/>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RESULTS · PREDICTION</a:t>
            </a:r>
          </a:p>
        </p:txBody>
      </p:sp>
      <p:sp>
        <p:nvSpPr>
          <p:cNvPr id="2" name="Rectangle 1">
            <a:extLst>
              <a:ext uri="{FF2B5EF4-FFF2-40B4-BE49-F238E27FC236}">
                <a16:creationId xmlns:a16="http://schemas.microsoft.com/office/drawing/2014/main" id="{86F4DE52-70EC-45FD-A166-87B23FDA847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No rule-based model beats the median overall</a:t>
            </a:r>
          </a:p>
        </p:txBody>
      </p:sp>
      <p:sp>
        <p:nvSpPr>
          <p:cNvPr id="6" name="Rectangle 5">
            <a:extLst>
              <a:ext uri="{FF2B5EF4-FFF2-40B4-BE49-F238E27FC236}">
                <a16:creationId xmlns:a16="http://schemas.microsoft.com/office/drawing/2014/main" id="{129958E5-E12D-48F2-B7ED-BAE8D85E8083}"/>
              </a:ext>
            </a:extLst>
          </p:cNvPr>
          <p:cNvSpPr>
            <a:spLocks noGrp="1"/>
          </p:cNvSpPr>
          <p:nvPr/>
        </p:nvSpPr>
        <p:spPr>
          <a:xfrm>
            <a:off x="300305" y="5848350"/>
            <a:ext cx="5476875" cy="742950"/>
          </a:xfrm>
          <a:prstGeom prst="rect">
            <a:avLst/>
          </a:prstGeom>
          <a:solidFill>
            <a:schemeClr val="tx1">
              <a:lumMod val="50000"/>
              <a:lumOff val="50000"/>
            </a:schemeClr>
          </a:solidFill>
          <a:ln w="0">
            <a:noFill/>
            <a:prstDash val="solid"/>
          </a:ln>
        </p:spPr>
        <p:txBody>
          <a:bodyPr/>
          <a:lstStyle/>
          <a:p>
            <a:endParaRPr lang="en-US">
              <a:solidFill>
                <a:schemeClr val="accent2"/>
              </a:solidFill>
            </a:endParaRPr>
          </a:p>
        </p:txBody>
      </p:sp>
      <p:sp>
        <p:nvSpPr>
          <p:cNvPr id="7" name="Rectangle 6">
            <a:extLst>
              <a:ext uri="{FF2B5EF4-FFF2-40B4-BE49-F238E27FC236}">
                <a16:creationId xmlns:a16="http://schemas.microsoft.com/office/drawing/2014/main" id="{C79431FB-F071-4400-96BA-62F55F67F8A7}"/>
              </a:ext>
            </a:extLst>
          </p:cNvPr>
          <p:cNvSpPr>
            <a:spLocks noGrp="1"/>
          </p:cNvSpPr>
          <p:nvPr/>
        </p:nvSpPr>
        <p:spPr>
          <a:xfrm>
            <a:off x="6205805" y="5848350"/>
            <a:ext cx="5476875" cy="742950"/>
          </a:xfrm>
          <a:prstGeom prst="rect">
            <a:avLst/>
          </a:prstGeom>
          <a:solidFill>
            <a:schemeClr val="accent2">
              <a:lumMod val="20000"/>
              <a:lumOff val="80000"/>
            </a:schemeClr>
          </a:solidFill>
          <a:ln w="0">
            <a:noFill/>
            <a:prstDash val="solid"/>
          </a:ln>
        </p:spPr>
        <p:txBody>
          <a:bodyPr/>
          <a:lstStyle/>
          <a:p>
            <a:endParaRPr lang="en-US"/>
          </a:p>
        </p:txBody>
      </p:sp>
      <p:sp>
        <p:nvSpPr>
          <p:cNvPr id="9" name="Rectangle 8">
            <a:extLst>
              <a:ext uri="{FF2B5EF4-FFF2-40B4-BE49-F238E27FC236}">
                <a16:creationId xmlns:a16="http://schemas.microsoft.com/office/drawing/2014/main" id="{F7696288-430E-497B-8ECE-DB0DFD9AB1CC}"/>
              </a:ext>
            </a:extLst>
          </p:cNvPr>
          <p:cNvSpPr>
            <a:spLocks noGrp="1"/>
          </p:cNvSpPr>
          <p:nvPr/>
        </p:nvSpPr>
        <p:spPr>
          <a:xfrm>
            <a:off x="3538805"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dirty="0">
                <a:solidFill>
                  <a:schemeClr val="bg1"/>
                </a:solidFill>
              </a:rPr>
              <a:t>3% worse · p = 0.468</a:t>
            </a:r>
          </a:p>
        </p:txBody>
      </p:sp>
      <p:sp>
        <p:nvSpPr>
          <p:cNvPr id="10" name="Rectangle 9">
            <a:extLst>
              <a:ext uri="{FF2B5EF4-FFF2-40B4-BE49-F238E27FC236}">
                <a16:creationId xmlns:a16="http://schemas.microsoft.com/office/drawing/2014/main" id="{60031810-27B7-4323-A669-8C58F1A4516C}"/>
              </a:ext>
            </a:extLst>
          </p:cNvPr>
          <p:cNvSpPr>
            <a:spLocks noGrp="1"/>
          </p:cNvSpPr>
          <p:nvPr/>
        </p:nvSpPr>
        <p:spPr>
          <a:xfrm>
            <a:off x="6348680" y="6086047"/>
            <a:ext cx="2952750" cy="285750"/>
          </a:xfrm>
          <a:prstGeom prst="rect">
            <a:avLst/>
          </a:prstGeom>
        </p:spPr>
        <p:txBody>
          <a:bodyPr lIns="0" tIns="0" rIns="0" bIns="0" anchor="t">
            <a:normAutofit/>
          </a:bodyPr>
          <a:lstStyle/>
          <a:p>
            <a:pPr algn="l">
              <a:buNone/>
              <a:defRPr sz="1875" b="1">
                <a:solidFill>
                  <a:srgbClr val="7B1E3A"/>
                </a:solidFill>
                <a:latin typeface="Arial"/>
                <a:ea typeface="Arial"/>
                <a:cs typeface="Arial"/>
              </a:defRPr>
            </a:pPr>
            <a:r>
              <a:rPr sz="1600" dirty="0">
                <a:solidFill>
                  <a:schemeClr val="accent2"/>
                </a:solidFill>
              </a:rPr>
              <a:t>RVV · 172 vs 140 </a:t>
            </a:r>
            <a:r>
              <a:rPr sz="1600" dirty="0" err="1">
                <a:solidFill>
                  <a:schemeClr val="accent2"/>
                </a:solidFill>
              </a:rPr>
              <a:t>mhl</a:t>
            </a:r>
            <a:endParaRPr sz="1600" dirty="0">
              <a:solidFill>
                <a:schemeClr val="accent2"/>
              </a:solidFill>
            </a:endParaRPr>
          </a:p>
        </p:txBody>
      </p:sp>
      <p:sp>
        <p:nvSpPr>
          <p:cNvPr id="11" name="Rectangle 10">
            <a:extLst>
              <a:ext uri="{FF2B5EF4-FFF2-40B4-BE49-F238E27FC236}">
                <a16:creationId xmlns:a16="http://schemas.microsoft.com/office/drawing/2014/main" id="{435384AE-312E-4498-B684-F42A5ABE91E0}"/>
              </a:ext>
            </a:extLst>
          </p:cNvPr>
          <p:cNvSpPr>
            <a:spLocks noGrp="1"/>
          </p:cNvSpPr>
          <p:nvPr/>
        </p:nvSpPr>
        <p:spPr>
          <a:xfrm>
            <a:off x="9301430" y="6086475"/>
            <a:ext cx="2000250" cy="247650"/>
          </a:xfrm>
          <a:prstGeom prst="rect">
            <a:avLst/>
          </a:prstGeom>
        </p:spPr>
        <p:txBody>
          <a:bodyPr lIns="0" tIns="0" rIns="0" bIns="0" anchor="t">
            <a:normAutofit/>
          </a:bodyPr>
          <a:lstStyle/>
          <a:p>
            <a:pPr algn="l">
              <a:buNone/>
              <a:defRPr sz="1500" b="0">
                <a:solidFill>
                  <a:srgbClr val="60656C"/>
                </a:solidFill>
                <a:latin typeface="Arial"/>
                <a:ea typeface="Arial"/>
                <a:cs typeface="Arial"/>
              </a:defRPr>
            </a:pPr>
            <a:r>
              <a:rPr dirty="0">
                <a:solidFill>
                  <a:schemeClr val="accent2"/>
                </a:solidFill>
              </a:rPr>
              <a:t>22% worse · p = 0.004*</a:t>
            </a:r>
          </a:p>
        </p:txBody>
      </p:sp>
      <p:sp>
        <p:nvSpPr>
          <p:cNvPr id="12" name="Rectangle 11">
            <a:extLst>
              <a:ext uri="{FF2B5EF4-FFF2-40B4-BE49-F238E27FC236}">
                <a16:creationId xmlns:a16="http://schemas.microsoft.com/office/drawing/2014/main" id="{1019C283-6EE6-4747-8320-C61995F36CB0}"/>
              </a:ext>
            </a:extLst>
          </p:cNvPr>
          <p:cNvSpPr>
            <a:spLocks noGrp="1"/>
          </p:cNvSpPr>
          <p:nvPr/>
        </p:nvSpPr>
        <p:spPr>
          <a:xfrm>
            <a:off x="6472505" y="6629400"/>
            <a:ext cx="4953000" cy="209550"/>
          </a:xfrm>
          <a:prstGeom prst="rect">
            <a:avLst/>
          </a:prstGeom>
        </p:spPr>
        <p:txBody>
          <a:bodyPr lIns="0" tIns="0" rIns="0" bIns="0" anchor="t">
            <a:normAutofit fontScale="92500"/>
          </a:bodyPr>
          <a:lstStyle/>
          <a:p>
            <a:pPr algn="l">
              <a:buNone/>
              <a:defRPr sz="1050" b="0">
                <a:solidFill>
                  <a:srgbClr val="60656C"/>
                </a:solidFill>
                <a:latin typeface="Arial"/>
                <a:ea typeface="Arial"/>
                <a:cs typeface="Arial"/>
              </a:defRPr>
            </a:pPr>
            <a:r>
              <a:t>*Among the 9 scenarios where RVV rules fired, they significantly harmed prediction.</a:t>
            </a:r>
          </a:p>
        </p:txBody>
      </p:sp>
      <p:pic>
        <p:nvPicPr>
          <p:cNvPr id="27" name="Picture 26"/>
          <p:cNvPicPr>
            <a:picLocks noChangeAspect="1"/>
          </p:cNvPicPr>
          <p:nvPr/>
        </p:nvPicPr>
        <p:blipFill>
          <a:blip r:embed="rId3"/>
          <a:srcRect/>
          <a:stretch>
            <a:fillRect/>
          </a:stretch>
        </p:blipFill>
        <p:spPr>
          <a:xfrm>
            <a:off x="214045" y="1769616"/>
            <a:ext cx="6072455" cy="3643473"/>
          </a:xfrm>
          <a:prstGeom prst="rect">
            <a:avLst/>
          </a:prstGeom>
        </p:spPr>
      </p:pic>
      <p:pic>
        <p:nvPicPr>
          <p:cNvPr id="28" name="Picture 27"/>
          <p:cNvPicPr>
            <a:picLocks noChangeAspect="1"/>
          </p:cNvPicPr>
          <p:nvPr/>
        </p:nvPicPr>
        <p:blipFill>
          <a:blip r:embed="rId4"/>
          <a:srcRect/>
          <a:stretch>
            <a:fillRect/>
          </a:stretch>
        </p:blipFill>
        <p:spPr>
          <a:xfrm>
            <a:off x="5905500" y="1731516"/>
            <a:ext cx="6072455" cy="3643473"/>
          </a:xfrm>
          <a:prstGeom prst="rect">
            <a:avLst/>
          </a:prstGeom>
        </p:spPr>
      </p:pic>
      <p:sp>
        <p:nvSpPr>
          <p:cNvPr id="14" name="TextBox 13">
            <a:extLst>
              <a:ext uri="{FF2B5EF4-FFF2-40B4-BE49-F238E27FC236}">
                <a16:creationId xmlns:a16="http://schemas.microsoft.com/office/drawing/2014/main" id="{68617478-F489-3DD4-6320-4BA7B1D7B7C3}"/>
              </a:ext>
            </a:extLst>
          </p:cNvPr>
          <p:cNvSpPr txBox="1"/>
          <p:nvPr/>
        </p:nvSpPr>
        <p:spPr>
          <a:xfrm>
            <a:off x="571821" y="6050548"/>
            <a:ext cx="2728859" cy="338554"/>
          </a:xfrm>
          <a:prstGeom prst="rect">
            <a:avLst/>
          </a:prstGeom>
          <a:noFill/>
        </p:spPr>
        <p:txBody>
          <a:bodyPr wrap="square">
            <a:spAutoFit/>
          </a:bodyPr>
          <a:lstStyle/>
          <a:p>
            <a:pPr algn="l">
              <a:buNone/>
              <a:defRPr sz="1125" b="1">
                <a:solidFill>
                  <a:srgbClr val="2B6F9A"/>
                </a:solidFill>
                <a:latin typeface="Arial"/>
                <a:ea typeface="Arial"/>
                <a:cs typeface="Arial"/>
              </a:defRPr>
            </a:pPr>
            <a:r>
              <a:rPr lang="en-GB" sz="1600" b="1" dirty="0">
                <a:solidFill>
                  <a:schemeClr val="bg1"/>
                </a:solidFill>
                <a:latin typeface="Arial"/>
                <a:ea typeface="Arial"/>
                <a:cs typeface="Arial"/>
              </a:rPr>
              <a:t>RDD · 189 vs 184 </a:t>
            </a:r>
            <a:r>
              <a:rPr lang="en-GB" sz="1600" b="1" dirty="0" err="1">
                <a:solidFill>
                  <a:schemeClr val="bg1"/>
                </a:solidFill>
                <a:latin typeface="Arial"/>
                <a:ea typeface="Arial"/>
                <a:cs typeface="Arial"/>
              </a:rPr>
              <a:t>mhl</a:t>
            </a:r>
            <a:endParaRPr lang="en-GB" sz="1600" b="1" dirty="0">
              <a:solidFill>
                <a:schemeClr val="bg1"/>
              </a:solidFill>
              <a:latin typeface="Arial"/>
              <a:ea typeface="Arial"/>
              <a:cs typeface="Arial"/>
            </a:endParaRPr>
          </a:p>
        </p:txBody>
      </p:sp>
    </p:spTree>
    <p:extLst>
      <p:ext uri="{BB962C8B-B14F-4D97-AF65-F5344CB8AC3E}">
        <p14:creationId xmlns:p14="http://schemas.microsoft.com/office/powerpoint/2010/main" val="1466289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5D4994E-4F6A-43E2-B4C4-68D09B2342AD}"/>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INTERPRETATION</a:t>
            </a:r>
          </a:p>
        </p:txBody>
      </p:sp>
      <p:sp>
        <p:nvSpPr>
          <p:cNvPr id="2" name="Rectangle 1">
            <a:extLst>
              <a:ext uri="{FF2B5EF4-FFF2-40B4-BE49-F238E27FC236}">
                <a16:creationId xmlns:a16="http://schemas.microsoft.com/office/drawing/2014/main" id="{2AF1F2B7-A092-442F-AB6A-79B1EAE6FACB}"/>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A real association can still be too weak to forecast</a:t>
            </a:r>
          </a:p>
        </p:txBody>
      </p:sp>
      <p:sp>
        <p:nvSpPr>
          <p:cNvPr id="4" name="Rectangle 3">
            <a:extLst>
              <a:ext uri="{FF2B5EF4-FFF2-40B4-BE49-F238E27FC236}">
                <a16:creationId xmlns:a16="http://schemas.microsoft.com/office/drawing/2014/main" id="{68FE415D-3A05-4B69-A477-7A1CD697F8CF}"/>
              </a:ext>
            </a:extLst>
          </p:cNvPr>
          <p:cNvSpPr>
            <a:spLocks noGrp="1"/>
          </p:cNvSpPr>
          <p:nvPr/>
        </p:nvSpPr>
        <p:spPr>
          <a:xfrm>
            <a:off x="400050" y="1666875"/>
            <a:ext cx="4953000" cy="3714750"/>
          </a:xfrm>
          <a:prstGeom prst="rect">
            <a:avLst/>
          </a:prstGeom>
          <a:solidFill>
            <a:schemeClr val="tx1">
              <a:lumMod val="50000"/>
              <a:lumOff val="50000"/>
            </a:schemeClr>
          </a:solidFill>
          <a:ln w="0">
            <a:noFill/>
            <a:prstDash val="solid"/>
          </a:ln>
        </p:spPr>
        <p:txBody>
          <a:bodyPr/>
          <a:lstStyle/>
          <a:p>
            <a:endParaRPr lang="en-US">
              <a:solidFill>
                <a:schemeClr val="accent2"/>
              </a:solidFill>
            </a:endParaRPr>
          </a:p>
        </p:txBody>
      </p:sp>
      <p:sp>
        <p:nvSpPr>
          <p:cNvPr id="5" name="Rectangle 4">
            <a:extLst>
              <a:ext uri="{FF2B5EF4-FFF2-40B4-BE49-F238E27FC236}">
                <a16:creationId xmlns:a16="http://schemas.microsoft.com/office/drawing/2014/main" id="{7F858FC4-7697-4E92-B650-F9EC88121D0B}"/>
              </a:ext>
            </a:extLst>
          </p:cNvPr>
          <p:cNvSpPr>
            <a:spLocks noGrp="1"/>
          </p:cNvSpPr>
          <p:nvPr/>
        </p:nvSpPr>
        <p:spPr>
          <a:xfrm>
            <a:off x="6838950" y="1666875"/>
            <a:ext cx="4953000" cy="3714750"/>
          </a:xfrm>
          <a:prstGeom prst="rect">
            <a:avLst/>
          </a:prstGeom>
          <a:solidFill>
            <a:schemeClr val="accent2">
              <a:lumMod val="20000"/>
              <a:lumOff val="80000"/>
            </a:schemeClr>
          </a:solidFill>
          <a:ln w="0">
            <a:noFill/>
            <a:prstDash val="solid"/>
          </a:ln>
        </p:spPr>
        <p:txBody>
          <a:bodyPr/>
          <a:lstStyle/>
          <a:p>
            <a:endParaRPr lang="en-US"/>
          </a:p>
        </p:txBody>
      </p:sp>
      <p:sp>
        <p:nvSpPr>
          <p:cNvPr id="6" name="Rectangle 5">
            <a:extLst>
              <a:ext uri="{FF2B5EF4-FFF2-40B4-BE49-F238E27FC236}">
                <a16:creationId xmlns:a16="http://schemas.microsoft.com/office/drawing/2014/main" id="{EB15BA55-1E47-4124-B806-860D0D423CD9}"/>
              </a:ext>
            </a:extLst>
          </p:cNvPr>
          <p:cNvSpPr>
            <a:spLocks noGrp="1"/>
          </p:cNvSpPr>
          <p:nvPr/>
        </p:nvSpPr>
        <p:spPr>
          <a:xfrm>
            <a:off x="714375" y="2000250"/>
            <a:ext cx="1905000" cy="285750"/>
          </a:xfrm>
          <a:prstGeom prst="rect">
            <a:avLst/>
          </a:prstGeom>
        </p:spPr>
        <p:txBody>
          <a:bodyPr lIns="0" tIns="0" rIns="0" bIns="0" anchor="t">
            <a:normAutofit/>
          </a:bodyPr>
          <a:lstStyle/>
          <a:p>
            <a:pPr algn="l">
              <a:buNone/>
              <a:defRPr sz="1350" b="1">
                <a:solidFill>
                  <a:srgbClr val="166534"/>
                </a:solidFill>
                <a:latin typeface="Arial"/>
                <a:ea typeface="Arial"/>
                <a:cs typeface="Arial"/>
              </a:defRPr>
            </a:pPr>
            <a:r>
              <a:rPr dirty="0">
                <a:solidFill>
                  <a:schemeClr val="bg1"/>
                </a:solidFill>
              </a:rPr>
              <a:t>DISCOVERY</a:t>
            </a:r>
          </a:p>
        </p:txBody>
      </p:sp>
      <p:sp>
        <p:nvSpPr>
          <p:cNvPr id="7" name="Rectangle 6">
            <a:extLst>
              <a:ext uri="{FF2B5EF4-FFF2-40B4-BE49-F238E27FC236}">
                <a16:creationId xmlns:a16="http://schemas.microsoft.com/office/drawing/2014/main" id="{ABD2F47C-E20D-4F8F-BA12-01689F39A8F7}"/>
              </a:ext>
            </a:extLst>
          </p:cNvPr>
          <p:cNvSpPr>
            <a:spLocks noGrp="1"/>
          </p:cNvSpPr>
          <p:nvPr/>
        </p:nvSpPr>
        <p:spPr>
          <a:xfrm>
            <a:off x="714375" y="2524125"/>
            <a:ext cx="4000500" cy="857250"/>
          </a:xfrm>
          <a:prstGeom prst="rect">
            <a:avLst/>
          </a:prstGeom>
        </p:spPr>
        <p:txBody>
          <a:bodyPr lIns="0" tIns="0" rIns="0" bIns="0" anchor="t">
            <a:normAutofit fontScale="92500"/>
          </a:bodyPr>
          <a:lstStyle/>
          <a:p>
            <a:pPr algn="l">
              <a:buNone/>
              <a:defRPr sz="2400" b="1">
                <a:solidFill>
                  <a:srgbClr val="151515"/>
                </a:solidFill>
                <a:latin typeface="Arial"/>
                <a:ea typeface="Arial"/>
                <a:cs typeface="Arial"/>
              </a:defRPr>
            </a:pPr>
            <a:r>
              <a:rPr lang="en-GB" dirty="0">
                <a:solidFill>
                  <a:schemeClr val="bg1"/>
                </a:solidFill>
              </a:rPr>
              <a:t>IS THE SUBGROUP DISTRIBUTION DIFFERENT?</a:t>
            </a:r>
          </a:p>
        </p:txBody>
      </p:sp>
      <p:sp>
        <p:nvSpPr>
          <p:cNvPr id="8" name="Rectangle 7">
            <a:extLst>
              <a:ext uri="{FF2B5EF4-FFF2-40B4-BE49-F238E27FC236}">
                <a16:creationId xmlns:a16="http://schemas.microsoft.com/office/drawing/2014/main" id="{A62D3C7A-A6A7-4A98-9B7F-893F144238A9}"/>
              </a:ext>
            </a:extLst>
          </p:cNvPr>
          <p:cNvSpPr>
            <a:spLocks noGrp="1"/>
          </p:cNvSpPr>
          <p:nvPr/>
        </p:nvSpPr>
        <p:spPr>
          <a:xfrm>
            <a:off x="714375"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With |r| ≈ 0.47, the association is detectable across 80–89 historical years.</a:t>
            </a:r>
          </a:p>
        </p:txBody>
      </p:sp>
      <p:sp>
        <p:nvSpPr>
          <p:cNvPr id="9" name="Rectangle 8">
            <a:extLst>
              <a:ext uri="{FF2B5EF4-FFF2-40B4-BE49-F238E27FC236}">
                <a16:creationId xmlns:a16="http://schemas.microsoft.com/office/drawing/2014/main" id="{32D7BDE0-AB5B-4F14-9E4C-12A2FBA1347D}"/>
              </a:ext>
            </a:extLst>
          </p:cNvPr>
          <p:cNvSpPr>
            <a:spLocks noGrp="1"/>
          </p:cNvSpPr>
          <p:nvPr/>
        </p:nvSpPr>
        <p:spPr>
          <a:xfrm>
            <a:off x="7143750" y="2000250"/>
            <a:ext cx="1905000" cy="285750"/>
          </a:xfrm>
          <a:prstGeom prst="rect">
            <a:avLst/>
          </a:prstGeom>
        </p:spPr>
        <p:txBody>
          <a:bodyPr lIns="0" tIns="0" rIns="0" bIns="0" anchor="t">
            <a:normAutofit/>
          </a:bodyPr>
          <a:lstStyle/>
          <a:p>
            <a:pPr algn="l">
              <a:buNone/>
              <a:defRPr sz="1350" b="1">
                <a:solidFill>
                  <a:srgbClr val="7B1E3A"/>
                </a:solidFill>
                <a:latin typeface="Arial"/>
                <a:ea typeface="Arial"/>
                <a:cs typeface="Arial"/>
              </a:defRPr>
            </a:pPr>
            <a:r>
              <a:rPr dirty="0">
                <a:solidFill>
                  <a:schemeClr val="accent2"/>
                </a:solidFill>
              </a:rPr>
              <a:t>PREDICTION</a:t>
            </a:r>
          </a:p>
        </p:txBody>
      </p:sp>
      <p:sp>
        <p:nvSpPr>
          <p:cNvPr id="10" name="Rectangle 9">
            <a:extLst>
              <a:ext uri="{FF2B5EF4-FFF2-40B4-BE49-F238E27FC236}">
                <a16:creationId xmlns:a16="http://schemas.microsoft.com/office/drawing/2014/main" id="{ED0F8BA4-9CCA-4088-BEAF-3B64DBAA0F0B}"/>
              </a:ext>
            </a:extLst>
          </p:cNvPr>
          <p:cNvSpPr>
            <a:spLocks noGrp="1"/>
          </p:cNvSpPr>
          <p:nvPr/>
        </p:nvSpPr>
        <p:spPr>
          <a:xfrm>
            <a:off x="7143750" y="2524125"/>
            <a:ext cx="4000500" cy="857250"/>
          </a:xfrm>
          <a:prstGeom prst="rect">
            <a:avLst/>
          </a:prstGeom>
        </p:spPr>
        <p:txBody>
          <a:bodyPr lIns="0" tIns="0" rIns="0" bIns="0" anchor="t">
            <a:normAutofit/>
          </a:bodyPr>
          <a:lstStyle/>
          <a:p>
            <a:pPr algn="l">
              <a:buNone/>
              <a:defRPr sz="2400" b="1">
                <a:solidFill>
                  <a:srgbClr val="151515"/>
                </a:solidFill>
                <a:latin typeface="Arial"/>
                <a:ea typeface="Arial"/>
                <a:cs typeface="Arial"/>
              </a:defRPr>
            </a:pPr>
            <a:r>
              <a:rPr lang="en-GB" dirty="0">
                <a:solidFill>
                  <a:schemeClr val="accent2"/>
                </a:solidFill>
              </a:rPr>
              <a:t>DOES THE RULE REDUCE FUTURE ERROR?</a:t>
            </a:r>
          </a:p>
        </p:txBody>
      </p:sp>
      <p:sp>
        <p:nvSpPr>
          <p:cNvPr id="11" name="Rectangle 10">
            <a:extLst>
              <a:ext uri="{FF2B5EF4-FFF2-40B4-BE49-F238E27FC236}">
                <a16:creationId xmlns:a16="http://schemas.microsoft.com/office/drawing/2014/main" id="{495D3CB3-D4E2-4C4D-A94A-AB2B92029083}"/>
              </a:ext>
            </a:extLst>
          </p:cNvPr>
          <p:cNvSpPr>
            <a:spLocks noGrp="1"/>
          </p:cNvSpPr>
          <p:nvPr/>
        </p:nvSpPr>
        <p:spPr>
          <a:xfrm>
            <a:off x="7143750" y="3667125"/>
            <a:ext cx="400050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Climate explains ≈22% of residual variance; ≈78% remains unobserved or noisy.</a:t>
            </a:r>
          </a:p>
        </p:txBody>
      </p:sp>
      <p:sp>
        <p:nvSpPr>
          <p:cNvPr id="12" name="Rectangle 11">
            <a:extLst>
              <a:ext uri="{FF2B5EF4-FFF2-40B4-BE49-F238E27FC236}">
                <a16:creationId xmlns:a16="http://schemas.microsoft.com/office/drawing/2014/main" id="{F5220AB4-C167-418C-B472-E1849859BD37}"/>
              </a:ext>
            </a:extLst>
          </p:cNvPr>
          <p:cNvSpPr>
            <a:spLocks noGrp="1"/>
          </p:cNvSpPr>
          <p:nvPr/>
        </p:nvSpPr>
        <p:spPr>
          <a:xfrm>
            <a:off x="5667375" y="2952750"/>
            <a:ext cx="857250" cy="857250"/>
          </a:xfrm>
          <a:prstGeom prst="rect">
            <a:avLst/>
          </a:prstGeom>
        </p:spPr>
        <p:txBody>
          <a:bodyPr lIns="0" tIns="0" rIns="0" bIns="0" anchor="t">
            <a:normAutofit/>
          </a:bodyPr>
          <a:lstStyle/>
          <a:p>
            <a:pPr algn="ctr">
              <a:buNone/>
              <a:defRPr sz="4650" b="1">
                <a:solidFill>
                  <a:srgbClr val="7B1E3A"/>
                </a:solidFill>
                <a:latin typeface="Arial"/>
                <a:ea typeface="Arial"/>
                <a:cs typeface="Arial"/>
              </a:defRPr>
            </a:pPr>
            <a:r>
              <a:rPr dirty="0">
                <a:solidFill>
                  <a:srgbClr val="C00000"/>
                </a:solidFill>
              </a:rPr>
              <a:t>≠</a:t>
            </a:r>
          </a:p>
        </p:txBody>
      </p:sp>
      <p:sp>
        <p:nvSpPr>
          <p:cNvPr id="13" name="Rectangle 12">
            <a:extLst>
              <a:ext uri="{FF2B5EF4-FFF2-40B4-BE49-F238E27FC236}">
                <a16:creationId xmlns:a16="http://schemas.microsoft.com/office/drawing/2014/main" id="{E88905DB-DEB9-43D4-9DD5-279DF88602FB}"/>
              </a:ext>
            </a:extLst>
          </p:cNvPr>
          <p:cNvSpPr>
            <a:spLocks noGrp="1"/>
          </p:cNvSpPr>
          <p:nvPr/>
        </p:nvSpPr>
        <p:spPr>
          <a:xfrm>
            <a:off x="400050" y="5819775"/>
            <a:ext cx="11382375" cy="419100"/>
          </a:xfrm>
          <a:prstGeom prst="rect">
            <a:avLst/>
          </a:prstGeom>
          <a:solidFill>
            <a:schemeClr val="tx1"/>
          </a:solidFill>
        </p:spPr>
        <p:txBody>
          <a:bodyPr lIns="0" tIns="0" rIns="0" bIns="0" anchor="t">
            <a:normAutofit/>
          </a:bodyPr>
          <a:lstStyle/>
          <a:p>
            <a:pPr algn="ctr">
              <a:buNone/>
              <a:defRPr sz="2250" b="1">
                <a:solidFill>
                  <a:srgbClr val="151515"/>
                </a:solidFill>
                <a:latin typeface="Arial"/>
                <a:ea typeface="Arial"/>
                <a:cs typeface="Arial"/>
              </a:defRPr>
            </a:pPr>
            <a:r>
              <a:rPr dirty="0">
                <a:solidFill>
                  <a:schemeClr val="bg1"/>
                </a:solidFill>
              </a:rPr>
              <a:t>Pattern discovery and forecasting answer different questions.</a:t>
            </a:r>
          </a:p>
        </p:txBody>
      </p:sp>
      <p:sp>
        <p:nvSpPr>
          <p:cNvPr id="14" name="Rectangle 13">
            <a:extLst>
              <a:ext uri="{FF2B5EF4-FFF2-40B4-BE49-F238E27FC236}">
                <a16:creationId xmlns:a16="http://schemas.microsoft.com/office/drawing/2014/main" id="{2C9C0AE4-2B49-4421-8A31-BFCEB8347C51}"/>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 6.1</a:t>
            </a:r>
          </a:p>
        </p:txBody>
      </p:sp>
    </p:spTree>
    <p:extLst>
      <p:ext uri="{BB962C8B-B14F-4D97-AF65-F5344CB8AC3E}">
        <p14:creationId xmlns:p14="http://schemas.microsoft.com/office/powerpoint/2010/main" val="611617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A36BE4-BBFE-4D78-9BF5-98D11E0943F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TWO-DECISION FRAMEWORK</a:t>
            </a:r>
          </a:p>
        </p:txBody>
      </p:sp>
      <p:sp>
        <p:nvSpPr>
          <p:cNvPr id="2" name="Rectangle 1">
            <a:extLst>
              <a:ext uri="{FF2B5EF4-FFF2-40B4-BE49-F238E27FC236}">
                <a16:creationId xmlns:a16="http://schemas.microsoft.com/office/drawing/2014/main" id="{13CDC068-9A32-407A-81A1-44024A380F1D}"/>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rPr dirty="0"/>
              <a:t>Better detrending can remove the signal rules need</a:t>
            </a:r>
          </a:p>
        </p:txBody>
      </p:sp>
      <p:sp>
        <p:nvSpPr>
          <p:cNvPr id="4" name="Rectangle 3">
            <a:extLst>
              <a:ext uri="{FF2B5EF4-FFF2-40B4-BE49-F238E27FC236}">
                <a16:creationId xmlns:a16="http://schemas.microsoft.com/office/drawing/2014/main" id="{ABE4EAA8-3F1D-4885-971E-2323BF8B9304}"/>
              </a:ext>
            </a:extLst>
          </p:cNvPr>
          <p:cNvSpPr>
            <a:spLocks noGrp="1"/>
          </p:cNvSpPr>
          <p:nvPr/>
        </p:nvSpPr>
        <p:spPr>
          <a:xfrm>
            <a:off x="400050" y="1666875"/>
            <a:ext cx="4762500" cy="3429000"/>
          </a:xfrm>
          <a:prstGeom prst="rect">
            <a:avLst/>
          </a:prstGeom>
          <a:solidFill>
            <a:schemeClr val="tx1">
              <a:lumMod val="75000"/>
              <a:lumOff val="25000"/>
            </a:schemeClr>
          </a:solidFill>
          <a:ln w="0">
            <a:noFill/>
            <a:prstDash val="solid"/>
          </a:ln>
        </p:spPr>
        <p:txBody>
          <a:bodyPr/>
          <a:lstStyle/>
          <a:p>
            <a:endParaRPr lang="en-US"/>
          </a:p>
        </p:txBody>
      </p:sp>
      <p:sp>
        <p:nvSpPr>
          <p:cNvPr id="5" name="Rectangle 4">
            <a:extLst>
              <a:ext uri="{FF2B5EF4-FFF2-40B4-BE49-F238E27FC236}">
                <a16:creationId xmlns:a16="http://schemas.microsoft.com/office/drawing/2014/main" id="{2783656E-A5A6-4F0F-9CF1-EF641DADE2F2}"/>
              </a:ext>
            </a:extLst>
          </p:cNvPr>
          <p:cNvSpPr>
            <a:spLocks noGrp="1"/>
          </p:cNvSpPr>
          <p:nvPr/>
        </p:nvSpPr>
        <p:spPr>
          <a:xfrm>
            <a:off x="7029450" y="1666875"/>
            <a:ext cx="4762500" cy="3429000"/>
          </a:xfrm>
          <a:prstGeom prst="rect">
            <a:avLst/>
          </a:prstGeom>
          <a:solidFill>
            <a:schemeClr val="accent2">
              <a:lumMod val="20000"/>
              <a:lumOff val="80000"/>
            </a:schemeClr>
          </a:solidFill>
          <a:ln w="0">
            <a:noFill/>
            <a:prstDash val="solid"/>
          </a:ln>
        </p:spPr>
        <p:txBody>
          <a:bodyPr/>
          <a:lstStyle/>
          <a:p>
            <a:endParaRPr lang="en-US"/>
          </a:p>
        </p:txBody>
      </p:sp>
      <p:sp>
        <p:nvSpPr>
          <p:cNvPr id="6" name="Rectangle 5">
            <a:extLst>
              <a:ext uri="{FF2B5EF4-FFF2-40B4-BE49-F238E27FC236}">
                <a16:creationId xmlns:a16="http://schemas.microsoft.com/office/drawing/2014/main" id="{09CC2023-DDFD-43CD-8AFC-9E49B38753E1}"/>
              </a:ext>
            </a:extLst>
          </p:cNvPr>
          <p:cNvSpPr>
            <a:spLocks noGrp="1"/>
          </p:cNvSpPr>
          <p:nvPr/>
        </p:nvSpPr>
        <p:spPr>
          <a:xfrm>
            <a:off x="714375" y="2000250"/>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dirty="0">
                <a:solidFill>
                  <a:schemeClr val="bg1"/>
                </a:solidFill>
              </a:rPr>
              <a:t>DECISION 1</a:t>
            </a:r>
          </a:p>
        </p:txBody>
      </p:sp>
      <p:sp>
        <p:nvSpPr>
          <p:cNvPr id="7" name="Rectangle 6">
            <a:extLst>
              <a:ext uri="{FF2B5EF4-FFF2-40B4-BE49-F238E27FC236}">
                <a16:creationId xmlns:a16="http://schemas.microsoft.com/office/drawing/2014/main" id="{D56E2102-19C6-4BE8-B9CE-7A16B4C5C29A}"/>
              </a:ext>
            </a:extLst>
          </p:cNvPr>
          <p:cNvSpPr>
            <a:spLocks noGrp="1"/>
          </p:cNvSpPr>
          <p:nvPr/>
        </p:nvSpPr>
        <p:spPr>
          <a:xfrm>
            <a:off x="714375" y="2476500"/>
            <a:ext cx="3714750" cy="685800"/>
          </a:xfrm>
          <a:prstGeom prst="rect">
            <a:avLst/>
          </a:prstGeom>
        </p:spPr>
        <p:txBody>
          <a:bodyPr lIns="0" tIns="0" rIns="0" bIns="0" anchor="t">
            <a:normAutofit fontScale="98830" lnSpcReduction="10000"/>
          </a:bodyPr>
          <a:lstStyle/>
          <a:p>
            <a:pPr algn="l">
              <a:buNone/>
              <a:defRPr sz="2400" b="1">
                <a:solidFill>
                  <a:srgbClr val="151515"/>
                </a:solidFill>
                <a:latin typeface="Arial"/>
                <a:ea typeface="Arial"/>
                <a:cs typeface="Arial"/>
              </a:defRPr>
            </a:pPr>
            <a:r>
              <a:rPr lang="en-GB" dirty="0">
                <a:solidFill>
                  <a:schemeClr val="bg1"/>
                </a:solidFill>
              </a:rPr>
              <a:t>MODEL THE STRUCTURAL TREND</a:t>
            </a:r>
          </a:p>
        </p:txBody>
      </p:sp>
      <p:sp>
        <p:nvSpPr>
          <p:cNvPr id="8" name="Rectangle 7">
            <a:extLst>
              <a:ext uri="{FF2B5EF4-FFF2-40B4-BE49-F238E27FC236}">
                <a16:creationId xmlns:a16="http://schemas.microsoft.com/office/drawing/2014/main" id="{90BA25DB-8DBA-4BD2-BCE3-0F4454BEEDF7}"/>
              </a:ext>
            </a:extLst>
          </p:cNvPr>
          <p:cNvSpPr>
            <a:spLocks noGrp="1"/>
          </p:cNvSpPr>
          <p:nvPr/>
        </p:nvSpPr>
        <p:spPr>
          <a:xfrm>
            <a:off x="714375"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rPr>
                <a:solidFill>
                  <a:schemeClr val="bg1"/>
                </a:solidFill>
              </a:rPr>
              <a:t>A better trend leaves smaller test residuals and lowers the naive error floor.</a:t>
            </a:r>
          </a:p>
        </p:txBody>
      </p:sp>
      <p:sp>
        <p:nvSpPr>
          <p:cNvPr id="10" name="Rectangle 9">
            <a:extLst>
              <a:ext uri="{FF2B5EF4-FFF2-40B4-BE49-F238E27FC236}">
                <a16:creationId xmlns:a16="http://schemas.microsoft.com/office/drawing/2014/main" id="{F61CD3D5-D969-4F52-9349-0C38FA89F7F4}"/>
              </a:ext>
            </a:extLst>
          </p:cNvPr>
          <p:cNvSpPr>
            <a:spLocks noGrp="1"/>
          </p:cNvSpPr>
          <p:nvPr/>
        </p:nvSpPr>
        <p:spPr>
          <a:xfrm>
            <a:off x="7334250" y="2476500"/>
            <a:ext cx="3714750" cy="685800"/>
          </a:xfrm>
          <a:prstGeom prst="rect">
            <a:avLst/>
          </a:prstGeom>
        </p:spPr>
        <p:txBody>
          <a:bodyPr lIns="0" tIns="0" rIns="0" bIns="0" anchor="t">
            <a:normAutofit lnSpcReduction="10000"/>
          </a:bodyPr>
          <a:lstStyle/>
          <a:p>
            <a:pPr algn="l">
              <a:buNone/>
              <a:defRPr sz="2400" b="1">
                <a:solidFill>
                  <a:srgbClr val="151515"/>
                </a:solidFill>
                <a:latin typeface="Arial"/>
                <a:ea typeface="Arial"/>
                <a:cs typeface="Arial"/>
              </a:defRPr>
            </a:pPr>
            <a:r>
              <a:rPr lang="en-GB" dirty="0"/>
              <a:t>EXTRACT CLIMATE SIGNAL</a:t>
            </a:r>
          </a:p>
        </p:txBody>
      </p:sp>
      <p:sp>
        <p:nvSpPr>
          <p:cNvPr id="11" name="Rectangle 10">
            <a:extLst>
              <a:ext uri="{FF2B5EF4-FFF2-40B4-BE49-F238E27FC236}">
                <a16:creationId xmlns:a16="http://schemas.microsoft.com/office/drawing/2014/main" id="{972A5F92-F952-4540-A40F-1F6E892D0539}"/>
              </a:ext>
            </a:extLst>
          </p:cNvPr>
          <p:cNvSpPr>
            <a:spLocks noGrp="1"/>
          </p:cNvSpPr>
          <p:nvPr/>
        </p:nvSpPr>
        <p:spPr>
          <a:xfrm>
            <a:off x="7334250" y="3429000"/>
            <a:ext cx="3714750" cy="1000125"/>
          </a:xfrm>
          <a:prstGeom prst="rect">
            <a:avLst/>
          </a:prstGeom>
        </p:spPr>
        <p:txBody>
          <a:bodyPr lIns="0" tIns="0" rIns="0" bIns="0" anchor="t">
            <a:normAutofit/>
          </a:bodyPr>
          <a:lstStyle/>
          <a:p>
            <a:pPr algn="l">
              <a:buNone/>
              <a:defRPr sz="1875" b="0">
                <a:solidFill>
                  <a:srgbClr val="151515"/>
                </a:solidFill>
                <a:latin typeface="Arial"/>
                <a:ea typeface="Arial"/>
                <a:cs typeface="Arial"/>
              </a:defRPr>
            </a:pPr>
            <a:r>
              <a:t>Stable rules need residual structure that is large enough to detect and exploit.</a:t>
            </a:r>
          </a:p>
        </p:txBody>
      </p:sp>
      <p:cxnSp>
        <p:nvCxnSpPr>
          <p:cNvPr id="400" name="Straight Arrow Connector 399"/>
          <p:cNvCxnSpPr/>
          <p:nvPr/>
        </p:nvCxnSpPr>
        <p:spPr>
          <a:xfrm>
            <a:off x="5162550" y="3381375"/>
            <a:ext cx="1866900" cy="953"/>
          </a:xfrm>
          <a:prstGeom prst="straightConnector1">
            <a:avLst/>
          </a:prstGeom>
          <a:ln w="57150">
            <a:solidFill>
              <a:srgbClr val="7B1E3A"/>
            </a:solidFill>
            <a:prstDash val="solid"/>
          </a:ln>
        </p:spPr>
      </p:cxnSp>
      <p:sp>
        <p:nvSpPr>
          <p:cNvPr id="13" name="Rectangle 12">
            <a:extLst>
              <a:ext uri="{FF2B5EF4-FFF2-40B4-BE49-F238E27FC236}">
                <a16:creationId xmlns:a16="http://schemas.microsoft.com/office/drawing/2014/main" id="{40EBAFC5-D944-4E0E-9F2B-45BB9E5596FD}"/>
              </a:ext>
            </a:extLst>
          </p:cNvPr>
          <p:cNvSpPr>
            <a:spLocks noGrp="1"/>
          </p:cNvSpPr>
          <p:nvPr/>
        </p:nvSpPr>
        <p:spPr>
          <a:xfrm>
            <a:off x="5429250" y="2857500"/>
            <a:ext cx="1333500" cy="333375"/>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rPr dirty="0"/>
              <a:t>TENSION</a:t>
            </a:r>
          </a:p>
        </p:txBody>
      </p:sp>
      <p:sp>
        <p:nvSpPr>
          <p:cNvPr id="14" name="Rectangle 13">
            <a:extLst>
              <a:ext uri="{FF2B5EF4-FFF2-40B4-BE49-F238E27FC236}">
                <a16:creationId xmlns:a16="http://schemas.microsoft.com/office/drawing/2014/main" id="{BCF4F414-7897-4DD7-82FE-436AD013DBD6}"/>
              </a:ext>
            </a:extLst>
          </p:cNvPr>
          <p:cNvSpPr>
            <a:spLocks noGrp="1"/>
          </p:cNvSpPr>
          <p:nvPr/>
        </p:nvSpPr>
        <p:spPr>
          <a:xfrm>
            <a:off x="1219200" y="5476875"/>
            <a:ext cx="9753600" cy="419100"/>
          </a:xfrm>
          <a:prstGeom prst="rect">
            <a:avLst/>
          </a:prstGeom>
        </p:spPr>
        <p:txBody>
          <a:bodyPr lIns="0" tIns="0" rIns="0" bIns="0" anchor="t">
            <a:normAutofit/>
          </a:bodyPr>
          <a:lstStyle/>
          <a:p>
            <a:pPr algn="ctr">
              <a:buNone/>
              <a:defRPr sz="2025" b="1">
                <a:solidFill>
                  <a:srgbClr val="7B1E3A"/>
                </a:solidFill>
                <a:latin typeface="Arial"/>
                <a:ea typeface="Arial"/>
                <a:cs typeface="Arial"/>
              </a:defRPr>
            </a:pPr>
            <a:r>
              <a:rPr dirty="0">
                <a:solidFill>
                  <a:schemeClr val="accent2"/>
                </a:solidFill>
              </a:rPr>
              <a:t>RVV LOESS: baseline improves 140 → 90 </a:t>
            </a:r>
            <a:r>
              <a:rPr dirty="0" err="1">
                <a:solidFill>
                  <a:schemeClr val="accent2"/>
                </a:solidFill>
              </a:rPr>
              <a:t>mhl</a:t>
            </a:r>
            <a:r>
              <a:rPr dirty="0">
                <a:solidFill>
                  <a:schemeClr val="accent2"/>
                </a:solidFill>
              </a:rPr>
              <a:t>, but rule induction falls to zero.</a:t>
            </a:r>
          </a:p>
        </p:txBody>
      </p:sp>
      <p:sp>
        <p:nvSpPr>
          <p:cNvPr id="15" name="Rectangle 14">
            <a:extLst>
              <a:ext uri="{FF2B5EF4-FFF2-40B4-BE49-F238E27FC236}">
                <a16:creationId xmlns:a16="http://schemas.microsoft.com/office/drawing/2014/main" id="{FE602A9B-5310-4527-BA9F-8C1CC7606304}"/>
              </a:ext>
            </a:extLst>
          </p:cNvPr>
          <p:cNvSpPr>
            <a:spLocks noGrp="1"/>
          </p:cNvSpPr>
          <p:nvPr/>
        </p:nvSpPr>
        <p:spPr>
          <a:xfrm>
            <a:off x="1619250" y="6000750"/>
            <a:ext cx="8953500" cy="285750"/>
          </a:xfrm>
          <a:prstGeom prst="rect">
            <a:avLst/>
          </a:prstGeom>
        </p:spPr>
        <p:txBody>
          <a:bodyPr lIns="0" tIns="0" rIns="0" bIns="0" anchor="t">
            <a:normAutofit/>
          </a:bodyPr>
          <a:lstStyle/>
          <a:p>
            <a:pPr algn="ctr">
              <a:buNone/>
              <a:defRPr sz="1650" b="0">
                <a:solidFill>
                  <a:srgbClr val="60656C"/>
                </a:solidFill>
                <a:latin typeface="Arial"/>
                <a:ea typeface="Arial"/>
                <a:cs typeface="Arial"/>
              </a:defRPr>
            </a:pPr>
            <a:r>
              <a:t>Time alone cannot cleanly separate industry structure from climate.</a:t>
            </a:r>
          </a:p>
        </p:txBody>
      </p:sp>
      <p:sp>
        <p:nvSpPr>
          <p:cNvPr id="16" name="Rectangle 15">
            <a:extLst>
              <a:ext uri="{FF2B5EF4-FFF2-40B4-BE49-F238E27FC236}">
                <a16:creationId xmlns:a16="http://schemas.microsoft.com/office/drawing/2014/main" id="{706F687E-3FA8-47D4-A958-8DEC03860CF5}"/>
              </a:ext>
            </a:extLst>
          </p:cNvPr>
          <p:cNvSpPr>
            <a:spLocks noGrp="1"/>
          </p:cNvSpPr>
          <p:nvPr/>
        </p:nvSpPr>
        <p:spPr>
          <a:xfrm>
            <a:off x="400050" y="6438900"/>
            <a:ext cx="9715500" cy="171450"/>
          </a:xfrm>
          <a:prstGeom prst="rect">
            <a:avLst/>
          </a:prstGeom>
        </p:spPr>
        <p:txBody>
          <a:bodyPr lIns="0" tIns="0" rIns="0" bIns="0" anchor="t">
            <a:normAutofit/>
          </a:bodyPr>
          <a:lstStyle/>
          <a:p>
            <a:pPr algn="l">
              <a:buNone/>
              <a:defRPr sz="975" b="0">
                <a:solidFill>
                  <a:srgbClr val="60656C"/>
                </a:solidFill>
                <a:latin typeface="Arial"/>
                <a:ea typeface="Arial"/>
                <a:cs typeface="Arial"/>
              </a:defRPr>
            </a:pPr>
            <a:r>
              <a:t>Source: Thesis, Sections 3.3, 5.5 and 6.2</a:t>
            </a:r>
          </a:p>
        </p:txBody>
      </p:sp>
      <p:sp>
        <p:nvSpPr>
          <p:cNvPr id="17" name="Rectangle 16">
            <a:extLst>
              <a:ext uri="{FF2B5EF4-FFF2-40B4-BE49-F238E27FC236}">
                <a16:creationId xmlns:a16="http://schemas.microsoft.com/office/drawing/2014/main" id="{9DB5895F-AF0E-7EE7-E8D3-2EA5CF823749}"/>
              </a:ext>
            </a:extLst>
          </p:cNvPr>
          <p:cNvSpPr>
            <a:spLocks noGrp="1"/>
          </p:cNvSpPr>
          <p:nvPr/>
        </p:nvSpPr>
        <p:spPr>
          <a:xfrm>
            <a:off x="7257301" y="1938338"/>
            <a:ext cx="1809750" cy="266700"/>
          </a:xfrm>
          <a:prstGeom prst="rect">
            <a:avLst/>
          </a:prstGeom>
        </p:spPr>
        <p:txBody>
          <a:bodyPr lIns="0" tIns="0" rIns="0" bIns="0" anchor="t">
            <a:normAutofit/>
          </a:bodyPr>
          <a:lstStyle/>
          <a:p>
            <a:pPr algn="l">
              <a:buNone/>
              <a:defRPr sz="1350" b="1">
                <a:solidFill>
                  <a:srgbClr val="2563A6"/>
                </a:solidFill>
                <a:latin typeface="Arial"/>
                <a:ea typeface="Arial"/>
                <a:cs typeface="Arial"/>
              </a:defRPr>
            </a:pPr>
            <a:r>
              <a:rPr dirty="0">
                <a:solidFill>
                  <a:schemeClr val="tx1">
                    <a:lumMod val="95000"/>
                    <a:lumOff val="5000"/>
                  </a:schemeClr>
                </a:solidFill>
              </a:rPr>
              <a:t>DECISION </a:t>
            </a:r>
            <a:r>
              <a:rPr lang="pt-PT" dirty="0">
                <a:solidFill>
                  <a:schemeClr val="tx1">
                    <a:lumMod val="95000"/>
                    <a:lumOff val="5000"/>
                  </a:schemeClr>
                </a:solidFill>
              </a:rPr>
              <a:t>2</a:t>
            </a:r>
            <a:endParaRPr dirty="0">
              <a:solidFill>
                <a:schemeClr val="tx1">
                  <a:lumMod val="95000"/>
                  <a:lumOff val="5000"/>
                </a:schemeClr>
              </a:solidFill>
            </a:endParaRPr>
          </a:p>
        </p:txBody>
      </p:sp>
    </p:spTree>
    <p:extLst>
      <p:ext uri="{BB962C8B-B14F-4D97-AF65-F5344CB8AC3E}">
        <p14:creationId xmlns:p14="http://schemas.microsoft.com/office/powerpoint/2010/main" val="294443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6B8B3CCD-BBF6-4A7D-97D7-9DEC88DDD7D9}"/>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CONTRIBUTIONS</a:t>
            </a:r>
          </a:p>
        </p:txBody>
      </p:sp>
      <p:sp>
        <p:nvSpPr>
          <p:cNvPr id="2" name="Rectangle 1">
            <a:extLst>
              <a:ext uri="{FF2B5EF4-FFF2-40B4-BE49-F238E27FC236}">
                <a16:creationId xmlns:a16="http://schemas.microsoft.com/office/drawing/2014/main" id="{0451F646-B2AD-4DBF-B76F-CCB6056254D1}"/>
              </a:ext>
            </a:extLst>
          </p:cNvPr>
          <p:cNvSpPr>
            <a:spLocks noGrp="1"/>
          </p:cNvSpPr>
          <p:nvPr/>
        </p:nvSpPr>
        <p:spPr>
          <a:xfrm>
            <a:off x="400050" y="552450"/>
            <a:ext cx="11391900" cy="781050"/>
          </a:xfrm>
          <a:prstGeom prst="rect">
            <a:avLst/>
          </a:prstGeom>
        </p:spPr>
        <p:txBody>
          <a:bodyPr lIns="0" tIns="0" rIns="0" bIns="0" anchor="t">
            <a:normAutofit fontScale="89680"/>
          </a:bodyPr>
          <a:lstStyle/>
          <a:p>
            <a:pPr algn="l">
              <a:buNone/>
              <a:defRPr sz="3600" b="1">
                <a:solidFill>
                  <a:srgbClr val="151515"/>
                </a:solidFill>
                <a:latin typeface="Arial"/>
                <a:ea typeface="Arial"/>
                <a:cs typeface="Arial"/>
              </a:defRPr>
            </a:pPr>
            <a:r>
              <a:rPr dirty="0"/>
              <a:t>Five scientific contributions clarify why rules work and fail</a:t>
            </a:r>
          </a:p>
        </p:txBody>
      </p:sp>
      <p:sp>
        <p:nvSpPr>
          <p:cNvPr id="4" name="Rectangle 3">
            <a:extLst>
              <a:ext uri="{FF2B5EF4-FFF2-40B4-BE49-F238E27FC236}">
                <a16:creationId xmlns:a16="http://schemas.microsoft.com/office/drawing/2014/main" id="{F0FE3B55-C9E2-452F-A5D2-90C418208741}"/>
              </a:ext>
            </a:extLst>
          </p:cNvPr>
          <p:cNvSpPr>
            <a:spLocks noGrp="1"/>
          </p:cNvSpPr>
          <p:nvPr/>
        </p:nvSpPr>
        <p:spPr>
          <a:xfrm>
            <a:off x="400050" y="1476375"/>
            <a:ext cx="11391900" cy="1000125"/>
          </a:xfrm>
          <a:prstGeom prst="rect">
            <a:avLst/>
          </a:prstGeom>
          <a:solidFill>
            <a:schemeClr val="tx1"/>
          </a:solidFill>
          <a:ln w="0">
            <a:noFill/>
            <a:prstDash val="solid"/>
          </a:ln>
        </p:spPr>
        <p:txBody>
          <a:bodyPr/>
          <a:lstStyle/>
          <a:p>
            <a:endParaRPr lang="en-US">
              <a:solidFill>
                <a:schemeClr val="bg1"/>
              </a:solidFill>
            </a:endParaRPr>
          </a:p>
        </p:txBody>
      </p:sp>
      <p:sp>
        <p:nvSpPr>
          <p:cNvPr id="5" name="Rectangle 4">
            <a:extLst>
              <a:ext uri="{FF2B5EF4-FFF2-40B4-BE49-F238E27FC236}">
                <a16:creationId xmlns:a16="http://schemas.microsoft.com/office/drawing/2014/main" id="{408C77BD-B1FA-42A9-BFF2-4F2F3D486305}"/>
              </a:ext>
            </a:extLst>
          </p:cNvPr>
          <p:cNvSpPr>
            <a:spLocks noGrp="1"/>
          </p:cNvSpPr>
          <p:nvPr/>
        </p:nvSpPr>
        <p:spPr>
          <a:xfrm>
            <a:off x="666750" y="1733550"/>
            <a:ext cx="1905000" cy="304800"/>
          </a:xfrm>
          <a:prstGeom prst="rect">
            <a:avLst/>
          </a:prstGeom>
        </p:spPr>
        <p:txBody>
          <a:bodyPr lIns="0" tIns="0" rIns="0" bIns="0" anchor="t">
            <a:normAutofit/>
          </a:bodyPr>
          <a:lstStyle/>
          <a:p>
            <a:pPr algn="l">
              <a:buNone/>
              <a:defRPr sz="1500" b="1">
                <a:solidFill>
                  <a:srgbClr val="7B1E3A"/>
                </a:solidFill>
                <a:latin typeface="Arial"/>
                <a:ea typeface="Arial"/>
                <a:cs typeface="Arial"/>
              </a:defRPr>
            </a:pPr>
            <a:r>
              <a:rPr dirty="0">
                <a:solidFill>
                  <a:schemeClr val="bg1"/>
                </a:solidFill>
              </a:rPr>
              <a:t>1</a:t>
            </a:r>
          </a:p>
        </p:txBody>
      </p:sp>
      <p:sp>
        <p:nvSpPr>
          <p:cNvPr id="6" name="Rectangle 5">
            <a:extLst>
              <a:ext uri="{FF2B5EF4-FFF2-40B4-BE49-F238E27FC236}">
                <a16:creationId xmlns:a16="http://schemas.microsoft.com/office/drawing/2014/main" id="{ADFB01BD-348F-4839-88F5-DB2AB966025A}"/>
              </a:ext>
            </a:extLst>
          </p:cNvPr>
          <p:cNvSpPr>
            <a:spLocks noGrp="1"/>
          </p:cNvSpPr>
          <p:nvPr/>
        </p:nvSpPr>
        <p:spPr>
          <a:xfrm>
            <a:off x="1037690" y="1696948"/>
            <a:ext cx="10644027" cy="619125"/>
          </a:xfrm>
          <a:prstGeom prst="rect">
            <a:avLst/>
          </a:prstGeom>
        </p:spPr>
        <p:txBody>
          <a:bodyPr lIns="0" tIns="0" rIns="0" bIns="0" anchor="t">
            <a:normAutofit fontScale="96726"/>
          </a:bodyPr>
          <a:lstStyle/>
          <a:p>
            <a:pPr algn="l">
              <a:buNone/>
              <a:defRPr sz="2100" b="1">
                <a:solidFill>
                  <a:srgbClr val="151515"/>
                </a:solidFill>
                <a:latin typeface="Arial"/>
                <a:ea typeface="Arial"/>
                <a:cs typeface="Arial"/>
              </a:defRPr>
            </a:pPr>
            <a:r>
              <a:rPr dirty="0">
                <a:solidFill>
                  <a:schemeClr val="bg1"/>
                </a:solidFill>
              </a:rPr>
              <a:t>Two-decision framework separates trend quality from residual climate-signal extraction.</a:t>
            </a:r>
          </a:p>
        </p:txBody>
      </p:sp>
      <p:sp>
        <p:nvSpPr>
          <p:cNvPr id="7" name="Rectangle 6">
            <a:extLst>
              <a:ext uri="{FF2B5EF4-FFF2-40B4-BE49-F238E27FC236}">
                <a16:creationId xmlns:a16="http://schemas.microsoft.com/office/drawing/2014/main" id="{5BEEE4EF-77AE-4A6E-A862-5F43887DF8E7}"/>
              </a:ext>
            </a:extLst>
          </p:cNvPr>
          <p:cNvSpPr>
            <a:spLocks noGrp="1"/>
          </p:cNvSpPr>
          <p:nvPr/>
        </p:nvSpPr>
        <p:spPr>
          <a:xfrm>
            <a:off x="400050" y="2857500"/>
            <a:ext cx="3562350" cy="2571750"/>
          </a:xfrm>
          <a:prstGeom prst="rect">
            <a:avLst/>
          </a:prstGeom>
          <a:solidFill>
            <a:srgbClr val="F0F1F2"/>
          </a:solidFill>
          <a:ln w="0">
            <a:noFill/>
            <a:prstDash val="solid"/>
          </a:ln>
        </p:spPr>
        <p:txBody>
          <a:bodyPr/>
          <a:lstStyle/>
          <a:p>
            <a:endParaRPr lang="en-US"/>
          </a:p>
        </p:txBody>
      </p:sp>
      <p:sp>
        <p:nvSpPr>
          <p:cNvPr id="8" name="Rectangle 7">
            <a:extLst>
              <a:ext uri="{FF2B5EF4-FFF2-40B4-BE49-F238E27FC236}">
                <a16:creationId xmlns:a16="http://schemas.microsoft.com/office/drawing/2014/main" id="{C340441E-D4D3-472D-85DA-921CDF437656}"/>
              </a:ext>
            </a:extLst>
          </p:cNvPr>
          <p:cNvSpPr>
            <a:spLocks noGrp="1"/>
          </p:cNvSpPr>
          <p:nvPr/>
        </p:nvSpPr>
        <p:spPr>
          <a:xfrm>
            <a:off x="4314825" y="2857500"/>
            <a:ext cx="3562350" cy="2571750"/>
          </a:xfrm>
          <a:prstGeom prst="rect">
            <a:avLst/>
          </a:prstGeom>
          <a:solidFill>
            <a:srgbClr val="F0F1F2"/>
          </a:solidFill>
          <a:ln w="0">
            <a:noFill/>
            <a:prstDash val="solid"/>
          </a:ln>
        </p:spPr>
        <p:txBody>
          <a:bodyPr/>
          <a:lstStyle/>
          <a:p>
            <a:endParaRPr lang="en-US"/>
          </a:p>
        </p:txBody>
      </p:sp>
      <p:sp>
        <p:nvSpPr>
          <p:cNvPr id="9" name="Rectangle 8">
            <a:extLst>
              <a:ext uri="{FF2B5EF4-FFF2-40B4-BE49-F238E27FC236}">
                <a16:creationId xmlns:a16="http://schemas.microsoft.com/office/drawing/2014/main" id="{8A44E28D-30B2-430E-8230-0199511556CE}"/>
              </a:ext>
            </a:extLst>
          </p:cNvPr>
          <p:cNvSpPr>
            <a:spLocks noGrp="1"/>
          </p:cNvSpPr>
          <p:nvPr/>
        </p:nvSpPr>
        <p:spPr>
          <a:xfrm>
            <a:off x="8229600" y="2857500"/>
            <a:ext cx="3562350" cy="2571750"/>
          </a:xfrm>
          <a:prstGeom prst="rect">
            <a:avLst/>
          </a:prstGeom>
          <a:solidFill>
            <a:srgbClr val="F0F1F2"/>
          </a:solidFill>
          <a:ln w="0">
            <a:noFill/>
            <a:prstDash val="solid"/>
          </a:ln>
        </p:spPr>
        <p:txBody>
          <a:bodyPr/>
          <a:lstStyle/>
          <a:p>
            <a:endParaRPr lang="en-US"/>
          </a:p>
        </p:txBody>
      </p:sp>
      <p:sp>
        <p:nvSpPr>
          <p:cNvPr id="10" name="Rectangle 9">
            <a:extLst>
              <a:ext uri="{FF2B5EF4-FFF2-40B4-BE49-F238E27FC236}">
                <a16:creationId xmlns:a16="http://schemas.microsoft.com/office/drawing/2014/main" id="{07CE255A-0E63-469B-9A1A-6760CFA843FA}"/>
              </a:ext>
            </a:extLst>
          </p:cNvPr>
          <p:cNvSpPr>
            <a:spLocks noGrp="1"/>
          </p:cNvSpPr>
          <p:nvPr/>
        </p:nvSpPr>
        <p:spPr>
          <a:xfrm>
            <a:off x="666750" y="3143250"/>
            <a:ext cx="2857500" cy="361950"/>
          </a:xfrm>
          <a:prstGeom prst="rect">
            <a:avLst/>
          </a:prstGeom>
        </p:spPr>
        <p:txBody>
          <a:bodyPr lIns="0" tIns="0" rIns="0" bIns="0" anchor="t">
            <a:normAutofit fontScale="88998"/>
          </a:bodyPr>
          <a:lstStyle/>
          <a:p>
            <a:pPr algn="l">
              <a:buNone/>
              <a:defRPr sz="1950" b="1">
                <a:solidFill>
                  <a:srgbClr val="151515"/>
                </a:solidFill>
                <a:latin typeface="Arial"/>
                <a:ea typeface="Arial"/>
                <a:cs typeface="Arial"/>
              </a:defRPr>
            </a:pPr>
            <a:r>
              <a:t>2 · Walk-forward evaluation</a:t>
            </a:r>
          </a:p>
        </p:txBody>
      </p:sp>
      <p:sp>
        <p:nvSpPr>
          <p:cNvPr id="11" name="Rectangle 10">
            <a:extLst>
              <a:ext uri="{FF2B5EF4-FFF2-40B4-BE49-F238E27FC236}">
                <a16:creationId xmlns:a16="http://schemas.microsoft.com/office/drawing/2014/main" id="{E52D578C-ED9E-435A-B32F-A6DC24DEDE39}"/>
              </a:ext>
            </a:extLst>
          </p:cNvPr>
          <p:cNvSpPr>
            <a:spLocks noGrp="1"/>
          </p:cNvSpPr>
          <p:nvPr/>
        </p:nvSpPr>
        <p:spPr>
          <a:xfrm>
            <a:off x="666750" y="3762375"/>
            <a:ext cx="2857500" cy="1047750"/>
          </a:xfrm>
          <a:prstGeom prst="rect">
            <a:avLst/>
          </a:prstGeom>
        </p:spPr>
        <p:txBody>
          <a:bodyPr lIns="0" tIns="0" rIns="0" bIns="0" anchor="t">
            <a:normAutofit/>
          </a:bodyPr>
          <a:lstStyle/>
          <a:p>
            <a:pPr algn="l">
              <a:buNone/>
              <a:defRPr sz="1725" b="0">
                <a:solidFill>
                  <a:srgbClr val="151515"/>
                </a:solidFill>
                <a:latin typeface="Arial"/>
                <a:ea typeface="Arial"/>
                <a:cs typeface="Arial"/>
              </a:defRPr>
            </a:pPr>
            <a:r>
              <a:t>17 models, 18/16 scenarios, and all preprocessing inside each fold.</a:t>
            </a:r>
          </a:p>
        </p:txBody>
      </p:sp>
      <p:sp>
        <p:nvSpPr>
          <p:cNvPr id="12" name="Rectangle 11">
            <a:extLst>
              <a:ext uri="{FF2B5EF4-FFF2-40B4-BE49-F238E27FC236}">
                <a16:creationId xmlns:a16="http://schemas.microsoft.com/office/drawing/2014/main" id="{DE812136-7E24-47A4-B38A-8044E4F5D8E2}"/>
              </a:ext>
            </a:extLst>
          </p:cNvPr>
          <p:cNvSpPr>
            <a:spLocks noGrp="1"/>
          </p:cNvSpPr>
          <p:nvPr/>
        </p:nvSpPr>
        <p:spPr>
          <a:xfrm>
            <a:off x="4581525" y="3143250"/>
            <a:ext cx="2857500" cy="361950"/>
          </a:xfrm>
          <a:prstGeom prst="rect">
            <a:avLst/>
          </a:prstGeom>
        </p:spPr>
        <p:txBody>
          <a:bodyPr lIns="0" tIns="0" rIns="0" bIns="0" anchor="t">
            <a:normAutofit/>
          </a:bodyPr>
          <a:lstStyle/>
          <a:p>
            <a:pPr algn="l">
              <a:buNone/>
              <a:defRPr sz="1950" b="1">
                <a:solidFill>
                  <a:srgbClr val="151515"/>
                </a:solidFill>
                <a:latin typeface="Arial"/>
                <a:ea typeface="Arial"/>
                <a:cs typeface="Arial"/>
              </a:defRPr>
            </a:pPr>
            <a:r>
              <a:t>3 · Sensitivity analysis</a:t>
            </a:r>
          </a:p>
        </p:txBody>
      </p:sp>
      <p:sp>
        <p:nvSpPr>
          <p:cNvPr id="13" name="Rectangle 12">
            <a:extLst>
              <a:ext uri="{FF2B5EF4-FFF2-40B4-BE49-F238E27FC236}">
                <a16:creationId xmlns:a16="http://schemas.microsoft.com/office/drawing/2014/main" id="{A1A20911-81BE-4313-A765-8CCC45847E8F}"/>
              </a:ext>
            </a:extLst>
          </p:cNvPr>
          <p:cNvSpPr>
            <a:spLocks noGrp="1"/>
          </p:cNvSpPr>
          <p:nvPr/>
        </p:nvSpPr>
        <p:spPr>
          <a:xfrm>
            <a:off x="4581525"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rPr dirty="0"/>
              <a:t>Eleven CarenR variants show the best feature-selection strategy is problem-specific.</a:t>
            </a:r>
          </a:p>
        </p:txBody>
      </p:sp>
      <p:sp>
        <p:nvSpPr>
          <p:cNvPr id="14" name="Rectangle 13">
            <a:extLst>
              <a:ext uri="{FF2B5EF4-FFF2-40B4-BE49-F238E27FC236}">
                <a16:creationId xmlns:a16="http://schemas.microsoft.com/office/drawing/2014/main" id="{0478F694-D44F-4A1F-B704-D6083CB098E0}"/>
              </a:ext>
            </a:extLst>
          </p:cNvPr>
          <p:cNvSpPr>
            <a:spLocks noGrp="1"/>
          </p:cNvSpPr>
          <p:nvPr/>
        </p:nvSpPr>
        <p:spPr>
          <a:xfrm>
            <a:off x="8496300" y="3143250"/>
            <a:ext cx="2857500" cy="361950"/>
          </a:xfrm>
          <a:prstGeom prst="rect">
            <a:avLst/>
          </a:prstGeom>
        </p:spPr>
        <p:txBody>
          <a:bodyPr lIns="0" tIns="0" rIns="0" bIns="0" anchor="t">
            <a:normAutofit fontScale="77594" lnSpcReduction="10000"/>
          </a:bodyPr>
          <a:lstStyle/>
          <a:p>
            <a:pPr algn="l">
              <a:buNone/>
              <a:defRPr sz="1950" b="1">
                <a:solidFill>
                  <a:srgbClr val="151515"/>
                </a:solidFill>
                <a:latin typeface="Arial"/>
                <a:ea typeface="Arial"/>
                <a:cs typeface="Arial"/>
              </a:defRPr>
            </a:pPr>
            <a:r>
              <a:t>4 · Era-composition analysis</a:t>
            </a:r>
          </a:p>
        </p:txBody>
      </p:sp>
      <p:sp>
        <p:nvSpPr>
          <p:cNvPr id="15" name="Rectangle 14">
            <a:extLst>
              <a:ext uri="{FF2B5EF4-FFF2-40B4-BE49-F238E27FC236}">
                <a16:creationId xmlns:a16="http://schemas.microsoft.com/office/drawing/2014/main" id="{6FD29018-33B7-40A9-BA1D-8FB3AC29B795}"/>
              </a:ext>
            </a:extLst>
          </p:cNvPr>
          <p:cNvSpPr>
            <a:spLocks noGrp="1"/>
          </p:cNvSpPr>
          <p:nvPr/>
        </p:nvSpPr>
        <p:spPr>
          <a:xfrm>
            <a:off x="8496300" y="3762375"/>
            <a:ext cx="2857500" cy="1047750"/>
          </a:xfrm>
          <a:prstGeom prst="rect">
            <a:avLst/>
          </a:prstGeom>
        </p:spPr>
        <p:txBody>
          <a:bodyPr lIns="0" tIns="0" rIns="0" bIns="0" anchor="t">
            <a:normAutofit fontScale="99638"/>
          </a:bodyPr>
          <a:lstStyle/>
          <a:p>
            <a:pPr algn="l">
              <a:buNone/>
              <a:defRPr sz="1725" b="0">
                <a:solidFill>
                  <a:srgbClr val="151515"/>
                </a:solidFill>
                <a:latin typeface="Arial"/>
                <a:ea typeface="Arial"/>
                <a:cs typeface="Arial"/>
              </a:defRPr>
            </a:pPr>
            <a:r>
              <a:rPr dirty="0"/>
              <a:t>Identifies when rule-based prediction may become viable, </a:t>
            </a:r>
            <a:r>
              <a:rPr lang="pt-PT" dirty="0"/>
              <a:t>as </a:t>
            </a:r>
            <a:r>
              <a:rPr lang="pt-PT" dirty="0" err="1"/>
              <a:t>hypothesis</a:t>
            </a:r>
            <a:r>
              <a:rPr lang="pt-PT" dirty="0"/>
              <a:t> for future </a:t>
            </a:r>
            <a:r>
              <a:rPr lang="pt-PT" dirty="0" err="1"/>
              <a:t>work</a:t>
            </a:r>
            <a:r>
              <a:rPr dirty="0"/>
              <a:t>.</a:t>
            </a:r>
          </a:p>
        </p:txBody>
      </p:sp>
      <p:sp>
        <p:nvSpPr>
          <p:cNvPr id="16" name="Rectangle 15">
            <a:extLst>
              <a:ext uri="{FF2B5EF4-FFF2-40B4-BE49-F238E27FC236}">
                <a16:creationId xmlns:a16="http://schemas.microsoft.com/office/drawing/2014/main" id="{30E3710C-F9B3-474F-A94E-0020A6EE1282}"/>
              </a:ext>
            </a:extLst>
          </p:cNvPr>
          <p:cNvSpPr>
            <a:spLocks noGrp="1"/>
          </p:cNvSpPr>
          <p:nvPr/>
        </p:nvSpPr>
        <p:spPr>
          <a:xfrm>
            <a:off x="685800" y="5810250"/>
            <a:ext cx="10810875" cy="495300"/>
          </a:xfrm>
          <a:prstGeom prst="rect">
            <a:avLst/>
          </a:prstGeom>
        </p:spPr>
        <p:txBody>
          <a:bodyPr lIns="0" tIns="0" rIns="0" bIns="0" anchor="t">
            <a:normAutofit fontScale="95338" lnSpcReduction="10000"/>
          </a:bodyPr>
          <a:lstStyle/>
          <a:p>
            <a:pPr algn="ctr">
              <a:buNone/>
              <a:defRPr sz="1875" b="1">
                <a:solidFill>
                  <a:srgbClr val="7B1E3A"/>
                </a:solidFill>
                <a:latin typeface="Arial"/>
                <a:ea typeface="Arial"/>
                <a:cs typeface="Arial"/>
              </a:defRPr>
            </a:pPr>
            <a:r>
              <a:rPr lang="en-GB" dirty="0">
                <a:solidFill>
                  <a:schemeClr val="accent2"/>
                </a:solidFill>
              </a:rPr>
              <a:t>5 · CROSS-ALGORITHM VALIDATION: RIPPER AND M5RULES INDEPENDENTLY CONFIRM CARENR FEATURE FAMILIES.</a:t>
            </a:r>
          </a:p>
        </p:txBody>
      </p:sp>
    </p:spTree>
    <p:extLst>
      <p:ext uri="{BB962C8B-B14F-4D97-AF65-F5344CB8AC3E}">
        <p14:creationId xmlns:p14="http://schemas.microsoft.com/office/powerpoint/2010/main" val="436008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white-background">
            <a:extLst>
              <a:ext uri="{FF2B5EF4-FFF2-40B4-BE49-F238E27FC236}">
                <a16:creationId xmlns:a16="http://schemas.microsoft.com/office/drawing/2014/main" id="{63B1BE25-A83F-4E08-AC14-51970DAF9548}"/>
              </a:ext>
            </a:extLst>
          </p:cNvPr>
          <p:cNvSpPr>
            <a:spLocks noGrp="1"/>
          </p:cNvSpPr>
          <p:nvPr/>
        </p:nvSpPr>
        <p:spPr>
          <a:xfrm>
            <a:off x="0" y="275476"/>
            <a:ext cx="12192000" cy="6858000"/>
          </a:xfrm>
          <a:prstGeom prst="rect">
            <a:avLst/>
          </a:prstGeom>
          <a:solidFill>
            <a:srgbClr val="FFFFFF"/>
          </a:solidFill>
          <a:ln w="0">
            <a:noFill/>
            <a:prstDash val="solid"/>
          </a:ln>
        </p:spPr>
        <p:txBody>
          <a:bodyPr/>
          <a:lstStyle/>
          <a:p>
            <a:endParaRPr lang="en-US"/>
          </a:p>
        </p:txBody>
      </p:sp>
      <p:sp>
        <p:nvSpPr>
          <p:cNvPr id="2" name="section-label">
            <a:extLst>
              <a:ext uri="{FF2B5EF4-FFF2-40B4-BE49-F238E27FC236}">
                <a16:creationId xmlns:a16="http://schemas.microsoft.com/office/drawing/2014/main" id="{D6CF26EF-1116-4AE5-8478-A5DF4FB99F21}"/>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LIMITATIONS &amp; FUTURE WORK</a:t>
            </a:r>
          </a:p>
        </p:txBody>
      </p:sp>
      <p:sp>
        <p:nvSpPr>
          <p:cNvPr id="3" name="title">
            <a:extLst>
              <a:ext uri="{FF2B5EF4-FFF2-40B4-BE49-F238E27FC236}">
                <a16:creationId xmlns:a16="http://schemas.microsoft.com/office/drawing/2014/main" id="{CC9BDDB7-AD16-44DE-BDA5-B8ECF5D23631}"/>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next evidence should separate climate from structure</a:t>
            </a:r>
          </a:p>
        </p:txBody>
      </p:sp>
      <p:sp>
        <p:nvSpPr>
          <p:cNvPr id="4" name="lim-panel">
            <a:extLst>
              <a:ext uri="{FF2B5EF4-FFF2-40B4-BE49-F238E27FC236}">
                <a16:creationId xmlns:a16="http://schemas.microsoft.com/office/drawing/2014/main" id="{B7FED3BD-051B-4B32-A0C5-6806280F4F20}"/>
              </a:ext>
            </a:extLst>
          </p:cNvPr>
          <p:cNvSpPr>
            <a:spLocks noGrp="1"/>
          </p:cNvSpPr>
          <p:nvPr/>
        </p:nvSpPr>
        <p:spPr>
          <a:xfrm>
            <a:off x="400050" y="1701442"/>
            <a:ext cx="5334000" cy="2952750"/>
          </a:xfrm>
          <a:prstGeom prst="rect">
            <a:avLst/>
          </a:prstGeom>
          <a:solidFill>
            <a:schemeClr val="tx1">
              <a:lumMod val="50000"/>
              <a:lumOff val="50000"/>
            </a:schemeClr>
          </a:solidFill>
          <a:ln w="0">
            <a:noFill/>
            <a:prstDash val="solid"/>
          </a:ln>
        </p:spPr>
        <p:txBody>
          <a:bodyPr/>
          <a:lstStyle/>
          <a:p>
            <a:endParaRPr lang="en-US"/>
          </a:p>
        </p:txBody>
      </p:sp>
      <p:sp>
        <p:nvSpPr>
          <p:cNvPr id="5" name="lim-stripe">
            <a:extLst>
              <a:ext uri="{FF2B5EF4-FFF2-40B4-BE49-F238E27FC236}">
                <a16:creationId xmlns:a16="http://schemas.microsoft.com/office/drawing/2014/main" id="{0C9A5068-F942-4EF4-933A-98FE5B54F8BB}"/>
              </a:ext>
            </a:extLst>
          </p:cNvPr>
          <p:cNvSpPr>
            <a:spLocks noGrp="1"/>
          </p:cNvSpPr>
          <p:nvPr/>
        </p:nvSpPr>
        <p:spPr>
          <a:xfrm>
            <a:off x="400050" y="1701442"/>
            <a:ext cx="76200" cy="2952750"/>
          </a:xfrm>
          <a:prstGeom prst="rect">
            <a:avLst/>
          </a:prstGeom>
          <a:solidFill>
            <a:srgbClr val="C00000"/>
          </a:solidFill>
          <a:ln w="0">
            <a:noFill/>
            <a:prstDash val="solid"/>
          </a:ln>
        </p:spPr>
        <p:txBody>
          <a:bodyPr/>
          <a:lstStyle/>
          <a:p>
            <a:endParaRPr lang="en-US"/>
          </a:p>
        </p:txBody>
      </p:sp>
      <p:sp>
        <p:nvSpPr>
          <p:cNvPr id="6" name="lim-title">
            <a:extLst>
              <a:ext uri="{FF2B5EF4-FFF2-40B4-BE49-F238E27FC236}">
                <a16:creationId xmlns:a16="http://schemas.microsoft.com/office/drawing/2014/main" id="{60845F58-7EC2-4F2D-BACB-C199AEEC3BFA}"/>
              </a:ext>
            </a:extLst>
          </p:cNvPr>
          <p:cNvSpPr>
            <a:spLocks noGrp="1"/>
          </p:cNvSpPr>
          <p:nvPr/>
        </p:nvSpPr>
        <p:spPr>
          <a:xfrm>
            <a:off x="685800" y="1949092"/>
            <a:ext cx="2286000" cy="285750"/>
          </a:xfrm>
          <a:prstGeom prst="rect">
            <a:avLst/>
          </a:prstGeom>
          <a:noFill/>
          <a:ln w="0">
            <a:noFill/>
            <a:prstDash val="solid"/>
          </a:ln>
        </p:spPr>
        <p:txBody>
          <a:bodyPr/>
          <a:lstStyle/>
          <a:p>
            <a:pPr>
              <a:buNone/>
              <a:defRPr sz="1800" b="1">
                <a:solidFill>
                  <a:srgbClr val="C04B4B"/>
                </a:solidFill>
                <a:latin typeface="Arial"/>
                <a:ea typeface="Arial"/>
                <a:cs typeface="Arial"/>
              </a:defRPr>
            </a:pPr>
            <a:r>
              <a:rPr lang="en-GB" sz="1800" b="1" dirty="0">
                <a:solidFill>
                  <a:srgbClr val="C00000"/>
                </a:solidFill>
                <a:latin typeface="Arial"/>
                <a:ea typeface="Arial"/>
                <a:cs typeface="Arial"/>
              </a:rPr>
              <a:t>LIMITATIONS</a:t>
            </a:r>
          </a:p>
        </p:txBody>
      </p:sp>
      <p:sp>
        <p:nvSpPr>
          <p:cNvPr id="7" name="lim-body">
            <a:extLst>
              <a:ext uri="{FF2B5EF4-FFF2-40B4-BE49-F238E27FC236}">
                <a16:creationId xmlns:a16="http://schemas.microsoft.com/office/drawing/2014/main" id="{BBCC1286-35DC-4B95-B827-6D8189A654B6}"/>
              </a:ext>
            </a:extLst>
          </p:cNvPr>
          <p:cNvSpPr>
            <a:spLocks noGrp="1"/>
          </p:cNvSpPr>
          <p:nvPr/>
        </p:nvSpPr>
        <p:spPr>
          <a:xfrm>
            <a:off x="781050" y="2511067"/>
            <a:ext cx="447675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chemeClr val="bg1"/>
                </a:solidFill>
                <a:latin typeface="Arial"/>
                <a:ea typeface="Arial"/>
                <a:cs typeface="Arial"/>
              </a:rPr>
              <a:t>Time is the only detrending covariate, so structural change and climate remain partly mixed.</a:t>
            </a:r>
          </a:p>
          <a:p>
            <a:endParaRPr sz="1350">
              <a:solidFill>
                <a:schemeClr val="bg1"/>
              </a:solidFill>
              <a:latin typeface="Arial"/>
              <a:ea typeface="Arial"/>
              <a:cs typeface="Arial"/>
            </a:endParaRPr>
          </a:p>
          <a:p>
            <a:pPr>
              <a:buNone/>
              <a:defRPr sz="1350">
                <a:solidFill>
                  <a:srgbClr val="111111"/>
                </a:solidFill>
                <a:latin typeface="Arial"/>
                <a:ea typeface="Arial"/>
                <a:cs typeface="Arial"/>
              </a:defRPr>
            </a:pPr>
            <a:r>
              <a:rPr sz="1350">
                <a:solidFill>
                  <a:schemeClr val="bg1"/>
                </a:solidFill>
                <a:latin typeface="Arial"/>
                <a:ea typeface="Arial"/>
                <a:cs typeface="Arial"/>
              </a:rPr>
              <a:t>The walk-forward test has only 18 and 16 scenarios; the 5/5 RDD era-balanced result is exploratory.</a:t>
            </a:r>
          </a:p>
          <a:p>
            <a:endParaRPr sz="1350">
              <a:solidFill>
                <a:schemeClr val="bg1"/>
              </a:solidFill>
              <a:latin typeface="Arial"/>
              <a:ea typeface="Arial"/>
              <a:cs typeface="Arial"/>
            </a:endParaRPr>
          </a:p>
          <a:p>
            <a:pPr>
              <a:buNone/>
              <a:defRPr sz="1350">
                <a:solidFill>
                  <a:srgbClr val="111111"/>
                </a:solidFill>
                <a:latin typeface="Arial"/>
                <a:ea typeface="Arial"/>
                <a:cs typeface="Arial"/>
              </a:defRPr>
            </a:pPr>
            <a:r>
              <a:rPr sz="1350">
                <a:solidFill>
                  <a:schemeClr val="bg1"/>
                </a:solidFill>
                <a:latin typeface="Arial"/>
                <a:ea typeface="Arial"/>
                <a:cs typeface="Arial"/>
              </a:rPr>
              <a:t>Regional annual aggregates hide sub-regional weather and vineyard heterogeneity.</a:t>
            </a:r>
          </a:p>
        </p:txBody>
      </p:sp>
      <p:sp>
        <p:nvSpPr>
          <p:cNvPr id="8" name="fw-panel">
            <a:extLst>
              <a:ext uri="{FF2B5EF4-FFF2-40B4-BE49-F238E27FC236}">
                <a16:creationId xmlns:a16="http://schemas.microsoft.com/office/drawing/2014/main" id="{1A07840C-9A0A-41B8-900B-22185D3D938D}"/>
              </a:ext>
            </a:extLst>
          </p:cNvPr>
          <p:cNvSpPr>
            <a:spLocks noGrp="1"/>
          </p:cNvSpPr>
          <p:nvPr/>
        </p:nvSpPr>
        <p:spPr>
          <a:xfrm>
            <a:off x="6115050" y="1701442"/>
            <a:ext cx="5667375" cy="2952750"/>
          </a:xfrm>
          <a:prstGeom prst="rect">
            <a:avLst/>
          </a:prstGeom>
          <a:solidFill>
            <a:schemeClr val="bg1">
              <a:lumMod val="85000"/>
            </a:schemeClr>
          </a:solidFill>
          <a:ln w="0">
            <a:noFill/>
            <a:prstDash val="solid"/>
          </a:ln>
        </p:spPr>
        <p:txBody>
          <a:bodyPr/>
          <a:lstStyle/>
          <a:p>
            <a:endParaRPr lang="en-US"/>
          </a:p>
        </p:txBody>
      </p:sp>
      <p:sp>
        <p:nvSpPr>
          <p:cNvPr id="9" name="fw-stripe">
            <a:extLst>
              <a:ext uri="{FF2B5EF4-FFF2-40B4-BE49-F238E27FC236}">
                <a16:creationId xmlns:a16="http://schemas.microsoft.com/office/drawing/2014/main" id="{26A857E4-49CB-4B9D-982E-F244C7B4E448}"/>
              </a:ext>
            </a:extLst>
          </p:cNvPr>
          <p:cNvSpPr>
            <a:spLocks noGrp="1"/>
          </p:cNvSpPr>
          <p:nvPr/>
        </p:nvSpPr>
        <p:spPr>
          <a:xfrm>
            <a:off x="6115050" y="1701442"/>
            <a:ext cx="76200" cy="2952750"/>
          </a:xfrm>
          <a:prstGeom prst="rect">
            <a:avLst/>
          </a:prstGeom>
          <a:solidFill>
            <a:srgbClr val="268A8A"/>
          </a:solidFill>
          <a:ln w="0">
            <a:noFill/>
            <a:prstDash val="solid"/>
          </a:ln>
        </p:spPr>
        <p:txBody>
          <a:bodyPr/>
          <a:lstStyle/>
          <a:p>
            <a:endParaRPr lang="en-US"/>
          </a:p>
        </p:txBody>
      </p:sp>
      <p:sp>
        <p:nvSpPr>
          <p:cNvPr id="10" name="fw-title">
            <a:extLst>
              <a:ext uri="{FF2B5EF4-FFF2-40B4-BE49-F238E27FC236}">
                <a16:creationId xmlns:a16="http://schemas.microsoft.com/office/drawing/2014/main" id="{11377E13-D7EF-47BC-BE62-C2415F25F0A9}"/>
              </a:ext>
            </a:extLst>
          </p:cNvPr>
          <p:cNvSpPr>
            <a:spLocks noGrp="1"/>
          </p:cNvSpPr>
          <p:nvPr/>
        </p:nvSpPr>
        <p:spPr>
          <a:xfrm>
            <a:off x="6400800" y="1949092"/>
            <a:ext cx="2286000" cy="285750"/>
          </a:xfrm>
          <a:prstGeom prst="rect">
            <a:avLst/>
          </a:prstGeom>
          <a:noFill/>
          <a:ln w="0">
            <a:noFill/>
            <a:prstDash val="solid"/>
          </a:ln>
        </p:spPr>
        <p:txBody>
          <a:bodyPr/>
          <a:lstStyle/>
          <a:p>
            <a:pPr>
              <a:buNone/>
              <a:defRPr sz="1800" b="1">
                <a:solidFill>
                  <a:srgbClr val="268A8A"/>
                </a:solidFill>
                <a:latin typeface="Arial"/>
                <a:ea typeface="Arial"/>
                <a:cs typeface="Arial"/>
              </a:defRPr>
            </a:pPr>
            <a:r>
              <a:rPr lang="en-GB" sz="1800" b="1" dirty="0">
                <a:solidFill>
                  <a:srgbClr val="268A8A"/>
                </a:solidFill>
                <a:latin typeface="Arial"/>
                <a:ea typeface="Arial"/>
                <a:cs typeface="Arial"/>
              </a:rPr>
              <a:t>FUTURE WORK</a:t>
            </a:r>
          </a:p>
        </p:txBody>
      </p:sp>
      <p:sp>
        <p:nvSpPr>
          <p:cNvPr id="11" name="fw-body">
            <a:extLst>
              <a:ext uri="{FF2B5EF4-FFF2-40B4-BE49-F238E27FC236}">
                <a16:creationId xmlns:a16="http://schemas.microsoft.com/office/drawing/2014/main" id="{D4D2FEB9-2CD8-448D-B525-ECD8FD4814D6}"/>
              </a:ext>
            </a:extLst>
          </p:cNvPr>
          <p:cNvSpPr>
            <a:spLocks noGrp="1"/>
          </p:cNvSpPr>
          <p:nvPr/>
        </p:nvSpPr>
        <p:spPr>
          <a:xfrm>
            <a:off x="6496050" y="2511067"/>
            <a:ext cx="4762500" cy="1571625"/>
          </a:xfrm>
          <a:prstGeom prst="rect">
            <a:avLst/>
          </a:prstGeom>
          <a:noFill/>
          <a:ln w="0">
            <a:noFill/>
            <a:prstDash val="solid"/>
          </a:ln>
        </p:spPr>
        <p:txBody>
          <a:bodyPr/>
          <a:lstStyle/>
          <a:p>
            <a:pPr>
              <a:buNone/>
              <a:defRPr sz="1350">
                <a:solidFill>
                  <a:srgbClr val="111111"/>
                </a:solidFill>
                <a:latin typeface="Arial"/>
                <a:ea typeface="Arial"/>
                <a:cs typeface="Arial"/>
              </a:defRPr>
            </a:pPr>
            <a:r>
              <a:rPr sz="1350" dirty="0">
                <a:solidFill>
                  <a:srgbClr val="111111"/>
                </a:solidFill>
                <a:latin typeface="Arial"/>
                <a:ea typeface="Arial"/>
                <a:cs typeface="Arial"/>
              </a:rPr>
              <a:t>Add structural covariates: planted area, quotas and certified producers.</a:t>
            </a:r>
          </a:p>
          <a:p>
            <a:endParaRPr sz="1350" dirty="0">
              <a:solidFill>
                <a:srgbClr val="111111"/>
              </a:solidFill>
              <a:latin typeface="Arial"/>
              <a:ea typeface="Arial"/>
              <a:cs typeface="Arial"/>
            </a:endParaRPr>
          </a:p>
          <a:p>
            <a:pPr>
              <a:buNone/>
              <a:defRPr sz="1350">
                <a:solidFill>
                  <a:srgbClr val="111111"/>
                </a:solidFill>
                <a:latin typeface="Arial"/>
                <a:ea typeface="Arial"/>
                <a:cs typeface="Arial"/>
              </a:defRPr>
            </a:pPr>
            <a:r>
              <a:rPr sz="1350" dirty="0">
                <a:solidFill>
                  <a:srgbClr val="111111"/>
                </a:solidFill>
                <a:latin typeface="Arial"/>
                <a:ea typeface="Arial"/>
                <a:cs typeface="Arial"/>
              </a:rPr>
              <a:t>Pre-register and prospectively validate the era-balanced hypothesis.</a:t>
            </a:r>
          </a:p>
          <a:p>
            <a:endParaRPr sz="1350" dirty="0">
              <a:solidFill>
                <a:srgbClr val="111111"/>
              </a:solidFill>
              <a:latin typeface="Arial"/>
              <a:ea typeface="Arial"/>
              <a:cs typeface="Arial"/>
            </a:endParaRPr>
          </a:p>
          <a:p>
            <a:pPr>
              <a:buNone/>
              <a:defRPr sz="1350">
                <a:solidFill>
                  <a:srgbClr val="111111"/>
                </a:solidFill>
                <a:latin typeface="Arial"/>
                <a:ea typeface="Arial"/>
                <a:cs typeface="Arial"/>
              </a:defRPr>
            </a:pPr>
            <a:r>
              <a:rPr sz="1350" dirty="0">
                <a:solidFill>
                  <a:srgbClr val="111111"/>
                </a:solidFill>
                <a:latin typeface="Arial"/>
                <a:ea typeface="Arial"/>
                <a:cs typeface="Arial"/>
              </a:rPr>
              <a:t>Test other regional time series with weaker </a:t>
            </a:r>
            <a:r>
              <a:rPr lang="en-GB" sz="1350" dirty="0">
                <a:solidFill>
                  <a:srgbClr val="111111"/>
                </a:solidFill>
                <a:latin typeface="Arial"/>
                <a:ea typeface="Arial"/>
                <a:cs typeface="Arial"/>
              </a:rPr>
              <a:t>trends and</a:t>
            </a:r>
            <a:r>
              <a:rPr sz="1350" dirty="0">
                <a:solidFill>
                  <a:srgbClr val="111111"/>
                </a:solidFill>
                <a:latin typeface="Arial"/>
                <a:ea typeface="Arial"/>
                <a:cs typeface="Arial"/>
              </a:rPr>
              <a:t> use higher-resolution climate data.</a:t>
            </a:r>
          </a:p>
        </p:txBody>
      </p:sp>
      <p:sp>
        <p:nvSpPr>
          <p:cNvPr id="14" name="close-text">
            <a:extLst>
              <a:ext uri="{FF2B5EF4-FFF2-40B4-BE49-F238E27FC236}">
                <a16:creationId xmlns:a16="http://schemas.microsoft.com/office/drawing/2014/main" id="{ADF9A72D-259B-4CAF-91E4-424FF94B6D44}"/>
              </a:ext>
            </a:extLst>
          </p:cNvPr>
          <p:cNvSpPr>
            <a:spLocks noGrp="1"/>
          </p:cNvSpPr>
          <p:nvPr/>
        </p:nvSpPr>
        <p:spPr>
          <a:xfrm>
            <a:off x="714374" y="5397142"/>
            <a:ext cx="11077575" cy="1123950"/>
          </a:xfrm>
          <a:prstGeom prst="rect">
            <a:avLst/>
          </a:prstGeom>
          <a:noFill/>
          <a:ln w="0">
            <a:noFill/>
            <a:prstDash val="solid"/>
          </a:ln>
        </p:spPr>
        <p:txBody>
          <a:bodyPr/>
          <a:lstStyle/>
          <a:p>
            <a:pPr algn="ctr">
              <a:buNone/>
              <a:defRPr sz="1650" b="1">
                <a:solidFill>
                  <a:srgbClr val="7B1E3A"/>
                </a:solidFill>
                <a:latin typeface="Arial"/>
                <a:ea typeface="Arial"/>
                <a:cs typeface="Arial"/>
              </a:defRPr>
            </a:pPr>
            <a:r>
              <a:rPr lang="en-GB" b="1" dirty="0">
                <a:solidFill>
                  <a:schemeClr val="accent2"/>
                </a:solidFill>
                <a:latin typeface="Arial"/>
                <a:ea typeface="Arial"/>
                <a:cs typeface="Arial"/>
              </a:rPr>
              <a:t>THE THESIS DOES NOT CLAIM AN OPERATIONAL FORECAST YET; IT SHOWS WHEN INTERPRETABLE RULES ARE MEANINGFUL, WHEN THEY FAIL, AND WHAT EVIDENCE IS NEEDED NEXT.</a:t>
            </a:r>
          </a:p>
        </p:txBody>
      </p:sp>
      <p:sp>
        <p:nvSpPr>
          <p:cNvPr id="16" name="slide-number">
            <a:extLst>
              <a:ext uri="{FF2B5EF4-FFF2-40B4-BE49-F238E27FC236}">
                <a16:creationId xmlns:a16="http://schemas.microsoft.com/office/drawing/2014/main" id="{C0D54E7A-C4F2-4342-B771-5B9125A2FBC7}"/>
              </a:ext>
            </a:extLst>
          </p:cNvPr>
          <p:cNvSpPr>
            <a:spLocks noGrp="1"/>
          </p:cNvSpPr>
          <p:nvPr/>
        </p:nvSpPr>
        <p:spPr>
          <a:xfrm>
            <a:off x="11287125" y="6463942"/>
            <a:ext cx="457200" cy="190500"/>
          </a:xfrm>
          <a:prstGeom prst="rect">
            <a:avLst/>
          </a:prstGeom>
          <a:noFill/>
          <a:ln w="0">
            <a:noFill/>
            <a:prstDash val="solid"/>
          </a:ln>
        </p:spPr>
        <p:txBody>
          <a:bodyPr/>
          <a:lstStyle/>
          <a:p>
            <a:endParaRPr/>
          </a:p>
        </p:txBody>
      </p:sp>
    </p:spTree>
    <p:extLst>
      <p:ext uri="{BB962C8B-B14F-4D97-AF65-F5344CB8AC3E}">
        <p14:creationId xmlns:p14="http://schemas.microsoft.com/office/powerpoint/2010/main" val="19994115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FC25070-4A33-46B8-8CA4-07D27372A63B}"/>
              </a:ext>
            </a:extLst>
          </p:cNvPr>
          <p:cNvSpPr>
            <a:spLocks noGrp="1"/>
          </p:cNvSpPr>
          <p:nvPr/>
        </p:nvSpPr>
        <p:spPr>
          <a:xfrm>
            <a:off x="400050" y="266700"/>
            <a:ext cx="4000500" cy="228600"/>
          </a:xfrm>
          <a:prstGeom prst="rect">
            <a:avLst/>
          </a:prstGeom>
        </p:spPr>
        <p:txBody>
          <a:bodyPr lIns="0" tIns="0" rIns="0" bIns="0" anchor="t">
            <a:normAutofit/>
          </a:bodyPr>
          <a:lstStyle/>
          <a:p>
            <a:pPr algn="l">
              <a:buNone/>
              <a:defRPr sz="1125" b="1">
                <a:solidFill>
                  <a:srgbClr val="7B1E3A"/>
                </a:solidFill>
                <a:latin typeface="Arial"/>
                <a:ea typeface="Arial"/>
                <a:cs typeface="Arial"/>
              </a:defRPr>
            </a:pPr>
            <a:r>
              <a:t>NEXT STEPS</a:t>
            </a:r>
          </a:p>
        </p:txBody>
      </p:sp>
      <p:sp>
        <p:nvSpPr>
          <p:cNvPr id="2" name="Rectangle 1">
            <a:extLst>
              <a:ext uri="{FF2B5EF4-FFF2-40B4-BE49-F238E27FC236}">
                <a16:creationId xmlns:a16="http://schemas.microsoft.com/office/drawing/2014/main" id="{1FFDD097-DF00-49C9-AE63-44967556803E}"/>
              </a:ext>
            </a:extLst>
          </p:cNvPr>
          <p:cNvSpPr>
            <a:spLocks noGrp="1"/>
          </p:cNvSpPr>
          <p:nvPr/>
        </p:nvSpPr>
        <p:spPr>
          <a:xfrm>
            <a:off x="400050" y="552450"/>
            <a:ext cx="11391900" cy="781050"/>
          </a:xfrm>
          <a:prstGeom prst="rect">
            <a:avLst/>
          </a:prstGeom>
        </p:spPr>
        <p:txBody>
          <a:bodyPr lIns="0" tIns="0" rIns="0" bIns="0" anchor="t">
            <a:normAutofit/>
          </a:bodyPr>
          <a:lstStyle/>
          <a:p>
            <a:pPr algn="l">
              <a:buNone/>
              <a:defRPr sz="3600" b="1">
                <a:solidFill>
                  <a:srgbClr val="151515"/>
                </a:solidFill>
                <a:latin typeface="Arial"/>
                <a:ea typeface="Arial"/>
                <a:cs typeface="Arial"/>
              </a:defRPr>
            </a:pPr>
            <a:r>
              <a:t>The next step is to model structure explicitly</a:t>
            </a:r>
          </a:p>
        </p:txBody>
      </p:sp>
      <p:cxnSp>
        <p:nvCxnSpPr>
          <p:cNvPr id="153" name="Straight Arrow Connector 152"/>
          <p:cNvCxnSpPr/>
          <p:nvPr/>
        </p:nvCxnSpPr>
        <p:spPr>
          <a:xfrm>
            <a:off x="742950" y="3048000"/>
            <a:ext cx="10382250" cy="953"/>
          </a:xfrm>
          <a:prstGeom prst="straightConnector1">
            <a:avLst/>
          </a:prstGeom>
          <a:ln w="19050">
            <a:solidFill>
              <a:srgbClr val="151515"/>
            </a:solidFill>
            <a:prstDash val="solid"/>
          </a:ln>
        </p:spPr>
      </p:cxnSp>
      <p:sp>
        <p:nvSpPr>
          <p:cNvPr id="5" name="Oval 4">
            <a:extLst>
              <a:ext uri="{FF2B5EF4-FFF2-40B4-BE49-F238E27FC236}">
                <a16:creationId xmlns:a16="http://schemas.microsoft.com/office/drawing/2014/main" id="{69E4A950-FCA3-4EAB-8930-E09FBC36715B}"/>
              </a:ext>
            </a:extLst>
          </p:cNvPr>
          <p:cNvSpPr>
            <a:spLocks noGrp="1"/>
          </p:cNvSpPr>
          <p:nvPr/>
        </p:nvSpPr>
        <p:spPr>
          <a:xfrm>
            <a:off x="1095375" y="2962275"/>
            <a:ext cx="190500" cy="190500"/>
          </a:xfrm>
          <a:prstGeom prst="ellipse">
            <a:avLst/>
          </a:prstGeom>
          <a:solidFill>
            <a:srgbClr val="7B1E3A"/>
          </a:solidFill>
        </p:spPr>
        <p:txBody>
          <a:bodyPr/>
          <a:lstStyle/>
          <a:p>
            <a:endParaRPr lang="en-US"/>
          </a:p>
        </p:txBody>
      </p:sp>
      <p:sp>
        <p:nvSpPr>
          <p:cNvPr id="6" name="Oval 5">
            <a:extLst>
              <a:ext uri="{FF2B5EF4-FFF2-40B4-BE49-F238E27FC236}">
                <a16:creationId xmlns:a16="http://schemas.microsoft.com/office/drawing/2014/main" id="{FBBF4214-A543-4AC5-9AB3-9660B08413B8}"/>
              </a:ext>
            </a:extLst>
          </p:cNvPr>
          <p:cNvSpPr>
            <a:spLocks noGrp="1"/>
          </p:cNvSpPr>
          <p:nvPr/>
        </p:nvSpPr>
        <p:spPr>
          <a:xfrm>
            <a:off x="3714750" y="2962275"/>
            <a:ext cx="190500" cy="190500"/>
          </a:xfrm>
          <a:prstGeom prst="ellipse">
            <a:avLst/>
          </a:prstGeom>
          <a:solidFill>
            <a:srgbClr val="7B1E3A"/>
          </a:solidFill>
        </p:spPr>
        <p:txBody>
          <a:bodyPr/>
          <a:lstStyle/>
          <a:p>
            <a:endParaRPr lang="en-US"/>
          </a:p>
        </p:txBody>
      </p:sp>
      <p:sp>
        <p:nvSpPr>
          <p:cNvPr id="7" name="Oval 6">
            <a:extLst>
              <a:ext uri="{FF2B5EF4-FFF2-40B4-BE49-F238E27FC236}">
                <a16:creationId xmlns:a16="http://schemas.microsoft.com/office/drawing/2014/main" id="{DC0E58BB-1179-4813-AF25-E9782CC0D1A4}"/>
              </a:ext>
            </a:extLst>
          </p:cNvPr>
          <p:cNvSpPr>
            <a:spLocks noGrp="1"/>
          </p:cNvSpPr>
          <p:nvPr/>
        </p:nvSpPr>
        <p:spPr>
          <a:xfrm>
            <a:off x="6334125" y="2962275"/>
            <a:ext cx="190500" cy="190500"/>
          </a:xfrm>
          <a:prstGeom prst="ellipse">
            <a:avLst/>
          </a:prstGeom>
          <a:solidFill>
            <a:srgbClr val="7B1E3A"/>
          </a:solidFill>
        </p:spPr>
        <p:txBody>
          <a:bodyPr/>
          <a:lstStyle/>
          <a:p>
            <a:endParaRPr lang="en-US"/>
          </a:p>
        </p:txBody>
      </p:sp>
      <p:sp>
        <p:nvSpPr>
          <p:cNvPr id="8" name="Oval 7">
            <a:extLst>
              <a:ext uri="{FF2B5EF4-FFF2-40B4-BE49-F238E27FC236}">
                <a16:creationId xmlns:a16="http://schemas.microsoft.com/office/drawing/2014/main" id="{B38D901D-E538-4E28-8163-1B111CC621AF}"/>
              </a:ext>
            </a:extLst>
          </p:cNvPr>
          <p:cNvSpPr>
            <a:spLocks noGrp="1"/>
          </p:cNvSpPr>
          <p:nvPr/>
        </p:nvSpPr>
        <p:spPr>
          <a:xfrm>
            <a:off x="8953500" y="2962275"/>
            <a:ext cx="190500" cy="190500"/>
          </a:xfrm>
          <a:prstGeom prst="ellipse">
            <a:avLst/>
          </a:prstGeom>
          <a:solidFill>
            <a:srgbClr val="7B1E3A"/>
          </a:solidFill>
        </p:spPr>
        <p:txBody>
          <a:bodyPr/>
          <a:lstStyle/>
          <a:p>
            <a:endParaRPr lang="en-US"/>
          </a:p>
        </p:txBody>
      </p:sp>
      <p:sp>
        <p:nvSpPr>
          <p:cNvPr id="9" name="Rectangle 8">
            <a:extLst>
              <a:ext uri="{FF2B5EF4-FFF2-40B4-BE49-F238E27FC236}">
                <a16:creationId xmlns:a16="http://schemas.microsoft.com/office/drawing/2014/main" id="{57D5A3E2-F417-4EDC-9C3B-8B9F3035D0DB}"/>
              </a:ext>
            </a:extLst>
          </p:cNvPr>
          <p:cNvSpPr>
            <a:spLocks noGrp="1"/>
          </p:cNvSpPr>
          <p:nvPr/>
        </p:nvSpPr>
        <p:spPr>
          <a:xfrm>
            <a:off x="80962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01</a:t>
            </a:r>
          </a:p>
        </p:txBody>
      </p:sp>
      <p:sp>
        <p:nvSpPr>
          <p:cNvPr id="10" name="Rectangle 9">
            <a:extLst>
              <a:ext uri="{FF2B5EF4-FFF2-40B4-BE49-F238E27FC236}">
                <a16:creationId xmlns:a16="http://schemas.microsoft.com/office/drawing/2014/main" id="{96AC4739-A312-40E8-B2AA-6836D12D2582}"/>
              </a:ext>
            </a:extLst>
          </p:cNvPr>
          <p:cNvSpPr>
            <a:spLocks noGrp="1"/>
          </p:cNvSpPr>
          <p:nvPr/>
        </p:nvSpPr>
        <p:spPr>
          <a:xfrm>
            <a:off x="571500" y="3381375"/>
            <a:ext cx="123825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lang="en-GB" sz="1200" dirty="0"/>
              <a:t>STRUCTURAL
COVARIATES</a:t>
            </a:r>
          </a:p>
        </p:txBody>
      </p:sp>
      <p:sp>
        <p:nvSpPr>
          <p:cNvPr id="11" name="Rectangle 10">
            <a:extLst>
              <a:ext uri="{FF2B5EF4-FFF2-40B4-BE49-F238E27FC236}">
                <a16:creationId xmlns:a16="http://schemas.microsoft.com/office/drawing/2014/main" id="{B5C5BF36-6660-4270-A3A2-054B7435617D}"/>
              </a:ext>
            </a:extLst>
          </p:cNvPr>
          <p:cNvSpPr>
            <a:spLocks noGrp="1"/>
          </p:cNvSpPr>
          <p:nvPr/>
        </p:nvSpPr>
        <p:spPr>
          <a:xfrm>
            <a:off x="381000" y="4238625"/>
            <a:ext cx="16192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Planted area, quotas, producers</a:t>
            </a:r>
          </a:p>
        </p:txBody>
      </p:sp>
      <p:sp>
        <p:nvSpPr>
          <p:cNvPr id="12" name="Rectangle 11">
            <a:extLst>
              <a:ext uri="{FF2B5EF4-FFF2-40B4-BE49-F238E27FC236}">
                <a16:creationId xmlns:a16="http://schemas.microsoft.com/office/drawing/2014/main" id="{339830D1-243B-4E6B-B9AC-2491F04CE5C3}"/>
              </a:ext>
            </a:extLst>
          </p:cNvPr>
          <p:cNvSpPr>
            <a:spLocks noGrp="1"/>
          </p:cNvSpPr>
          <p:nvPr/>
        </p:nvSpPr>
        <p:spPr>
          <a:xfrm>
            <a:off x="342900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02</a:t>
            </a:r>
          </a:p>
        </p:txBody>
      </p:sp>
      <p:sp>
        <p:nvSpPr>
          <p:cNvPr id="13" name="Rectangle 12">
            <a:extLst>
              <a:ext uri="{FF2B5EF4-FFF2-40B4-BE49-F238E27FC236}">
                <a16:creationId xmlns:a16="http://schemas.microsoft.com/office/drawing/2014/main" id="{EA713450-9B9B-4600-9A28-3DD765DF34E7}"/>
              </a:ext>
            </a:extLst>
          </p:cNvPr>
          <p:cNvSpPr>
            <a:spLocks noGrp="1"/>
          </p:cNvSpPr>
          <p:nvPr/>
        </p:nvSpPr>
        <p:spPr>
          <a:xfrm>
            <a:off x="2952750" y="3381375"/>
            <a:ext cx="1714500" cy="666750"/>
          </a:xfrm>
          <a:prstGeom prst="rect">
            <a:avLst/>
          </a:prstGeom>
        </p:spPr>
        <p:txBody>
          <a:bodyPr lIns="0" tIns="0" rIns="0" bIns="0" anchor="t">
            <a:normAutofit/>
          </a:bodyPr>
          <a:lstStyle/>
          <a:p>
            <a:pPr algn="ctr">
              <a:buNone/>
              <a:defRPr sz="1800" b="1">
                <a:solidFill>
                  <a:srgbClr val="151515"/>
                </a:solidFill>
                <a:latin typeface="Arial"/>
                <a:ea typeface="Arial"/>
                <a:cs typeface="Arial"/>
              </a:defRPr>
            </a:pPr>
            <a:r>
              <a:rPr lang="en-GB" sz="1400" dirty="0"/>
              <a:t>PROSPECTIVE
VALIDATION</a:t>
            </a:r>
          </a:p>
        </p:txBody>
      </p:sp>
      <p:sp>
        <p:nvSpPr>
          <p:cNvPr id="14" name="Rectangle 13">
            <a:extLst>
              <a:ext uri="{FF2B5EF4-FFF2-40B4-BE49-F238E27FC236}">
                <a16:creationId xmlns:a16="http://schemas.microsoft.com/office/drawing/2014/main" id="{25CA9DF4-30C0-46B4-844A-3554C34BEA56}"/>
              </a:ext>
            </a:extLst>
          </p:cNvPr>
          <p:cNvSpPr>
            <a:spLocks noGrp="1"/>
          </p:cNvSpPr>
          <p:nvPr/>
        </p:nvSpPr>
        <p:spPr>
          <a:xfrm>
            <a:off x="2952750" y="4238625"/>
            <a:ext cx="17145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Pre-register the era-balanced hypothesis</a:t>
            </a:r>
          </a:p>
        </p:txBody>
      </p:sp>
      <p:sp>
        <p:nvSpPr>
          <p:cNvPr id="15" name="Rectangle 14">
            <a:extLst>
              <a:ext uri="{FF2B5EF4-FFF2-40B4-BE49-F238E27FC236}">
                <a16:creationId xmlns:a16="http://schemas.microsoft.com/office/drawing/2014/main" id="{E1BFB2A5-FFC1-4957-80A3-A648945EED22}"/>
              </a:ext>
            </a:extLst>
          </p:cNvPr>
          <p:cNvSpPr>
            <a:spLocks noGrp="1"/>
          </p:cNvSpPr>
          <p:nvPr/>
        </p:nvSpPr>
        <p:spPr>
          <a:xfrm>
            <a:off x="6048375"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03</a:t>
            </a:r>
          </a:p>
        </p:txBody>
      </p:sp>
      <p:sp>
        <p:nvSpPr>
          <p:cNvPr id="16" name="Rectangle 15">
            <a:extLst>
              <a:ext uri="{FF2B5EF4-FFF2-40B4-BE49-F238E27FC236}">
                <a16:creationId xmlns:a16="http://schemas.microsoft.com/office/drawing/2014/main" id="{1C1315B3-2FFD-4146-90ED-C8348E21F748}"/>
              </a:ext>
            </a:extLst>
          </p:cNvPr>
          <p:cNvSpPr>
            <a:spLocks noGrp="1"/>
          </p:cNvSpPr>
          <p:nvPr/>
        </p:nvSpPr>
        <p:spPr>
          <a:xfrm>
            <a:off x="5762625" y="3381375"/>
            <a:ext cx="1428750" cy="666750"/>
          </a:xfrm>
          <a:prstGeom prst="rect">
            <a:avLst/>
          </a:prstGeom>
        </p:spPr>
        <p:txBody>
          <a:bodyPr lIns="0" tIns="0" rIns="0" bIns="0" anchor="t">
            <a:normAutofit fontScale="94531"/>
          </a:bodyPr>
          <a:lstStyle/>
          <a:p>
            <a:pPr algn="ctr">
              <a:buNone/>
              <a:defRPr sz="1800" b="1">
                <a:solidFill>
                  <a:srgbClr val="151515"/>
                </a:solidFill>
                <a:latin typeface="Arial"/>
                <a:ea typeface="Arial"/>
                <a:cs typeface="Arial"/>
              </a:defRPr>
            </a:pPr>
            <a:r>
              <a:rPr lang="en-GB" sz="1200" dirty="0"/>
              <a:t>HIGHER SPATIAL
RESOLUTION</a:t>
            </a:r>
          </a:p>
        </p:txBody>
      </p:sp>
      <p:sp>
        <p:nvSpPr>
          <p:cNvPr id="17" name="Rectangle 16">
            <a:extLst>
              <a:ext uri="{FF2B5EF4-FFF2-40B4-BE49-F238E27FC236}">
                <a16:creationId xmlns:a16="http://schemas.microsoft.com/office/drawing/2014/main" id="{731AEA6E-4B04-41E8-87F5-4F3A4924FD67}"/>
              </a:ext>
            </a:extLst>
          </p:cNvPr>
          <p:cNvSpPr>
            <a:spLocks noGrp="1"/>
          </p:cNvSpPr>
          <p:nvPr/>
        </p:nvSpPr>
        <p:spPr>
          <a:xfrm>
            <a:off x="5572125" y="4238625"/>
            <a:ext cx="180975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Capture within-region heterogeneity</a:t>
            </a:r>
          </a:p>
        </p:txBody>
      </p:sp>
      <p:sp>
        <p:nvSpPr>
          <p:cNvPr id="18" name="Rectangle 17">
            <a:extLst>
              <a:ext uri="{FF2B5EF4-FFF2-40B4-BE49-F238E27FC236}">
                <a16:creationId xmlns:a16="http://schemas.microsoft.com/office/drawing/2014/main" id="{79518546-E672-49C8-8EE7-213071C7869B}"/>
              </a:ext>
            </a:extLst>
          </p:cNvPr>
          <p:cNvSpPr>
            <a:spLocks noGrp="1"/>
          </p:cNvSpPr>
          <p:nvPr/>
        </p:nvSpPr>
        <p:spPr>
          <a:xfrm>
            <a:off x="8667750" y="2476500"/>
            <a:ext cx="762000" cy="266700"/>
          </a:xfrm>
          <a:prstGeom prst="rect">
            <a:avLst/>
          </a:prstGeom>
        </p:spPr>
        <p:txBody>
          <a:bodyPr lIns="0" tIns="0" rIns="0" bIns="0" anchor="t">
            <a:normAutofit/>
          </a:bodyPr>
          <a:lstStyle/>
          <a:p>
            <a:pPr algn="ctr">
              <a:buNone/>
              <a:defRPr sz="1350" b="1">
                <a:solidFill>
                  <a:srgbClr val="7B1E3A"/>
                </a:solidFill>
                <a:latin typeface="Arial"/>
                <a:ea typeface="Arial"/>
                <a:cs typeface="Arial"/>
              </a:defRPr>
            </a:pPr>
            <a:r>
              <a:t>04</a:t>
            </a:r>
          </a:p>
        </p:txBody>
      </p:sp>
      <p:sp>
        <p:nvSpPr>
          <p:cNvPr id="19" name="Rectangle 18">
            <a:extLst>
              <a:ext uri="{FF2B5EF4-FFF2-40B4-BE49-F238E27FC236}">
                <a16:creationId xmlns:a16="http://schemas.microsoft.com/office/drawing/2014/main" id="{DF3AF262-EC64-4BF7-8EC4-6D7BBA893F1F}"/>
              </a:ext>
            </a:extLst>
          </p:cNvPr>
          <p:cNvSpPr>
            <a:spLocks noGrp="1"/>
          </p:cNvSpPr>
          <p:nvPr/>
        </p:nvSpPr>
        <p:spPr>
          <a:xfrm>
            <a:off x="8429625" y="3381375"/>
            <a:ext cx="1428750" cy="666750"/>
          </a:xfrm>
          <a:prstGeom prst="rect">
            <a:avLst/>
          </a:prstGeom>
        </p:spPr>
        <p:txBody>
          <a:bodyPr lIns="0" tIns="0" rIns="0" bIns="0" anchor="t">
            <a:normAutofit fontScale="95310"/>
          </a:bodyPr>
          <a:lstStyle/>
          <a:p>
            <a:pPr algn="ctr">
              <a:buNone/>
              <a:defRPr sz="1800" b="1">
                <a:solidFill>
                  <a:srgbClr val="151515"/>
                </a:solidFill>
                <a:latin typeface="Arial"/>
                <a:ea typeface="Arial"/>
                <a:cs typeface="Arial"/>
              </a:defRPr>
            </a:pPr>
            <a:r>
              <a:rPr lang="en-GB" sz="1000" dirty="0"/>
              <a:t>OTHER REGIONS</a:t>
            </a:r>
          </a:p>
          <a:p>
            <a:pPr algn="ctr">
              <a:buNone/>
              <a:defRPr sz="1800" b="1">
                <a:solidFill>
                  <a:srgbClr val="151515"/>
                </a:solidFill>
                <a:latin typeface="Arial"/>
                <a:ea typeface="Arial"/>
                <a:cs typeface="Arial"/>
              </a:defRPr>
            </a:pPr>
            <a:r>
              <a:rPr lang="en-GB" sz="1000" dirty="0"/>
              <a:t>&amp; LOWER TREND</a:t>
            </a:r>
          </a:p>
        </p:txBody>
      </p:sp>
      <p:sp>
        <p:nvSpPr>
          <p:cNvPr id="20" name="Rectangle 19">
            <a:extLst>
              <a:ext uri="{FF2B5EF4-FFF2-40B4-BE49-F238E27FC236}">
                <a16:creationId xmlns:a16="http://schemas.microsoft.com/office/drawing/2014/main" id="{679563B3-B8C4-478A-8442-79B04086F465}"/>
              </a:ext>
            </a:extLst>
          </p:cNvPr>
          <p:cNvSpPr>
            <a:spLocks noGrp="1"/>
          </p:cNvSpPr>
          <p:nvPr/>
        </p:nvSpPr>
        <p:spPr>
          <a:xfrm>
            <a:off x="8191500" y="4238625"/>
            <a:ext cx="1905000" cy="666750"/>
          </a:xfrm>
          <a:prstGeom prst="rect">
            <a:avLst/>
          </a:prstGeom>
        </p:spPr>
        <p:txBody>
          <a:bodyPr lIns="0" tIns="0" rIns="0" bIns="0" anchor="t">
            <a:normAutofit/>
          </a:bodyPr>
          <a:lstStyle/>
          <a:p>
            <a:pPr algn="ctr">
              <a:buNone/>
              <a:defRPr sz="1425" b="0">
                <a:solidFill>
                  <a:srgbClr val="60656C"/>
                </a:solidFill>
                <a:latin typeface="Arial"/>
                <a:ea typeface="Arial"/>
                <a:cs typeface="Arial"/>
              </a:defRPr>
            </a:pPr>
            <a:r>
              <a:t>Test time series with weaker structural trends</a:t>
            </a:r>
          </a:p>
        </p:txBody>
      </p:sp>
      <p:sp>
        <p:nvSpPr>
          <p:cNvPr id="21" name="Rectangle 20">
            <a:extLst>
              <a:ext uri="{FF2B5EF4-FFF2-40B4-BE49-F238E27FC236}">
                <a16:creationId xmlns:a16="http://schemas.microsoft.com/office/drawing/2014/main" id="{64EB2D02-5245-4EC2-AA43-4607816483A3}"/>
              </a:ext>
            </a:extLst>
          </p:cNvPr>
          <p:cNvSpPr>
            <a:spLocks noGrp="1"/>
          </p:cNvSpPr>
          <p:nvPr/>
        </p:nvSpPr>
        <p:spPr>
          <a:xfrm>
            <a:off x="10001250" y="2143125"/>
            <a:ext cx="1571625" cy="3000375"/>
          </a:xfrm>
          <a:prstGeom prst="rect">
            <a:avLst/>
          </a:prstGeom>
          <a:solidFill>
            <a:srgbClr val="151515"/>
          </a:solidFill>
          <a:ln w="0">
            <a:noFill/>
            <a:prstDash val="solid"/>
          </a:ln>
        </p:spPr>
        <p:txBody>
          <a:bodyPr/>
          <a:lstStyle/>
          <a:p>
            <a:endParaRPr lang="en-US"/>
          </a:p>
        </p:txBody>
      </p:sp>
      <p:sp>
        <p:nvSpPr>
          <p:cNvPr id="22" name="Rectangle 21">
            <a:extLst>
              <a:ext uri="{FF2B5EF4-FFF2-40B4-BE49-F238E27FC236}">
                <a16:creationId xmlns:a16="http://schemas.microsoft.com/office/drawing/2014/main" id="{38D3A802-E57F-412A-8554-AE874D75981B}"/>
              </a:ext>
            </a:extLst>
          </p:cNvPr>
          <p:cNvSpPr>
            <a:spLocks noGrp="1"/>
          </p:cNvSpPr>
          <p:nvPr/>
        </p:nvSpPr>
        <p:spPr>
          <a:xfrm>
            <a:off x="10220325" y="2457450"/>
            <a:ext cx="1143000" cy="2286000"/>
          </a:xfrm>
          <a:prstGeom prst="rect">
            <a:avLst/>
          </a:prstGeom>
        </p:spPr>
        <p:txBody>
          <a:bodyPr lIns="0" tIns="0" rIns="0" bIns="0" anchor="t">
            <a:normAutofit fontScale="84423" lnSpcReduction="10000"/>
          </a:bodyPr>
          <a:lstStyle/>
          <a:p>
            <a:pPr algn="ctr">
              <a:buNone/>
              <a:defRPr sz="1950" b="1">
                <a:solidFill>
                  <a:srgbClr val="FFFFFF"/>
                </a:solidFill>
                <a:latin typeface="Arial"/>
                <a:ea typeface="Arial"/>
                <a:cs typeface="Arial"/>
              </a:defRPr>
            </a:pPr>
            <a:r>
              <a:t>Rules can
explain the
past.
Structure
determines
whether they
predict the
future.</a:t>
            </a:r>
          </a:p>
        </p:txBody>
      </p:sp>
    </p:spTree>
    <p:extLst>
      <p:ext uri="{BB962C8B-B14F-4D97-AF65-F5344CB8AC3E}">
        <p14:creationId xmlns:p14="http://schemas.microsoft.com/office/powerpoint/2010/main" val="19845800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B78FE-1577-8E9C-A029-CAC6373DFA16}"/>
            </a:ext>
          </a:extLst>
        </p:cNvPr>
        <p:cNvGrpSpPr/>
        <p:nvPr/>
      </p:nvGrpSpPr>
      <p:grpSpPr>
        <a:xfrm>
          <a:off x="0" y="0"/>
          <a:ext cx="0" cy="0"/>
          <a:chOff x="0" y="0"/>
          <a:chExt cx="0" cy="0"/>
        </a:xfrm>
      </p:grpSpPr>
      <p:sp>
        <p:nvSpPr>
          <p:cNvPr id="23" name="Rectangle 22">
            <a:extLst>
              <a:ext uri="{FF2B5EF4-FFF2-40B4-BE49-F238E27FC236}">
                <a16:creationId xmlns:a16="http://schemas.microsoft.com/office/drawing/2014/main" id="{A3EAD72F-8DA8-8AB9-7020-E5F29D4A7E6C}"/>
              </a:ext>
            </a:extLst>
          </p:cNvPr>
          <p:cNvSpPr>
            <a:spLocks noGrp="1"/>
          </p:cNvSpPr>
          <p:nvPr/>
        </p:nvSpPr>
        <p:spPr>
          <a:xfrm>
            <a:off x="471969" y="3119437"/>
            <a:ext cx="5715000" cy="619125"/>
          </a:xfrm>
          <a:prstGeom prst="rect">
            <a:avLst/>
          </a:prstGeom>
        </p:spPr>
        <p:txBody>
          <a:bodyPr lIns="0" tIns="0" rIns="0" bIns="0" anchor="t">
            <a:normAutofit/>
          </a:bodyPr>
          <a:lstStyle/>
          <a:p>
            <a:pPr algn="l">
              <a:buNone/>
              <a:defRPr sz="3900" b="1">
                <a:solidFill>
                  <a:srgbClr val="151515"/>
                </a:solidFill>
                <a:latin typeface="Arial"/>
                <a:ea typeface="Arial"/>
                <a:cs typeface="Arial"/>
              </a:defRPr>
            </a:pPr>
            <a:r>
              <a:t>Thank you</a:t>
            </a:r>
          </a:p>
        </p:txBody>
      </p:sp>
      <p:sp>
        <p:nvSpPr>
          <p:cNvPr id="24" name="Rectangle 23">
            <a:extLst>
              <a:ext uri="{FF2B5EF4-FFF2-40B4-BE49-F238E27FC236}">
                <a16:creationId xmlns:a16="http://schemas.microsoft.com/office/drawing/2014/main" id="{4C5A768F-43B8-F657-4A5F-58110FAA8564}"/>
              </a:ext>
            </a:extLst>
          </p:cNvPr>
          <p:cNvSpPr>
            <a:spLocks noGrp="1"/>
          </p:cNvSpPr>
          <p:nvPr/>
        </p:nvSpPr>
        <p:spPr>
          <a:xfrm>
            <a:off x="471969" y="3671887"/>
            <a:ext cx="2857500" cy="285750"/>
          </a:xfrm>
          <a:prstGeom prst="rect">
            <a:avLst/>
          </a:prstGeom>
        </p:spPr>
        <p:txBody>
          <a:bodyPr lIns="0" tIns="0" rIns="0" bIns="0" anchor="t">
            <a:normAutofit/>
          </a:bodyPr>
          <a:lstStyle/>
          <a:p>
            <a:pPr algn="l">
              <a:buNone/>
              <a:defRPr sz="1650" b="0">
                <a:solidFill>
                  <a:srgbClr val="60656C"/>
                </a:solidFill>
                <a:latin typeface="Arial"/>
                <a:ea typeface="Arial"/>
                <a:cs typeface="Arial"/>
              </a:defRPr>
            </a:pPr>
            <a:r>
              <a:rPr dirty="0"/>
              <a:t>Questions</a:t>
            </a:r>
          </a:p>
        </p:txBody>
      </p:sp>
    </p:spTree>
    <p:extLst>
      <p:ext uri="{BB962C8B-B14F-4D97-AF65-F5344CB8AC3E}">
        <p14:creationId xmlns:p14="http://schemas.microsoft.com/office/powerpoint/2010/main" val="670427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A real signal, drowning in noise</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1  ·  </a:t>
            </a: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Text 7"/>
          <p:cNvSpPr/>
          <p:nvPr/>
        </p:nvSpPr>
        <p:spPr>
          <a:xfrm>
            <a:off x="640080" y="1737360"/>
            <a:ext cx="4206240" cy="640080"/>
          </a:xfrm>
          <a:prstGeom prst="rect">
            <a:avLst/>
          </a:prstGeom>
          <a:noFill/>
          <a:ln/>
        </p:spPr>
        <p:txBody>
          <a:bodyPr wrap="square" lIns="0" tIns="0" rIns="0" bIns="0" rtlCol="0" anchor="ctr"/>
          <a:lstStyle/>
          <a:p>
            <a:pPr marL="0" indent="0" algn="l">
              <a:buNone/>
            </a:pPr>
            <a:r>
              <a:rPr lang="en-US" sz="3800" b="1" dirty="0">
                <a:solidFill>
                  <a:srgbClr val="6D2E46"/>
                </a:solidFill>
                <a:latin typeface="Cambria" pitchFamily="34" charset="0"/>
                <a:ea typeface="Cambria" pitchFamily="34" charset="-122"/>
                <a:cs typeface="Cambria" pitchFamily="34" charset="-120"/>
              </a:rPr>
              <a:t>r ≈ 0.47</a:t>
            </a:r>
            <a:endParaRPr lang="en-US" sz="3800" dirty="0"/>
          </a:p>
        </p:txBody>
      </p:sp>
      <p:sp>
        <p:nvSpPr>
          <p:cNvPr id="10" name="Text 8"/>
          <p:cNvSpPr/>
          <p:nvPr/>
        </p:nvSpPr>
        <p:spPr>
          <a:xfrm>
            <a:off x="640080" y="2395728"/>
            <a:ext cx="4206240" cy="457200"/>
          </a:xfrm>
          <a:prstGeom prst="rect">
            <a:avLst/>
          </a:prstGeom>
          <a:noFill/>
          <a:ln/>
        </p:spPr>
        <p:txBody>
          <a:bodyPr wrap="square" lIns="0" tIns="0" rIns="0" bIns="0" rtlCol="0" anchor="ctr"/>
          <a:lstStyle/>
          <a:p>
            <a:pPr marL="0" indent="0" algn="l">
              <a:buNone/>
            </a:pPr>
            <a:r>
              <a:rPr lang="en-US" sz="1250" dirty="0">
                <a:solidFill>
                  <a:srgbClr val="2B2320"/>
                </a:solidFill>
                <a:latin typeface="Calibri" pitchFamily="34" charset="0"/>
                <a:ea typeface="Calibri" pitchFamily="34" charset="-122"/>
                <a:cs typeface="Calibri" pitchFamily="34" charset="-120"/>
              </a:rPr>
              <a:t>Climate–production correlation — the signal is real</a:t>
            </a:r>
            <a:endParaRPr lang="en-US" sz="1250" dirty="0"/>
          </a:p>
        </p:txBody>
      </p:sp>
      <p:sp>
        <p:nvSpPr>
          <p:cNvPr id="11" name="Text 9"/>
          <p:cNvSpPr/>
          <p:nvPr/>
        </p:nvSpPr>
        <p:spPr>
          <a:xfrm>
            <a:off x="640080" y="3063240"/>
            <a:ext cx="4206240" cy="640080"/>
          </a:xfrm>
          <a:prstGeom prst="rect">
            <a:avLst/>
          </a:prstGeom>
          <a:noFill/>
          <a:ln/>
        </p:spPr>
        <p:txBody>
          <a:bodyPr wrap="square" lIns="0" tIns="0" rIns="0" bIns="0" rtlCol="0" anchor="ctr"/>
          <a:lstStyle/>
          <a:p>
            <a:pPr marL="0" indent="0" algn="l">
              <a:buNone/>
            </a:pPr>
            <a:r>
              <a:rPr lang="en-US" sz="3800" b="1" dirty="0">
                <a:solidFill>
                  <a:srgbClr val="5E7148"/>
                </a:solidFill>
                <a:latin typeface="Cambria" pitchFamily="34" charset="0"/>
                <a:ea typeface="Cambria" pitchFamily="34" charset="-122"/>
                <a:cs typeface="Cambria" pitchFamily="34" charset="-120"/>
              </a:rPr>
              <a:t>~22%</a:t>
            </a:r>
            <a:endParaRPr lang="en-US" sz="3800" dirty="0"/>
          </a:p>
        </p:txBody>
      </p:sp>
      <p:sp>
        <p:nvSpPr>
          <p:cNvPr id="12" name="Text 10"/>
          <p:cNvSpPr/>
          <p:nvPr/>
        </p:nvSpPr>
        <p:spPr>
          <a:xfrm>
            <a:off x="640080" y="3721608"/>
            <a:ext cx="4206240" cy="457200"/>
          </a:xfrm>
          <a:prstGeom prst="rect">
            <a:avLst/>
          </a:prstGeom>
          <a:noFill/>
          <a:ln/>
        </p:spPr>
        <p:txBody>
          <a:bodyPr wrap="square" lIns="0" tIns="0" rIns="0" bIns="0" rtlCol="0" anchor="ctr"/>
          <a:lstStyle/>
          <a:p>
            <a:pPr marL="0" indent="0" algn="l">
              <a:buNone/>
            </a:pPr>
            <a:r>
              <a:rPr lang="en-US" sz="1250" dirty="0">
                <a:solidFill>
                  <a:srgbClr val="2B2320"/>
                </a:solidFill>
                <a:latin typeface="Calibri" pitchFamily="34" charset="0"/>
                <a:ea typeface="Calibri" pitchFamily="34" charset="-122"/>
                <a:cs typeface="Calibri" pitchFamily="34" charset="-120"/>
              </a:rPr>
              <a:t>of residual variance is explainable by climate</a:t>
            </a:r>
            <a:endParaRPr lang="en-US" sz="1250" dirty="0"/>
          </a:p>
        </p:txBody>
      </p:sp>
      <p:sp>
        <p:nvSpPr>
          <p:cNvPr id="13" name="Text 11"/>
          <p:cNvSpPr/>
          <p:nvPr/>
        </p:nvSpPr>
        <p:spPr>
          <a:xfrm>
            <a:off x="640080" y="4389120"/>
            <a:ext cx="4206240" cy="640080"/>
          </a:xfrm>
          <a:prstGeom prst="rect">
            <a:avLst/>
          </a:prstGeom>
          <a:noFill/>
          <a:ln/>
        </p:spPr>
        <p:txBody>
          <a:bodyPr wrap="square" lIns="0" tIns="0" rIns="0" bIns="0" rtlCol="0" anchor="ctr"/>
          <a:lstStyle/>
          <a:p>
            <a:pPr marL="0" indent="0" algn="l">
              <a:buNone/>
            </a:pPr>
            <a:r>
              <a:rPr lang="en-US" sz="3800" b="1" dirty="0">
                <a:solidFill>
                  <a:srgbClr val="7A2E39"/>
                </a:solidFill>
                <a:latin typeface="Cambria" pitchFamily="34" charset="0"/>
                <a:ea typeface="Cambria" pitchFamily="34" charset="-122"/>
                <a:cs typeface="Cambria" pitchFamily="34" charset="-120"/>
              </a:rPr>
              <a:t>CV ≈ 47%</a:t>
            </a:r>
            <a:endParaRPr lang="en-US" sz="3800" dirty="0"/>
          </a:p>
        </p:txBody>
      </p:sp>
      <p:sp>
        <p:nvSpPr>
          <p:cNvPr id="14" name="Text 12"/>
          <p:cNvSpPr/>
          <p:nvPr/>
        </p:nvSpPr>
        <p:spPr>
          <a:xfrm>
            <a:off x="640080" y="5047488"/>
            <a:ext cx="4206240" cy="457200"/>
          </a:xfrm>
          <a:prstGeom prst="rect">
            <a:avLst/>
          </a:prstGeom>
          <a:noFill/>
          <a:ln/>
        </p:spPr>
        <p:txBody>
          <a:bodyPr wrap="square" lIns="0" tIns="0" rIns="0" bIns="0" rtlCol="0" anchor="ctr"/>
          <a:lstStyle/>
          <a:p>
            <a:pPr marL="0" indent="0" algn="l">
              <a:buNone/>
            </a:pPr>
            <a:r>
              <a:rPr lang="en-US" sz="1250" dirty="0">
                <a:solidFill>
                  <a:srgbClr val="2B2320"/>
                </a:solidFill>
                <a:latin typeface="Calibri" pitchFamily="34" charset="0"/>
                <a:ea typeface="Calibri" pitchFamily="34" charset="-122"/>
                <a:cs typeface="Calibri" pitchFamily="34" charset="-120"/>
              </a:rPr>
              <a:t>Year-to-year swing — the noise the signal hides in</a:t>
            </a:r>
            <a:endParaRPr lang="en-US" sz="1250" dirty="0"/>
          </a:p>
        </p:txBody>
      </p:sp>
      <p:sp>
        <p:nvSpPr>
          <p:cNvPr id="15" name="Text 13"/>
          <p:cNvSpPr/>
          <p:nvPr/>
        </p:nvSpPr>
        <p:spPr>
          <a:xfrm>
            <a:off x="640080" y="5532120"/>
            <a:ext cx="4480560" cy="822960"/>
          </a:xfrm>
          <a:prstGeom prst="rect">
            <a:avLst/>
          </a:prstGeom>
          <a:noFill/>
          <a:ln/>
        </p:spPr>
        <p:txBody>
          <a:bodyPr wrap="square" lIns="0" tIns="0" rIns="0" bIns="0" rtlCol="0" anchor="ctr"/>
          <a:lstStyle/>
          <a:p>
            <a:pPr marL="0" indent="0">
              <a:buNone/>
            </a:pPr>
            <a:r>
              <a:rPr lang="en-US" sz="1300" i="1" dirty="0">
                <a:solidFill>
                  <a:srgbClr val="7A6F5E"/>
                </a:solidFill>
                <a:latin typeface="Calibri" pitchFamily="34" charset="0"/>
                <a:ea typeface="Calibri" pitchFamily="34" charset="-122"/>
                <a:cs typeface="Calibri" pitchFamily="34" charset="-120"/>
              </a:rPr>
              <a:t>Thousands of growers, heterogeneous vineyards, local weather no regional index captures.</a:t>
            </a:r>
            <a:endParaRPr lang="en-US" sz="1300" dirty="0"/>
          </a:p>
        </p:txBody>
      </p:sp>
      <p:sp>
        <p:nvSpPr>
          <p:cNvPr id="16" name="Text 14"/>
          <p:cNvSpPr/>
          <p:nvPr/>
        </p:nvSpPr>
        <p:spPr>
          <a:xfrm>
            <a:off x="6400800" y="1572768"/>
            <a:ext cx="5029200" cy="274320"/>
          </a:xfrm>
          <a:prstGeom prst="rect">
            <a:avLst/>
          </a:prstGeom>
          <a:noFill/>
          <a:ln/>
        </p:spPr>
        <p:txBody>
          <a:bodyPr wrap="square" lIns="0" tIns="0" rIns="0" bIns="0" rtlCol="0" anchor="ctr"/>
          <a:lstStyle/>
          <a:p>
            <a:pPr marL="0" indent="0">
              <a:buNone/>
            </a:pPr>
            <a:r>
              <a:rPr lang="en-US" sz="1200" b="1" dirty="0">
                <a:solidFill>
                  <a:srgbClr val="7A2E39"/>
                </a:solidFill>
                <a:latin typeface="Calibri" pitchFamily="34" charset="0"/>
                <a:ea typeface="Calibri" pitchFamily="34" charset="-122"/>
                <a:cs typeface="Calibri" pitchFamily="34" charset="-120"/>
              </a:rPr>
              <a:t>Douro (RDD) — gradual rise +80%</a:t>
            </a:r>
            <a:endParaRPr lang="en-US" sz="1200" dirty="0"/>
          </a:p>
        </p:txBody>
      </p:sp>
      <p:pic>
        <p:nvPicPr>
          <p:cNvPr id="17" name="Image 0" descr="/sessions/trusting-lucid-keller/mnt/Thesis/latex/figures/fig_context_ts_rdd.png"/>
          <p:cNvPicPr>
            <a:picLocks noChangeAspect="1"/>
          </p:cNvPicPr>
          <p:nvPr/>
        </p:nvPicPr>
        <p:blipFill>
          <a:blip r:embed="rId3"/>
          <a:stretch>
            <a:fillRect/>
          </a:stretch>
        </p:blipFill>
        <p:spPr>
          <a:xfrm>
            <a:off x="6400800" y="1847088"/>
            <a:ext cx="5029200" cy="2095500"/>
          </a:xfrm>
          <a:prstGeom prst="rect">
            <a:avLst/>
          </a:prstGeom>
        </p:spPr>
      </p:pic>
      <p:sp>
        <p:nvSpPr>
          <p:cNvPr id="18" name="Text 15"/>
          <p:cNvSpPr/>
          <p:nvPr/>
        </p:nvSpPr>
        <p:spPr>
          <a:xfrm>
            <a:off x="6400800" y="4061460"/>
            <a:ext cx="5029200" cy="274320"/>
          </a:xfrm>
          <a:prstGeom prst="rect">
            <a:avLst/>
          </a:prstGeom>
          <a:noFill/>
          <a:ln/>
        </p:spPr>
        <p:txBody>
          <a:bodyPr wrap="square" lIns="0" tIns="0" rIns="0" bIns="0" rtlCol="0" anchor="ctr"/>
          <a:lstStyle/>
          <a:p>
            <a:pPr marL="0" indent="0">
              <a:buNone/>
            </a:pPr>
            <a:r>
              <a:rPr lang="en-US" sz="1200" b="1" dirty="0">
                <a:solidFill>
                  <a:srgbClr val="5E7148"/>
                </a:solidFill>
                <a:latin typeface="Calibri" pitchFamily="34" charset="0"/>
                <a:ea typeface="Calibri" pitchFamily="34" charset="-122"/>
                <a:cs typeface="Calibri" pitchFamily="34" charset="-120"/>
              </a:rPr>
              <a:t>Vinho Verde (RVV) — structural fall −65%</a:t>
            </a:r>
            <a:endParaRPr lang="en-US" sz="1200" dirty="0"/>
          </a:p>
        </p:txBody>
      </p:sp>
      <p:pic>
        <p:nvPicPr>
          <p:cNvPr id="19" name="Image 1" descr="/sessions/trusting-lucid-keller/mnt/Thesis/latex/figures/fig_context_ts_rvv.png"/>
          <p:cNvPicPr>
            <a:picLocks noChangeAspect="1"/>
          </p:cNvPicPr>
          <p:nvPr/>
        </p:nvPicPr>
        <p:blipFill>
          <a:blip r:embed="rId4"/>
          <a:stretch>
            <a:fillRect/>
          </a:stretch>
        </p:blipFill>
        <p:spPr>
          <a:xfrm>
            <a:off x="6400800" y="4335780"/>
            <a:ext cx="5029200" cy="2095500"/>
          </a:xfrm>
          <a:prstGeom prst="rect">
            <a:avLst/>
          </a:prstGeom>
        </p:spPr>
      </p:pic>
      <p:sp>
        <p:nvSpPr>
          <p:cNvPr id="20" name="Text 16"/>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The inputs move too — the climate is non-stationary</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1  ·  </a:t>
            </a: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Text 7"/>
          <p:cNvSpPr/>
          <p:nvPr/>
        </p:nvSpPr>
        <p:spPr>
          <a:xfrm>
            <a:off x="548640" y="1572768"/>
            <a:ext cx="4572000" cy="868680"/>
          </a:xfrm>
          <a:prstGeom prst="rect">
            <a:avLst/>
          </a:prstGeom>
          <a:noFill/>
          <a:ln/>
        </p:spPr>
        <p:txBody>
          <a:bodyPr wrap="square" lIns="0" tIns="0" rIns="0" bIns="0" rtlCol="0" anchor="ctr"/>
          <a:lstStyle/>
          <a:p>
            <a:pPr marL="0" indent="0">
              <a:buNone/>
            </a:pPr>
            <a:r>
              <a:rPr lang="en-US" sz="1400" dirty="0">
                <a:solidFill>
                  <a:srgbClr val="2B2320"/>
                </a:solidFill>
                <a:latin typeface="Calibri" pitchFamily="34" charset="0"/>
                <a:ea typeface="Calibri" pitchFamily="34" charset="-122"/>
                <a:cs typeface="Calibri" pitchFamily="34" charset="-120"/>
              </a:rPr>
              <a:t>Over the same 90 years, the Douro's climate itself has shifted. It is not only production that trends — so do the predictors.</a:t>
            </a:r>
            <a:endParaRPr lang="en-US" sz="1400" dirty="0"/>
          </a:p>
        </p:txBody>
      </p:sp>
      <p:sp>
        <p:nvSpPr>
          <p:cNvPr id="10" name="Text 8"/>
          <p:cNvSpPr/>
          <p:nvPr/>
        </p:nvSpPr>
        <p:spPr>
          <a:xfrm>
            <a:off x="548640" y="2514600"/>
            <a:ext cx="4572000" cy="640080"/>
          </a:xfrm>
          <a:prstGeom prst="rect">
            <a:avLst/>
          </a:prstGeom>
          <a:noFill/>
          <a:ln/>
        </p:spPr>
        <p:txBody>
          <a:bodyPr wrap="square" lIns="0" tIns="0" rIns="0" bIns="0" rtlCol="0" anchor="ctr"/>
          <a:lstStyle/>
          <a:p>
            <a:pPr marL="0" indent="0" algn="l">
              <a:buNone/>
            </a:pPr>
            <a:r>
              <a:rPr lang="en-US" sz="3800" b="1" dirty="0">
                <a:solidFill>
                  <a:srgbClr val="7A2E39"/>
                </a:solidFill>
                <a:latin typeface="Cambria" pitchFamily="34" charset="0"/>
                <a:ea typeface="Cambria" pitchFamily="34" charset="-122"/>
                <a:cs typeface="Cambria" pitchFamily="34" charset="-120"/>
              </a:rPr>
              <a:t>+44%</a:t>
            </a:r>
            <a:endParaRPr lang="en-US" sz="3800" dirty="0"/>
          </a:p>
        </p:txBody>
      </p:sp>
      <p:sp>
        <p:nvSpPr>
          <p:cNvPr id="11" name="Text 9"/>
          <p:cNvSpPr/>
          <p:nvPr/>
        </p:nvSpPr>
        <p:spPr>
          <a:xfrm>
            <a:off x="548640" y="3172968"/>
            <a:ext cx="4572000" cy="457200"/>
          </a:xfrm>
          <a:prstGeom prst="rect">
            <a:avLst/>
          </a:prstGeom>
          <a:noFill/>
          <a:ln/>
        </p:spPr>
        <p:txBody>
          <a:bodyPr wrap="square" lIns="0" tIns="0" rIns="0" bIns="0" rtlCol="0" anchor="ctr"/>
          <a:lstStyle/>
          <a:p>
            <a:pPr marL="0" indent="0" algn="l">
              <a:buNone/>
            </a:pPr>
            <a:r>
              <a:rPr lang="en-US" sz="1250" dirty="0">
                <a:solidFill>
                  <a:srgbClr val="2B2320"/>
                </a:solidFill>
                <a:latin typeface="Calibri" pitchFamily="34" charset="0"/>
                <a:ea typeface="Calibri" pitchFamily="34" charset="-122"/>
                <a:cs typeface="Calibri" pitchFamily="34" charset="-120"/>
              </a:rPr>
              <a:t>Heat days &gt;35°C:  17.6 → 25.4 per year</a:t>
            </a:r>
            <a:endParaRPr lang="en-US" sz="1250" dirty="0"/>
          </a:p>
        </p:txBody>
      </p:sp>
      <p:sp>
        <p:nvSpPr>
          <p:cNvPr id="12" name="Text 10"/>
          <p:cNvSpPr/>
          <p:nvPr/>
        </p:nvSpPr>
        <p:spPr>
          <a:xfrm>
            <a:off x="548640" y="3639312"/>
            <a:ext cx="4572000" cy="640080"/>
          </a:xfrm>
          <a:prstGeom prst="rect">
            <a:avLst/>
          </a:prstGeom>
          <a:noFill/>
          <a:ln/>
        </p:spPr>
        <p:txBody>
          <a:bodyPr wrap="square" lIns="0" tIns="0" rIns="0" bIns="0" rtlCol="0" anchor="ctr"/>
          <a:lstStyle/>
          <a:p>
            <a:pPr marL="0" indent="0" algn="l">
              <a:buNone/>
            </a:pPr>
            <a:r>
              <a:rPr lang="en-US" sz="3800" b="1" dirty="0">
                <a:solidFill>
                  <a:srgbClr val="6D2E46"/>
                </a:solidFill>
                <a:latin typeface="Cambria" pitchFamily="34" charset="0"/>
                <a:ea typeface="Cambria" pitchFamily="34" charset="-122"/>
                <a:cs typeface="Cambria" pitchFamily="34" charset="-120"/>
              </a:rPr>
              <a:t>−56%</a:t>
            </a:r>
            <a:endParaRPr lang="en-US" sz="3800" dirty="0"/>
          </a:p>
        </p:txBody>
      </p:sp>
      <p:sp>
        <p:nvSpPr>
          <p:cNvPr id="13" name="Text 11"/>
          <p:cNvSpPr/>
          <p:nvPr/>
        </p:nvSpPr>
        <p:spPr>
          <a:xfrm>
            <a:off x="548640" y="4297680"/>
            <a:ext cx="4572000" cy="457200"/>
          </a:xfrm>
          <a:prstGeom prst="rect">
            <a:avLst/>
          </a:prstGeom>
          <a:noFill/>
          <a:ln/>
        </p:spPr>
        <p:txBody>
          <a:bodyPr wrap="square" lIns="0" tIns="0" rIns="0" bIns="0" rtlCol="0" anchor="ctr"/>
          <a:lstStyle/>
          <a:p>
            <a:pPr marL="0" indent="0" algn="l">
              <a:buNone/>
            </a:pPr>
            <a:r>
              <a:rPr lang="en-US" sz="1250" dirty="0">
                <a:solidFill>
                  <a:srgbClr val="2B2320"/>
                </a:solidFill>
                <a:latin typeface="Calibri" pitchFamily="34" charset="0"/>
                <a:ea typeface="Calibri" pitchFamily="34" charset="-122"/>
                <a:cs typeface="Calibri" pitchFamily="34" charset="-120"/>
              </a:rPr>
              <a:t>Frost days &lt;0°C:  18.8 → 8.3 per year</a:t>
            </a:r>
            <a:endParaRPr lang="en-US" sz="1250" dirty="0"/>
          </a:p>
        </p:txBody>
      </p:sp>
      <p:sp>
        <p:nvSpPr>
          <p:cNvPr id="14" name="Text 12"/>
          <p:cNvSpPr/>
          <p:nvPr/>
        </p:nvSpPr>
        <p:spPr>
          <a:xfrm>
            <a:off x="548640" y="4764024"/>
            <a:ext cx="4572000" cy="640080"/>
          </a:xfrm>
          <a:prstGeom prst="rect">
            <a:avLst/>
          </a:prstGeom>
          <a:noFill/>
          <a:ln/>
        </p:spPr>
        <p:txBody>
          <a:bodyPr wrap="square" lIns="0" tIns="0" rIns="0" bIns="0" rtlCol="0" anchor="ctr"/>
          <a:lstStyle/>
          <a:p>
            <a:pPr marL="0" indent="0" algn="l">
              <a:buNone/>
            </a:pPr>
            <a:r>
              <a:rPr lang="en-US" sz="3800" b="1" dirty="0">
                <a:solidFill>
                  <a:srgbClr val="7A6F5E"/>
                </a:solidFill>
                <a:latin typeface="Cambria" pitchFamily="34" charset="0"/>
                <a:ea typeface="Cambria" pitchFamily="34" charset="-122"/>
                <a:cs typeface="Cambria" pitchFamily="34" charset="-120"/>
              </a:rPr>
              <a:t>−7%</a:t>
            </a:r>
            <a:endParaRPr lang="en-US" sz="3800" dirty="0"/>
          </a:p>
        </p:txBody>
      </p:sp>
      <p:sp>
        <p:nvSpPr>
          <p:cNvPr id="15" name="Text 13"/>
          <p:cNvSpPr/>
          <p:nvPr/>
        </p:nvSpPr>
        <p:spPr>
          <a:xfrm>
            <a:off x="548640" y="5422392"/>
            <a:ext cx="4572000" cy="457200"/>
          </a:xfrm>
          <a:prstGeom prst="rect">
            <a:avLst/>
          </a:prstGeom>
          <a:noFill/>
          <a:ln/>
        </p:spPr>
        <p:txBody>
          <a:bodyPr wrap="square" lIns="0" tIns="0" rIns="0" bIns="0" rtlCol="0" anchor="ctr"/>
          <a:lstStyle/>
          <a:p>
            <a:pPr marL="0" indent="0" algn="l">
              <a:buNone/>
            </a:pPr>
            <a:r>
              <a:rPr lang="en-US" sz="1250" dirty="0">
                <a:solidFill>
                  <a:srgbClr val="2B2320"/>
                </a:solidFill>
                <a:latin typeface="Calibri" pitchFamily="34" charset="0"/>
                <a:ea typeface="Calibri" pitchFamily="34" charset="-122"/>
                <a:cs typeface="Calibri" pitchFamily="34" charset="-120"/>
              </a:rPr>
              <a:t>Annual rainfall:  859 → 798 mm</a:t>
            </a:r>
            <a:endParaRPr lang="en-US" sz="1250" dirty="0"/>
          </a:p>
        </p:txBody>
      </p:sp>
      <p:sp>
        <p:nvSpPr>
          <p:cNvPr id="16" name="Text 14"/>
          <p:cNvSpPr/>
          <p:nvPr/>
        </p:nvSpPr>
        <p:spPr>
          <a:xfrm>
            <a:off x="548640" y="5806440"/>
            <a:ext cx="4572000" cy="274320"/>
          </a:xfrm>
          <a:prstGeom prst="rect">
            <a:avLst/>
          </a:prstGeom>
          <a:noFill/>
          <a:ln/>
        </p:spPr>
        <p:txBody>
          <a:bodyPr wrap="square" lIns="0" tIns="0" rIns="0" bIns="0" rtlCol="0" anchor="ctr"/>
          <a:lstStyle/>
          <a:p>
            <a:pPr marL="0" indent="0">
              <a:buNone/>
            </a:pPr>
            <a:r>
              <a:rPr lang="en-US" sz="1050" i="1" dirty="0">
                <a:solidFill>
                  <a:srgbClr val="7A6F5E"/>
                </a:solidFill>
                <a:latin typeface="Calibri" pitchFamily="34" charset="0"/>
                <a:ea typeface="Calibri" pitchFamily="34" charset="-122"/>
                <a:cs typeface="Calibri" pitchFamily="34" charset="-120"/>
              </a:rPr>
              <a:t>early vs late 30-year means, RDD</a:t>
            </a:r>
            <a:endParaRPr lang="en-US" sz="1050" dirty="0"/>
          </a:p>
        </p:txBody>
      </p:sp>
      <p:pic>
        <p:nvPicPr>
          <p:cNvPr id="17" name="Image 0" descr="/sessions/trusting-lucid-keller/mnt/outputs/deck/assets/climate_rdd.png"/>
          <p:cNvPicPr>
            <a:picLocks noChangeAspect="1"/>
          </p:cNvPicPr>
          <p:nvPr/>
        </p:nvPicPr>
        <p:blipFill>
          <a:blip r:embed="rId3"/>
          <a:stretch>
            <a:fillRect/>
          </a:stretch>
        </p:blipFill>
        <p:spPr>
          <a:xfrm>
            <a:off x="5394960" y="1828800"/>
            <a:ext cx="6263640" cy="3534786"/>
          </a:xfrm>
          <a:prstGeom prst="rect">
            <a:avLst/>
          </a:prstGeom>
        </p:spPr>
      </p:pic>
      <p:sp>
        <p:nvSpPr>
          <p:cNvPr id="18" name="Shape 15"/>
          <p:cNvSpPr/>
          <p:nvPr/>
        </p:nvSpPr>
        <p:spPr>
          <a:xfrm>
            <a:off x="5394960" y="5473314"/>
            <a:ext cx="6263640" cy="713232"/>
          </a:xfrm>
          <a:prstGeom prst="roundRect">
            <a:avLst>
              <a:gd name="adj" fmla="val 1025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lang="en-US"/>
          </a:p>
        </p:txBody>
      </p:sp>
      <p:sp>
        <p:nvSpPr>
          <p:cNvPr id="19" name="Text 16"/>
          <p:cNvSpPr/>
          <p:nvPr/>
        </p:nvSpPr>
        <p:spPr>
          <a:xfrm>
            <a:off x="5577840" y="5546466"/>
            <a:ext cx="5897880" cy="566928"/>
          </a:xfrm>
          <a:prstGeom prst="rect">
            <a:avLst/>
          </a:prstGeom>
          <a:noFill/>
          <a:ln/>
        </p:spPr>
        <p:txBody>
          <a:bodyPr wrap="square" lIns="0" tIns="0" rIns="0" bIns="0" rtlCol="0" anchor="ctr"/>
          <a:lstStyle/>
          <a:p>
            <a:pPr marL="0" indent="0">
              <a:buNone/>
            </a:pPr>
            <a:r>
              <a:rPr lang="en-US" sz="1250" i="1" dirty="0">
                <a:solidFill>
                  <a:srgbClr val="2B2320"/>
                </a:solidFill>
                <a:latin typeface="Calibri" pitchFamily="34" charset="0"/>
                <a:ea typeface="Calibri" pitchFamily="34" charset="-122"/>
                <a:cs typeface="Calibri" pitchFamily="34" charset="-120"/>
              </a:rPr>
              <a:t>Both the target and its drivers drift together — exactly the co-trending trap the LOESS stress-test is built to catch.</a:t>
            </a:r>
            <a:endParaRPr lang="en-US" sz="1250" dirty="0"/>
          </a:p>
        </p:txBody>
      </p:sp>
      <p:sp>
        <p:nvSpPr>
          <p:cNvPr id="20" name="Text 17"/>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Two regions, opposite histories, one method</a:t>
            </a:r>
            <a:endParaRPr lang="en-US" sz="2900" dirty="0"/>
          </a:p>
        </p:txBody>
      </p:sp>
      <p:sp>
        <p:nvSpPr>
          <p:cNvPr id="3" name="Shape 1"/>
          <p:cNvSpPr/>
          <p:nvPr/>
        </p:nvSpPr>
        <p:spPr>
          <a:xfrm>
            <a:off x="10323576"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1  ·  </a:t>
            </a:r>
            <a:r>
              <a:rPr lang="en-US" sz="1100" b="1" dirty="0">
                <a:solidFill>
                  <a:srgbClr val="6D2E46"/>
                </a:solidFill>
                <a:latin typeface="Calibri" pitchFamily="34" charset="0"/>
                <a:ea typeface="Calibri" pitchFamily="34" charset="-122"/>
                <a:cs typeface="Calibri" pitchFamily="34" charset="-120"/>
              </a:rPr>
              <a:t>HARD</a:t>
            </a:r>
            <a:endParaRPr lang="en-US" sz="1100" dirty="0"/>
          </a:p>
        </p:txBody>
      </p:sp>
      <p:sp>
        <p:nvSpPr>
          <p:cNvPr id="9" name="Shape 7"/>
          <p:cNvSpPr/>
          <p:nvPr/>
        </p:nvSpPr>
        <p:spPr>
          <a:xfrm>
            <a:off x="640080" y="1828800"/>
            <a:ext cx="5074920" cy="3383280"/>
          </a:xfrm>
          <a:prstGeom prst="roundRect">
            <a:avLst>
              <a:gd name="adj" fmla="val 2162"/>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lang="en-US"/>
          </a:p>
        </p:txBody>
      </p:sp>
      <p:sp>
        <p:nvSpPr>
          <p:cNvPr id="10" name="Text 8"/>
          <p:cNvSpPr/>
          <p:nvPr/>
        </p:nvSpPr>
        <p:spPr>
          <a:xfrm>
            <a:off x="640080" y="2057400"/>
            <a:ext cx="5074920" cy="457200"/>
          </a:xfrm>
          <a:prstGeom prst="rect">
            <a:avLst/>
          </a:prstGeom>
          <a:noFill/>
          <a:ln/>
        </p:spPr>
        <p:txBody>
          <a:bodyPr wrap="square" lIns="0" tIns="0" rIns="0" bIns="0" rtlCol="0" anchor="ctr"/>
          <a:lstStyle/>
          <a:p>
            <a:pPr marL="0" indent="0" algn="ctr">
              <a:buNone/>
            </a:pPr>
            <a:r>
              <a:rPr lang="en-US" sz="2200" b="1" dirty="0">
                <a:solidFill>
                  <a:srgbClr val="7A2E39"/>
                </a:solidFill>
                <a:latin typeface="Cambria" pitchFamily="34" charset="0"/>
                <a:ea typeface="Cambria" pitchFamily="34" charset="-122"/>
                <a:cs typeface="Cambria" pitchFamily="34" charset="-120"/>
              </a:rPr>
              <a:t>DOURO · RDD</a:t>
            </a:r>
            <a:endParaRPr lang="en-US" sz="2200" dirty="0"/>
          </a:p>
        </p:txBody>
      </p:sp>
      <p:sp>
        <p:nvSpPr>
          <p:cNvPr id="11" name="Shape 9"/>
          <p:cNvSpPr/>
          <p:nvPr/>
        </p:nvSpPr>
        <p:spPr>
          <a:xfrm>
            <a:off x="6446520" y="1828800"/>
            <a:ext cx="5074920" cy="3383280"/>
          </a:xfrm>
          <a:prstGeom prst="roundRect">
            <a:avLst>
              <a:gd name="adj" fmla="val 2162"/>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lang="en-US"/>
          </a:p>
        </p:txBody>
      </p:sp>
      <p:sp>
        <p:nvSpPr>
          <p:cNvPr id="12" name="Text 10"/>
          <p:cNvSpPr/>
          <p:nvPr/>
        </p:nvSpPr>
        <p:spPr>
          <a:xfrm>
            <a:off x="6446520" y="2057400"/>
            <a:ext cx="5074920" cy="457200"/>
          </a:xfrm>
          <a:prstGeom prst="rect">
            <a:avLst/>
          </a:prstGeom>
          <a:noFill/>
          <a:ln/>
        </p:spPr>
        <p:txBody>
          <a:bodyPr wrap="square" lIns="0" tIns="0" rIns="0" bIns="0" rtlCol="0" anchor="ctr"/>
          <a:lstStyle/>
          <a:p>
            <a:pPr marL="0" indent="0" algn="ctr">
              <a:buNone/>
            </a:pPr>
            <a:r>
              <a:rPr lang="en-US" sz="2200" b="1" dirty="0">
                <a:solidFill>
                  <a:srgbClr val="5E7148"/>
                </a:solidFill>
                <a:latin typeface="Cambria" pitchFamily="34" charset="0"/>
                <a:ea typeface="Cambria" pitchFamily="34" charset="-122"/>
                <a:cs typeface="Cambria" pitchFamily="34" charset="-120"/>
              </a:rPr>
              <a:t>VINHO VERDE · RVV</a:t>
            </a:r>
            <a:endParaRPr lang="en-US" sz="2200" dirty="0"/>
          </a:p>
        </p:txBody>
      </p:sp>
      <p:sp>
        <p:nvSpPr>
          <p:cNvPr id="13" name="Text 11"/>
          <p:cNvSpPr/>
          <p:nvPr/>
        </p:nvSpPr>
        <p:spPr>
          <a:xfrm>
            <a:off x="640080" y="2679192"/>
            <a:ext cx="5074920" cy="256032"/>
          </a:xfrm>
          <a:prstGeom prst="rect">
            <a:avLst/>
          </a:prstGeom>
          <a:noFill/>
          <a:ln/>
        </p:spPr>
        <p:txBody>
          <a:bodyPr wrap="square" lIns="0" tIns="0" rIns="0" bIns="0" rtlCol="0" anchor="ctr"/>
          <a:lstStyle/>
          <a:p>
            <a:pPr marL="0" indent="0" algn="ctr">
              <a:buNone/>
            </a:pPr>
            <a:r>
              <a:rPr lang="en-US" sz="950" b="1" kern="0" spc="100" dirty="0">
                <a:solidFill>
                  <a:srgbClr val="7A6F5E"/>
                </a:solidFill>
                <a:latin typeface="Calibri" pitchFamily="34" charset="0"/>
                <a:ea typeface="Calibri" pitchFamily="34" charset="-122"/>
                <a:cs typeface="Calibri" pitchFamily="34" charset="-120"/>
              </a:rPr>
              <a:t>PERIOD</a:t>
            </a:r>
            <a:endParaRPr lang="en-US" sz="950" dirty="0"/>
          </a:p>
        </p:txBody>
      </p:sp>
      <p:sp>
        <p:nvSpPr>
          <p:cNvPr id="14" name="Text 12"/>
          <p:cNvSpPr/>
          <p:nvPr/>
        </p:nvSpPr>
        <p:spPr>
          <a:xfrm>
            <a:off x="822960" y="2916936"/>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1934–2022 · 89 years</a:t>
            </a:r>
            <a:endParaRPr lang="en-US" sz="1350" dirty="0"/>
          </a:p>
        </p:txBody>
      </p:sp>
      <p:sp>
        <p:nvSpPr>
          <p:cNvPr id="15" name="Text 13"/>
          <p:cNvSpPr/>
          <p:nvPr/>
        </p:nvSpPr>
        <p:spPr>
          <a:xfrm>
            <a:off x="6629400" y="2916936"/>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1942–2021 · 80 years</a:t>
            </a:r>
            <a:endParaRPr lang="en-US" sz="1350" dirty="0"/>
          </a:p>
        </p:txBody>
      </p:sp>
      <p:sp>
        <p:nvSpPr>
          <p:cNvPr id="16" name="Text 14"/>
          <p:cNvSpPr/>
          <p:nvPr/>
        </p:nvSpPr>
        <p:spPr>
          <a:xfrm>
            <a:off x="640080" y="3300984"/>
            <a:ext cx="5074920" cy="256032"/>
          </a:xfrm>
          <a:prstGeom prst="rect">
            <a:avLst/>
          </a:prstGeom>
          <a:noFill/>
          <a:ln/>
        </p:spPr>
        <p:txBody>
          <a:bodyPr wrap="square" lIns="0" tIns="0" rIns="0" bIns="0" rtlCol="0" anchor="ctr"/>
          <a:lstStyle/>
          <a:p>
            <a:pPr marL="0" indent="0" algn="ctr">
              <a:buNone/>
            </a:pPr>
            <a:r>
              <a:rPr lang="en-US" sz="950" b="1" kern="0" spc="100" dirty="0">
                <a:solidFill>
                  <a:srgbClr val="7A6F5E"/>
                </a:solidFill>
                <a:latin typeface="Calibri" pitchFamily="34" charset="0"/>
                <a:ea typeface="Calibri" pitchFamily="34" charset="-122"/>
                <a:cs typeface="Calibri" pitchFamily="34" charset="-120"/>
              </a:rPr>
              <a:t>PRODUCTION TREND</a:t>
            </a:r>
            <a:endParaRPr lang="en-US" sz="950" dirty="0"/>
          </a:p>
        </p:txBody>
      </p:sp>
      <p:sp>
        <p:nvSpPr>
          <p:cNvPr id="17" name="Text 15"/>
          <p:cNvSpPr/>
          <p:nvPr/>
        </p:nvSpPr>
        <p:spPr>
          <a:xfrm>
            <a:off x="822960" y="3538728"/>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+80% — gradual rise</a:t>
            </a:r>
            <a:endParaRPr lang="en-US" sz="1350" dirty="0"/>
          </a:p>
        </p:txBody>
      </p:sp>
      <p:sp>
        <p:nvSpPr>
          <p:cNvPr id="18" name="Text 16"/>
          <p:cNvSpPr/>
          <p:nvPr/>
        </p:nvSpPr>
        <p:spPr>
          <a:xfrm>
            <a:off x="6629400" y="3538728"/>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−65% — structural collapse</a:t>
            </a:r>
            <a:endParaRPr lang="en-US" sz="1350" dirty="0"/>
          </a:p>
        </p:txBody>
      </p:sp>
      <p:sp>
        <p:nvSpPr>
          <p:cNvPr id="19" name="Text 17"/>
          <p:cNvSpPr/>
          <p:nvPr/>
        </p:nvSpPr>
        <p:spPr>
          <a:xfrm>
            <a:off x="640080" y="3922776"/>
            <a:ext cx="5074920" cy="256032"/>
          </a:xfrm>
          <a:prstGeom prst="rect">
            <a:avLst/>
          </a:prstGeom>
          <a:noFill/>
          <a:ln/>
        </p:spPr>
        <p:txBody>
          <a:bodyPr wrap="square" lIns="0" tIns="0" rIns="0" bIns="0" rtlCol="0" anchor="ctr"/>
          <a:lstStyle/>
          <a:p>
            <a:pPr marL="0" indent="0" algn="ctr">
              <a:buNone/>
            </a:pPr>
            <a:r>
              <a:rPr lang="en-US" sz="950" b="1" kern="0" spc="100" dirty="0">
                <a:solidFill>
                  <a:srgbClr val="7A6F5E"/>
                </a:solidFill>
                <a:latin typeface="Calibri" pitchFamily="34" charset="0"/>
                <a:ea typeface="Calibri" pitchFamily="34" charset="-122"/>
                <a:cs typeface="Calibri" pitchFamily="34" charset="-120"/>
              </a:rPr>
              <a:t>STRUCTURAL DRIVER</a:t>
            </a:r>
            <a:endParaRPr lang="en-US" sz="950" dirty="0"/>
          </a:p>
        </p:txBody>
      </p:sp>
      <p:sp>
        <p:nvSpPr>
          <p:cNvPr id="20" name="Text 18"/>
          <p:cNvSpPr/>
          <p:nvPr/>
        </p:nvSpPr>
        <p:spPr>
          <a:xfrm>
            <a:off x="822960" y="4160520"/>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Port benefício quota (buffered)</a:t>
            </a:r>
            <a:endParaRPr lang="en-US" sz="1350" dirty="0"/>
          </a:p>
        </p:txBody>
      </p:sp>
      <p:sp>
        <p:nvSpPr>
          <p:cNvPr id="21" name="Text 19"/>
          <p:cNvSpPr/>
          <p:nvPr/>
        </p:nvSpPr>
        <p:spPr>
          <a:xfrm>
            <a:off x="6629400" y="4160520"/>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EU accession 1986 (grubbing-up, exodus)</a:t>
            </a:r>
            <a:endParaRPr lang="en-US" sz="1350" dirty="0"/>
          </a:p>
        </p:txBody>
      </p:sp>
      <p:sp>
        <p:nvSpPr>
          <p:cNvPr id="22" name="Text 20"/>
          <p:cNvSpPr/>
          <p:nvPr/>
        </p:nvSpPr>
        <p:spPr>
          <a:xfrm>
            <a:off x="640080" y="4544568"/>
            <a:ext cx="5074920" cy="256032"/>
          </a:xfrm>
          <a:prstGeom prst="rect">
            <a:avLst/>
          </a:prstGeom>
          <a:noFill/>
          <a:ln/>
        </p:spPr>
        <p:txBody>
          <a:bodyPr wrap="square" lIns="0" tIns="0" rIns="0" bIns="0" rtlCol="0" anchor="ctr"/>
          <a:lstStyle/>
          <a:p>
            <a:pPr marL="0" indent="0" algn="ctr">
              <a:buNone/>
            </a:pPr>
            <a:r>
              <a:rPr lang="en-US" sz="950" b="1" kern="0" spc="100" dirty="0">
                <a:solidFill>
                  <a:srgbClr val="7A6F5E"/>
                </a:solidFill>
                <a:latin typeface="Calibri" pitchFamily="34" charset="0"/>
                <a:ea typeface="Calibri" pitchFamily="34" charset="-122"/>
                <a:cs typeface="Calibri" pitchFamily="34" charset="-120"/>
              </a:rPr>
              <a:t>NON-STATIONARITY</a:t>
            </a:r>
            <a:endParaRPr lang="en-US" sz="950" dirty="0"/>
          </a:p>
        </p:txBody>
      </p:sp>
      <p:sp>
        <p:nvSpPr>
          <p:cNvPr id="23" name="Text 21"/>
          <p:cNvSpPr/>
          <p:nvPr/>
        </p:nvSpPr>
        <p:spPr>
          <a:xfrm>
            <a:off x="822960" y="4782312"/>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Moderate, smooth</a:t>
            </a:r>
            <a:endParaRPr lang="en-US" sz="1350" dirty="0"/>
          </a:p>
        </p:txBody>
      </p:sp>
      <p:sp>
        <p:nvSpPr>
          <p:cNvPr id="24" name="Text 22"/>
          <p:cNvSpPr/>
          <p:nvPr/>
        </p:nvSpPr>
        <p:spPr>
          <a:xfrm>
            <a:off x="6629400" y="4782312"/>
            <a:ext cx="4709160" cy="3657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Severe, non-linear break</a:t>
            </a:r>
            <a:endParaRPr lang="en-US" sz="1350" dirty="0"/>
          </a:p>
        </p:txBody>
      </p:sp>
      <p:sp>
        <p:nvSpPr>
          <p:cNvPr id="25" name="Text 23"/>
          <p:cNvSpPr/>
          <p:nvPr/>
        </p:nvSpPr>
        <p:spPr>
          <a:xfrm>
            <a:off x="640080" y="5532120"/>
            <a:ext cx="10881360" cy="548640"/>
          </a:xfrm>
          <a:prstGeom prst="rect">
            <a:avLst/>
          </a:prstGeom>
          <a:noFill/>
          <a:ln/>
        </p:spPr>
        <p:txBody>
          <a:bodyPr wrap="square" lIns="0" tIns="0" rIns="0" bIns="0" rtlCol="0" anchor="ctr"/>
          <a:lstStyle/>
          <a:p>
            <a:pPr marL="0" indent="0" algn="ctr">
              <a:buNone/>
            </a:pPr>
            <a:r>
              <a:rPr lang="en-US" sz="1600" b="1" i="1" dirty="0">
                <a:solidFill>
                  <a:srgbClr val="6D2E46"/>
                </a:solidFill>
                <a:latin typeface="Cambria" pitchFamily="34" charset="0"/>
                <a:ea typeface="Cambria" pitchFamily="34" charset="-122"/>
                <a:cs typeface="Cambria" pitchFamily="34" charset="-120"/>
              </a:rPr>
              <a:t>Same algorithm on both → a natural experiment that separates climate signal from structural artefact.</a:t>
            </a:r>
            <a:endParaRPr lang="en-US" sz="1600" dirty="0"/>
          </a:p>
        </p:txBody>
      </p:sp>
      <p:sp>
        <p:nvSpPr>
          <p:cNvPr id="26" name="Text 24"/>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One honest pipeline</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4" name="Shape 2"/>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2  ·  </a:t>
            </a:r>
            <a:r>
              <a:rPr lang="en-US" sz="1100" b="1" dirty="0">
                <a:solidFill>
                  <a:srgbClr val="6D2E46"/>
                </a:solidFill>
                <a:latin typeface="Calibri" pitchFamily="34" charset="0"/>
                <a:ea typeface="Calibri" pitchFamily="34" charset="-122"/>
                <a:cs typeface="Calibri" pitchFamily="34" charset="-120"/>
              </a:rPr>
              <a:t>AUDITABLE</a:t>
            </a:r>
            <a:endParaRPr lang="en-US" sz="1100" dirty="0"/>
          </a:p>
        </p:txBody>
      </p:sp>
      <p:sp>
        <p:nvSpPr>
          <p:cNvPr id="9" name="Shape 7"/>
          <p:cNvSpPr/>
          <p:nvPr/>
        </p:nvSpPr>
        <p:spPr>
          <a:xfrm>
            <a:off x="640080" y="1783080"/>
            <a:ext cx="548640" cy="548640"/>
          </a:xfrm>
          <a:prstGeom prst="ellipse">
            <a:avLst/>
          </a:prstGeom>
          <a:solidFill>
            <a:srgbClr val="6D2E46"/>
          </a:solidFill>
          <a:ln/>
        </p:spPr>
        <p:txBody>
          <a:bodyPr/>
          <a:lstStyle/>
          <a:p>
            <a:endParaRPr lang="en-US"/>
          </a:p>
        </p:txBody>
      </p:sp>
      <p:sp>
        <p:nvSpPr>
          <p:cNvPr id="10" name="Text 8"/>
          <p:cNvSpPr/>
          <p:nvPr/>
        </p:nvSpPr>
        <p:spPr>
          <a:xfrm>
            <a:off x="640080" y="178308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1" name="Text 9"/>
          <p:cNvSpPr/>
          <p:nvPr/>
        </p:nvSpPr>
        <p:spPr>
          <a:xfrm>
            <a:off x="1371600" y="1764792"/>
            <a:ext cx="5120640" cy="365760"/>
          </a:xfrm>
          <a:prstGeom prst="rect">
            <a:avLst/>
          </a:prstGeom>
          <a:noFill/>
          <a:ln/>
        </p:spPr>
        <p:txBody>
          <a:bodyPr wrap="square" lIns="0" tIns="0" rIns="0" bIns="0" rtlCol="0" anchor="ctr"/>
          <a:lstStyle/>
          <a:p>
            <a:pPr marL="0" indent="0">
              <a:buNone/>
            </a:pPr>
            <a:r>
              <a:rPr lang="en-US" sz="1700" b="1" dirty="0">
                <a:solidFill>
                  <a:srgbClr val="2B2320"/>
                </a:solidFill>
                <a:latin typeface="Cambria" pitchFamily="34" charset="0"/>
                <a:ea typeface="Cambria" pitchFamily="34" charset="-122"/>
                <a:cs typeface="Cambria" pitchFamily="34" charset="-120"/>
              </a:rPr>
              <a:t>Detrend in-fold</a:t>
            </a:r>
            <a:endParaRPr lang="en-US" sz="1700" dirty="0"/>
          </a:p>
        </p:txBody>
      </p:sp>
      <p:sp>
        <p:nvSpPr>
          <p:cNvPr id="12" name="Text 10"/>
          <p:cNvSpPr/>
          <p:nvPr/>
        </p:nvSpPr>
        <p:spPr>
          <a:xfrm>
            <a:off x="1371600" y="2130552"/>
            <a:ext cx="5120640" cy="548640"/>
          </a:xfrm>
          <a:prstGeom prst="rect">
            <a:avLst/>
          </a:prstGeom>
          <a:noFill/>
          <a:ln/>
        </p:spPr>
        <p:txBody>
          <a:bodyPr wrap="square" lIns="0" tIns="0" rIns="0" bIns="0" rtlCol="0" anchor="ctr"/>
          <a:lstStyle/>
          <a:p>
            <a:pPr marL="0" indent="0">
              <a:buNone/>
            </a:pPr>
            <a:r>
              <a:rPr lang="en-US" sz="1250" dirty="0">
                <a:solidFill>
                  <a:srgbClr val="7A6F5E"/>
                </a:solidFill>
                <a:latin typeface="Calibri" pitchFamily="34" charset="0"/>
                <a:ea typeface="Calibri" pitchFamily="34" charset="-122"/>
                <a:cs typeface="Calibri" pitchFamily="34" charset="-120"/>
              </a:rPr>
              <a:t>Remove structural trend separately inside every training fold — no leakage.</a:t>
            </a:r>
            <a:endParaRPr lang="en-US" sz="1250" dirty="0"/>
          </a:p>
        </p:txBody>
      </p:sp>
      <p:sp>
        <p:nvSpPr>
          <p:cNvPr id="13" name="Shape 11"/>
          <p:cNvSpPr/>
          <p:nvPr/>
        </p:nvSpPr>
        <p:spPr>
          <a:xfrm>
            <a:off x="640080" y="2834640"/>
            <a:ext cx="548640" cy="548640"/>
          </a:xfrm>
          <a:prstGeom prst="ellipse">
            <a:avLst/>
          </a:prstGeom>
          <a:solidFill>
            <a:srgbClr val="6D2E46"/>
          </a:solidFill>
          <a:ln/>
        </p:spPr>
        <p:txBody>
          <a:bodyPr/>
          <a:lstStyle/>
          <a:p>
            <a:endParaRPr lang="en-US"/>
          </a:p>
        </p:txBody>
      </p:sp>
      <p:sp>
        <p:nvSpPr>
          <p:cNvPr id="14" name="Text 12"/>
          <p:cNvSpPr/>
          <p:nvPr/>
        </p:nvSpPr>
        <p:spPr>
          <a:xfrm>
            <a:off x="640080" y="28346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1371600" y="2816352"/>
            <a:ext cx="5120640" cy="365760"/>
          </a:xfrm>
          <a:prstGeom prst="rect">
            <a:avLst/>
          </a:prstGeom>
          <a:noFill/>
          <a:ln/>
        </p:spPr>
        <p:txBody>
          <a:bodyPr wrap="square" lIns="0" tIns="0" rIns="0" bIns="0" rtlCol="0" anchor="ctr"/>
          <a:lstStyle/>
          <a:p>
            <a:pPr marL="0" indent="0">
              <a:buNone/>
            </a:pPr>
            <a:r>
              <a:rPr lang="en-US" sz="1700" b="1" dirty="0">
                <a:solidFill>
                  <a:srgbClr val="2B2320"/>
                </a:solidFill>
                <a:latin typeface="Cambria" pitchFamily="34" charset="0"/>
                <a:ea typeface="Cambria" pitchFamily="34" charset="-122"/>
                <a:cs typeface="Cambria" pitchFamily="34" charset="-120"/>
              </a:rPr>
              <a:t>Discover rules</a:t>
            </a:r>
            <a:endParaRPr lang="en-US" sz="1700" dirty="0"/>
          </a:p>
        </p:txBody>
      </p:sp>
      <p:sp>
        <p:nvSpPr>
          <p:cNvPr id="16" name="Text 14"/>
          <p:cNvSpPr/>
          <p:nvPr/>
        </p:nvSpPr>
        <p:spPr>
          <a:xfrm>
            <a:off x="1371600" y="3182112"/>
            <a:ext cx="5120640" cy="548640"/>
          </a:xfrm>
          <a:prstGeom prst="rect">
            <a:avLst/>
          </a:prstGeom>
          <a:noFill/>
          <a:ln/>
        </p:spPr>
        <p:txBody>
          <a:bodyPr wrap="square" lIns="0" tIns="0" rIns="0" bIns="0" rtlCol="0" anchor="ctr"/>
          <a:lstStyle/>
          <a:p>
            <a:pPr marL="0" indent="0">
              <a:buNone/>
            </a:pPr>
            <a:r>
              <a:rPr lang="en-US" sz="1250" dirty="0">
                <a:solidFill>
                  <a:srgbClr val="7A6F5E"/>
                </a:solidFill>
                <a:latin typeface="Calibri" pitchFamily="34" charset="0"/>
                <a:ea typeface="Calibri" pitchFamily="34" charset="-122"/>
                <a:cs typeface="Calibri" pitchFamily="34" charset="-120"/>
              </a:rPr>
              <a:t>CarenR runs on the residuals; rules kept only if p ≤ 0.10 and support ≥ 20%.</a:t>
            </a:r>
            <a:endParaRPr lang="en-US" sz="1250" dirty="0"/>
          </a:p>
        </p:txBody>
      </p:sp>
      <p:sp>
        <p:nvSpPr>
          <p:cNvPr id="17" name="Shape 15"/>
          <p:cNvSpPr/>
          <p:nvPr/>
        </p:nvSpPr>
        <p:spPr>
          <a:xfrm>
            <a:off x="640080" y="3886200"/>
            <a:ext cx="548640" cy="548640"/>
          </a:xfrm>
          <a:prstGeom prst="ellipse">
            <a:avLst/>
          </a:prstGeom>
          <a:solidFill>
            <a:srgbClr val="6D2E46"/>
          </a:solidFill>
          <a:ln/>
        </p:spPr>
        <p:txBody>
          <a:bodyPr/>
          <a:lstStyle/>
          <a:p>
            <a:endParaRPr lang="en-US"/>
          </a:p>
        </p:txBody>
      </p:sp>
      <p:sp>
        <p:nvSpPr>
          <p:cNvPr id="18" name="Text 16"/>
          <p:cNvSpPr/>
          <p:nvPr/>
        </p:nvSpPr>
        <p:spPr>
          <a:xfrm>
            <a:off x="640080" y="388620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1371600" y="3867912"/>
            <a:ext cx="5120640" cy="365760"/>
          </a:xfrm>
          <a:prstGeom prst="rect">
            <a:avLst/>
          </a:prstGeom>
          <a:noFill/>
          <a:ln/>
        </p:spPr>
        <p:txBody>
          <a:bodyPr wrap="square" lIns="0" tIns="0" rIns="0" bIns="0" rtlCol="0" anchor="ctr"/>
          <a:lstStyle/>
          <a:p>
            <a:pPr marL="0" indent="0">
              <a:buNone/>
            </a:pPr>
            <a:r>
              <a:rPr lang="en-US" sz="1700" b="1" dirty="0">
                <a:solidFill>
                  <a:srgbClr val="2B2320"/>
                </a:solidFill>
                <a:latin typeface="Cambria" pitchFamily="34" charset="0"/>
                <a:ea typeface="Cambria" pitchFamily="34" charset="-122"/>
                <a:cs typeface="Cambria" pitchFamily="34" charset="-120"/>
              </a:rPr>
              <a:t>Walk-forward test</a:t>
            </a:r>
            <a:endParaRPr lang="en-US" sz="1700" dirty="0"/>
          </a:p>
        </p:txBody>
      </p:sp>
      <p:sp>
        <p:nvSpPr>
          <p:cNvPr id="20" name="Text 18"/>
          <p:cNvSpPr/>
          <p:nvPr/>
        </p:nvSpPr>
        <p:spPr>
          <a:xfrm>
            <a:off x="1371600" y="4233672"/>
            <a:ext cx="5120640" cy="548640"/>
          </a:xfrm>
          <a:prstGeom prst="rect">
            <a:avLst/>
          </a:prstGeom>
          <a:noFill/>
          <a:ln/>
        </p:spPr>
        <p:txBody>
          <a:bodyPr wrap="square" lIns="0" tIns="0" rIns="0" bIns="0" rtlCol="0" anchor="ctr"/>
          <a:lstStyle/>
          <a:p>
            <a:pPr marL="0" indent="0">
              <a:buNone/>
            </a:pPr>
            <a:r>
              <a:rPr lang="en-US" sz="1250" dirty="0">
                <a:solidFill>
                  <a:srgbClr val="7A6F5E"/>
                </a:solidFill>
                <a:latin typeface="Calibri" pitchFamily="34" charset="0"/>
                <a:ea typeface="Calibri" pitchFamily="34" charset="-122"/>
                <a:cs typeface="Calibri" pitchFamily="34" charset="-120"/>
              </a:rPr>
              <a:t>Expanding window: 18 scenarios (RDD) / 16 (RVV), weighted MAE on real scale.</a:t>
            </a:r>
            <a:endParaRPr lang="en-US" sz="1250" dirty="0"/>
          </a:p>
        </p:txBody>
      </p:sp>
      <p:sp>
        <p:nvSpPr>
          <p:cNvPr id="21" name="Shape 19"/>
          <p:cNvSpPr/>
          <p:nvPr/>
        </p:nvSpPr>
        <p:spPr>
          <a:xfrm>
            <a:off x="640080" y="5029200"/>
            <a:ext cx="5852160" cy="1234440"/>
          </a:xfrm>
          <a:prstGeom prst="roundRect">
            <a:avLst>
              <a:gd name="adj" fmla="val 5926"/>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lang="en-US"/>
          </a:p>
        </p:txBody>
      </p:sp>
      <p:sp>
        <p:nvSpPr>
          <p:cNvPr id="22" name="Text 20"/>
          <p:cNvSpPr/>
          <p:nvPr/>
        </p:nvSpPr>
        <p:spPr>
          <a:xfrm>
            <a:off x="868680" y="5166360"/>
            <a:ext cx="5486400" cy="320040"/>
          </a:xfrm>
          <a:prstGeom prst="rect">
            <a:avLst/>
          </a:prstGeom>
          <a:noFill/>
          <a:ln/>
        </p:spPr>
        <p:txBody>
          <a:bodyPr wrap="square" lIns="0" tIns="0" rIns="0" bIns="0" rtlCol="0" anchor="ctr"/>
          <a:lstStyle/>
          <a:p>
            <a:pPr marL="0" indent="0">
              <a:buNone/>
            </a:pPr>
            <a:r>
              <a:rPr lang="en-US" sz="1200" b="1" dirty="0">
                <a:solidFill>
                  <a:srgbClr val="C89B3C"/>
                </a:solidFill>
                <a:latin typeface="Calibri" pitchFamily="34" charset="0"/>
                <a:ea typeface="Calibri" pitchFamily="34" charset="-122"/>
                <a:cs typeface="Calibri" pitchFamily="34" charset="-120"/>
              </a:rPr>
              <a:t>Remember one idea →</a:t>
            </a:r>
            <a:endParaRPr lang="en-US" sz="1200" dirty="0"/>
          </a:p>
        </p:txBody>
      </p:sp>
      <p:sp>
        <p:nvSpPr>
          <p:cNvPr id="23" name="Text 21"/>
          <p:cNvSpPr/>
          <p:nvPr/>
        </p:nvSpPr>
        <p:spPr>
          <a:xfrm>
            <a:off x="868680" y="5486400"/>
            <a:ext cx="5486400" cy="640080"/>
          </a:xfrm>
          <a:prstGeom prst="rect">
            <a:avLst/>
          </a:prstGeom>
          <a:noFill/>
          <a:ln/>
        </p:spPr>
        <p:txBody>
          <a:bodyPr wrap="square" lIns="0" tIns="0" rIns="0" bIns="0" rtlCol="0" anchor="ctr"/>
          <a:lstStyle/>
          <a:p>
            <a:pPr marL="0" indent="0">
              <a:buNone/>
            </a:pPr>
            <a:r>
              <a:rPr lang="en-US" sz="1650" b="1" dirty="0">
                <a:solidFill>
                  <a:srgbClr val="2B2320"/>
                </a:solidFill>
                <a:latin typeface="Cambria" pitchFamily="34" charset="0"/>
                <a:ea typeface="Cambria" pitchFamily="34" charset="-122"/>
                <a:cs typeface="Cambria" pitchFamily="34" charset="-120"/>
              </a:rPr>
              <a:t>Error = </a:t>
            </a:r>
            <a:r>
              <a:rPr lang="en-US" sz="1650" b="1" dirty="0">
                <a:solidFill>
                  <a:srgbClr val="7A2E39"/>
                </a:solidFill>
                <a:latin typeface="Cambria" pitchFamily="34" charset="0"/>
                <a:ea typeface="Cambria" pitchFamily="34" charset="-122"/>
                <a:cs typeface="Cambria" pitchFamily="34" charset="-120"/>
              </a:rPr>
              <a:t>Trend (Decision 1)</a:t>
            </a:r>
            <a:r>
              <a:rPr lang="en-US" sz="1650" b="1" dirty="0">
                <a:solidFill>
                  <a:srgbClr val="2B2320"/>
                </a:solidFill>
                <a:latin typeface="Cambria" pitchFamily="34" charset="0"/>
                <a:ea typeface="Cambria" pitchFamily="34" charset="-122"/>
                <a:cs typeface="Cambria" pitchFamily="34" charset="-120"/>
              </a:rPr>
              <a:t>  +  </a:t>
            </a:r>
            <a:r>
              <a:rPr lang="en-US" sz="1650" b="1" dirty="0">
                <a:solidFill>
                  <a:srgbClr val="5E7148"/>
                </a:solidFill>
                <a:latin typeface="Cambria" pitchFamily="34" charset="0"/>
                <a:ea typeface="Cambria" pitchFamily="34" charset="-122"/>
                <a:cs typeface="Cambria" pitchFamily="34" charset="-120"/>
              </a:rPr>
              <a:t>Climate signal (Decision 2)</a:t>
            </a:r>
            <a:endParaRPr lang="en-US" sz="1650" dirty="0"/>
          </a:p>
        </p:txBody>
      </p:sp>
      <p:pic>
        <p:nvPicPr>
          <p:cNvPr id="24" name="Image 0" descr="/sessions/trusting-lucid-keller/mnt/Thesis/latex/figures/fig_ch3_walkforward.png"/>
          <p:cNvPicPr>
            <a:picLocks noChangeAspect="1"/>
          </p:cNvPicPr>
          <p:nvPr/>
        </p:nvPicPr>
        <p:blipFill>
          <a:blip r:embed="rId3"/>
          <a:stretch>
            <a:fillRect/>
          </a:stretch>
        </p:blipFill>
        <p:spPr>
          <a:xfrm>
            <a:off x="8138160" y="1600200"/>
            <a:ext cx="3246120" cy="4288137"/>
          </a:xfrm>
          <a:prstGeom prst="rect">
            <a:avLst/>
          </a:prstGeom>
        </p:spPr>
      </p:pic>
      <p:sp>
        <p:nvSpPr>
          <p:cNvPr id="25" name="Text 22"/>
          <p:cNvSpPr/>
          <p:nvPr/>
        </p:nvSpPr>
        <p:spPr>
          <a:xfrm>
            <a:off x="7863840" y="5906625"/>
            <a:ext cx="3794760" cy="274320"/>
          </a:xfrm>
          <a:prstGeom prst="rect">
            <a:avLst/>
          </a:prstGeom>
          <a:noFill/>
          <a:ln/>
        </p:spPr>
        <p:txBody>
          <a:bodyPr wrap="square" lIns="0" tIns="0" rIns="0" bIns="0" rtlCol="0" anchor="ctr"/>
          <a:lstStyle/>
          <a:p>
            <a:pPr marL="0" indent="0" algn="ctr">
              <a:buNone/>
            </a:pPr>
            <a:r>
              <a:rPr lang="en-US" sz="1100" i="1" dirty="0">
                <a:solidFill>
                  <a:srgbClr val="7A6F5E"/>
                </a:solidFill>
                <a:latin typeface="Calibri" pitchFamily="34" charset="0"/>
                <a:ea typeface="Calibri" pitchFamily="34" charset="-122"/>
                <a:cs typeface="Calibri" pitchFamily="34" charset="-120"/>
              </a:rPr>
              <a:t>Walk-forward validation</a:t>
            </a:r>
            <a:endParaRPr lang="en-US" sz="1100" dirty="0"/>
          </a:p>
        </p:txBody>
      </p:sp>
      <p:sp>
        <p:nvSpPr>
          <p:cNvPr id="26" name="Text 23"/>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white-background">
            <a:extLst>
              <a:ext uri="{FF2B5EF4-FFF2-40B4-BE49-F238E27FC236}">
                <a16:creationId xmlns:a16="http://schemas.microsoft.com/office/drawing/2014/main" id="{B87B81F9-9FD8-4931-830E-C08D25772F91}"/>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lang="en-US"/>
          </a:p>
        </p:txBody>
      </p:sp>
      <p:sp>
        <p:nvSpPr>
          <p:cNvPr id="2" name="section-label">
            <a:extLst>
              <a:ext uri="{FF2B5EF4-FFF2-40B4-BE49-F238E27FC236}">
                <a16:creationId xmlns:a16="http://schemas.microsoft.com/office/drawing/2014/main" id="{09B41DE6-F4EA-4F7A-A672-1BC4E05A2330}"/>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REGIONAL CONTRAST</a:t>
            </a:r>
          </a:p>
        </p:txBody>
      </p:sp>
      <p:sp>
        <p:nvSpPr>
          <p:cNvPr id="3" name="title">
            <a:extLst>
              <a:ext uri="{FF2B5EF4-FFF2-40B4-BE49-F238E27FC236}">
                <a16:creationId xmlns:a16="http://schemas.microsoft.com/office/drawing/2014/main" id="{9456B7F1-A897-4D99-A4B1-24728639BEE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two regions diverge because structure contaminates the signal</a:t>
            </a:r>
          </a:p>
        </p:txBody>
      </p:sp>
      <p:sp>
        <p:nvSpPr>
          <p:cNvPr id="4" name="head">
            <a:extLst>
              <a:ext uri="{FF2B5EF4-FFF2-40B4-BE49-F238E27FC236}">
                <a16:creationId xmlns:a16="http://schemas.microsoft.com/office/drawing/2014/main" id="{D7626CBA-B59C-4198-BEFD-CD2995C13E9C}"/>
              </a:ext>
            </a:extLst>
          </p:cNvPr>
          <p:cNvSpPr>
            <a:spLocks noGrp="1"/>
          </p:cNvSpPr>
          <p:nvPr/>
        </p:nvSpPr>
        <p:spPr>
          <a:xfrm>
            <a:off x="400050" y="1428750"/>
            <a:ext cx="11382375" cy="495300"/>
          </a:xfrm>
          <a:prstGeom prst="rect">
            <a:avLst/>
          </a:prstGeom>
          <a:solidFill>
            <a:srgbClr val="7B1E3A"/>
          </a:solidFill>
          <a:ln w="0">
            <a:noFill/>
            <a:prstDash val="solid"/>
          </a:ln>
        </p:spPr>
        <p:txBody>
          <a:bodyPr/>
          <a:lstStyle/>
          <a:p>
            <a:endParaRPr lang="en-US"/>
          </a:p>
        </p:txBody>
      </p:sp>
      <p:sp>
        <p:nvSpPr>
          <p:cNvPr id="5" name="h-0">
            <a:extLst>
              <a:ext uri="{FF2B5EF4-FFF2-40B4-BE49-F238E27FC236}">
                <a16:creationId xmlns:a16="http://schemas.microsoft.com/office/drawing/2014/main" id="{7A839C4E-9C4D-4214-B1F0-7F1F10E5737F}"/>
              </a:ext>
            </a:extLst>
          </p:cNvPr>
          <p:cNvSpPr>
            <a:spLocks noGrp="1"/>
          </p:cNvSpPr>
          <p:nvPr/>
        </p:nvSpPr>
        <p:spPr>
          <a:xfrm>
            <a:off x="514350" y="1600200"/>
            <a:ext cx="2476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Dimension</a:t>
            </a:r>
          </a:p>
        </p:txBody>
      </p:sp>
      <p:sp>
        <p:nvSpPr>
          <p:cNvPr id="6" name="h-1">
            <a:extLst>
              <a:ext uri="{FF2B5EF4-FFF2-40B4-BE49-F238E27FC236}">
                <a16:creationId xmlns:a16="http://schemas.microsoft.com/office/drawing/2014/main" id="{00E77390-AA9C-4035-90D0-559493FCD80A}"/>
              </a:ext>
            </a:extLst>
          </p:cNvPr>
          <p:cNvSpPr>
            <a:spLocks noGrp="1"/>
          </p:cNvSpPr>
          <p:nvPr/>
        </p:nvSpPr>
        <p:spPr>
          <a:xfrm>
            <a:off x="3257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7" name="h-2">
            <a:extLst>
              <a:ext uri="{FF2B5EF4-FFF2-40B4-BE49-F238E27FC236}">
                <a16:creationId xmlns:a16="http://schemas.microsoft.com/office/drawing/2014/main" id="{AEC030CB-041E-48C0-8AE8-96DF201E8E75}"/>
              </a:ext>
            </a:extLst>
          </p:cNvPr>
          <p:cNvSpPr>
            <a:spLocks noGrp="1"/>
          </p:cNvSpPr>
          <p:nvPr/>
        </p:nvSpPr>
        <p:spPr>
          <a:xfrm>
            <a:off x="5924550" y="1600200"/>
            <a:ext cx="2381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8" name="h-3">
            <a:extLst>
              <a:ext uri="{FF2B5EF4-FFF2-40B4-BE49-F238E27FC236}">
                <a16:creationId xmlns:a16="http://schemas.microsoft.com/office/drawing/2014/main" id="{36FCC4BC-9FDF-460D-940C-EF0B9A9850A9}"/>
              </a:ext>
            </a:extLst>
          </p:cNvPr>
          <p:cNvSpPr>
            <a:spLocks noGrp="1"/>
          </p:cNvSpPr>
          <p:nvPr/>
        </p:nvSpPr>
        <p:spPr>
          <a:xfrm>
            <a:off x="8591550" y="1600200"/>
            <a:ext cx="314325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Implication</a:t>
            </a:r>
          </a:p>
        </p:txBody>
      </p:sp>
      <p:sp>
        <p:nvSpPr>
          <p:cNvPr id="9" name="r-bg-0">
            <a:extLst>
              <a:ext uri="{FF2B5EF4-FFF2-40B4-BE49-F238E27FC236}">
                <a16:creationId xmlns:a16="http://schemas.microsoft.com/office/drawing/2014/main" id="{231E375B-4068-4D0C-8A8F-0A9E9A1AD936}"/>
              </a:ext>
            </a:extLst>
          </p:cNvPr>
          <p:cNvSpPr>
            <a:spLocks noGrp="1"/>
          </p:cNvSpPr>
          <p:nvPr/>
        </p:nvSpPr>
        <p:spPr>
          <a:xfrm>
            <a:off x="400050" y="2019300"/>
            <a:ext cx="11382375" cy="685800"/>
          </a:xfrm>
          <a:prstGeom prst="rect">
            <a:avLst/>
          </a:prstGeom>
          <a:solidFill>
            <a:srgbClr val="FFFFFF"/>
          </a:solidFill>
          <a:ln w="0">
            <a:noFill/>
            <a:prstDash val="solid"/>
          </a:ln>
        </p:spPr>
        <p:txBody>
          <a:bodyPr/>
          <a:lstStyle/>
          <a:p>
            <a:endParaRPr lang="en-US"/>
          </a:p>
        </p:txBody>
      </p:sp>
      <p:sp>
        <p:nvSpPr>
          <p:cNvPr id="10" name="r-0-0">
            <a:extLst>
              <a:ext uri="{FF2B5EF4-FFF2-40B4-BE49-F238E27FC236}">
                <a16:creationId xmlns:a16="http://schemas.microsoft.com/office/drawing/2014/main" id="{F140FD44-7550-44BB-A100-631B9C1A7995}"/>
              </a:ext>
            </a:extLst>
          </p:cNvPr>
          <p:cNvSpPr>
            <a:spLocks noGrp="1"/>
          </p:cNvSpPr>
          <p:nvPr/>
        </p:nvSpPr>
        <p:spPr>
          <a:xfrm>
            <a:off x="514350" y="21907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Production trend</a:t>
            </a:r>
          </a:p>
        </p:txBody>
      </p:sp>
      <p:sp>
        <p:nvSpPr>
          <p:cNvPr id="11" name="r-0-1">
            <a:extLst>
              <a:ext uri="{FF2B5EF4-FFF2-40B4-BE49-F238E27FC236}">
                <a16:creationId xmlns:a16="http://schemas.microsoft.com/office/drawing/2014/main" id="{69947E62-609A-4C56-AB12-57136D84ADAB}"/>
              </a:ext>
            </a:extLst>
          </p:cNvPr>
          <p:cNvSpPr>
            <a:spLocks noGrp="1"/>
          </p:cNvSpPr>
          <p:nvPr/>
        </p:nvSpPr>
        <p:spPr>
          <a:xfrm>
            <a:off x="3257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+80% gradual rise</a:t>
            </a:r>
          </a:p>
        </p:txBody>
      </p:sp>
      <p:sp>
        <p:nvSpPr>
          <p:cNvPr id="12" name="r-0-2">
            <a:extLst>
              <a:ext uri="{FF2B5EF4-FFF2-40B4-BE49-F238E27FC236}">
                <a16:creationId xmlns:a16="http://schemas.microsoft.com/office/drawing/2014/main" id="{F968D94E-CE6F-41E4-A4FE-80F9A7F95F3F}"/>
              </a:ext>
            </a:extLst>
          </p:cNvPr>
          <p:cNvSpPr>
            <a:spLocks noGrp="1"/>
          </p:cNvSpPr>
          <p:nvPr/>
        </p:nvSpPr>
        <p:spPr>
          <a:xfrm>
            <a:off x="5924550" y="219075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-65% structural decline</a:t>
            </a:r>
          </a:p>
        </p:txBody>
      </p:sp>
      <p:sp>
        <p:nvSpPr>
          <p:cNvPr id="13" name="r-0-3">
            <a:extLst>
              <a:ext uri="{FF2B5EF4-FFF2-40B4-BE49-F238E27FC236}">
                <a16:creationId xmlns:a16="http://schemas.microsoft.com/office/drawing/2014/main" id="{92C753DD-7DDF-459D-8CE1-F818369A1C92}"/>
              </a:ext>
            </a:extLst>
          </p:cNvPr>
          <p:cNvSpPr>
            <a:spLocks noGrp="1"/>
          </p:cNvSpPr>
          <p:nvPr/>
        </p:nvSpPr>
        <p:spPr>
          <a:xfrm>
            <a:off x="8591550" y="21907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RVV era confound is stronger</a:t>
            </a:r>
          </a:p>
        </p:txBody>
      </p:sp>
      <p:sp>
        <p:nvSpPr>
          <p:cNvPr id="14" name="r-bg-1">
            <a:extLst>
              <a:ext uri="{FF2B5EF4-FFF2-40B4-BE49-F238E27FC236}">
                <a16:creationId xmlns:a16="http://schemas.microsoft.com/office/drawing/2014/main" id="{AD90B26E-51DD-405B-9E82-885E2BF55853}"/>
              </a:ext>
            </a:extLst>
          </p:cNvPr>
          <p:cNvSpPr>
            <a:spLocks noGrp="1"/>
          </p:cNvSpPr>
          <p:nvPr/>
        </p:nvSpPr>
        <p:spPr>
          <a:xfrm>
            <a:off x="400050" y="2800350"/>
            <a:ext cx="11382375" cy="685800"/>
          </a:xfrm>
          <a:prstGeom prst="rect">
            <a:avLst/>
          </a:prstGeom>
          <a:solidFill>
            <a:srgbClr val="F8F0DC"/>
          </a:solidFill>
          <a:ln w="0">
            <a:noFill/>
            <a:prstDash val="solid"/>
          </a:ln>
        </p:spPr>
        <p:txBody>
          <a:bodyPr/>
          <a:lstStyle/>
          <a:p>
            <a:endParaRPr lang="en-US"/>
          </a:p>
        </p:txBody>
      </p:sp>
      <p:sp>
        <p:nvSpPr>
          <p:cNvPr id="15" name="r-1-0">
            <a:extLst>
              <a:ext uri="{FF2B5EF4-FFF2-40B4-BE49-F238E27FC236}">
                <a16:creationId xmlns:a16="http://schemas.microsoft.com/office/drawing/2014/main" id="{B79D96E7-EAE8-4C61-B574-4D6B7BEFF2CD}"/>
              </a:ext>
            </a:extLst>
          </p:cNvPr>
          <p:cNvSpPr>
            <a:spLocks noGrp="1"/>
          </p:cNvSpPr>
          <p:nvPr/>
        </p:nvSpPr>
        <p:spPr>
          <a:xfrm>
            <a:off x="514350" y="29718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Climate signal after LOESS</a:t>
            </a:r>
          </a:p>
        </p:txBody>
      </p:sp>
      <p:sp>
        <p:nvSpPr>
          <p:cNvPr id="16" name="r-1-1">
            <a:extLst>
              <a:ext uri="{FF2B5EF4-FFF2-40B4-BE49-F238E27FC236}">
                <a16:creationId xmlns:a16="http://schemas.microsoft.com/office/drawing/2014/main" id="{2070CE7B-A0B8-4638-B5AB-5F5A33F980BE}"/>
              </a:ext>
            </a:extLst>
          </p:cNvPr>
          <p:cNvSpPr>
            <a:spLocks noGrp="1"/>
          </p:cNvSpPr>
          <p:nvPr/>
        </p:nvSpPr>
        <p:spPr>
          <a:xfrm>
            <a:off x="3257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Retained in top RDD features</a:t>
            </a:r>
          </a:p>
        </p:txBody>
      </p:sp>
      <p:sp>
        <p:nvSpPr>
          <p:cNvPr id="17" name="r-1-2">
            <a:extLst>
              <a:ext uri="{FF2B5EF4-FFF2-40B4-BE49-F238E27FC236}">
                <a16:creationId xmlns:a16="http://schemas.microsoft.com/office/drawing/2014/main" id="{A0151F20-0BC1-4E87-B266-9F314DFF8407}"/>
              </a:ext>
            </a:extLst>
          </p:cNvPr>
          <p:cNvSpPr>
            <a:spLocks noGrp="1"/>
          </p:cNvSpPr>
          <p:nvPr/>
        </p:nvSpPr>
        <p:spPr>
          <a:xfrm>
            <a:off x="5924550" y="29718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LAI and soil-water collapse</a:t>
            </a:r>
          </a:p>
        </p:txBody>
      </p:sp>
      <p:sp>
        <p:nvSpPr>
          <p:cNvPr id="18" name="r-1-3">
            <a:extLst>
              <a:ext uri="{FF2B5EF4-FFF2-40B4-BE49-F238E27FC236}">
                <a16:creationId xmlns:a16="http://schemas.microsoft.com/office/drawing/2014/main" id="{4361DE3A-FD66-4F40-BB59-75F92A75D394}"/>
              </a:ext>
            </a:extLst>
          </p:cNvPr>
          <p:cNvSpPr>
            <a:spLocks noGrp="1"/>
          </p:cNvSpPr>
          <p:nvPr/>
        </p:nvSpPr>
        <p:spPr>
          <a:xfrm>
            <a:off x="8591550" y="29718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Some RVV rules are era-linked</a:t>
            </a:r>
          </a:p>
        </p:txBody>
      </p:sp>
      <p:sp>
        <p:nvSpPr>
          <p:cNvPr id="19" name="r-bg-2">
            <a:extLst>
              <a:ext uri="{FF2B5EF4-FFF2-40B4-BE49-F238E27FC236}">
                <a16:creationId xmlns:a16="http://schemas.microsoft.com/office/drawing/2014/main" id="{B9EEFB78-A0BF-4DFC-9935-F13B62DAA08D}"/>
              </a:ext>
            </a:extLst>
          </p:cNvPr>
          <p:cNvSpPr>
            <a:spLocks noGrp="1"/>
          </p:cNvSpPr>
          <p:nvPr/>
        </p:nvSpPr>
        <p:spPr>
          <a:xfrm>
            <a:off x="400050" y="3581400"/>
            <a:ext cx="11382375" cy="685800"/>
          </a:xfrm>
          <a:prstGeom prst="rect">
            <a:avLst/>
          </a:prstGeom>
          <a:solidFill>
            <a:srgbClr val="FFFFFF"/>
          </a:solidFill>
          <a:ln w="0">
            <a:noFill/>
            <a:prstDash val="solid"/>
          </a:ln>
        </p:spPr>
        <p:txBody>
          <a:bodyPr/>
          <a:lstStyle/>
          <a:p>
            <a:endParaRPr lang="en-US"/>
          </a:p>
        </p:txBody>
      </p:sp>
      <p:sp>
        <p:nvSpPr>
          <p:cNvPr id="20" name="r-2-0">
            <a:extLst>
              <a:ext uri="{FF2B5EF4-FFF2-40B4-BE49-F238E27FC236}">
                <a16:creationId xmlns:a16="http://schemas.microsoft.com/office/drawing/2014/main" id="{CBA4918F-4962-461D-990C-7374EC20F5DE}"/>
              </a:ext>
            </a:extLst>
          </p:cNvPr>
          <p:cNvSpPr>
            <a:spLocks noGrp="1"/>
          </p:cNvSpPr>
          <p:nvPr/>
        </p:nvSpPr>
        <p:spPr>
          <a:xfrm>
            <a:off x="514350" y="375285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Prediction outcome</a:t>
            </a:r>
          </a:p>
        </p:txBody>
      </p:sp>
      <p:sp>
        <p:nvSpPr>
          <p:cNvPr id="21" name="r-2-1">
            <a:extLst>
              <a:ext uri="{FF2B5EF4-FFF2-40B4-BE49-F238E27FC236}">
                <a16:creationId xmlns:a16="http://schemas.microsoft.com/office/drawing/2014/main" id="{CFE244B9-5EC2-43EB-8315-DAC438E2A6ED}"/>
              </a:ext>
            </a:extLst>
          </p:cNvPr>
          <p:cNvSpPr>
            <a:spLocks noGrp="1"/>
          </p:cNvSpPr>
          <p:nvPr/>
        </p:nvSpPr>
        <p:spPr>
          <a:xfrm>
            <a:off x="3257550" y="3752850"/>
            <a:ext cx="2381250" cy="419100"/>
          </a:xfrm>
          <a:prstGeom prst="rect">
            <a:avLst/>
          </a:prstGeom>
          <a:noFill/>
          <a:ln w="0">
            <a:noFill/>
            <a:prstDash val="solid"/>
          </a:ln>
        </p:spPr>
        <p:txBody>
          <a:bodyPr/>
          <a:lstStyle/>
          <a:p>
            <a:pPr>
              <a:buNone/>
              <a:defRPr sz="1275" b="0">
                <a:solidFill>
                  <a:srgbClr val="2F7D50"/>
                </a:solidFill>
                <a:latin typeface="Arial"/>
                <a:ea typeface="Arial"/>
                <a:cs typeface="Arial"/>
              </a:defRPr>
            </a:pPr>
            <a:r>
              <a:rPr sz="1275" b="0">
                <a:solidFill>
                  <a:srgbClr val="2F7D50"/>
                </a:solidFill>
                <a:latin typeface="Arial"/>
                <a:ea typeface="Arial"/>
                <a:cs typeface="Arial"/>
              </a:rPr>
              <a:t>3% gap; competitive in era-balanced window</a:t>
            </a:r>
          </a:p>
        </p:txBody>
      </p:sp>
      <p:sp>
        <p:nvSpPr>
          <p:cNvPr id="22" name="r-2-2">
            <a:extLst>
              <a:ext uri="{FF2B5EF4-FFF2-40B4-BE49-F238E27FC236}">
                <a16:creationId xmlns:a16="http://schemas.microsoft.com/office/drawing/2014/main" id="{2A65E781-8DE2-42DC-AC16-847FB2D6B878}"/>
              </a:ext>
            </a:extLst>
          </p:cNvPr>
          <p:cNvSpPr>
            <a:spLocks noGrp="1"/>
          </p:cNvSpPr>
          <p:nvPr/>
        </p:nvSpPr>
        <p:spPr>
          <a:xfrm>
            <a:off x="5924550" y="3752850"/>
            <a:ext cx="2381250" cy="419100"/>
          </a:xfrm>
          <a:prstGeom prst="rect">
            <a:avLst/>
          </a:prstGeom>
          <a:noFill/>
          <a:ln w="0">
            <a:noFill/>
            <a:prstDash val="solid"/>
          </a:ln>
        </p:spPr>
        <p:txBody>
          <a:bodyPr/>
          <a:lstStyle/>
          <a:p>
            <a:pPr>
              <a:buNone/>
              <a:defRPr sz="1275" b="0">
                <a:solidFill>
                  <a:srgbClr val="C04B4B"/>
                </a:solidFill>
                <a:latin typeface="Arial"/>
                <a:ea typeface="Arial"/>
                <a:cs typeface="Arial"/>
              </a:defRPr>
            </a:pPr>
            <a:r>
              <a:rPr sz="1275" b="0">
                <a:solidFill>
                  <a:srgbClr val="C04B4B"/>
                </a:solidFill>
                <a:latin typeface="Arial"/>
                <a:ea typeface="Arial"/>
                <a:cs typeface="Arial"/>
              </a:rPr>
              <a:t>22% gap; 0/16 wins</a:t>
            </a:r>
          </a:p>
        </p:txBody>
      </p:sp>
      <p:sp>
        <p:nvSpPr>
          <p:cNvPr id="23" name="r-2-3">
            <a:extLst>
              <a:ext uri="{FF2B5EF4-FFF2-40B4-BE49-F238E27FC236}">
                <a16:creationId xmlns:a16="http://schemas.microsoft.com/office/drawing/2014/main" id="{C17336C7-4C93-4710-BECD-FAAD99398765}"/>
              </a:ext>
            </a:extLst>
          </p:cNvPr>
          <p:cNvSpPr>
            <a:spLocks noGrp="1"/>
          </p:cNvSpPr>
          <p:nvPr/>
        </p:nvSpPr>
        <p:spPr>
          <a:xfrm>
            <a:off x="8591550" y="375285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Structure removes the climate advantage</a:t>
            </a:r>
          </a:p>
        </p:txBody>
      </p:sp>
      <p:sp>
        <p:nvSpPr>
          <p:cNvPr id="24" name="r-bg-3">
            <a:extLst>
              <a:ext uri="{FF2B5EF4-FFF2-40B4-BE49-F238E27FC236}">
                <a16:creationId xmlns:a16="http://schemas.microsoft.com/office/drawing/2014/main" id="{149B31CF-71A2-4FF8-AB78-B5D6A360AEFE}"/>
              </a:ext>
            </a:extLst>
          </p:cNvPr>
          <p:cNvSpPr>
            <a:spLocks noGrp="1"/>
          </p:cNvSpPr>
          <p:nvPr/>
        </p:nvSpPr>
        <p:spPr>
          <a:xfrm>
            <a:off x="400050" y="4362450"/>
            <a:ext cx="11382375" cy="685800"/>
          </a:xfrm>
          <a:prstGeom prst="rect">
            <a:avLst/>
          </a:prstGeom>
          <a:solidFill>
            <a:srgbClr val="F8F0DC"/>
          </a:solidFill>
          <a:ln w="0">
            <a:noFill/>
            <a:prstDash val="solid"/>
          </a:ln>
        </p:spPr>
        <p:txBody>
          <a:bodyPr/>
          <a:lstStyle/>
          <a:p>
            <a:endParaRPr lang="en-US"/>
          </a:p>
        </p:txBody>
      </p:sp>
      <p:sp>
        <p:nvSpPr>
          <p:cNvPr id="25" name="r-3-0">
            <a:extLst>
              <a:ext uri="{FF2B5EF4-FFF2-40B4-BE49-F238E27FC236}">
                <a16:creationId xmlns:a16="http://schemas.microsoft.com/office/drawing/2014/main" id="{1850F043-1703-4EEE-9597-C37E806A93BE}"/>
              </a:ext>
            </a:extLst>
          </p:cNvPr>
          <p:cNvSpPr>
            <a:spLocks noGrp="1"/>
          </p:cNvSpPr>
          <p:nvPr/>
        </p:nvSpPr>
        <p:spPr>
          <a:xfrm>
            <a:off x="514350" y="4533900"/>
            <a:ext cx="2476500" cy="419100"/>
          </a:xfrm>
          <a:prstGeom prst="rect">
            <a:avLst/>
          </a:prstGeom>
          <a:noFill/>
          <a:ln w="0">
            <a:noFill/>
            <a:prstDash val="solid"/>
          </a:ln>
        </p:spPr>
        <p:txBody>
          <a:bodyPr/>
          <a:lstStyle/>
          <a:p>
            <a:pPr>
              <a:buNone/>
              <a:defRPr sz="1275" b="1">
                <a:solidFill>
                  <a:srgbClr val="111111"/>
                </a:solidFill>
                <a:latin typeface="Arial"/>
                <a:ea typeface="Arial"/>
                <a:cs typeface="Arial"/>
              </a:defRPr>
            </a:pPr>
            <a:r>
              <a:rPr sz="1275" b="1">
                <a:solidFill>
                  <a:srgbClr val="111111"/>
                </a:solidFill>
                <a:latin typeface="Arial"/>
                <a:ea typeface="Arial"/>
                <a:cs typeface="Arial"/>
              </a:rPr>
              <a:t>Interpretation</a:t>
            </a:r>
          </a:p>
        </p:txBody>
      </p:sp>
      <p:sp>
        <p:nvSpPr>
          <p:cNvPr id="26" name="r-3-1">
            <a:extLst>
              <a:ext uri="{FF2B5EF4-FFF2-40B4-BE49-F238E27FC236}">
                <a16:creationId xmlns:a16="http://schemas.microsoft.com/office/drawing/2014/main" id="{42CE8B97-1A19-4B4F-954C-3810DB565543}"/>
              </a:ext>
            </a:extLst>
          </p:cNvPr>
          <p:cNvSpPr>
            <a:spLocks noGrp="1"/>
          </p:cNvSpPr>
          <p:nvPr/>
        </p:nvSpPr>
        <p:spPr>
          <a:xfrm>
            <a:off x="3257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can diagnose historical regimes</a:t>
            </a:r>
          </a:p>
        </p:txBody>
      </p:sp>
      <p:sp>
        <p:nvSpPr>
          <p:cNvPr id="27" name="r-3-2">
            <a:extLst>
              <a:ext uri="{FF2B5EF4-FFF2-40B4-BE49-F238E27FC236}">
                <a16:creationId xmlns:a16="http://schemas.microsoft.com/office/drawing/2014/main" id="{F728B140-4FF8-4712-877E-652E50CB8509}"/>
              </a:ext>
            </a:extLst>
          </p:cNvPr>
          <p:cNvSpPr>
            <a:spLocks noGrp="1"/>
          </p:cNvSpPr>
          <p:nvPr/>
        </p:nvSpPr>
        <p:spPr>
          <a:xfrm>
            <a:off x="5924550" y="4533900"/>
            <a:ext cx="2381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Rules fire in the wrong era context</a:t>
            </a:r>
          </a:p>
        </p:txBody>
      </p:sp>
      <p:sp>
        <p:nvSpPr>
          <p:cNvPr id="28" name="r-3-3">
            <a:extLst>
              <a:ext uri="{FF2B5EF4-FFF2-40B4-BE49-F238E27FC236}">
                <a16:creationId xmlns:a16="http://schemas.microsoft.com/office/drawing/2014/main" id="{53934A3A-C4F7-482E-8A86-C96AFC2BF566}"/>
              </a:ext>
            </a:extLst>
          </p:cNvPr>
          <p:cNvSpPr>
            <a:spLocks noGrp="1"/>
          </p:cNvSpPr>
          <p:nvPr/>
        </p:nvSpPr>
        <p:spPr>
          <a:xfrm>
            <a:off x="8591550" y="4533900"/>
            <a:ext cx="3143250" cy="419100"/>
          </a:xfrm>
          <a:prstGeom prst="rect">
            <a:avLst/>
          </a:prstGeom>
          <a:noFill/>
          <a:ln w="0">
            <a:noFill/>
            <a:prstDash val="solid"/>
          </a:ln>
        </p:spPr>
        <p:txBody>
          <a:bodyPr/>
          <a:lstStyle/>
          <a:p>
            <a:pPr>
              <a:buNone/>
              <a:defRPr sz="1275" b="0">
                <a:solidFill>
                  <a:srgbClr val="111111"/>
                </a:solidFill>
                <a:latin typeface="Arial"/>
                <a:ea typeface="Arial"/>
                <a:cs typeface="Arial"/>
              </a:defRPr>
            </a:pPr>
            <a:r>
              <a:rPr sz="1275" b="0">
                <a:solidFill>
                  <a:srgbClr val="111111"/>
                </a:solidFill>
                <a:latin typeface="Arial"/>
                <a:ea typeface="Arial"/>
                <a:cs typeface="Arial"/>
              </a:rPr>
              <a:t>Forecasting needs structural covariates</a:t>
            </a:r>
          </a:p>
        </p:txBody>
      </p:sp>
      <p:sp>
        <p:nvSpPr>
          <p:cNvPr id="29" name="take-panel">
            <a:extLst>
              <a:ext uri="{FF2B5EF4-FFF2-40B4-BE49-F238E27FC236}">
                <a16:creationId xmlns:a16="http://schemas.microsoft.com/office/drawing/2014/main" id="{D7BA6A65-E54F-4643-BE9A-A1EA1174A6D3}"/>
              </a:ext>
            </a:extLst>
          </p:cNvPr>
          <p:cNvSpPr>
            <a:spLocks noGrp="1"/>
          </p:cNvSpPr>
          <p:nvPr/>
        </p:nvSpPr>
        <p:spPr>
          <a:xfrm>
            <a:off x="400050" y="5476875"/>
            <a:ext cx="11382375" cy="523875"/>
          </a:xfrm>
          <a:prstGeom prst="rect">
            <a:avLst/>
          </a:prstGeom>
          <a:solidFill>
            <a:srgbClr val="F7EAF0"/>
          </a:solidFill>
          <a:ln w="0">
            <a:noFill/>
            <a:prstDash val="solid"/>
          </a:ln>
        </p:spPr>
        <p:txBody>
          <a:bodyPr/>
          <a:lstStyle/>
          <a:p>
            <a:endParaRPr lang="en-US"/>
          </a:p>
        </p:txBody>
      </p:sp>
      <p:sp>
        <p:nvSpPr>
          <p:cNvPr id="30" name="take-stripe">
            <a:extLst>
              <a:ext uri="{FF2B5EF4-FFF2-40B4-BE49-F238E27FC236}">
                <a16:creationId xmlns:a16="http://schemas.microsoft.com/office/drawing/2014/main" id="{A101D9D0-1E0A-448C-A87C-29455B4E7329}"/>
              </a:ext>
            </a:extLst>
          </p:cNvPr>
          <p:cNvSpPr>
            <a:spLocks noGrp="1"/>
          </p:cNvSpPr>
          <p:nvPr/>
        </p:nvSpPr>
        <p:spPr>
          <a:xfrm>
            <a:off x="400050" y="5476875"/>
            <a:ext cx="76200" cy="523875"/>
          </a:xfrm>
          <a:prstGeom prst="rect">
            <a:avLst/>
          </a:prstGeom>
          <a:solidFill>
            <a:srgbClr val="7B1E3A"/>
          </a:solidFill>
          <a:ln w="0">
            <a:noFill/>
            <a:prstDash val="solid"/>
          </a:ln>
        </p:spPr>
        <p:txBody>
          <a:bodyPr/>
          <a:lstStyle/>
          <a:p>
            <a:endParaRPr lang="en-US"/>
          </a:p>
        </p:txBody>
      </p:sp>
      <p:sp>
        <p:nvSpPr>
          <p:cNvPr id="31" name="take-text">
            <a:extLst>
              <a:ext uri="{FF2B5EF4-FFF2-40B4-BE49-F238E27FC236}">
                <a16:creationId xmlns:a16="http://schemas.microsoft.com/office/drawing/2014/main" id="{418DE756-0222-44F5-B126-B98777D1131C}"/>
              </a:ext>
            </a:extLst>
          </p:cNvPr>
          <p:cNvSpPr>
            <a:spLocks noGrp="1"/>
          </p:cNvSpPr>
          <p:nvPr/>
        </p:nvSpPr>
        <p:spPr>
          <a:xfrm>
            <a:off x="762000" y="5657850"/>
            <a:ext cx="10477500" cy="228600"/>
          </a:xfrm>
          <a:prstGeom prst="rect">
            <a:avLst/>
          </a:prstGeom>
          <a:noFill/>
          <a:ln w="0">
            <a:noFill/>
            <a:prstDash val="solid"/>
          </a:ln>
        </p:spPr>
        <p:txBody>
          <a:bodyPr/>
          <a:lstStyle/>
          <a:p>
            <a:pPr algn="ctr">
              <a:buNone/>
              <a:defRPr sz="1575" b="1">
                <a:solidFill>
                  <a:srgbClr val="7B1E3A"/>
                </a:solidFill>
                <a:latin typeface="Arial"/>
                <a:ea typeface="Arial"/>
                <a:cs typeface="Arial"/>
              </a:defRPr>
            </a:pPr>
            <a:r>
              <a:rPr sz="1575" b="1">
                <a:solidFill>
                  <a:srgbClr val="7B1E3A"/>
                </a:solidFill>
                <a:latin typeface="Arial"/>
                <a:ea typeface="Arial"/>
                <a:cs typeface="Arial"/>
              </a:rPr>
              <a:t>The same algorithm produces different outcomes because the production histories are genuinely different.</a:t>
            </a:r>
          </a:p>
        </p:txBody>
      </p:sp>
      <p:sp>
        <p:nvSpPr>
          <p:cNvPr id="32" name="source">
            <a:extLst>
              <a:ext uri="{FF2B5EF4-FFF2-40B4-BE49-F238E27FC236}">
                <a16:creationId xmlns:a16="http://schemas.microsoft.com/office/drawing/2014/main" id="{4552FD98-5C73-4575-966D-7D9E8972FDDC}"/>
              </a:ext>
            </a:extLst>
          </p:cNvPr>
          <p:cNvSpPr>
            <a:spLocks noGrp="1"/>
          </p:cNvSpPr>
          <p:nvPr/>
        </p:nvSpPr>
        <p:spPr>
          <a:xfrm>
            <a:off x="400050" y="6438900"/>
            <a:ext cx="9715500" cy="171450"/>
          </a:xfrm>
          <a:prstGeom prst="rect">
            <a:avLst/>
          </a:prstGeom>
          <a:noFill/>
          <a:ln w="0">
            <a:noFill/>
            <a:prstDash val="solid"/>
          </a:ln>
        </p:spPr>
        <p:txBody>
          <a:bodyPr/>
          <a:lstStyle/>
          <a:p>
            <a:pPr>
              <a:buNone/>
              <a:defRPr sz="675">
                <a:solidFill>
                  <a:srgbClr val="5E6670"/>
                </a:solidFill>
                <a:latin typeface="Arial"/>
                <a:ea typeface="Arial"/>
                <a:cs typeface="Arial"/>
              </a:defRPr>
            </a:pPr>
            <a:r>
              <a:rPr sz="675">
                <a:solidFill>
                  <a:srgbClr val="5E6670"/>
                </a:solidFill>
                <a:latin typeface="Arial"/>
                <a:ea typeface="Arial"/>
                <a:cs typeface="Arial"/>
              </a:rPr>
              <a:t>Source: Thesis, Sections 5.2-5.5 and 6.2-6.3</a:t>
            </a:r>
          </a:p>
        </p:txBody>
      </p:sp>
      <p:sp>
        <p:nvSpPr>
          <p:cNvPr id="33" name="slide-number">
            <a:extLst>
              <a:ext uri="{FF2B5EF4-FFF2-40B4-BE49-F238E27FC236}">
                <a16:creationId xmlns:a16="http://schemas.microsoft.com/office/drawing/2014/main" id="{7019ED51-AB7D-445F-8FBD-A3C1D50F50FF}"/>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34" name="slide-number-22">
            <a:extLst>
              <a:ext uri="{FF2B5EF4-FFF2-40B4-BE49-F238E27FC236}">
                <a16:creationId xmlns:a16="http://schemas.microsoft.com/office/drawing/2014/main" id="{369E5D33-C173-48F0-AE50-A325FF1CAA44}"/>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17</a:t>
            </a:r>
          </a:p>
        </p:txBody>
      </p:sp>
    </p:spTree>
    <p:extLst>
      <p:ext uri="{BB962C8B-B14F-4D97-AF65-F5344CB8AC3E}">
        <p14:creationId xmlns:p14="http://schemas.microsoft.com/office/powerpoint/2010/main" val="2866717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Why CarenR: rules you can question</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4" name="Shape 2"/>
          <p:cNvSpPr/>
          <p:nvPr/>
        </p:nvSpPr>
        <p:spPr>
          <a:xfrm>
            <a:off x="10634472"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2  ·  </a:t>
            </a:r>
            <a:r>
              <a:rPr lang="en-US" sz="1100" b="1" dirty="0">
                <a:solidFill>
                  <a:srgbClr val="6D2E46"/>
                </a:solidFill>
                <a:latin typeface="Calibri" pitchFamily="34" charset="0"/>
                <a:ea typeface="Calibri" pitchFamily="34" charset="-122"/>
                <a:cs typeface="Calibri" pitchFamily="34" charset="-120"/>
              </a:rPr>
              <a:t>AUDITABLE</a:t>
            </a:r>
            <a:endParaRPr lang="en-US" sz="1100" dirty="0"/>
          </a:p>
        </p:txBody>
      </p:sp>
      <p:pic>
        <p:nvPicPr>
          <p:cNvPr id="9" name="Image 0" descr="/sessions/trusting-lucid-keller/mnt/outputs/deck/assets/motif_ks.png"/>
          <p:cNvPicPr>
            <a:picLocks noChangeAspect="1"/>
          </p:cNvPicPr>
          <p:nvPr/>
        </p:nvPicPr>
        <p:blipFill>
          <a:blip r:embed="rId3"/>
          <a:stretch>
            <a:fillRect/>
          </a:stretch>
        </p:blipFill>
        <p:spPr>
          <a:xfrm>
            <a:off x="548640" y="2194560"/>
            <a:ext cx="6126480" cy="3557770"/>
          </a:xfrm>
          <a:prstGeom prst="rect">
            <a:avLst/>
          </a:prstGeom>
        </p:spPr>
      </p:pic>
      <p:sp>
        <p:nvSpPr>
          <p:cNvPr id="10" name="Text 7"/>
          <p:cNvSpPr/>
          <p:nvPr/>
        </p:nvSpPr>
        <p:spPr>
          <a:xfrm>
            <a:off x="548640" y="1600200"/>
            <a:ext cx="6309360" cy="548640"/>
          </a:xfrm>
          <a:prstGeom prst="rect">
            <a:avLst/>
          </a:prstGeom>
          <a:noFill/>
          <a:ln/>
        </p:spPr>
        <p:txBody>
          <a:bodyPr wrap="square" lIns="0" tIns="0" rIns="0" bIns="0" rtlCol="0" anchor="ctr"/>
          <a:lstStyle/>
          <a:p>
            <a:pPr marL="0" indent="0">
              <a:buNone/>
            </a:pPr>
            <a:r>
              <a:rPr lang="en-US" sz="1300" dirty="0">
                <a:solidFill>
                  <a:srgbClr val="2B2320"/>
                </a:solidFill>
                <a:latin typeface="Calibri" pitchFamily="34" charset="0"/>
                <a:ea typeface="Calibri" pitchFamily="34" charset="-122"/>
                <a:cs typeface="Calibri" pitchFamily="34" charset="-120"/>
              </a:rPr>
              <a:t>CarenR asks: under which conditions does the whole distribution — tails included — shift? Tested by a Kolmogorov–Smirnov statistic.</a:t>
            </a:r>
            <a:endParaRPr lang="en-US" sz="1300" dirty="0"/>
          </a:p>
        </p:txBody>
      </p:sp>
      <p:sp>
        <p:nvSpPr>
          <p:cNvPr id="11" name="Shape 8"/>
          <p:cNvSpPr/>
          <p:nvPr/>
        </p:nvSpPr>
        <p:spPr>
          <a:xfrm>
            <a:off x="7040880" y="1737360"/>
            <a:ext cx="457200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lang="en-US"/>
          </a:p>
        </p:txBody>
      </p:sp>
      <p:sp>
        <p:nvSpPr>
          <p:cNvPr id="12" name="Text 9"/>
          <p:cNvSpPr/>
          <p:nvPr/>
        </p:nvSpPr>
        <p:spPr>
          <a:xfrm>
            <a:off x="7269480" y="1920240"/>
            <a:ext cx="4206240" cy="274320"/>
          </a:xfrm>
          <a:prstGeom prst="rect">
            <a:avLst/>
          </a:prstGeom>
          <a:noFill/>
          <a:ln/>
        </p:spPr>
        <p:txBody>
          <a:bodyPr wrap="square" lIns="0" tIns="0" rIns="0" bIns="0" rtlCol="0" anchor="ctr"/>
          <a:lstStyle/>
          <a:p>
            <a:pPr marL="0" indent="0">
              <a:buNone/>
            </a:pPr>
            <a:r>
              <a:rPr lang="en-US" sz="1100" b="1" kern="0" spc="100" dirty="0">
                <a:solidFill>
                  <a:srgbClr val="C89B3C"/>
                </a:solidFill>
                <a:latin typeface="Calibri" pitchFamily="34" charset="0"/>
                <a:ea typeface="Calibri" pitchFamily="34" charset="-122"/>
                <a:cs typeface="Calibri" pitchFamily="34" charset="-120"/>
              </a:rPr>
              <a:t>A RULE YOU CAN AUDIT</a:t>
            </a:r>
            <a:endParaRPr lang="en-US" sz="1100" dirty="0"/>
          </a:p>
        </p:txBody>
      </p:sp>
      <p:sp>
        <p:nvSpPr>
          <p:cNvPr id="13" name="Text 10"/>
          <p:cNvSpPr/>
          <p:nvPr/>
        </p:nvSpPr>
        <p:spPr>
          <a:xfrm>
            <a:off x="7269480" y="2240280"/>
            <a:ext cx="4160520" cy="1005840"/>
          </a:xfrm>
          <a:prstGeom prst="rect">
            <a:avLst/>
          </a:prstGeom>
          <a:noFill/>
          <a:ln/>
        </p:spPr>
        <p:txBody>
          <a:bodyPr wrap="square" lIns="0" tIns="0" rIns="0" bIns="0" rtlCol="0" anchor="ctr"/>
          <a:lstStyle/>
          <a:p>
            <a:pPr marL="0" indent="0">
              <a:buNone/>
            </a:pPr>
            <a:r>
              <a:rPr lang="en-US" sz="1500" b="1" dirty="0">
                <a:solidFill>
                  <a:srgbClr val="6D2E46"/>
                </a:solidFill>
                <a:latin typeface="Calibri" pitchFamily="34" charset="0"/>
                <a:ea typeface="Calibri" pitchFamily="34" charset="-122"/>
                <a:cs typeface="Calibri" pitchFamily="34" charset="-120"/>
              </a:rPr>
              <a:t>IF </a:t>
            </a:r>
            <a:r>
              <a:rPr lang="en-US" sz="1500" dirty="0">
                <a:solidFill>
                  <a:srgbClr val="2B2320"/>
                </a:solidFill>
                <a:latin typeface="Calibri" pitchFamily="34" charset="0"/>
                <a:ea typeface="Calibri" pitchFamily="34" charset="-122"/>
                <a:cs typeface="Calibri" pitchFamily="34" charset="-120"/>
              </a:rPr>
              <a:t>dry post-flowering AND moderate harvest soil water</a:t>
            </a:r>
            <a:endParaRPr lang="en-US" sz="1500" dirty="0"/>
          </a:p>
          <a:p>
            <a:pPr marL="0" indent="0">
              <a:buNone/>
            </a:pPr>
            <a:r>
              <a:rPr lang="en-US" sz="1500" b="1" dirty="0">
                <a:solidFill>
                  <a:srgbClr val="6D2E46"/>
                </a:solidFill>
                <a:latin typeface="Calibri" pitchFamily="34" charset="0"/>
                <a:ea typeface="Calibri" pitchFamily="34" charset="-122"/>
                <a:cs typeface="Calibri" pitchFamily="34" charset="-120"/>
              </a:rPr>
              <a:t>THEN </a:t>
            </a:r>
            <a:endParaRPr lang="en-US" sz="1500" dirty="0"/>
          </a:p>
          <a:p>
            <a:pPr marL="0" indent="0">
              <a:buNone/>
            </a:pPr>
            <a:r>
              <a:rPr lang="en-US" sz="1500" b="1" dirty="0">
                <a:solidFill>
                  <a:srgbClr val="5E7148"/>
                </a:solidFill>
                <a:latin typeface="Calibri" pitchFamily="34" charset="0"/>
                <a:ea typeface="Calibri" pitchFamily="34" charset="-122"/>
                <a:cs typeface="Calibri" pitchFamily="34" charset="-120"/>
              </a:rPr>
              <a:t>+121 mhl above trend</a:t>
            </a:r>
            <a:endParaRPr lang="en-US" sz="1500" dirty="0"/>
          </a:p>
        </p:txBody>
      </p:sp>
      <p:sp>
        <p:nvSpPr>
          <p:cNvPr id="14" name="Text 11"/>
          <p:cNvSpPr/>
          <p:nvPr/>
        </p:nvSpPr>
        <p:spPr>
          <a:xfrm>
            <a:off x="7269480" y="3337560"/>
            <a:ext cx="4160520" cy="365760"/>
          </a:xfrm>
          <a:prstGeom prst="rect">
            <a:avLst/>
          </a:prstGeom>
          <a:noFill/>
          <a:ln/>
        </p:spPr>
        <p:txBody>
          <a:bodyPr wrap="square" lIns="0" tIns="0" rIns="0" bIns="0" rtlCol="0" anchor="ctr"/>
          <a:lstStyle/>
          <a:p>
            <a:pPr marL="0" indent="0">
              <a:buNone/>
            </a:pPr>
            <a:r>
              <a:rPr lang="en-US" sz="1300" i="1" dirty="0">
                <a:solidFill>
                  <a:srgbClr val="7A6F5E"/>
                </a:solidFill>
                <a:latin typeface="Calibri" pitchFamily="34" charset="0"/>
                <a:ea typeface="Calibri" pitchFamily="34" charset="-122"/>
                <a:cs typeface="Calibri" pitchFamily="34" charset="-120"/>
              </a:rPr>
              <a:t>support 28%   ·   p = 0.004</a:t>
            </a:r>
            <a:endParaRPr lang="en-US" sz="1300" dirty="0"/>
          </a:p>
        </p:txBody>
      </p:sp>
      <p:sp>
        <p:nvSpPr>
          <p:cNvPr id="15" name="Text 12"/>
          <p:cNvSpPr/>
          <p:nvPr/>
        </p:nvSpPr>
        <p:spPr>
          <a:xfrm>
            <a:off x="7178040" y="4114800"/>
            <a:ext cx="4480560" cy="201168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Falsifiable — an agronomist can challenge it.</a:t>
            </a:r>
            <a:endParaRPr lang="en-US" sz="1400" dirty="0"/>
          </a:p>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Carries its own support and p-value.</a:t>
            </a:r>
            <a:endParaRPr lang="en-US" sz="1400" dirty="0"/>
          </a:p>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Black box + SHAP only approximates influence.</a:t>
            </a:r>
            <a:endParaRPr lang="en-US" sz="1400" dirty="0"/>
          </a:p>
          <a:p>
            <a:pPr marL="342900" indent="-342900">
              <a:spcAft>
                <a:spcPts val="800"/>
              </a:spcAft>
              <a:buSzPct val="100000"/>
              <a:buChar char="•"/>
            </a:pPr>
            <a:r>
              <a:rPr lang="en-US" sz="1400" dirty="0">
                <a:solidFill>
                  <a:srgbClr val="2B2320"/>
                </a:solidFill>
                <a:latin typeface="Calibri" pitchFamily="34" charset="0"/>
                <a:ea typeface="Calibri" pitchFamily="34" charset="-122"/>
                <a:cs typeface="Calibri" pitchFamily="34" charset="-120"/>
              </a:rPr>
              <a:t>First such application to long regional wine records.</a:t>
            </a:r>
            <a:endParaRPr lang="en-US" sz="1400" dirty="0"/>
          </a:p>
        </p:txBody>
      </p:sp>
      <p:sp>
        <p:nvSpPr>
          <p:cNvPr id="16" name="Text 13"/>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white-background">
            <a:extLst>
              <a:ext uri="{FF2B5EF4-FFF2-40B4-BE49-F238E27FC236}">
                <a16:creationId xmlns:a16="http://schemas.microsoft.com/office/drawing/2014/main" id="{8C9BCDD3-A7DC-4633-BD84-30CBE382DA4F}"/>
              </a:ext>
            </a:extLst>
          </p:cNvPr>
          <p:cNvSpPr>
            <a:spLocks noGrp="1"/>
          </p:cNvSpPr>
          <p:nvPr/>
        </p:nvSpPr>
        <p:spPr>
          <a:xfrm>
            <a:off x="0" y="0"/>
            <a:ext cx="12192000" cy="6858000"/>
          </a:xfrm>
          <a:prstGeom prst="rect">
            <a:avLst/>
          </a:prstGeom>
          <a:solidFill>
            <a:srgbClr val="FFFFFF"/>
          </a:solidFill>
          <a:ln w="0">
            <a:noFill/>
            <a:prstDash val="solid"/>
          </a:ln>
        </p:spPr>
        <p:txBody>
          <a:bodyPr/>
          <a:lstStyle/>
          <a:p>
            <a:endParaRPr lang="en-US"/>
          </a:p>
        </p:txBody>
      </p:sp>
      <p:sp>
        <p:nvSpPr>
          <p:cNvPr id="2" name="section-label">
            <a:extLst>
              <a:ext uri="{FF2B5EF4-FFF2-40B4-BE49-F238E27FC236}">
                <a16:creationId xmlns:a16="http://schemas.microsoft.com/office/drawing/2014/main" id="{D228F560-AD04-4FB8-803B-A64A916B83A2}"/>
              </a:ext>
            </a:extLst>
          </p:cNvPr>
          <p:cNvSpPr>
            <a:spLocks noGrp="1"/>
          </p:cNvSpPr>
          <p:nvPr/>
        </p:nvSpPr>
        <p:spPr>
          <a:xfrm>
            <a:off x="400050" y="266700"/>
            <a:ext cx="4000500" cy="228600"/>
          </a:xfrm>
          <a:prstGeom prst="rect">
            <a:avLst/>
          </a:prstGeom>
          <a:noFill/>
          <a:ln w="0">
            <a:noFill/>
            <a:prstDash val="solid"/>
          </a:ln>
        </p:spPr>
        <p:txBody>
          <a:bodyPr/>
          <a:lstStyle/>
          <a:p>
            <a:pPr>
              <a:buNone/>
              <a:defRPr sz="1125" b="1">
                <a:solidFill>
                  <a:srgbClr val="7B1E3A"/>
                </a:solidFill>
                <a:latin typeface="Arial"/>
                <a:ea typeface="Arial"/>
                <a:cs typeface="Arial"/>
              </a:defRPr>
            </a:pPr>
            <a:r>
              <a:rPr sz="1125" b="1">
                <a:solidFill>
                  <a:srgbClr val="7B1E3A"/>
                </a:solidFill>
                <a:latin typeface="Arial"/>
                <a:ea typeface="Arial"/>
                <a:cs typeface="Arial"/>
              </a:rPr>
              <a:t>DATA &amp; EXPERIMENTAL DESIGN</a:t>
            </a:r>
          </a:p>
        </p:txBody>
      </p:sp>
      <p:sp>
        <p:nvSpPr>
          <p:cNvPr id="3" name="title">
            <a:extLst>
              <a:ext uri="{FF2B5EF4-FFF2-40B4-BE49-F238E27FC236}">
                <a16:creationId xmlns:a16="http://schemas.microsoft.com/office/drawing/2014/main" id="{D57B864B-4338-4362-A0E5-14C39CE708AE}"/>
              </a:ext>
            </a:extLst>
          </p:cNvPr>
          <p:cNvSpPr>
            <a:spLocks noGrp="1"/>
          </p:cNvSpPr>
          <p:nvPr/>
        </p:nvSpPr>
        <p:spPr>
          <a:xfrm>
            <a:off x="400050" y="552450"/>
            <a:ext cx="11391900" cy="781050"/>
          </a:xfrm>
          <a:prstGeom prst="rect">
            <a:avLst/>
          </a:prstGeom>
          <a:noFill/>
          <a:ln w="0">
            <a:noFill/>
            <a:prstDash val="solid"/>
          </a:ln>
        </p:spPr>
        <p:txBody>
          <a:bodyPr/>
          <a:lstStyle/>
          <a:p>
            <a:pPr>
              <a:buNone/>
              <a:defRPr sz="2625" b="1">
                <a:solidFill>
                  <a:srgbClr val="111111"/>
                </a:solidFill>
                <a:latin typeface="Arial"/>
                <a:ea typeface="Arial"/>
                <a:cs typeface="Arial"/>
              </a:defRPr>
            </a:pPr>
            <a:r>
              <a:rPr sz="2625" b="1">
                <a:solidFill>
                  <a:srgbClr val="111111"/>
                </a:solidFill>
                <a:latin typeface="Arial"/>
                <a:ea typeface="Arial"/>
                <a:cs typeface="Arial"/>
              </a:rPr>
              <a:t>The comparison is controlled: same pipeline, different regional histories</a:t>
            </a:r>
          </a:p>
        </p:txBody>
      </p:sp>
      <p:sp>
        <p:nvSpPr>
          <p:cNvPr id="4" name="table-bg">
            <a:extLst>
              <a:ext uri="{FF2B5EF4-FFF2-40B4-BE49-F238E27FC236}">
                <a16:creationId xmlns:a16="http://schemas.microsoft.com/office/drawing/2014/main" id="{81F17B66-5EDD-4A4B-8116-D6E1A016BBEF}"/>
              </a:ext>
            </a:extLst>
          </p:cNvPr>
          <p:cNvSpPr>
            <a:spLocks noGrp="1"/>
          </p:cNvSpPr>
          <p:nvPr/>
        </p:nvSpPr>
        <p:spPr>
          <a:xfrm>
            <a:off x="400050" y="1504950"/>
            <a:ext cx="5476875" cy="2857500"/>
          </a:xfrm>
          <a:prstGeom prst="rect">
            <a:avLst/>
          </a:prstGeom>
          <a:solidFill>
            <a:srgbClr val="FFFFFF"/>
          </a:solidFill>
          <a:ln w="9525">
            <a:solidFill>
              <a:srgbClr val="D6D0CB"/>
            </a:solidFill>
            <a:prstDash val="solid"/>
          </a:ln>
        </p:spPr>
        <p:txBody>
          <a:bodyPr/>
          <a:lstStyle/>
          <a:p>
            <a:endParaRPr lang="en-US"/>
          </a:p>
        </p:txBody>
      </p:sp>
      <p:sp>
        <p:nvSpPr>
          <p:cNvPr id="5" name="table-head">
            <a:extLst>
              <a:ext uri="{FF2B5EF4-FFF2-40B4-BE49-F238E27FC236}">
                <a16:creationId xmlns:a16="http://schemas.microsoft.com/office/drawing/2014/main" id="{0A2B8045-7B78-4111-AF30-091C04EF6179}"/>
              </a:ext>
            </a:extLst>
          </p:cNvPr>
          <p:cNvSpPr>
            <a:spLocks noGrp="1"/>
          </p:cNvSpPr>
          <p:nvPr/>
        </p:nvSpPr>
        <p:spPr>
          <a:xfrm>
            <a:off x="400050" y="1504950"/>
            <a:ext cx="5476875" cy="533400"/>
          </a:xfrm>
          <a:prstGeom prst="rect">
            <a:avLst/>
          </a:prstGeom>
          <a:solidFill>
            <a:srgbClr val="7B1E3A"/>
          </a:solidFill>
          <a:ln w="0">
            <a:noFill/>
            <a:prstDash val="solid"/>
          </a:ln>
        </p:spPr>
        <p:txBody>
          <a:bodyPr/>
          <a:lstStyle/>
          <a:p>
            <a:endParaRPr lang="en-US"/>
          </a:p>
        </p:txBody>
      </p:sp>
      <p:sp>
        <p:nvSpPr>
          <p:cNvPr id="6" name="h1">
            <a:extLst>
              <a:ext uri="{FF2B5EF4-FFF2-40B4-BE49-F238E27FC236}">
                <a16:creationId xmlns:a16="http://schemas.microsoft.com/office/drawing/2014/main" id="{E808ACAB-8B84-417E-A047-57069314D11E}"/>
              </a:ext>
            </a:extLst>
          </p:cNvPr>
          <p:cNvSpPr>
            <a:spLocks noGrp="1"/>
          </p:cNvSpPr>
          <p:nvPr/>
        </p:nvSpPr>
        <p:spPr>
          <a:xfrm>
            <a:off x="590550" y="1676400"/>
            <a:ext cx="1714500" cy="228600"/>
          </a:xfrm>
          <a:prstGeom prst="rect">
            <a:avLst/>
          </a:prstGeom>
          <a:noFill/>
          <a:ln w="0">
            <a:noFill/>
            <a:prstDash val="solid"/>
          </a:ln>
        </p:spPr>
        <p:txBody>
          <a:bodyPr/>
          <a:lstStyle/>
          <a:p>
            <a:pPr>
              <a:buNone/>
              <a:defRPr sz="1275" b="1">
                <a:solidFill>
                  <a:srgbClr val="FFFFFF"/>
                </a:solidFill>
                <a:latin typeface="Arial"/>
                <a:ea typeface="Arial"/>
                <a:cs typeface="Arial"/>
              </a:defRPr>
            </a:pPr>
            <a:r>
              <a:rPr sz="1275" b="1">
                <a:solidFill>
                  <a:srgbClr val="FFFFFF"/>
                </a:solidFill>
                <a:latin typeface="Arial"/>
                <a:ea typeface="Arial"/>
                <a:cs typeface="Arial"/>
              </a:rPr>
              <a:t>Characteristic</a:t>
            </a:r>
          </a:p>
        </p:txBody>
      </p:sp>
      <p:sp>
        <p:nvSpPr>
          <p:cNvPr id="7" name="h2">
            <a:extLst>
              <a:ext uri="{FF2B5EF4-FFF2-40B4-BE49-F238E27FC236}">
                <a16:creationId xmlns:a16="http://schemas.microsoft.com/office/drawing/2014/main" id="{8E10EB11-3A19-412E-80A7-5EF61C7816AA}"/>
              </a:ext>
            </a:extLst>
          </p:cNvPr>
          <p:cNvSpPr>
            <a:spLocks noGrp="1"/>
          </p:cNvSpPr>
          <p:nvPr/>
        </p:nvSpPr>
        <p:spPr>
          <a:xfrm>
            <a:off x="2857500" y="1676400"/>
            <a:ext cx="114300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Douro</a:t>
            </a:r>
          </a:p>
        </p:txBody>
      </p:sp>
      <p:sp>
        <p:nvSpPr>
          <p:cNvPr id="8" name="h3">
            <a:extLst>
              <a:ext uri="{FF2B5EF4-FFF2-40B4-BE49-F238E27FC236}">
                <a16:creationId xmlns:a16="http://schemas.microsoft.com/office/drawing/2014/main" id="{518E3B22-2D16-435C-BB74-64DE95395398}"/>
              </a:ext>
            </a:extLst>
          </p:cNvPr>
          <p:cNvSpPr>
            <a:spLocks noGrp="1"/>
          </p:cNvSpPr>
          <p:nvPr/>
        </p:nvSpPr>
        <p:spPr>
          <a:xfrm>
            <a:off x="4400550" y="1676400"/>
            <a:ext cx="1238250" cy="228600"/>
          </a:xfrm>
          <a:prstGeom prst="rect">
            <a:avLst/>
          </a:prstGeom>
          <a:noFill/>
          <a:ln w="0">
            <a:noFill/>
            <a:prstDash val="solid"/>
          </a:ln>
        </p:spPr>
        <p:txBody>
          <a:bodyPr/>
          <a:lstStyle/>
          <a:p>
            <a:pPr algn="ctr">
              <a:buNone/>
              <a:defRPr sz="1275" b="1">
                <a:solidFill>
                  <a:srgbClr val="FFFFFF"/>
                </a:solidFill>
                <a:latin typeface="Arial"/>
                <a:ea typeface="Arial"/>
                <a:cs typeface="Arial"/>
              </a:defRPr>
            </a:pPr>
            <a:r>
              <a:rPr sz="1275" b="1">
                <a:solidFill>
                  <a:srgbClr val="FFFFFF"/>
                </a:solidFill>
                <a:latin typeface="Arial"/>
                <a:ea typeface="Arial"/>
                <a:cs typeface="Arial"/>
              </a:rPr>
              <a:t>Vinho Verde</a:t>
            </a:r>
          </a:p>
        </p:txBody>
      </p:sp>
      <p:sp>
        <p:nvSpPr>
          <p:cNvPr id="9" name="r0c0">
            <a:extLst>
              <a:ext uri="{FF2B5EF4-FFF2-40B4-BE49-F238E27FC236}">
                <a16:creationId xmlns:a16="http://schemas.microsoft.com/office/drawing/2014/main" id="{177B6536-D334-4103-ABFD-07301725BD96}"/>
              </a:ext>
            </a:extLst>
          </p:cNvPr>
          <p:cNvSpPr>
            <a:spLocks noGrp="1"/>
          </p:cNvSpPr>
          <p:nvPr/>
        </p:nvSpPr>
        <p:spPr>
          <a:xfrm>
            <a:off x="590550" y="21336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Period</a:t>
            </a:r>
          </a:p>
        </p:txBody>
      </p:sp>
      <p:sp>
        <p:nvSpPr>
          <p:cNvPr id="10" name="r0c1">
            <a:extLst>
              <a:ext uri="{FF2B5EF4-FFF2-40B4-BE49-F238E27FC236}">
                <a16:creationId xmlns:a16="http://schemas.microsoft.com/office/drawing/2014/main" id="{2DFA51DC-57BD-4E46-96DF-DCBB18B87057}"/>
              </a:ext>
            </a:extLst>
          </p:cNvPr>
          <p:cNvSpPr>
            <a:spLocks noGrp="1"/>
          </p:cNvSpPr>
          <p:nvPr/>
        </p:nvSpPr>
        <p:spPr>
          <a:xfrm>
            <a:off x="2857500" y="21336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1934-2022</a:t>
            </a:r>
          </a:p>
        </p:txBody>
      </p:sp>
      <p:sp>
        <p:nvSpPr>
          <p:cNvPr id="11" name="r0c2">
            <a:extLst>
              <a:ext uri="{FF2B5EF4-FFF2-40B4-BE49-F238E27FC236}">
                <a16:creationId xmlns:a16="http://schemas.microsoft.com/office/drawing/2014/main" id="{92002C57-F7AD-409F-B064-98DB4B3204FE}"/>
              </a:ext>
            </a:extLst>
          </p:cNvPr>
          <p:cNvSpPr>
            <a:spLocks noGrp="1"/>
          </p:cNvSpPr>
          <p:nvPr/>
        </p:nvSpPr>
        <p:spPr>
          <a:xfrm>
            <a:off x="4400550" y="21336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1942-2021</a:t>
            </a:r>
          </a:p>
        </p:txBody>
      </p:sp>
      <p:sp>
        <p:nvSpPr>
          <p:cNvPr id="12" name="row-shade-1">
            <a:extLst>
              <a:ext uri="{FF2B5EF4-FFF2-40B4-BE49-F238E27FC236}">
                <a16:creationId xmlns:a16="http://schemas.microsoft.com/office/drawing/2014/main" id="{B95781D4-A81B-4527-8246-D1D3822D79EB}"/>
              </a:ext>
            </a:extLst>
          </p:cNvPr>
          <p:cNvSpPr>
            <a:spLocks noGrp="1"/>
          </p:cNvSpPr>
          <p:nvPr/>
        </p:nvSpPr>
        <p:spPr>
          <a:xfrm>
            <a:off x="400050" y="2533650"/>
            <a:ext cx="5476875" cy="438150"/>
          </a:xfrm>
          <a:prstGeom prst="rect">
            <a:avLst/>
          </a:prstGeom>
          <a:solidFill>
            <a:srgbClr val="F8F0DC"/>
          </a:solidFill>
          <a:ln w="0">
            <a:noFill/>
            <a:prstDash val="solid"/>
          </a:ln>
        </p:spPr>
        <p:txBody>
          <a:bodyPr/>
          <a:lstStyle/>
          <a:p>
            <a:endParaRPr lang="en-US"/>
          </a:p>
        </p:txBody>
      </p:sp>
      <p:sp>
        <p:nvSpPr>
          <p:cNvPr id="13" name="r1c0">
            <a:extLst>
              <a:ext uri="{FF2B5EF4-FFF2-40B4-BE49-F238E27FC236}">
                <a16:creationId xmlns:a16="http://schemas.microsoft.com/office/drawing/2014/main" id="{1E50B542-FFEB-4FDD-8CF8-E58C428C17A3}"/>
              </a:ext>
            </a:extLst>
          </p:cNvPr>
          <p:cNvSpPr>
            <a:spLocks noGrp="1"/>
          </p:cNvSpPr>
          <p:nvPr/>
        </p:nvSpPr>
        <p:spPr>
          <a:xfrm>
            <a:off x="590550" y="257175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Observations</a:t>
            </a:r>
          </a:p>
        </p:txBody>
      </p:sp>
      <p:sp>
        <p:nvSpPr>
          <p:cNvPr id="14" name="r1c1">
            <a:extLst>
              <a:ext uri="{FF2B5EF4-FFF2-40B4-BE49-F238E27FC236}">
                <a16:creationId xmlns:a16="http://schemas.microsoft.com/office/drawing/2014/main" id="{44E13370-C42C-4ABB-AD39-44375914DE47}"/>
              </a:ext>
            </a:extLst>
          </p:cNvPr>
          <p:cNvSpPr>
            <a:spLocks noGrp="1"/>
          </p:cNvSpPr>
          <p:nvPr/>
        </p:nvSpPr>
        <p:spPr>
          <a:xfrm>
            <a:off x="2857500" y="25717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89 years</a:t>
            </a:r>
          </a:p>
        </p:txBody>
      </p:sp>
      <p:sp>
        <p:nvSpPr>
          <p:cNvPr id="15" name="r1c2">
            <a:extLst>
              <a:ext uri="{FF2B5EF4-FFF2-40B4-BE49-F238E27FC236}">
                <a16:creationId xmlns:a16="http://schemas.microsoft.com/office/drawing/2014/main" id="{96335220-FDFE-44C6-B73F-48AE7350B2FA}"/>
              </a:ext>
            </a:extLst>
          </p:cNvPr>
          <p:cNvSpPr>
            <a:spLocks noGrp="1"/>
          </p:cNvSpPr>
          <p:nvPr/>
        </p:nvSpPr>
        <p:spPr>
          <a:xfrm>
            <a:off x="4400550" y="25717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years</a:t>
            </a:r>
          </a:p>
        </p:txBody>
      </p:sp>
      <p:sp>
        <p:nvSpPr>
          <p:cNvPr id="16" name="r2c0">
            <a:extLst>
              <a:ext uri="{FF2B5EF4-FFF2-40B4-BE49-F238E27FC236}">
                <a16:creationId xmlns:a16="http://schemas.microsoft.com/office/drawing/2014/main" id="{027D89FC-AB28-4C8D-9757-336439C692ED}"/>
              </a:ext>
            </a:extLst>
          </p:cNvPr>
          <p:cNvSpPr>
            <a:spLocks noGrp="1"/>
          </p:cNvSpPr>
          <p:nvPr/>
        </p:nvSpPr>
        <p:spPr>
          <a:xfrm>
            <a:off x="590550" y="30099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Climate</a:t>
            </a:r>
          </a:p>
        </p:txBody>
      </p:sp>
      <p:sp>
        <p:nvSpPr>
          <p:cNvPr id="17" name="r2c1">
            <a:extLst>
              <a:ext uri="{FF2B5EF4-FFF2-40B4-BE49-F238E27FC236}">
                <a16:creationId xmlns:a16="http://schemas.microsoft.com/office/drawing/2014/main" id="{6CEE5324-01F0-45FB-83B0-40F39D3E3CE7}"/>
              </a:ext>
            </a:extLst>
          </p:cNvPr>
          <p:cNvSpPr>
            <a:spLocks noGrp="1"/>
          </p:cNvSpPr>
          <p:nvPr/>
        </p:nvSpPr>
        <p:spPr>
          <a:xfrm>
            <a:off x="2857500" y="30099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Semi-arid</a:t>
            </a:r>
          </a:p>
        </p:txBody>
      </p:sp>
      <p:sp>
        <p:nvSpPr>
          <p:cNvPr id="18" name="r2c2">
            <a:extLst>
              <a:ext uri="{FF2B5EF4-FFF2-40B4-BE49-F238E27FC236}">
                <a16:creationId xmlns:a16="http://schemas.microsoft.com/office/drawing/2014/main" id="{0EF2059F-E6A1-48C4-82B5-734B6617D594}"/>
              </a:ext>
            </a:extLst>
          </p:cNvPr>
          <p:cNvSpPr>
            <a:spLocks noGrp="1"/>
          </p:cNvSpPr>
          <p:nvPr/>
        </p:nvSpPr>
        <p:spPr>
          <a:xfrm>
            <a:off x="4400550" y="30099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Atlantic</a:t>
            </a:r>
          </a:p>
        </p:txBody>
      </p:sp>
      <p:sp>
        <p:nvSpPr>
          <p:cNvPr id="19" name="row-shade-3">
            <a:extLst>
              <a:ext uri="{FF2B5EF4-FFF2-40B4-BE49-F238E27FC236}">
                <a16:creationId xmlns:a16="http://schemas.microsoft.com/office/drawing/2014/main" id="{CA5EDB08-6E0E-43F2-AE82-01D7480CE191}"/>
              </a:ext>
            </a:extLst>
          </p:cNvPr>
          <p:cNvSpPr>
            <a:spLocks noGrp="1"/>
          </p:cNvSpPr>
          <p:nvPr/>
        </p:nvSpPr>
        <p:spPr>
          <a:xfrm>
            <a:off x="400050" y="3409950"/>
            <a:ext cx="5476875" cy="438150"/>
          </a:xfrm>
          <a:prstGeom prst="rect">
            <a:avLst/>
          </a:prstGeom>
          <a:solidFill>
            <a:srgbClr val="F8F0DC"/>
          </a:solidFill>
          <a:ln w="0">
            <a:noFill/>
            <a:prstDash val="solid"/>
          </a:ln>
        </p:spPr>
        <p:txBody>
          <a:bodyPr/>
          <a:lstStyle/>
          <a:p>
            <a:endParaRPr lang="en-US"/>
          </a:p>
        </p:txBody>
      </p:sp>
      <p:sp>
        <p:nvSpPr>
          <p:cNvPr id="20" name="r3c0">
            <a:extLst>
              <a:ext uri="{FF2B5EF4-FFF2-40B4-BE49-F238E27FC236}">
                <a16:creationId xmlns:a16="http://schemas.microsoft.com/office/drawing/2014/main" id="{BD9F7688-9DDA-4297-99C0-DFF4175D6106}"/>
              </a:ext>
            </a:extLst>
          </p:cNvPr>
          <p:cNvSpPr>
            <a:spLocks noGrp="1"/>
          </p:cNvSpPr>
          <p:nvPr/>
        </p:nvSpPr>
        <p:spPr>
          <a:xfrm>
            <a:off x="590550" y="3448050"/>
            <a:ext cx="1714500" cy="333375"/>
          </a:xfrm>
          <a:prstGeom prst="rect">
            <a:avLst/>
          </a:prstGeom>
          <a:noFill/>
          <a:ln w="0">
            <a:noFill/>
            <a:prstDash val="solid"/>
          </a:ln>
        </p:spPr>
        <p:txBody>
          <a:bodyPr/>
          <a:lstStyle/>
          <a:p>
            <a:pPr>
              <a:buNone/>
              <a:defRPr sz="1275" b="1">
                <a:solidFill>
                  <a:srgbClr val="5E6670"/>
                </a:solidFill>
                <a:latin typeface="Arial"/>
                <a:ea typeface="Arial"/>
                <a:cs typeface="Arial"/>
              </a:defRPr>
            </a:pPr>
            <a:r>
              <a:rPr sz="1275" b="1">
                <a:solidFill>
                  <a:srgbClr val="5E6670"/>
                </a:solidFill>
                <a:latin typeface="Arial"/>
                <a:ea typeface="Arial"/>
                <a:cs typeface="Arial"/>
              </a:rPr>
              <a:t>Production trend</a:t>
            </a:r>
          </a:p>
        </p:txBody>
      </p:sp>
      <p:sp>
        <p:nvSpPr>
          <p:cNvPr id="21" name="r3c1">
            <a:extLst>
              <a:ext uri="{FF2B5EF4-FFF2-40B4-BE49-F238E27FC236}">
                <a16:creationId xmlns:a16="http://schemas.microsoft.com/office/drawing/2014/main" id="{C133C7B0-35BE-4AF9-99A3-C28559E402E0}"/>
              </a:ext>
            </a:extLst>
          </p:cNvPr>
          <p:cNvSpPr>
            <a:spLocks noGrp="1"/>
          </p:cNvSpPr>
          <p:nvPr/>
        </p:nvSpPr>
        <p:spPr>
          <a:xfrm>
            <a:off x="2857500" y="344805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+80% rise</a:t>
            </a:r>
          </a:p>
        </p:txBody>
      </p:sp>
      <p:sp>
        <p:nvSpPr>
          <p:cNvPr id="22" name="r3c2">
            <a:extLst>
              <a:ext uri="{FF2B5EF4-FFF2-40B4-BE49-F238E27FC236}">
                <a16:creationId xmlns:a16="http://schemas.microsoft.com/office/drawing/2014/main" id="{93A27768-8C1B-4744-B326-91CFCDDBB314}"/>
              </a:ext>
            </a:extLst>
          </p:cNvPr>
          <p:cNvSpPr>
            <a:spLocks noGrp="1"/>
          </p:cNvSpPr>
          <p:nvPr/>
        </p:nvSpPr>
        <p:spPr>
          <a:xfrm>
            <a:off x="4400550" y="344805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-65% decline</a:t>
            </a:r>
          </a:p>
        </p:txBody>
      </p:sp>
      <p:sp>
        <p:nvSpPr>
          <p:cNvPr id="23" name="r4c0">
            <a:extLst>
              <a:ext uri="{FF2B5EF4-FFF2-40B4-BE49-F238E27FC236}">
                <a16:creationId xmlns:a16="http://schemas.microsoft.com/office/drawing/2014/main" id="{EB7CB1F5-1801-4AF9-8EED-46479601A0D3}"/>
              </a:ext>
            </a:extLst>
          </p:cNvPr>
          <p:cNvSpPr>
            <a:spLocks noGrp="1"/>
          </p:cNvSpPr>
          <p:nvPr/>
        </p:nvSpPr>
        <p:spPr>
          <a:xfrm>
            <a:off x="590550" y="3886200"/>
            <a:ext cx="1714500" cy="333375"/>
          </a:xfrm>
          <a:prstGeom prst="rect">
            <a:avLst/>
          </a:prstGeom>
          <a:noFill/>
          <a:ln w="0">
            <a:noFill/>
            <a:prstDash val="solid"/>
          </a:ln>
        </p:spPr>
        <p:txBody>
          <a:bodyPr/>
          <a:lstStyle/>
          <a:p>
            <a:pPr>
              <a:buNone/>
              <a:defRPr sz="1275" b="0">
                <a:solidFill>
                  <a:srgbClr val="5E6670"/>
                </a:solidFill>
                <a:latin typeface="Arial"/>
                <a:ea typeface="Arial"/>
                <a:cs typeface="Arial"/>
              </a:defRPr>
            </a:pPr>
            <a:r>
              <a:rPr sz="1275" b="0">
                <a:solidFill>
                  <a:srgbClr val="5E6670"/>
                </a:solidFill>
                <a:latin typeface="Arial"/>
                <a:ea typeface="Arial"/>
                <a:cs typeface="Arial"/>
              </a:rPr>
              <a:t>Walk-forward</a:t>
            </a:r>
          </a:p>
        </p:txBody>
      </p:sp>
      <p:sp>
        <p:nvSpPr>
          <p:cNvPr id="24" name="r4c1">
            <a:extLst>
              <a:ext uri="{FF2B5EF4-FFF2-40B4-BE49-F238E27FC236}">
                <a16:creationId xmlns:a16="http://schemas.microsoft.com/office/drawing/2014/main" id="{4AF64445-B578-4C7A-B3E3-421E98335E78}"/>
              </a:ext>
            </a:extLst>
          </p:cNvPr>
          <p:cNvSpPr>
            <a:spLocks noGrp="1"/>
          </p:cNvSpPr>
          <p:nvPr/>
        </p:nvSpPr>
        <p:spPr>
          <a:xfrm>
            <a:off x="2857500" y="3886200"/>
            <a:ext cx="114300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18 scenarios</a:t>
            </a:r>
          </a:p>
        </p:txBody>
      </p:sp>
      <p:sp>
        <p:nvSpPr>
          <p:cNvPr id="25" name="r4c2">
            <a:extLst>
              <a:ext uri="{FF2B5EF4-FFF2-40B4-BE49-F238E27FC236}">
                <a16:creationId xmlns:a16="http://schemas.microsoft.com/office/drawing/2014/main" id="{948CFE70-F26B-44C7-A63E-48701774D477}"/>
              </a:ext>
            </a:extLst>
          </p:cNvPr>
          <p:cNvSpPr>
            <a:spLocks noGrp="1"/>
          </p:cNvSpPr>
          <p:nvPr/>
        </p:nvSpPr>
        <p:spPr>
          <a:xfrm>
            <a:off x="4400550" y="3886200"/>
            <a:ext cx="1238250" cy="361950"/>
          </a:xfrm>
          <a:prstGeom prst="rect">
            <a:avLst/>
          </a:prstGeom>
          <a:noFill/>
          <a:ln w="0">
            <a:noFill/>
            <a:prstDash val="solid"/>
          </a:ln>
        </p:spPr>
        <p:txBody>
          <a:bodyPr/>
          <a:lstStyle/>
          <a:p>
            <a:pPr algn="ctr">
              <a:buNone/>
              <a:defRPr sz="1350">
                <a:solidFill>
                  <a:srgbClr val="111111"/>
                </a:solidFill>
                <a:latin typeface="Arial"/>
                <a:ea typeface="Arial"/>
                <a:cs typeface="Arial"/>
              </a:defRPr>
            </a:pPr>
            <a:r>
              <a:rPr sz="1350">
                <a:solidFill>
                  <a:srgbClr val="111111"/>
                </a:solidFill>
                <a:latin typeface="Arial"/>
                <a:ea typeface="Arial"/>
                <a:cs typeface="Arial"/>
              </a:rPr>
              <a:t>16 scenarios</a:t>
            </a:r>
          </a:p>
        </p:txBody>
      </p:sp>
      <p:sp>
        <p:nvSpPr>
          <p:cNvPr id="26" name="features-panel">
            <a:extLst>
              <a:ext uri="{FF2B5EF4-FFF2-40B4-BE49-F238E27FC236}">
                <a16:creationId xmlns:a16="http://schemas.microsoft.com/office/drawing/2014/main" id="{95D017DF-C509-4284-B600-E86885EA47D9}"/>
              </a:ext>
            </a:extLst>
          </p:cNvPr>
          <p:cNvSpPr>
            <a:spLocks noGrp="1"/>
          </p:cNvSpPr>
          <p:nvPr/>
        </p:nvSpPr>
        <p:spPr>
          <a:xfrm>
            <a:off x="6305550" y="1504950"/>
            <a:ext cx="5476875" cy="1143000"/>
          </a:xfrm>
          <a:prstGeom prst="rect">
            <a:avLst/>
          </a:prstGeom>
          <a:solidFill>
            <a:srgbClr val="F8F0DC"/>
          </a:solidFill>
          <a:ln w="0">
            <a:noFill/>
            <a:prstDash val="solid"/>
          </a:ln>
        </p:spPr>
        <p:txBody>
          <a:bodyPr/>
          <a:lstStyle/>
          <a:p>
            <a:endParaRPr lang="en-US"/>
          </a:p>
        </p:txBody>
      </p:sp>
      <p:sp>
        <p:nvSpPr>
          <p:cNvPr id="27" name="features-stripe">
            <a:extLst>
              <a:ext uri="{FF2B5EF4-FFF2-40B4-BE49-F238E27FC236}">
                <a16:creationId xmlns:a16="http://schemas.microsoft.com/office/drawing/2014/main" id="{67909127-005D-4EFE-B40B-9E661BEE2946}"/>
              </a:ext>
            </a:extLst>
          </p:cNvPr>
          <p:cNvSpPr>
            <a:spLocks noGrp="1"/>
          </p:cNvSpPr>
          <p:nvPr/>
        </p:nvSpPr>
        <p:spPr>
          <a:xfrm>
            <a:off x="6305550" y="1504950"/>
            <a:ext cx="76200" cy="1143000"/>
          </a:xfrm>
          <a:prstGeom prst="rect">
            <a:avLst/>
          </a:prstGeom>
          <a:solidFill>
            <a:srgbClr val="C79A41"/>
          </a:solidFill>
          <a:ln w="0">
            <a:noFill/>
            <a:prstDash val="solid"/>
          </a:ln>
        </p:spPr>
        <p:txBody>
          <a:bodyPr/>
          <a:lstStyle/>
          <a:p>
            <a:endParaRPr lang="en-US"/>
          </a:p>
        </p:txBody>
      </p:sp>
      <p:sp>
        <p:nvSpPr>
          <p:cNvPr id="28" name="features-title">
            <a:extLst>
              <a:ext uri="{FF2B5EF4-FFF2-40B4-BE49-F238E27FC236}">
                <a16:creationId xmlns:a16="http://schemas.microsoft.com/office/drawing/2014/main" id="{AD42C4DA-F5F3-4E4D-8BF0-62DD926CB7C4}"/>
              </a:ext>
            </a:extLst>
          </p:cNvPr>
          <p:cNvSpPr>
            <a:spLocks noGrp="1"/>
          </p:cNvSpPr>
          <p:nvPr/>
        </p:nvSpPr>
        <p:spPr>
          <a:xfrm>
            <a:off x="6572250" y="1714500"/>
            <a:ext cx="4000500" cy="266700"/>
          </a:xfrm>
          <a:prstGeom prst="rect">
            <a:avLst/>
          </a:prstGeom>
          <a:noFill/>
          <a:ln w="0">
            <a:noFill/>
            <a:prstDash val="solid"/>
          </a:ln>
        </p:spPr>
        <p:txBody>
          <a:bodyPr/>
          <a:lstStyle/>
          <a:p>
            <a:pPr>
              <a:buNone/>
              <a:defRPr sz="1500" b="1">
                <a:solidFill>
                  <a:srgbClr val="7B1E3A"/>
                </a:solidFill>
                <a:latin typeface="Arial"/>
                <a:ea typeface="Arial"/>
                <a:cs typeface="Arial"/>
              </a:defRPr>
            </a:pPr>
            <a:r>
              <a:rPr sz="1500" b="1">
                <a:solidFill>
                  <a:srgbClr val="7B1E3A"/>
                </a:solidFill>
                <a:latin typeface="Arial"/>
                <a:ea typeface="Arial"/>
                <a:cs typeface="Arial"/>
              </a:rPr>
              <a:t>59 agroclimatic features per region</a:t>
            </a:r>
          </a:p>
        </p:txBody>
      </p:sp>
      <p:sp>
        <p:nvSpPr>
          <p:cNvPr id="29" name="features-body">
            <a:extLst>
              <a:ext uri="{FF2B5EF4-FFF2-40B4-BE49-F238E27FC236}">
                <a16:creationId xmlns:a16="http://schemas.microsoft.com/office/drawing/2014/main" id="{C6E79B50-497E-4A4C-93A6-67386CBAE586}"/>
              </a:ext>
            </a:extLst>
          </p:cNvPr>
          <p:cNvSpPr>
            <a:spLocks noGrp="1"/>
          </p:cNvSpPr>
          <p:nvPr/>
        </p:nvSpPr>
        <p:spPr>
          <a:xfrm>
            <a:off x="6572250" y="2114550"/>
            <a:ext cx="4762500" cy="476250"/>
          </a:xfrm>
          <a:prstGeom prst="rect">
            <a:avLst/>
          </a:prstGeom>
          <a:noFill/>
          <a:ln w="0">
            <a:noFill/>
            <a:prstDash val="solid"/>
          </a:ln>
        </p:spPr>
        <p:txBody>
          <a:bodyPr/>
          <a:lstStyle/>
          <a:p>
            <a:pPr>
              <a:buNone/>
              <a:defRPr sz="1275">
                <a:solidFill>
                  <a:srgbClr val="111111"/>
                </a:solidFill>
                <a:latin typeface="Arial"/>
                <a:ea typeface="Arial"/>
                <a:cs typeface="Arial"/>
              </a:defRPr>
            </a:pPr>
            <a:r>
              <a:rPr sz="1275">
                <a:solidFill>
                  <a:srgbClr val="111111"/>
                </a:solidFill>
                <a:latin typeface="Arial"/>
                <a:ea typeface="Arial"/>
                <a:cs typeface="Arial"/>
              </a:rPr>
              <a:t>Temperature · rainfall · soil water · LAI</a:t>
            </a:r>
          </a:p>
          <a:p>
            <a:pPr>
              <a:buNone/>
              <a:defRPr sz="1275">
                <a:solidFill>
                  <a:srgbClr val="111111"/>
                </a:solidFill>
                <a:latin typeface="Arial"/>
                <a:ea typeface="Arial"/>
                <a:cs typeface="Arial"/>
              </a:defRPr>
            </a:pPr>
            <a:r>
              <a:rPr sz="1275">
                <a:solidFill>
                  <a:srgbClr val="111111"/>
                </a:solidFill>
                <a:latin typeface="Arial"/>
                <a:ea typeface="Arial"/>
                <a:cs typeface="Arial"/>
              </a:rPr>
              <a:t>Heat/frost days · prior-year lags</a:t>
            </a:r>
          </a:p>
          <a:p>
            <a:pPr>
              <a:buNone/>
              <a:defRPr sz="1275">
                <a:solidFill>
                  <a:srgbClr val="111111"/>
                </a:solidFill>
                <a:latin typeface="Arial"/>
                <a:ea typeface="Arial"/>
                <a:cs typeface="Arial"/>
              </a:defRPr>
            </a:pPr>
            <a:r>
              <a:rPr sz="1275">
                <a:solidFill>
                  <a:srgbClr val="111111"/>
                </a:solidFill>
                <a:latin typeface="Arial"/>
                <a:ea typeface="Arial"/>
                <a:cs typeface="Arial"/>
              </a:rPr>
              <a:t>Anchored on vine phenological dates</a:t>
            </a:r>
          </a:p>
        </p:txBody>
      </p:sp>
      <p:sp>
        <p:nvSpPr>
          <p:cNvPr id="30" name="alg-CarenR-panel">
            <a:extLst>
              <a:ext uri="{FF2B5EF4-FFF2-40B4-BE49-F238E27FC236}">
                <a16:creationId xmlns:a16="http://schemas.microsoft.com/office/drawing/2014/main" id="{CC84F10B-95C6-4903-8F7E-DE253B70ED51}"/>
              </a:ext>
            </a:extLst>
          </p:cNvPr>
          <p:cNvSpPr>
            <a:spLocks noGrp="1"/>
          </p:cNvSpPr>
          <p:nvPr/>
        </p:nvSpPr>
        <p:spPr>
          <a:xfrm>
            <a:off x="6305550" y="2952750"/>
            <a:ext cx="1743075" cy="1190625"/>
          </a:xfrm>
          <a:prstGeom prst="rect">
            <a:avLst/>
          </a:prstGeom>
          <a:solidFill>
            <a:srgbClr val="F7EAF0"/>
          </a:solidFill>
          <a:ln w="0">
            <a:noFill/>
            <a:prstDash val="solid"/>
          </a:ln>
        </p:spPr>
        <p:txBody>
          <a:bodyPr/>
          <a:lstStyle/>
          <a:p>
            <a:endParaRPr lang="en-US"/>
          </a:p>
        </p:txBody>
      </p:sp>
      <p:sp>
        <p:nvSpPr>
          <p:cNvPr id="31" name="alg-CarenR-stripe">
            <a:extLst>
              <a:ext uri="{FF2B5EF4-FFF2-40B4-BE49-F238E27FC236}">
                <a16:creationId xmlns:a16="http://schemas.microsoft.com/office/drawing/2014/main" id="{744B36E5-7ED6-4563-8682-FDFAB2B7E05E}"/>
              </a:ext>
            </a:extLst>
          </p:cNvPr>
          <p:cNvSpPr>
            <a:spLocks noGrp="1"/>
          </p:cNvSpPr>
          <p:nvPr/>
        </p:nvSpPr>
        <p:spPr>
          <a:xfrm>
            <a:off x="6305550" y="2952750"/>
            <a:ext cx="76200" cy="1190625"/>
          </a:xfrm>
          <a:prstGeom prst="rect">
            <a:avLst/>
          </a:prstGeom>
          <a:solidFill>
            <a:srgbClr val="7B1E3A"/>
          </a:solidFill>
          <a:ln w="0">
            <a:noFill/>
            <a:prstDash val="solid"/>
          </a:ln>
        </p:spPr>
        <p:txBody>
          <a:bodyPr/>
          <a:lstStyle/>
          <a:p>
            <a:endParaRPr lang="en-US"/>
          </a:p>
        </p:txBody>
      </p:sp>
      <p:sp>
        <p:nvSpPr>
          <p:cNvPr id="32" name="alg-title-CarenR">
            <a:extLst>
              <a:ext uri="{FF2B5EF4-FFF2-40B4-BE49-F238E27FC236}">
                <a16:creationId xmlns:a16="http://schemas.microsoft.com/office/drawing/2014/main" id="{C5DB6868-6C86-441E-A257-4EAE29173502}"/>
              </a:ext>
            </a:extLst>
          </p:cNvPr>
          <p:cNvSpPr>
            <a:spLocks noGrp="1"/>
          </p:cNvSpPr>
          <p:nvPr/>
        </p:nvSpPr>
        <p:spPr>
          <a:xfrm>
            <a:off x="6496050" y="3143250"/>
            <a:ext cx="1333500" cy="228600"/>
          </a:xfrm>
          <a:prstGeom prst="rect">
            <a:avLst/>
          </a:prstGeom>
          <a:noFill/>
          <a:ln w="0">
            <a:noFill/>
            <a:prstDash val="solid"/>
          </a:ln>
        </p:spPr>
        <p:txBody>
          <a:bodyPr/>
          <a:lstStyle/>
          <a:p>
            <a:pPr>
              <a:buNone/>
              <a:defRPr sz="1350" b="1">
                <a:solidFill>
                  <a:srgbClr val="7B1E3A"/>
                </a:solidFill>
                <a:latin typeface="Arial"/>
                <a:ea typeface="Arial"/>
                <a:cs typeface="Arial"/>
              </a:defRPr>
            </a:pPr>
            <a:r>
              <a:rPr sz="1350" b="1">
                <a:solidFill>
                  <a:srgbClr val="7B1E3A"/>
                </a:solidFill>
                <a:latin typeface="Arial"/>
                <a:ea typeface="Arial"/>
                <a:cs typeface="Arial"/>
              </a:rPr>
              <a:t>CarenR</a:t>
            </a:r>
          </a:p>
        </p:txBody>
      </p:sp>
      <p:sp>
        <p:nvSpPr>
          <p:cNvPr id="33" name="alg-body-CarenR">
            <a:extLst>
              <a:ext uri="{FF2B5EF4-FFF2-40B4-BE49-F238E27FC236}">
                <a16:creationId xmlns:a16="http://schemas.microsoft.com/office/drawing/2014/main" id="{B301D34E-F183-4F58-95F5-F9DA9D7C668F}"/>
              </a:ext>
            </a:extLst>
          </p:cNvPr>
          <p:cNvSpPr>
            <a:spLocks noGrp="1"/>
          </p:cNvSpPr>
          <p:nvPr/>
        </p:nvSpPr>
        <p:spPr>
          <a:xfrm>
            <a:off x="64960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Distributional</a:t>
            </a:r>
          </a:p>
          <a:p>
            <a:pPr>
              <a:buNone/>
              <a:defRPr sz="1125">
                <a:solidFill>
                  <a:srgbClr val="111111"/>
                </a:solidFill>
                <a:latin typeface="Arial"/>
                <a:ea typeface="Arial"/>
                <a:cs typeface="Arial"/>
              </a:defRPr>
            </a:pPr>
            <a:r>
              <a:rPr sz="1125">
                <a:solidFill>
                  <a:srgbClr val="111111"/>
                </a:solidFill>
                <a:latin typeface="Arial"/>
                <a:ea typeface="Arial"/>
                <a:cs typeface="Arial"/>
              </a:rPr>
              <a:t>rules · KS</a:t>
            </a:r>
          </a:p>
        </p:txBody>
      </p:sp>
      <p:sp>
        <p:nvSpPr>
          <p:cNvPr id="34" name="alg-RIPPER-panel">
            <a:extLst>
              <a:ext uri="{FF2B5EF4-FFF2-40B4-BE49-F238E27FC236}">
                <a16:creationId xmlns:a16="http://schemas.microsoft.com/office/drawing/2014/main" id="{BDC95BAA-7740-40D3-A37B-3E3D273E919F}"/>
              </a:ext>
            </a:extLst>
          </p:cNvPr>
          <p:cNvSpPr>
            <a:spLocks noGrp="1"/>
          </p:cNvSpPr>
          <p:nvPr/>
        </p:nvSpPr>
        <p:spPr>
          <a:xfrm>
            <a:off x="8172450" y="2952750"/>
            <a:ext cx="1743075" cy="1190625"/>
          </a:xfrm>
          <a:prstGeom prst="rect">
            <a:avLst/>
          </a:prstGeom>
          <a:solidFill>
            <a:srgbClr val="EAF5EE"/>
          </a:solidFill>
          <a:ln w="0">
            <a:noFill/>
            <a:prstDash val="solid"/>
          </a:ln>
        </p:spPr>
        <p:txBody>
          <a:bodyPr/>
          <a:lstStyle/>
          <a:p>
            <a:endParaRPr lang="en-US"/>
          </a:p>
        </p:txBody>
      </p:sp>
      <p:sp>
        <p:nvSpPr>
          <p:cNvPr id="35" name="alg-RIPPER-stripe">
            <a:extLst>
              <a:ext uri="{FF2B5EF4-FFF2-40B4-BE49-F238E27FC236}">
                <a16:creationId xmlns:a16="http://schemas.microsoft.com/office/drawing/2014/main" id="{6F556A2F-ADB5-442B-839F-119900136BCA}"/>
              </a:ext>
            </a:extLst>
          </p:cNvPr>
          <p:cNvSpPr>
            <a:spLocks noGrp="1"/>
          </p:cNvSpPr>
          <p:nvPr/>
        </p:nvSpPr>
        <p:spPr>
          <a:xfrm>
            <a:off x="8172450" y="2952750"/>
            <a:ext cx="76200" cy="1190625"/>
          </a:xfrm>
          <a:prstGeom prst="rect">
            <a:avLst/>
          </a:prstGeom>
          <a:solidFill>
            <a:srgbClr val="268A8A"/>
          </a:solidFill>
          <a:ln w="0">
            <a:noFill/>
            <a:prstDash val="solid"/>
          </a:ln>
        </p:spPr>
        <p:txBody>
          <a:bodyPr/>
          <a:lstStyle/>
          <a:p>
            <a:endParaRPr lang="en-US"/>
          </a:p>
        </p:txBody>
      </p:sp>
      <p:sp>
        <p:nvSpPr>
          <p:cNvPr id="36" name="alg-title-RIPPER">
            <a:extLst>
              <a:ext uri="{FF2B5EF4-FFF2-40B4-BE49-F238E27FC236}">
                <a16:creationId xmlns:a16="http://schemas.microsoft.com/office/drawing/2014/main" id="{28738C0C-5F98-4BAE-86D0-8989FD4F0688}"/>
              </a:ext>
            </a:extLst>
          </p:cNvPr>
          <p:cNvSpPr>
            <a:spLocks noGrp="1"/>
          </p:cNvSpPr>
          <p:nvPr/>
        </p:nvSpPr>
        <p:spPr>
          <a:xfrm>
            <a:off x="8362950" y="3143250"/>
            <a:ext cx="1333500" cy="228600"/>
          </a:xfrm>
          <a:prstGeom prst="rect">
            <a:avLst/>
          </a:prstGeom>
          <a:noFill/>
          <a:ln w="0">
            <a:noFill/>
            <a:prstDash val="solid"/>
          </a:ln>
        </p:spPr>
        <p:txBody>
          <a:bodyPr/>
          <a:lstStyle/>
          <a:p>
            <a:pPr>
              <a:buNone/>
              <a:defRPr sz="1350" b="1">
                <a:solidFill>
                  <a:srgbClr val="268A8A"/>
                </a:solidFill>
                <a:latin typeface="Arial"/>
                <a:ea typeface="Arial"/>
                <a:cs typeface="Arial"/>
              </a:defRPr>
            </a:pPr>
            <a:r>
              <a:rPr sz="1350" b="1">
                <a:solidFill>
                  <a:srgbClr val="268A8A"/>
                </a:solidFill>
                <a:latin typeface="Arial"/>
                <a:ea typeface="Arial"/>
                <a:cs typeface="Arial"/>
              </a:rPr>
              <a:t>RIPPER</a:t>
            </a:r>
          </a:p>
        </p:txBody>
      </p:sp>
      <p:sp>
        <p:nvSpPr>
          <p:cNvPr id="37" name="alg-body-RIPPER">
            <a:extLst>
              <a:ext uri="{FF2B5EF4-FFF2-40B4-BE49-F238E27FC236}">
                <a16:creationId xmlns:a16="http://schemas.microsoft.com/office/drawing/2014/main" id="{094AF391-4ED3-4B2A-AE89-0D63937C9DC3}"/>
              </a:ext>
            </a:extLst>
          </p:cNvPr>
          <p:cNvSpPr>
            <a:spLocks noGrp="1"/>
          </p:cNvSpPr>
          <p:nvPr/>
        </p:nvSpPr>
        <p:spPr>
          <a:xfrm>
            <a:off x="83629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Classification</a:t>
            </a:r>
          </a:p>
          <a:p>
            <a:pPr>
              <a:buNone/>
              <a:defRPr sz="1125">
                <a:solidFill>
                  <a:srgbClr val="111111"/>
                </a:solidFill>
                <a:latin typeface="Arial"/>
                <a:ea typeface="Arial"/>
                <a:cs typeface="Arial"/>
              </a:defRPr>
            </a:pPr>
            <a:r>
              <a:rPr sz="1125">
                <a:solidFill>
                  <a:srgbClr val="111111"/>
                </a:solidFill>
                <a:latin typeface="Arial"/>
                <a:ea typeface="Arial"/>
                <a:cs typeface="Arial"/>
              </a:rPr>
              <a:t>rules · FOIL</a:t>
            </a:r>
          </a:p>
        </p:txBody>
      </p:sp>
      <p:sp>
        <p:nvSpPr>
          <p:cNvPr id="38" name="alg-M5Rules-panel">
            <a:extLst>
              <a:ext uri="{FF2B5EF4-FFF2-40B4-BE49-F238E27FC236}">
                <a16:creationId xmlns:a16="http://schemas.microsoft.com/office/drawing/2014/main" id="{709F2445-AB6B-4A46-B346-C590B49CD2C3}"/>
              </a:ext>
            </a:extLst>
          </p:cNvPr>
          <p:cNvSpPr>
            <a:spLocks noGrp="1"/>
          </p:cNvSpPr>
          <p:nvPr/>
        </p:nvSpPr>
        <p:spPr>
          <a:xfrm>
            <a:off x="10039350" y="2952750"/>
            <a:ext cx="1743075" cy="1190625"/>
          </a:xfrm>
          <a:prstGeom prst="rect">
            <a:avLst/>
          </a:prstGeom>
          <a:solidFill>
            <a:srgbClr val="F8F0DC"/>
          </a:solidFill>
          <a:ln w="0">
            <a:noFill/>
            <a:prstDash val="solid"/>
          </a:ln>
        </p:spPr>
        <p:txBody>
          <a:bodyPr/>
          <a:lstStyle/>
          <a:p>
            <a:endParaRPr lang="en-US"/>
          </a:p>
        </p:txBody>
      </p:sp>
      <p:sp>
        <p:nvSpPr>
          <p:cNvPr id="39" name="alg-M5Rules-stripe">
            <a:extLst>
              <a:ext uri="{FF2B5EF4-FFF2-40B4-BE49-F238E27FC236}">
                <a16:creationId xmlns:a16="http://schemas.microsoft.com/office/drawing/2014/main" id="{6CD92377-4CF4-45A0-8C9D-314D64BCF1D0}"/>
              </a:ext>
            </a:extLst>
          </p:cNvPr>
          <p:cNvSpPr>
            <a:spLocks noGrp="1"/>
          </p:cNvSpPr>
          <p:nvPr/>
        </p:nvSpPr>
        <p:spPr>
          <a:xfrm>
            <a:off x="10039350" y="2952750"/>
            <a:ext cx="76200" cy="1190625"/>
          </a:xfrm>
          <a:prstGeom prst="rect">
            <a:avLst/>
          </a:prstGeom>
          <a:solidFill>
            <a:srgbClr val="5B4248"/>
          </a:solidFill>
          <a:ln w="0">
            <a:noFill/>
            <a:prstDash val="solid"/>
          </a:ln>
        </p:spPr>
        <p:txBody>
          <a:bodyPr/>
          <a:lstStyle/>
          <a:p>
            <a:endParaRPr lang="en-US"/>
          </a:p>
        </p:txBody>
      </p:sp>
      <p:sp>
        <p:nvSpPr>
          <p:cNvPr id="40" name="alg-title-M5Rules">
            <a:extLst>
              <a:ext uri="{FF2B5EF4-FFF2-40B4-BE49-F238E27FC236}">
                <a16:creationId xmlns:a16="http://schemas.microsoft.com/office/drawing/2014/main" id="{A14DD236-475A-480D-B44E-A1AA2AB40014}"/>
              </a:ext>
            </a:extLst>
          </p:cNvPr>
          <p:cNvSpPr>
            <a:spLocks noGrp="1"/>
          </p:cNvSpPr>
          <p:nvPr/>
        </p:nvSpPr>
        <p:spPr>
          <a:xfrm>
            <a:off x="10229850" y="3143250"/>
            <a:ext cx="1333500" cy="228600"/>
          </a:xfrm>
          <a:prstGeom prst="rect">
            <a:avLst/>
          </a:prstGeom>
          <a:noFill/>
          <a:ln w="0">
            <a:noFill/>
            <a:prstDash val="solid"/>
          </a:ln>
        </p:spPr>
        <p:txBody>
          <a:bodyPr/>
          <a:lstStyle/>
          <a:p>
            <a:pPr>
              <a:buNone/>
              <a:defRPr sz="1350" b="1">
                <a:solidFill>
                  <a:srgbClr val="5B4248"/>
                </a:solidFill>
                <a:latin typeface="Arial"/>
                <a:ea typeface="Arial"/>
                <a:cs typeface="Arial"/>
              </a:defRPr>
            </a:pPr>
            <a:r>
              <a:rPr sz="1350" b="1">
                <a:solidFill>
                  <a:srgbClr val="5B4248"/>
                </a:solidFill>
                <a:latin typeface="Arial"/>
                <a:ea typeface="Arial"/>
                <a:cs typeface="Arial"/>
              </a:rPr>
              <a:t>M5Rules</a:t>
            </a:r>
          </a:p>
        </p:txBody>
      </p:sp>
      <p:sp>
        <p:nvSpPr>
          <p:cNvPr id="41" name="alg-body-M5Rules">
            <a:extLst>
              <a:ext uri="{FF2B5EF4-FFF2-40B4-BE49-F238E27FC236}">
                <a16:creationId xmlns:a16="http://schemas.microsoft.com/office/drawing/2014/main" id="{FAF0C1A9-3BBE-4778-904C-9F6FC1C44D25}"/>
              </a:ext>
            </a:extLst>
          </p:cNvPr>
          <p:cNvSpPr>
            <a:spLocks noGrp="1"/>
          </p:cNvSpPr>
          <p:nvPr/>
        </p:nvSpPr>
        <p:spPr>
          <a:xfrm>
            <a:off x="10229850" y="3524250"/>
            <a:ext cx="1333500" cy="419100"/>
          </a:xfrm>
          <a:prstGeom prst="rect">
            <a:avLst/>
          </a:prstGeom>
          <a:noFill/>
          <a:ln w="0">
            <a:noFill/>
            <a:prstDash val="solid"/>
          </a:ln>
        </p:spPr>
        <p:txBody>
          <a:bodyPr/>
          <a:lstStyle/>
          <a:p>
            <a:pPr>
              <a:buNone/>
              <a:defRPr sz="1125">
                <a:solidFill>
                  <a:srgbClr val="111111"/>
                </a:solidFill>
                <a:latin typeface="Arial"/>
                <a:ea typeface="Arial"/>
                <a:cs typeface="Arial"/>
              </a:defRPr>
            </a:pPr>
            <a:r>
              <a:rPr sz="1125">
                <a:solidFill>
                  <a:srgbClr val="111111"/>
                </a:solidFill>
                <a:latin typeface="Arial"/>
                <a:ea typeface="Arial"/>
                <a:cs typeface="Arial"/>
              </a:rPr>
              <a:t>Piecewise</a:t>
            </a:r>
          </a:p>
          <a:p>
            <a:pPr>
              <a:buNone/>
              <a:defRPr sz="1125">
                <a:solidFill>
                  <a:srgbClr val="111111"/>
                </a:solidFill>
                <a:latin typeface="Arial"/>
                <a:ea typeface="Arial"/>
                <a:cs typeface="Arial"/>
              </a:defRPr>
            </a:pPr>
            <a:r>
              <a:rPr sz="1125">
                <a:solidFill>
                  <a:srgbClr val="111111"/>
                </a:solidFill>
                <a:latin typeface="Arial"/>
                <a:ea typeface="Arial"/>
                <a:cs typeface="Arial"/>
              </a:rPr>
              <a:t>rules · MSE</a:t>
            </a:r>
          </a:p>
        </p:txBody>
      </p:sp>
      <p:sp>
        <p:nvSpPr>
          <p:cNvPr id="42" name="validation-panel">
            <a:extLst>
              <a:ext uri="{FF2B5EF4-FFF2-40B4-BE49-F238E27FC236}">
                <a16:creationId xmlns:a16="http://schemas.microsoft.com/office/drawing/2014/main" id="{60D82F10-0FAA-41EC-B789-E72B789FDAC7}"/>
              </a:ext>
            </a:extLst>
          </p:cNvPr>
          <p:cNvSpPr>
            <a:spLocks noGrp="1"/>
          </p:cNvSpPr>
          <p:nvPr/>
        </p:nvSpPr>
        <p:spPr>
          <a:xfrm>
            <a:off x="400050" y="4714875"/>
            <a:ext cx="11382375" cy="952500"/>
          </a:xfrm>
          <a:prstGeom prst="rect">
            <a:avLst/>
          </a:prstGeom>
          <a:solidFill>
            <a:srgbClr val="F0F1F2"/>
          </a:solidFill>
          <a:ln w="0">
            <a:noFill/>
            <a:prstDash val="solid"/>
          </a:ln>
        </p:spPr>
        <p:txBody>
          <a:bodyPr/>
          <a:lstStyle/>
          <a:p>
            <a:endParaRPr lang="en-US"/>
          </a:p>
        </p:txBody>
      </p:sp>
      <p:sp>
        <p:nvSpPr>
          <p:cNvPr id="43" name="validation-stripe">
            <a:extLst>
              <a:ext uri="{FF2B5EF4-FFF2-40B4-BE49-F238E27FC236}">
                <a16:creationId xmlns:a16="http://schemas.microsoft.com/office/drawing/2014/main" id="{F31E0CDD-4BC4-4042-AB4B-2F0342D246D1}"/>
              </a:ext>
            </a:extLst>
          </p:cNvPr>
          <p:cNvSpPr>
            <a:spLocks noGrp="1"/>
          </p:cNvSpPr>
          <p:nvPr/>
        </p:nvSpPr>
        <p:spPr>
          <a:xfrm>
            <a:off x="400050" y="4714875"/>
            <a:ext cx="76200" cy="952500"/>
          </a:xfrm>
          <a:prstGeom prst="rect">
            <a:avLst/>
          </a:prstGeom>
          <a:solidFill>
            <a:srgbClr val="7B1E3A"/>
          </a:solidFill>
          <a:ln w="0">
            <a:noFill/>
            <a:prstDash val="solid"/>
          </a:ln>
        </p:spPr>
        <p:txBody>
          <a:bodyPr/>
          <a:lstStyle/>
          <a:p>
            <a:endParaRPr lang="en-US"/>
          </a:p>
        </p:txBody>
      </p:sp>
      <p:sp>
        <p:nvSpPr>
          <p:cNvPr id="44" name="validation-main">
            <a:extLst>
              <a:ext uri="{FF2B5EF4-FFF2-40B4-BE49-F238E27FC236}">
                <a16:creationId xmlns:a16="http://schemas.microsoft.com/office/drawing/2014/main" id="{8490D7AA-05E8-4552-ADAB-857B58D23C55}"/>
              </a:ext>
            </a:extLst>
          </p:cNvPr>
          <p:cNvSpPr>
            <a:spLocks noGrp="1"/>
          </p:cNvSpPr>
          <p:nvPr/>
        </p:nvSpPr>
        <p:spPr>
          <a:xfrm>
            <a:off x="952500" y="4933950"/>
            <a:ext cx="4953000" cy="247650"/>
          </a:xfrm>
          <a:prstGeom prst="rect">
            <a:avLst/>
          </a:prstGeom>
          <a:noFill/>
          <a:ln w="0">
            <a:noFill/>
            <a:prstDash val="solid"/>
          </a:ln>
        </p:spPr>
        <p:txBody>
          <a:bodyPr/>
          <a:lstStyle/>
          <a:p>
            <a:pPr>
              <a:buNone/>
              <a:defRPr sz="1650" b="1">
                <a:solidFill>
                  <a:srgbClr val="7B1E3A"/>
                </a:solidFill>
                <a:latin typeface="Arial"/>
                <a:ea typeface="Arial"/>
                <a:cs typeface="Arial"/>
              </a:defRPr>
            </a:pPr>
            <a:r>
              <a:rPr sz="1650" b="1">
                <a:solidFill>
                  <a:srgbClr val="7B1E3A"/>
                </a:solidFill>
                <a:latin typeface="Arial"/>
                <a:ea typeface="Arial"/>
                <a:cs typeface="Arial"/>
              </a:rPr>
              <a:t>Walk-forward expanding-window validation</a:t>
            </a:r>
          </a:p>
        </p:txBody>
      </p:sp>
      <p:sp>
        <p:nvSpPr>
          <p:cNvPr id="45" name="validation-sub">
            <a:extLst>
              <a:ext uri="{FF2B5EF4-FFF2-40B4-BE49-F238E27FC236}">
                <a16:creationId xmlns:a16="http://schemas.microsoft.com/office/drawing/2014/main" id="{C4FDF98B-F1AE-49F9-8E4E-43FA64005276}"/>
              </a:ext>
            </a:extLst>
          </p:cNvPr>
          <p:cNvSpPr>
            <a:spLocks noGrp="1"/>
          </p:cNvSpPr>
          <p:nvPr/>
        </p:nvSpPr>
        <p:spPr>
          <a:xfrm>
            <a:off x="952500" y="5314950"/>
            <a:ext cx="9906000" cy="228600"/>
          </a:xfrm>
          <a:prstGeom prst="rect">
            <a:avLst/>
          </a:prstGeom>
          <a:noFill/>
          <a:ln w="0">
            <a:noFill/>
            <a:prstDash val="solid"/>
          </a:ln>
        </p:spPr>
        <p:txBody>
          <a:bodyPr/>
          <a:lstStyle/>
          <a:p>
            <a:pPr>
              <a:buNone/>
              <a:defRPr sz="1350">
                <a:solidFill>
                  <a:srgbClr val="111111"/>
                </a:solidFill>
                <a:latin typeface="Arial"/>
                <a:ea typeface="Arial"/>
                <a:cs typeface="Arial"/>
              </a:defRPr>
            </a:pPr>
            <a:r>
              <a:rPr sz="1350">
                <a:solidFill>
                  <a:srgbClr val="111111"/>
                </a:solidFill>
                <a:latin typeface="Arial"/>
                <a:ea typeface="Arial"/>
                <a:cs typeface="Arial"/>
              </a:rPr>
              <a:t>All preprocessing stays inside each training fold: detrending, discretisation, feature selection and rule induction.</a:t>
            </a:r>
          </a:p>
        </p:txBody>
      </p:sp>
      <p:sp>
        <p:nvSpPr>
          <p:cNvPr id="47" name="slide-number">
            <a:extLst>
              <a:ext uri="{FF2B5EF4-FFF2-40B4-BE49-F238E27FC236}">
                <a16:creationId xmlns:a16="http://schemas.microsoft.com/office/drawing/2014/main" id="{CCEE83D0-8A64-4C04-B88B-D2FD29F60A89}"/>
              </a:ext>
            </a:extLst>
          </p:cNvPr>
          <p:cNvSpPr>
            <a:spLocks noGrp="1"/>
          </p:cNvSpPr>
          <p:nvPr/>
        </p:nvSpPr>
        <p:spPr>
          <a:xfrm>
            <a:off x="11287125" y="6381750"/>
            <a:ext cx="457200" cy="190500"/>
          </a:xfrm>
          <a:prstGeom prst="rect">
            <a:avLst/>
          </a:prstGeom>
          <a:noFill/>
          <a:ln w="0">
            <a:noFill/>
            <a:prstDash val="solid"/>
          </a:ln>
        </p:spPr>
        <p:txBody>
          <a:bodyPr/>
          <a:lstStyle/>
          <a:p>
            <a:endParaRPr/>
          </a:p>
        </p:txBody>
      </p:sp>
      <p:sp>
        <p:nvSpPr>
          <p:cNvPr id="48" name="slide-number-11">
            <a:extLst>
              <a:ext uri="{FF2B5EF4-FFF2-40B4-BE49-F238E27FC236}">
                <a16:creationId xmlns:a16="http://schemas.microsoft.com/office/drawing/2014/main" id="{26613B52-979B-4481-B51E-EBC786171242}"/>
              </a:ext>
            </a:extLst>
          </p:cNvPr>
          <p:cNvSpPr>
            <a:spLocks noGrp="1"/>
          </p:cNvSpPr>
          <p:nvPr/>
        </p:nvSpPr>
        <p:spPr>
          <a:xfrm>
            <a:off x="11287125" y="6381750"/>
            <a:ext cx="457200" cy="190500"/>
          </a:xfrm>
          <a:prstGeom prst="rect">
            <a:avLst/>
          </a:prstGeom>
          <a:noFill/>
          <a:ln w="0">
            <a:noFill/>
            <a:prstDash val="solid"/>
          </a:ln>
        </p:spPr>
        <p:txBody>
          <a:bodyPr/>
          <a:lstStyle/>
          <a:p>
            <a:pPr algn="r">
              <a:buNone/>
              <a:defRPr sz="750">
                <a:solidFill>
                  <a:srgbClr val="5E6670"/>
                </a:solidFill>
                <a:latin typeface="Arial"/>
                <a:ea typeface="Arial"/>
                <a:cs typeface="Arial"/>
              </a:defRPr>
            </a:pPr>
            <a:r>
              <a:rPr sz="750">
                <a:solidFill>
                  <a:srgbClr val="5E6670"/>
                </a:solidFill>
                <a:latin typeface="Arial"/>
                <a:ea typeface="Arial"/>
                <a:cs typeface="Arial"/>
              </a:rPr>
              <a:t>09</a:t>
            </a:r>
          </a:p>
        </p:txBody>
      </p:sp>
    </p:spTree>
    <p:extLst>
      <p:ext uri="{BB962C8B-B14F-4D97-AF65-F5344CB8AC3E}">
        <p14:creationId xmlns:p14="http://schemas.microsoft.com/office/powerpoint/2010/main" val="3893870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What the rules actually say</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5" name="Shape 3"/>
          <p:cNvSpPr/>
          <p:nvPr/>
        </p:nvSpPr>
        <p:spPr>
          <a:xfrm>
            <a:off x="10945368"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6" name="Shape 4"/>
          <p:cNvSpPr/>
          <p:nvPr/>
        </p:nvSpPr>
        <p:spPr>
          <a:xfrm>
            <a:off x="11279124"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3  ·  </a:t>
            </a:r>
            <a:r>
              <a:rPr lang="en-US" sz="1100" b="1" dirty="0">
                <a:solidFill>
                  <a:srgbClr val="6D2E46"/>
                </a:solidFill>
                <a:latin typeface="Calibri" pitchFamily="34" charset="0"/>
                <a:ea typeface="Calibri" pitchFamily="34" charset="-122"/>
                <a:cs typeface="Calibri" pitchFamily="34" charset="-120"/>
              </a:rPr>
              <a:t>REAL</a:t>
            </a:r>
            <a:endParaRPr lang="en-US" sz="1100" dirty="0"/>
          </a:p>
        </p:txBody>
      </p:sp>
      <p:sp>
        <p:nvSpPr>
          <p:cNvPr id="9" name="Text 7"/>
          <p:cNvSpPr/>
          <p:nvPr/>
        </p:nvSpPr>
        <p:spPr>
          <a:xfrm>
            <a:off x="640080" y="1600200"/>
            <a:ext cx="10881360" cy="365760"/>
          </a:xfrm>
          <a:prstGeom prst="rect">
            <a:avLst/>
          </a:prstGeom>
          <a:noFill/>
          <a:ln/>
        </p:spPr>
        <p:txBody>
          <a:bodyPr wrap="square" lIns="0" tIns="0" rIns="0" bIns="0" rtlCol="0" anchor="ctr"/>
          <a:lstStyle/>
          <a:p>
            <a:pPr marL="0" indent="0">
              <a:buNone/>
            </a:pPr>
            <a:r>
              <a:rPr lang="en-US" sz="1450" dirty="0">
                <a:solidFill>
                  <a:srgbClr val="2B2320"/>
                </a:solidFill>
                <a:latin typeface="Calibri" pitchFamily="34" charset="0"/>
                <a:ea typeface="Calibri" pitchFamily="34" charset="-122"/>
                <a:cs typeface="Calibri" pitchFamily="34" charset="-120"/>
              </a:rPr>
              <a:t>The same variable — soil water 20 days before harvest — flips sign between regions:</a:t>
            </a:r>
            <a:endParaRPr lang="en-US" sz="1450" dirty="0"/>
          </a:p>
        </p:txBody>
      </p:sp>
      <p:sp>
        <p:nvSpPr>
          <p:cNvPr id="10" name="Shape 8"/>
          <p:cNvSpPr/>
          <p:nvPr/>
        </p:nvSpPr>
        <p:spPr>
          <a:xfrm>
            <a:off x="640080" y="2148840"/>
            <a:ext cx="4892040" cy="2514600"/>
          </a:xfrm>
          <a:prstGeom prst="roundRect">
            <a:avLst>
              <a:gd name="adj" fmla="val 2909"/>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lang="en-US"/>
          </a:p>
        </p:txBody>
      </p:sp>
      <p:sp>
        <p:nvSpPr>
          <p:cNvPr id="11" name="Text 9"/>
          <p:cNvSpPr/>
          <p:nvPr/>
        </p:nvSpPr>
        <p:spPr>
          <a:xfrm>
            <a:off x="640080" y="2377440"/>
            <a:ext cx="4892040" cy="365760"/>
          </a:xfrm>
          <a:prstGeom prst="rect">
            <a:avLst/>
          </a:prstGeom>
          <a:noFill/>
          <a:ln/>
        </p:spPr>
        <p:txBody>
          <a:bodyPr wrap="square" lIns="0" tIns="0" rIns="0" bIns="0" rtlCol="0" anchor="ctr"/>
          <a:lstStyle/>
          <a:p>
            <a:pPr marL="0" indent="0" algn="ctr">
              <a:buNone/>
            </a:pPr>
            <a:r>
              <a:rPr lang="en-US" sz="1300" b="1" kern="0" spc="200" dirty="0">
                <a:solidFill>
                  <a:srgbClr val="7A2E39"/>
                </a:solidFill>
                <a:latin typeface="Calibri" pitchFamily="34" charset="0"/>
                <a:ea typeface="Calibri" pitchFamily="34" charset="-122"/>
                <a:cs typeface="Calibri" pitchFamily="34" charset="-120"/>
              </a:rPr>
              <a:t>DOURO</a:t>
            </a:r>
            <a:endParaRPr lang="en-US" sz="1300" dirty="0"/>
          </a:p>
        </p:txBody>
      </p:sp>
      <p:sp>
        <p:nvSpPr>
          <p:cNvPr id="12" name="Text 10"/>
          <p:cNvSpPr/>
          <p:nvPr/>
        </p:nvSpPr>
        <p:spPr>
          <a:xfrm>
            <a:off x="640080" y="2697480"/>
            <a:ext cx="4892040" cy="731520"/>
          </a:xfrm>
          <a:prstGeom prst="rect">
            <a:avLst/>
          </a:prstGeom>
          <a:noFill/>
          <a:ln/>
        </p:spPr>
        <p:txBody>
          <a:bodyPr wrap="square" lIns="0" tIns="0" rIns="0" bIns="0" rtlCol="0" anchor="ctr"/>
          <a:lstStyle/>
          <a:p>
            <a:pPr marL="0" indent="0" algn="ctr">
              <a:buNone/>
            </a:pPr>
            <a:r>
              <a:rPr lang="en-US" sz="4000" b="1" dirty="0">
                <a:solidFill>
                  <a:srgbClr val="7A2E39"/>
                </a:solidFill>
                <a:latin typeface="Cambria" pitchFamily="34" charset="0"/>
                <a:ea typeface="Cambria" pitchFamily="34" charset="-122"/>
                <a:cs typeface="Cambria" pitchFamily="34" charset="-120"/>
              </a:rPr>
              <a:t>+192 mhl</a:t>
            </a:r>
            <a:endParaRPr lang="en-US" sz="4000" dirty="0"/>
          </a:p>
        </p:txBody>
      </p:sp>
      <p:sp>
        <p:nvSpPr>
          <p:cNvPr id="13" name="Text 11"/>
          <p:cNvSpPr/>
          <p:nvPr/>
        </p:nvSpPr>
        <p:spPr>
          <a:xfrm>
            <a:off x="868680" y="3566160"/>
            <a:ext cx="4434840" cy="8229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Moderate deficit = berry concentration.</a:t>
            </a:r>
            <a:endParaRPr lang="en-US" sz="1350" dirty="0"/>
          </a:p>
          <a:p>
            <a:pPr marL="0" indent="0" algn="ctr">
              <a:buNone/>
            </a:pPr>
            <a:r>
              <a:rPr lang="en-US" sz="1350" dirty="0">
                <a:solidFill>
                  <a:srgbClr val="2B2320"/>
                </a:solidFill>
                <a:latin typeface="Calibri" pitchFamily="34" charset="0"/>
                <a:ea typeface="Calibri" pitchFamily="34" charset="-122"/>
                <a:cs typeface="Calibri" pitchFamily="34" charset="-120"/>
              </a:rPr>
              <a:t>A dry-climate sweet spot → above trend.</a:t>
            </a:r>
            <a:endParaRPr lang="en-US" sz="1350" dirty="0"/>
          </a:p>
        </p:txBody>
      </p:sp>
      <p:sp>
        <p:nvSpPr>
          <p:cNvPr id="14" name="Shape 12"/>
          <p:cNvSpPr/>
          <p:nvPr/>
        </p:nvSpPr>
        <p:spPr>
          <a:xfrm>
            <a:off x="6446520" y="2148840"/>
            <a:ext cx="4892040" cy="2514600"/>
          </a:xfrm>
          <a:prstGeom prst="roundRect">
            <a:avLst>
              <a:gd name="adj" fmla="val 2909"/>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lang="en-US"/>
          </a:p>
        </p:txBody>
      </p:sp>
      <p:sp>
        <p:nvSpPr>
          <p:cNvPr id="15" name="Text 13"/>
          <p:cNvSpPr/>
          <p:nvPr/>
        </p:nvSpPr>
        <p:spPr>
          <a:xfrm>
            <a:off x="6446520" y="2377440"/>
            <a:ext cx="4892040" cy="365760"/>
          </a:xfrm>
          <a:prstGeom prst="rect">
            <a:avLst/>
          </a:prstGeom>
          <a:noFill/>
          <a:ln/>
        </p:spPr>
        <p:txBody>
          <a:bodyPr wrap="square" lIns="0" tIns="0" rIns="0" bIns="0" rtlCol="0" anchor="ctr"/>
          <a:lstStyle/>
          <a:p>
            <a:pPr marL="0" indent="0" algn="ctr">
              <a:buNone/>
            </a:pPr>
            <a:r>
              <a:rPr lang="en-US" sz="1300" b="1" kern="0" spc="200" dirty="0">
                <a:solidFill>
                  <a:srgbClr val="5E7148"/>
                </a:solidFill>
                <a:latin typeface="Calibri" pitchFamily="34" charset="0"/>
                <a:ea typeface="Calibri" pitchFamily="34" charset="-122"/>
                <a:cs typeface="Calibri" pitchFamily="34" charset="-120"/>
              </a:rPr>
              <a:t>VINHO VERDE</a:t>
            </a:r>
            <a:endParaRPr lang="en-US" sz="1300" dirty="0"/>
          </a:p>
        </p:txBody>
      </p:sp>
      <p:sp>
        <p:nvSpPr>
          <p:cNvPr id="16" name="Text 14"/>
          <p:cNvSpPr/>
          <p:nvPr/>
        </p:nvSpPr>
        <p:spPr>
          <a:xfrm>
            <a:off x="6446520" y="2697480"/>
            <a:ext cx="4892040" cy="731520"/>
          </a:xfrm>
          <a:prstGeom prst="rect">
            <a:avLst/>
          </a:prstGeom>
          <a:noFill/>
          <a:ln/>
        </p:spPr>
        <p:txBody>
          <a:bodyPr wrap="square" lIns="0" tIns="0" rIns="0" bIns="0" rtlCol="0" anchor="ctr"/>
          <a:lstStyle/>
          <a:p>
            <a:pPr marL="0" indent="0" algn="ctr">
              <a:buNone/>
            </a:pPr>
            <a:r>
              <a:rPr lang="en-US" sz="4000" b="1" dirty="0">
                <a:solidFill>
                  <a:srgbClr val="5E7148"/>
                </a:solidFill>
                <a:latin typeface="Cambria" pitchFamily="34" charset="0"/>
                <a:ea typeface="Cambria" pitchFamily="34" charset="-122"/>
                <a:cs typeface="Cambria" pitchFamily="34" charset="-120"/>
              </a:rPr>
              <a:t>−338 mhl</a:t>
            </a:r>
            <a:endParaRPr lang="en-US" sz="4000" dirty="0"/>
          </a:p>
        </p:txBody>
      </p:sp>
      <p:sp>
        <p:nvSpPr>
          <p:cNvPr id="17" name="Text 15"/>
          <p:cNvSpPr/>
          <p:nvPr/>
        </p:nvSpPr>
        <p:spPr>
          <a:xfrm>
            <a:off x="6675120" y="3566160"/>
            <a:ext cx="4434840" cy="822960"/>
          </a:xfrm>
          <a:prstGeom prst="rect">
            <a:avLst/>
          </a:prstGeom>
          <a:noFill/>
          <a:ln/>
        </p:spPr>
        <p:txBody>
          <a:bodyPr wrap="square" lIns="0" tIns="0" rIns="0" bIns="0" rtlCol="0" anchor="ctr"/>
          <a:lstStyle/>
          <a:p>
            <a:pPr marL="0" indent="0" algn="ctr">
              <a:buNone/>
            </a:pPr>
            <a:r>
              <a:rPr lang="en-US" sz="1350" dirty="0">
                <a:solidFill>
                  <a:srgbClr val="2B2320"/>
                </a:solidFill>
                <a:latin typeface="Calibri" pitchFamily="34" charset="0"/>
                <a:ea typeface="Calibri" pitchFamily="34" charset="-122"/>
                <a:cs typeface="Calibri" pitchFamily="34" charset="-120"/>
              </a:rPr>
              <a:t>Same range = cool, wet, low-quality years.</a:t>
            </a:r>
            <a:endParaRPr lang="en-US" sz="1350" dirty="0"/>
          </a:p>
          <a:p>
            <a:pPr marL="0" indent="0" algn="ctr">
              <a:buNone/>
            </a:pPr>
            <a:r>
              <a:rPr lang="en-US" sz="1350" dirty="0">
                <a:solidFill>
                  <a:srgbClr val="2B2320"/>
                </a:solidFill>
                <a:latin typeface="Calibri" pitchFamily="34" charset="0"/>
                <a:ea typeface="Calibri" pitchFamily="34" charset="-122"/>
                <a:cs typeface="Calibri" pitchFamily="34" charset="-120"/>
              </a:rPr>
              <a:t>An Atlantic-climate penalty → below trend.</a:t>
            </a:r>
            <a:endParaRPr lang="en-US" sz="1350" dirty="0"/>
          </a:p>
        </p:txBody>
      </p:sp>
      <p:sp>
        <p:nvSpPr>
          <p:cNvPr id="18" name="Shape 16"/>
          <p:cNvSpPr/>
          <p:nvPr/>
        </p:nvSpPr>
        <p:spPr>
          <a:xfrm>
            <a:off x="5532120" y="3017520"/>
            <a:ext cx="1234440" cy="1234440"/>
          </a:xfrm>
          <a:prstGeom prst="ellipse">
            <a:avLst/>
          </a:prstGeom>
          <a:solidFill>
            <a:srgbClr val="6D2E46"/>
          </a:solidFill>
          <a:ln w="25400">
            <a:solidFill>
              <a:srgbClr val="C89B3C"/>
            </a:solidFill>
            <a:prstDash val="solid"/>
          </a:ln>
          <a:effectLst>
            <a:outerShdw blurRad="88900" dist="38100" dir="5400000" algn="bl" rotWithShape="0">
              <a:srgbClr val="000000">
                <a:alpha val="14000"/>
              </a:srgbClr>
            </a:outerShdw>
          </a:effectLst>
        </p:spPr>
        <p:txBody>
          <a:bodyPr/>
          <a:lstStyle/>
          <a:p>
            <a:endParaRPr lang="en-US"/>
          </a:p>
        </p:txBody>
      </p:sp>
      <p:sp>
        <p:nvSpPr>
          <p:cNvPr id="19" name="Text 17"/>
          <p:cNvSpPr/>
          <p:nvPr/>
        </p:nvSpPr>
        <p:spPr>
          <a:xfrm>
            <a:off x="5532120" y="3017520"/>
            <a:ext cx="1234440" cy="123444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SAME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20" name="Text 18"/>
          <p:cNvSpPr/>
          <p:nvPr/>
        </p:nvSpPr>
        <p:spPr>
          <a:xfrm>
            <a:off x="640080" y="4983480"/>
            <a:ext cx="10881360" cy="822960"/>
          </a:xfrm>
          <a:prstGeom prst="rect">
            <a:avLst/>
          </a:prstGeom>
          <a:noFill/>
          <a:ln/>
        </p:spPr>
        <p:txBody>
          <a:bodyPr wrap="square" lIns="0" tIns="0" rIns="0" bIns="0" rtlCol="0" anchor="ctr"/>
          <a:lstStyle/>
          <a:p>
            <a:pPr marL="0" indent="0" algn="ctr">
              <a:buNone/>
            </a:pPr>
            <a:r>
              <a:rPr lang="en-US" sz="1550" i="1" dirty="0">
                <a:solidFill>
                  <a:srgbClr val="6D2E46"/>
                </a:solidFill>
                <a:latin typeface="Cambria" pitchFamily="34" charset="0"/>
                <a:ea typeface="Cambria" pitchFamily="34" charset="-122"/>
                <a:cs typeface="Cambria" pitchFamily="34" charset="-120"/>
              </a:rPr>
              <a:t>CarenR detects opposite signals in each region without ever seeing them together — it resolves a sign reversal correctly. That is real domain structure, not overfitting.</a:t>
            </a:r>
            <a:endParaRPr lang="en-US" sz="1550" dirty="0"/>
          </a:p>
        </p:txBody>
      </p:sp>
      <p:sp>
        <p:nvSpPr>
          <p:cNvPr id="21" name="Text 19"/>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The honest result: nobody beats the median</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6" name="Shape 4"/>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4  ·  </a:t>
            </a:r>
            <a:r>
              <a:rPr lang="en-US" sz="1100" b="1" dirty="0">
                <a:solidFill>
                  <a:srgbClr val="6D2E46"/>
                </a:solidFill>
                <a:latin typeface="Calibri" pitchFamily="34" charset="0"/>
                <a:ea typeface="Calibri" pitchFamily="34" charset="-122"/>
                <a:cs typeface="Calibri" pitchFamily="34" charset="-120"/>
              </a:rPr>
              <a:t>LAWFUL FAILURE</a:t>
            </a:r>
            <a:endParaRPr lang="en-US" sz="1100" dirty="0"/>
          </a:p>
        </p:txBody>
      </p:sp>
      <p:pic>
        <p:nvPicPr>
          <p:cNvPr id="9" name="Image 0" descr="/sessions/trusting-lucid-keller/mnt/Thesis/latex/figures/fig51_weighted_mae_rdd.png"/>
          <p:cNvPicPr>
            <a:picLocks noChangeAspect="1"/>
          </p:cNvPicPr>
          <p:nvPr/>
        </p:nvPicPr>
        <p:blipFill>
          <a:blip r:embed="rId3"/>
          <a:stretch>
            <a:fillRect/>
          </a:stretch>
        </p:blipFill>
        <p:spPr>
          <a:xfrm>
            <a:off x="548640" y="1828800"/>
            <a:ext cx="6400800" cy="3839712"/>
          </a:xfrm>
          <a:prstGeom prst="rect">
            <a:avLst/>
          </a:prstGeom>
        </p:spPr>
      </p:pic>
      <p:sp>
        <p:nvSpPr>
          <p:cNvPr id="10" name="Text 7"/>
          <p:cNvSpPr/>
          <p:nvPr/>
        </p:nvSpPr>
        <p:spPr>
          <a:xfrm>
            <a:off x="548640" y="5686800"/>
            <a:ext cx="6400800" cy="274320"/>
          </a:xfrm>
          <a:prstGeom prst="rect">
            <a:avLst/>
          </a:prstGeom>
          <a:noFill/>
          <a:ln/>
        </p:spPr>
        <p:txBody>
          <a:bodyPr wrap="square" lIns="0" tIns="0" rIns="0" bIns="0" rtlCol="0" anchor="ctr"/>
          <a:lstStyle/>
          <a:p>
            <a:pPr marL="0" indent="0" algn="ctr">
              <a:buNone/>
            </a:pPr>
            <a:r>
              <a:rPr lang="en-US" sz="1100" i="1" dirty="0">
                <a:solidFill>
                  <a:srgbClr val="7A6F5E"/>
                </a:solidFill>
                <a:latin typeface="Calibri" pitchFamily="34" charset="0"/>
                <a:ea typeface="Calibri" pitchFamily="34" charset="-122"/>
                <a:cs typeface="Calibri" pitchFamily="34" charset="-120"/>
              </a:rPr>
              <a:t>Douro — weighted MAE, all 17 models (lower is better)</a:t>
            </a:r>
            <a:endParaRPr lang="en-US" sz="1100" dirty="0"/>
          </a:p>
        </p:txBody>
      </p:sp>
      <p:sp>
        <p:nvSpPr>
          <p:cNvPr id="11" name="Shape 8"/>
          <p:cNvSpPr/>
          <p:nvPr/>
        </p:nvSpPr>
        <p:spPr>
          <a:xfrm>
            <a:off x="7223760" y="1874520"/>
            <a:ext cx="4434840" cy="1600200"/>
          </a:xfrm>
          <a:prstGeom prst="roundRect">
            <a:avLst>
              <a:gd name="adj" fmla="val 4571"/>
            </a:avLst>
          </a:prstGeom>
          <a:solidFill>
            <a:srgbClr val="F6ECED"/>
          </a:solidFill>
          <a:ln w="12700">
            <a:solidFill>
              <a:srgbClr val="7A2E39"/>
            </a:solidFill>
            <a:prstDash val="solid"/>
          </a:ln>
          <a:effectLst>
            <a:outerShdw blurRad="88900" dist="38100" dir="5400000" algn="bl" rotWithShape="0">
              <a:srgbClr val="000000">
                <a:alpha val="14000"/>
              </a:srgbClr>
            </a:outerShdw>
          </a:effectLst>
        </p:spPr>
        <p:txBody>
          <a:bodyPr/>
          <a:lstStyle/>
          <a:p>
            <a:endParaRPr lang="en-US"/>
          </a:p>
        </p:txBody>
      </p:sp>
      <p:sp>
        <p:nvSpPr>
          <p:cNvPr id="12" name="Text 9"/>
          <p:cNvSpPr/>
          <p:nvPr/>
        </p:nvSpPr>
        <p:spPr>
          <a:xfrm>
            <a:off x="7452360" y="2011680"/>
            <a:ext cx="4023360" cy="274320"/>
          </a:xfrm>
          <a:prstGeom prst="rect">
            <a:avLst/>
          </a:prstGeom>
          <a:noFill/>
          <a:ln/>
        </p:spPr>
        <p:txBody>
          <a:bodyPr wrap="square" lIns="0" tIns="0" rIns="0" bIns="0" rtlCol="0" anchor="ctr"/>
          <a:lstStyle/>
          <a:p>
            <a:pPr marL="0" indent="0">
              <a:buNone/>
            </a:pPr>
            <a:r>
              <a:rPr lang="en-US" sz="1200" b="1" kern="0" spc="100" dirty="0">
                <a:solidFill>
                  <a:srgbClr val="7A2E39"/>
                </a:solidFill>
                <a:latin typeface="Calibri" pitchFamily="34" charset="0"/>
                <a:ea typeface="Calibri" pitchFamily="34" charset="-122"/>
                <a:cs typeface="Calibri" pitchFamily="34" charset="-120"/>
              </a:rPr>
              <a:t>DOURO</a:t>
            </a:r>
            <a:endParaRPr lang="en-US" sz="1200" dirty="0"/>
          </a:p>
        </p:txBody>
      </p:sp>
      <p:sp>
        <p:nvSpPr>
          <p:cNvPr id="13" name="Text 10"/>
          <p:cNvSpPr/>
          <p:nvPr/>
        </p:nvSpPr>
        <p:spPr>
          <a:xfrm>
            <a:off x="7452360" y="2286000"/>
            <a:ext cx="1828800" cy="731520"/>
          </a:xfrm>
          <a:prstGeom prst="rect">
            <a:avLst/>
          </a:prstGeom>
          <a:noFill/>
          <a:ln/>
        </p:spPr>
        <p:txBody>
          <a:bodyPr wrap="square" lIns="0" tIns="0" rIns="0" bIns="0" rtlCol="0" anchor="ctr"/>
          <a:lstStyle/>
          <a:p>
            <a:pPr marL="0" indent="0">
              <a:buNone/>
            </a:pPr>
            <a:r>
              <a:rPr lang="en-US" sz="4000" b="1" dirty="0">
                <a:solidFill>
                  <a:srgbClr val="7A2E39"/>
                </a:solidFill>
                <a:latin typeface="Cambria" pitchFamily="34" charset="0"/>
                <a:ea typeface="Cambria" pitchFamily="34" charset="-122"/>
                <a:cs typeface="Cambria" pitchFamily="34" charset="-120"/>
              </a:rPr>
              <a:t>+3%</a:t>
            </a:r>
            <a:endParaRPr lang="en-US" sz="4000" dirty="0"/>
          </a:p>
        </p:txBody>
      </p:sp>
      <p:sp>
        <p:nvSpPr>
          <p:cNvPr id="14" name="Text 11"/>
          <p:cNvSpPr/>
          <p:nvPr/>
        </p:nvSpPr>
        <p:spPr>
          <a:xfrm>
            <a:off x="9144000" y="2377440"/>
            <a:ext cx="2377440" cy="822960"/>
          </a:xfrm>
          <a:prstGeom prst="rect">
            <a:avLst/>
          </a:prstGeom>
          <a:noFill/>
          <a:ln/>
        </p:spPr>
        <p:txBody>
          <a:bodyPr wrap="square" lIns="0" tIns="0" rIns="0" bIns="0" rtlCol="0" anchor="ctr"/>
          <a:lstStyle/>
          <a:p>
            <a:pPr marL="0" indent="0">
              <a:buNone/>
            </a:pPr>
            <a:r>
              <a:rPr lang="en-US" sz="1300" dirty="0">
                <a:solidFill>
                  <a:srgbClr val="2B2320"/>
                </a:solidFill>
                <a:latin typeface="Calibri" pitchFamily="34" charset="0"/>
                <a:ea typeface="Calibri" pitchFamily="34" charset="-122"/>
                <a:cs typeface="Calibri" pitchFamily="34" charset="-120"/>
              </a:rPr>
              <a:t>189 vs 184 mhl</a:t>
            </a:r>
            <a:endParaRPr lang="en-US" sz="1300" dirty="0"/>
          </a:p>
          <a:p>
            <a:pPr marL="0" indent="0">
              <a:buNone/>
            </a:pPr>
            <a:r>
              <a:rPr lang="en-US" sz="1300" dirty="0">
                <a:solidFill>
                  <a:srgbClr val="2B2320"/>
                </a:solidFill>
                <a:latin typeface="Calibri" pitchFamily="34" charset="0"/>
                <a:ea typeface="Calibri" pitchFamily="34" charset="-122"/>
                <a:cs typeface="Calibri" pitchFamily="34" charset="-120"/>
              </a:rPr>
              <a:t>Wilcoxon p = 0.468 (n.s.)</a:t>
            </a:r>
            <a:endParaRPr lang="en-US" sz="1300" dirty="0"/>
          </a:p>
        </p:txBody>
      </p:sp>
      <p:sp>
        <p:nvSpPr>
          <p:cNvPr id="15" name="Shape 12"/>
          <p:cNvSpPr/>
          <p:nvPr/>
        </p:nvSpPr>
        <p:spPr>
          <a:xfrm>
            <a:off x="7223760" y="3657600"/>
            <a:ext cx="4434840" cy="1600200"/>
          </a:xfrm>
          <a:prstGeom prst="roundRect">
            <a:avLst>
              <a:gd name="adj" fmla="val 4571"/>
            </a:avLst>
          </a:prstGeom>
          <a:solidFill>
            <a:srgbClr val="F1F5EE"/>
          </a:solidFill>
          <a:ln w="12700">
            <a:solidFill>
              <a:srgbClr val="5E7148"/>
            </a:solidFill>
            <a:prstDash val="solid"/>
          </a:ln>
          <a:effectLst>
            <a:outerShdw blurRad="88900" dist="38100" dir="5400000" algn="bl" rotWithShape="0">
              <a:srgbClr val="000000">
                <a:alpha val="14000"/>
              </a:srgbClr>
            </a:outerShdw>
          </a:effectLst>
        </p:spPr>
        <p:txBody>
          <a:bodyPr/>
          <a:lstStyle/>
          <a:p>
            <a:endParaRPr lang="en-US"/>
          </a:p>
        </p:txBody>
      </p:sp>
      <p:sp>
        <p:nvSpPr>
          <p:cNvPr id="16" name="Text 13"/>
          <p:cNvSpPr/>
          <p:nvPr/>
        </p:nvSpPr>
        <p:spPr>
          <a:xfrm>
            <a:off x="7452360" y="3794760"/>
            <a:ext cx="4023360" cy="274320"/>
          </a:xfrm>
          <a:prstGeom prst="rect">
            <a:avLst/>
          </a:prstGeom>
          <a:noFill/>
          <a:ln/>
        </p:spPr>
        <p:txBody>
          <a:bodyPr wrap="square" lIns="0" tIns="0" rIns="0" bIns="0" rtlCol="0" anchor="ctr"/>
          <a:lstStyle/>
          <a:p>
            <a:pPr marL="0" indent="0">
              <a:buNone/>
            </a:pPr>
            <a:r>
              <a:rPr lang="en-US" sz="1200" b="1" kern="0" spc="100" dirty="0">
                <a:solidFill>
                  <a:srgbClr val="5E7148"/>
                </a:solidFill>
                <a:latin typeface="Calibri" pitchFamily="34" charset="0"/>
                <a:ea typeface="Calibri" pitchFamily="34" charset="-122"/>
                <a:cs typeface="Calibri" pitchFamily="34" charset="-120"/>
              </a:rPr>
              <a:t>VINHO VERDE</a:t>
            </a:r>
            <a:endParaRPr lang="en-US" sz="1200" dirty="0"/>
          </a:p>
        </p:txBody>
      </p:sp>
      <p:sp>
        <p:nvSpPr>
          <p:cNvPr id="17" name="Text 14"/>
          <p:cNvSpPr/>
          <p:nvPr/>
        </p:nvSpPr>
        <p:spPr>
          <a:xfrm>
            <a:off x="7452360" y="4069080"/>
            <a:ext cx="2011680" cy="731520"/>
          </a:xfrm>
          <a:prstGeom prst="rect">
            <a:avLst/>
          </a:prstGeom>
          <a:noFill/>
          <a:ln/>
        </p:spPr>
        <p:txBody>
          <a:bodyPr wrap="square" lIns="0" tIns="0" rIns="0" bIns="0" rtlCol="0" anchor="ctr"/>
          <a:lstStyle/>
          <a:p>
            <a:pPr marL="0" indent="0">
              <a:buNone/>
            </a:pPr>
            <a:r>
              <a:rPr lang="en-US" sz="4000" b="1" dirty="0">
                <a:solidFill>
                  <a:srgbClr val="5E7148"/>
                </a:solidFill>
                <a:latin typeface="Cambria" pitchFamily="34" charset="0"/>
                <a:ea typeface="Cambria" pitchFamily="34" charset="-122"/>
                <a:cs typeface="Cambria" pitchFamily="34" charset="-120"/>
              </a:rPr>
              <a:t>+22%</a:t>
            </a:r>
            <a:endParaRPr lang="en-US" sz="4000" dirty="0"/>
          </a:p>
        </p:txBody>
      </p:sp>
      <p:sp>
        <p:nvSpPr>
          <p:cNvPr id="18" name="Text 15"/>
          <p:cNvSpPr/>
          <p:nvPr/>
        </p:nvSpPr>
        <p:spPr>
          <a:xfrm>
            <a:off x="9281160" y="4160520"/>
            <a:ext cx="2240280" cy="822960"/>
          </a:xfrm>
          <a:prstGeom prst="rect">
            <a:avLst/>
          </a:prstGeom>
          <a:noFill/>
          <a:ln/>
        </p:spPr>
        <p:txBody>
          <a:bodyPr wrap="square" lIns="0" tIns="0" rIns="0" bIns="0" rtlCol="0" anchor="ctr"/>
          <a:lstStyle/>
          <a:p>
            <a:pPr marL="0" indent="0">
              <a:buNone/>
            </a:pPr>
            <a:r>
              <a:rPr lang="en-US" sz="1300" dirty="0">
                <a:solidFill>
                  <a:srgbClr val="2B2320"/>
                </a:solidFill>
                <a:latin typeface="Calibri" pitchFamily="34" charset="0"/>
                <a:ea typeface="Calibri" pitchFamily="34" charset="-122"/>
                <a:cs typeface="Calibri" pitchFamily="34" charset="-120"/>
              </a:rPr>
              <a:t>172 vs 140 mhl</a:t>
            </a:r>
            <a:endParaRPr lang="en-US" sz="1300" dirty="0"/>
          </a:p>
          <a:p>
            <a:pPr marL="0" indent="0">
              <a:buNone/>
            </a:pPr>
            <a:r>
              <a:rPr lang="en-US" sz="1300" dirty="0">
                <a:solidFill>
                  <a:srgbClr val="2B2320"/>
                </a:solidFill>
                <a:latin typeface="Calibri" pitchFamily="34" charset="0"/>
                <a:ea typeface="Calibri" pitchFamily="34" charset="-122"/>
                <a:cs typeface="Calibri" pitchFamily="34" charset="-120"/>
              </a:rPr>
              <a:t>rules actively harm, p = 0.004</a:t>
            </a:r>
            <a:endParaRPr lang="en-US" sz="1300" dirty="0"/>
          </a:p>
        </p:txBody>
      </p:sp>
      <p:sp>
        <p:nvSpPr>
          <p:cNvPr id="19" name="Text 16"/>
          <p:cNvSpPr/>
          <p:nvPr/>
        </p:nvSpPr>
        <p:spPr>
          <a:xfrm>
            <a:off x="7223760" y="5440680"/>
            <a:ext cx="4434840" cy="731520"/>
          </a:xfrm>
          <a:prstGeom prst="rect">
            <a:avLst/>
          </a:prstGeom>
          <a:noFill/>
          <a:ln/>
        </p:spPr>
        <p:txBody>
          <a:bodyPr wrap="square" lIns="0" tIns="0" rIns="0" bIns="0" rtlCol="0" anchor="ctr"/>
          <a:lstStyle/>
          <a:p>
            <a:pPr marL="0" indent="0">
              <a:buNone/>
            </a:pPr>
            <a:r>
              <a:rPr lang="en-US" sz="1600" b="1" i="1" dirty="0">
                <a:solidFill>
                  <a:srgbClr val="6D2E46"/>
                </a:solidFill>
                <a:latin typeface="Cambria" pitchFamily="34" charset="0"/>
                <a:ea typeface="Cambria" pitchFamily="34" charset="-122"/>
                <a:cs typeface="Cambria" pitchFamily="34" charset="-120"/>
              </a:rPr>
              <a:t>Predict the historical median → you beat every rule-based model.</a:t>
            </a:r>
            <a:endParaRPr lang="en-US" sz="1600" dirty="0"/>
          </a:p>
        </p:txBody>
      </p:sp>
      <p:sp>
        <p:nvSpPr>
          <p:cNvPr id="20" name="Text 17"/>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530352"/>
            <a:ext cx="7680960" cy="868680"/>
          </a:xfrm>
          <a:prstGeom prst="rect">
            <a:avLst/>
          </a:prstGeom>
          <a:noFill/>
          <a:ln/>
        </p:spPr>
        <p:txBody>
          <a:bodyPr wrap="square" lIns="0" tIns="0" rIns="0" bIns="0" rtlCol="0" anchor="t"/>
          <a:lstStyle/>
          <a:p>
            <a:pPr marL="0" indent="0">
              <a:buNone/>
            </a:pPr>
            <a:r>
              <a:rPr lang="en-US" sz="2900" b="1" dirty="0">
                <a:solidFill>
                  <a:srgbClr val="6D2E46"/>
                </a:solidFill>
                <a:latin typeface="Cambria" pitchFamily="34" charset="0"/>
                <a:ea typeface="Cambria" pitchFamily="34" charset="-122"/>
                <a:cs typeface="Cambria" pitchFamily="34" charset="-120"/>
              </a:rPr>
              <a:t>Discovery ≠ Prediction — and I can prove why</a:t>
            </a:r>
            <a:endParaRPr lang="en-US" sz="2900" dirty="0"/>
          </a:p>
        </p:txBody>
      </p:sp>
      <p:sp>
        <p:nvSpPr>
          <p:cNvPr id="3" name="Shape 1"/>
          <p:cNvSpPr/>
          <p:nvPr/>
        </p:nvSpPr>
        <p:spPr>
          <a:xfrm>
            <a:off x="10346436"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4" name="Shape 2"/>
          <p:cNvSpPr/>
          <p:nvPr/>
        </p:nvSpPr>
        <p:spPr>
          <a:xfrm>
            <a:off x="10657332"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5" name="Shape 3"/>
          <p:cNvSpPr/>
          <p:nvPr/>
        </p:nvSpPr>
        <p:spPr>
          <a:xfrm>
            <a:off x="10968228"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6" name="Shape 4"/>
          <p:cNvSpPr/>
          <p:nvPr/>
        </p:nvSpPr>
        <p:spPr>
          <a:xfrm>
            <a:off x="11256264" y="237744"/>
            <a:ext cx="182880" cy="182880"/>
          </a:xfrm>
          <a:prstGeom prst="ellipse">
            <a:avLst/>
          </a:prstGeom>
          <a:solidFill>
            <a:srgbClr val="C89B3C"/>
          </a:solidFill>
          <a:ln w="12700">
            <a:solidFill>
              <a:srgbClr val="C89B3C"/>
            </a:solidFill>
            <a:prstDash val="solid"/>
          </a:ln>
        </p:spPr>
        <p:txBody>
          <a:bodyPr/>
          <a:lstStyle/>
          <a:p>
            <a:endParaRPr lang="en-US"/>
          </a:p>
        </p:txBody>
      </p:sp>
      <p:sp>
        <p:nvSpPr>
          <p:cNvPr id="7" name="Shape 5"/>
          <p:cNvSpPr/>
          <p:nvPr/>
        </p:nvSpPr>
        <p:spPr>
          <a:xfrm>
            <a:off x="11590020" y="260604"/>
            <a:ext cx="137160" cy="137160"/>
          </a:xfrm>
          <a:prstGeom prst="ellipse">
            <a:avLst/>
          </a:prstGeom>
          <a:solidFill>
            <a:srgbClr val="FFFFFF"/>
          </a:solidFill>
          <a:ln w="12700">
            <a:solidFill>
              <a:srgbClr val="7A6F5E"/>
            </a:solidFill>
            <a:prstDash val="solid"/>
          </a:ln>
        </p:spPr>
        <p:txBody>
          <a:bodyPr/>
          <a:lstStyle/>
          <a:p>
            <a:endParaRPr lang="en-US"/>
          </a:p>
        </p:txBody>
      </p:sp>
      <p:sp>
        <p:nvSpPr>
          <p:cNvPr id="8" name="Text 6"/>
          <p:cNvSpPr/>
          <p:nvPr/>
        </p:nvSpPr>
        <p:spPr>
          <a:xfrm>
            <a:off x="5394960" y="182880"/>
            <a:ext cx="4480560" cy="320040"/>
          </a:xfrm>
          <a:prstGeom prst="rect">
            <a:avLst/>
          </a:prstGeom>
          <a:noFill/>
          <a:ln/>
        </p:spPr>
        <p:txBody>
          <a:bodyPr wrap="square" lIns="0" tIns="0" rIns="0" bIns="0" rtlCol="0" anchor="ctr"/>
          <a:lstStyle/>
          <a:p>
            <a:pPr marL="0" indent="0" algn="r">
              <a:buNone/>
            </a:pPr>
            <a:r>
              <a:rPr lang="en-US" sz="1100" dirty="0">
                <a:solidFill>
                  <a:srgbClr val="7A6F5E"/>
                </a:solidFill>
                <a:latin typeface="Calibri" pitchFamily="34" charset="0"/>
                <a:ea typeface="Calibri" pitchFamily="34" charset="-122"/>
                <a:cs typeface="Calibri" pitchFamily="34" charset="-120"/>
              </a:rPr>
              <a:t>IDEA 4  ·  </a:t>
            </a:r>
            <a:r>
              <a:rPr lang="en-US" sz="1100" b="1" dirty="0">
                <a:solidFill>
                  <a:srgbClr val="6D2E46"/>
                </a:solidFill>
                <a:latin typeface="Calibri" pitchFamily="34" charset="0"/>
                <a:ea typeface="Calibri" pitchFamily="34" charset="-122"/>
                <a:cs typeface="Calibri" pitchFamily="34" charset="-120"/>
              </a:rPr>
              <a:t>LAWFUL FAILURE</a:t>
            </a:r>
            <a:endParaRPr lang="en-US" sz="1100" dirty="0"/>
          </a:p>
        </p:txBody>
      </p:sp>
      <p:pic>
        <p:nvPicPr>
          <p:cNvPr id="9" name="Image 0" descr="/sessions/trusting-lucid-keller/mnt/outputs/deck/assets/motif_seesaw.png"/>
          <p:cNvPicPr>
            <a:picLocks noChangeAspect="1"/>
          </p:cNvPicPr>
          <p:nvPr/>
        </p:nvPicPr>
        <p:blipFill>
          <a:blip r:embed="rId3"/>
          <a:stretch>
            <a:fillRect/>
          </a:stretch>
        </p:blipFill>
        <p:spPr>
          <a:xfrm>
            <a:off x="5577840" y="1783080"/>
            <a:ext cx="6309360" cy="3856577"/>
          </a:xfrm>
          <a:prstGeom prst="rect">
            <a:avLst/>
          </a:prstGeom>
        </p:spPr>
      </p:pic>
      <p:sp>
        <p:nvSpPr>
          <p:cNvPr id="10" name="Text 7"/>
          <p:cNvSpPr/>
          <p:nvPr/>
        </p:nvSpPr>
        <p:spPr>
          <a:xfrm>
            <a:off x="640080" y="1828800"/>
            <a:ext cx="4663440" cy="457200"/>
          </a:xfrm>
          <a:prstGeom prst="rect">
            <a:avLst/>
          </a:prstGeom>
          <a:noFill/>
          <a:ln/>
        </p:spPr>
        <p:txBody>
          <a:bodyPr wrap="square" lIns="0" tIns="0" rIns="0" bIns="0" rtlCol="0" anchor="ctr"/>
          <a:lstStyle/>
          <a:p>
            <a:pPr marL="0" indent="0">
              <a:buNone/>
            </a:pPr>
            <a:r>
              <a:rPr lang="en-US" sz="1800" b="1" dirty="0">
                <a:solidFill>
                  <a:srgbClr val="6D2E46"/>
                </a:solidFill>
                <a:latin typeface="Cambria" pitchFamily="34" charset="0"/>
                <a:ea typeface="Cambria" pitchFamily="34" charset="-122"/>
                <a:cs typeface="Cambria" pitchFamily="34" charset="-120"/>
              </a:rPr>
              <a:t>The failure is lawful, not random.</a:t>
            </a:r>
            <a:endParaRPr lang="en-US" sz="1800" dirty="0"/>
          </a:p>
        </p:txBody>
      </p:sp>
      <p:sp>
        <p:nvSpPr>
          <p:cNvPr id="11" name="Text 8"/>
          <p:cNvSpPr/>
          <p:nvPr/>
        </p:nvSpPr>
        <p:spPr>
          <a:xfrm>
            <a:off x="640080" y="2423160"/>
            <a:ext cx="4709160" cy="1188720"/>
          </a:xfrm>
          <a:prstGeom prst="rect">
            <a:avLst/>
          </a:prstGeom>
          <a:noFill/>
          <a:ln/>
        </p:spPr>
        <p:txBody>
          <a:bodyPr wrap="square" lIns="0" tIns="0" rIns="0" bIns="0" rtlCol="0" anchor="ctr"/>
          <a:lstStyle/>
          <a:p>
            <a:pPr marL="0" indent="0">
              <a:buNone/>
            </a:pPr>
            <a:r>
              <a:rPr lang="en-US" sz="1400" dirty="0">
                <a:solidFill>
                  <a:srgbClr val="2B2320"/>
                </a:solidFill>
                <a:latin typeface="Calibri" pitchFamily="34" charset="0"/>
                <a:ea typeface="Calibri" pitchFamily="34" charset="-122"/>
                <a:cs typeface="Calibri" pitchFamily="34" charset="-120"/>
              </a:rPr>
              <a:t>Discovery needs only that an association exists. Prediction needs it to beat the median. The same time-only detrend cannot serve both.</a:t>
            </a:r>
            <a:endParaRPr lang="en-US" sz="1400" dirty="0"/>
          </a:p>
        </p:txBody>
      </p:sp>
      <p:sp>
        <p:nvSpPr>
          <p:cNvPr id="12" name="Shape 9"/>
          <p:cNvSpPr/>
          <p:nvPr/>
        </p:nvSpPr>
        <p:spPr>
          <a:xfrm>
            <a:off x="640080" y="3794760"/>
            <a:ext cx="4709160" cy="2148840"/>
          </a:xfrm>
          <a:prstGeom prst="roundRect">
            <a:avLst>
              <a:gd name="adj" fmla="val 3404"/>
            </a:avLst>
          </a:prstGeom>
          <a:solidFill>
            <a:srgbClr val="F7F1E7"/>
          </a:solidFill>
          <a:ln w="12700">
            <a:solidFill>
              <a:srgbClr val="C89B3C"/>
            </a:solidFill>
            <a:prstDash val="solid"/>
          </a:ln>
          <a:effectLst>
            <a:outerShdw blurRad="88900" dist="38100" dir="5400000" algn="bl" rotWithShape="0">
              <a:srgbClr val="000000">
                <a:alpha val="14000"/>
              </a:srgbClr>
            </a:outerShdw>
          </a:effectLst>
        </p:spPr>
        <p:txBody>
          <a:bodyPr/>
          <a:lstStyle/>
          <a:p>
            <a:endParaRPr lang="en-US"/>
          </a:p>
        </p:txBody>
      </p:sp>
      <p:sp>
        <p:nvSpPr>
          <p:cNvPr id="13" name="Text 10"/>
          <p:cNvSpPr/>
          <p:nvPr/>
        </p:nvSpPr>
        <p:spPr>
          <a:xfrm>
            <a:off x="868680" y="3950208"/>
            <a:ext cx="4297680" cy="274320"/>
          </a:xfrm>
          <a:prstGeom prst="rect">
            <a:avLst/>
          </a:prstGeom>
          <a:noFill/>
          <a:ln/>
        </p:spPr>
        <p:txBody>
          <a:bodyPr wrap="square" lIns="0" tIns="0" rIns="0" bIns="0" rtlCol="0" anchor="ctr"/>
          <a:lstStyle/>
          <a:p>
            <a:pPr marL="0" indent="0">
              <a:buNone/>
            </a:pPr>
            <a:r>
              <a:rPr lang="en-US" sz="1150" b="1" kern="0" spc="100" dirty="0">
                <a:solidFill>
                  <a:srgbClr val="C89B3C"/>
                </a:solidFill>
                <a:latin typeface="Calibri" pitchFamily="34" charset="0"/>
                <a:ea typeface="Calibri" pitchFamily="34" charset="-122"/>
                <a:cs typeface="Calibri" pitchFamily="34" charset="-120"/>
              </a:rPr>
              <a:t>THE ERA MIRROR</a:t>
            </a:r>
            <a:endParaRPr lang="en-US" sz="1150" dirty="0"/>
          </a:p>
        </p:txBody>
      </p:sp>
      <p:sp>
        <p:nvSpPr>
          <p:cNvPr id="14" name="Text 11"/>
          <p:cNvSpPr/>
          <p:nvPr/>
        </p:nvSpPr>
        <p:spPr>
          <a:xfrm>
            <a:off x="868680" y="4297680"/>
            <a:ext cx="4297680" cy="777240"/>
          </a:xfrm>
          <a:prstGeom prst="rect">
            <a:avLst/>
          </a:prstGeom>
          <a:noFill/>
          <a:ln/>
        </p:spPr>
        <p:txBody>
          <a:bodyPr wrap="square" lIns="0" tIns="0" rIns="0" bIns="0" rtlCol="0" anchor="ctr"/>
          <a:lstStyle/>
          <a:p>
            <a:pPr marL="0" indent="0">
              <a:buNone/>
            </a:pPr>
            <a:r>
              <a:rPr lang="en-US" sz="1350" b="1" dirty="0">
                <a:solidFill>
                  <a:srgbClr val="7A2E39"/>
                </a:solidFill>
                <a:latin typeface="Calibri" pitchFamily="34" charset="0"/>
                <a:ea typeface="Calibri" pitchFamily="34" charset="-122"/>
                <a:cs typeface="Calibri" pitchFamily="34" charset="-120"/>
              </a:rPr>
              <a:t>Douro:</a:t>
            </a:r>
            <a:r>
              <a:rPr lang="en-US" sz="1350" dirty="0">
                <a:solidFill>
                  <a:srgbClr val="2B2320"/>
                </a:solidFill>
                <a:latin typeface="Calibri" pitchFamily="34" charset="0"/>
                <a:ea typeface="Calibri" pitchFamily="34" charset="-122"/>
                <a:cs typeface="Calibri" pitchFamily="34" charset="-120"/>
              </a:rPr>
              <a:t> once era-balanced (~29% modern), CarenR wins 5 / 5 scenarios.</a:t>
            </a:r>
            <a:endParaRPr lang="en-US" sz="1350" dirty="0"/>
          </a:p>
        </p:txBody>
      </p:sp>
      <p:sp>
        <p:nvSpPr>
          <p:cNvPr id="15" name="Text 12"/>
          <p:cNvSpPr/>
          <p:nvPr/>
        </p:nvSpPr>
        <p:spPr>
          <a:xfrm>
            <a:off x="868680" y="5074920"/>
            <a:ext cx="4297680" cy="777240"/>
          </a:xfrm>
          <a:prstGeom prst="rect">
            <a:avLst/>
          </a:prstGeom>
          <a:noFill/>
          <a:ln/>
        </p:spPr>
        <p:txBody>
          <a:bodyPr wrap="square" lIns="0" tIns="0" rIns="0" bIns="0" rtlCol="0" anchor="ctr"/>
          <a:lstStyle/>
          <a:p>
            <a:pPr marL="0" indent="0">
              <a:buNone/>
            </a:pPr>
            <a:r>
              <a:rPr lang="en-US" sz="1350" b="1" dirty="0">
                <a:solidFill>
                  <a:srgbClr val="5E7148"/>
                </a:solidFill>
                <a:latin typeface="Calibri" pitchFamily="34" charset="0"/>
                <a:ea typeface="Calibri" pitchFamily="34" charset="-122"/>
                <a:cs typeface="Calibri" pitchFamily="34" charset="-120"/>
              </a:rPr>
              <a:t>Vinho Verde:</a:t>
            </a:r>
            <a:r>
              <a:rPr lang="en-US" sz="1350" dirty="0">
                <a:solidFill>
                  <a:srgbClr val="2B2320"/>
                </a:solidFill>
                <a:latin typeface="Calibri" pitchFamily="34" charset="0"/>
                <a:ea typeface="Calibri" pitchFamily="34" charset="-122"/>
                <a:cs typeface="Calibri" pitchFamily="34" charset="-120"/>
              </a:rPr>
              <a:t> more modern data makes it steadily worse — the mirror opposite.</a:t>
            </a:r>
            <a:endParaRPr lang="en-US" sz="1350" dirty="0"/>
          </a:p>
        </p:txBody>
      </p:sp>
      <p:sp>
        <p:nvSpPr>
          <p:cNvPr id="16" name="Text 13"/>
          <p:cNvSpPr/>
          <p:nvPr/>
        </p:nvSpPr>
        <p:spPr>
          <a:xfrm>
            <a:off x="11475720" y="6419088"/>
            <a:ext cx="548640" cy="274320"/>
          </a:xfrm>
          <a:prstGeom prst="rect">
            <a:avLst/>
          </a:prstGeom>
          <a:noFill/>
          <a:ln/>
        </p:spPr>
        <p:txBody>
          <a:bodyPr wrap="square" lIns="0" tIns="0" rIns="0" bIns="0" rtlCol="0" anchor="ctr"/>
          <a:lstStyle/>
          <a:p>
            <a:pPr marL="0" indent="0" algn="r">
              <a:buNone/>
            </a:pPr>
            <a:r>
              <a:rPr lang="en-US" sz="1000" dirty="0">
                <a:solidFill>
                  <a:srgbClr val="7A6F5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Research Questions</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Four questions spanning discovery, validation, and prediction</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548640" y="1402080"/>
            <a:ext cx="950976" cy="926592"/>
          </a:xfrm>
          <a:prstGeom prst="rect">
            <a:avLst/>
          </a:prstGeom>
          <a:solidFill>
            <a:srgbClr val="0D7377"/>
          </a:solidFill>
          <a:ln w="12700">
            <a:solidFill>
              <a:srgbClr val="0D7377"/>
            </a:solidFill>
            <a:prstDash val="solid"/>
          </a:ln>
        </p:spPr>
        <p:txBody>
          <a:bodyPr/>
          <a:lstStyle/>
          <a:p>
            <a:endParaRPr lang="en-US" sz="2400"/>
          </a:p>
        </p:txBody>
      </p:sp>
      <p:sp>
        <p:nvSpPr>
          <p:cNvPr id="7" name="Text 5"/>
          <p:cNvSpPr/>
          <p:nvPr/>
        </p:nvSpPr>
        <p:spPr>
          <a:xfrm>
            <a:off x="548640" y="1402080"/>
            <a:ext cx="950976" cy="92659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RQ1</a:t>
            </a:r>
            <a:endParaRPr lang="en-US" sz="1733" dirty="0"/>
          </a:p>
        </p:txBody>
      </p:sp>
      <p:sp>
        <p:nvSpPr>
          <p:cNvPr id="8" name="Shape 6"/>
          <p:cNvSpPr/>
          <p:nvPr/>
        </p:nvSpPr>
        <p:spPr>
          <a:xfrm>
            <a:off x="1609344" y="1402080"/>
            <a:ext cx="9997440" cy="926592"/>
          </a:xfrm>
          <a:prstGeom prst="rect">
            <a:avLst/>
          </a:prstGeom>
          <a:solidFill>
            <a:srgbClr val="D8E2EE"/>
          </a:solidFill>
          <a:ln w="12700">
            <a:solidFill>
              <a:srgbClr val="D8E2EE"/>
            </a:solidFill>
            <a:prstDash val="solid"/>
          </a:ln>
        </p:spPr>
        <p:txBody>
          <a:bodyPr/>
          <a:lstStyle/>
          <a:p>
            <a:endParaRPr lang="en-US" sz="2400"/>
          </a:p>
        </p:txBody>
      </p:sp>
      <p:sp>
        <p:nvSpPr>
          <p:cNvPr id="9" name="Text 7"/>
          <p:cNvSpPr/>
          <p:nvPr/>
        </p:nvSpPr>
        <p:spPr>
          <a:xfrm>
            <a:off x="1780032" y="1438656"/>
            <a:ext cx="8290560" cy="682752"/>
          </a:xfrm>
          <a:prstGeom prst="rect">
            <a:avLst/>
          </a:prstGeom>
          <a:noFill/>
          <a:ln/>
        </p:spPr>
        <p:txBody>
          <a:bodyPr wrap="square" lIns="0" tIns="0" rIns="0" bIns="0" rtlCol="0" anchor="ctr"/>
          <a:lstStyle/>
          <a:p>
            <a:r>
              <a:rPr lang="en-US" sz="1400" dirty="0">
                <a:solidFill>
                  <a:srgbClr val="1A2A3A"/>
                </a:solidFill>
                <a:latin typeface="Calibri" pitchFamily="34" charset="0"/>
                <a:ea typeface="Calibri" pitchFamily="34" charset="-122"/>
                <a:cs typeface="Calibri" pitchFamily="34" charset="-120"/>
              </a:rPr>
              <a:t>Can CarenR's KS-test-based distributional rule induction extract statistically validated, non-trivial patterns from non-stationary agricultural time series?</a:t>
            </a:r>
            <a:endParaRPr lang="en-US" sz="1400" dirty="0"/>
          </a:p>
        </p:txBody>
      </p:sp>
      <p:sp>
        <p:nvSpPr>
          <p:cNvPr id="10" name="Text 8"/>
          <p:cNvSpPr/>
          <p:nvPr/>
        </p:nvSpPr>
        <p:spPr>
          <a:xfrm>
            <a:off x="10119360" y="1584960"/>
            <a:ext cx="1341120" cy="536448"/>
          </a:xfrm>
          <a:prstGeom prst="rect">
            <a:avLst/>
          </a:prstGeom>
          <a:noFill/>
          <a:ln/>
        </p:spPr>
        <p:txBody>
          <a:bodyPr wrap="square" lIns="0" tIns="0" rIns="0" bIns="0" rtlCol="0" anchor="ctr"/>
          <a:lstStyle/>
          <a:p>
            <a:pPr algn="r"/>
            <a:r>
              <a:rPr lang="en-US" sz="1067" b="1" i="1" dirty="0">
                <a:solidFill>
                  <a:srgbClr val="0D7377"/>
                </a:solidFill>
                <a:latin typeface="Calibri" pitchFamily="34" charset="0"/>
                <a:ea typeface="Calibri" pitchFamily="34" charset="-122"/>
                <a:cs typeface="Calibri" pitchFamily="34" charset="-120"/>
              </a:rPr>
              <a:t>Goal 1 – Discovery</a:t>
            </a:r>
            <a:endParaRPr lang="en-US" sz="1067" dirty="0"/>
          </a:p>
        </p:txBody>
      </p:sp>
      <p:sp>
        <p:nvSpPr>
          <p:cNvPr id="11" name="Shape 9"/>
          <p:cNvSpPr/>
          <p:nvPr/>
        </p:nvSpPr>
        <p:spPr>
          <a:xfrm>
            <a:off x="548640" y="2621280"/>
            <a:ext cx="950976" cy="926592"/>
          </a:xfrm>
          <a:prstGeom prst="rect">
            <a:avLst/>
          </a:prstGeom>
          <a:solidFill>
            <a:srgbClr val="2E4A7C"/>
          </a:solidFill>
          <a:ln w="12700">
            <a:solidFill>
              <a:srgbClr val="2E4A7C"/>
            </a:solidFill>
            <a:prstDash val="solid"/>
          </a:ln>
        </p:spPr>
        <p:txBody>
          <a:bodyPr/>
          <a:lstStyle/>
          <a:p>
            <a:endParaRPr lang="en-US" sz="2400"/>
          </a:p>
        </p:txBody>
      </p:sp>
      <p:sp>
        <p:nvSpPr>
          <p:cNvPr id="12" name="Text 10"/>
          <p:cNvSpPr/>
          <p:nvPr/>
        </p:nvSpPr>
        <p:spPr>
          <a:xfrm>
            <a:off x="548640" y="2621280"/>
            <a:ext cx="950976" cy="92659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RQ2</a:t>
            </a:r>
            <a:endParaRPr lang="en-US" sz="1733" dirty="0"/>
          </a:p>
        </p:txBody>
      </p:sp>
      <p:sp>
        <p:nvSpPr>
          <p:cNvPr id="13" name="Shape 11"/>
          <p:cNvSpPr/>
          <p:nvPr/>
        </p:nvSpPr>
        <p:spPr>
          <a:xfrm>
            <a:off x="1609344" y="2621280"/>
            <a:ext cx="9997440" cy="926592"/>
          </a:xfrm>
          <a:prstGeom prst="rect">
            <a:avLst/>
          </a:prstGeom>
          <a:solidFill>
            <a:srgbClr val="D8E2EE"/>
          </a:solidFill>
          <a:ln w="12700">
            <a:solidFill>
              <a:srgbClr val="D8E2EE"/>
            </a:solidFill>
            <a:prstDash val="solid"/>
          </a:ln>
        </p:spPr>
        <p:txBody>
          <a:bodyPr/>
          <a:lstStyle/>
          <a:p>
            <a:endParaRPr lang="en-US" sz="2400"/>
          </a:p>
        </p:txBody>
      </p:sp>
      <p:sp>
        <p:nvSpPr>
          <p:cNvPr id="14" name="Text 12"/>
          <p:cNvSpPr/>
          <p:nvPr/>
        </p:nvSpPr>
        <p:spPr>
          <a:xfrm>
            <a:off x="1780032" y="2657856"/>
            <a:ext cx="8290560" cy="682752"/>
          </a:xfrm>
          <a:prstGeom prst="rect">
            <a:avLst/>
          </a:prstGeom>
          <a:noFill/>
          <a:ln/>
        </p:spPr>
        <p:txBody>
          <a:bodyPr wrap="square" lIns="0" tIns="0" rIns="0" bIns="0" rtlCol="0" anchor="ctr"/>
          <a:lstStyle/>
          <a:p>
            <a:r>
              <a:rPr lang="en-US" sz="1400" dirty="0">
                <a:solidFill>
                  <a:srgbClr val="1A2A3A"/>
                </a:solidFill>
                <a:latin typeface="Calibri" pitchFamily="34" charset="0"/>
                <a:ea typeface="Calibri" pitchFamily="34" charset="-122"/>
                <a:cs typeface="Calibri" pitchFamily="34" charset="-120"/>
              </a:rPr>
              <a:t>Are the discovered rules genuine within-era climate signal, or are they era-membership artefacts introduced by imperfect linear detrending?</a:t>
            </a:r>
            <a:endParaRPr lang="en-US" sz="1400" dirty="0"/>
          </a:p>
        </p:txBody>
      </p:sp>
      <p:sp>
        <p:nvSpPr>
          <p:cNvPr id="15" name="Text 13"/>
          <p:cNvSpPr/>
          <p:nvPr/>
        </p:nvSpPr>
        <p:spPr>
          <a:xfrm>
            <a:off x="10119360" y="2804160"/>
            <a:ext cx="1341120" cy="536448"/>
          </a:xfrm>
          <a:prstGeom prst="rect">
            <a:avLst/>
          </a:prstGeom>
          <a:noFill/>
          <a:ln/>
        </p:spPr>
        <p:txBody>
          <a:bodyPr wrap="square" lIns="0" tIns="0" rIns="0" bIns="0" rtlCol="0" anchor="ctr"/>
          <a:lstStyle/>
          <a:p>
            <a:pPr algn="r"/>
            <a:r>
              <a:rPr lang="en-US" sz="1067" b="1" i="1" dirty="0">
                <a:solidFill>
                  <a:srgbClr val="2E4A7C"/>
                </a:solidFill>
                <a:latin typeface="Calibri" pitchFamily="34" charset="0"/>
                <a:ea typeface="Calibri" pitchFamily="34" charset="-122"/>
                <a:cs typeface="Calibri" pitchFamily="34" charset="-120"/>
              </a:rPr>
              <a:t>Goal 1 – Validation</a:t>
            </a:r>
            <a:endParaRPr lang="en-US" sz="1067" dirty="0"/>
          </a:p>
        </p:txBody>
      </p:sp>
      <p:sp>
        <p:nvSpPr>
          <p:cNvPr id="16" name="Shape 14"/>
          <p:cNvSpPr/>
          <p:nvPr/>
        </p:nvSpPr>
        <p:spPr>
          <a:xfrm>
            <a:off x="548640" y="3840480"/>
            <a:ext cx="950976" cy="926592"/>
          </a:xfrm>
          <a:prstGeom prst="rect">
            <a:avLst/>
          </a:prstGeom>
          <a:solidFill>
            <a:srgbClr val="1B2B45"/>
          </a:solidFill>
          <a:ln w="12700">
            <a:solidFill>
              <a:srgbClr val="1B2B45"/>
            </a:solidFill>
            <a:prstDash val="solid"/>
          </a:ln>
        </p:spPr>
        <p:txBody>
          <a:bodyPr/>
          <a:lstStyle/>
          <a:p>
            <a:endParaRPr lang="en-US" sz="2400"/>
          </a:p>
        </p:txBody>
      </p:sp>
      <p:sp>
        <p:nvSpPr>
          <p:cNvPr id="17" name="Text 15"/>
          <p:cNvSpPr/>
          <p:nvPr/>
        </p:nvSpPr>
        <p:spPr>
          <a:xfrm>
            <a:off x="548640" y="3840480"/>
            <a:ext cx="950976" cy="92659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RQ3</a:t>
            </a:r>
            <a:endParaRPr lang="en-US" sz="1733" dirty="0"/>
          </a:p>
        </p:txBody>
      </p:sp>
      <p:sp>
        <p:nvSpPr>
          <p:cNvPr id="18" name="Shape 16"/>
          <p:cNvSpPr/>
          <p:nvPr/>
        </p:nvSpPr>
        <p:spPr>
          <a:xfrm>
            <a:off x="1609344" y="3840480"/>
            <a:ext cx="9997440" cy="926592"/>
          </a:xfrm>
          <a:prstGeom prst="rect">
            <a:avLst/>
          </a:prstGeom>
          <a:solidFill>
            <a:srgbClr val="D8E2EE"/>
          </a:solidFill>
          <a:ln w="12700">
            <a:solidFill>
              <a:srgbClr val="D8E2EE"/>
            </a:solidFill>
            <a:prstDash val="solid"/>
          </a:ln>
        </p:spPr>
        <p:txBody>
          <a:bodyPr/>
          <a:lstStyle/>
          <a:p>
            <a:endParaRPr lang="en-US" sz="2400"/>
          </a:p>
        </p:txBody>
      </p:sp>
      <p:sp>
        <p:nvSpPr>
          <p:cNvPr id="19" name="Text 17"/>
          <p:cNvSpPr/>
          <p:nvPr/>
        </p:nvSpPr>
        <p:spPr>
          <a:xfrm>
            <a:off x="1780032" y="3877056"/>
            <a:ext cx="8290560" cy="682752"/>
          </a:xfrm>
          <a:prstGeom prst="rect">
            <a:avLst/>
          </a:prstGeom>
          <a:noFill/>
          <a:ln/>
        </p:spPr>
        <p:txBody>
          <a:bodyPr wrap="square" lIns="0" tIns="0" rIns="0" bIns="0" rtlCol="0" anchor="ctr"/>
          <a:lstStyle/>
          <a:p>
            <a:r>
              <a:rPr lang="en-US" sz="1400" dirty="0">
                <a:solidFill>
                  <a:srgbClr val="1A2A3A"/>
                </a:solidFill>
                <a:latin typeface="Calibri" pitchFamily="34" charset="0"/>
                <a:ea typeface="Calibri" pitchFamily="34" charset="-122"/>
                <a:cs typeface="Calibri" pitchFamily="34" charset="-120"/>
              </a:rPr>
              <a:t>Can rule-based models (CarenR, RIPPER, M5Rules) outperform a Naive Median baseline in walk-forward prediction of detrended production residuals?</a:t>
            </a:r>
            <a:endParaRPr lang="en-US" sz="1400" dirty="0"/>
          </a:p>
        </p:txBody>
      </p:sp>
      <p:sp>
        <p:nvSpPr>
          <p:cNvPr id="20" name="Text 18"/>
          <p:cNvSpPr/>
          <p:nvPr/>
        </p:nvSpPr>
        <p:spPr>
          <a:xfrm>
            <a:off x="10119360" y="4023360"/>
            <a:ext cx="1341120" cy="536448"/>
          </a:xfrm>
          <a:prstGeom prst="rect">
            <a:avLst/>
          </a:prstGeom>
          <a:noFill/>
          <a:ln/>
        </p:spPr>
        <p:txBody>
          <a:bodyPr wrap="square" lIns="0" tIns="0" rIns="0" bIns="0" rtlCol="0" anchor="ctr"/>
          <a:lstStyle/>
          <a:p>
            <a:pPr algn="r"/>
            <a:r>
              <a:rPr lang="en-US" sz="1067" b="1" i="1" dirty="0">
                <a:solidFill>
                  <a:srgbClr val="1B2B45"/>
                </a:solidFill>
                <a:latin typeface="Calibri" pitchFamily="34" charset="0"/>
                <a:ea typeface="Calibri" pitchFamily="34" charset="-122"/>
                <a:cs typeface="Calibri" pitchFamily="34" charset="-120"/>
              </a:rPr>
              <a:t>Goal 2 – Prediction</a:t>
            </a:r>
            <a:endParaRPr lang="en-US" sz="1067" dirty="0"/>
          </a:p>
        </p:txBody>
      </p:sp>
      <p:sp>
        <p:nvSpPr>
          <p:cNvPr id="21" name="Shape 19"/>
          <p:cNvSpPr/>
          <p:nvPr/>
        </p:nvSpPr>
        <p:spPr>
          <a:xfrm>
            <a:off x="548640" y="5059680"/>
            <a:ext cx="950976" cy="926592"/>
          </a:xfrm>
          <a:prstGeom prst="rect">
            <a:avLst/>
          </a:prstGeom>
          <a:solidFill>
            <a:srgbClr val="B03A2E"/>
          </a:solidFill>
          <a:ln w="12700">
            <a:solidFill>
              <a:srgbClr val="B03A2E"/>
            </a:solidFill>
            <a:prstDash val="solid"/>
          </a:ln>
        </p:spPr>
        <p:txBody>
          <a:bodyPr/>
          <a:lstStyle/>
          <a:p>
            <a:endParaRPr lang="en-US" sz="2400"/>
          </a:p>
        </p:txBody>
      </p:sp>
      <p:sp>
        <p:nvSpPr>
          <p:cNvPr id="22" name="Text 20"/>
          <p:cNvSpPr/>
          <p:nvPr/>
        </p:nvSpPr>
        <p:spPr>
          <a:xfrm>
            <a:off x="548640" y="5059680"/>
            <a:ext cx="950976" cy="926592"/>
          </a:xfrm>
          <a:prstGeom prst="rect">
            <a:avLst/>
          </a:prstGeom>
          <a:noFill/>
          <a:ln/>
        </p:spPr>
        <p:txBody>
          <a:bodyPr wrap="square" lIns="0" tIns="0" rIns="0" bIns="0" rtlCol="0" anchor="ctr"/>
          <a:lstStyle/>
          <a:p>
            <a:pPr algn="ctr"/>
            <a:r>
              <a:rPr lang="en-US" sz="1733" b="1" dirty="0">
                <a:solidFill>
                  <a:srgbClr val="FFFFFF"/>
                </a:solidFill>
                <a:latin typeface="Calibri" pitchFamily="34" charset="0"/>
                <a:ea typeface="Calibri" pitchFamily="34" charset="-122"/>
                <a:cs typeface="Calibri" pitchFamily="34" charset="-120"/>
              </a:rPr>
              <a:t>RQ4</a:t>
            </a:r>
            <a:endParaRPr lang="en-US" sz="1733" dirty="0"/>
          </a:p>
        </p:txBody>
      </p:sp>
      <p:sp>
        <p:nvSpPr>
          <p:cNvPr id="23" name="Shape 21"/>
          <p:cNvSpPr/>
          <p:nvPr/>
        </p:nvSpPr>
        <p:spPr>
          <a:xfrm>
            <a:off x="1609344" y="5059680"/>
            <a:ext cx="9997440" cy="926592"/>
          </a:xfrm>
          <a:prstGeom prst="rect">
            <a:avLst/>
          </a:prstGeom>
          <a:solidFill>
            <a:srgbClr val="D8E2EE"/>
          </a:solidFill>
          <a:ln w="12700">
            <a:solidFill>
              <a:srgbClr val="D8E2EE"/>
            </a:solidFill>
            <a:prstDash val="solid"/>
          </a:ln>
        </p:spPr>
        <p:txBody>
          <a:bodyPr/>
          <a:lstStyle/>
          <a:p>
            <a:endParaRPr lang="en-US" sz="2400"/>
          </a:p>
        </p:txBody>
      </p:sp>
      <p:sp>
        <p:nvSpPr>
          <p:cNvPr id="24" name="Text 22"/>
          <p:cNvSpPr/>
          <p:nvPr/>
        </p:nvSpPr>
        <p:spPr>
          <a:xfrm>
            <a:off x="1780032" y="5096256"/>
            <a:ext cx="8290560" cy="682752"/>
          </a:xfrm>
          <a:prstGeom prst="rect">
            <a:avLst/>
          </a:prstGeom>
          <a:noFill/>
          <a:ln/>
        </p:spPr>
        <p:txBody>
          <a:bodyPr wrap="square" lIns="0" tIns="0" rIns="0" bIns="0" rtlCol="0" anchor="ctr"/>
          <a:lstStyle/>
          <a:p>
            <a:r>
              <a:rPr lang="en-US" sz="1400" dirty="0">
                <a:solidFill>
                  <a:srgbClr val="1A2A3A"/>
                </a:solidFill>
                <a:latin typeface="Calibri" pitchFamily="34" charset="0"/>
                <a:ea typeface="Calibri" pitchFamily="34" charset="-122"/>
                <a:cs typeface="Calibri" pitchFamily="34" charset="-120"/>
              </a:rPr>
              <a:t>What structural conditions (era composition, detrend quality, signal strength) determine when rule-based prediction succeeds or fails?</a:t>
            </a:r>
            <a:endParaRPr lang="en-US" sz="1400" dirty="0"/>
          </a:p>
        </p:txBody>
      </p:sp>
      <p:sp>
        <p:nvSpPr>
          <p:cNvPr id="25" name="Text 23"/>
          <p:cNvSpPr/>
          <p:nvPr/>
        </p:nvSpPr>
        <p:spPr>
          <a:xfrm>
            <a:off x="10119360" y="5242560"/>
            <a:ext cx="1341120" cy="536448"/>
          </a:xfrm>
          <a:prstGeom prst="rect">
            <a:avLst/>
          </a:prstGeom>
          <a:noFill/>
          <a:ln/>
        </p:spPr>
        <p:txBody>
          <a:bodyPr wrap="square" lIns="0" tIns="0" rIns="0" bIns="0" rtlCol="0" anchor="ctr"/>
          <a:lstStyle/>
          <a:p>
            <a:pPr algn="r"/>
            <a:r>
              <a:rPr lang="en-US" sz="1067" b="1" i="1" dirty="0">
                <a:solidFill>
                  <a:srgbClr val="B03A2E"/>
                </a:solidFill>
                <a:latin typeface="Calibri" pitchFamily="34" charset="0"/>
                <a:ea typeface="Calibri" pitchFamily="34" charset="-122"/>
                <a:cs typeface="Calibri" pitchFamily="34" charset="-120"/>
              </a:rPr>
              <a:t>Goal 2 – Diagnosis</a:t>
            </a:r>
            <a:endParaRPr lang="en-US" sz="1067" dirty="0"/>
          </a:p>
        </p:txBody>
      </p:sp>
      <p:sp>
        <p:nvSpPr>
          <p:cNvPr id="26" name="Shape 24"/>
          <p:cNvSpPr/>
          <p:nvPr/>
        </p:nvSpPr>
        <p:spPr>
          <a:xfrm>
            <a:off x="548640" y="6217920"/>
            <a:ext cx="11094720" cy="463296"/>
          </a:xfrm>
          <a:prstGeom prst="rect">
            <a:avLst/>
          </a:prstGeom>
          <a:solidFill>
            <a:srgbClr val="1B2B45"/>
          </a:solidFill>
          <a:ln w="12700">
            <a:solidFill>
              <a:srgbClr val="1B2B45"/>
            </a:solidFill>
            <a:prstDash val="solid"/>
          </a:ln>
        </p:spPr>
        <p:txBody>
          <a:bodyPr/>
          <a:lstStyle/>
          <a:p>
            <a:endParaRPr lang="en-US" sz="2400"/>
          </a:p>
        </p:txBody>
      </p:sp>
      <p:sp>
        <p:nvSpPr>
          <p:cNvPr id="27" name="Text 25"/>
          <p:cNvSpPr/>
          <p:nvPr/>
        </p:nvSpPr>
        <p:spPr>
          <a:xfrm>
            <a:off x="548640" y="6217920"/>
            <a:ext cx="11094720" cy="463296"/>
          </a:xfrm>
          <a:prstGeom prst="rect">
            <a:avLst/>
          </a:prstGeom>
          <a:noFill/>
          <a:ln/>
        </p:spPr>
        <p:txBody>
          <a:bodyPr wrap="square" lIns="0" tIns="0" rIns="0" bIns="0" rtlCol="0" anchor="ctr"/>
          <a:lstStyle/>
          <a:p>
            <a:pPr algn="ctr"/>
            <a:r>
              <a:rPr lang="en-US" sz="1267" b="1" dirty="0">
                <a:solidFill>
                  <a:srgbClr val="F5D78A"/>
                </a:solidFill>
                <a:latin typeface="Calibri" pitchFamily="34" charset="0"/>
                <a:ea typeface="Calibri" pitchFamily="34" charset="-122"/>
                <a:cs typeface="Calibri" pitchFamily="34" charset="-120"/>
              </a:rPr>
              <a:t>RQ1 ✓ Achieved   ·   RQ2 ✓ Validated by LOESS   ·   RQ3 ✗ Not achieved in aggregate   ·   RQ4 ✓ Explained by Two-Decision Framework</a:t>
            </a:r>
            <a:endParaRPr lang="en-US" sz="1267"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Dataset &amp; Feature Engineering</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Two contrasting natural experiments — same pipeline</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548640" y="1341120"/>
            <a:ext cx="5242560" cy="2499360"/>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lang="en-US" sz="2400"/>
          </a:p>
        </p:txBody>
      </p:sp>
      <p:sp>
        <p:nvSpPr>
          <p:cNvPr id="7" name="Text 5"/>
          <p:cNvSpPr/>
          <p:nvPr/>
        </p:nvSpPr>
        <p:spPr>
          <a:xfrm>
            <a:off x="694944" y="1341120"/>
            <a:ext cx="4949952" cy="560832"/>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Douro (RDD)</a:t>
            </a:r>
            <a:endParaRPr lang="en-US" sz="2000" dirty="0"/>
          </a:p>
        </p:txBody>
      </p:sp>
      <p:sp>
        <p:nvSpPr>
          <p:cNvPr id="8" name="Text 6"/>
          <p:cNvSpPr/>
          <p:nvPr/>
        </p:nvSpPr>
        <p:spPr>
          <a:xfrm>
            <a:off x="768096" y="195072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Period: 1934–2022</a:t>
            </a:r>
            <a:endParaRPr lang="en-US" sz="1333" dirty="0"/>
          </a:p>
        </p:txBody>
      </p:sp>
      <p:sp>
        <p:nvSpPr>
          <p:cNvPr id="9" name="Text 7"/>
          <p:cNvSpPr/>
          <p:nvPr/>
        </p:nvSpPr>
        <p:spPr>
          <a:xfrm>
            <a:off x="768096" y="231648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Observations: 89 observations</a:t>
            </a:r>
            <a:endParaRPr lang="en-US" sz="1333" dirty="0"/>
          </a:p>
        </p:txBody>
      </p:sp>
      <p:sp>
        <p:nvSpPr>
          <p:cNvPr id="10" name="Text 8"/>
          <p:cNvSpPr/>
          <p:nvPr/>
        </p:nvSpPr>
        <p:spPr>
          <a:xfrm>
            <a:off x="768096" y="268224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Mean production: 1,116 mhl</a:t>
            </a:r>
            <a:endParaRPr lang="en-US" sz="1333" dirty="0"/>
          </a:p>
        </p:txBody>
      </p:sp>
      <p:sp>
        <p:nvSpPr>
          <p:cNvPr id="11" name="Text 9"/>
          <p:cNvSpPr/>
          <p:nvPr/>
        </p:nvSpPr>
        <p:spPr>
          <a:xfrm>
            <a:off x="768096" y="304800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Structural trend: ▲ Upward trend</a:t>
            </a:r>
            <a:endParaRPr lang="en-US" sz="1333" dirty="0"/>
          </a:p>
        </p:txBody>
      </p:sp>
      <p:sp>
        <p:nvSpPr>
          <p:cNvPr id="12" name="Text 10"/>
          <p:cNvSpPr/>
          <p:nvPr/>
        </p:nvSpPr>
        <p:spPr>
          <a:xfrm>
            <a:off x="768096" y="341376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Era break: Regime break ~1990</a:t>
            </a:r>
            <a:endParaRPr lang="en-US" sz="1333" dirty="0"/>
          </a:p>
        </p:txBody>
      </p:sp>
      <p:sp>
        <p:nvSpPr>
          <p:cNvPr id="13" name="Shape 11"/>
          <p:cNvSpPr/>
          <p:nvPr/>
        </p:nvSpPr>
        <p:spPr>
          <a:xfrm>
            <a:off x="6339840" y="1341120"/>
            <a:ext cx="5242560" cy="2499360"/>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lang="en-US" sz="2400"/>
          </a:p>
        </p:txBody>
      </p:sp>
      <p:sp>
        <p:nvSpPr>
          <p:cNvPr id="14" name="Text 12"/>
          <p:cNvSpPr/>
          <p:nvPr/>
        </p:nvSpPr>
        <p:spPr>
          <a:xfrm>
            <a:off x="6486144" y="1341120"/>
            <a:ext cx="4949952" cy="560832"/>
          </a:xfrm>
          <a:prstGeom prst="rect">
            <a:avLst/>
          </a:prstGeom>
          <a:noFill/>
          <a:ln/>
        </p:spPr>
        <p:txBody>
          <a:bodyPr wrap="square" lIns="0" tIns="0" rIns="0" bIns="0" rtlCol="0" anchor="ctr"/>
          <a:lstStyle/>
          <a:p>
            <a:pPr algn="ctr"/>
            <a:r>
              <a:rPr lang="en-US" sz="2000" b="1" dirty="0">
                <a:solidFill>
                  <a:srgbClr val="FFFFFF"/>
                </a:solidFill>
                <a:latin typeface="Calibri" pitchFamily="34" charset="0"/>
                <a:ea typeface="Calibri" pitchFamily="34" charset="-122"/>
                <a:cs typeface="Calibri" pitchFamily="34" charset="-120"/>
              </a:rPr>
              <a:t>Vinho Verde (RVV)</a:t>
            </a:r>
            <a:endParaRPr lang="en-US" sz="2000" dirty="0"/>
          </a:p>
        </p:txBody>
      </p:sp>
      <p:sp>
        <p:nvSpPr>
          <p:cNvPr id="15" name="Text 13"/>
          <p:cNvSpPr/>
          <p:nvPr/>
        </p:nvSpPr>
        <p:spPr>
          <a:xfrm>
            <a:off x="6559296" y="195072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Period: 1942–2021</a:t>
            </a:r>
            <a:endParaRPr lang="en-US" sz="1333" dirty="0"/>
          </a:p>
        </p:txBody>
      </p:sp>
      <p:sp>
        <p:nvSpPr>
          <p:cNvPr id="16" name="Text 14"/>
          <p:cNvSpPr/>
          <p:nvPr/>
        </p:nvSpPr>
        <p:spPr>
          <a:xfrm>
            <a:off x="6559296" y="231648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Observations: 80 observations</a:t>
            </a:r>
            <a:endParaRPr lang="en-US" sz="1333" dirty="0"/>
          </a:p>
        </p:txBody>
      </p:sp>
      <p:sp>
        <p:nvSpPr>
          <p:cNvPr id="17" name="Text 15"/>
          <p:cNvSpPr/>
          <p:nvPr/>
        </p:nvSpPr>
        <p:spPr>
          <a:xfrm>
            <a:off x="6559296" y="268224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Mean production: 1,621 mhl</a:t>
            </a:r>
            <a:endParaRPr lang="en-US" sz="1333" dirty="0"/>
          </a:p>
        </p:txBody>
      </p:sp>
      <p:sp>
        <p:nvSpPr>
          <p:cNvPr id="18" name="Text 16"/>
          <p:cNvSpPr/>
          <p:nvPr/>
        </p:nvSpPr>
        <p:spPr>
          <a:xfrm>
            <a:off x="6559296" y="304800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Structural trend: ▼ Sharp decline since 1960s</a:t>
            </a:r>
            <a:endParaRPr lang="en-US" sz="1333" dirty="0"/>
          </a:p>
        </p:txBody>
      </p:sp>
      <p:sp>
        <p:nvSpPr>
          <p:cNvPr id="19" name="Text 17"/>
          <p:cNvSpPr/>
          <p:nvPr/>
        </p:nvSpPr>
        <p:spPr>
          <a:xfrm>
            <a:off x="6559296" y="3413760"/>
            <a:ext cx="4815840" cy="341376"/>
          </a:xfrm>
          <a:prstGeom prst="rect">
            <a:avLst/>
          </a:prstGeom>
          <a:noFill/>
          <a:ln/>
        </p:spPr>
        <p:txBody>
          <a:bodyPr wrap="square" lIns="0" tIns="0" rIns="0" bIns="0" rtlCol="0" anchor="ctr"/>
          <a:lstStyle/>
          <a:p>
            <a:r>
              <a:rPr lang="en-US" sz="1333" dirty="0">
                <a:solidFill>
                  <a:srgbClr val="D8E2EE"/>
                </a:solidFill>
                <a:latin typeface="Calibri" pitchFamily="34" charset="0"/>
                <a:ea typeface="Calibri" pitchFamily="34" charset="-122"/>
                <a:cs typeface="Calibri" pitchFamily="34" charset="-120"/>
              </a:rPr>
              <a:t>Era break: Regime break ~1986 (EU)</a:t>
            </a:r>
            <a:endParaRPr lang="en-US" sz="1333" dirty="0"/>
          </a:p>
        </p:txBody>
      </p:sp>
      <p:sp>
        <p:nvSpPr>
          <p:cNvPr id="20" name="Text 18"/>
          <p:cNvSpPr/>
          <p:nvPr/>
        </p:nvSpPr>
        <p:spPr>
          <a:xfrm>
            <a:off x="548640" y="3998976"/>
            <a:ext cx="11094720" cy="414528"/>
          </a:xfrm>
          <a:prstGeom prst="rect">
            <a:avLst/>
          </a:prstGeom>
          <a:noFill/>
          <a:ln/>
        </p:spPr>
        <p:txBody>
          <a:bodyPr wrap="square" lIns="0" tIns="0" rIns="0" bIns="0" rtlCol="0" anchor="ctr"/>
          <a:lstStyle/>
          <a:p>
            <a:r>
              <a:rPr lang="en-US" sz="1733" b="1" dirty="0">
                <a:solidFill>
                  <a:srgbClr val="1A2A3A"/>
                </a:solidFill>
                <a:latin typeface="Calibri" pitchFamily="34" charset="0"/>
                <a:ea typeface="Calibri" pitchFamily="34" charset="-122"/>
                <a:cs typeface="Calibri" pitchFamily="34" charset="-120"/>
              </a:rPr>
              <a:t>Feature Engineering Pipeline  (59 annual features per region)</a:t>
            </a:r>
            <a:endParaRPr lang="en-US" sz="1733" dirty="0"/>
          </a:p>
        </p:txBody>
      </p:sp>
      <p:sp>
        <p:nvSpPr>
          <p:cNvPr id="21" name="Shape 19"/>
          <p:cNvSpPr/>
          <p:nvPr/>
        </p:nvSpPr>
        <p:spPr>
          <a:xfrm>
            <a:off x="487680" y="4535424"/>
            <a:ext cx="2560320" cy="1950720"/>
          </a:xfrm>
          <a:prstGeom prst="rect">
            <a:avLst/>
          </a:prstGeom>
          <a:solidFill>
            <a:srgbClr val="1B2B45"/>
          </a:solidFill>
          <a:ln w="12700">
            <a:solidFill>
              <a:srgbClr val="1B2B45"/>
            </a:solidFill>
            <a:prstDash val="solid"/>
          </a:ln>
        </p:spPr>
        <p:txBody>
          <a:bodyPr/>
          <a:lstStyle/>
          <a:p>
            <a:endParaRPr lang="en-US" sz="2400"/>
          </a:p>
        </p:txBody>
      </p:sp>
      <p:sp>
        <p:nvSpPr>
          <p:cNvPr id="22" name="Text 20"/>
          <p:cNvSpPr/>
          <p:nvPr/>
        </p:nvSpPr>
        <p:spPr>
          <a:xfrm>
            <a:off x="585216" y="4596384"/>
            <a:ext cx="2377440" cy="1828800"/>
          </a:xfrm>
          <a:prstGeom prst="rect">
            <a:avLst/>
          </a:prstGeom>
          <a:noFill/>
          <a:ln/>
        </p:spPr>
        <p:txBody>
          <a:bodyPr wrap="square" lIns="0" tIns="0" rIns="0" bIns="0" rtlCol="0" anchor="ctr"/>
          <a:lstStyle/>
          <a:p>
            <a:pPr algn="ctr"/>
            <a:r>
              <a:rPr lang="en-US" sz="1200" dirty="0">
                <a:solidFill>
                  <a:srgbClr val="FFFFFF"/>
                </a:solidFill>
                <a:latin typeface="Calibri" pitchFamily="34" charset="0"/>
                <a:ea typeface="Calibri" pitchFamily="34" charset="-122"/>
                <a:cs typeface="Calibri" pitchFamily="34" charset="-120"/>
              </a:rPr>
              <a:t>Daily meteorological data</a:t>
            </a:r>
            <a:endParaRPr lang="en-US" sz="1200" dirty="0"/>
          </a:p>
          <a:p>
            <a:pPr algn="ctr"/>
            <a:r>
              <a:rPr lang="en-US" sz="1200" dirty="0">
                <a:solidFill>
                  <a:srgbClr val="FFFFFF"/>
                </a:solidFill>
                <a:latin typeface="Calibri" pitchFamily="34" charset="0"/>
                <a:ea typeface="Calibri" pitchFamily="34" charset="-122"/>
                <a:cs typeface="Calibri" pitchFamily="34" charset="-120"/>
              </a:rPr>
              <a:t>(Temp, Rainfall, SWA, LAI, ETo)</a:t>
            </a:r>
            <a:endParaRPr lang="en-US" sz="1200" dirty="0"/>
          </a:p>
          <a:p>
            <a:pPr algn="ctr"/>
            <a:r>
              <a:rPr lang="en-US" sz="1200" dirty="0">
                <a:solidFill>
                  <a:srgbClr val="FFFFFF"/>
                </a:solidFill>
                <a:latin typeface="Calibri" pitchFamily="34" charset="0"/>
                <a:ea typeface="Calibri" pitchFamily="34" charset="-122"/>
                <a:cs typeface="Calibri" pitchFamily="34" charset="-120"/>
              </a:rPr>
              <a:t>~30,000 records/region</a:t>
            </a:r>
            <a:endParaRPr lang="en-US" sz="1200" dirty="0"/>
          </a:p>
        </p:txBody>
      </p:sp>
      <p:sp>
        <p:nvSpPr>
          <p:cNvPr id="23" name="Text 21"/>
          <p:cNvSpPr/>
          <p:nvPr/>
        </p:nvSpPr>
        <p:spPr>
          <a:xfrm>
            <a:off x="3048000" y="5266944"/>
            <a:ext cx="304800" cy="609600"/>
          </a:xfrm>
          <a:prstGeom prst="rect">
            <a:avLst/>
          </a:prstGeom>
          <a:noFill/>
          <a:ln/>
        </p:spPr>
        <p:txBody>
          <a:bodyPr wrap="square" lIns="0" tIns="0" rIns="0" bIns="0" rtlCol="0" anchor="ctr"/>
          <a:lstStyle/>
          <a:p>
            <a:pPr algn="ctr"/>
            <a:r>
              <a:rPr lang="en-US" sz="2400" dirty="0">
                <a:solidFill>
                  <a:srgbClr val="D4A853"/>
                </a:solidFill>
              </a:rPr>
              <a:t>→</a:t>
            </a:r>
            <a:endParaRPr lang="en-US" sz="2400" dirty="0"/>
          </a:p>
        </p:txBody>
      </p:sp>
      <p:sp>
        <p:nvSpPr>
          <p:cNvPr id="24" name="Shape 22"/>
          <p:cNvSpPr/>
          <p:nvPr/>
        </p:nvSpPr>
        <p:spPr>
          <a:xfrm>
            <a:off x="3352800" y="4535424"/>
            <a:ext cx="2560320" cy="1950720"/>
          </a:xfrm>
          <a:prstGeom prst="rect">
            <a:avLst/>
          </a:prstGeom>
          <a:solidFill>
            <a:srgbClr val="2E4A7C"/>
          </a:solidFill>
          <a:ln w="12700">
            <a:solidFill>
              <a:srgbClr val="2E4A7C"/>
            </a:solidFill>
            <a:prstDash val="solid"/>
          </a:ln>
        </p:spPr>
        <p:txBody>
          <a:bodyPr/>
          <a:lstStyle/>
          <a:p>
            <a:endParaRPr lang="en-US" sz="2400"/>
          </a:p>
        </p:txBody>
      </p:sp>
      <p:sp>
        <p:nvSpPr>
          <p:cNvPr id="25" name="Text 23"/>
          <p:cNvSpPr/>
          <p:nvPr/>
        </p:nvSpPr>
        <p:spPr>
          <a:xfrm>
            <a:off x="3450336" y="4596384"/>
            <a:ext cx="2377440" cy="1828800"/>
          </a:xfrm>
          <a:prstGeom prst="rect">
            <a:avLst/>
          </a:prstGeom>
          <a:noFill/>
          <a:ln/>
        </p:spPr>
        <p:txBody>
          <a:bodyPr wrap="square" lIns="0" tIns="0" rIns="0" bIns="0" rtlCol="0" anchor="ctr"/>
          <a:lstStyle/>
          <a:p>
            <a:pPr algn="ctr"/>
            <a:r>
              <a:rPr lang="en-US" sz="1200" dirty="0">
                <a:solidFill>
                  <a:srgbClr val="FFFFFF"/>
                </a:solidFill>
                <a:latin typeface="Calibri" pitchFamily="34" charset="0"/>
                <a:ea typeface="Calibri" pitchFamily="34" charset="-122"/>
                <a:cs typeface="Calibri" pitchFamily="34" charset="-120"/>
              </a:rPr>
              <a:t>Phenological anchors</a:t>
            </a:r>
            <a:endParaRPr lang="en-US" sz="1200" dirty="0"/>
          </a:p>
          <a:p>
            <a:pPr algn="ctr"/>
            <a:r>
              <a:rPr lang="en-US" sz="1200" dirty="0">
                <a:solidFill>
                  <a:srgbClr val="FFFFFF"/>
                </a:solidFill>
                <a:latin typeface="Calibri" pitchFamily="34" charset="0"/>
                <a:ea typeface="Calibri" pitchFamily="34" charset="-122"/>
                <a:cs typeface="Calibri" pitchFamily="34" charset="-120"/>
              </a:rPr>
              <a:t>(Budburst, Flowering,</a:t>
            </a:r>
            <a:endParaRPr lang="en-US" sz="1200" dirty="0"/>
          </a:p>
          <a:p>
            <a:pPr algn="ctr"/>
            <a:r>
              <a:rPr lang="en-US" sz="1200" dirty="0">
                <a:solidFill>
                  <a:srgbClr val="FFFFFF"/>
                </a:solidFill>
                <a:latin typeface="Calibri" pitchFamily="34" charset="0"/>
                <a:ea typeface="Calibri" pitchFamily="34" charset="-122"/>
                <a:cs typeface="Calibri" pitchFamily="34" charset="-120"/>
              </a:rPr>
              <a:t>Veraison, Harvest)</a:t>
            </a:r>
            <a:endParaRPr lang="en-US" sz="1200" dirty="0"/>
          </a:p>
        </p:txBody>
      </p:sp>
      <p:sp>
        <p:nvSpPr>
          <p:cNvPr id="26" name="Text 24"/>
          <p:cNvSpPr/>
          <p:nvPr/>
        </p:nvSpPr>
        <p:spPr>
          <a:xfrm>
            <a:off x="5913120" y="5266944"/>
            <a:ext cx="304800" cy="609600"/>
          </a:xfrm>
          <a:prstGeom prst="rect">
            <a:avLst/>
          </a:prstGeom>
          <a:noFill/>
          <a:ln/>
        </p:spPr>
        <p:txBody>
          <a:bodyPr wrap="square" lIns="0" tIns="0" rIns="0" bIns="0" rtlCol="0" anchor="ctr"/>
          <a:lstStyle/>
          <a:p>
            <a:pPr algn="ctr"/>
            <a:r>
              <a:rPr lang="en-US" sz="2400" dirty="0">
                <a:solidFill>
                  <a:srgbClr val="D4A853"/>
                </a:solidFill>
              </a:rPr>
              <a:t>→</a:t>
            </a:r>
            <a:endParaRPr lang="en-US" sz="2400" dirty="0"/>
          </a:p>
        </p:txBody>
      </p:sp>
      <p:sp>
        <p:nvSpPr>
          <p:cNvPr id="27" name="Shape 25"/>
          <p:cNvSpPr/>
          <p:nvPr/>
        </p:nvSpPr>
        <p:spPr>
          <a:xfrm>
            <a:off x="6217920" y="4535424"/>
            <a:ext cx="2560320" cy="1950720"/>
          </a:xfrm>
          <a:prstGeom prst="rect">
            <a:avLst/>
          </a:prstGeom>
          <a:solidFill>
            <a:srgbClr val="0D7377"/>
          </a:solidFill>
          <a:ln w="12700">
            <a:solidFill>
              <a:srgbClr val="0D7377"/>
            </a:solidFill>
            <a:prstDash val="solid"/>
          </a:ln>
        </p:spPr>
        <p:txBody>
          <a:bodyPr/>
          <a:lstStyle/>
          <a:p>
            <a:endParaRPr lang="en-US" sz="2400"/>
          </a:p>
        </p:txBody>
      </p:sp>
      <p:sp>
        <p:nvSpPr>
          <p:cNvPr id="28" name="Text 26"/>
          <p:cNvSpPr/>
          <p:nvPr/>
        </p:nvSpPr>
        <p:spPr>
          <a:xfrm>
            <a:off x="6315456" y="4596384"/>
            <a:ext cx="2377440" cy="1828800"/>
          </a:xfrm>
          <a:prstGeom prst="rect">
            <a:avLst/>
          </a:prstGeom>
          <a:noFill/>
          <a:ln/>
        </p:spPr>
        <p:txBody>
          <a:bodyPr wrap="square" lIns="0" tIns="0" rIns="0" bIns="0" rtlCol="0" anchor="ctr"/>
          <a:lstStyle/>
          <a:p>
            <a:pPr algn="ctr"/>
            <a:r>
              <a:rPr lang="en-US" sz="1200" dirty="0">
                <a:solidFill>
                  <a:srgbClr val="FFFFFF"/>
                </a:solidFill>
                <a:latin typeface="Calibri" pitchFamily="34" charset="0"/>
                <a:ea typeface="Calibri" pitchFamily="34" charset="-122"/>
                <a:cs typeface="Calibri" pitchFamily="34" charset="-120"/>
              </a:rPr>
              <a:t>Feature engineering</a:t>
            </a:r>
            <a:endParaRPr lang="en-US" sz="1200" dirty="0"/>
          </a:p>
          <a:p>
            <a:pPr algn="ctr"/>
            <a:r>
              <a:rPr lang="en-US" sz="1200" dirty="0">
                <a:solidFill>
                  <a:srgbClr val="FFFFFF"/>
                </a:solidFill>
                <a:latin typeface="Calibri" pitchFamily="34" charset="0"/>
                <a:ea typeface="Calibri" pitchFamily="34" charset="-122"/>
                <a:cs typeface="Calibri" pitchFamily="34" charset="-120"/>
              </a:rPr>
              <a:t>59 annual features:</a:t>
            </a:r>
            <a:endParaRPr lang="en-US" sz="1200" dirty="0"/>
          </a:p>
          <a:p>
            <a:pPr algn="ctr"/>
            <a:r>
              <a:rPr lang="en-US" sz="1200" dirty="0">
                <a:solidFill>
                  <a:srgbClr val="FFFFFF"/>
                </a:solidFill>
                <a:latin typeface="Calibri" pitchFamily="34" charset="0"/>
                <a:ea typeface="Calibri" pitchFamily="34" charset="-122"/>
                <a:cs typeface="Calibri" pitchFamily="34" charset="-120"/>
              </a:rPr>
              <a:t>variable × stage × window × year</a:t>
            </a:r>
            <a:endParaRPr lang="en-US" sz="1200" dirty="0"/>
          </a:p>
        </p:txBody>
      </p:sp>
      <p:sp>
        <p:nvSpPr>
          <p:cNvPr id="29" name="Text 27"/>
          <p:cNvSpPr/>
          <p:nvPr/>
        </p:nvSpPr>
        <p:spPr>
          <a:xfrm>
            <a:off x="8778240" y="5266944"/>
            <a:ext cx="304800" cy="609600"/>
          </a:xfrm>
          <a:prstGeom prst="rect">
            <a:avLst/>
          </a:prstGeom>
          <a:noFill/>
          <a:ln/>
        </p:spPr>
        <p:txBody>
          <a:bodyPr wrap="square" lIns="0" tIns="0" rIns="0" bIns="0" rtlCol="0" anchor="ctr"/>
          <a:lstStyle/>
          <a:p>
            <a:pPr algn="ctr"/>
            <a:r>
              <a:rPr lang="en-US" sz="2400" dirty="0">
                <a:solidFill>
                  <a:srgbClr val="D4A853"/>
                </a:solidFill>
              </a:rPr>
              <a:t>→</a:t>
            </a:r>
            <a:endParaRPr lang="en-US" sz="2400" dirty="0"/>
          </a:p>
        </p:txBody>
      </p:sp>
      <p:sp>
        <p:nvSpPr>
          <p:cNvPr id="30" name="Shape 28"/>
          <p:cNvSpPr/>
          <p:nvPr/>
        </p:nvSpPr>
        <p:spPr>
          <a:xfrm>
            <a:off x="9083040" y="4535424"/>
            <a:ext cx="2560320" cy="1950720"/>
          </a:xfrm>
          <a:prstGeom prst="rect">
            <a:avLst/>
          </a:prstGeom>
          <a:solidFill>
            <a:srgbClr val="1B2B45"/>
          </a:solidFill>
          <a:ln w="12700">
            <a:solidFill>
              <a:srgbClr val="1B2B45"/>
            </a:solidFill>
            <a:prstDash val="solid"/>
          </a:ln>
        </p:spPr>
        <p:txBody>
          <a:bodyPr/>
          <a:lstStyle/>
          <a:p>
            <a:endParaRPr lang="en-US" sz="2400"/>
          </a:p>
        </p:txBody>
      </p:sp>
      <p:sp>
        <p:nvSpPr>
          <p:cNvPr id="31" name="Text 29"/>
          <p:cNvSpPr/>
          <p:nvPr/>
        </p:nvSpPr>
        <p:spPr>
          <a:xfrm>
            <a:off x="9180576" y="4596384"/>
            <a:ext cx="2377440" cy="1828800"/>
          </a:xfrm>
          <a:prstGeom prst="rect">
            <a:avLst/>
          </a:prstGeom>
          <a:noFill/>
          <a:ln/>
        </p:spPr>
        <p:txBody>
          <a:bodyPr wrap="square" lIns="0" tIns="0" rIns="0" bIns="0" rtlCol="0" anchor="ctr"/>
          <a:lstStyle/>
          <a:p>
            <a:pPr algn="ctr"/>
            <a:r>
              <a:rPr lang="en-US" sz="1200" dirty="0">
                <a:solidFill>
                  <a:srgbClr val="FFFFFF"/>
                </a:solidFill>
                <a:latin typeface="Calibri" pitchFamily="34" charset="0"/>
                <a:ea typeface="Calibri" pitchFamily="34" charset="-122"/>
                <a:cs typeface="Calibri" pitchFamily="34" charset="-120"/>
              </a:rPr>
              <a:t>Naming convention:</a:t>
            </a:r>
            <a:endParaRPr lang="en-US" sz="1200" dirty="0"/>
          </a:p>
          <a:p>
            <a:pPr algn="ctr"/>
            <a:r>
              <a:rPr lang="en-US" sz="1200" dirty="0">
                <a:solidFill>
                  <a:srgbClr val="FFFFFF"/>
                </a:solidFill>
                <a:latin typeface="Calibri" pitchFamily="34" charset="0"/>
                <a:ea typeface="Calibri" pitchFamily="34" charset="-122"/>
                <a:cs typeface="Calibri" pitchFamily="34" charset="-120"/>
              </a:rPr>
              <a:t>swa_hv_y1_b20</a:t>
            </a:r>
            <a:endParaRPr lang="en-US" sz="1200" dirty="0"/>
          </a:p>
          <a:p>
            <a:pPr algn="ctr"/>
            <a:r>
              <a:rPr lang="en-US" sz="1200" dirty="0">
                <a:solidFill>
                  <a:srgbClr val="FFFFFF"/>
                </a:solidFill>
                <a:latin typeface="Calibri" pitchFamily="34" charset="0"/>
                <a:ea typeface="Calibri" pitchFamily="34" charset="-122"/>
                <a:cs typeface="Calibri" pitchFamily="34" charset="-120"/>
              </a:rPr>
              <a:t>= harvest soil water, 20d before</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Methodological Framework</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Complete pipeline from raw data to scientific findings</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438912"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lang="en-US" sz="2400"/>
          </a:p>
        </p:txBody>
      </p:sp>
      <p:sp>
        <p:nvSpPr>
          <p:cNvPr id="7" name="Text 5"/>
          <p:cNvSpPr/>
          <p:nvPr/>
        </p:nvSpPr>
        <p:spPr>
          <a:xfrm>
            <a:off x="438912" y="1621536"/>
            <a:ext cx="1682496" cy="426720"/>
          </a:xfrm>
          <a:prstGeom prst="rect">
            <a:avLst/>
          </a:prstGeom>
          <a:noFill/>
          <a:ln/>
        </p:spPr>
        <p:txBody>
          <a:bodyPr wrap="square" lIns="0" tIns="0" rIns="0" bIns="0" rtlCol="0" anchor="ctr"/>
          <a:lstStyle/>
          <a:p>
            <a:pPr algn="ctr"/>
            <a:r>
              <a:rPr lang="en-US" sz="2400" b="1" dirty="0">
                <a:solidFill>
                  <a:srgbClr val="D4A853"/>
                </a:solidFill>
                <a:latin typeface="Calibri" pitchFamily="34" charset="0"/>
                <a:ea typeface="Calibri" pitchFamily="34" charset="-122"/>
                <a:cs typeface="Calibri" pitchFamily="34" charset="-120"/>
              </a:rPr>
              <a:t>1</a:t>
            </a:r>
            <a:endParaRPr lang="en-US" sz="2400" dirty="0"/>
          </a:p>
        </p:txBody>
      </p:sp>
      <p:sp>
        <p:nvSpPr>
          <p:cNvPr id="8" name="Text 6"/>
          <p:cNvSpPr/>
          <p:nvPr/>
        </p:nvSpPr>
        <p:spPr>
          <a:xfrm>
            <a:off x="499872" y="2023872"/>
            <a:ext cx="1560576" cy="1243584"/>
          </a:xfrm>
          <a:prstGeom prst="rect">
            <a:avLst/>
          </a:prstGeom>
          <a:noFill/>
          <a:ln/>
        </p:spPr>
        <p:txBody>
          <a:bodyPr wrap="square" lIns="0" tIns="0" rIns="0" bIns="0" rtlCol="0" anchor="ctr"/>
          <a:lstStyle/>
          <a:p>
            <a:pPr algn="ctr"/>
            <a:r>
              <a:rPr lang="en-US" sz="1133" dirty="0">
                <a:solidFill>
                  <a:srgbClr val="FFFFFF"/>
                </a:solidFill>
                <a:latin typeface="Calibri" pitchFamily="34" charset="0"/>
                <a:ea typeface="Calibri" pitchFamily="34" charset="-122"/>
                <a:cs typeface="Calibri" pitchFamily="34" charset="-120"/>
              </a:rPr>
              <a:t>Raw Data</a:t>
            </a:r>
            <a:endParaRPr lang="en-US" sz="1133" dirty="0"/>
          </a:p>
          <a:p>
            <a:pPr algn="ctr"/>
            <a:r>
              <a:rPr lang="en-US" sz="1133" dirty="0">
                <a:solidFill>
                  <a:srgbClr val="FFFFFF"/>
                </a:solidFill>
                <a:latin typeface="Calibri" pitchFamily="34" charset="0"/>
                <a:ea typeface="Calibri" pitchFamily="34" charset="-122"/>
                <a:cs typeface="Calibri" pitchFamily="34" charset="-120"/>
              </a:rPr>
              <a:t>(Daily meteo,</a:t>
            </a:r>
            <a:endParaRPr lang="en-US" sz="1133" dirty="0"/>
          </a:p>
          <a:p>
            <a:pPr algn="ctr"/>
            <a:r>
              <a:rPr lang="en-US" sz="1133" dirty="0">
                <a:solidFill>
                  <a:srgbClr val="FFFFFF"/>
                </a:solidFill>
                <a:latin typeface="Calibri" pitchFamily="34" charset="0"/>
                <a:ea typeface="Calibri" pitchFamily="34" charset="-122"/>
                <a:cs typeface="Calibri" pitchFamily="34" charset="-120"/>
              </a:rPr>
              <a:t>phenology,</a:t>
            </a:r>
            <a:endParaRPr lang="en-US" sz="1133" dirty="0"/>
          </a:p>
          <a:p>
            <a:pPr algn="ctr"/>
            <a:r>
              <a:rPr lang="en-US" sz="1133" dirty="0">
                <a:solidFill>
                  <a:srgbClr val="FFFFFF"/>
                </a:solidFill>
                <a:latin typeface="Calibri" pitchFamily="34" charset="0"/>
                <a:ea typeface="Calibri" pitchFamily="34" charset="-122"/>
                <a:cs typeface="Calibri" pitchFamily="34" charset="-120"/>
              </a:rPr>
              <a:t>production)</a:t>
            </a:r>
            <a:endParaRPr lang="en-US" sz="1133" dirty="0"/>
          </a:p>
        </p:txBody>
      </p:sp>
      <p:sp>
        <p:nvSpPr>
          <p:cNvPr id="9" name="Text 7"/>
          <p:cNvSpPr/>
          <p:nvPr/>
        </p:nvSpPr>
        <p:spPr>
          <a:xfrm>
            <a:off x="2121408" y="2170176"/>
            <a:ext cx="219456" cy="585216"/>
          </a:xfrm>
          <a:prstGeom prst="rect">
            <a:avLst/>
          </a:prstGeom>
          <a:noFill/>
          <a:ln/>
        </p:spPr>
        <p:txBody>
          <a:bodyPr wrap="square" lIns="0" tIns="0" rIns="0" bIns="0" rtlCol="0" anchor="ctr"/>
          <a:lstStyle/>
          <a:p>
            <a:pPr algn="ctr"/>
            <a:r>
              <a:rPr lang="en-US" sz="2133" dirty="0">
                <a:solidFill>
                  <a:srgbClr val="D4A853"/>
                </a:solidFill>
              </a:rPr>
              <a:t>→</a:t>
            </a:r>
            <a:endParaRPr lang="en-US" sz="2133" dirty="0"/>
          </a:p>
        </p:txBody>
      </p:sp>
      <p:sp>
        <p:nvSpPr>
          <p:cNvPr id="10" name="Shape 8"/>
          <p:cNvSpPr/>
          <p:nvPr/>
        </p:nvSpPr>
        <p:spPr>
          <a:xfrm>
            <a:off x="2340864"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lang="en-US" sz="2400"/>
          </a:p>
        </p:txBody>
      </p:sp>
      <p:sp>
        <p:nvSpPr>
          <p:cNvPr id="11" name="Text 9"/>
          <p:cNvSpPr/>
          <p:nvPr/>
        </p:nvSpPr>
        <p:spPr>
          <a:xfrm>
            <a:off x="2340864" y="1621536"/>
            <a:ext cx="1682496" cy="426720"/>
          </a:xfrm>
          <a:prstGeom prst="rect">
            <a:avLst/>
          </a:prstGeom>
          <a:noFill/>
          <a:ln/>
        </p:spPr>
        <p:txBody>
          <a:bodyPr wrap="square" lIns="0" tIns="0" rIns="0" bIns="0" rtlCol="0" anchor="ctr"/>
          <a:lstStyle/>
          <a:p>
            <a:pPr algn="ctr"/>
            <a:r>
              <a:rPr lang="en-US" sz="2400" b="1" dirty="0">
                <a:solidFill>
                  <a:srgbClr val="D4A853"/>
                </a:solidFill>
                <a:latin typeface="Calibri" pitchFamily="34" charset="0"/>
                <a:ea typeface="Calibri" pitchFamily="34" charset="-122"/>
                <a:cs typeface="Calibri" pitchFamily="34" charset="-120"/>
              </a:rPr>
              <a:t>2</a:t>
            </a:r>
            <a:endParaRPr lang="en-US" sz="2400" dirty="0"/>
          </a:p>
        </p:txBody>
      </p:sp>
      <p:sp>
        <p:nvSpPr>
          <p:cNvPr id="12" name="Text 10"/>
          <p:cNvSpPr/>
          <p:nvPr/>
        </p:nvSpPr>
        <p:spPr>
          <a:xfrm>
            <a:off x="2401824" y="2023872"/>
            <a:ext cx="1560576" cy="1243584"/>
          </a:xfrm>
          <a:prstGeom prst="rect">
            <a:avLst/>
          </a:prstGeom>
          <a:noFill/>
          <a:ln/>
        </p:spPr>
        <p:txBody>
          <a:bodyPr wrap="square" lIns="0" tIns="0" rIns="0" bIns="0" rtlCol="0" anchor="ctr"/>
          <a:lstStyle/>
          <a:p>
            <a:pPr algn="ctr"/>
            <a:r>
              <a:rPr lang="en-US" sz="1133" dirty="0">
                <a:solidFill>
                  <a:srgbClr val="FFFFFF"/>
                </a:solidFill>
                <a:latin typeface="Calibri" pitchFamily="34" charset="0"/>
                <a:ea typeface="Calibri" pitchFamily="34" charset="-122"/>
                <a:cs typeface="Calibri" pitchFamily="34" charset="-120"/>
              </a:rPr>
              <a:t>Linear</a:t>
            </a:r>
            <a:endParaRPr lang="en-US" sz="1133" dirty="0"/>
          </a:p>
          <a:p>
            <a:pPr algn="ctr"/>
            <a:r>
              <a:rPr lang="en-US" sz="1133" dirty="0">
                <a:solidFill>
                  <a:srgbClr val="FFFFFF"/>
                </a:solidFill>
                <a:latin typeface="Calibri" pitchFamily="34" charset="0"/>
                <a:ea typeface="Calibri" pitchFamily="34" charset="-122"/>
                <a:cs typeface="Calibri" pitchFamily="34" charset="-120"/>
              </a:rPr>
              <a:t>Detrending</a:t>
            </a:r>
            <a:endParaRPr lang="en-US" sz="1133" dirty="0"/>
          </a:p>
          <a:p>
            <a:pPr algn="ctr"/>
            <a:r>
              <a:rPr lang="en-US" sz="1133" dirty="0">
                <a:solidFill>
                  <a:srgbClr val="FFFFFF"/>
                </a:solidFill>
                <a:latin typeface="Calibri" pitchFamily="34" charset="0"/>
                <a:ea typeface="Calibri" pitchFamily="34" charset="-122"/>
                <a:cs typeface="Calibri" pitchFamily="34" charset="-120"/>
              </a:rPr>
              <a:t>(OLS within-fold,</a:t>
            </a:r>
            <a:endParaRPr lang="en-US" sz="1133" dirty="0"/>
          </a:p>
          <a:p>
            <a:pPr algn="ctr"/>
            <a:r>
              <a:rPr lang="en-US" sz="1133" dirty="0">
                <a:solidFill>
                  <a:srgbClr val="FFFFFF"/>
                </a:solidFill>
                <a:latin typeface="Calibri" pitchFamily="34" charset="0"/>
                <a:ea typeface="Calibri" pitchFamily="34" charset="-122"/>
                <a:cs typeface="Calibri" pitchFamily="34" charset="-120"/>
              </a:rPr>
              <a:t>residuals rt)</a:t>
            </a:r>
            <a:endParaRPr lang="en-US" sz="1133" dirty="0"/>
          </a:p>
        </p:txBody>
      </p:sp>
      <p:sp>
        <p:nvSpPr>
          <p:cNvPr id="13" name="Text 11"/>
          <p:cNvSpPr/>
          <p:nvPr/>
        </p:nvSpPr>
        <p:spPr>
          <a:xfrm>
            <a:off x="4023360" y="2170176"/>
            <a:ext cx="219456" cy="585216"/>
          </a:xfrm>
          <a:prstGeom prst="rect">
            <a:avLst/>
          </a:prstGeom>
          <a:noFill/>
          <a:ln/>
        </p:spPr>
        <p:txBody>
          <a:bodyPr wrap="square" lIns="0" tIns="0" rIns="0" bIns="0" rtlCol="0" anchor="ctr"/>
          <a:lstStyle/>
          <a:p>
            <a:pPr algn="ctr"/>
            <a:r>
              <a:rPr lang="en-US" sz="2133" dirty="0">
                <a:solidFill>
                  <a:srgbClr val="D4A853"/>
                </a:solidFill>
              </a:rPr>
              <a:t>→</a:t>
            </a:r>
            <a:endParaRPr lang="en-US" sz="2133" dirty="0"/>
          </a:p>
        </p:txBody>
      </p:sp>
      <p:sp>
        <p:nvSpPr>
          <p:cNvPr id="14" name="Shape 12"/>
          <p:cNvSpPr/>
          <p:nvPr/>
        </p:nvSpPr>
        <p:spPr>
          <a:xfrm>
            <a:off x="4242816"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lang="en-US" sz="2400"/>
          </a:p>
        </p:txBody>
      </p:sp>
      <p:sp>
        <p:nvSpPr>
          <p:cNvPr id="15" name="Text 13"/>
          <p:cNvSpPr/>
          <p:nvPr/>
        </p:nvSpPr>
        <p:spPr>
          <a:xfrm>
            <a:off x="4242816" y="1621536"/>
            <a:ext cx="1682496" cy="426720"/>
          </a:xfrm>
          <a:prstGeom prst="rect">
            <a:avLst/>
          </a:prstGeom>
          <a:noFill/>
          <a:ln/>
        </p:spPr>
        <p:txBody>
          <a:bodyPr wrap="square" lIns="0" tIns="0" rIns="0" bIns="0" rtlCol="0" anchor="ctr"/>
          <a:lstStyle/>
          <a:p>
            <a:pPr algn="ctr"/>
            <a:r>
              <a:rPr lang="en-US" sz="2400" b="1" dirty="0">
                <a:solidFill>
                  <a:srgbClr val="D4A853"/>
                </a:solidFill>
                <a:latin typeface="Calibri" pitchFamily="34" charset="0"/>
                <a:ea typeface="Calibri" pitchFamily="34" charset="-122"/>
                <a:cs typeface="Calibri" pitchFamily="34" charset="-120"/>
              </a:rPr>
              <a:t>3</a:t>
            </a:r>
            <a:endParaRPr lang="en-US" sz="2400" dirty="0"/>
          </a:p>
        </p:txBody>
      </p:sp>
      <p:sp>
        <p:nvSpPr>
          <p:cNvPr id="16" name="Text 14"/>
          <p:cNvSpPr/>
          <p:nvPr/>
        </p:nvSpPr>
        <p:spPr>
          <a:xfrm>
            <a:off x="4303776" y="2023872"/>
            <a:ext cx="1560576" cy="1243584"/>
          </a:xfrm>
          <a:prstGeom prst="rect">
            <a:avLst/>
          </a:prstGeom>
          <a:noFill/>
          <a:ln/>
        </p:spPr>
        <p:txBody>
          <a:bodyPr wrap="square" lIns="0" tIns="0" rIns="0" bIns="0" rtlCol="0" anchor="ctr"/>
          <a:lstStyle/>
          <a:p>
            <a:pPr algn="ctr"/>
            <a:r>
              <a:rPr lang="en-US" sz="1133" dirty="0">
                <a:solidFill>
                  <a:srgbClr val="FFFFFF"/>
                </a:solidFill>
                <a:latin typeface="Calibri" pitchFamily="34" charset="0"/>
                <a:ea typeface="Calibri" pitchFamily="34" charset="-122"/>
                <a:cs typeface="Calibri" pitchFamily="34" charset="-120"/>
              </a:rPr>
              <a:t>Feature</a:t>
            </a:r>
            <a:endParaRPr lang="en-US" sz="1133" dirty="0"/>
          </a:p>
          <a:p>
            <a:pPr algn="ctr"/>
            <a:r>
              <a:rPr lang="en-US" sz="1133" dirty="0">
                <a:solidFill>
                  <a:srgbClr val="FFFFFF"/>
                </a:solidFill>
                <a:latin typeface="Calibri" pitchFamily="34" charset="0"/>
                <a:ea typeface="Calibri" pitchFamily="34" charset="-122"/>
                <a:cs typeface="Calibri" pitchFamily="34" charset="-120"/>
              </a:rPr>
              <a:t>Engineering</a:t>
            </a:r>
            <a:endParaRPr lang="en-US" sz="1133" dirty="0"/>
          </a:p>
          <a:p>
            <a:pPr algn="ctr"/>
            <a:r>
              <a:rPr lang="en-US" sz="1133" dirty="0">
                <a:solidFill>
                  <a:srgbClr val="FFFFFF"/>
                </a:solidFill>
                <a:latin typeface="Calibri" pitchFamily="34" charset="0"/>
                <a:ea typeface="Calibri" pitchFamily="34" charset="-122"/>
                <a:cs typeface="Calibri" pitchFamily="34" charset="-120"/>
              </a:rPr>
              <a:t>(59 annual</a:t>
            </a:r>
            <a:endParaRPr lang="en-US" sz="1133" dirty="0"/>
          </a:p>
          <a:p>
            <a:pPr algn="ctr"/>
            <a:r>
              <a:rPr lang="en-US" sz="1133" dirty="0">
                <a:solidFill>
                  <a:srgbClr val="FFFFFF"/>
                </a:solidFill>
                <a:latin typeface="Calibri" pitchFamily="34" charset="0"/>
                <a:ea typeface="Calibri" pitchFamily="34" charset="-122"/>
                <a:cs typeface="Calibri" pitchFamily="34" charset="-120"/>
              </a:rPr>
              <a:t>features)</a:t>
            </a:r>
            <a:endParaRPr lang="en-US" sz="1133" dirty="0"/>
          </a:p>
        </p:txBody>
      </p:sp>
      <p:sp>
        <p:nvSpPr>
          <p:cNvPr id="17" name="Text 15"/>
          <p:cNvSpPr/>
          <p:nvPr/>
        </p:nvSpPr>
        <p:spPr>
          <a:xfrm>
            <a:off x="5925312" y="2170176"/>
            <a:ext cx="219456" cy="585216"/>
          </a:xfrm>
          <a:prstGeom prst="rect">
            <a:avLst/>
          </a:prstGeom>
          <a:noFill/>
          <a:ln/>
        </p:spPr>
        <p:txBody>
          <a:bodyPr wrap="square" lIns="0" tIns="0" rIns="0" bIns="0" rtlCol="0" anchor="ctr"/>
          <a:lstStyle/>
          <a:p>
            <a:pPr algn="ctr"/>
            <a:r>
              <a:rPr lang="en-US" sz="2133" dirty="0">
                <a:solidFill>
                  <a:srgbClr val="D4A853"/>
                </a:solidFill>
              </a:rPr>
              <a:t>→</a:t>
            </a:r>
            <a:endParaRPr lang="en-US" sz="2133" dirty="0"/>
          </a:p>
        </p:txBody>
      </p:sp>
      <p:sp>
        <p:nvSpPr>
          <p:cNvPr id="18" name="Shape 16"/>
          <p:cNvSpPr/>
          <p:nvPr/>
        </p:nvSpPr>
        <p:spPr>
          <a:xfrm>
            <a:off x="6144768" y="1560576"/>
            <a:ext cx="1682496" cy="180441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lang="en-US" sz="2400"/>
          </a:p>
        </p:txBody>
      </p:sp>
      <p:sp>
        <p:nvSpPr>
          <p:cNvPr id="19" name="Text 17"/>
          <p:cNvSpPr/>
          <p:nvPr/>
        </p:nvSpPr>
        <p:spPr>
          <a:xfrm>
            <a:off x="6144768" y="1621536"/>
            <a:ext cx="1682496" cy="426720"/>
          </a:xfrm>
          <a:prstGeom prst="rect">
            <a:avLst/>
          </a:prstGeom>
          <a:noFill/>
          <a:ln/>
        </p:spPr>
        <p:txBody>
          <a:bodyPr wrap="square" lIns="0" tIns="0" rIns="0" bIns="0" rtlCol="0" anchor="ctr"/>
          <a:lstStyle/>
          <a:p>
            <a:pPr algn="ctr"/>
            <a:r>
              <a:rPr lang="en-US" sz="2400" b="1" dirty="0">
                <a:solidFill>
                  <a:srgbClr val="D4A853"/>
                </a:solidFill>
                <a:latin typeface="Calibri" pitchFamily="34" charset="0"/>
                <a:ea typeface="Calibri" pitchFamily="34" charset="-122"/>
                <a:cs typeface="Calibri" pitchFamily="34" charset="-120"/>
              </a:rPr>
              <a:t>4</a:t>
            </a:r>
            <a:endParaRPr lang="en-US" sz="2400" dirty="0"/>
          </a:p>
        </p:txBody>
      </p:sp>
      <p:sp>
        <p:nvSpPr>
          <p:cNvPr id="20" name="Text 18"/>
          <p:cNvSpPr/>
          <p:nvPr/>
        </p:nvSpPr>
        <p:spPr>
          <a:xfrm>
            <a:off x="6205728" y="2023872"/>
            <a:ext cx="1560576" cy="1243584"/>
          </a:xfrm>
          <a:prstGeom prst="rect">
            <a:avLst/>
          </a:prstGeom>
          <a:noFill/>
          <a:ln/>
        </p:spPr>
        <p:txBody>
          <a:bodyPr wrap="square" lIns="0" tIns="0" rIns="0" bIns="0" rtlCol="0" anchor="ctr"/>
          <a:lstStyle/>
          <a:p>
            <a:pPr algn="ctr"/>
            <a:r>
              <a:rPr lang="en-US" sz="1133" dirty="0">
                <a:solidFill>
                  <a:srgbClr val="FFFFFF"/>
                </a:solidFill>
                <a:latin typeface="Calibri" pitchFamily="34" charset="0"/>
                <a:ea typeface="Calibri" pitchFamily="34" charset="-122"/>
                <a:cs typeface="Calibri" pitchFamily="34" charset="-120"/>
              </a:rPr>
              <a:t>Feature</a:t>
            </a:r>
            <a:endParaRPr lang="en-US" sz="1133" dirty="0"/>
          </a:p>
          <a:p>
            <a:pPr algn="ctr"/>
            <a:r>
              <a:rPr lang="en-US" sz="1133" dirty="0">
                <a:solidFill>
                  <a:srgbClr val="FFFFFF"/>
                </a:solidFill>
                <a:latin typeface="Calibri" pitchFamily="34" charset="0"/>
                <a:ea typeface="Calibri" pitchFamily="34" charset="-122"/>
                <a:cs typeface="Calibri" pitchFamily="34" charset="-120"/>
              </a:rPr>
              <a:t>Selection</a:t>
            </a:r>
            <a:endParaRPr lang="en-US" sz="1133" dirty="0"/>
          </a:p>
          <a:p>
            <a:pPr algn="ctr"/>
            <a:r>
              <a:rPr lang="en-US" sz="1133" dirty="0">
                <a:solidFill>
                  <a:srgbClr val="FFFFFF"/>
                </a:solidFill>
                <a:latin typeface="Calibri" pitchFamily="34" charset="0"/>
                <a:ea typeface="Calibri" pitchFamily="34" charset="-122"/>
                <a:cs typeface="Calibri" pitchFamily="34" charset="-120"/>
              </a:rPr>
              <a:t>(η², Pearson,</a:t>
            </a:r>
            <a:endParaRPr lang="en-US" sz="1133" dirty="0"/>
          </a:p>
          <a:p>
            <a:pPr algn="ctr"/>
            <a:r>
              <a:rPr lang="en-US" sz="1133" dirty="0">
                <a:solidFill>
                  <a:srgbClr val="FFFFFF"/>
                </a:solidFill>
                <a:latin typeface="Calibri" pitchFamily="34" charset="0"/>
                <a:ea typeface="Calibri" pitchFamily="34" charset="-122"/>
                <a:cs typeface="Calibri" pitchFamily="34" charset="-120"/>
              </a:rPr>
              <a:t>support filter)</a:t>
            </a:r>
            <a:endParaRPr lang="en-US" sz="1133" dirty="0"/>
          </a:p>
        </p:txBody>
      </p:sp>
      <p:sp>
        <p:nvSpPr>
          <p:cNvPr id="21" name="Text 19"/>
          <p:cNvSpPr/>
          <p:nvPr/>
        </p:nvSpPr>
        <p:spPr>
          <a:xfrm>
            <a:off x="7827264" y="2170176"/>
            <a:ext cx="219456" cy="585216"/>
          </a:xfrm>
          <a:prstGeom prst="rect">
            <a:avLst/>
          </a:prstGeom>
          <a:noFill/>
          <a:ln/>
        </p:spPr>
        <p:txBody>
          <a:bodyPr wrap="square" lIns="0" tIns="0" rIns="0" bIns="0" rtlCol="0" anchor="ctr"/>
          <a:lstStyle/>
          <a:p>
            <a:pPr algn="ctr"/>
            <a:r>
              <a:rPr lang="en-US" sz="2133" dirty="0">
                <a:solidFill>
                  <a:srgbClr val="D4A853"/>
                </a:solidFill>
              </a:rPr>
              <a:t>→</a:t>
            </a:r>
            <a:endParaRPr lang="en-US" sz="2133" dirty="0"/>
          </a:p>
        </p:txBody>
      </p:sp>
      <p:sp>
        <p:nvSpPr>
          <p:cNvPr id="22" name="Shape 20"/>
          <p:cNvSpPr/>
          <p:nvPr/>
        </p:nvSpPr>
        <p:spPr>
          <a:xfrm>
            <a:off x="8046720" y="1560576"/>
            <a:ext cx="1682496" cy="180441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lang="en-US" sz="2400"/>
          </a:p>
        </p:txBody>
      </p:sp>
      <p:sp>
        <p:nvSpPr>
          <p:cNvPr id="23" name="Text 21"/>
          <p:cNvSpPr/>
          <p:nvPr/>
        </p:nvSpPr>
        <p:spPr>
          <a:xfrm>
            <a:off x="8046720" y="1621536"/>
            <a:ext cx="1682496" cy="426720"/>
          </a:xfrm>
          <a:prstGeom prst="rect">
            <a:avLst/>
          </a:prstGeom>
          <a:noFill/>
          <a:ln/>
        </p:spPr>
        <p:txBody>
          <a:bodyPr wrap="square" lIns="0" tIns="0" rIns="0" bIns="0" rtlCol="0" anchor="ctr"/>
          <a:lstStyle/>
          <a:p>
            <a:pPr algn="ctr"/>
            <a:r>
              <a:rPr lang="en-US" sz="2400" b="1" dirty="0">
                <a:solidFill>
                  <a:srgbClr val="D4A853"/>
                </a:solidFill>
                <a:latin typeface="Calibri" pitchFamily="34" charset="0"/>
                <a:ea typeface="Calibri" pitchFamily="34" charset="-122"/>
                <a:cs typeface="Calibri" pitchFamily="34" charset="-120"/>
              </a:rPr>
              <a:t>5</a:t>
            </a:r>
            <a:endParaRPr lang="en-US" sz="2400" dirty="0"/>
          </a:p>
        </p:txBody>
      </p:sp>
      <p:sp>
        <p:nvSpPr>
          <p:cNvPr id="24" name="Text 22"/>
          <p:cNvSpPr/>
          <p:nvPr/>
        </p:nvSpPr>
        <p:spPr>
          <a:xfrm>
            <a:off x="8107680" y="2023872"/>
            <a:ext cx="1560576" cy="1243584"/>
          </a:xfrm>
          <a:prstGeom prst="rect">
            <a:avLst/>
          </a:prstGeom>
          <a:noFill/>
          <a:ln/>
        </p:spPr>
        <p:txBody>
          <a:bodyPr wrap="square" lIns="0" tIns="0" rIns="0" bIns="0" rtlCol="0" anchor="ctr"/>
          <a:lstStyle/>
          <a:p>
            <a:pPr algn="ctr"/>
            <a:r>
              <a:rPr lang="en-US" sz="1133" dirty="0">
                <a:solidFill>
                  <a:srgbClr val="FFFFFF"/>
                </a:solidFill>
                <a:latin typeface="Calibri" pitchFamily="34" charset="0"/>
                <a:ea typeface="Calibri" pitchFamily="34" charset="-122"/>
                <a:cs typeface="Calibri" pitchFamily="34" charset="-120"/>
              </a:rPr>
              <a:t>Rule Induction</a:t>
            </a:r>
            <a:endParaRPr lang="en-US" sz="1133" dirty="0"/>
          </a:p>
          <a:p>
            <a:pPr algn="ctr"/>
            <a:r>
              <a:rPr lang="en-US" sz="1133" dirty="0">
                <a:solidFill>
                  <a:srgbClr val="FFFFFF"/>
                </a:solidFill>
                <a:latin typeface="Calibri" pitchFamily="34" charset="0"/>
                <a:ea typeface="Calibri" pitchFamily="34" charset="-122"/>
                <a:cs typeface="Calibri" pitchFamily="34" charset="-120"/>
              </a:rPr>
              <a:t>(CarenR KS-test,</a:t>
            </a:r>
            <a:endParaRPr lang="en-US" sz="1133" dirty="0"/>
          </a:p>
          <a:p>
            <a:pPr algn="ctr"/>
            <a:r>
              <a:rPr lang="en-US" sz="1133" dirty="0">
                <a:solidFill>
                  <a:srgbClr val="FFFFFF"/>
                </a:solidFill>
                <a:latin typeface="Calibri" pitchFamily="34" charset="0"/>
                <a:ea typeface="Calibri" pitchFamily="34" charset="-122"/>
                <a:cs typeface="Calibri" pitchFamily="34" charset="-120"/>
              </a:rPr>
              <a:t>RIPPER,</a:t>
            </a:r>
            <a:endParaRPr lang="en-US" sz="1133" dirty="0"/>
          </a:p>
          <a:p>
            <a:pPr algn="ctr"/>
            <a:r>
              <a:rPr lang="en-US" sz="1133" dirty="0">
                <a:solidFill>
                  <a:srgbClr val="FFFFFF"/>
                </a:solidFill>
                <a:latin typeface="Calibri" pitchFamily="34" charset="0"/>
                <a:ea typeface="Calibri" pitchFamily="34" charset="-122"/>
                <a:cs typeface="Calibri" pitchFamily="34" charset="-120"/>
              </a:rPr>
              <a:t>M5Rules)</a:t>
            </a:r>
            <a:endParaRPr lang="en-US" sz="1133" dirty="0"/>
          </a:p>
        </p:txBody>
      </p:sp>
      <p:sp>
        <p:nvSpPr>
          <p:cNvPr id="25" name="Text 23"/>
          <p:cNvSpPr/>
          <p:nvPr/>
        </p:nvSpPr>
        <p:spPr>
          <a:xfrm>
            <a:off x="9729216" y="2170176"/>
            <a:ext cx="219456" cy="585216"/>
          </a:xfrm>
          <a:prstGeom prst="rect">
            <a:avLst/>
          </a:prstGeom>
          <a:noFill/>
          <a:ln/>
        </p:spPr>
        <p:txBody>
          <a:bodyPr wrap="square" lIns="0" tIns="0" rIns="0" bIns="0" rtlCol="0" anchor="ctr"/>
          <a:lstStyle/>
          <a:p>
            <a:pPr algn="ctr"/>
            <a:r>
              <a:rPr lang="en-US" sz="2133" dirty="0">
                <a:solidFill>
                  <a:srgbClr val="D4A853"/>
                </a:solidFill>
              </a:rPr>
              <a:t>→</a:t>
            </a:r>
            <a:endParaRPr lang="en-US" sz="2133" dirty="0"/>
          </a:p>
        </p:txBody>
      </p:sp>
      <p:sp>
        <p:nvSpPr>
          <p:cNvPr id="26" name="Shape 24"/>
          <p:cNvSpPr/>
          <p:nvPr/>
        </p:nvSpPr>
        <p:spPr>
          <a:xfrm>
            <a:off x="9948672" y="1560576"/>
            <a:ext cx="1682496" cy="180441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lang="en-US" sz="2400"/>
          </a:p>
        </p:txBody>
      </p:sp>
      <p:sp>
        <p:nvSpPr>
          <p:cNvPr id="27" name="Text 25"/>
          <p:cNvSpPr/>
          <p:nvPr/>
        </p:nvSpPr>
        <p:spPr>
          <a:xfrm>
            <a:off x="9948672" y="1621536"/>
            <a:ext cx="1682496" cy="426720"/>
          </a:xfrm>
          <a:prstGeom prst="rect">
            <a:avLst/>
          </a:prstGeom>
          <a:noFill/>
          <a:ln/>
        </p:spPr>
        <p:txBody>
          <a:bodyPr wrap="square" lIns="0" tIns="0" rIns="0" bIns="0" rtlCol="0" anchor="ctr"/>
          <a:lstStyle/>
          <a:p>
            <a:pPr algn="ctr"/>
            <a:r>
              <a:rPr lang="en-US" sz="2400" b="1" dirty="0">
                <a:solidFill>
                  <a:srgbClr val="D4A853"/>
                </a:solidFill>
                <a:latin typeface="Calibri" pitchFamily="34" charset="0"/>
                <a:ea typeface="Calibri" pitchFamily="34" charset="-122"/>
                <a:cs typeface="Calibri" pitchFamily="34" charset="-120"/>
              </a:rPr>
              <a:t>6</a:t>
            </a:r>
            <a:endParaRPr lang="en-US" sz="2400" dirty="0"/>
          </a:p>
        </p:txBody>
      </p:sp>
      <p:sp>
        <p:nvSpPr>
          <p:cNvPr id="28" name="Text 26"/>
          <p:cNvSpPr/>
          <p:nvPr/>
        </p:nvSpPr>
        <p:spPr>
          <a:xfrm>
            <a:off x="10009632" y="2023872"/>
            <a:ext cx="1560576" cy="1243584"/>
          </a:xfrm>
          <a:prstGeom prst="rect">
            <a:avLst/>
          </a:prstGeom>
          <a:noFill/>
          <a:ln/>
        </p:spPr>
        <p:txBody>
          <a:bodyPr wrap="square" lIns="0" tIns="0" rIns="0" bIns="0" rtlCol="0" anchor="ctr"/>
          <a:lstStyle/>
          <a:p>
            <a:pPr algn="ctr"/>
            <a:r>
              <a:rPr lang="en-US" sz="1133" dirty="0">
                <a:solidFill>
                  <a:srgbClr val="FFFFFF"/>
                </a:solidFill>
                <a:latin typeface="Calibri" pitchFamily="34" charset="0"/>
                <a:ea typeface="Calibri" pitchFamily="34" charset="-122"/>
                <a:cs typeface="Calibri" pitchFamily="34" charset="-120"/>
              </a:rPr>
              <a:t>Walk-Forward</a:t>
            </a:r>
            <a:endParaRPr lang="en-US" sz="1133" dirty="0"/>
          </a:p>
          <a:p>
            <a:pPr algn="ctr"/>
            <a:r>
              <a:rPr lang="en-US" sz="1133" dirty="0">
                <a:solidFill>
                  <a:srgbClr val="FFFFFF"/>
                </a:solidFill>
                <a:latin typeface="Calibri" pitchFamily="34" charset="0"/>
                <a:ea typeface="Calibri" pitchFamily="34" charset="-122"/>
                <a:cs typeface="Calibri" pitchFamily="34" charset="-120"/>
              </a:rPr>
              <a:t>Evaluation</a:t>
            </a:r>
            <a:endParaRPr lang="en-US" sz="1133" dirty="0"/>
          </a:p>
          <a:p>
            <a:pPr algn="ctr"/>
            <a:r>
              <a:rPr lang="en-US" sz="1133" dirty="0">
                <a:solidFill>
                  <a:srgbClr val="FFFFFF"/>
                </a:solidFill>
                <a:latin typeface="Calibri" pitchFamily="34" charset="0"/>
                <a:ea typeface="Calibri" pitchFamily="34" charset="-122"/>
                <a:cs typeface="Calibri" pitchFamily="34" charset="-120"/>
              </a:rPr>
              <a:t>(18/16 expanding</a:t>
            </a:r>
            <a:endParaRPr lang="en-US" sz="1133" dirty="0"/>
          </a:p>
          <a:p>
            <a:pPr algn="ctr"/>
            <a:r>
              <a:rPr lang="en-US" sz="1133" dirty="0">
                <a:solidFill>
                  <a:srgbClr val="FFFFFF"/>
                </a:solidFill>
                <a:latin typeface="Calibri" pitchFamily="34" charset="0"/>
                <a:ea typeface="Calibri" pitchFamily="34" charset="-122"/>
                <a:cs typeface="Calibri" pitchFamily="34" charset="-120"/>
              </a:rPr>
              <a:t>window scenarios)</a:t>
            </a:r>
            <a:endParaRPr lang="en-US" sz="1133" dirty="0"/>
          </a:p>
        </p:txBody>
      </p:sp>
      <p:sp>
        <p:nvSpPr>
          <p:cNvPr id="29" name="Shape 27"/>
          <p:cNvSpPr/>
          <p:nvPr/>
        </p:nvSpPr>
        <p:spPr>
          <a:xfrm>
            <a:off x="438912" y="3560064"/>
            <a:ext cx="5120640" cy="36576"/>
          </a:xfrm>
          <a:prstGeom prst="rect">
            <a:avLst/>
          </a:prstGeom>
          <a:solidFill>
            <a:srgbClr val="1A7A4A"/>
          </a:solidFill>
          <a:ln w="12700">
            <a:solidFill>
              <a:srgbClr val="1A7A4A"/>
            </a:solidFill>
            <a:prstDash val="solid"/>
          </a:ln>
        </p:spPr>
        <p:txBody>
          <a:bodyPr/>
          <a:lstStyle/>
          <a:p>
            <a:endParaRPr lang="en-US" sz="2400"/>
          </a:p>
        </p:txBody>
      </p:sp>
      <p:sp>
        <p:nvSpPr>
          <p:cNvPr id="30" name="Shape 28"/>
          <p:cNvSpPr/>
          <p:nvPr/>
        </p:nvSpPr>
        <p:spPr>
          <a:xfrm>
            <a:off x="6632448" y="3560064"/>
            <a:ext cx="5120640" cy="36576"/>
          </a:xfrm>
          <a:prstGeom prst="rect">
            <a:avLst/>
          </a:prstGeom>
          <a:solidFill>
            <a:srgbClr val="B03A2E"/>
          </a:solidFill>
          <a:ln w="12700">
            <a:solidFill>
              <a:srgbClr val="B03A2E"/>
            </a:solidFill>
            <a:prstDash val="solid"/>
          </a:ln>
        </p:spPr>
        <p:txBody>
          <a:bodyPr/>
          <a:lstStyle/>
          <a:p>
            <a:endParaRPr lang="en-US" sz="2400"/>
          </a:p>
        </p:txBody>
      </p:sp>
      <p:sp>
        <p:nvSpPr>
          <p:cNvPr id="31" name="Shape 29"/>
          <p:cNvSpPr/>
          <p:nvPr/>
        </p:nvSpPr>
        <p:spPr>
          <a:xfrm>
            <a:off x="438912" y="3633216"/>
            <a:ext cx="5120640" cy="1889760"/>
          </a:xfrm>
          <a:prstGeom prst="rect">
            <a:avLst/>
          </a:prstGeom>
          <a:solidFill>
            <a:srgbClr val="1A7A4A"/>
          </a:solidFill>
          <a:ln w="12700">
            <a:solidFill>
              <a:srgbClr val="1A7A4A"/>
            </a:solidFill>
            <a:prstDash val="solid"/>
          </a:ln>
        </p:spPr>
        <p:txBody>
          <a:bodyPr/>
          <a:lstStyle/>
          <a:p>
            <a:endParaRPr lang="en-US" sz="2400"/>
          </a:p>
        </p:txBody>
      </p:sp>
      <p:sp>
        <p:nvSpPr>
          <p:cNvPr id="32" name="Text 30"/>
          <p:cNvSpPr/>
          <p:nvPr/>
        </p:nvSpPr>
        <p:spPr>
          <a:xfrm>
            <a:off x="560832" y="3657600"/>
            <a:ext cx="4876800" cy="463296"/>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GOAL 1: Rule Discovery</a:t>
            </a:r>
            <a:endParaRPr lang="en-US" sz="1600" dirty="0"/>
          </a:p>
        </p:txBody>
      </p:sp>
      <p:sp>
        <p:nvSpPr>
          <p:cNvPr id="33" name="Text 31"/>
          <p:cNvSpPr/>
          <p:nvPr/>
        </p:nvSpPr>
        <p:spPr>
          <a:xfrm>
            <a:off x="560832" y="4145280"/>
            <a:ext cx="4876800" cy="1316736"/>
          </a:xfrm>
          <a:prstGeom prst="rect">
            <a:avLst/>
          </a:prstGeom>
          <a:noFill/>
          <a:ln/>
        </p:spPr>
        <p:txBody>
          <a:bodyPr wrap="square" lIns="0" tIns="0" rIns="0" bIns="0" rtlCol="0" anchor="t"/>
          <a:lstStyle/>
          <a:p>
            <a:r>
              <a:rPr lang="en-US" sz="1267" dirty="0">
                <a:solidFill>
                  <a:srgbClr val="F0F4F8"/>
                </a:solidFill>
                <a:latin typeface="Calibri" pitchFamily="34" charset="0"/>
                <a:ea typeface="Calibri" pitchFamily="34" charset="-122"/>
                <a:cs typeface="Calibri" pitchFamily="34" charset="-120"/>
              </a:rPr>
              <a:t>CarenR on FULL historical dataset</a:t>
            </a:r>
            <a:endParaRPr lang="en-US" sz="1267" dirty="0"/>
          </a:p>
          <a:p>
            <a:r>
              <a:rPr lang="en-US" sz="1267" dirty="0">
                <a:solidFill>
                  <a:srgbClr val="F0F4F8"/>
                </a:solidFill>
                <a:latin typeface="Calibri" pitchFamily="34" charset="0"/>
                <a:ea typeface="Calibri" pitchFamily="34" charset="-122"/>
                <a:cs typeface="Calibri" pitchFamily="34" charset="-120"/>
              </a:rPr>
              <a:t>48 rules (Douro) · 20 rules (Vinho Verde)</a:t>
            </a:r>
            <a:endParaRPr lang="en-US" sz="1267" dirty="0"/>
          </a:p>
          <a:p>
            <a:r>
              <a:rPr lang="en-US" sz="1267" dirty="0">
                <a:solidFill>
                  <a:srgbClr val="F0F4F8"/>
                </a:solidFill>
                <a:latin typeface="Calibri" pitchFamily="34" charset="0"/>
                <a:ea typeface="Calibri" pitchFamily="34" charset="-122"/>
                <a:cs typeface="Calibri" pitchFamily="34" charset="-120"/>
              </a:rPr>
              <a:t>Validated by LOESS detrending</a:t>
            </a:r>
            <a:endParaRPr lang="en-US" sz="1267" dirty="0"/>
          </a:p>
          <a:p>
            <a:r>
              <a:rPr lang="en-US" sz="1267" dirty="0">
                <a:solidFill>
                  <a:srgbClr val="F0F4F8"/>
                </a:solidFill>
                <a:latin typeface="Calibri" pitchFamily="34" charset="0"/>
                <a:ea typeface="Calibri" pitchFamily="34" charset="-122"/>
                <a:cs typeface="Calibri" pitchFamily="34" charset="-120"/>
              </a:rPr>
              <a:t>Cross-algorithm comparison (RIPPER, M5Rules)</a:t>
            </a:r>
            <a:endParaRPr lang="en-US" sz="1267" dirty="0"/>
          </a:p>
        </p:txBody>
      </p:sp>
      <p:sp>
        <p:nvSpPr>
          <p:cNvPr id="34" name="Shape 32"/>
          <p:cNvSpPr/>
          <p:nvPr/>
        </p:nvSpPr>
        <p:spPr>
          <a:xfrm>
            <a:off x="6632448" y="3633216"/>
            <a:ext cx="5120640" cy="1889760"/>
          </a:xfrm>
          <a:prstGeom prst="rect">
            <a:avLst/>
          </a:prstGeom>
          <a:solidFill>
            <a:srgbClr val="B03A2E"/>
          </a:solidFill>
          <a:ln w="12700">
            <a:solidFill>
              <a:srgbClr val="B03A2E"/>
            </a:solidFill>
            <a:prstDash val="solid"/>
          </a:ln>
        </p:spPr>
        <p:txBody>
          <a:bodyPr/>
          <a:lstStyle/>
          <a:p>
            <a:endParaRPr lang="en-US" sz="2400"/>
          </a:p>
        </p:txBody>
      </p:sp>
      <p:sp>
        <p:nvSpPr>
          <p:cNvPr id="35" name="Text 33"/>
          <p:cNvSpPr/>
          <p:nvPr/>
        </p:nvSpPr>
        <p:spPr>
          <a:xfrm>
            <a:off x="6754368" y="3657600"/>
            <a:ext cx="4876800" cy="463296"/>
          </a:xfrm>
          <a:prstGeom prst="rect">
            <a:avLst/>
          </a:prstGeom>
          <a:noFill/>
          <a:ln/>
        </p:spPr>
        <p:txBody>
          <a:bodyPr wrap="square" lIns="0" tIns="0" rIns="0" bIns="0" rtlCol="0" anchor="ctr"/>
          <a:lstStyle/>
          <a:p>
            <a:r>
              <a:rPr lang="en-US" sz="1600" b="1" dirty="0">
                <a:solidFill>
                  <a:srgbClr val="FFFFFF"/>
                </a:solidFill>
                <a:latin typeface="Calibri" pitchFamily="34" charset="0"/>
                <a:ea typeface="Calibri" pitchFamily="34" charset="-122"/>
                <a:cs typeface="Calibri" pitchFamily="34" charset="-120"/>
              </a:rPr>
              <a:t>GOAL 2: Predictive Validation</a:t>
            </a:r>
            <a:endParaRPr lang="en-US" sz="1600" dirty="0"/>
          </a:p>
        </p:txBody>
      </p:sp>
      <p:sp>
        <p:nvSpPr>
          <p:cNvPr id="36" name="Text 34"/>
          <p:cNvSpPr/>
          <p:nvPr/>
        </p:nvSpPr>
        <p:spPr>
          <a:xfrm>
            <a:off x="6754368" y="4145280"/>
            <a:ext cx="4876800" cy="1316736"/>
          </a:xfrm>
          <a:prstGeom prst="rect">
            <a:avLst/>
          </a:prstGeom>
          <a:noFill/>
          <a:ln/>
        </p:spPr>
        <p:txBody>
          <a:bodyPr wrap="square" lIns="0" tIns="0" rIns="0" bIns="0" rtlCol="0" anchor="t"/>
          <a:lstStyle/>
          <a:p>
            <a:r>
              <a:rPr lang="en-US" sz="1267" dirty="0">
                <a:solidFill>
                  <a:srgbClr val="F0F4F8"/>
                </a:solidFill>
                <a:latin typeface="Calibri" pitchFamily="34" charset="0"/>
                <a:ea typeface="Calibri" pitchFamily="34" charset="-122"/>
                <a:cs typeface="Calibri" pitchFamily="34" charset="-120"/>
              </a:rPr>
              <a:t>17 models · Expanding-window walk-forward</a:t>
            </a:r>
            <a:endParaRPr lang="en-US" sz="1267" dirty="0"/>
          </a:p>
          <a:p>
            <a:r>
              <a:rPr lang="en-US" sz="1267" dirty="0">
                <a:solidFill>
                  <a:srgbClr val="F0F4F8"/>
                </a:solidFill>
                <a:latin typeface="Calibri" pitchFamily="34" charset="0"/>
                <a:ea typeface="Calibri" pitchFamily="34" charset="-122"/>
                <a:cs typeface="Calibri" pitchFamily="34" charset="-120"/>
              </a:rPr>
              <a:t>Weighted MAE vs Naive_Median baseline</a:t>
            </a:r>
            <a:endParaRPr lang="en-US" sz="1267" dirty="0"/>
          </a:p>
          <a:p>
            <a:r>
              <a:rPr lang="en-US" sz="1267" dirty="0">
                <a:solidFill>
                  <a:srgbClr val="F0F4F8"/>
                </a:solidFill>
                <a:latin typeface="Calibri" pitchFamily="34" charset="0"/>
                <a:ea typeface="Calibri" pitchFamily="34" charset="-122"/>
                <a:cs typeface="Calibri" pitchFamily="34" charset="-120"/>
              </a:rPr>
              <a:t>Statistical tests: Wilcoxon, Binomial</a:t>
            </a:r>
            <a:endParaRPr lang="en-US" sz="1267" dirty="0"/>
          </a:p>
          <a:p>
            <a:r>
              <a:rPr lang="en-US" sz="1267" dirty="0">
                <a:solidFill>
                  <a:srgbClr val="F0F4F8"/>
                </a:solidFill>
                <a:latin typeface="Calibri" pitchFamily="34" charset="0"/>
                <a:ea typeface="Calibri" pitchFamily="34" charset="-122"/>
                <a:cs typeface="Calibri" pitchFamily="34" charset="-120"/>
              </a:rPr>
              <a:t>Detrend sensitivity (LOESS)</a:t>
            </a:r>
            <a:endParaRPr lang="en-US" sz="1267" dirty="0"/>
          </a:p>
        </p:txBody>
      </p:sp>
      <p:sp>
        <p:nvSpPr>
          <p:cNvPr id="37" name="Text 35"/>
          <p:cNvSpPr/>
          <p:nvPr/>
        </p:nvSpPr>
        <p:spPr>
          <a:xfrm>
            <a:off x="438912" y="5669280"/>
            <a:ext cx="11314176" cy="463296"/>
          </a:xfrm>
          <a:prstGeom prst="rect">
            <a:avLst/>
          </a:prstGeom>
          <a:noFill/>
          <a:ln/>
        </p:spPr>
        <p:txBody>
          <a:bodyPr wrap="square" lIns="0" tIns="0" rIns="0" bIns="0" rtlCol="0" anchor="ctr"/>
          <a:lstStyle/>
          <a:p>
            <a:pPr algn="ctr"/>
            <a:r>
              <a:rPr lang="en-US" sz="1200" i="1" dirty="0">
                <a:solidFill>
                  <a:srgbClr val="D4A853"/>
                </a:solidFill>
                <a:latin typeface="Calibri" pitchFamily="34" charset="0"/>
                <a:ea typeface="Calibri" pitchFamily="34" charset="-122"/>
                <a:cs typeface="Calibri" pitchFamily="34" charset="-120"/>
              </a:rPr>
              <a:t>⚑  All preprocessing (detrending, discretisation, feature selection) performed within each training fold — no data leakage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Why Rule-Based Machine Learning?</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Interpretability is the objective — CarenR's distributional approach is uniquely appropriate</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487680" y="1341120"/>
            <a:ext cx="3584448" cy="5096256"/>
          </a:xfrm>
          <a:prstGeom prst="rect">
            <a:avLst/>
          </a:prstGeom>
          <a:solidFill>
            <a:srgbClr val="0D7377"/>
          </a:solidFill>
          <a:ln w="12700">
            <a:solidFill>
              <a:srgbClr val="0D7377"/>
            </a:solidFill>
            <a:prstDash val="solid"/>
          </a:ln>
          <a:effectLst>
            <a:outerShdw blurRad="101600" dist="38100" dir="8100000" algn="bl" rotWithShape="0">
              <a:srgbClr val="000000">
                <a:alpha val="18000"/>
              </a:srgbClr>
            </a:outerShdw>
          </a:effectLst>
        </p:spPr>
        <p:txBody>
          <a:bodyPr/>
          <a:lstStyle/>
          <a:p>
            <a:endParaRPr lang="en-US" sz="2400"/>
          </a:p>
        </p:txBody>
      </p:sp>
      <p:sp>
        <p:nvSpPr>
          <p:cNvPr id="7" name="Text 5"/>
          <p:cNvSpPr/>
          <p:nvPr/>
        </p:nvSpPr>
        <p:spPr>
          <a:xfrm>
            <a:off x="609600" y="1365504"/>
            <a:ext cx="3340608" cy="56083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CarenR</a:t>
            </a:r>
            <a:endParaRPr lang="en-US" sz="2400" dirty="0"/>
          </a:p>
        </p:txBody>
      </p:sp>
      <p:sp>
        <p:nvSpPr>
          <p:cNvPr id="8" name="Text 6"/>
          <p:cNvSpPr/>
          <p:nvPr/>
        </p:nvSpPr>
        <p:spPr>
          <a:xfrm>
            <a:off x="609600" y="1901952"/>
            <a:ext cx="3340608" cy="365760"/>
          </a:xfrm>
          <a:prstGeom prst="rect">
            <a:avLst/>
          </a:prstGeom>
          <a:noFill/>
          <a:ln/>
        </p:spPr>
        <p:txBody>
          <a:bodyPr wrap="square" lIns="0" tIns="0" rIns="0" bIns="0" rtlCol="0" anchor="ctr"/>
          <a:lstStyle/>
          <a:p>
            <a:pPr algn="ctr"/>
            <a:r>
              <a:rPr lang="en-US" sz="1200" i="1" dirty="0">
                <a:solidFill>
                  <a:srgbClr val="F5D78A"/>
                </a:solidFill>
                <a:latin typeface="Calibri" pitchFamily="34" charset="0"/>
                <a:ea typeface="Calibri" pitchFamily="34" charset="-122"/>
                <a:cs typeface="Calibri" pitchFamily="34" charset="-120"/>
              </a:rPr>
              <a:t>Primary Algorithm</a:t>
            </a:r>
            <a:endParaRPr lang="en-US" sz="1200" dirty="0"/>
          </a:p>
        </p:txBody>
      </p:sp>
      <p:sp>
        <p:nvSpPr>
          <p:cNvPr id="9" name="Shape 7"/>
          <p:cNvSpPr/>
          <p:nvPr/>
        </p:nvSpPr>
        <p:spPr>
          <a:xfrm>
            <a:off x="670560" y="2267712"/>
            <a:ext cx="3218688" cy="24384"/>
          </a:xfrm>
          <a:prstGeom prst="rect">
            <a:avLst/>
          </a:prstGeom>
          <a:solidFill>
            <a:srgbClr val="F5D78A"/>
          </a:solidFill>
          <a:ln w="12700">
            <a:solidFill>
              <a:srgbClr val="F5D78A"/>
            </a:solidFill>
            <a:prstDash val="solid"/>
          </a:ln>
        </p:spPr>
        <p:txBody>
          <a:bodyPr/>
          <a:lstStyle/>
          <a:p>
            <a:endParaRPr lang="en-US" sz="2400"/>
          </a:p>
        </p:txBody>
      </p:sp>
      <p:sp>
        <p:nvSpPr>
          <p:cNvPr id="10" name="Text 8"/>
          <p:cNvSpPr/>
          <p:nvPr/>
        </p:nvSpPr>
        <p:spPr>
          <a:xfrm>
            <a:off x="633984" y="2353056"/>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Question:</a:t>
            </a:r>
            <a:endParaRPr lang="en-US" sz="1133" dirty="0"/>
          </a:p>
        </p:txBody>
      </p:sp>
      <p:sp>
        <p:nvSpPr>
          <p:cNvPr id="11" name="Text 9"/>
          <p:cNvSpPr/>
          <p:nvPr/>
        </p:nvSpPr>
        <p:spPr>
          <a:xfrm>
            <a:off x="1560576" y="2353056"/>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When does the shape of the</a:t>
            </a:r>
            <a:endParaRPr lang="en-US" sz="1133" dirty="0"/>
          </a:p>
          <a:p>
            <a:r>
              <a:rPr lang="en-US" sz="1133" dirty="0">
                <a:solidFill>
                  <a:srgbClr val="D8E2EE"/>
                </a:solidFill>
                <a:latin typeface="Calibri" pitchFamily="34" charset="0"/>
                <a:ea typeface="Calibri" pitchFamily="34" charset="-122"/>
                <a:cs typeface="Calibri" pitchFamily="34" charset="-120"/>
              </a:rPr>
              <a:t>production distribution shift?</a:t>
            </a:r>
            <a:endParaRPr lang="en-US" sz="1133" dirty="0"/>
          </a:p>
        </p:txBody>
      </p:sp>
      <p:sp>
        <p:nvSpPr>
          <p:cNvPr id="12" name="Text 10"/>
          <p:cNvSpPr/>
          <p:nvPr/>
        </p:nvSpPr>
        <p:spPr>
          <a:xfrm>
            <a:off x="633984" y="3230880"/>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Criterion:</a:t>
            </a:r>
            <a:endParaRPr lang="en-US" sz="1133" dirty="0"/>
          </a:p>
        </p:txBody>
      </p:sp>
      <p:sp>
        <p:nvSpPr>
          <p:cNvPr id="13" name="Text 11"/>
          <p:cNvSpPr/>
          <p:nvPr/>
        </p:nvSpPr>
        <p:spPr>
          <a:xfrm>
            <a:off x="1560576" y="3230880"/>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Kolmogorov–Smirnov test</a:t>
            </a:r>
            <a:endParaRPr lang="en-US" sz="1133" dirty="0"/>
          </a:p>
          <a:p>
            <a:r>
              <a:rPr lang="en-US" sz="1133" dirty="0">
                <a:solidFill>
                  <a:srgbClr val="D8E2EE"/>
                </a:solidFill>
                <a:latin typeface="Calibri" pitchFamily="34" charset="0"/>
                <a:ea typeface="Calibri" pitchFamily="34" charset="-122"/>
                <a:cs typeface="Calibri" pitchFamily="34" charset="-120"/>
              </a:rPr>
              <a:t>(distributional shift)</a:t>
            </a:r>
            <a:endParaRPr lang="en-US" sz="1133" dirty="0"/>
          </a:p>
        </p:txBody>
      </p:sp>
      <p:sp>
        <p:nvSpPr>
          <p:cNvPr id="14" name="Text 12"/>
          <p:cNvSpPr/>
          <p:nvPr/>
        </p:nvSpPr>
        <p:spPr>
          <a:xfrm>
            <a:off x="633984" y="4108704"/>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Output:</a:t>
            </a:r>
            <a:endParaRPr lang="en-US" sz="1133" dirty="0"/>
          </a:p>
        </p:txBody>
      </p:sp>
      <p:sp>
        <p:nvSpPr>
          <p:cNvPr id="15" name="Text 13"/>
          <p:cNvSpPr/>
          <p:nvPr/>
        </p:nvSpPr>
        <p:spPr>
          <a:xfrm>
            <a:off x="1560576" y="4108704"/>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IF conditions THEN</a:t>
            </a:r>
            <a:endParaRPr lang="en-US" sz="1133" dirty="0"/>
          </a:p>
          <a:p>
            <a:r>
              <a:rPr lang="en-US" sz="1133" dirty="0">
                <a:solidFill>
                  <a:srgbClr val="D8E2EE"/>
                </a:solidFill>
                <a:latin typeface="Calibri" pitchFamily="34" charset="0"/>
                <a:ea typeface="Calibri" pitchFamily="34" charset="-122"/>
                <a:cs typeface="Calibri" pitchFamily="34" charset="-120"/>
              </a:rPr>
              <a:t>distribution shifts ±X mhl</a:t>
            </a:r>
            <a:endParaRPr lang="en-US" sz="1133" dirty="0"/>
          </a:p>
        </p:txBody>
      </p:sp>
      <p:sp>
        <p:nvSpPr>
          <p:cNvPr id="16" name="Text 14"/>
          <p:cNvSpPr/>
          <p:nvPr/>
        </p:nvSpPr>
        <p:spPr>
          <a:xfrm>
            <a:off x="633984" y="4986528"/>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Note:</a:t>
            </a:r>
            <a:endParaRPr lang="en-US" sz="1133" dirty="0"/>
          </a:p>
        </p:txBody>
      </p:sp>
      <p:sp>
        <p:nvSpPr>
          <p:cNvPr id="17" name="Text 15"/>
          <p:cNvSpPr/>
          <p:nvPr/>
        </p:nvSpPr>
        <p:spPr>
          <a:xfrm>
            <a:off x="1560576" y="4986528"/>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Non-parametric; no normality assumption. Detects distributional anomalies. No target pre-discretisation needed.</a:t>
            </a:r>
            <a:endParaRPr lang="en-US" sz="1133" dirty="0"/>
          </a:p>
        </p:txBody>
      </p:sp>
      <p:sp>
        <p:nvSpPr>
          <p:cNvPr id="18" name="Shape 16"/>
          <p:cNvSpPr/>
          <p:nvPr/>
        </p:nvSpPr>
        <p:spPr>
          <a:xfrm>
            <a:off x="4315968" y="1341120"/>
            <a:ext cx="3584448" cy="5096256"/>
          </a:xfrm>
          <a:prstGeom prst="rect">
            <a:avLst/>
          </a:prstGeom>
          <a:solidFill>
            <a:srgbClr val="2E4A7C"/>
          </a:solidFill>
          <a:ln w="12700">
            <a:solidFill>
              <a:srgbClr val="2E4A7C"/>
            </a:solidFill>
            <a:prstDash val="solid"/>
          </a:ln>
          <a:effectLst>
            <a:outerShdw blurRad="101600" dist="38100" dir="8100000" algn="bl" rotWithShape="0">
              <a:srgbClr val="000000">
                <a:alpha val="18000"/>
              </a:srgbClr>
            </a:outerShdw>
          </a:effectLst>
        </p:spPr>
        <p:txBody>
          <a:bodyPr/>
          <a:lstStyle/>
          <a:p>
            <a:endParaRPr lang="en-US" sz="2400"/>
          </a:p>
        </p:txBody>
      </p:sp>
      <p:sp>
        <p:nvSpPr>
          <p:cNvPr id="19" name="Text 17"/>
          <p:cNvSpPr/>
          <p:nvPr/>
        </p:nvSpPr>
        <p:spPr>
          <a:xfrm>
            <a:off x="4437888" y="1365504"/>
            <a:ext cx="3340608" cy="56083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RIPPER</a:t>
            </a:r>
            <a:endParaRPr lang="en-US" sz="2400" dirty="0"/>
          </a:p>
        </p:txBody>
      </p:sp>
      <p:sp>
        <p:nvSpPr>
          <p:cNvPr id="20" name="Text 18"/>
          <p:cNvSpPr/>
          <p:nvPr/>
        </p:nvSpPr>
        <p:spPr>
          <a:xfrm>
            <a:off x="4437888" y="1901952"/>
            <a:ext cx="3340608" cy="365760"/>
          </a:xfrm>
          <a:prstGeom prst="rect">
            <a:avLst/>
          </a:prstGeom>
          <a:noFill/>
          <a:ln/>
        </p:spPr>
        <p:txBody>
          <a:bodyPr wrap="square" lIns="0" tIns="0" rIns="0" bIns="0" rtlCol="0" anchor="ctr"/>
          <a:lstStyle/>
          <a:p>
            <a:pPr algn="ctr"/>
            <a:r>
              <a:rPr lang="en-US" sz="1200" i="1" dirty="0">
                <a:solidFill>
                  <a:srgbClr val="F5D78A"/>
                </a:solidFill>
                <a:latin typeface="Calibri" pitchFamily="34" charset="0"/>
                <a:ea typeface="Calibri" pitchFamily="34" charset="-122"/>
                <a:cs typeface="Calibri" pitchFamily="34" charset="-120"/>
              </a:rPr>
              <a:t>Classification Baseline</a:t>
            </a:r>
            <a:endParaRPr lang="en-US" sz="1200" dirty="0"/>
          </a:p>
        </p:txBody>
      </p:sp>
      <p:sp>
        <p:nvSpPr>
          <p:cNvPr id="21" name="Shape 19"/>
          <p:cNvSpPr/>
          <p:nvPr/>
        </p:nvSpPr>
        <p:spPr>
          <a:xfrm>
            <a:off x="4498848" y="2267712"/>
            <a:ext cx="3218688" cy="24384"/>
          </a:xfrm>
          <a:prstGeom prst="rect">
            <a:avLst/>
          </a:prstGeom>
          <a:solidFill>
            <a:srgbClr val="F5D78A"/>
          </a:solidFill>
          <a:ln w="12700">
            <a:solidFill>
              <a:srgbClr val="F5D78A"/>
            </a:solidFill>
            <a:prstDash val="solid"/>
          </a:ln>
        </p:spPr>
        <p:txBody>
          <a:bodyPr/>
          <a:lstStyle/>
          <a:p>
            <a:endParaRPr lang="en-US" sz="2400"/>
          </a:p>
        </p:txBody>
      </p:sp>
      <p:sp>
        <p:nvSpPr>
          <p:cNvPr id="22" name="Text 20"/>
          <p:cNvSpPr/>
          <p:nvPr/>
        </p:nvSpPr>
        <p:spPr>
          <a:xfrm>
            <a:off x="4462272" y="2353056"/>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Question:</a:t>
            </a:r>
            <a:endParaRPr lang="en-US" sz="1133" dirty="0"/>
          </a:p>
        </p:txBody>
      </p:sp>
      <p:sp>
        <p:nvSpPr>
          <p:cNvPr id="23" name="Text 21"/>
          <p:cNvSpPr/>
          <p:nvPr/>
        </p:nvSpPr>
        <p:spPr>
          <a:xfrm>
            <a:off x="5388864" y="2353056"/>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Which production class</a:t>
            </a:r>
            <a:endParaRPr lang="en-US" sz="1133" dirty="0"/>
          </a:p>
          <a:p>
            <a:r>
              <a:rPr lang="en-US" sz="1133" dirty="0">
                <a:solidFill>
                  <a:srgbClr val="D8E2EE"/>
                </a:solidFill>
                <a:latin typeface="Calibri" pitchFamily="34" charset="0"/>
                <a:ea typeface="Calibri" pitchFamily="34" charset="-122"/>
                <a:cs typeface="Calibri" pitchFamily="34" charset="-120"/>
              </a:rPr>
              <a:t>does this year belong to?</a:t>
            </a:r>
            <a:endParaRPr lang="en-US" sz="1133" dirty="0"/>
          </a:p>
        </p:txBody>
      </p:sp>
      <p:sp>
        <p:nvSpPr>
          <p:cNvPr id="24" name="Text 22"/>
          <p:cNvSpPr/>
          <p:nvPr/>
        </p:nvSpPr>
        <p:spPr>
          <a:xfrm>
            <a:off x="4462272" y="3230880"/>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Criterion:</a:t>
            </a:r>
            <a:endParaRPr lang="en-US" sz="1133" dirty="0"/>
          </a:p>
        </p:txBody>
      </p:sp>
      <p:sp>
        <p:nvSpPr>
          <p:cNvPr id="25" name="Text 23"/>
          <p:cNvSpPr/>
          <p:nvPr/>
        </p:nvSpPr>
        <p:spPr>
          <a:xfrm>
            <a:off x="5388864" y="3230880"/>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FOIL gain</a:t>
            </a:r>
            <a:endParaRPr lang="en-US" sz="1133" dirty="0"/>
          </a:p>
          <a:p>
            <a:r>
              <a:rPr lang="en-US" sz="1133" dirty="0">
                <a:solidFill>
                  <a:srgbClr val="D8E2EE"/>
                </a:solidFill>
                <a:latin typeface="Calibri" pitchFamily="34" charset="0"/>
                <a:ea typeface="Calibri" pitchFamily="34" charset="-122"/>
                <a:cs typeface="Calibri" pitchFamily="34" charset="-120"/>
              </a:rPr>
              <a:t>(information gain)</a:t>
            </a:r>
            <a:endParaRPr lang="en-US" sz="1133" dirty="0"/>
          </a:p>
        </p:txBody>
      </p:sp>
      <p:sp>
        <p:nvSpPr>
          <p:cNvPr id="26" name="Text 24"/>
          <p:cNvSpPr/>
          <p:nvPr/>
        </p:nvSpPr>
        <p:spPr>
          <a:xfrm>
            <a:off x="4462272" y="4108704"/>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Output:</a:t>
            </a:r>
            <a:endParaRPr lang="en-US" sz="1133" dirty="0"/>
          </a:p>
        </p:txBody>
      </p:sp>
      <p:sp>
        <p:nvSpPr>
          <p:cNvPr id="27" name="Text 25"/>
          <p:cNvSpPr/>
          <p:nvPr/>
        </p:nvSpPr>
        <p:spPr>
          <a:xfrm>
            <a:off x="5388864" y="4108704"/>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IF conditions THEN</a:t>
            </a:r>
            <a:endParaRPr lang="en-US" sz="1133" dirty="0"/>
          </a:p>
          <a:p>
            <a:r>
              <a:rPr lang="en-US" sz="1133" dirty="0">
                <a:solidFill>
                  <a:srgbClr val="D8E2EE"/>
                </a:solidFill>
                <a:latin typeface="Calibri" pitchFamily="34" charset="0"/>
                <a:ea typeface="Calibri" pitchFamily="34" charset="-122"/>
                <a:cs typeface="Calibri" pitchFamily="34" charset="-120"/>
              </a:rPr>
              <a:t>class = Low / Med / High</a:t>
            </a:r>
            <a:endParaRPr lang="en-US" sz="1133" dirty="0"/>
          </a:p>
        </p:txBody>
      </p:sp>
      <p:sp>
        <p:nvSpPr>
          <p:cNvPr id="28" name="Text 26"/>
          <p:cNvSpPr/>
          <p:nvPr/>
        </p:nvSpPr>
        <p:spPr>
          <a:xfrm>
            <a:off x="4462272" y="4986528"/>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Note:</a:t>
            </a:r>
            <a:endParaRPr lang="en-US" sz="1133" dirty="0"/>
          </a:p>
        </p:txBody>
      </p:sp>
      <p:sp>
        <p:nvSpPr>
          <p:cNvPr id="29" name="Text 27"/>
          <p:cNvSpPr/>
          <p:nvPr/>
        </p:nvSpPr>
        <p:spPr>
          <a:xfrm>
            <a:off x="5388864" y="4986528"/>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Well-established interpretable classifier. Requires tertile-discretised target. Always assigns a class.</a:t>
            </a:r>
            <a:endParaRPr lang="en-US" sz="1133" dirty="0"/>
          </a:p>
        </p:txBody>
      </p:sp>
      <p:sp>
        <p:nvSpPr>
          <p:cNvPr id="30" name="Shape 28"/>
          <p:cNvSpPr/>
          <p:nvPr/>
        </p:nvSpPr>
        <p:spPr>
          <a:xfrm>
            <a:off x="8144256" y="1341120"/>
            <a:ext cx="3584448" cy="5096256"/>
          </a:xfrm>
          <a:prstGeom prst="rect">
            <a:avLst/>
          </a:prstGeom>
          <a:solidFill>
            <a:srgbClr val="1B2B45"/>
          </a:solidFill>
          <a:ln w="12700">
            <a:solidFill>
              <a:srgbClr val="1B2B45"/>
            </a:solidFill>
            <a:prstDash val="solid"/>
          </a:ln>
          <a:effectLst>
            <a:outerShdw blurRad="101600" dist="38100" dir="8100000" algn="bl" rotWithShape="0">
              <a:srgbClr val="000000">
                <a:alpha val="18000"/>
              </a:srgbClr>
            </a:outerShdw>
          </a:effectLst>
        </p:spPr>
        <p:txBody>
          <a:bodyPr/>
          <a:lstStyle/>
          <a:p>
            <a:endParaRPr lang="en-US" sz="2400"/>
          </a:p>
        </p:txBody>
      </p:sp>
      <p:sp>
        <p:nvSpPr>
          <p:cNvPr id="31" name="Text 29"/>
          <p:cNvSpPr/>
          <p:nvPr/>
        </p:nvSpPr>
        <p:spPr>
          <a:xfrm>
            <a:off x="8266176" y="1365504"/>
            <a:ext cx="3340608" cy="560832"/>
          </a:xfrm>
          <a:prstGeom prst="rect">
            <a:avLst/>
          </a:prstGeom>
          <a:noFill/>
          <a:ln/>
        </p:spPr>
        <p:txBody>
          <a:bodyPr wrap="square" lIns="0" tIns="0" rIns="0" bIns="0" rtlCol="0" anchor="ctr"/>
          <a:lstStyle/>
          <a:p>
            <a:pPr algn="ctr"/>
            <a:r>
              <a:rPr lang="en-US" sz="2400" b="1" dirty="0">
                <a:solidFill>
                  <a:srgbClr val="FFFFFF"/>
                </a:solidFill>
                <a:latin typeface="Calibri" pitchFamily="34" charset="0"/>
                <a:ea typeface="Calibri" pitchFamily="34" charset="-122"/>
                <a:cs typeface="Calibri" pitchFamily="34" charset="-120"/>
              </a:rPr>
              <a:t>M5Rules</a:t>
            </a:r>
            <a:endParaRPr lang="en-US" sz="2400" dirty="0"/>
          </a:p>
        </p:txBody>
      </p:sp>
      <p:sp>
        <p:nvSpPr>
          <p:cNvPr id="32" name="Text 30"/>
          <p:cNvSpPr/>
          <p:nvPr/>
        </p:nvSpPr>
        <p:spPr>
          <a:xfrm>
            <a:off x="8266176" y="1901952"/>
            <a:ext cx="3340608" cy="365760"/>
          </a:xfrm>
          <a:prstGeom prst="rect">
            <a:avLst/>
          </a:prstGeom>
          <a:noFill/>
          <a:ln/>
        </p:spPr>
        <p:txBody>
          <a:bodyPr wrap="square" lIns="0" tIns="0" rIns="0" bIns="0" rtlCol="0" anchor="ctr"/>
          <a:lstStyle/>
          <a:p>
            <a:pPr algn="ctr"/>
            <a:r>
              <a:rPr lang="en-US" sz="1200" i="1" dirty="0">
                <a:solidFill>
                  <a:srgbClr val="F5D78A"/>
                </a:solidFill>
                <a:latin typeface="Calibri" pitchFamily="34" charset="0"/>
                <a:ea typeface="Calibri" pitchFamily="34" charset="-122"/>
                <a:cs typeface="Calibri" pitchFamily="34" charset="-120"/>
              </a:rPr>
              <a:t>Regression Baseline</a:t>
            </a:r>
            <a:endParaRPr lang="en-US" sz="1200" dirty="0"/>
          </a:p>
        </p:txBody>
      </p:sp>
      <p:sp>
        <p:nvSpPr>
          <p:cNvPr id="33" name="Shape 31"/>
          <p:cNvSpPr/>
          <p:nvPr/>
        </p:nvSpPr>
        <p:spPr>
          <a:xfrm>
            <a:off x="8327136" y="2267712"/>
            <a:ext cx="3218688" cy="24384"/>
          </a:xfrm>
          <a:prstGeom prst="rect">
            <a:avLst/>
          </a:prstGeom>
          <a:solidFill>
            <a:srgbClr val="F5D78A"/>
          </a:solidFill>
          <a:ln w="12700">
            <a:solidFill>
              <a:srgbClr val="F5D78A"/>
            </a:solidFill>
            <a:prstDash val="solid"/>
          </a:ln>
        </p:spPr>
        <p:txBody>
          <a:bodyPr/>
          <a:lstStyle/>
          <a:p>
            <a:endParaRPr lang="en-US" sz="2400"/>
          </a:p>
        </p:txBody>
      </p:sp>
      <p:sp>
        <p:nvSpPr>
          <p:cNvPr id="34" name="Text 32"/>
          <p:cNvSpPr/>
          <p:nvPr/>
        </p:nvSpPr>
        <p:spPr>
          <a:xfrm>
            <a:off x="8290560" y="2353056"/>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Question:</a:t>
            </a:r>
            <a:endParaRPr lang="en-US" sz="1133" dirty="0"/>
          </a:p>
        </p:txBody>
      </p:sp>
      <p:sp>
        <p:nvSpPr>
          <p:cNvPr id="35" name="Text 33"/>
          <p:cNvSpPr/>
          <p:nvPr/>
        </p:nvSpPr>
        <p:spPr>
          <a:xfrm>
            <a:off x="9217152" y="2353056"/>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What exact production level</a:t>
            </a:r>
            <a:endParaRPr lang="en-US" sz="1133" dirty="0"/>
          </a:p>
          <a:p>
            <a:r>
              <a:rPr lang="en-US" sz="1133" dirty="0">
                <a:solidFill>
                  <a:srgbClr val="D8E2EE"/>
                </a:solidFill>
                <a:latin typeface="Calibri" pitchFamily="34" charset="0"/>
                <a:ea typeface="Calibri" pitchFamily="34" charset="-122"/>
                <a:cs typeface="Calibri" pitchFamily="34" charset="-120"/>
              </a:rPr>
              <a:t>does a year have?</a:t>
            </a:r>
            <a:endParaRPr lang="en-US" sz="1133" dirty="0"/>
          </a:p>
        </p:txBody>
      </p:sp>
      <p:sp>
        <p:nvSpPr>
          <p:cNvPr id="36" name="Text 34"/>
          <p:cNvSpPr/>
          <p:nvPr/>
        </p:nvSpPr>
        <p:spPr>
          <a:xfrm>
            <a:off x="8290560" y="3230880"/>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Criterion:</a:t>
            </a:r>
            <a:endParaRPr lang="en-US" sz="1133" dirty="0"/>
          </a:p>
        </p:txBody>
      </p:sp>
      <p:sp>
        <p:nvSpPr>
          <p:cNvPr id="37" name="Text 35"/>
          <p:cNvSpPr/>
          <p:nvPr/>
        </p:nvSpPr>
        <p:spPr>
          <a:xfrm>
            <a:off x="9217152" y="3230880"/>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Standard deviation reduction</a:t>
            </a:r>
            <a:endParaRPr lang="en-US" sz="1133" dirty="0"/>
          </a:p>
          <a:p>
            <a:r>
              <a:rPr lang="en-US" sz="1133" dirty="0">
                <a:solidFill>
                  <a:srgbClr val="D8E2EE"/>
                </a:solidFill>
                <a:latin typeface="Calibri" pitchFamily="34" charset="0"/>
                <a:ea typeface="Calibri" pitchFamily="34" charset="-122"/>
                <a:cs typeface="Calibri" pitchFamily="34" charset="-120"/>
              </a:rPr>
              <a:t>(MSE minimisation)</a:t>
            </a:r>
            <a:endParaRPr lang="en-US" sz="1133" dirty="0"/>
          </a:p>
        </p:txBody>
      </p:sp>
      <p:sp>
        <p:nvSpPr>
          <p:cNvPr id="38" name="Text 36"/>
          <p:cNvSpPr/>
          <p:nvPr/>
        </p:nvSpPr>
        <p:spPr>
          <a:xfrm>
            <a:off x="8290560" y="4108704"/>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Output:</a:t>
            </a:r>
            <a:endParaRPr lang="en-US" sz="1133" dirty="0"/>
          </a:p>
        </p:txBody>
      </p:sp>
      <p:sp>
        <p:nvSpPr>
          <p:cNvPr id="39" name="Text 37"/>
          <p:cNvSpPr/>
          <p:nvPr/>
        </p:nvSpPr>
        <p:spPr>
          <a:xfrm>
            <a:off x="9217152" y="4108704"/>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IF conditions THEN</a:t>
            </a:r>
            <a:endParaRPr lang="en-US" sz="1133" dirty="0"/>
          </a:p>
          <a:p>
            <a:r>
              <a:rPr lang="en-US" sz="1133" dirty="0">
                <a:solidFill>
                  <a:srgbClr val="D8E2EE"/>
                </a:solidFill>
                <a:latin typeface="Calibri" pitchFamily="34" charset="0"/>
                <a:ea typeface="Calibri" pitchFamily="34" charset="-122"/>
                <a:cs typeface="Calibri" pitchFamily="34" charset="-120"/>
              </a:rPr>
              <a:t>production = linear model</a:t>
            </a:r>
            <a:endParaRPr lang="en-US" sz="1133" dirty="0"/>
          </a:p>
        </p:txBody>
      </p:sp>
      <p:sp>
        <p:nvSpPr>
          <p:cNvPr id="40" name="Text 38"/>
          <p:cNvSpPr/>
          <p:nvPr/>
        </p:nvSpPr>
        <p:spPr>
          <a:xfrm>
            <a:off x="8290560" y="4986528"/>
            <a:ext cx="877824" cy="292608"/>
          </a:xfrm>
          <a:prstGeom prst="rect">
            <a:avLst/>
          </a:prstGeom>
          <a:noFill/>
          <a:ln/>
        </p:spPr>
        <p:txBody>
          <a:bodyPr wrap="square" lIns="0" tIns="0" rIns="0" bIns="0" rtlCol="0" anchor="t"/>
          <a:lstStyle/>
          <a:p>
            <a:r>
              <a:rPr lang="en-US" sz="1133" b="1" dirty="0">
                <a:solidFill>
                  <a:srgbClr val="F5D78A"/>
                </a:solidFill>
                <a:latin typeface="Calibri" pitchFamily="34" charset="0"/>
                <a:ea typeface="Calibri" pitchFamily="34" charset="-122"/>
                <a:cs typeface="Calibri" pitchFamily="34" charset="-120"/>
              </a:rPr>
              <a:t>Note:</a:t>
            </a:r>
            <a:endParaRPr lang="en-US" sz="1133" dirty="0"/>
          </a:p>
        </p:txBody>
      </p:sp>
      <p:sp>
        <p:nvSpPr>
          <p:cNvPr id="41" name="Text 39"/>
          <p:cNvSpPr/>
          <p:nvPr/>
        </p:nvSpPr>
        <p:spPr>
          <a:xfrm>
            <a:off x="9217152" y="4986528"/>
            <a:ext cx="2438400" cy="755904"/>
          </a:xfrm>
          <a:prstGeom prst="rect">
            <a:avLst/>
          </a:prstGeom>
          <a:noFill/>
          <a:ln/>
        </p:spPr>
        <p:txBody>
          <a:bodyPr wrap="square" lIns="0" tIns="0" rIns="0" bIns="0" rtlCol="0" anchor="t"/>
          <a:lstStyle/>
          <a:p>
            <a:r>
              <a:rPr lang="en-US" sz="1133" dirty="0">
                <a:solidFill>
                  <a:srgbClr val="D8E2EE"/>
                </a:solidFill>
                <a:latin typeface="Calibri" pitchFamily="34" charset="0"/>
                <a:ea typeface="Calibri" pitchFamily="34" charset="-122"/>
                <a:cs typeface="Calibri" pitchFamily="34" charset="-120"/>
              </a:rPr>
              <a:t>Piecewise linear regression. Collapses to global model on small datasets (n&lt;89). CV R² = 0.004 to −0.07.</a:t>
            </a:r>
            <a:endParaRPr lang="en-US" sz="1133" dirty="0"/>
          </a:p>
        </p:txBody>
      </p:sp>
      <p:sp>
        <p:nvSpPr>
          <p:cNvPr id="42" name="Shape 40"/>
          <p:cNvSpPr/>
          <p:nvPr/>
        </p:nvSpPr>
        <p:spPr>
          <a:xfrm>
            <a:off x="487680" y="6559296"/>
            <a:ext cx="11216640" cy="121920"/>
          </a:xfrm>
          <a:prstGeom prst="rect">
            <a:avLst/>
          </a:prstGeom>
          <a:solidFill>
            <a:srgbClr val="D4A853"/>
          </a:solidFill>
          <a:ln w="12700">
            <a:solidFill>
              <a:srgbClr val="D4A853"/>
            </a:solidFill>
            <a:prstDash val="solid"/>
          </a:ln>
        </p:spPr>
        <p:txBody>
          <a:bodyPr/>
          <a:lstStyle/>
          <a:p>
            <a:endParaRPr 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Goal 1 – Rule Discovery Results</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CarenR successfully extracts statistically validated patterns from 89 and 80 years of data</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548640" y="1341120"/>
            <a:ext cx="5120640" cy="4328160"/>
          </a:xfrm>
          <a:prstGeom prst="rect">
            <a:avLst/>
          </a:prstGeom>
          <a:solidFill>
            <a:srgbClr val="D8E2EE"/>
          </a:solidFill>
          <a:ln w="12700">
            <a:solidFill>
              <a:srgbClr val="D8E2EE"/>
            </a:solidFill>
            <a:prstDash val="solid"/>
          </a:ln>
        </p:spPr>
        <p:txBody>
          <a:bodyPr/>
          <a:lstStyle/>
          <a:p>
            <a:endParaRPr lang="en-US" sz="2400"/>
          </a:p>
        </p:txBody>
      </p:sp>
      <p:sp>
        <p:nvSpPr>
          <p:cNvPr id="7" name="Shape 5"/>
          <p:cNvSpPr/>
          <p:nvPr/>
        </p:nvSpPr>
        <p:spPr>
          <a:xfrm>
            <a:off x="548640" y="1341120"/>
            <a:ext cx="5120640" cy="487680"/>
          </a:xfrm>
          <a:prstGeom prst="rect">
            <a:avLst/>
          </a:prstGeom>
          <a:solidFill>
            <a:srgbClr val="2E4A7C"/>
          </a:solidFill>
          <a:ln w="12700">
            <a:solidFill>
              <a:srgbClr val="2E4A7C"/>
            </a:solidFill>
            <a:prstDash val="solid"/>
          </a:ln>
        </p:spPr>
        <p:txBody>
          <a:bodyPr/>
          <a:lstStyle/>
          <a:p>
            <a:endParaRPr lang="en-US" sz="2400"/>
          </a:p>
        </p:txBody>
      </p:sp>
      <p:sp>
        <p:nvSpPr>
          <p:cNvPr id="8" name="Text 6"/>
          <p:cNvSpPr/>
          <p:nvPr/>
        </p:nvSpPr>
        <p:spPr>
          <a:xfrm>
            <a:off x="670560" y="1341120"/>
            <a:ext cx="4876800" cy="487680"/>
          </a:xfrm>
          <a:prstGeom prst="rect">
            <a:avLst/>
          </a:prstGeom>
          <a:noFill/>
          <a:ln/>
        </p:spPr>
        <p:txBody>
          <a:bodyPr wrap="square" lIns="0" tIns="0" rIns="0" bIns="0" rtlCol="0" anchor="ctr"/>
          <a:lstStyle/>
          <a:p>
            <a:r>
              <a:rPr lang="en-US" sz="1733" b="1" dirty="0">
                <a:solidFill>
                  <a:srgbClr val="FFFFFF"/>
                </a:solidFill>
                <a:latin typeface="Calibri" pitchFamily="34" charset="0"/>
                <a:ea typeface="Calibri" pitchFamily="34" charset="-122"/>
                <a:cs typeface="Calibri" pitchFamily="34" charset="-120"/>
              </a:rPr>
              <a:t>Douro (RDD)</a:t>
            </a:r>
            <a:endParaRPr lang="en-US" sz="1733" dirty="0"/>
          </a:p>
        </p:txBody>
      </p:sp>
      <p:sp>
        <p:nvSpPr>
          <p:cNvPr id="9" name="Text 7"/>
          <p:cNvSpPr/>
          <p:nvPr/>
        </p:nvSpPr>
        <p:spPr>
          <a:xfrm>
            <a:off x="694944" y="1901952"/>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Rules discovered:</a:t>
            </a:r>
            <a:endParaRPr lang="en-US" sz="1133" dirty="0"/>
          </a:p>
        </p:txBody>
      </p:sp>
      <p:sp>
        <p:nvSpPr>
          <p:cNvPr id="10" name="Text 8"/>
          <p:cNvSpPr/>
          <p:nvPr/>
        </p:nvSpPr>
        <p:spPr>
          <a:xfrm>
            <a:off x="2401824" y="1901952"/>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48 rules found</a:t>
            </a:r>
            <a:endParaRPr lang="en-US" sz="1267" dirty="0"/>
          </a:p>
        </p:txBody>
      </p:sp>
      <p:sp>
        <p:nvSpPr>
          <p:cNvPr id="11" name="Text 9"/>
          <p:cNvSpPr/>
          <p:nvPr/>
        </p:nvSpPr>
        <p:spPr>
          <a:xfrm>
            <a:off x="694944" y="2609088"/>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Dominant features:</a:t>
            </a:r>
            <a:endParaRPr lang="en-US" sz="1133" dirty="0"/>
          </a:p>
        </p:txBody>
      </p:sp>
      <p:sp>
        <p:nvSpPr>
          <p:cNvPr id="12" name="Text 10"/>
          <p:cNvSpPr/>
          <p:nvPr/>
        </p:nvSpPr>
        <p:spPr>
          <a:xfrm>
            <a:off x="2401824" y="2609088"/>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Harvest soil water: 54% of rules</a:t>
            </a:r>
            <a:endParaRPr lang="en-US" sz="1267" dirty="0"/>
          </a:p>
          <a:p>
            <a:r>
              <a:rPr lang="en-US" sz="1267" dirty="0">
                <a:solidFill>
                  <a:srgbClr val="1A2A3A"/>
                </a:solidFill>
                <a:latin typeface="Calibri" pitchFamily="34" charset="0"/>
                <a:ea typeface="Calibri" pitchFamily="34" charset="-122"/>
                <a:cs typeface="Calibri" pitchFamily="34" charset="-120"/>
              </a:rPr>
              <a:t>Post-flowering wet days: 2nd most frequent</a:t>
            </a:r>
            <a:endParaRPr lang="en-US" sz="1267" dirty="0"/>
          </a:p>
        </p:txBody>
      </p:sp>
      <p:sp>
        <p:nvSpPr>
          <p:cNvPr id="13" name="Text 11"/>
          <p:cNvSpPr/>
          <p:nvPr/>
        </p:nvSpPr>
        <p:spPr>
          <a:xfrm>
            <a:off x="694944" y="3316224"/>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Directionality:</a:t>
            </a:r>
            <a:endParaRPr lang="en-US" sz="1133" dirty="0"/>
          </a:p>
        </p:txBody>
      </p:sp>
      <p:sp>
        <p:nvSpPr>
          <p:cNvPr id="14" name="Text 12"/>
          <p:cNvSpPr/>
          <p:nvPr/>
        </p:nvSpPr>
        <p:spPr>
          <a:xfrm>
            <a:off x="2401824" y="3316224"/>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31/48 rules → ABOVE-trend (65%)</a:t>
            </a:r>
            <a:endParaRPr lang="en-US" sz="1267" dirty="0"/>
          </a:p>
        </p:txBody>
      </p:sp>
      <p:sp>
        <p:nvSpPr>
          <p:cNvPr id="15" name="Text 13"/>
          <p:cNvSpPr/>
          <p:nvPr/>
        </p:nvSpPr>
        <p:spPr>
          <a:xfrm>
            <a:off x="694944" y="4023360"/>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Statistical strength:</a:t>
            </a:r>
            <a:endParaRPr lang="en-US" sz="1133" dirty="0"/>
          </a:p>
        </p:txBody>
      </p:sp>
      <p:sp>
        <p:nvSpPr>
          <p:cNvPr id="16" name="Text 14"/>
          <p:cNvSpPr/>
          <p:nvPr/>
        </p:nvSpPr>
        <p:spPr>
          <a:xfrm>
            <a:off x="2401824" y="4023360"/>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Best rule: p = 0.0043, support 28%</a:t>
            </a:r>
            <a:endParaRPr lang="en-US" sz="1267" dirty="0"/>
          </a:p>
        </p:txBody>
      </p:sp>
      <p:sp>
        <p:nvSpPr>
          <p:cNvPr id="17" name="Shape 15"/>
          <p:cNvSpPr/>
          <p:nvPr/>
        </p:nvSpPr>
        <p:spPr>
          <a:xfrm>
            <a:off x="670560" y="3633216"/>
            <a:ext cx="4876800" cy="780288"/>
          </a:xfrm>
          <a:prstGeom prst="rect">
            <a:avLst/>
          </a:prstGeom>
          <a:solidFill>
            <a:srgbClr val="1B2B45"/>
          </a:solidFill>
          <a:ln w="12700">
            <a:solidFill>
              <a:srgbClr val="1B2B45"/>
            </a:solidFill>
            <a:prstDash val="solid"/>
          </a:ln>
        </p:spPr>
        <p:txBody>
          <a:bodyPr/>
          <a:lstStyle/>
          <a:p>
            <a:endParaRPr lang="en-US" sz="2400"/>
          </a:p>
        </p:txBody>
      </p:sp>
      <p:sp>
        <p:nvSpPr>
          <p:cNvPr id="18" name="Text 16"/>
          <p:cNvSpPr/>
          <p:nvPr/>
        </p:nvSpPr>
        <p:spPr>
          <a:xfrm>
            <a:off x="731520" y="3657600"/>
            <a:ext cx="4754880" cy="731520"/>
          </a:xfrm>
          <a:prstGeom prst="rect">
            <a:avLst/>
          </a:prstGeom>
          <a:noFill/>
          <a:ln/>
        </p:spPr>
        <p:txBody>
          <a:bodyPr wrap="square" lIns="0" tIns="0" rIns="0" bIns="0" rtlCol="0" anchor="ctr"/>
          <a:lstStyle/>
          <a:p>
            <a:r>
              <a:rPr lang="en-US" sz="1067" dirty="0">
                <a:solidFill>
                  <a:srgbClr val="F5D78A"/>
                </a:solidFill>
                <a:latin typeface="Calibri" pitchFamily="34" charset="0"/>
                <a:ea typeface="Calibri" pitchFamily="34" charset="-122"/>
                <a:cs typeface="Calibri" pitchFamily="34" charset="-120"/>
              </a:rPr>
              <a:t>IF wet days post-Flowering ∈ [0–3.3d]</a:t>
            </a:r>
            <a:endParaRPr lang="en-US" sz="1067" dirty="0"/>
          </a:p>
          <a:p>
            <a:r>
              <a:rPr lang="en-US" sz="1067" dirty="0">
                <a:solidFill>
                  <a:srgbClr val="F5D78A"/>
                </a:solidFill>
                <a:latin typeface="Calibri" pitchFamily="34" charset="0"/>
                <a:ea typeface="Calibri" pitchFamily="34" charset="-122"/>
                <a:cs typeface="Calibri" pitchFamily="34" charset="-120"/>
              </a:rPr>
              <a:t>AND wet days post-Maturity ∈ [0–3.5d]</a:t>
            </a:r>
            <a:endParaRPr lang="en-US" sz="1067" dirty="0"/>
          </a:p>
          <a:p>
            <a:r>
              <a:rPr lang="en-US" sz="1067" dirty="0">
                <a:solidFill>
                  <a:srgbClr val="F5D78A"/>
                </a:solidFill>
                <a:latin typeface="Calibri" pitchFamily="34" charset="0"/>
                <a:ea typeface="Calibri" pitchFamily="34" charset="-122"/>
                <a:cs typeface="Calibri" pitchFamily="34" charset="-120"/>
              </a:rPr>
              <a:t>THEN production +121 mhl (support 28%, p=0.0043)</a:t>
            </a:r>
            <a:endParaRPr lang="en-US" sz="1067" dirty="0"/>
          </a:p>
        </p:txBody>
      </p:sp>
      <p:sp>
        <p:nvSpPr>
          <p:cNvPr id="19" name="Shape 17"/>
          <p:cNvSpPr/>
          <p:nvPr/>
        </p:nvSpPr>
        <p:spPr>
          <a:xfrm>
            <a:off x="6278880" y="1341120"/>
            <a:ext cx="5120640" cy="4328160"/>
          </a:xfrm>
          <a:prstGeom prst="rect">
            <a:avLst/>
          </a:prstGeom>
          <a:solidFill>
            <a:srgbClr val="D8E2EE"/>
          </a:solidFill>
          <a:ln w="12700">
            <a:solidFill>
              <a:srgbClr val="D8E2EE"/>
            </a:solidFill>
            <a:prstDash val="solid"/>
          </a:ln>
        </p:spPr>
        <p:txBody>
          <a:bodyPr/>
          <a:lstStyle/>
          <a:p>
            <a:endParaRPr lang="en-US" sz="2400"/>
          </a:p>
        </p:txBody>
      </p:sp>
      <p:sp>
        <p:nvSpPr>
          <p:cNvPr id="20" name="Shape 18"/>
          <p:cNvSpPr/>
          <p:nvPr/>
        </p:nvSpPr>
        <p:spPr>
          <a:xfrm>
            <a:off x="6278880" y="1341120"/>
            <a:ext cx="5120640" cy="487680"/>
          </a:xfrm>
          <a:prstGeom prst="rect">
            <a:avLst/>
          </a:prstGeom>
          <a:solidFill>
            <a:srgbClr val="0D7377"/>
          </a:solidFill>
          <a:ln w="12700">
            <a:solidFill>
              <a:srgbClr val="0D7377"/>
            </a:solidFill>
            <a:prstDash val="solid"/>
          </a:ln>
        </p:spPr>
        <p:txBody>
          <a:bodyPr/>
          <a:lstStyle/>
          <a:p>
            <a:endParaRPr lang="en-US" sz="2400"/>
          </a:p>
        </p:txBody>
      </p:sp>
      <p:sp>
        <p:nvSpPr>
          <p:cNvPr id="21" name="Text 19"/>
          <p:cNvSpPr/>
          <p:nvPr/>
        </p:nvSpPr>
        <p:spPr>
          <a:xfrm>
            <a:off x="6400800" y="1341120"/>
            <a:ext cx="4876800" cy="487680"/>
          </a:xfrm>
          <a:prstGeom prst="rect">
            <a:avLst/>
          </a:prstGeom>
          <a:noFill/>
          <a:ln/>
        </p:spPr>
        <p:txBody>
          <a:bodyPr wrap="square" lIns="0" tIns="0" rIns="0" bIns="0" rtlCol="0" anchor="ctr"/>
          <a:lstStyle/>
          <a:p>
            <a:r>
              <a:rPr lang="en-US" sz="1733" b="1" dirty="0">
                <a:solidFill>
                  <a:srgbClr val="FFFFFF"/>
                </a:solidFill>
                <a:latin typeface="Calibri" pitchFamily="34" charset="0"/>
                <a:ea typeface="Calibri" pitchFamily="34" charset="-122"/>
                <a:cs typeface="Calibri" pitchFamily="34" charset="-120"/>
              </a:rPr>
              <a:t>Vinho Verde (RVV)</a:t>
            </a:r>
            <a:endParaRPr lang="en-US" sz="1733" dirty="0"/>
          </a:p>
        </p:txBody>
      </p:sp>
      <p:sp>
        <p:nvSpPr>
          <p:cNvPr id="22" name="Text 20"/>
          <p:cNvSpPr/>
          <p:nvPr/>
        </p:nvSpPr>
        <p:spPr>
          <a:xfrm>
            <a:off x="6425184" y="1901952"/>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Rules discovered:</a:t>
            </a:r>
            <a:endParaRPr lang="en-US" sz="1133" dirty="0"/>
          </a:p>
        </p:txBody>
      </p:sp>
      <p:sp>
        <p:nvSpPr>
          <p:cNvPr id="23" name="Text 21"/>
          <p:cNvSpPr/>
          <p:nvPr/>
        </p:nvSpPr>
        <p:spPr>
          <a:xfrm>
            <a:off x="8132064" y="1901952"/>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20 rules found</a:t>
            </a:r>
            <a:endParaRPr lang="en-US" sz="1267" dirty="0"/>
          </a:p>
        </p:txBody>
      </p:sp>
      <p:sp>
        <p:nvSpPr>
          <p:cNvPr id="24" name="Text 22"/>
          <p:cNvSpPr/>
          <p:nvPr/>
        </p:nvSpPr>
        <p:spPr>
          <a:xfrm>
            <a:off x="6425184" y="2609088"/>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Dominant features:</a:t>
            </a:r>
            <a:endParaRPr lang="en-US" sz="1133" dirty="0"/>
          </a:p>
        </p:txBody>
      </p:sp>
      <p:sp>
        <p:nvSpPr>
          <p:cNvPr id="25" name="Text 23"/>
          <p:cNvSpPr/>
          <p:nvPr/>
        </p:nvSpPr>
        <p:spPr>
          <a:xfrm>
            <a:off x="8132064" y="2609088"/>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Heat-stress days at maturity: ~50% of rules</a:t>
            </a:r>
            <a:endParaRPr lang="en-US" sz="1267" dirty="0"/>
          </a:p>
          <a:p>
            <a:r>
              <a:rPr lang="en-US" sz="1267" dirty="0">
                <a:solidFill>
                  <a:srgbClr val="1A2A3A"/>
                </a:solidFill>
                <a:latin typeface="Calibri" pitchFamily="34" charset="0"/>
                <a:ea typeface="Calibri" pitchFamily="34" charset="-122"/>
                <a:cs typeface="Calibri" pitchFamily="34" charset="-120"/>
              </a:rPr>
              <a:t>LAI at harvest: present in all 20 rules</a:t>
            </a:r>
            <a:endParaRPr lang="en-US" sz="1267" dirty="0"/>
          </a:p>
        </p:txBody>
      </p:sp>
      <p:sp>
        <p:nvSpPr>
          <p:cNvPr id="26" name="Text 24"/>
          <p:cNvSpPr/>
          <p:nvPr/>
        </p:nvSpPr>
        <p:spPr>
          <a:xfrm>
            <a:off x="6425184" y="3316224"/>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Directionality:</a:t>
            </a:r>
            <a:endParaRPr lang="en-US" sz="1133" dirty="0"/>
          </a:p>
        </p:txBody>
      </p:sp>
      <p:sp>
        <p:nvSpPr>
          <p:cNvPr id="27" name="Text 25"/>
          <p:cNvSpPr/>
          <p:nvPr/>
        </p:nvSpPr>
        <p:spPr>
          <a:xfrm>
            <a:off x="8132064" y="3316224"/>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16/20 rules → BELOW-trend (80%)</a:t>
            </a:r>
            <a:endParaRPr lang="en-US" sz="1267" dirty="0"/>
          </a:p>
        </p:txBody>
      </p:sp>
      <p:sp>
        <p:nvSpPr>
          <p:cNvPr id="28" name="Text 26"/>
          <p:cNvSpPr/>
          <p:nvPr/>
        </p:nvSpPr>
        <p:spPr>
          <a:xfrm>
            <a:off x="6425184" y="4023360"/>
            <a:ext cx="1645920" cy="463296"/>
          </a:xfrm>
          <a:prstGeom prst="rect">
            <a:avLst/>
          </a:prstGeom>
          <a:noFill/>
          <a:ln/>
        </p:spPr>
        <p:txBody>
          <a:bodyPr wrap="square" lIns="0" tIns="0" rIns="0" bIns="0" rtlCol="0" anchor="t"/>
          <a:lstStyle/>
          <a:p>
            <a:r>
              <a:rPr lang="en-US" sz="1133" b="1" dirty="0">
                <a:solidFill>
                  <a:srgbClr val="7F8FA6"/>
                </a:solidFill>
                <a:latin typeface="Calibri" pitchFamily="34" charset="0"/>
                <a:ea typeface="Calibri" pitchFamily="34" charset="-122"/>
                <a:cs typeface="Calibri" pitchFamily="34" charset="-120"/>
              </a:rPr>
              <a:t>Statistical strength:</a:t>
            </a:r>
            <a:endParaRPr lang="en-US" sz="1133" dirty="0"/>
          </a:p>
        </p:txBody>
      </p:sp>
      <p:sp>
        <p:nvSpPr>
          <p:cNvPr id="29" name="Text 27"/>
          <p:cNvSpPr/>
          <p:nvPr/>
        </p:nvSpPr>
        <p:spPr>
          <a:xfrm>
            <a:off x="8132064" y="4023360"/>
            <a:ext cx="3169920" cy="633984"/>
          </a:xfrm>
          <a:prstGeom prst="rect">
            <a:avLst/>
          </a:prstGeom>
          <a:noFill/>
          <a:ln/>
        </p:spPr>
        <p:txBody>
          <a:bodyPr wrap="square" lIns="0" tIns="0" rIns="0" bIns="0" rtlCol="0" anchor="t"/>
          <a:lstStyle/>
          <a:p>
            <a:r>
              <a:rPr lang="en-US" sz="1267" dirty="0">
                <a:solidFill>
                  <a:srgbClr val="1A2A3A"/>
                </a:solidFill>
                <a:latin typeface="Calibri" pitchFamily="34" charset="0"/>
                <a:ea typeface="Calibri" pitchFamily="34" charset="-122"/>
                <a:cs typeface="Calibri" pitchFamily="34" charset="-120"/>
              </a:rPr>
              <a:t>Largest shift: −365 mhl (support 28%, p=0.029)</a:t>
            </a:r>
            <a:endParaRPr lang="en-US" sz="1267" dirty="0"/>
          </a:p>
        </p:txBody>
      </p:sp>
      <p:sp>
        <p:nvSpPr>
          <p:cNvPr id="30" name="Shape 28"/>
          <p:cNvSpPr/>
          <p:nvPr/>
        </p:nvSpPr>
        <p:spPr>
          <a:xfrm>
            <a:off x="6400800" y="3633216"/>
            <a:ext cx="4876800" cy="780288"/>
          </a:xfrm>
          <a:prstGeom prst="rect">
            <a:avLst/>
          </a:prstGeom>
          <a:solidFill>
            <a:srgbClr val="1B2B45"/>
          </a:solidFill>
          <a:ln w="12700">
            <a:solidFill>
              <a:srgbClr val="1B2B45"/>
            </a:solidFill>
            <a:prstDash val="solid"/>
          </a:ln>
        </p:spPr>
        <p:txBody>
          <a:bodyPr/>
          <a:lstStyle/>
          <a:p>
            <a:endParaRPr lang="en-US" sz="2400"/>
          </a:p>
        </p:txBody>
      </p:sp>
      <p:sp>
        <p:nvSpPr>
          <p:cNvPr id="31" name="Text 29"/>
          <p:cNvSpPr/>
          <p:nvPr/>
        </p:nvSpPr>
        <p:spPr>
          <a:xfrm>
            <a:off x="6461760" y="3657600"/>
            <a:ext cx="4754880" cy="731520"/>
          </a:xfrm>
          <a:prstGeom prst="rect">
            <a:avLst/>
          </a:prstGeom>
          <a:noFill/>
          <a:ln/>
        </p:spPr>
        <p:txBody>
          <a:bodyPr wrap="square" lIns="0" tIns="0" rIns="0" bIns="0" rtlCol="0" anchor="ctr"/>
          <a:lstStyle/>
          <a:p>
            <a:r>
              <a:rPr lang="en-US" sz="1067" dirty="0">
                <a:solidFill>
                  <a:srgbClr val="F5D78A"/>
                </a:solidFill>
                <a:latin typeface="Calibri" pitchFamily="34" charset="0"/>
                <a:ea typeface="Calibri" pitchFamily="34" charset="-122"/>
                <a:cs typeface="Calibri" pitchFamily="34" charset="-120"/>
              </a:rPr>
              <a:t>IF soil water post-Flowering ∈ [143–234 mm]</a:t>
            </a:r>
            <a:endParaRPr lang="en-US" sz="1067" dirty="0"/>
          </a:p>
          <a:p>
            <a:r>
              <a:rPr lang="en-US" sz="1067" dirty="0">
                <a:solidFill>
                  <a:srgbClr val="F5D78A"/>
                </a:solidFill>
                <a:latin typeface="Calibri" pitchFamily="34" charset="0"/>
                <a:ea typeface="Calibri" pitchFamily="34" charset="-122"/>
                <a:cs typeface="Calibri" pitchFamily="34" charset="-120"/>
              </a:rPr>
              <a:t>AND heat days post-Maturity ∈ [0–2.4d]</a:t>
            </a:r>
            <a:endParaRPr lang="en-US" sz="1067" dirty="0"/>
          </a:p>
          <a:p>
            <a:r>
              <a:rPr lang="en-US" sz="1067" dirty="0">
                <a:solidFill>
                  <a:srgbClr val="F5D78A"/>
                </a:solidFill>
                <a:latin typeface="Calibri" pitchFamily="34" charset="0"/>
                <a:ea typeface="Calibri" pitchFamily="34" charset="-122"/>
                <a:cs typeface="Calibri" pitchFamily="34" charset="-120"/>
              </a:rPr>
              <a:t>THEN production −365 mhl (support 28%, p=0.029)</a:t>
            </a:r>
            <a:endParaRPr lang="en-US" sz="1067" dirty="0"/>
          </a:p>
        </p:txBody>
      </p:sp>
      <p:sp>
        <p:nvSpPr>
          <p:cNvPr id="32" name="Shape 30"/>
          <p:cNvSpPr/>
          <p:nvPr/>
        </p:nvSpPr>
        <p:spPr>
          <a:xfrm>
            <a:off x="548640" y="5815584"/>
            <a:ext cx="11094720" cy="877824"/>
          </a:xfrm>
          <a:prstGeom prst="rect">
            <a:avLst/>
          </a:prstGeom>
          <a:solidFill>
            <a:srgbClr val="2E4A7C"/>
          </a:solidFill>
          <a:ln w="12700">
            <a:solidFill>
              <a:srgbClr val="2E4A7C"/>
            </a:solidFill>
            <a:prstDash val="solid"/>
          </a:ln>
        </p:spPr>
        <p:txBody>
          <a:bodyPr/>
          <a:lstStyle/>
          <a:p>
            <a:endParaRPr lang="en-US" sz="2400"/>
          </a:p>
        </p:txBody>
      </p:sp>
      <p:sp>
        <p:nvSpPr>
          <p:cNvPr id="33" name="Text 31"/>
          <p:cNvSpPr/>
          <p:nvPr/>
        </p:nvSpPr>
        <p:spPr>
          <a:xfrm>
            <a:off x="731520" y="5852160"/>
            <a:ext cx="2560320" cy="792480"/>
          </a:xfrm>
          <a:prstGeom prst="rect">
            <a:avLst/>
          </a:prstGeom>
          <a:noFill/>
          <a:ln/>
        </p:spPr>
        <p:txBody>
          <a:bodyPr wrap="square" lIns="0" tIns="0" rIns="0" bIns="0" rtlCol="0" anchor="ctr"/>
          <a:lstStyle/>
          <a:p>
            <a:r>
              <a:rPr lang="en-US" sz="1467" b="1" dirty="0">
                <a:solidFill>
                  <a:srgbClr val="F5D78A"/>
                </a:solidFill>
                <a:latin typeface="Calibri" pitchFamily="34" charset="0"/>
                <a:ea typeface="Calibri" pitchFamily="34" charset="-122"/>
                <a:cs typeface="Calibri" pitchFamily="34" charset="-120"/>
              </a:rPr>
              <a:t>Cross-Algorithm Convergence:</a:t>
            </a:r>
            <a:endParaRPr lang="en-US" sz="1467" dirty="0"/>
          </a:p>
        </p:txBody>
      </p:sp>
      <p:sp>
        <p:nvSpPr>
          <p:cNvPr id="34" name="Text 32"/>
          <p:cNvSpPr/>
          <p:nvPr/>
        </p:nvSpPr>
        <p:spPr>
          <a:xfrm>
            <a:off x="3340608" y="5852160"/>
            <a:ext cx="8107680" cy="792480"/>
          </a:xfrm>
          <a:prstGeom prst="rect">
            <a:avLst/>
          </a:prstGeom>
          <a:noFill/>
          <a:ln/>
        </p:spPr>
        <p:txBody>
          <a:bodyPr wrap="square" lIns="0" tIns="0" rIns="0" bIns="0" rtlCol="0" anchor="ctr"/>
          <a:lstStyle/>
          <a:p>
            <a:r>
              <a:rPr lang="en-US" sz="1267" dirty="0">
                <a:solidFill>
                  <a:srgbClr val="D8E2EE"/>
                </a:solidFill>
                <a:latin typeface="Calibri" pitchFamily="34" charset="0"/>
                <a:ea typeface="Calibri" pitchFamily="34" charset="-122"/>
                <a:cs typeface="Calibri" pitchFamily="34" charset="-120"/>
              </a:rPr>
              <a:t>RIPPER and M5Rules independently select the same feature families through entirely different criteria (FOIL gain vs. MSE reduction vs. KS test). Three algorithms, one answer. This is strong evidence of genuine data structure, not algorithm-specific artefacts.</a:t>
            </a:r>
            <a:endParaRPr lang="en-US" sz="1267"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Validation of Rule Discovery</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LOESS stress test distinguishes genuine climate signal from era-membership artefacts</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548640" y="1341120"/>
            <a:ext cx="11094720" cy="1121664"/>
          </a:xfrm>
          <a:prstGeom prst="rect">
            <a:avLst/>
          </a:prstGeom>
          <a:solidFill>
            <a:srgbClr val="2E4A7C"/>
          </a:solidFill>
          <a:ln w="12700">
            <a:solidFill>
              <a:srgbClr val="2E4A7C"/>
            </a:solidFill>
            <a:prstDash val="solid"/>
          </a:ln>
        </p:spPr>
        <p:txBody>
          <a:bodyPr/>
          <a:lstStyle/>
          <a:p>
            <a:endParaRPr lang="en-US" sz="2400"/>
          </a:p>
        </p:txBody>
      </p:sp>
      <p:sp>
        <p:nvSpPr>
          <p:cNvPr id="7" name="Text 5"/>
          <p:cNvSpPr/>
          <p:nvPr/>
        </p:nvSpPr>
        <p:spPr>
          <a:xfrm>
            <a:off x="731520" y="1365504"/>
            <a:ext cx="3657600" cy="463296"/>
          </a:xfrm>
          <a:prstGeom prst="rect">
            <a:avLst/>
          </a:prstGeom>
          <a:noFill/>
          <a:ln/>
        </p:spPr>
        <p:txBody>
          <a:bodyPr wrap="square" lIns="0" tIns="0" rIns="0" bIns="0" rtlCol="0" anchor="ctr"/>
          <a:lstStyle/>
          <a:p>
            <a:r>
              <a:rPr lang="en-US" sz="1600" b="1" dirty="0">
                <a:solidFill>
                  <a:srgbClr val="F5D78A"/>
                </a:solidFill>
                <a:latin typeface="Calibri" pitchFamily="34" charset="0"/>
                <a:ea typeface="Calibri" pitchFamily="34" charset="-122"/>
                <a:cs typeface="Calibri" pitchFamily="34" charset="-120"/>
              </a:rPr>
              <a:t>The Era Confound Problem</a:t>
            </a:r>
            <a:endParaRPr lang="en-US" sz="1600" dirty="0"/>
          </a:p>
        </p:txBody>
      </p:sp>
      <p:sp>
        <p:nvSpPr>
          <p:cNvPr id="8" name="Text 6"/>
          <p:cNvSpPr/>
          <p:nvPr/>
        </p:nvSpPr>
        <p:spPr>
          <a:xfrm>
            <a:off x="731520" y="1828800"/>
            <a:ext cx="10728960" cy="585216"/>
          </a:xfrm>
          <a:prstGeom prst="rect">
            <a:avLst/>
          </a:prstGeom>
          <a:noFill/>
          <a:ln/>
        </p:spPr>
        <p:txBody>
          <a:bodyPr wrap="square" lIns="0" tIns="0" rIns="0" bIns="0" rtlCol="0" anchor="t"/>
          <a:lstStyle/>
          <a:p>
            <a:r>
              <a:rPr lang="en-US" sz="1267" dirty="0">
                <a:solidFill>
                  <a:srgbClr val="D8E2EE"/>
                </a:solidFill>
                <a:latin typeface="Calibri" pitchFamily="34" charset="0"/>
                <a:ea typeface="Calibri" pitchFamily="34" charset="-122"/>
                <a:cs typeface="Calibri" pitchFamily="34" charset="-120"/>
              </a:rPr>
              <a:t>If a climate feature co-trends with production over decades (warming + declining production), it appears informative under linear detrending even with no true within-era relationship. Rules become era-membership proxies, not genuine climate signals.</a:t>
            </a:r>
            <a:endParaRPr lang="en-US" sz="1267" dirty="0"/>
          </a:p>
        </p:txBody>
      </p:sp>
      <p:sp>
        <p:nvSpPr>
          <p:cNvPr id="9" name="Text 7"/>
          <p:cNvSpPr/>
          <p:nvPr/>
        </p:nvSpPr>
        <p:spPr>
          <a:xfrm>
            <a:off x="548640" y="2584704"/>
            <a:ext cx="11094720" cy="365760"/>
          </a:xfrm>
          <a:prstGeom prst="rect">
            <a:avLst/>
          </a:prstGeom>
          <a:noFill/>
          <a:ln/>
        </p:spPr>
        <p:txBody>
          <a:bodyPr wrap="square" lIns="0" tIns="0" rIns="0" bIns="0" rtlCol="0" anchor="ctr"/>
          <a:lstStyle/>
          <a:p>
            <a:r>
              <a:rPr lang="en-US" sz="1467" b="1" dirty="0">
                <a:solidFill>
                  <a:srgbClr val="1A2A3A"/>
                </a:solidFill>
                <a:latin typeface="Calibri" pitchFamily="34" charset="0"/>
                <a:ea typeface="Calibri" pitchFamily="34" charset="-122"/>
                <a:cs typeface="Calibri" pitchFamily="34" charset="-120"/>
              </a:rPr>
              <a:t>LOESS Detrending Stress Test  (span = 0.40 — removes era-level structural shifts, preserves inter-annual variation)</a:t>
            </a:r>
            <a:endParaRPr lang="en-US" sz="1467" dirty="0"/>
          </a:p>
        </p:txBody>
      </p:sp>
      <p:graphicFrame>
        <p:nvGraphicFramePr>
          <p:cNvPr id="10" name="Table 0"/>
          <p:cNvGraphicFramePr>
            <a:graphicFrameLocks noGrp="1"/>
          </p:cNvGraphicFramePr>
          <p:nvPr/>
        </p:nvGraphicFramePr>
        <p:xfrm>
          <a:off x="548640" y="3048001"/>
          <a:ext cx="11094720" cy="2706620"/>
        </p:xfrm>
        <a:graphic>
          <a:graphicData uri="http://schemas.openxmlformats.org/drawingml/2006/table">
            <a:tbl>
              <a:tblPr/>
              <a:tblGrid>
                <a:gridCol w="274320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gridCol w="1036320">
                  <a:extLst>
                    <a:ext uri="{9D8B030D-6E8A-4147-A177-3AD203B41FA5}">
                      <a16:colId xmlns:a16="http://schemas.microsoft.com/office/drawing/2014/main" val="20002"/>
                    </a:ext>
                  </a:extLst>
                </a:gridCol>
                <a:gridCol w="1036320">
                  <a:extLst>
                    <a:ext uri="{9D8B030D-6E8A-4147-A177-3AD203B41FA5}">
                      <a16:colId xmlns:a16="http://schemas.microsoft.com/office/drawing/2014/main" val="20003"/>
                    </a:ext>
                  </a:extLst>
                </a:gridCol>
                <a:gridCol w="1158240">
                  <a:extLst>
                    <a:ext uri="{9D8B030D-6E8A-4147-A177-3AD203B41FA5}">
                      <a16:colId xmlns:a16="http://schemas.microsoft.com/office/drawing/2014/main" val="20004"/>
                    </a:ext>
                  </a:extLst>
                </a:gridCol>
                <a:gridCol w="4328160">
                  <a:extLst>
                    <a:ext uri="{9D8B030D-6E8A-4147-A177-3AD203B41FA5}">
                      <a16:colId xmlns:a16="http://schemas.microsoft.com/office/drawing/2014/main" val="20005"/>
                    </a:ext>
                  </a:extLst>
                </a:gridCol>
              </a:tblGrid>
              <a:tr h="386660">
                <a:tc>
                  <a:txBody>
                    <a:bodyPr/>
                    <a:lstStyle/>
                    <a:p>
                      <a:pPr marL="0" indent="0" algn="l">
                        <a:buNone/>
                      </a:pPr>
                      <a:r>
                        <a:rPr lang="en-US" sz="1200" b="1" dirty="0">
                          <a:solidFill>
                            <a:srgbClr val="FFFFFF"/>
                          </a:solidFill>
                        </a:rPr>
                        <a:t>Feature</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marL="0" indent="0" algn="l">
                        <a:buNone/>
                      </a:pPr>
                      <a:r>
                        <a:rPr lang="en-US" sz="1200" b="1" dirty="0">
                          <a:solidFill>
                            <a:srgbClr val="FFFFFF"/>
                          </a:solidFill>
                        </a:rPr>
                        <a:t>Region</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marL="0" indent="0" algn="l">
                        <a:buNone/>
                      </a:pPr>
                      <a:r>
                        <a:rPr lang="en-US" sz="1200" b="1" dirty="0">
                          <a:solidFill>
                            <a:srgbClr val="FFFFFF"/>
                          </a:solidFill>
                        </a:rPr>
                        <a:t>Linear |r|</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marL="0" indent="0" algn="l">
                        <a:buNone/>
                      </a:pPr>
                      <a:r>
                        <a:rPr lang="en-US" sz="1200" b="1" dirty="0">
                          <a:solidFill>
                            <a:srgbClr val="FFFFFF"/>
                          </a:solidFill>
                        </a:rPr>
                        <a:t>LOESS |r|</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marL="0" indent="0" algn="l">
                        <a:buNone/>
                      </a:pPr>
                      <a:r>
                        <a:rPr lang="en-US" sz="1200" b="1" dirty="0">
                          <a:solidFill>
                            <a:srgbClr val="FFFFFF"/>
                          </a:solidFill>
                        </a:rPr>
                        <a:t>% Retained</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tc>
                  <a:txBody>
                    <a:bodyPr/>
                    <a:lstStyle/>
                    <a:p>
                      <a:pPr marL="0" indent="0" algn="l">
                        <a:buNone/>
                      </a:pPr>
                      <a:r>
                        <a:rPr lang="en-US" sz="1200" b="1" dirty="0">
                          <a:solidFill>
                            <a:srgbClr val="FFFFFF"/>
                          </a:solidFill>
                        </a:rPr>
                        <a:t>Verdict</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solidFill>
                      <a:srgbClr val="1B2B45"/>
                    </a:solidFill>
                  </a:tcPr>
                </a:tc>
                <a:extLst>
                  <a:ext uri="{0D108BD9-81ED-4DB2-BD59-A6C34878D82A}">
                    <a16:rowId xmlns:a16="http://schemas.microsoft.com/office/drawing/2014/main" val="10000"/>
                  </a:ext>
                </a:extLst>
              </a:tr>
              <a:tr h="386660">
                <a:tc>
                  <a:txBody>
                    <a:bodyPr/>
                    <a:lstStyle/>
                    <a:p>
                      <a:pPr marL="0" indent="0" algn="l">
                        <a:buNone/>
                      </a:pPr>
                      <a:r>
                        <a:rPr lang="en-US" sz="1200" dirty="0">
                          <a:solidFill>
                            <a:srgbClr val="000000"/>
                          </a:solidFill>
                        </a:rPr>
                        <a:t>swa_hv_y1_b20 (harvest soil water)</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RDD</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0.33</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0.41</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125%</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 Genuine within-era signal — increases under LOESS</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1"/>
                  </a:ext>
                </a:extLst>
              </a:tr>
              <a:tr h="386660">
                <a:tc>
                  <a:txBody>
                    <a:bodyPr/>
                    <a:lstStyle/>
                    <a:p>
                      <a:pPr marL="0" indent="0" algn="l">
                        <a:buNone/>
                      </a:pPr>
                      <a:r>
                        <a:rPr lang="en-US" sz="1200" dirty="0">
                          <a:solidFill>
                            <a:srgbClr val="000000"/>
                          </a:solidFill>
                        </a:rPr>
                        <a:t>wet days post-Flowering</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RDD</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0.28</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0.28</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103%</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 Fully preserved after era removal</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2"/>
                  </a:ext>
                </a:extLst>
              </a:tr>
              <a:tr h="386660">
                <a:tc>
                  <a:txBody>
                    <a:bodyPr/>
                    <a:lstStyle/>
                    <a:p>
                      <a:pPr marL="0" indent="0" algn="l">
                        <a:buNone/>
                      </a:pPr>
                      <a:r>
                        <a:rPr lang="en-US" sz="1200" dirty="0">
                          <a:solidFill>
                            <a:srgbClr val="000000"/>
                          </a:solidFill>
                        </a:rPr>
                        <a:t>tm_hv_y1_c10 (harvest temperature)</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RDD</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0.17</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0.17</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105%</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 Preserved; within-era signal</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3"/>
                  </a:ext>
                </a:extLst>
              </a:tr>
              <a:tr h="386660">
                <a:tc>
                  <a:txBody>
                    <a:bodyPr/>
                    <a:lstStyle/>
                    <a:p>
                      <a:pPr marL="0" indent="0" algn="l">
                        <a:buNone/>
                      </a:pPr>
                      <a:r>
                        <a:rPr lang="en-US" sz="1200" dirty="0">
                          <a:solidFill>
                            <a:srgbClr val="000000"/>
                          </a:solidFill>
                        </a:rPr>
                        <a:t>wet days post-Flowering</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RVV</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0.34</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0.32</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94%</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 Genuine; robust to era removal</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4"/>
                  </a:ext>
                </a:extLst>
              </a:tr>
              <a:tr h="386660">
                <a:tc>
                  <a:txBody>
                    <a:bodyPr/>
                    <a:lstStyle/>
                    <a:p>
                      <a:pPr marL="0" indent="0" algn="l">
                        <a:buNone/>
                      </a:pPr>
                      <a:r>
                        <a:rPr lang="en-US" sz="1200" b="1" dirty="0">
                          <a:solidFill>
                            <a:srgbClr val="000000"/>
                          </a:solidFill>
                        </a:rPr>
                        <a:t>iaf_hv_y1_c10 (LAI at harvest)</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RVV</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0.22</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0.03</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b="1" dirty="0">
                          <a:solidFill>
                            <a:srgbClr val="B03A2E"/>
                          </a:solidFill>
                        </a:rPr>
                        <a:t>16%</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b="1" dirty="0">
                          <a:solidFill>
                            <a:srgbClr val="B03A2E"/>
                          </a:solidFill>
                        </a:rPr>
                        <a:t>✗ Era-driven; collapses under LOESS</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5"/>
                  </a:ext>
                </a:extLst>
              </a:tr>
              <a:tr h="386660">
                <a:tc>
                  <a:txBody>
                    <a:bodyPr/>
                    <a:lstStyle/>
                    <a:p>
                      <a:pPr marL="0" indent="0" algn="l">
                        <a:buNone/>
                      </a:pPr>
                      <a:r>
                        <a:rPr lang="en-US" sz="1200" b="1" dirty="0">
                          <a:solidFill>
                            <a:srgbClr val="000000"/>
                          </a:solidFill>
                        </a:rPr>
                        <a:t>swa_hv_y1_b20 (harvest soil water)</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RVV</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0.17</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dirty="0">
                          <a:solidFill>
                            <a:srgbClr val="000000"/>
                          </a:solidFill>
                        </a:rPr>
                        <a:t>0.03</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b="1" dirty="0">
                          <a:solidFill>
                            <a:srgbClr val="B03A2E"/>
                          </a:solidFill>
                        </a:rPr>
                        <a:t>15%</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tc>
                  <a:txBody>
                    <a:bodyPr/>
                    <a:lstStyle/>
                    <a:p>
                      <a:pPr marL="0" indent="0" algn="l">
                        <a:buNone/>
                      </a:pPr>
                      <a:r>
                        <a:rPr lang="en-US" sz="1200" b="1" dirty="0">
                          <a:solidFill>
                            <a:srgbClr val="B03A2E"/>
                          </a:solidFill>
                        </a:rPr>
                        <a:t>✗ Era-driven; collapses under LOESS</a:t>
                      </a:r>
                      <a:endParaRPr lang="en-US" sz="1200" dirty="0"/>
                    </a:p>
                  </a:txBody>
                  <a:tcPr marL="121920" marR="121920" marT="60960" marB="60960">
                    <a:lnL w="6350" cap="flat" cmpd="sng" algn="ctr">
                      <a:solidFill>
                        <a:srgbClr val="D8E2EE"/>
                      </a:solidFill>
                      <a:prstDash val="solid"/>
                      <a:round/>
                      <a:headEnd type="none" w="med" len="med"/>
                      <a:tailEnd type="none" w="med" len="med"/>
                    </a:lnL>
                    <a:lnR w="6350" cap="flat" cmpd="sng" algn="ctr">
                      <a:solidFill>
                        <a:srgbClr val="D8E2EE"/>
                      </a:solidFill>
                      <a:prstDash val="solid"/>
                      <a:round/>
                      <a:headEnd type="none" w="med" len="med"/>
                      <a:tailEnd type="none" w="med" len="med"/>
                    </a:lnR>
                    <a:lnT w="6350" cap="flat" cmpd="sng" algn="ctr">
                      <a:solidFill>
                        <a:srgbClr val="D8E2EE"/>
                      </a:solidFill>
                      <a:prstDash val="solid"/>
                      <a:round/>
                      <a:headEnd type="none" w="med" len="med"/>
                      <a:tailEnd type="none" w="med" len="med"/>
                    </a:lnT>
                    <a:lnB w="6350" cap="flat" cmpd="sng" algn="ctr">
                      <a:solidFill>
                        <a:srgbClr val="D8E2E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1" name="Text 8"/>
          <p:cNvSpPr/>
          <p:nvPr/>
        </p:nvSpPr>
        <p:spPr>
          <a:xfrm>
            <a:off x="548640" y="5900928"/>
            <a:ext cx="11094720" cy="536448"/>
          </a:xfrm>
          <a:prstGeom prst="rect">
            <a:avLst/>
          </a:prstGeom>
          <a:noFill/>
          <a:ln/>
        </p:spPr>
        <p:txBody>
          <a:bodyPr wrap="square" lIns="0" tIns="0" rIns="0" bIns="0" rtlCol="0" anchor="ctr"/>
          <a:lstStyle/>
          <a:p>
            <a:r>
              <a:rPr lang="en-US" sz="1267" i="1" dirty="0">
                <a:solidFill>
                  <a:srgbClr val="D4A853"/>
                </a:solidFill>
                <a:latin typeface="Calibri" pitchFamily="34" charset="0"/>
                <a:ea typeface="Calibri" pitchFamily="34" charset="-122"/>
                <a:cs typeface="Calibri" pitchFamily="34" charset="-120"/>
              </a:rPr>
              <a:t>RDD result: features retain 90–125% correlation → genuine within-era signal confirmed.   RVV dominant features collapse to 15–16% → primarily era artefacts. This explains Goal 2 failure in RVV.</a:t>
            </a:r>
            <a:endParaRPr lang="en-US" sz="1267"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Goal 2 – Predictive Validation</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Walk-forward results: 17 models, weighted MAE on original scale (mhl)</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Text 4"/>
          <p:cNvSpPr/>
          <p:nvPr/>
        </p:nvSpPr>
        <p:spPr>
          <a:xfrm>
            <a:off x="487680" y="1280160"/>
            <a:ext cx="5608320" cy="365760"/>
          </a:xfrm>
          <a:prstGeom prst="rect">
            <a:avLst/>
          </a:prstGeom>
          <a:noFill/>
          <a:ln/>
        </p:spPr>
        <p:txBody>
          <a:bodyPr wrap="square" lIns="0" tIns="0" rIns="0" bIns="0" rtlCol="0" anchor="ctr"/>
          <a:lstStyle/>
          <a:p>
            <a:r>
              <a:rPr lang="en-US" sz="1467" b="1" dirty="0">
                <a:solidFill>
                  <a:srgbClr val="0D1B2A"/>
                </a:solidFill>
                <a:latin typeface="Calibri" pitchFamily="34" charset="0"/>
                <a:ea typeface="Calibri" pitchFamily="34" charset="-122"/>
                <a:cs typeface="Calibri" pitchFamily="34" charset="-120"/>
              </a:rPr>
              <a:t>Douro (RDD) — 18 scenarios</a:t>
            </a:r>
            <a:endParaRPr lang="en-US" sz="1467" dirty="0"/>
          </a:p>
        </p:txBody>
      </p:sp>
      <p:graphicFrame>
        <p:nvGraphicFramePr>
          <p:cNvPr id="7" name="Chart 0"/>
          <p:cNvGraphicFramePr/>
          <p:nvPr/>
        </p:nvGraphicFramePr>
        <p:xfrm>
          <a:off x="426720" y="1682496"/>
          <a:ext cx="5669280" cy="3194304"/>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217920" y="1280160"/>
            <a:ext cx="5608320" cy="365760"/>
          </a:xfrm>
          <a:prstGeom prst="rect">
            <a:avLst/>
          </a:prstGeom>
          <a:noFill/>
          <a:ln/>
        </p:spPr>
        <p:txBody>
          <a:bodyPr wrap="square" lIns="0" tIns="0" rIns="0" bIns="0" rtlCol="0" anchor="ctr"/>
          <a:lstStyle/>
          <a:p>
            <a:r>
              <a:rPr lang="en-US" sz="1467" b="1" dirty="0">
                <a:solidFill>
                  <a:srgbClr val="0D1B2A"/>
                </a:solidFill>
                <a:latin typeface="Calibri" pitchFamily="34" charset="0"/>
                <a:ea typeface="Calibri" pitchFamily="34" charset="-122"/>
                <a:cs typeface="Calibri" pitchFamily="34" charset="-120"/>
              </a:rPr>
              <a:t>Vinho Verde (RVV) — 16 scenarios</a:t>
            </a:r>
            <a:endParaRPr lang="en-US" sz="1467" dirty="0"/>
          </a:p>
        </p:txBody>
      </p:sp>
      <p:graphicFrame>
        <p:nvGraphicFramePr>
          <p:cNvPr id="9" name="Chart 1"/>
          <p:cNvGraphicFramePr/>
          <p:nvPr/>
        </p:nvGraphicFramePr>
        <p:xfrm>
          <a:off x="6156960" y="1682496"/>
          <a:ext cx="5669280" cy="3194304"/>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487680" y="4998720"/>
            <a:ext cx="11094720" cy="365760"/>
          </a:xfrm>
          <a:prstGeom prst="rect">
            <a:avLst/>
          </a:prstGeom>
          <a:noFill/>
          <a:ln/>
        </p:spPr>
        <p:txBody>
          <a:bodyPr wrap="square" lIns="0" tIns="0" rIns="0" bIns="0" rtlCol="0" anchor="ctr"/>
          <a:lstStyle/>
          <a:p>
            <a:r>
              <a:rPr lang="en-US" sz="1467" b="1" dirty="0">
                <a:solidFill>
                  <a:srgbClr val="1A2A3A"/>
                </a:solidFill>
                <a:latin typeface="Calibri" pitchFamily="34" charset="0"/>
                <a:ea typeface="Calibri" pitchFamily="34" charset="-122"/>
                <a:cs typeface="Calibri" pitchFamily="34" charset="-120"/>
              </a:rPr>
              <a:t>Statistical Tests</a:t>
            </a:r>
            <a:endParaRPr lang="en-US" sz="1467" dirty="0"/>
          </a:p>
        </p:txBody>
      </p:sp>
      <p:sp>
        <p:nvSpPr>
          <p:cNvPr id="11" name="Shape 7"/>
          <p:cNvSpPr/>
          <p:nvPr/>
        </p:nvSpPr>
        <p:spPr>
          <a:xfrm>
            <a:off x="487680" y="5425440"/>
            <a:ext cx="11216640" cy="390144"/>
          </a:xfrm>
          <a:prstGeom prst="rect">
            <a:avLst/>
          </a:prstGeom>
          <a:solidFill>
            <a:srgbClr val="1B2B45"/>
          </a:solidFill>
          <a:ln w="12700">
            <a:solidFill>
              <a:srgbClr val="1B2B45"/>
            </a:solidFill>
            <a:prstDash val="solid"/>
          </a:ln>
        </p:spPr>
        <p:txBody>
          <a:bodyPr/>
          <a:lstStyle/>
          <a:p>
            <a:endParaRPr lang="en-US" sz="2400"/>
          </a:p>
        </p:txBody>
      </p:sp>
      <p:sp>
        <p:nvSpPr>
          <p:cNvPr id="12" name="Text 8"/>
          <p:cNvSpPr/>
          <p:nvPr/>
        </p:nvSpPr>
        <p:spPr>
          <a:xfrm>
            <a:off x="670560" y="5425440"/>
            <a:ext cx="5608320" cy="390144"/>
          </a:xfrm>
          <a:prstGeom prst="rect">
            <a:avLst/>
          </a:prstGeom>
          <a:noFill/>
          <a:ln/>
        </p:spPr>
        <p:txBody>
          <a:bodyPr wrap="square" lIns="0" tIns="0" rIns="0" bIns="0" rtlCol="0" anchor="ctr"/>
          <a:lstStyle/>
          <a:p>
            <a:r>
              <a:rPr lang="en-US" sz="1133" dirty="0">
                <a:solidFill>
                  <a:srgbClr val="FFFFFF"/>
                </a:solidFill>
                <a:latin typeface="Calibri" pitchFamily="34" charset="0"/>
                <a:ea typeface="Calibri" pitchFamily="34" charset="-122"/>
                <a:cs typeface="Calibri" pitchFamily="34" charset="-120"/>
              </a:rPr>
              <a:t>RDD overall — Wilcoxon, 18 scenarios</a:t>
            </a:r>
            <a:endParaRPr lang="en-US" sz="1133" dirty="0"/>
          </a:p>
        </p:txBody>
      </p:sp>
      <p:sp>
        <p:nvSpPr>
          <p:cNvPr id="13" name="Text 9"/>
          <p:cNvSpPr/>
          <p:nvPr/>
        </p:nvSpPr>
        <p:spPr>
          <a:xfrm>
            <a:off x="6339840" y="5425440"/>
            <a:ext cx="5181600" cy="390144"/>
          </a:xfrm>
          <a:prstGeom prst="rect">
            <a:avLst/>
          </a:prstGeom>
          <a:noFill/>
          <a:ln/>
        </p:spPr>
        <p:txBody>
          <a:bodyPr wrap="square" lIns="0" tIns="0" rIns="0" bIns="0" rtlCol="0" anchor="ctr"/>
          <a:lstStyle/>
          <a:p>
            <a:pPr algn="r"/>
            <a:r>
              <a:rPr lang="en-US" sz="1133" b="1" dirty="0">
                <a:solidFill>
                  <a:srgbClr val="FFFFFF"/>
                </a:solidFill>
                <a:latin typeface="Calibri" pitchFamily="34" charset="0"/>
                <a:ea typeface="Calibri" pitchFamily="34" charset="-122"/>
                <a:cs typeface="Calibri" pitchFamily="34" charset="-120"/>
              </a:rPr>
              <a:t>W=68, p=0.468 — Not significant (confirmatory)</a:t>
            </a:r>
            <a:endParaRPr lang="en-US" sz="1133" dirty="0"/>
          </a:p>
        </p:txBody>
      </p:sp>
      <p:sp>
        <p:nvSpPr>
          <p:cNvPr id="14" name="Shape 10"/>
          <p:cNvSpPr/>
          <p:nvPr/>
        </p:nvSpPr>
        <p:spPr>
          <a:xfrm>
            <a:off x="487680" y="5864352"/>
            <a:ext cx="11216640" cy="390144"/>
          </a:xfrm>
          <a:prstGeom prst="rect">
            <a:avLst/>
          </a:prstGeom>
          <a:solidFill>
            <a:srgbClr val="D4A853"/>
          </a:solidFill>
          <a:ln w="12700">
            <a:solidFill>
              <a:srgbClr val="D4A853"/>
            </a:solidFill>
            <a:prstDash val="solid"/>
          </a:ln>
        </p:spPr>
        <p:txBody>
          <a:bodyPr/>
          <a:lstStyle/>
          <a:p>
            <a:endParaRPr lang="en-US" sz="2400"/>
          </a:p>
        </p:txBody>
      </p:sp>
      <p:sp>
        <p:nvSpPr>
          <p:cNvPr id="15" name="Text 11"/>
          <p:cNvSpPr/>
          <p:nvPr/>
        </p:nvSpPr>
        <p:spPr>
          <a:xfrm>
            <a:off x="670560" y="5864352"/>
            <a:ext cx="5608320" cy="390144"/>
          </a:xfrm>
          <a:prstGeom prst="rect">
            <a:avLst/>
          </a:prstGeom>
          <a:noFill/>
          <a:ln/>
        </p:spPr>
        <p:txBody>
          <a:bodyPr wrap="square" lIns="0" tIns="0" rIns="0" bIns="0" rtlCol="0" anchor="ctr"/>
          <a:lstStyle/>
          <a:p>
            <a:r>
              <a:rPr lang="en-US" sz="1133" dirty="0">
                <a:solidFill>
                  <a:srgbClr val="FFFFFF"/>
                </a:solidFill>
                <a:latin typeface="Calibri" pitchFamily="34" charset="0"/>
                <a:ea typeface="Calibri" pitchFamily="34" charset="-122"/>
                <a:cs typeface="Calibri" pitchFamily="34" charset="-120"/>
              </a:rPr>
              <a:t>RDD era-balanced scen. 10–14 — Binomial, n=5</a:t>
            </a:r>
            <a:endParaRPr lang="en-US" sz="1133" dirty="0"/>
          </a:p>
        </p:txBody>
      </p:sp>
      <p:sp>
        <p:nvSpPr>
          <p:cNvPr id="16" name="Text 12"/>
          <p:cNvSpPr/>
          <p:nvPr/>
        </p:nvSpPr>
        <p:spPr>
          <a:xfrm>
            <a:off x="6339840" y="5864352"/>
            <a:ext cx="5181600" cy="390144"/>
          </a:xfrm>
          <a:prstGeom prst="rect">
            <a:avLst/>
          </a:prstGeom>
          <a:noFill/>
          <a:ln/>
        </p:spPr>
        <p:txBody>
          <a:bodyPr wrap="square" lIns="0" tIns="0" rIns="0" bIns="0" rtlCol="0" anchor="ctr"/>
          <a:lstStyle/>
          <a:p>
            <a:pPr algn="r"/>
            <a:r>
              <a:rPr lang="en-US" sz="1133" b="1" dirty="0">
                <a:solidFill>
                  <a:srgbClr val="FFFFFF"/>
                </a:solidFill>
                <a:latin typeface="Calibri" pitchFamily="34" charset="0"/>
                <a:ea typeface="Calibri" pitchFamily="34" charset="-122"/>
                <a:cs typeface="Calibri" pitchFamily="34" charset="-120"/>
              </a:rPr>
              <a:t>5/5 wins, p=0.031 — POST-HOC EXPLORATORY ⚑ requires prospective validation</a:t>
            </a:r>
            <a:endParaRPr lang="en-US" sz="1133" dirty="0"/>
          </a:p>
        </p:txBody>
      </p:sp>
      <p:sp>
        <p:nvSpPr>
          <p:cNvPr id="17" name="Shape 13"/>
          <p:cNvSpPr/>
          <p:nvPr/>
        </p:nvSpPr>
        <p:spPr>
          <a:xfrm>
            <a:off x="487680" y="6303264"/>
            <a:ext cx="11216640" cy="390144"/>
          </a:xfrm>
          <a:prstGeom prst="rect">
            <a:avLst/>
          </a:prstGeom>
          <a:solidFill>
            <a:srgbClr val="B03A2E"/>
          </a:solidFill>
          <a:ln w="12700">
            <a:solidFill>
              <a:srgbClr val="B03A2E"/>
            </a:solidFill>
            <a:prstDash val="solid"/>
          </a:ln>
        </p:spPr>
        <p:txBody>
          <a:bodyPr/>
          <a:lstStyle/>
          <a:p>
            <a:endParaRPr lang="en-US" sz="2400"/>
          </a:p>
        </p:txBody>
      </p:sp>
      <p:sp>
        <p:nvSpPr>
          <p:cNvPr id="18" name="Text 14"/>
          <p:cNvSpPr/>
          <p:nvPr/>
        </p:nvSpPr>
        <p:spPr>
          <a:xfrm>
            <a:off x="670560" y="6303264"/>
            <a:ext cx="5608320" cy="390144"/>
          </a:xfrm>
          <a:prstGeom prst="rect">
            <a:avLst/>
          </a:prstGeom>
          <a:noFill/>
          <a:ln/>
        </p:spPr>
        <p:txBody>
          <a:bodyPr wrap="square" lIns="0" tIns="0" rIns="0" bIns="0" rtlCol="0" anchor="ctr"/>
          <a:lstStyle/>
          <a:p>
            <a:r>
              <a:rPr lang="en-US" sz="1133" dirty="0">
                <a:solidFill>
                  <a:srgbClr val="FFFFFF"/>
                </a:solidFill>
                <a:latin typeface="Calibri" pitchFamily="34" charset="0"/>
                <a:ea typeface="Calibri" pitchFamily="34" charset="-122"/>
                <a:cs typeface="Calibri" pitchFamily="34" charset="-120"/>
              </a:rPr>
              <a:t>RVV rule-firing scen. — Wilcoxon, 9 scenarios</a:t>
            </a:r>
            <a:endParaRPr lang="en-US" sz="1133" dirty="0"/>
          </a:p>
        </p:txBody>
      </p:sp>
      <p:sp>
        <p:nvSpPr>
          <p:cNvPr id="19" name="Text 15"/>
          <p:cNvSpPr/>
          <p:nvPr/>
        </p:nvSpPr>
        <p:spPr>
          <a:xfrm>
            <a:off x="6339840" y="6303264"/>
            <a:ext cx="5181600" cy="390144"/>
          </a:xfrm>
          <a:prstGeom prst="rect">
            <a:avLst/>
          </a:prstGeom>
          <a:noFill/>
          <a:ln/>
        </p:spPr>
        <p:txBody>
          <a:bodyPr wrap="square" lIns="0" tIns="0" rIns="0" bIns="0" rtlCol="0" anchor="ctr"/>
          <a:lstStyle/>
          <a:p>
            <a:pPr algn="r"/>
            <a:r>
              <a:rPr lang="en-US" sz="1133" b="1" dirty="0">
                <a:solidFill>
                  <a:srgbClr val="FFFFFF"/>
                </a:solidFill>
                <a:latin typeface="Calibri" pitchFamily="34" charset="0"/>
                <a:ea typeface="Calibri" pitchFamily="34" charset="-122"/>
                <a:cs typeface="Calibri" pitchFamily="34" charset="-120"/>
              </a:rPr>
              <a:t>W=0, p=0.004 — Rules actively harmful (confirmatory negative)</a:t>
            </a:r>
            <a:endParaRPr lang="en-US" sz="1133"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FFFFFF"/>
                </a:solidFill>
                <a:latin typeface="Calibri" pitchFamily="34" charset="0"/>
                <a:ea typeface="Calibri" pitchFamily="34" charset="-122"/>
                <a:cs typeface="Calibri" pitchFamily="34" charset="-120"/>
              </a:rPr>
              <a:t>Why Did Prediction Fail?</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A principled, multi-level explanation — diagnosing failure modes is itself a scientific contribution</a:t>
            </a:r>
            <a:endParaRPr lang="en-US" sz="1467" dirty="0"/>
          </a:p>
        </p:txBody>
      </p:sp>
      <p:sp>
        <p:nvSpPr>
          <p:cNvPr id="5" name="Shape 3"/>
          <p:cNvSpPr/>
          <p:nvPr/>
        </p:nvSpPr>
        <p:spPr>
          <a:xfrm>
            <a:off x="609600" y="1194816"/>
            <a:ext cx="10972800" cy="24384"/>
          </a:xfrm>
          <a:prstGeom prst="rect">
            <a:avLst/>
          </a:prstGeom>
          <a:solidFill>
            <a:srgbClr val="253756"/>
          </a:solidFill>
          <a:ln w="12700">
            <a:solidFill>
              <a:srgbClr val="253756"/>
            </a:solidFill>
            <a:prstDash val="solid"/>
          </a:ln>
        </p:spPr>
        <p:txBody>
          <a:bodyPr/>
          <a:lstStyle/>
          <a:p>
            <a:endParaRPr lang="en-US" sz="2400"/>
          </a:p>
        </p:txBody>
      </p:sp>
      <p:sp>
        <p:nvSpPr>
          <p:cNvPr id="6" name="Shape 4"/>
          <p:cNvSpPr/>
          <p:nvPr/>
        </p:nvSpPr>
        <p:spPr>
          <a:xfrm>
            <a:off x="548640" y="1341120"/>
            <a:ext cx="5364480" cy="2377440"/>
          </a:xfrm>
          <a:prstGeom prst="rect">
            <a:avLst/>
          </a:prstGeom>
          <a:solidFill>
            <a:srgbClr val="2E4A7C"/>
          </a:solidFill>
          <a:ln w="12700">
            <a:solidFill>
              <a:srgbClr val="2E4A7C"/>
            </a:solidFill>
            <a:prstDash val="solid"/>
          </a:ln>
        </p:spPr>
        <p:txBody>
          <a:bodyPr/>
          <a:lstStyle/>
          <a:p>
            <a:endParaRPr lang="en-US" sz="2400"/>
          </a:p>
        </p:txBody>
      </p:sp>
      <p:sp>
        <p:nvSpPr>
          <p:cNvPr id="7" name="Text 5"/>
          <p:cNvSpPr/>
          <p:nvPr/>
        </p:nvSpPr>
        <p:spPr>
          <a:xfrm>
            <a:off x="670560" y="1426464"/>
            <a:ext cx="487680" cy="512064"/>
          </a:xfrm>
          <a:prstGeom prst="rect">
            <a:avLst/>
          </a:prstGeom>
          <a:noFill/>
          <a:ln/>
        </p:spPr>
        <p:txBody>
          <a:bodyPr wrap="square" lIns="0" tIns="0" rIns="0" bIns="0" rtlCol="0" anchor="ctr"/>
          <a:lstStyle/>
          <a:p>
            <a:pPr algn="ctr"/>
            <a:r>
              <a:rPr lang="en-US" sz="2933" b="1" dirty="0">
                <a:solidFill>
                  <a:srgbClr val="D4A853"/>
                </a:solidFill>
                <a:latin typeface="Calibri" pitchFamily="34" charset="0"/>
                <a:ea typeface="Calibri" pitchFamily="34" charset="-122"/>
                <a:cs typeface="Calibri" pitchFamily="34" charset="-120"/>
              </a:rPr>
              <a:t>1</a:t>
            </a:r>
            <a:endParaRPr lang="en-US" sz="2933" dirty="0"/>
          </a:p>
        </p:txBody>
      </p:sp>
      <p:sp>
        <p:nvSpPr>
          <p:cNvPr id="8" name="Text 6"/>
          <p:cNvSpPr/>
          <p:nvPr/>
        </p:nvSpPr>
        <p:spPr>
          <a:xfrm>
            <a:off x="1231392" y="1426464"/>
            <a:ext cx="4584192"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Signal Too Weak for Prediction</a:t>
            </a:r>
            <a:endParaRPr lang="en-US" sz="1467" dirty="0"/>
          </a:p>
        </p:txBody>
      </p:sp>
      <p:sp>
        <p:nvSpPr>
          <p:cNvPr id="9" name="Shape 7"/>
          <p:cNvSpPr/>
          <p:nvPr/>
        </p:nvSpPr>
        <p:spPr>
          <a:xfrm>
            <a:off x="670560" y="1950720"/>
            <a:ext cx="5120640" cy="24384"/>
          </a:xfrm>
          <a:prstGeom prst="rect">
            <a:avLst/>
          </a:prstGeom>
          <a:solidFill>
            <a:srgbClr val="F5D78A"/>
          </a:solidFill>
          <a:ln w="12700">
            <a:solidFill>
              <a:srgbClr val="F5D78A"/>
            </a:solidFill>
            <a:prstDash val="solid"/>
          </a:ln>
        </p:spPr>
        <p:txBody>
          <a:bodyPr/>
          <a:lstStyle/>
          <a:p>
            <a:endParaRPr lang="en-US" sz="2400"/>
          </a:p>
        </p:txBody>
      </p:sp>
      <p:sp>
        <p:nvSpPr>
          <p:cNvPr id="10" name="Text 8"/>
          <p:cNvSpPr/>
          <p:nvPr/>
        </p:nvSpPr>
        <p:spPr>
          <a:xfrm>
            <a:off x="694944" y="2023872"/>
            <a:ext cx="5120640" cy="1584960"/>
          </a:xfrm>
          <a:prstGeom prst="rect">
            <a:avLst/>
          </a:prstGeom>
          <a:noFill/>
          <a:ln/>
        </p:spPr>
        <p:txBody>
          <a:bodyPr wrap="square" lIns="0" tIns="0" rIns="0" bIns="0" rtlCol="0" anchor="t"/>
          <a:lstStyle/>
          <a:p>
            <a:r>
              <a:rPr lang="en-US" sz="1173" dirty="0">
                <a:solidFill>
                  <a:srgbClr val="F0F4F8"/>
                </a:solidFill>
                <a:latin typeface="Calibri" pitchFamily="34" charset="0"/>
                <a:ea typeface="Calibri" pitchFamily="34" charset="-122"/>
                <a:cs typeface="Calibri" pitchFamily="34" charset="-120"/>
              </a:rPr>
              <a:t>Climate features explain ~22% of residual variance (|r|≈0.47, CV=47%). KS test needs only distributional shift to EXIST; prediction requires the shift to dominate over 78% unexplained noise. The association is real — it is just insufficient for reliable out-of-sample performance.</a:t>
            </a:r>
            <a:endParaRPr lang="en-US" sz="1173" dirty="0"/>
          </a:p>
        </p:txBody>
      </p:sp>
      <p:sp>
        <p:nvSpPr>
          <p:cNvPr id="11" name="Shape 9"/>
          <p:cNvSpPr/>
          <p:nvPr/>
        </p:nvSpPr>
        <p:spPr>
          <a:xfrm>
            <a:off x="6278880" y="1341120"/>
            <a:ext cx="5364480" cy="2377440"/>
          </a:xfrm>
          <a:prstGeom prst="rect">
            <a:avLst/>
          </a:prstGeom>
          <a:solidFill>
            <a:srgbClr val="0D7377"/>
          </a:solidFill>
          <a:ln w="12700">
            <a:solidFill>
              <a:srgbClr val="0D7377"/>
            </a:solidFill>
            <a:prstDash val="solid"/>
          </a:ln>
        </p:spPr>
        <p:txBody>
          <a:bodyPr/>
          <a:lstStyle/>
          <a:p>
            <a:endParaRPr lang="en-US" sz="2400"/>
          </a:p>
        </p:txBody>
      </p:sp>
      <p:sp>
        <p:nvSpPr>
          <p:cNvPr id="12" name="Text 10"/>
          <p:cNvSpPr/>
          <p:nvPr/>
        </p:nvSpPr>
        <p:spPr>
          <a:xfrm>
            <a:off x="6400800" y="1426464"/>
            <a:ext cx="487680" cy="512064"/>
          </a:xfrm>
          <a:prstGeom prst="rect">
            <a:avLst/>
          </a:prstGeom>
          <a:noFill/>
          <a:ln/>
        </p:spPr>
        <p:txBody>
          <a:bodyPr wrap="square" lIns="0" tIns="0" rIns="0" bIns="0" rtlCol="0" anchor="ctr"/>
          <a:lstStyle/>
          <a:p>
            <a:pPr algn="ctr"/>
            <a:r>
              <a:rPr lang="en-US" sz="2933" b="1" dirty="0">
                <a:solidFill>
                  <a:srgbClr val="D4A853"/>
                </a:solidFill>
                <a:latin typeface="Calibri" pitchFamily="34" charset="0"/>
                <a:ea typeface="Calibri" pitchFamily="34" charset="-122"/>
                <a:cs typeface="Calibri" pitchFamily="34" charset="-120"/>
              </a:rPr>
              <a:t>2</a:t>
            </a:r>
            <a:endParaRPr lang="en-US" sz="2933" dirty="0"/>
          </a:p>
        </p:txBody>
      </p:sp>
      <p:sp>
        <p:nvSpPr>
          <p:cNvPr id="13" name="Text 11"/>
          <p:cNvSpPr/>
          <p:nvPr/>
        </p:nvSpPr>
        <p:spPr>
          <a:xfrm>
            <a:off x="6961632" y="1426464"/>
            <a:ext cx="4584192"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Decision 1 / Decision 2 Structural Tension</a:t>
            </a:r>
            <a:endParaRPr lang="en-US" sz="1467" dirty="0"/>
          </a:p>
        </p:txBody>
      </p:sp>
      <p:sp>
        <p:nvSpPr>
          <p:cNvPr id="14" name="Shape 12"/>
          <p:cNvSpPr/>
          <p:nvPr/>
        </p:nvSpPr>
        <p:spPr>
          <a:xfrm>
            <a:off x="6400800" y="1950720"/>
            <a:ext cx="5120640" cy="24384"/>
          </a:xfrm>
          <a:prstGeom prst="rect">
            <a:avLst/>
          </a:prstGeom>
          <a:solidFill>
            <a:srgbClr val="F5D78A"/>
          </a:solidFill>
          <a:ln w="12700">
            <a:solidFill>
              <a:srgbClr val="F5D78A"/>
            </a:solidFill>
            <a:prstDash val="solid"/>
          </a:ln>
        </p:spPr>
        <p:txBody>
          <a:bodyPr/>
          <a:lstStyle/>
          <a:p>
            <a:endParaRPr lang="en-US" sz="2400"/>
          </a:p>
        </p:txBody>
      </p:sp>
      <p:sp>
        <p:nvSpPr>
          <p:cNvPr id="15" name="Text 13"/>
          <p:cNvSpPr/>
          <p:nvPr/>
        </p:nvSpPr>
        <p:spPr>
          <a:xfrm>
            <a:off x="6425184" y="2023872"/>
            <a:ext cx="5120640" cy="1584960"/>
          </a:xfrm>
          <a:prstGeom prst="rect">
            <a:avLst/>
          </a:prstGeom>
          <a:noFill/>
          <a:ln/>
        </p:spPr>
        <p:txBody>
          <a:bodyPr wrap="square" lIns="0" tIns="0" rIns="0" bIns="0" rtlCol="0" anchor="t"/>
          <a:lstStyle/>
          <a:p>
            <a:r>
              <a:rPr lang="en-US" sz="1173" dirty="0">
                <a:solidFill>
                  <a:srgbClr val="F0F4F8"/>
                </a:solidFill>
                <a:latin typeface="Calibri" pitchFamily="34" charset="0"/>
                <a:ea typeface="Calibri" pitchFamily="34" charset="-122"/>
                <a:cs typeface="Calibri" pitchFamily="34" charset="-120"/>
              </a:rPr>
              <a:t>Better detrending (LOESS) improves Decision 1 for RVV: 140→90 mhl (−36%) but eliminates ALL CarenR rules. The demands of accurate trend extrapolation and sufficient structured residuals for rule induction are in fundamental conflict under a time-only detrending covariate.</a:t>
            </a:r>
            <a:endParaRPr lang="en-US" sz="1173" dirty="0"/>
          </a:p>
        </p:txBody>
      </p:sp>
      <p:sp>
        <p:nvSpPr>
          <p:cNvPr id="16" name="Shape 14"/>
          <p:cNvSpPr/>
          <p:nvPr/>
        </p:nvSpPr>
        <p:spPr>
          <a:xfrm>
            <a:off x="548640" y="3901440"/>
            <a:ext cx="5364480" cy="2377440"/>
          </a:xfrm>
          <a:prstGeom prst="rect">
            <a:avLst/>
          </a:prstGeom>
          <a:solidFill>
            <a:srgbClr val="253756"/>
          </a:solidFill>
          <a:ln w="12700">
            <a:solidFill>
              <a:srgbClr val="253756"/>
            </a:solidFill>
            <a:prstDash val="solid"/>
          </a:ln>
        </p:spPr>
        <p:txBody>
          <a:bodyPr/>
          <a:lstStyle/>
          <a:p>
            <a:endParaRPr lang="en-US" sz="2400"/>
          </a:p>
        </p:txBody>
      </p:sp>
      <p:sp>
        <p:nvSpPr>
          <p:cNvPr id="17" name="Text 15"/>
          <p:cNvSpPr/>
          <p:nvPr/>
        </p:nvSpPr>
        <p:spPr>
          <a:xfrm>
            <a:off x="670560" y="3986784"/>
            <a:ext cx="487680" cy="512064"/>
          </a:xfrm>
          <a:prstGeom prst="rect">
            <a:avLst/>
          </a:prstGeom>
          <a:noFill/>
          <a:ln/>
        </p:spPr>
        <p:txBody>
          <a:bodyPr wrap="square" lIns="0" tIns="0" rIns="0" bIns="0" rtlCol="0" anchor="ctr"/>
          <a:lstStyle/>
          <a:p>
            <a:pPr algn="ctr"/>
            <a:r>
              <a:rPr lang="en-US" sz="2933" b="1" dirty="0">
                <a:solidFill>
                  <a:srgbClr val="D4A853"/>
                </a:solidFill>
                <a:latin typeface="Calibri" pitchFamily="34" charset="0"/>
                <a:ea typeface="Calibri" pitchFamily="34" charset="-122"/>
                <a:cs typeface="Calibri" pitchFamily="34" charset="-120"/>
              </a:rPr>
              <a:t>3</a:t>
            </a:r>
            <a:endParaRPr lang="en-US" sz="2933" dirty="0"/>
          </a:p>
        </p:txBody>
      </p:sp>
      <p:sp>
        <p:nvSpPr>
          <p:cNvPr id="18" name="Text 16"/>
          <p:cNvSpPr/>
          <p:nvPr/>
        </p:nvSpPr>
        <p:spPr>
          <a:xfrm>
            <a:off x="1231392" y="3986784"/>
            <a:ext cx="4584192"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Era Contamination of Training Folds</a:t>
            </a:r>
            <a:endParaRPr lang="en-US" sz="1467" dirty="0"/>
          </a:p>
        </p:txBody>
      </p:sp>
      <p:sp>
        <p:nvSpPr>
          <p:cNvPr id="19" name="Shape 17"/>
          <p:cNvSpPr/>
          <p:nvPr/>
        </p:nvSpPr>
        <p:spPr>
          <a:xfrm>
            <a:off x="670560" y="4511040"/>
            <a:ext cx="5120640" cy="24384"/>
          </a:xfrm>
          <a:prstGeom prst="rect">
            <a:avLst/>
          </a:prstGeom>
          <a:solidFill>
            <a:srgbClr val="F5D78A"/>
          </a:solidFill>
          <a:ln w="12700">
            <a:solidFill>
              <a:srgbClr val="F5D78A"/>
            </a:solidFill>
            <a:prstDash val="solid"/>
          </a:ln>
        </p:spPr>
        <p:txBody>
          <a:bodyPr/>
          <a:lstStyle/>
          <a:p>
            <a:endParaRPr lang="en-US" sz="2400"/>
          </a:p>
        </p:txBody>
      </p:sp>
      <p:sp>
        <p:nvSpPr>
          <p:cNvPr id="20" name="Text 18"/>
          <p:cNvSpPr/>
          <p:nvPr/>
        </p:nvSpPr>
        <p:spPr>
          <a:xfrm>
            <a:off x="694944" y="4584192"/>
            <a:ext cx="5120640" cy="1584960"/>
          </a:xfrm>
          <a:prstGeom prst="rect">
            <a:avLst/>
          </a:prstGeom>
          <a:noFill/>
          <a:ln/>
        </p:spPr>
        <p:txBody>
          <a:bodyPr wrap="square" lIns="0" tIns="0" rIns="0" bIns="0" rtlCol="0" anchor="t"/>
          <a:lstStyle/>
          <a:p>
            <a:r>
              <a:rPr lang="en-US" sz="1173" dirty="0">
                <a:solidFill>
                  <a:srgbClr val="F0F4F8"/>
                </a:solidFill>
                <a:latin typeface="Calibri" pitchFamily="34" charset="0"/>
                <a:ea typeface="Calibri" pitchFamily="34" charset="-122"/>
                <a:cs typeface="Calibri" pitchFamily="34" charset="-120"/>
              </a:rPr>
              <a:t>Training dominated by pre-1990 data produces rules calibrated on a production regime that no longer exists in test years. RVV dominant features retain only 15–16% correlation after era-trend removal. Era-specific rules fire on test years from a different regime and add noise rather than signal.</a:t>
            </a:r>
            <a:endParaRPr lang="en-US" sz="1173" dirty="0"/>
          </a:p>
        </p:txBody>
      </p:sp>
      <p:sp>
        <p:nvSpPr>
          <p:cNvPr id="21" name="Shape 19"/>
          <p:cNvSpPr/>
          <p:nvPr/>
        </p:nvSpPr>
        <p:spPr>
          <a:xfrm>
            <a:off x="6278880" y="3901440"/>
            <a:ext cx="5364480" cy="2377440"/>
          </a:xfrm>
          <a:prstGeom prst="rect">
            <a:avLst/>
          </a:prstGeom>
          <a:solidFill>
            <a:srgbClr val="B03A2E"/>
          </a:solidFill>
          <a:ln w="12700">
            <a:solidFill>
              <a:srgbClr val="B03A2E"/>
            </a:solidFill>
            <a:prstDash val="solid"/>
          </a:ln>
        </p:spPr>
        <p:txBody>
          <a:bodyPr/>
          <a:lstStyle/>
          <a:p>
            <a:endParaRPr lang="en-US" sz="2400"/>
          </a:p>
        </p:txBody>
      </p:sp>
      <p:sp>
        <p:nvSpPr>
          <p:cNvPr id="22" name="Text 20"/>
          <p:cNvSpPr/>
          <p:nvPr/>
        </p:nvSpPr>
        <p:spPr>
          <a:xfrm>
            <a:off x="6400800" y="3986784"/>
            <a:ext cx="487680" cy="512064"/>
          </a:xfrm>
          <a:prstGeom prst="rect">
            <a:avLst/>
          </a:prstGeom>
          <a:noFill/>
          <a:ln/>
        </p:spPr>
        <p:txBody>
          <a:bodyPr wrap="square" lIns="0" tIns="0" rIns="0" bIns="0" rtlCol="0" anchor="ctr"/>
          <a:lstStyle/>
          <a:p>
            <a:pPr algn="ctr"/>
            <a:r>
              <a:rPr lang="en-US" sz="2933" b="1" dirty="0">
                <a:solidFill>
                  <a:srgbClr val="D4A853"/>
                </a:solidFill>
                <a:latin typeface="Calibri" pitchFamily="34" charset="0"/>
                <a:ea typeface="Calibri" pitchFamily="34" charset="-122"/>
                <a:cs typeface="Calibri" pitchFamily="34" charset="-120"/>
              </a:rPr>
              <a:t>4</a:t>
            </a:r>
            <a:endParaRPr lang="en-US" sz="2933" dirty="0"/>
          </a:p>
        </p:txBody>
      </p:sp>
      <p:sp>
        <p:nvSpPr>
          <p:cNvPr id="23" name="Text 21"/>
          <p:cNvSpPr/>
          <p:nvPr/>
        </p:nvSpPr>
        <p:spPr>
          <a:xfrm>
            <a:off x="6961632" y="3986784"/>
            <a:ext cx="4584192" cy="512064"/>
          </a:xfrm>
          <a:prstGeom prst="rect">
            <a:avLst/>
          </a:prstGeom>
          <a:noFill/>
          <a:ln/>
        </p:spPr>
        <p:txBody>
          <a:bodyPr wrap="square" lIns="0" tIns="0" rIns="0" bIns="0" rtlCol="0" anchor="ctr"/>
          <a:lstStyle/>
          <a:p>
            <a:r>
              <a:rPr lang="en-US" sz="1467" b="1" dirty="0">
                <a:solidFill>
                  <a:srgbClr val="FFFFFF"/>
                </a:solidFill>
                <a:latin typeface="Calibri" pitchFamily="34" charset="0"/>
                <a:ea typeface="Calibri" pitchFamily="34" charset="-122"/>
                <a:cs typeface="Calibri" pitchFamily="34" charset="-120"/>
              </a:rPr>
              <a:t>Missing Structural Covariates</a:t>
            </a:r>
            <a:endParaRPr lang="en-US" sz="1467" dirty="0"/>
          </a:p>
        </p:txBody>
      </p:sp>
      <p:sp>
        <p:nvSpPr>
          <p:cNvPr id="24" name="Shape 22"/>
          <p:cNvSpPr/>
          <p:nvPr/>
        </p:nvSpPr>
        <p:spPr>
          <a:xfrm>
            <a:off x="6400800" y="4511040"/>
            <a:ext cx="5120640" cy="24384"/>
          </a:xfrm>
          <a:prstGeom prst="rect">
            <a:avLst/>
          </a:prstGeom>
          <a:solidFill>
            <a:srgbClr val="F5D78A"/>
          </a:solidFill>
          <a:ln w="12700">
            <a:solidFill>
              <a:srgbClr val="F5D78A"/>
            </a:solidFill>
            <a:prstDash val="solid"/>
          </a:ln>
        </p:spPr>
        <p:txBody>
          <a:bodyPr/>
          <a:lstStyle/>
          <a:p>
            <a:endParaRPr lang="en-US" sz="2400"/>
          </a:p>
        </p:txBody>
      </p:sp>
      <p:sp>
        <p:nvSpPr>
          <p:cNvPr id="25" name="Text 23"/>
          <p:cNvSpPr/>
          <p:nvPr/>
        </p:nvSpPr>
        <p:spPr>
          <a:xfrm>
            <a:off x="6425184" y="4584192"/>
            <a:ext cx="5120640" cy="1584960"/>
          </a:xfrm>
          <a:prstGeom prst="rect">
            <a:avLst/>
          </a:prstGeom>
          <a:noFill/>
          <a:ln/>
        </p:spPr>
        <p:txBody>
          <a:bodyPr wrap="square" lIns="0" tIns="0" rIns="0" bIns="0" rtlCol="0" anchor="t"/>
          <a:lstStyle/>
          <a:p>
            <a:r>
              <a:rPr lang="en-US" sz="1173" dirty="0">
                <a:solidFill>
                  <a:srgbClr val="F0F4F8"/>
                </a:solidFill>
                <a:latin typeface="Calibri" pitchFamily="34" charset="0"/>
                <a:ea typeface="Calibri" pitchFamily="34" charset="-122"/>
                <a:cs typeface="Calibri" pitchFamily="34" charset="-120"/>
              </a:rPr>
              <a:t>Non-climate factors (planted area, EU quotas, certified producers) drive structural production changes not captured by time-only detrending. These are the missing piece for Decision 1. Incorporating structural covariates into the trend model is the primary recommended future direction.</a:t>
            </a:r>
            <a:endParaRPr lang="en-US" sz="1173" dirty="0"/>
          </a:p>
        </p:txBody>
      </p:sp>
      <p:sp>
        <p:nvSpPr>
          <p:cNvPr id="26" name="Shape 24"/>
          <p:cNvSpPr/>
          <p:nvPr/>
        </p:nvSpPr>
        <p:spPr>
          <a:xfrm>
            <a:off x="548640" y="6437376"/>
            <a:ext cx="11094720" cy="304800"/>
          </a:xfrm>
          <a:prstGeom prst="rect">
            <a:avLst/>
          </a:prstGeom>
          <a:solidFill>
            <a:srgbClr val="D4A853"/>
          </a:solidFill>
          <a:ln w="12700">
            <a:solidFill>
              <a:srgbClr val="D4A853"/>
            </a:solidFill>
            <a:prstDash val="solid"/>
          </a:ln>
        </p:spPr>
        <p:txBody>
          <a:bodyPr/>
          <a:lstStyle/>
          <a:p>
            <a:endParaRPr lang="en-US" sz="2400"/>
          </a:p>
        </p:txBody>
      </p:sp>
      <p:sp>
        <p:nvSpPr>
          <p:cNvPr id="27" name="Text 25"/>
          <p:cNvSpPr/>
          <p:nvPr/>
        </p:nvSpPr>
        <p:spPr>
          <a:xfrm>
            <a:off x="548640" y="6437376"/>
            <a:ext cx="11094720" cy="304800"/>
          </a:xfrm>
          <a:prstGeom prst="rect">
            <a:avLst/>
          </a:prstGeom>
          <a:noFill/>
          <a:ln/>
        </p:spPr>
        <p:txBody>
          <a:bodyPr wrap="square" lIns="0" tIns="0" rIns="0" bIns="0" rtlCol="0" anchor="ctr"/>
          <a:lstStyle/>
          <a:p>
            <a:pPr algn="ctr"/>
            <a:r>
              <a:rPr lang="en-US" sz="1133" b="1" dirty="0">
                <a:solidFill>
                  <a:srgbClr val="0D1B2A"/>
                </a:solidFill>
                <a:latin typeface="Calibri" pitchFamily="34" charset="0"/>
                <a:ea typeface="Calibri" pitchFamily="34" charset="-122"/>
                <a:cs typeface="Calibri" pitchFamily="34" charset="-120"/>
              </a:rPr>
              <a:t>This is NOT a failure of CarenR. It is a property of the problem. Precisely characterising the failure mode is the methodological contribution.</a:t>
            </a:r>
            <a:endParaRPr lang="en-US" sz="1133"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Scientific Contributions</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Methodological advances transferable beyond wine production</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548640" y="1365504"/>
            <a:ext cx="85344" cy="877824"/>
          </a:xfrm>
          <a:prstGeom prst="rect">
            <a:avLst/>
          </a:prstGeom>
          <a:solidFill>
            <a:srgbClr val="0D7377"/>
          </a:solidFill>
          <a:ln w="12700">
            <a:solidFill>
              <a:srgbClr val="0D7377"/>
            </a:solidFill>
            <a:prstDash val="solid"/>
          </a:ln>
        </p:spPr>
        <p:txBody>
          <a:bodyPr/>
          <a:lstStyle/>
          <a:p>
            <a:endParaRPr lang="en-US" sz="2400"/>
          </a:p>
        </p:txBody>
      </p:sp>
      <p:sp>
        <p:nvSpPr>
          <p:cNvPr id="7" name="Shape 5"/>
          <p:cNvSpPr/>
          <p:nvPr/>
        </p:nvSpPr>
        <p:spPr>
          <a:xfrm>
            <a:off x="633984" y="1365504"/>
            <a:ext cx="10997184" cy="877824"/>
          </a:xfrm>
          <a:prstGeom prst="rect">
            <a:avLst/>
          </a:prstGeom>
          <a:solidFill>
            <a:srgbClr val="D8E2EE"/>
          </a:solidFill>
          <a:ln w="12700">
            <a:solidFill>
              <a:srgbClr val="D8E2EE"/>
            </a:solidFill>
            <a:prstDash val="solid"/>
          </a:ln>
        </p:spPr>
        <p:txBody>
          <a:bodyPr/>
          <a:lstStyle/>
          <a:p>
            <a:endParaRPr lang="en-US" sz="2400"/>
          </a:p>
        </p:txBody>
      </p:sp>
      <p:sp>
        <p:nvSpPr>
          <p:cNvPr id="8" name="Text 6"/>
          <p:cNvSpPr/>
          <p:nvPr/>
        </p:nvSpPr>
        <p:spPr>
          <a:xfrm>
            <a:off x="792480" y="1414272"/>
            <a:ext cx="7924800" cy="365760"/>
          </a:xfrm>
          <a:prstGeom prst="rect">
            <a:avLst/>
          </a:prstGeom>
          <a:noFill/>
          <a:ln/>
        </p:spPr>
        <p:txBody>
          <a:bodyPr wrap="square" lIns="0" tIns="0" rIns="0" bIns="0" rtlCol="0" anchor="ctr"/>
          <a:lstStyle/>
          <a:p>
            <a:r>
              <a:rPr lang="en-US" sz="1467" b="1" dirty="0">
                <a:solidFill>
                  <a:srgbClr val="0D1B2A"/>
                </a:solidFill>
                <a:latin typeface="Calibri" pitchFamily="34" charset="0"/>
                <a:ea typeface="Calibri" pitchFamily="34" charset="-122"/>
                <a:cs typeface="Calibri" pitchFamily="34" charset="-120"/>
              </a:rPr>
              <a:t>Two-Decision Decomposition Framework</a:t>
            </a:r>
            <a:endParaRPr lang="en-US" sz="1467" dirty="0"/>
          </a:p>
        </p:txBody>
      </p:sp>
      <p:sp>
        <p:nvSpPr>
          <p:cNvPr id="9" name="Text 7"/>
          <p:cNvSpPr/>
          <p:nvPr/>
        </p:nvSpPr>
        <p:spPr>
          <a:xfrm>
            <a:off x="9875520" y="1414272"/>
            <a:ext cx="1645920" cy="365760"/>
          </a:xfrm>
          <a:prstGeom prst="rect">
            <a:avLst/>
          </a:prstGeom>
          <a:noFill/>
          <a:ln/>
        </p:spPr>
        <p:txBody>
          <a:bodyPr wrap="square" lIns="0" tIns="0" rIns="0" bIns="0" rtlCol="0" anchor="ctr"/>
          <a:lstStyle/>
          <a:p>
            <a:pPr algn="r"/>
            <a:r>
              <a:rPr lang="en-US" sz="1067" b="1" i="1" dirty="0">
                <a:solidFill>
                  <a:srgbClr val="0D7377"/>
                </a:solidFill>
                <a:latin typeface="Calibri" pitchFamily="34" charset="0"/>
                <a:ea typeface="Calibri" pitchFamily="34" charset="-122"/>
                <a:cs typeface="Calibri" pitchFamily="34" charset="-120"/>
              </a:rPr>
              <a:t>Novel Framework</a:t>
            </a:r>
            <a:endParaRPr lang="en-US" sz="1067" dirty="0"/>
          </a:p>
        </p:txBody>
      </p:sp>
      <p:sp>
        <p:nvSpPr>
          <p:cNvPr id="10" name="Text 8"/>
          <p:cNvSpPr/>
          <p:nvPr/>
        </p:nvSpPr>
        <p:spPr>
          <a:xfrm>
            <a:off x="792480" y="1804416"/>
            <a:ext cx="10728960" cy="414528"/>
          </a:xfrm>
          <a:prstGeom prst="rect">
            <a:avLst/>
          </a:prstGeom>
          <a:noFill/>
          <a:ln/>
        </p:spPr>
        <p:txBody>
          <a:bodyPr wrap="square" lIns="0" tIns="0" rIns="0" bIns="0" rtlCol="0" anchor="t"/>
          <a:lstStyle/>
          <a:p>
            <a:r>
              <a:rPr lang="en-US" sz="1133" dirty="0">
                <a:solidFill>
                  <a:srgbClr val="7F8FA6"/>
                </a:solidFill>
                <a:latin typeface="Calibri" pitchFamily="34" charset="0"/>
                <a:ea typeface="Calibri" pitchFamily="34" charset="-122"/>
                <a:cs typeface="Calibri" pitchFamily="34" charset="-120"/>
              </a:rPr>
              <a:t>Separates prediction error into trend quality (Decision 1) and residual signal extraction (Decision 2). Transferable diagnostic tool for any agroclimatic forecasting problem with structural non-stationarity and climate signal co-existing.</a:t>
            </a:r>
            <a:endParaRPr lang="en-US" sz="1133" dirty="0"/>
          </a:p>
        </p:txBody>
      </p:sp>
      <p:sp>
        <p:nvSpPr>
          <p:cNvPr id="11" name="Shape 9"/>
          <p:cNvSpPr/>
          <p:nvPr/>
        </p:nvSpPr>
        <p:spPr>
          <a:xfrm>
            <a:off x="548640" y="2365248"/>
            <a:ext cx="85344" cy="877824"/>
          </a:xfrm>
          <a:prstGeom prst="rect">
            <a:avLst/>
          </a:prstGeom>
          <a:solidFill>
            <a:srgbClr val="2E4A7C"/>
          </a:solidFill>
          <a:ln w="12700">
            <a:solidFill>
              <a:srgbClr val="2E4A7C"/>
            </a:solidFill>
            <a:prstDash val="solid"/>
          </a:ln>
        </p:spPr>
        <p:txBody>
          <a:bodyPr/>
          <a:lstStyle/>
          <a:p>
            <a:endParaRPr lang="en-US" sz="2400"/>
          </a:p>
        </p:txBody>
      </p:sp>
      <p:sp>
        <p:nvSpPr>
          <p:cNvPr id="12" name="Shape 10"/>
          <p:cNvSpPr/>
          <p:nvPr/>
        </p:nvSpPr>
        <p:spPr>
          <a:xfrm>
            <a:off x="633984" y="2365248"/>
            <a:ext cx="10997184" cy="877824"/>
          </a:xfrm>
          <a:prstGeom prst="rect">
            <a:avLst/>
          </a:prstGeom>
          <a:solidFill>
            <a:srgbClr val="D8E2EE"/>
          </a:solidFill>
          <a:ln w="12700">
            <a:solidFill>
              <a:srgbClr val="D8E2EE"/>
            </a:solidFill>
            <a:prstDash val="solid"/>
          </a:ln>
        </p:spPr>
        <p:txBody>
          <a:bodyPr/>
          <a:lstStyle/>
          <a:p>
            <a:endParaRPr lang="en-US" sz="2400"/>
          </a:p>
        </p:txBody>
      </p:sp>
      <p:sp>
        <p:nvSpPr>
          <p:cNvPr id="13" name="Text 11"/>
          <p:cNvSpPr/>
          <p:nvPr/>
        </p:nvSpPr>
        <p:spPr>
          <a:xfrm>
            <a:off x="792480" y="2414016"/>
            <a:ext cx="7924800" cy="365760"/>
          </a:xfrm>
          <a:prstGeom prst="rect">
            <a:avLst/>
          </a:prstGeom>
          <a:noFill/>
          <a:ln/>
        </p:spPr>
        <p:txBody>
          <a:bodyPr wrap="square" lIns="0" tIns="0" rIns="0" bIns="0" rtlCol="0" anchor="ctr"/>
          <a:lstStyle/>
          <a:p>
            <a:r>
              <a:rPr lang="en-US" sz="1467" b="1" dirty="0">
                <a:solidFill>
                  <a:srgbClr val="0D1B2A"/>
                </a:solidFill>
                <a:latin typeface="Calibri" pitchFamily="34" charset="0"/>
                <a:ea typeface="Calibri" pitchFamily="34" charset="-122"/>
                <a:cs typeface="Calibri" pitchFamily="34" charset="-120"/>
              </a:rPr>
              <a:t>Systematic 11-Variant CarenR Sensitivity Analysis</a:t>
            </a:r>
            <a:endParaRPr lang="en-US" sz="1467" dirty="0"/>
          </a:p>
        </p:txBody>
      </p:sp>
      <p:sp>
        <p:nvSpPr>
          <p:cNvPr id="14" name="Text 12"/>
          <p:cNvSpPr/>
          <p:nvPr/>
        </p:nvSpPr>
        <p:spPr>
          <a:xfrm>
            <a:off x="9875520" y="2414016"/>
            <a:ext cx="1645920" cy="365760"/>
          </a:xfrm>
          <a:prstGeom prst="rect">
            <a:avLst/>
          </a:prstGeom>
          <a:noFill/>
          <a:ln/>
        </p:spPr>
        <p:txBody>
          <a:bodyPr wrap="square" lIns="0" tIns="0" rIns="0" bIns="0" rtlCol="0" anchor="ctr"/>
          <a:lstStyle/>
          <a:p>
            <a:pPr algn="r"/>
            <a:r>
              <a:rPr lang="en-US" sz="1067" b="1" i="1" dirty="0">
                <a:solidFill>
                  <a:srgbClr val="2E4A7C"/>
                </a:solidFill>
                <a:latin typeface="Calibri" pitchFamily="34" charset="0"/>
                <a:ea typeface="Calibri" pitchFamily="34" charset="-122"/>
                <a:cs typeface="Calibri" pitchFamily="34" charset="-120"/>
              </a:rPr>
              <a:t>Algorithm Analysis</a:t>
            </a:r>
            <a:endParaRPr lang="en-US" sz="1067" dirty="0"/>
          </a:p>
        </p:txBody>
      </p:sp>
      <p:sp>
        <p:nvSpPr>
          <p:cNvPr id="15" name="Text 13"/>
          <p:cNvSpPr/>
          <p:nvPr/>
        </p:nvSpPr>
        <p:spPr>
          <a:xfrm>
            <a:off x="792480" y="2804160"/>
            <a:ext cx="10728960" cy="414528"/>
          </a:xfrm>
          <a:prstGeom prst="rect">
            <a:avLst/>
          </a:prstGeom>
          <a:noFill/>
          <a:ln/>
        </p:spPr>
        <p:txBody>
          <a:bodyPr wrap="square" lIns="0" tIns="0" rIns="0" bIns="0" rtlCol="0" anchor="t"/>
          <a:lstStyle/>
          <a:p>
            <a:r>
              <a:rPr lang="en-US" sz="1133" dirty="0">
                <a:solidFill>
                  <a:srgbClr val="7F8FA6"/>
                </a:solidFill>
                <a:latin typeface="Calibri" pitchFamily="34" charset="0"/>
                <a:ea typeface="Calibri" pitchFamily="34" charset="-122"/>
                <a:cs typeface="Calibri" pitchFamily="34" charset="-120"/>
              </a:rPr>
              <a:t>Structured evaluation shows optimal configuration is problem-specific: η² outperforms under strong signal (Douro); conservative Sup_FS outperforms when fallback-to-median dominates (Vinho Verde). Motivates structured variant evaluation over a priori configuration choice.</a:t>
            </a:r>
            <a:endParaRPr lang="en-US" sz="1133" dirty="0"/>
          </a:p>
        </p:txBody>
      </p:sp>
      <p:sp>
        <p:nvSpPr>
          <p:cNvPr id="16" name="Shape 14"/>
          <p:cNvSpPr/>
          <p:nvPr/>
        </p:nvSpPr>
        <p:spPr>
          <a:xfrm>
            <a:off x="548640" y="3364992"/>
            <a:ext cx="85344" cy="877824"/>
          </a:xfrm>
          <a:prstGeom prst="rect">
            <a:avLst/>
          </a:prstGeom>
          <a:solidFill>
            <a:srgbClr val="1B2B45"/>
          </a:solidFill>
          <a:ln w="12700">
            <a:solidFill>
              <a:srgbClr val="1B2B45"/>
            </a:solidFill>
            <a:prstDash val="solid"/>
          </a:ln>
        </p:spPr>
        <p:txBody>
          <a:bodyPr/>
          <a:lstStyle/>
          <a:p>
            <a:endParaRPr lang="en-US" sz="2400"/>
          </a:p>
        </p:txBody>
      </p:sp>
      <p:sp>
        <p:nvSpPr>
          <p:cNvPr id="17" name="Shape 15"/>
          <p:cNvSpPr/>
          <p:nvPr/>
        </p:nvSpPr>
        <p:spPr>
          <a:xfrm>
            <a:off x="633984" y="3364992"/>
            <a:ext cx="10997184" cy="877824"/>
          </a:xfrm>
          <a:prstGeom prst="rect">
            <a:avLst/>
          </a:prstGeom>
          <a:solidFill>
            <a:srgbClr val="D8E2EE"/>
          </a:solidFill>
          <a:ln w="12700">
            <a:solidFill>
              <a:srgbClr val="D8E2EE"/>
            </a:solidFill>
            <a:prstDash val="solid"/>
          </a:ln>
        </p:spPr>
        <p:txBody>
          <a:bodyPr/>
          <a:lstStyle/>
          <a:p>
            <a:endParaRPr lang="en-US" sz="2400"/>
          </a:p>
        </p:txBody>
      </p:sp>
      <p:sp>
        <p:nvSpPr>
          <p:cNvPr id="18" name="Text 16"/>
          <p:cNvSpPr/>
          <p:nvPr/>
        </p:nvSpPr>
        <p:spPr>
          <a:xfrm>
            <a:off x="792480" y="3413760"/>
            <a:ext cx="7924800" cy="365760"/>
          </a:xfrm>
          <a:prstGeom prst="rect">
            <a:avLst/>
          </a:prstGeom>
          <a:noFill/>
          <a:ln/>
        </p:spPr>
        <p:txBody>
          <a:bodyPr wrap="square" lIns="0" tIns="0" rIns="0" bIns="0" rtlCol="0" anchor="ctr"/>
          <a:lstStyle/>
          <a:p>
            <a:r>
              <a:rPr lang="en-US" sz="1467" b="1" dirty="0">
                <a:solidFill>
                  <a:srgbClr val="0D1B2A"/>
                </a:solidFill>
                <a:latin typeface="Calibri" pitchFamily="34" charset="0"/>
                <a:ea typeface="Calibri" pitchFamily="34" charset="-122"/>
                <a:cs typeface="Calibri" pitchFamily="34" charset="-120"/>
              </a:rPr>
              <a:t>Era-Composition Analysis &amp; Conditional Regime Discovery</a:t>
            </a:r>
            <a:endParaRPr lang="en-US" sz="1467" dirty="0"/>
          </a:p>
        </p:txBody>
      </p:sp>
      <p:sp>
        <p:nvSpPr>
          <p:cNvPr id="19" name="Text 17"/>
          <p:cNvSpPr/>
          <p:nvPr/>
        </p:nvSpPr>
        <p:spPr>
          <a:xfrm>
            <a:off x="9875520" y="3413760"/>
            <a:ext cx="1645920" cy="365760"/>
          </a:xfrm>
          <a:prstGeom prst="rect">
            <a:avLst/>
          </a:prstGeom>
          <a:noFill/>
          <a:ln/>
        </p:spPr>
        <p:txBody>
          <a:bodyPr wrap="square" lIns="0" tIns="0" rIns="0" bIns="0" rtlCol="0" anchor="ctr"/>
          <a:lstStyle/>
          <a:p>
            <a:pPr algn="r"/>
            <a:r>
              <a:rPr lang="en-US" sz="1067" b="1" i="1" dirty="0">
                <a:solidFill>
                  <a:srgbClr val="1B2B45"/>
                </a:solidFill>
                <a:latin typeface="Calibri" pitchFamily="34" charset="0"/>
                <a:ea typeface="Calibri" pitchFamily="34" charset="-122"/>
                <a:cs typeface="Calibri" pitchFamily="34" charset="-120"/>
              </a:rPr>
              <a:t>Evaluation Design</a:t>
            </a:r>
            <a:endParaRPr lang="en-US" sz="1067" dirty="0"/>
          </a:p>
        </p:txBody>
      </p:sp>
      <p:sp>
        <p:nvSpPr>
          <p:cNvPr id="20" name="Text 18"/>
          <p:cNvSpPr/>
          <p:nvPr/>
        </p:nvSpPr>
        <p:spPr>
          <a:xfrm>
            <a:off x="792480" y="3803904"/>
            <a:ext cx="10728960" cy="414528"/>
          </a:xfrm>
          <a:prstGeom prst="rect">
            <a:avLst/>
          </a:prstGeom>
          <a:noFill/>
          <a:ln/>
        </p:spPr>
        <p:txBody>
          <a:bodyPr wrap="square" lIns="0" tIns="0" rIns="0" bIns="0" rtlCol="0" anchor="t"/>
          <a:lstStyle/>
          <a:p>
            <a:r>
              <a:rPr lang="en-US" sz="1133" dirty="0">
                <a:solidFill>
                  <a:srgbClr val="7F8FA6"/>
                </a:solidFill>
                <a:latin typeface="Calibri" pitchFamily="34" charset="0"/>
                <a:ea typeface="Calibri" pitchFamily="34" charset="-122"/>
                <a:cs typeface="Calibri" pitchFamily="34" charset="-120"/>
              </a:rPr>
              <a:t>Walk-forward evaluation reveals a conditional regime in RDD: CarenR consistently outperforms baseline when training reaches ≥29% modern-era representation (5/5 wins, post-hoc exploratory p=0.031). More actionable than binary success/failure.</a:t>
            </a:r>
            <a:endParaRPr lang="en-US" sz="1133" dirty="0"/>
          </a:p>
        </p:txBody>
      </p:sp>
      <p:sp>
        <p:nvSpPr>
          <p:cNvPr id="21" name="Shape 19"/>
          <p:cNvSpPr/>
          <p:nvPr/>
        </p:nvSpPr>
        <p:spPr>
          <a:xfrm>
            <a:off x="548640" y="4364736"/>
            <a:ext cx="85344" cy="877824"/>
          </a:xfrm>
          <a:prstGeom prst="rect">
            <a:avLst/>
          </a:prstGeom>
          <a:solidFill>
            <a:srgbClr val="0D7377"/>
          </a:solidFill>
          <a:ln w="12700">
            <a:solidFill>
              <a:srgbClr val="0D7377"/>
            </a:solidFill>
            <a:prstDash val="solid"/>
          </a:ln>
        </p:spPr>
        <p:txBody>
          <a:bodyPr/>
          <a:lstStyle/>
          <a:p>
            <a:endParaRPr lang="en-US" sz="2400"/>
          </a:p>
        </p:txBody>
      </p:sp>
      <p:sp>
        <p:nvSpPr>
          <p:cNvPr id="22" name="Shape 20"/>
          <p:cNvSpPr/>
          <p:nvPr/>
        </p:nvSpPr>
        <p:spPr>
          <a:xfrm>
            <a:off x="633984" y="4364736"/>
            <a:ext cx="10997184" cy="877824"/>
          </a:xfrm>
          <a:prstGeom prst="rect">
            <a:avLst/>
          </a:prstGeom>
          <a:solidFill>
            <a:srgbClr val="D8E2EE"/>
          </a:solidFill>
          <a:ln w="12700">
            <a:solidFill>
              <a:srgbClr val="D8E2EE"/>
            </a:solidFill>
            <a:prstDash val="solid"/>
          </a:ln>
        </p:spPr>
        <p:txBody>
          <a:bodyPr/>
          <a:lstStyle/>
          <a:p>
            <a:endParaRPr lang="en-US" sz="2400"/>
          </a:p>
        </p:txBody>
      </p:sp>
      <p:sp>
        <p:nvSpPr>
          <p:cNvPr id="23" name="Text 21"/>
          <p:cNvSpPr/>
          <p:nvPr/>
        </p:nvSpPr>
        <p:spPr>
          <a:xfrm>
            <a:off x="792480" y="4413504"/>
            <a:ext cx="7924800" cy="365760"/>
          </a:xfrm>
          <a:prstGeom prst="rect">
            <a:avLst/>
          </a:prstGeom>
          <a:noFill/>
          <a:ln/>
        </p:spPr>
        <p:txBody>
          <a:bodyPr wrap="square" lIns="0" tIns="0" rIns="0" bIns="0" rtlCol="0" anchor="ctr"/>
          <a:lstStyle/>
          <a:p>
            <a:r>
              <a:rPr lang="en-US" sz="1467" b="1" dirty="0">
                <a:solidFill>
                  <a:srgbClr val="0D1B2A"/>
                </a:solidFill>
                <a:latin typeface="Calibri" pitchFamily="34" charset="0"/>
                <a:ea typeface="Calibri" pitchFamily="34" charset="-122"/>
                <a:cs typeface="Calibri" pitchFamily="34" charset="-120"/>
              </a:rPr>
              <a:t>Cross-Algorithm Feature Convergence Validation</a:t>
            </a:r>
            <a:endParaRPr lang="en-US" sz="1467" dirty="0"/>
          </a:p>
        </p:txBody>
      </p:sp>
      <p:sp>
        <p:nvSpPr>
          <p:cNvPr id="24" name="Text 22"/>
          <p:cNvSpPr/>
          <p:nvPr/>
        </p:nvSpPr>
        <p:spPr>
          <a:xfrm>
            <a:off x="9875520" y="4413504"/>
            <a:ext cx="1645920" cy="365760"/>
          </a:xfrm>
          <a:prstGeom prst="rect">
            <a:avLst/>
          </a:prstGeom>
          <a:noFill/>
          <a:ln/>
        </p:spPr>
        <p:txBody>
          <a:bodyPr wrap="square" lIns="0" tIns="0" rIns="0" bIns="0" rtlCol="0" anchor="ctr"/>
          <a:lstStyle/>
          <a:p>
            <a:pPr algn="r"/>
            <a:r>
              <a:rPr lang="en-US" sz="1067" b="1" i="1" dirty="0">
                <a:solidFill>
                  <a:srgbClr val="0D7377"/>
                </a:solidFill>
                <a:latin typeface="Calibri" pitchFamily="34" charset="0"/>
                <a:ea typeface="Calibri" pitchFamily="34" charset="-122"/>
                <a:cs typeface="Calibri" pitchFamily="34" charset="-120"/>
              </a:rPr>
              <a:t>Validation Method</a:t>
            </a:r>
            <a:endParaRPr lang="en-US" sz="1067" dirty="0"/>
          </a:p>
        </p:txBody>
      </p:sp>
      <p:sp>
        <p:nvSpPr>
          <p:cNvPr id="25" name="Text 23"/>
          <p:cNvSpPr/>
          <p:nvPr/>
        </p:nvSpPr>
        <p:spPr>
          <a:xfrm>
            <a:off x="792480" y="4803648"/>
            <a:ext cx="10728960" cy="414528"/>
          </a:xfrm>
          <a:prstGeom prst="rect">
            <a:avLst/>
          </a:prstGeom>
          <a:noFill/>
          <a:ln/>
        </p:spPr>
        <p:txBody>
          <a:bodyPr wrap="square" lIns="0" tIns="0" rIns="0" bIns="0" rtlCol="0" anchor="t"/>
          <a:lstStyle/>
          <a:p>
            <a:r>
              <a:rPr lang="en-US" sz="1133" dirty="0">
                <a:solidFill>
                  <a:srgbClr val="7F8FA6"/>
                </a:solidFill>
                <a:latin typeface="Calibri" pitchFamily="34" charset="0"/>
                <a:ea typeface="Calibri" pitchFamily="34" charset="-122"/>
                <a:cs typeface="Calibri" pitchFamily="34" charset="-120"/>
              </a:rPr>
              <a:t>RIPPER (FOIL gain) and M5Rules (MSE reduction) independently identify the same feature families as CarenR (KS test) across both regions. Three optimisation criteria, one answer — strong multi-angle evidence of genuine data structure.</a:t>
            </a:r>
            <a:endParaRPr lang="en-US" sz="1133" dirty="0"/>
          </a:p>
        </p:txBody>
      </p:sp>
      <p:sp>
        <p:nvSpPr>
          <p:cNvPr id="26" name="Shape 24"/>
          <p:cNvSpPr/>
          <p:nvPr/>
        </p:nvSpPr>
        <p:spPr>
          <a:xfrm>
            <a:off x="548640" y="5364480"/>
            <a:ext cx="85344" cy="877824"/>
          </a:xfrm>
          <a:prstGeom prst="rect">
            <a:avLst/>
          </a:prstGeom>
          <a:solidFill>
            <a:srgbClr val="2E4A7C"/>
          </a:solidFill>
          <a:ln w="12700">
            <a:solidFill>
              <a:srgbClr val="2E4A7C"/>
            </a:solidFill>
            <a:prstDash val="solid"/>
          </a:ln>
        </p:spPr>
        <p:txBody>
          <a:bodyPr/>
          <a:lstStyle/>
          <a:p>
            <a:endParaRPr lang="en-US" sz="2400"/>
          </a:p>
        </p:txBody>
      </p:sp>
      <p:sp>
        <p:nvSpPr>
          <p:cNvPr id="27" name="Shape 25"/>
          <p:cNvSpPr/>
          <p:nvPr/>
        </p:nvSpPr>
        <p:spPr>
          <a:xfrm>
            <a:off x="633984" y="5364480"/>
            <a:ext cx="10997184" cy="877824"/>
          </a:xfrm>
          <a:prstGeom prst="rect">
            <a:avLst/>
          </a:prstGeom>
          <a:solidFill>
            <a:srgbClr val="D8E2EE"/>
          </a:solidFill>
          <a:ln w="12700">
            <a:solidFill>
              <a:srgbClr val="D8E2EE"/>
            </a:solidFill>
            <a:prstDash val="solid"/>
          </a:ln>
        </p:spPr>
        <p:txBody>
          <a:bodyPr/>
          <a:lstStyle/>
          <a:p>
            <a:endParaRPr lang="en-US" sz="2400"/>
          </a:p>
        </p:txBody>
      </p:sp>
      <p:sp>
        <p:nvSpPr>
          <p:cNvPr id="28" name="Text 26"/>
          <p:cNvSpPr/>
          <p:nvPr/>
        </p:nvSpPr>
        <p:spPr>
          <a:xfrm>
            <a:off x="792480" y="5413248"/>
            <a:ext cx="7924800" cy="365760"/>
          </a:xfrm>
          <a:prstGeom prst="rect">
            <a:avLst/>
          </a:prstGeom>
          <a:noFill/>
          <a:ln/>
        </p:spPr>
        <p:txBody>
          <a:bodyPr wrap="square" lIns="0" tIns="0" rIns="0" bIns="0" rtlCol="0" anchor="ctr"/>
          <a:lstStyle/>
          <a:p>
            <a:r>
              <a:rPr lang="en-US" sz="1467" b="1" dirty="0">
                <a:solidFill>
                  <a:srgbClr val="0D1B2A"/>
                </a:solidFill>
                <a:latin typeface="Calibri" pitchFamily="34" charset="0"/>
                <a:ea typeface="Calibri" pitchFamily="34" charset="-122"/>
                <a:cs typeface="Calibri" pitchFamily="34" charset="-120"/>
              </a:rPr>
              <a:t>LOESS Era-Signal Validation Protocol</a:t>
            </a:r>
            <a:endParaRPr lang="en-US" sz="1467" dirty="0"/>
          </a:p>
        </p:txBody>
      </p:sp>
      <p:sp>
        <p:nvSpPr>
          <p:cNvPr id="29" name="Text 27"/>
          <p:cNvSpPr/>
          <p:nvPr/>
        </p:nvSpPr>
        <p:spPr>
          <a:xfrm>
            <a:off x="9875520" y="5413248"/>
            <a:ext cx="1645920" cy="365760"/>
          </a:xfrm>
          <a:prstGeom prst="rect">
            <a:avLst/>
          </a:prstGeom>
          <a:noFill/>
          <a:ln/>
        </p:spPr>
        <p:txBody>
          <a:bodyPr wrap="square" lIns="0" tIns="0" rIns="0" bIns="0" rtlCol="0" anchor="ctr"/>
          <a:lstStyle/>
          <a:p>
            <a:pPr algn="r"/>
            <a:r>
              <a:rPr lang="en-US" sz="1067" b="1" i="1" dirty="0">
                <a:solidFill>
                  <a:srgbClr val="2E4A7C"/>
                </a:solidFill>
                <a:latin typeface="Calibri" pitchFamily="34" charset="0"/>
                <a:ea typeface="Calibri" pitchFamily="34" charset="-122"/>
                <a:cs typeface="Calibri" pitchFamily="34" charset="-120"/>
              </a:rPr>
              <a:t>Validation Protocol</a:t>
            </a:r>
            <a:endParaRPr lang="en-US" sz="1067" dirty="0"/>
          </a:p>
        </p:txBody>
      </p:sp>
      <p:sp>
        <p:nvSpPr>
          <p:cNvPr id="30" name="Text 28"/>
          <p:cNvSpPr/>
          <p:nvPr/>
        </p:nvSpPr>
        <p:spPr>
          <a:xfrm>
            <a:off x="792480" y="5803392"/>
            <a:ext cx="10728960" cy="414528"/>
          </a:xfrm>
          <a:prstGeom prst="rect">
            <a:avLst/>
          </a:prstGeom>
          <a:noFill/>
          <a:ln/>
        </p:spPr>
        <p:txBody>
          <a:bodyPr wrap="square" lIns="0" tIns="0" rIns="0" bIns="0" rtlCol="0" anchor="t"/>
          <a:lstStyle/>
          <a:p>
            <a:r>
              <a:rPr lang="en-US" sz="1133" dirty="0">
                <a:solidFill>
                  <a:srgbClr val="7F8FA6"/>
                </a:solidFill>
                <a:latin typeface="Calibri" pitchFamily="34" charset="0"/>
                <a:ea typeface="Calibri" pitchFamily="34" charset="-122"/>
                <a:cs typeface="Calibri" pitchFamily="34" charset="-120"/>
              </a:rPr>
              <a:t>LOESS detrending as a stress test quantifies what fraction of correlation is genuine within-era signal vs. era co-variation. RDD: 90–125% retention. RVV: 15–16% collapse. Reusable protocol for any non-stationary time series with distributional rule learning.</a:t>
            </a:r>
            <a:endParaRPr lang="en-US" sz="1133"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2933" b="1" dirty="0">
                <a:solidFill>
                  <a:srgbClr val="0D1B2A"/>
                </a:solidFill>
                <a:latin typeface="Calibri" pitchFamily="34" charset="0"/>
                <a:ea typeface="Calibri" pitchFamily="34" charset="-122"/>
                <a:cs typeface="Calibri" pitchFamily="34" charset="-120"/>
              </a:rPr>
              <a:t>Limitations &amp; Future Work</a:t>
            </a:r>
            <a:endParaRPr lang="en-US" sz="2933" dirty="0"/>
          </a:p>
        </p:txBody>
      </p:sp>
      <p:sp>
        <p:nvSpPr>
          <p:cNvPr id="4" name="Text 2"/>
          <p:cNvSpPr/>
          <p:nvPr/>
        </p:nvSpPr>
        <p:spPr>
          <a:xfrm>
            <a:off x="609600" y="816864"/>
            <a:ext cx="10972800" cy="341376"/>
          </a:xfrm>
          <a:prstGeom prst="rect">
            <a:avLst/>
          </a:prstGeom>
          <a:noFill/>
          <a:ln/>
        </p:spPr>
        <p:txBody>
          <a:bodyPr wrap="square" lIns="0" tIns="0" rIns="0" bIns="0" rtlCol="0" anchor="ctr"/>
          <a:lstStyle/>
          <a:p>
            <a:r>
              <a:rPr lang="en-US" sz="1467" i="1" dirty="0">
                <a:solidFill>
                  <a:srgbClr val="D4A853"/>
                </a:solidFill>
                <a:latin typeface="Calibri" pitchFamily="34" charset="0"/>
                <a:ea typeface="Calibri" pitchFamily="34" charset="-122"/>
                <a:cs typeface="Calibri" pitchFamily="34" charset="-120"/>
              </a:rPr>
              <a:t>Where the thesis stops — and the path forward</a:t>
            </a:r>
            <a:endParaRPr lang="en-US" sz="1467" dirty="0"/>
          </a:p>
        </p:txBody>
      </p:sp>
      <p:sp>
        <p:nvSpPr>
          <p:cNvPr id="5" name="Shape 3"/>
          <p:cNvSpPr/>
          <p:nvPr/>
        </p:nvSpPr>
        <p:spPr>
          <a:xfrm>
            <a:off x="609600" y="1194816"/>
            <a:ext cx="10972800" cy="24384"/>
          </a:xfrm>
          <a:prstGeom prst="rect">
            <a:avLst/>
          </a:prstGeom>
          <a:solidFill>
            <a:srgbClr val="D8E2EE"/>
          </a:solidFill>
          <a:ln w="12700">
            <a:solidFill>
              <a:srgbClr val="D8E2EE"/>
            </a:solidFill>
            <a:prstDash val="solid"/>
          </a:ln>
        </p:spPr>
        <p:txBody>
          <a:bodyPr/>
          <a:lstStyle/>
          <a:p>
            <a:endParaRPr lang="en-US" sz="2400"/>
          </a:p>
        </p:txBody>
      </p:sp>
      <p:sp>
        <p:nvSpPr>
          <p:cNvPr id="6" name="Shape 4"/>
          <p:cNvSpPr/>
          <p:nvPr/>
        </p:nvSpPr>
        <p:spPr>
          <a:xfrm>
            <a:off x="548640" y="1341120"/>
            <a:ext cx="5242560" cy="463296"/>
          </a:xfrm>
          <a:prstGeom prst="rect">
            <a:avLst/>
          </a:prstGeom>
          <a:solidFill>
            <a:srgbClr val="B03A2E"/>
          </a:solidFill>
          <a:ln w="12700">
            <a:solidFill>
              <a:srgbClr val="B03A2E"/>
            </a:solidFill>
            <a:prstDash val="solid"/>
          </a:ln>
        </p:spPr>
        <p:txBody>
          <a:bodyPr/>
          <a:lstStyle/>
          <a:p>
            <a:endParaRPr lang="en-US" sz="2400"/>
          </a:p>
        </p:txBody>
      </p:sp>
      <p:sp>
        <p:nvSpPr>
          <p:cNvPr id="7" name="Text 5"/>
          <p:cNvSpPr/>
          <p:nvPr/>
        </p:nvSpPr>
        <p:spPr>
          <a:xfrm>
            <a:off x="548640" y="1341120"/>
            <a:ext cx="5242560" cy="463296"/>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Current Limitations</a:t>
            </a:r>
            <a:endParaRPr lang="en-US" sz="1600" dirty="0"/>
          </a:p>
        </p:txBody>
      </p:sp>
      <p:sp>
        <p:nvSpPr>
          <p:cNvPr id="8" name="Shape 6"/>
          <p:cNvSpPr/>
          <p:nvPr/>
        </p:nvSpPr>
        <p:spPr>
          <a:xfrm>
            <a:off x="548640" y="19019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9" name="Shape 7"/>
          <p:cNvSpPr/>
          <p:nvPr/>
        </p:nvSpPr>
        <p:spPr>
          <a:xfrm>
            <a:off x="548640" y="1901952"/>
            <a:ext cx="73152" cy="853440"/>
          </a:xfrm>
          <a:prstGeom prst="rect">
            <a:avLst/>
          </a:prstGeom>
          <a:solidFill>
            <a:srgbClr val="B03A2E"/>
          </a:solidFill>
          <a:ln w="12700">
            <a:solidFill>
              <a:srgbClr val="B03A2E"/>
            </a:solidFill>
            <a:prstDash val="solid"/>
          </a:ln>
        </p:spPr>
        <p:txBody>
          <a:bodyPr/>
          <a:lstStyle/>
          <a:p>
            <a:endParaRPr lang="en-US" sz="2400"/>
          </a:p>
        </p:txBody>
      </p:sp>
      <p:sp>
        <p:nvSpPr>
          <p:cNvPr id="10" name="Text 8"/>
          <p:cNvSpPr/>
          <p:nvPr/>
        </p:nvSpPr>
        <p:spPr>
          <a:xfrm>
            <a:off x="694944" y="19507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Time-only detrending: cannot separate structural changes (EU policy, planted area) from climate residuals — root cause of the era confound and Decision 1 limitations</a:t>
            </a:r>
            <a:endParaRPr lang="en-US" sz="1133" dirty="0"/>
          </a:p>
        </p:txBody>
      </p:sp>
      <p:sp>
        <p:nvSpPr>
          <p:cNvPr id="11" name="Shape 9"/>
          <p:cNvSpPr/>
          <p:nvPr/>
        </p:nvSpPr>
        <p:spPr>
          <a:xfrm>
            <a:off x="548640" y="28163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12" name="Shape 10"/>
          <p:cNvSpPr/>
          <p:nvPr/>
        </p:nvSpPr>
        <p:spPr>
          <a:xfrm>
            <a:off x="548640" y="2816352"/>
            <a:ext cx="73152" cy="853440"/>
          </a:xfrm>
          <a:prstGeom prst="rect">
            <a:avLst/>
          </a:prstGeom>
          <a:solidFill>
            <a:srgbClr val="B03A2E"/>
          </a:solidFill>
          <a:ln w="12700">
            <a:solidFill>
              <a:srgbClr val="B03A2E"/>
            </a:solidFill>
            <a:prstDash val="solid"/>
          </a:ln>
        </p:spPr>
        <p:txBody>
          <a:bodyPr/>
          <a:lstStyle/>
          <a:p>
            <a:endParaRPr lang="en-US" sz="2400"/>
          </a:p>
        </p:txBody>
      </p:sp>
      <p:sp>
        <p:nvSpPr>
          <p:cNvPr id="13" name="Text 11"/>
          <p:cNvSpPr/>
          <p:nvPr/>
        </p:nvSpPr>
        <p:spPr>
          <a:xfrm>
            <a:off x="694944" y="28651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Statistical power: only 18/16 walk-forward scenarios; post-hoc era finding n=5 is insufficient for confirmatory conclusions</a:t>
            </a:r>
            <a:endParaRPr lang="en-US" sz="1133" dirty="0"/>
          </a:p>
        </p:txBody>
      </p:sp>
      <p:sp>
        <p:nvSpPr>
          <p:cNvPr id="14" name="Shape 12"/>
          <p:cNvSpPr/>
          <p:nvPr/>
        </p:nvSpPr>
        <p:spPr>
          <a:xfrm>
            <a:off x="548640" y="37307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15" name="Shape 13"/>
          <p:cNvSpPr/>
          <p:nvPr/>
        </p:nvSpPr>
        <p:spPr>
          <a:xfrm>
            <a:off x="548640" y="3730752"/>
            <a:ext cx="73152" cy="853440"/>
          </a:xfrm>
          <a:prstGeom prst="rect">
            <a:avLst/>
          </a:prstGeom>
          <a:solidFill>
            <a:srgbClr val="B03A2E"/>
          </a:solidFill>
          <a:ln w="12700">
            <a:solidFill>
              <a:srgbClr val="B03A2E"/>
            </a:solidFill>
            <a:prstDash val="solid"/>
          </a:ln>
        </p:spPr>
        <p:txBody>
          <a:bodyPr/>
          <a:lstStyle/>
          <a:p>
            <a:endParaRPr lang="en-US" sz="2400"/>
          </a:p>
        </p:txBody>
      </p:sp>
      <p:sp>
        <p:nvSpPr>
          <p:cNvPr id="16" name="Text 14"/>
          <p:cNvSpPr/>
          <p:nvPr/>
        </p:nvSpPr>
        <p:spPr>
          <a:xfrm>
            <a:off x="694944" y="37795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Post-hoc era-balanced result (binomial p=0.031, n=5): exploratory hypothesis, requires prospective validation before treating as robust</a:t>
            </a:r>
            <a:endParaRPr lang="en-US" sz="1133" dirty="0"/>
          </a:p>
        </p:txBody>
      </p:sp>
      <p:sp>
        <p:nvSpPr>
          <p:cNvPr id="17" name="Shape 15"/>
          <p:cNvSpPr/>
          <p:nvPr/>
        </p:nvSpPr>
        <p:spPr>
          <a:xfrm>
            <a:off x="548640" y="46451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18" name="Shape 16"/>
          <p:cNvSpPr/>
          <p:nvPr/>
        </p:nvSpPr>
        <p:spPr>
          <a:xfrm>
            <a:off x="548640" y="4645152"/>
            <a:ext cx="73152" cy="853440"/>
          </a:xfrm>
          <a:prstGeom prst="rect">
            <a:avLst/>
          </a:prstGeom>
          <a:solidFill>
            <a:srgbClr val="B03A2E"/>
          </a:solidFill>
          <a:ln w="12700">
            <a:solidFill>
              <a:srgbClr val="B03A2E"/>
            </a:solidFill>
            <a:prstDash val="solid"/>
          </a:ln>
        </p:spPr>
        <p:txBody>
          <a:bodyPr/>
          <a:lstStyle/>
          <a:p>
            <a:endParaRPr lang="en-US" sz="2400"/>
          </a:p>
        </p:txBody>
      </p:sp>
      <p:sp>
        <p:nvSpPr>
          <p:cNvPr id="19" name="Text 17"/>
          <p:cNvSpPr/>
          <p:nvPr/>
        </p:nvSpPr>
        <p:spPr>
          <a:xfrm>
            <a:off x="694944" y="46939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Single-region annual aggregates: no spatial analysis, no sub-regional variation, no within-season granularity</a:t>
            </a:r>
            <a:endParaRPr lang="en-US" sz="1133" dirty="0"/>
          </a:p>
        </p:txBody>
      </p:sp>
      <p:sp>
        <p:nvSpPr>
          <p:cNvPr id="20" name="Shape 18"/>
          <p:cNvSpPr/>
          <p:nvPr/>
        </p:nvSpPr>
        <p:spPr>
          <a:xfrm>
            <a:off x="548640" y="55595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21" name="Shape 19"/>
          <p:cNvSpPr/>
          <p:nvPr/>
        </p:nvSpPr>
        <p:spPr>
          <a:xfrm>
            <a:off x="548640" y="5559552"/>
            <a:ext cx="73152" cy="853440"/>
          </a:xfrm>
          <a:prstGeom prst="rect">
            <a:avLst/>
          </a:prstGeom>
          <a:solidFill>
            <a:srgbClr val="B03A2E"/>
          </a:solidFill>
          <a:ln w="12700">
            <a:solidFill>
              <a:srgbClr val="B03A2E"/>
            </a:solidFill>
            <a:prstDash val="solid"/>
          </a:ln>
        </p:spPr>
        <p:txBody>
          <a:bodyPr/>
          <a:lstStyle/>
          <a:p>
            <a:endParaRPr lang="en-US" sz="2400"/>
          </a:p>
        </p:txBody>
      </p:sp>
      <p:sp>
        <p:nvSpPr>
          <p:cNvPr id="22" name="Text 20"/>
          <p:cNvSpPr/>
          <p:nvPr/>
        </p:nvSpPr>
        <p:spPr>
          <a:xfrm>
            <a:off x="694944" y="56083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CarenR_Assoc not implemented: factor-level alignment issues in walk-forward context left as a natural extension</a:t>
            </a:r>
            <a:endParaRPr lang="en-US" sz="1133" dirty="0"/>
          </a:p>
        </p:txBody>
      </p:sp>
      <p:sp>
        <p:nvSpPr>
          <p:cNvPr id="23" name="Shape 21"/>
          <p:cNvSpPr/>
          <p:nvPr/>
        </p:nvSpPr>
        <p:spPr>
          <a:xfrm>
            <a:off x="6400800" y="1341120"/>
            <a:ext cx="5242560" cy="463296"/>
          </a:xfrm>
          <a:prstGeom prst="rect">
            <a:avLst/>
          </a:prstGeom>
          <a:solidFill>
            <a:srgbClr val="1A7A4A"/>
          </a:solidFill>
          <a:ln w="12700">
            <a:solidFill>
              <a:srgbClr val="1A7A4A"/>
            </a:solidFill>
            <a:prstDash val="solid"/>
          </a:ln>
        </p:spPr>
        <p:txBody>
          <a:bodyPr/>
          <a:lstStyle/>
          <a:p>
            <a:endParaRPr lang="en-US" sz="2400"/>
          </a:p>
        </p:txBody>
      </p:sp>
      <p:sp>
        <p:nvSpPr>
          <p:cNvPr id="24" name="Text 22"/>
          <p:cNvSpPr/>
          <p:nvPr/>
        </p:nvSpPr>
        <p:spPr>
          <a:xfrm>
            <a:off x="6400800" y="1341120"/>
            <a:ext cx="5242560" cy="463296"/>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Future Work</a:t>
            </a:r>
            <a:endParaRPr lang="en-US" sz="1600" dirty="0"/>
          </a:p>
        </p:txBody>
      </p:sp>
      <p:sp>
        <p:nvSpPr>
          <p:cNvPr id="25" name="Shape 23"/>
          <p:cNvSpPr/>
          <p:nvPr/>
        </p:nvSpPr>
        <p:spPr>
          <a:xfrm>
            <a:off x="6400800" y="19019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26" name="Shape 24"/>
          <p:cNvSpPr/>
          <p:nvPr/>
        </p:nvSpPr>
        <p:spPr>
          <a:xfrm>
            <a:off x="6400800" y="1901952"/>
            <a:ext cx="73152" cy="853440"/>
          </a:xfrm>
          <a:prstGeom prst="rect">
            <a:avLst/>
          </a:prstGeom>
          <a:solidFill>
            <a:srgbClr val="1A7A4A"/>
          </a:solidFill>
          <a:ln w="12700">
            <a:solidFill>
              <a:srgbClr val="1A7A4A"/>
            </a:solidFill>
            <a:prstDash val="solid"/>
          </a:ln>
        </p:spPr>
        <p:txBody>
          <a:bodyPr/>
          <a:lstStyle/>
          <a:p>
            <a:endParaRPr lang="en-US" sz="2400"/>
          </a:p>
        </p:txBody>
      </p:sp>
      <p:sp>
        <p:nvSpPr>
          <p:cNvPr id="27" name="Text 25"/>
          <p:cNvSpPr/>
          <p:nvPr/>
        </p:nvSpPr>
        <p:spPr>
          <a:xfrm>
            <a:off x="6547104" y="19507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Structural detrending [PRIORITY]: add non-climate covariates (planted area, quotas, certified producers) to separate structural shifts from climate residuals — directly resolves Decision 1/2 tension</a:t>
            </a:r>
            <a:endParaRPr lang="en-US" sz="1133" dirty="0"/>
          </a:p>
        </p:txBody>
      </p:sp>
      <p:sp>
        <p:nvSpPr>
          <p:cNvPr id="28" name="Shape 26"/>
          <p:cNvSpPr/>
          <p:nvPr/>
        </p:nvSpPr>
        <p:spPr>
          <a:xfrm>
            <a:off x="6400800" y="28163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29" name="Shape 27"/>
          <p:cNvSpPr/>
          <p:nvPr/>
        </p:nvSpPr>
        <p:spPr>
          <a:xfrm>
            <a:off x="6400800" y="2816352"/>
            <a:ext cx="73152" cy="853440"/>
          </a:xfrm>
          <a:prstGeom prst="rect">
            <a:avLst/>
          </a:prstGeom>
          <a:solidFill>
            <a:srgbClr val="1A7A4A"/>
          </a:solidFill>
          <a:ln w="12700">
            <a:solidFill>
              <a:srgbClr val="1A7A4A"/>
            </a:solidFill>
            <a:prstDash val="solid"/>
          </a:ln>
        </p:spPr>
        <p:txBody>
          <a:bodyPr/>
          <a:lstStyle/>
          <a:p>
            <a:endParaRPr lang="en-US" sz="2400"/>
          </a:p>
        </p:txBody>
      </p:sp>
      <p:sp>
        <p:nvSpPr>
          <p:cNvPr id="30" name="Text 28"/>
          <p:cNvSpPr/>
          <p:nvPr/>
        </p:nvSpPr>
        <p:spPr>
          <a:xfrm>
            <a:off x="6547104" y="28651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Prospective validation: pre-register the era-composition hypothesis; test on new observations as they become available (2023+ data for RDD)</a:t>
            </a:r>
            <a:endParaRPr lang="en-US" sz="1133" dirty="0"/>
          </a:p>
        </p:txBody>
      </p:sp>
      <p:sp>
        <p:nvSpPr>
          <p:cNvPr id="31" name="Shape 29"/>
          <p:cNvSpPr/>
          <p:nvPr/>
        </p:nvSpPr>
        <p:spPr>
          <a:xfrm>
            <a:off x="6400800" y="37307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32" name="Shape 30"/>
          <p:cNvSpPr/>
          <p:nvPr/>
        </p:nvSpPr>
        <p:spPr>
          <a:xfrm>
            <a:off x="6400800" y="3730752"/>
            <a:ext cx="73152" cy="853440"/>
          </a:xfrm>
          <a:prstGeom prst="rect">
            <a:avLst/>
          </a:prstGeom>
          <a:solidFill>
            <a:srgbClr val="1A7A4A"/>
          </a:solidFill>
          <a:ln w="12700">
            <a:solidFill>
              <a:srgbClr val="1A7A4A"/>
            </a:solidFill>
            <a:prstDash val="solid"/>
          </a:ln>
        </p:spPr>
        <p:txBody>
          <a:bodyPr/>
          <a:lstStyle/>
          <a:p>
            <a:endParaRPr lang="en-US" sz="2400"/>
          </a:p>
        </p:txBody>
      </p:sp>
      <p:sp>
        <p:nvSpPr>
          <p:cNvPr id="33" name="Text 31"/>
          <p:cNvSpPr/>
          <p:nvPr/>
        </p:nvSpPr>
        <p:spPr>
          <a:xfrm>
            <a:off x="6547104" y="37795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Extended datasets: more regions (Alentejo, Dão), longer series, or sub-regional data would increase statistical power and test generalisability</a:t>
            </a:r>
            <a:endParaRPr lang="en-US" sz="1133" dirty="0"/>
          </a:p>
        </p:txBody>
      </p:sp>
      <p:sp>
        <p:nvSpPr>
          <p:cNvPr id="34" name="Shape 32"/>
          <p:cNvSpPr/>
          <p:nvPr/>
        </p:nvSpPr>
        <p:spPr>
          <a:xfrm>
            <a:off x="6400800" y="46451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35" name="Shape 33"/>
          <p:cNvSpPr/>
          <p:nvPr/>
        </p:nvSpPr>
        <p:spPr>
          <a:xfrm>
            <a:off x="6400800" y="4645152"/>
            <a:ext cx="73152" cy="853440"/>
          </a:xfrm>
          <a:prstGeom prst="rect">
            <a:avLst/>
          </a:prstGeom>
          <a:solidFill>
            <a:srgbClr val="1A7A4A"/>
          </a:solidFill>
          <a:ln w="12700">
            <a:solidFill>
              <a:srgbClr val="1A7A4A"/>
            </a:solidFill>
            <a:prstDash val="solid"/>
          </a:ln>
        </p:spPr>
        <p:txBody>
          <a:bodyPr/>
          <a:lstStyle/>
          <a:p>
            <a:endParaRPr lang="en-US" sz="2400"/>
          </a:p>
        </p:txBody>
      </p:sp>
      <p:sp>
        <p:nvSpPr>
          <p:cNvPr id="36" name="Text 34"/>
          <p:cNvSpPr/>
          <p:nvPr/>
        </p:nvSpPr>
        <p:spPr>
          <a:xfrm>
            <a:off x="6547104" y="46939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Ensemble or conformal approaches: quantify prediction uncertainty explicitly; conformal prediction would provide coverage guarantees on rare events</a:t>
            </a:r>
            <a:endParaRPr lang="en-US" sz="1133" dirty="0"/>
          </a:p>
        </p:txBody>
      </p:sp>
      <p:sp>
        <p:nvSpPr>
          <p:cNvPr id="37" name="Shape 35"/>
          <p:cNvSpPr/>
          <p:nvPr/>
        </p:nvSpPr>
        <p:spPr>
          <a:xfrm>
            <a:off x="6400800" y="5559552"/>
            <a:ext cx="5242560" cy="853440"/>
          </a:xfrm>
          <a:prstGeom prst="rect">
            <a:avLst/>
          </a:prstGeom>
          <a:solidFill>
            <a:srgbClr val="D8E2EE"/>
          </a:solidFill>
          <a:ln w="12700">
            <a:solidFill>
              <a:srgbClr val="D8E2EE"/>
            </a:solidFill>
            <a:prstDash val="solid"/>
          </a:ln>
        </p:spPr>
        <p:txBody>
          <a:bodyPr/>
          <a:lstStyle/>
          <a:p>
            <a:endParaRPr lang="en-US" sz="2400"/>
          </a:p>
        </p:txBody>
      </p:sp>
      <p:sp>
        <p:nvSpPr>
          <p:cNvPr id="38" name="Shape 36"/>
          <p:cNvSpPr/>
          <p:nvPr/>
        </p:nvSpPr>
        <p:spPr>
          <a:xfrm>
            <a:off x="6400800" y="5559552"/>
            <a:ext cx="73152" cy="853440"/>
          </a:xfrm>
          <a:prstGeom prst="rect">
            <a:avLst/>
          </a:prstGeom>
          <a:solidFill>
            <a:srgbClr val="1A7A4A"/>
          </a:solidFill>
          <a:ln w="12700">
            <a:solidFill>
              <a:srgbClr val="1A7A4A"/>
            </a:solidFill>
            <a:prstDash val="solid"/>
          </a:ln>
        </p:spPr>
        <p:txBody>
          <a:bodyPr/>
          <a:lstStyle/>
          <a:p>
            <a:endParaRPr lang="en-US" sz="2400"/>
          </a:p>
        </p:txBody>
      </p:sp>
      <p:sp>
        <p:nvSpPr>
          <p:cNvPr id="39" name="Text 37"/>
          <p:cNvSpPr/>
          <p:nvPr/>
        </p:nvSpPr>
        <p:spPr>
          <a:xfrm>
            <a:off x="6547104" y="5608320"/>
            <a:ext cx="5035296" cy="780288"/>
          </a:xfrm>
          <a:prstGeom prst="rect">
            <a:avLst/>
          </a:prstGeom>
          <a:noFill/>
          <a:ln/>
        </p:spPr>
        <p:txBody>
          <a:bodyPr wrap="square" lIns="0" tIns="0" rIns="0" bIns="0" rtlCol="0" anchor="t"/>
          <a:lstStyle/>
          <a:p>
            <a:r>
              <a:rPr lang="en-US" sz="1133" dirty="0">
                <a:solidFill>
                  <a:srgbClr val="1A2A3A"/>
                </a:solidFill>
                <a:latin typeface="Calibri" pitchFamily="34" charset="0"/>
                <a:ea typeface="Calibri" pitchFamily="34" charset="-122"/>
                <a:cs typeface="Calibri" pitchFamily="34" charset="-120"/>
              </a:rPr>
              <a:t>LOESS protocol generalisation: apply the era-signal validation protocol to other agricultural domains with structural non-stationarity</a:t>
            </a:r>
            <a:endParaRPr lang="en-US" sz="1133"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D4A853"/>
          </a:solidFill>
          <a:ln w="12700">
            <a:solidFill>
              <a:srgbClr val="D4A853"/>
            </a:solidFill>
            <a:prstDash val="solid"/>
          </a:ln>
        </p:spPr>
        <p:txBody>
          <a:bodyPr/>
          <a:lstStyle/>
          <a:p>
            <a:endParaRPr lang="en-US" sz="2400"/>
          </a:p>
        </p:txBody>
      </p:sp>
      <p:sp>
        <p:nvSpPr>
          <p:cNvPr id="3" name="Text 1"/>
          <p:cNvSpPr/>
          <p:nvPr/>
        </p:nvSpPr>
        <p:spPr>
          <a:xfrm>
            <a:off x="609600" y="146304"/>
            <a:ext cx="10972800" cy="670560"/>
          </a:xfrm>
          <a:prstGeom prst="rect">
            <a:avLst/>
          </a:prstGeom>
          <a:noFill/>
          <a:ln/>
        </p:spPr>
        <p:txBody>
          <a:bodyPr wrap="square" lIns="0" tIns="0" rIns="0" bIns="0" rtlCol="0" anchor="ctr"/>
          <a:lstStyle/>
          <a:p>
            <a:r>
              <a:rPr lang="en-US" sz="3467" b="1" dirty="0">
                <a:solidFill>
                  <a:srgbClr val="FFFFFF"/>
                </a:solidFill>
                <a:latin typeface="Calibri" pitchFamily="34" charset="0"/>
                <a:ea typeface="Calibri" pitchFamily="34" charset="-122"/>
                <a:cs typeface="Calibri" pitchFamily="34" charset="-120"/>
              </a:rPr>
              <a:t>Conclusions</a:t>
            </a:r>
            <a:endParaRPr lang="en-US" sz="3467" dirty="0"/>
          </a:p>
        </p:txBody>
      </p:sp>
      <p:sp>
        <p:nvSpPr>
          <p:cNvPr id="4" name="Shape 2"/>
          <p:cNvSpPr/>
          <p:nvPr/>
        </p:nvSpPr>
        <p:spPr>
          <a:xfrm>
            <a:off x="609600" y="877824"/>
            <a:ext cx="10972800" cy="24384"/>
          </a:xfrm>
          <a:prstGeom prst="rect">
            <a:avLst/>
          </a:prstGeom>
          <a:solidFill>
            <a:srgbClr val="253756"/>
          </a:solidFill>
          <a:ln w="12700">
            <a:solidFill>
              <a:srgbClr val="253756"/>
            </a:solidFill>
            <a:prstDash val="solid"/>
          </a:ln>
        </p:spPr>
        <p:txBody>
          <a:bodyPr/>
          <a:lstStyle/>
          <a:p>
            <a:endParaRPr lang="en-US" sz="2400"/>
          </a:p>
        </p:txBody>
      </p:sp>
      <p:sp>
        <p:nvSpPr>
          <p:cNvPr id="5" name="Shape 3"/>
          <p:cNvSpPr/>
          <p:nvPr/>
        </p:nvSpPr>
        <p:spPr>
          <a:xfrm>
            <a:off x="548640" y="1024128"/>
            <a:ext cx="11094720" cy="1682496"/>
          </a:xfrm>
          <a:prstGeom prst="rect">
            <a:avLst/>
          </a:prstGeom>
          <a:solidFill>
            <a:srgbClr val="253756"/>
          </a:solidFill>
          <a:ln w="12700">
            <a:solidFill>
              <a:srgbClr val="253756"/>
            </a:solidFill>
            <a:prstDash val="solid"/>
          </a:ln>
        </p:spPr>
        <p:txBody>
          <a:bodyPr/>
          <a:lstStyle/>
          <a:p>
            <a:endParaRPr lang="en-US" sz="2400"/>
          </a:p>
        </p:txBody>
      </p:sp>
      <p:sp>
        <p:nvSpPr>
          <p:cNvPr id="6" name="Shape 4"/>
          <p:cNvSpPr/>
          <p:nvPr/>
        </p:nvSpPr>
        <p:spPr>
          <a:xfrm>
            <a:off x="548640" y="1024128"/>
            <a:ext cx="85344" cy="1682496"/>
          </a:xfrm>
          <a:prstGeom prst="rect">
            <a:avLst/>
          </a:prstGeom>
          <a:solidFill>
            <a:srgbClr val="1A7A4A"/>
          </a:solidFill>
          <a:ln w="12700">
            <a:solidFill>
              <a:srgbClr val="1A7A4A"/>
            </a:solidFill>
            <a:prstDash val="solid"/>
          </a:ln>
        </p:spPr>
        <p:txBody>
          <a:bodyPr/>
          <a:lstStyle/>
          <a:p>
            <a:endParaRPr lang="en-US" sz="2400"/>
          </a:p>
        </p:txBody>
      </p:sp>
      <p:sp>
        <p:nvSpPr>
          <p:cNvPr id="7" name="Text 5"/>
          <p:cNvSpPr/>
          <p:nvPr/>
        </p:nvSpPr>
        <p:spPr>
          <a:xfrm>
            <a:off x="755904" y="1109472"/>
            <a:ext cx="3048000" cy="365760"/>
          </a:xfrm>
          <a:prstGeom prst="rect">
            <a:avLst/>
          </a:prstGeom>
          <a:noFill/>
          <a:ln/>
        </p:spPr>
        <p:txBody>
          <a:bodyPr wrap="square" lIns="0" tIns="0" rIns="0" bIns="0" rtlCol="0" anchor="ctr"/>
          <a:lstStyle/>
          <a:p>
            <a:r>
              <a:rPr lang="en-US" sz="1133" b="1" dirty="0">
                <a:solidFill>
                  <a:srgbClr val="1A7A4A"/>
                </a:solidFill>
                <a:latin typeface="Calibri" pitchFamily="34" charset="0"/>
                <a:ea typeface="Calibri" pitchFamily="34" charset="-122"/>
                <a:cs typeface="Calibri" pitchFamily="34" charset="-120"/>
              </a:rPr>
              <a:t>GOAL 1 ✓ ACHIEVED</a:t>
            </a:r>
            <a:endParaRPr lang="en-US" sz="1133" dirty="0"/>
          </a:p>
        </p:txBody>
      </p:sp>
      <p:sp>
        <p:nvSpPr>
          <p:cNvPr id="8" name="Text 6"/>
          <p:cNvSpPr/>
          <p:nvPr/>
        </p:nvSpPr>
        <p:spPr>
          <a:xfrm>
            <a:off x="755904" y="1475232"/>
            <a:ext cx="10680192" cy="463296"/>
          </a:xfrm>
          <a:prstGeom prst="rect">
            <a:avLst/>
          </a:prstGeom>
          <a:noFill/>
          <a:ln/>
        </p:spPr>
        <p:txBody>
          <a:bodyPr wrap="square" lIns="0" tIns="0" rIns="0" bIns="0" rtlCol="0" anchor="ctr"/>
          <a:lstStyle/>
          <a:p>
            <a:r>
              <a:rPr lang="en-US" sz="1733" b="1" dirty="0">
                <a:solidFill>
                  <a:srgbClr val="FFFFFF"/>
                </a:solidFill>
                <a:latin typeface="Calibri" pitchFamily="34" charset="0"/>
                <a:ea typeface="Calibri" pitchFamily="34" charset="-122"/>
                <a:cs typeface="Calibri" pitchFamily="34" charset="-120"/>
              </a:rPr>
              <a:t>Rule Discovery Succeeds</a:t>
            </a:r>
            <a:endParaRPr lang="en-US" sz="1733" dirty="0"/>
          </a:p>
        </p:txBody>
      </p:sp>
      <p:sp>
        <p:nvSpPr>
          <p:cNvPr id="9" name="Text 7"/>
          <p:cNvSpPr/>
          <p:nvPr/>
        </p:nvSpPr>
        <p:spPr>
          <a:xfrm>
            <a:off x="755904" y="1938528"/>
            <a:ext cx="10680192" cy="682752"/>
          </a:xfrm>
          <a:prstGeom prst="rect">
            <a:avLst/>
          </a:prstGeom>
          <a:noFill/>
          <a:ln/>
        </p:spPr>
        <p:txBody>
          <a:bodyPr wrap="square" lIns="0" tIns="0" rIns="0" bIns="0" rtlCol="0" anchor="t"/>
          <a:lstStyle/>
          <a:p>
            <a:r>
              <a:rPr lang="en-US" sz="1173" dirty="0">
                <a:solidFill>
                  <a:srgbClr val="D8E2EE"/>
                </a:solidFill>
                <a:latin typeface="Calibri" pitchFamily="34" charset="0"/>
                <a:ea typeface="Calibri" pitchFamily="34" charset="-122"/>
                <a:cs typeface="Calibri" pitchFamily="34" charset="-120"/>
              </a:rPr>
              <a:t>CarenR extracts 48 (RDD) and 20 (RVV) statistically validated distributional rules. Feature frequency analysis converges on harvest-period soil water (Douro) and heat-stress days (Vinho Verde). LOESS validation confirms genuine within-era signal in RDD; exposes era artefacts in RVV. Cross-algorithm agreement with RIPPER and M5Rules confirms genuine data structure.</a:t>
            </a:r>
            <a:endParaRPr lang="en-US" sz="1173" dirty="0"/>
          </a:p>
        </p:txBody>
      </p:sp>
      <p:sp>
        <p:nvSpPr>
          <p:cNvPr id="10" name="Shape 8"/>
          <p:cNvSpPr/>
          <p:nvPr/>
        </p:nvSpPr>
        <p:spPr>
          <a:xfrm>
            <a:off x="548640" y="2828544"/>
            <a:ext cx="11094720" cy="1682496"/>
          </a:xfrm>
          <a:prstGeom prst="rect">
            <a:avLst/>
          </a:prstGeom>
          <a:solidFill>
            <a:srgbClr val="253756"/>
          </a:solidFill>
          <a:ln w="12700">
            <a:solidFill>
              <a:srgbClr val="253756"/>
            </a:solidFill>
            <a:prstDash val="solid"/>
          </a:ln>
        </p:spPr>
        <p:txBody>
          <a:bodyPr/>
          <a:lstStyle/>
          <a:p>
            <a:endParaRPr lang="en-US" sz="2400"/>
          </a:p>
        </p:txBody>
      </p:sp>
      <p:sp>
        <p:nvSpPr>
          <p:cNvPr id="11" name="Shape 9"/>
          <p:cNvSpPr/>
          <p:nvPr/>
        </p:nvSpPr>
        <p:spPr>
          <a:xfrm>
            <a:off x="548640" y="2828544"/>
            <a:ext cx="85344" cy="1682496"/>
          </a:xfrm>
          <a:prstGeom prst="rect">
            <a:avLst/>
          </a:prstGeom>
          <a:solidFill>
            <a:srgbClr val="B03A2E"/>
          </a:solidFill>
          <a:ln w="12700">
            <a:solidFill>
              <a:srgbClr val="B03A2E"/>
            </a:solidFill>
            <a:prstDash val="solid"/>
          </a:ln>
        </p:spPr>
        <p:txBody>
          <a:bodyPr/>
          <a:lstStyle/>
          <a:p>
            <a:endParaRPr lang="en-US" sz="2400"/>
          </a:p>
        </p:txBody>
      </p:sp>
      <p:sp>
        <p:nvSpPr>
          <p:cNvPr id="12" name="Text 10"/>
          <p:cNvSpPr/>
          <p:nvPr/>
        </p:nvSpPr>
        <p:spPr>
          <a:xfrm>
            <a:off x="755904" y="2913888"/>
            <a:ext cx="3048000" cy="365760"/>
          </a:xfrm>
          <a:prstGeom prst="rect">
            <a:avLst/>
          </a:prstGeom>
          <a:noFill/>
          <a:ln/>
        </p:spPr>
        <p:txBody>
          <a:bodyPr wrap="square" lIns="0" tIns="0" rIns="0" bIns="0" rtlCol="0" anchor="ctr"/>
          <a:lstStyle/>
          <a:p>
            <a:r>
              <a:rPr lang="en-US" sz="1133" b="1" dirty="0">
                <a:solidFill>
                  <a:srgbClr val="B03A2E"/>
                </a:solidFill>
                <a:latin typeface="Calibri" pitchFamily="34" charset="0"/>
                <a:ea typeface="Calibri" pitchFamily="34" charset="-122"/>
                <a:cs typeface="Calibri" pitchFamily="34" charset="-120"/>
              </a:rPr>
              <a:t>GOAL 2 ✗ NOT ACHIEVED</a:t>
            </a:r>
            <a:endParaRPr lang="en-US" sz="1133" dirty="0"/>
          </a:p>
        </p:txBody>
      </p:sp>
      <p:sp>
        <p:nvSpPr>
          <p:cNvPr id="13" name="Text 11"/>
          <p:cNvSpPr/>
          <p:nvPr/>
        </p:nvSpPr>
        <p:spPr>
          <a:xfrm>
            <a:off x="755904" y="3279648"/>
            <a:ext cx="10680192" cy="463296"/>
          </a:xfrm>
          <a:prstGeom prst="rect">
            <a:avLst/>
          </a:prstGeom>
          <a:noFill/>
          <a:ln/>
        </p:spPr>
        <p:txBody>
          <a:bodyPr wrap="square" lIns="0" tIns="0" rIns="0" bIns="0" rtlCol="0" anchor="ctr"/>
          <a:lstStyle/>
          <a:p>
            <a:r>
              <a:rPr lang="en-US" sz="1733" b="1" dirty="0">
                <a:solidFill>
                  <a:srgbClr val="FFFFFF"/>
                </a:solidFill>
                <a:latin typeface="Calibri" pitchFamily="34" charset="0"/>
                <a:ea typeface="Calibri" pitchFamily="34" charset="-122"/>
                <a:cs typeface="Calibri" pitchFamily="34" charset="-120"/>
              </a:rPr>
              <a:t>Prediction Fails in Aggregate — Structurally Explained</a:t>
            </a:r>
            <a:endParaRPr lang="en-US" sz="1733" dirty="0"/>
          </a:p>
        </p:txBody>
      </p:sp>
      <p:sp>
        <p:nvSpPr>
          <p:cNvPr id="14" name="Text 12"/>
          <p:cNvSpPr/>
          <p:nvPr/>
        </p:nvSpPr>
        <p:spPr>
          <a:xfrm>
            <a:off x="755904" y="3742944"/>
            <a:ext cx="10680192" cy="682752"/>
          </a:xfrm>
          <a:prstGeom prst="rect">
            <a:avLst/>
          </a:prstGeom>
          <a:noFill/>
          <a:ln/>
        </p:spPr>
        <p:txBody>
          <a:bodyPr wrap="square" lIns="0" tIns="0" rIns="0" bIns="0" rtlCol="0" anchor="t"/>
          <a:lstStyle/>
          <a:p>
            <a:r>
              <a:rPr lang="en-US" sz="1173" dirty="0">
                <a:solidFill>
                  <a:srgbClr val="D8E2EE"/>
                </a:solidFill>
                <a:latin typeface="Calibri" pitchFamily="34" charset="0"/>
                <a:ea typeface="Calibri" pitchFamily="34" charset="-122"/>
                <a:cs typeface="Calibri" pitchFamily="34" charset="-120"/>
              </a:rPr>
              <a:t>No rule-based model consistently beats Naive_Median. RDD best: 189 vs 184 mhl (Wilcoxon p=0.468, not significant). RVV: 172 vs 140 mhl; rules actively harmful when fired (p=0.004, confirmatory negative). Post-hoc exploratory finding: CarenR competitive when training ≥29% post-1990 (5/5 wins, p=0.031; requires prospective validation). Two-decision framework explains the failure structurally.</a:t>
            </a:r>
            <a:endParaRPr lang="en-US" sz="1173" dirty="0"/>
          </a:p>
        </p:txBody>
      </p:sp>
      <p:sp>
        <p:nvSpPr>
          <p:cNvPr id="15" name="Shape 13"/>
          <p:cNvSpPr/>
          <p:nvPr/>
        </p:nvSpPr>
        <p:spPr>
          <a:xfrm>
            <a:off x="548640" y="4632960"/>
            <a:ext cx="11094720" cy="1682496"/>
          </a:xfrm>
          <a:prstGeom prst="rect">
            <a:avLst/>
          </a:prstGeom>
          <a:solidFill>
            <a:srgbClr val="253756"/>
          </a:solidFill>
          <a:ln w="12700">
            <a:solidFill>
              <a:srgbClr val="253756"/>
            </a:solidFill>
            <a:prstDash val="solid"/>
          </a:ln>
        </p:spPr>
        <p:txBody>
          <a:bodyPr/>
          <a:lstStyle/>
          <a:p>
            <a:endParaRPr lang="en-US" sz="2400"/>
          </a:p>
        </p:txBody>
      </p:sp>
      <p:sp>
        <p:nvSpPr>
          <p:cNvPr id="16" name="Shape 14"/>
          <p:cNvSpPr/>
          <p:nvPr/>
        </p:nvSpPr>
        <p:spPr>
          <a:xfrm>
            <a:off x="548640" y="4632960"/>
            <a:ext cx="85344" cy="1682496"/>
          </a:xfrm>
          <a:prstGeom prst="rect">
            <a:avLst/>
          </a:prstGeom>
          <a:solidFill>
            <a:srgbClr val="D4A853"/>
          </a:solidFill>
          <a:ln w="12700">
            <a:solidFill>
              <a:srgbClr val="D4A853"/>
            </a:solidFill>
            <a:prstDash val="solid"/>
          </a:ln>
        </p:spPr>
        <p:txBody>
          <a:bodyPr/>
          <a:lstStyle/>
          <a:p>
            <a:endParaRPr lang="en-US" sz="2400"/>
          </a:p>
        </p:txBody>
      </p:sp>
      <p:sp>
        <p:nvSpPr>
          <p:cNvPr id="17" name="Text 15"/>
          <p:cNvSpPr/>
          <p:nvPr/>
        </p:nvSpPr>
        <p:spPr>
          <a:xfrm>
            <a:off x="755904" y="4718304"/>
            <a:ext cx="3048000" cy="365760"/>
          </a:xfrm>
          <a:prstGeom prst="rect">
            <a:avLst/>
          </a:prstGeom>
          <a:noFill/>
          <a:ln/>
        </p:spPr>
        <p:txBody>
          <a:bodyPr wrap="square" lIns="0" tIns="0" rIns="0" bIns="0" rtlCol="0" anchor="ctr"/>
          <a:lstStyle/>
          <a:p>
            <a:r>
              <a:rPr lang="en-US" sz="1133" b="1" dirty="0">
                <a:solidFill>
                  <a:srgbClr val="D4A853"/>
                </a:solidFill>
                <a:latin typeface="Calibri" pitchFamily="34" charset="0"/>
                <a:ea typeface="Calibri" pitchFamily="34" charset="-122"/>
                <a:cs typeface="Calibri" pitchFamily="34" charset="-120"/>
              </a:rPr>
              <a:t>CORE INSIGHT</a:t>
            </a:r>
            <a:endParaRPr lang="en-US" sz="1133" dirty="0"/>
          </a:p>
        </p:txBody>
      </p:sp>
      <p:sp>
        <p:nvSpPr>
          <p:cNvPr id="18" name="Text 16"/>
          <p:cNvSpPr/>
          <p:nvPr/>
        </p:nvSpPr>
        <p:spPr>
          <a:xfrm>
            <a:off x="755904" y="5084064"/>
            <a:ext cx="10680192" cy="463296"/>
          </a:xfrm>
          <a:prstGeom prst="rect">
            <a:avLst/>
          </a:prstGeom>
          <a:noFill/>
          <a:ln/>
        </p:spPr>
        <p:txBody>
          <a:bodyPr wrap="square" lIns="0" tIns="0" rIns="0" bIns="0" rtlCol="0" anchor="ctr"/>
          <a:lstStyle/>
          <a:p>
            <a:r>
              <a:rPr lang="en-US" sz="1733" b="1" dirty="0">
                <a:solidFill>
                  <a:srgbClr val="FFFFFF"/>
                </a:solidFill>
                <a:latin typeface="Calibri" pitchFamily="34" charset="0"/>
                <a:ea typeface="Calibri" pitchFamily="34" charset="-122"/>
                <a:cs typeface="Calibri" pitchFamily="34" charset="-120"/>
              </a:rPr>
              <a:t>Explanation ≠ Prediction — and the Path Forward</a:t>
            </a:r>
            <a:endParaRPr lang="en-US" sz="1733" dirty="0"/>
          </a:p>
        </p:txBody>
      </p:sp>
      <p:sp>
        <p:nvSpPr>
          <p:cNvPr id="19" name="Text 17"/>
          <p:cNvSpPr/>
          <p:nvPr/>
        </p:nvSpPr>
        <p:spPr>
          <a:xfrm>
            <a:off x="755904" y="5547360"/>
            <a:ext cx="10680192" cy="682752"/>
          </a:xfrm>
          <a:prstGeom prst="rect">
            <a:avLst/>
          </a:prstGeom>
          <a:noFill/>
          <a:ln/>
        </p:spPr>
        <p:txBody>
          <a:bodyPr wrap="square" lIns="0" tIns="0" rIns="0" bIns="0" rtlCol="0" anchor="t"/>
          <a:lstStyle/>
          <a:p>
            <a:r>
              <a:rPr lang="en-US" sz="1173" dirty="0">
                <a:solidFill>
                  <a:srgbClr val="D8E2EE"/>
                </a:solidFill>
                <a:latin typeface="Calibri" pitchFamily="34" charset="0"/>
                <a:ea typeface="Calibri" pitchFamily="34" charset="-122"/>
                <a:cs typeface="Calibri" pitchFamily="34" charset="-120"/>
              </a:rPr>
              <a:t>The same features that explain historical production cannot reliably predict future years. The association is real (|r|≈0.47) but 78% of residual variance is unexplained noise. Distributional discovery needs only a shift to EXIST; prediction needs the shift to DOMINATE. The path forward: structural detrending with non-climate covariates resolves the Decision 1/2 tension.</a:t>
            </a:r>
            <a:endParaRPr lang="en-US" sz="1173" dirty="0"/>
          </a:p>
        </p:txBody>
      </p:sp>
      <p:sp>
        <p:nvSpPr>
          <p:cNvPr id="20" name="Shape 18"/>
          <p:cNvSpPr/>
          <p:nvPr/>
        </p:nvSpPr>
        <p:spPr>
          <a:xfrm>
            <a:off x="548640" y="6437376"/>
            <a:ext cx="11094720" cy="292608"/>
          </a:xfrm>
          <a:prstGeom prst="rect">
            <a:avLst/>
          </a:prstGeom>
          <a:solidFill>
            <a:srgbClr val="D4A853"/>
          </a:solidFill>
          <a:ln w="12700">
            <a:solidFill>
              <a:srgbClr val="D4A853"/>
            </a:solidFill>
            <a:prstDash val="solid"/>
          </a:ln>
        </p:spPr>
        <p:txBody>
          <a:bodyPr/>
          <a:lstStyle/>
          <a:p>
            <a:endParaRPr lang="en-US" sz="2400"/>
          </a:p>
        </p:txBody>
      </p:sp>
      <p:sp>
        <p:nvSpPr>
          <p:cNvPr id="21" name="Text 19"/>
          <p:cNvSpPr/>
          <p:nvPr/>
        </p:nvSpPr>
        <p:spPr>
          <a:xfrm>
            <a:off x="548640" y="6437376"/>
            <a:ext cx="11094720" cy="292608"/>
          </a:xfrm>
          <a:prstGeom prst="rect">
            <a:avLst/>
          </a:prstGeom>
          <a:noFill/>
          <a:ln/>
        </p:spPr>
        <p:txBody>
          <a:bodyPr wrap="square" lIns="0" tIns="0" rIns="0" bIns="0" rtlCol="0" anchor="ctr"/>
          <a:lstStyle/>
          <a:p>
            <a:pPr algn="ctr"/>
            <a:r>
              <a:rPr lang="en-US" sz="1200" b="1" dirty="0">
                <a:solidFill>
                  <a:srgbClr val="0D1B2A"/>
                </a:solidFill>
                <a:latin typeface="Calibri" pitchFamily="34" charset="0"/>
                <a:ea typeface="Calibri" pitchFamily="34" charset="-122"/>
                <a:cs typeface="Calibri" pitchFamily="34" charset="-120"/>
              </a:rPr>
              <a:t>Thank you. Questions?  ·  The Two-Decision Framework, LOESS validation protocol, and era-composition analysis are transferable to any non-stationary agricultural time series.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9248"/>
          </a:xfrm>
          <a:prstGeom prst="rect">
            <a:avLst/>
          </a:prstGeom>
          <a:solidFill>
            <a:srgbClr val="C4964A"/>
          </a:solidFill>
          <a:ln w="12700">
            <a:solidFill>
              <a:srgbClr val="C4964A"/>
            </a:solidFill>
            <a:prstDash val="solid"/>
          </a:ln>
        </p:spPr>
        <p:txBody>
          <a:bodyPr/>
          <a:lstStyle/>
          <a:p>
            <a:endParaRPr lang="en-US" sz="2400"/>
          </a:p>
        </p:txBody>
      </p:sp>
      <p:sp>
        <p:nvSpPr>
          <p:cNvPr id="3" name="Text 1"/>
          <p:cNvSpPr/>
          <p:nvPr/>
        </p:nvSpPr>
        <p:spPr>
          <a:xfrm>
            <a:off x="548640" y="146304"/>
            <a:ext cx="11094720" cy="707136"/>
          </a:xfrm>
          <a:prstGeom prst="rect">
            <a:avLst/>
          </a:prstGeom>
          <a:noFill/>
          <a:ln/>
        </p:spPr>
        <p:txBody>
          <a:bodyPr wrap="square" lIns="0" tIns="0" rIns="0" bIns="0" rtlCol="0" anchor="ctr"/>
          <a:lstStyle/>
          <a:p>
            <a:r>
              <a:rPr lang="en-US" sz="3467" b="1" dirty="0">
                <a:solidFill>
                  <a:srgbClr val="6B2737"/>
                </a:solidFill>
                <a:latin typeface="Georgia" pitchFamily="34" charset="0"/>
                <a:ea typeface="Georgia" pitchFamily="34" charset="-122"/>
                <a:cs typeface="Georgia" pitchFamily="34" charset="-120"/>
              </a:rPr>
              <a:t>The Research Problem</a:t>
            </a:r>
            <a:endParaRPr lang="en-US" sz="3467" dirty="0"/>
          </a:p>
        </p:txBody>
      </p:sp>
      <p:sp>
        <p:nvSpPr>
          <p:cNvPr id="4" name="Text 2"/>
          <p:cNvSpPr/>
          <p:nvPr/>
        </p:nvSpPr>
        <p:spPr>
          <a:xfrm>
            <a:off x="548640" y="829056"/>
            <a:ext cx="11094720" cy="341376"/>
          </a:xfrm>
          <a:prstGeom prst="rect">
            <a:avLst/>
          </a:prstGeom>
          <a:noFill/>
          <a:ln/>
        </p:spPr>
        <p:txBody>
          <a:bodyPr wrap="square" lIns="0" tIns="0" rIns="0" bIns="0" rtlCol="0" anchor="ctr"/>
          <a:lstStyle/>
          <a:p>
            <a:r>
              <a:rPr lang="en-US" sz="1600" i="1" dirty="0">
                <a:solidFill>
                  <a:srgbClr val="5A4042"/>
                </a:solidFill>
                <a:latin typeface="Calibri" pitchFamily="34" charset="0"/>
                <a:ea typeface="Calibri" pitchFamily="34" charset="-122"/>
                <a:cs typeface="Calibri" pitchFamily="34" charset="-120"/>
              </a:rPr>
              <a:t>Why interpretable rules — not black-box models — matter here</a:t>
            </a:r>
            <a:endParaRPr lang="en-US" sz="1600" dirty="0"/>
          </a:p>
        </p:txBody>
      </p:sp>
      <p:sp>
        <p:nvSpPr>
          <p:cNvPr id="5" name="Shape 3"/>
          <p:cNvSpPr/>
          <p:nvPr/>
        </p:nvSpPr>
        <p:spPr>
          <a:xfrm>
            <a:off x="548640" y="1170432"/>
            <a:ext cx="11094720" cy="0"/>
          </a:xfrm>
          <a:prstGeom prst="line">
            <a:avLst/>
          </a:prstGeom>
          <a:noFill/>
          <a:ln w="12700">
            <a:solidFill>
              <a:srgbClr val="D4CACA"/>
            </a:solidFill>
            <a:prstDash val="solid"/>
          </a:ln>
        </p:spPr>
        <p:txBody>
          <a:bodyPr/>
          <a:lstStyle/>
          <a:p>
            <a:endParaRPr lang="en-US" sz="2400"/>
          </a:p>
        </p:txBody>
      </p:sp>
      <p:sp>
        <p:nvSpPr>
          <p:cNvPr id="6" name="Text 4"/>
          <p:cNvSpPr/>
          <p:nvPr/>
        </p:nvSpPr>
        <p:spPr>
          <a:xfrm>
            <a:off x="10728960" y="6461760"/>
            <a:ext cx="1219200" cy="304800"/>
          </a:xfrm>
          <a:prstGeom prst="rect">
            <a:avLst/>
          </a:prstGeom>
          <a:noFill/>
          <a:ln/>
        </p:spPr>
        <p:txBody>
          <a:bodyPr wrap="square" lIns="0" tIns="0" rIns="0" bIns="0" rtlCol="0" anchor="ctr"/>
          <a:lstStyle/>
          <a:p>
            <a:pPr algn="r"/>
            <a:r>
              <a:rPr lang="en-US" sz="1200" dirty="0">
                <a:solidFill>
                  <a:srgbClr val="C4964A"/>
                </a:solidFill>
                <a:latin typeface="Calibri" pitchFamily="34" charset="0"/>
                <a:ea typeface="Calibri" pitchFamily="34" charset="-122"/>
                <a:cs typeface="Calibri" pitchFamily="34" charset="-120"/>
              </a:rPr>
              <a:t>2 / 12</a:t>
            </a:r>
            <a:endParaRPr lang="en-US" sz="1200" dirty="0"/>
          </a:p>
        </p:txBody>
      </p:sp>
      <p:sp>
        <p:nvSpPr>
          <p:cNvPr id="7" name="Shape 5"/>
          <p:cNvSpPr/>
          <p:nvPr/>
        </p:nvSpPr>
        <p:spPr>
          <a:xfrm>
            <a:off x="548640" y="1341120"/>
            <a:ext cx="5486400" cy="182880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8" name="Shape 6"/>
          <p:cNvSpPr/>
          <p:nvPr/>
        </p:nvSpPr>
        <p:spPr>
          <a:xfrm>
            <a:off x="548640" y="1341120"/>
            <a:ext cx="73152" cy="1828800"/>
          </a:xfrm>
          <a:prstGeom prst="rect">
            <a:avLst/>
          </a:prstGeom>
          <a:solidFill>
            <a:srgbClr val="6B2737"/>
          </a:solidFill>
          <a:ln w="12700">
            <a:solidFill>
              <a:srgbClr val="6B2737"/>
            </a:solidFill>
            <a:prstDash val="solid"/>
          </a:ln>
        </p:spPr>
        <p:txBody>
          <a:bodyPr/>
          <a:lstStyle/>
          <a:p>
            <a:endParaRPr lang="en-US" sz="2400"/>
          </a:p>
        </p:txBody>
      </p:sp>
      <p:sp>
        <p:nvSpPr>
          <p:cNvPr id="9" name="Text 7"/>
          <p:cNvSpPr/>
          <p:nvPr/>
        </p:nvSpPr>
        <p:spPr>
          <a:xfrm>
            <a:off x="755904" y="1389888"/>
            <a:ext cx="5120640" cy="365760"/>
          </a:xfrm>
          <a:prstGeom prst="rect">
            <a:avLst/>
          </a:prstGeom>
          <a:noFill/>
          <a:ln/>
        </p:spPr>
        <p:txBody>
          <a:bodyPr wrap="square" lIns="0" tIns="0" rIns="0" bIns="0" rtlCol="0" anchor="ctr"/>
          <a:lstStyle/>
          <a:p>
            <a:r>
              <a:rPr lang="en-US" sz="1600" b="1" dirty="0">
                <a:solidFill>
                  <a:srgbClr val="6B2737"/>
                </a:solidFill>
                <a:latin typeface="Georgia" pitchFamily="34" charset="0"/>
                <a:ea typeface="Georgia" pitchFamily="34" charset="-122"/>
                <a:cs typeface="Georgia" pitchFamily="34" charset="-120"/>
              </a:rPr>
              <a:t>The gap</a:t>
            </a:r>
            <a:endParaRPr lang="en-US" sz="1600" dirty="0"/>
          </a:p>
        </p:txBody>
      </p:sp>
      <p:sp>
        <p:nvSpPr>
          <p:cNvPr id="10" name="Text 8"/>
          <p:cNvSpPr/>
          <p:nvPr/>
        </p:nvSpPr>
        <p:spPr>
          <a:xfrm>
            <a:off x="755904" y="1755648"/>
            <a:ext cx="5120640" cy="1280160"/>
          </a:xfrm>
          <a:prstGeom prst="rect">
            <a:avLst/>
          </a:prstGeom>
          <a:noFill/>
          <a:ln/>
        </p:spPr>
        <p:txBody>
          <a:bodyPr wrap="square" lIns="0" tIns="0" rIns="0" bIns="0" rtlCol="0" anchor="ctr"/>
          <a:lstStyle/>
          <a:p>
            <a:r>
              <a:rPr lang="en-US" sz="1600" dirty="0">
                <a:solidFill>
                  <a:srgbClr val="1C1214"/>
                </a:solidFill>
                <a:latin typeface="Calibri" pitchFamily="34" charset="0"/>
                <a:ea typeface="Calibri" pitchFamily="34" charset="-122"/>
                <a:cs typeface="Calibri" pitchFamily="34" charset="-120"/>
              </a:rPr>
              <a:t>Modern ML (RF, LSTM) predicts wine yield well — but cannot explain it. Agronomists, cooperatives, and policy bodies need readable, auditable rules.</a:t>
            </a:r>
            <a:endParaRPr lang="en-US" sz="1600" dirty="0"/>
          </a:p>
        </p:txBody>
      </p:sp>
      <p:sp>
        <p:nvSpPr>
          <p:cNvPr id="11" name="Shape 9"/>
          <p:cNvSpPr/>
          <p:nvPr/>
        </p:nvSpPr>
        <p:spPr>
          <a:xfrm>
            <a:off x="548640" y="3352800"/>
            <a:ext cx="5486400" cy="310896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2" name="Text 10"/>
          <p:cNvSpPr/>
          <p:nvPr/>
        </p:nvSpPr>
        <p:spPr>
          <a:xfrm>
            <a:off x="755904" y="3438144"/>
            <a:ext cx="5120640" cy="341376"/>
          </a:xfrm>
          <a:prstGeom prst="rect">
            <a:avLst/>
          </a:prstGeom>
          <a:noFill/>
          <a:ln/>
        </p:spPr>
        <p:txBody>
          <a:bodyPr wrap="square" lIns="0" tIns="0" rIns="0" bIns="0" rtlCol="0" anchor="ctr"/>
          <a:lstStyle/>
          <a:p>
            <a:r>
              <a:rPr lang="en-US" sz="1467" b="1" dirty="0">
                <a:solidFill>
                  <a:srgbClr val="6B2737"/>
                </a:solidFill>
                <a:latin typeface="Calibri" pitchFamily="34" charset="0"/>
                <a:ea typeface="Calibri" pitchFamily="34" charset="-122"/>
                <a:cs typeface="Calibri" pitchFamily="34" charset="-120"/>
              </a:rPr>
              <a:t>No prior work combines all five properties:</a:t>
            </a:r>
            <a:endParaRPr lang="en-US" sz="1467" dirty="0"/>
          </a:p>
        </p:txBody>
      </p:sp>
      <p:graphicFrame>
        <p:nvGraphicFramePr>
          <p:cNvPr id="13" name="Table 0"/>
          <p:cNvGraphicFramePr>
            <a:graphicFrameLocks noGrp="1"/>
          </p:cNvGraphicFramePr>
          <p:nvPr/>
        </p:nvGraphicFramePr>
        <p:xfrm>
          <a:off x="670560" y="3803904"/>
          <a:ext cx="5120640" cy="1950720"/>
        </p:xfrm>
        <a:graphic>
          <a:graphicData uri="http://schemas.openxmlformats.org/drawingml/2006/table">
            <a:tbl>
              <a:tblPr/>
              <a:tblGrid>
                <a:gridCol w="23164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75360">
                  <a:extLst>
                    <a:ext uri="{9D8B030D-6E8A-4147-A177-3AD203B41FA5}">
                      <a16:colId xmlns:a16="http://schemas.microsoft.com/office/drawing/2014/main" val="20003"/>
                    </a:ext>
                  </a:extLst>
                </a:gridCol>
              </a:tblGrid>
              <a:tr h="487680">
                <a:tc>
                  <a:txBody>
                    <a:bodyPr/>
                    <a:lstStyle/>
                    <a:p>
                      <a:pPr marL="0" indent="0" algn="l">
                        <a:buNone/>
                      </a:pPr>
                      <a:r>
                        <a:rPr lang="en-US" sz="1200" b="1" dirty="0">
                          <a:solidFill>
                            <a:srgbClr val="6B2737"/>
                          </a:solidFill>
                        </a:rPr>
                        <a:t>Research stream</a:t>
                      </a:r>
                      <a:endParaRPr lang="en-US" sz="12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ctr">
                        <a:buNone/>
                      </a:pPr>
                      <a:r>
                        <a:rPr lang="en-US" sz="1200" b="1" dirty="0">
                          <a:solidFill>
                            <a:srgbClr val="6B2737"/>
                          </a:solidFill>
                        </a:rPr>
                        <a:t>Interpretable</a:t>
                      </a:r>
                      <a:endParaRPr lang="en-US" sz="12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ctr">
                        <a:buNone/>
                      </a:pPr>
                      <a:r>
                        <a:rPr lang="en-US" sz="1200" b="1" dirty="0">
                          <a:solidFill>
                            <a:srgbClr val="6B2737"/>
                          </a:solidFill>
                        </a:rPr>
                        <a:t>Long-term</a:t>
                      </a:r>
                      <a:endParaRPr lang="en-US" sz="12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ctr">
                        <a:buNone/>
                      </a:pPr>
                      <a:r>
                        <a:rPr lang="en-US" sz="1200" b="1" dirty="0">
                          <a:solidFill>
                            <a:srgbClr val="6B2737"/>
                          </a:solidFill>
                        </a:rPr>
                        <a:t>Predictive val.</a:t>
                      </a:r>
                      <a:endParaRPr lang="en-US" sz="12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C1214"/>
                          </a:solidFill>
                        </a:rPr>
                        <a:t>Statistical regression</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Limited</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C1214"/>
                          </a:solidFill>
                        </a:rPr>
                        <a:t>Modern ML (RF/LSTM)</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Partial</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C1214"/>
                          </a:solidFill>
                        </a:rPr>
                        <a:t>Subgroup discovery</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tc>
                  <a:txBody>
                    <a:bodyPr/>
                    <a:lstStyle/>
                    <a:p>
                      <a:pPr marL="0" indent="0" algn="ctr">
                        <a:buNone/>
                      </a:pPr>
                      <a:r>
                        <a:rPr lang="en-US" sz="1300" dirty="0">
                          <a:solidFill>
                            <a:srgbClr val="1C1214"/>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l">
                        <a:buNone/>
                      </a:pPr>
                      <a:r>
                        <a:rPr lang="en-US" sz="1300" b="1" dirty="0">
                          <a:solidFill>
                            <a:srgbClr val="FFFFFF"/>
                          </a:solidFill>
                        </a:rPr>
                        <a:t>This thesis (CarenR)</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marL="0" indent="0" algn="ctr">
                        <a:buNone/>
                      </a:pPr>
                      <a:r>
                        <a:rPr lang="en-US" sz="1300" b="1" dirty="0">
                          <a:solidFill>
                            <a:srgbClr val="FFFFFF"/>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marL="0" indent="0" algn="ctr">
                        <a:buNone/>
                      </a:pPr>
                      <a:r>
                        <a:rPr lang="en-US" sz="1300" b="1" dirty="0">
                          <a:solidFill>
                            <a:srgbClr val="FFFFFF"/>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marL="0" indent="0" algn="ctr">
                        <a:buNone/>
                      </a:pPr>
                      <a:r>
                        <a:rPr lang="en-US" sz="1300" b="1" dirty="0">
                          <a:solidFill>
                            <a:srgbClr val="FFFFFF"/>
                          </a:solidFill>
                        </a:rPr>
                        <a: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extLst>
                  <a:ext uri="{0D108BD9-81ED-4DB2-BD59-A6C34878D82A}">
                    <a16:rowId xmlns:a16="http://schemas.microsoft.com/office/drawing/2014/main" val="10004"/>
                  </a:ext>
                </a:extLst>
              </a:tr>
            </a:tbl>
          </a:graphicData>
        </a:graphic>
      </p:graphicFrame>
      <p:sp>
        <p:nvSpPr>
          <p:cNvPr id="14" name="Shape 11"/>
          <p:cNvSpPr/>
          <p:nvPr/>
        </p:nvSpPr>
        <p:spPr>
          <a:xfrm>
            <a:off x="6339840" y="1341120"/>
            <a:ext cx="5303520" cy="2255520"/>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5" name="Shape 12"/>
          <p:cNvSpPr/>
          <p:nvPr/>
        </p:nvSpPr>
        <p:spPr>
          <a:xfrm>
            <a:off x="6339840" y="1341120"/>
            <a:ext cx="73152" cy="2255520"/>
          </a:xfrm>
          <a:prstGeom prst="rect">
            <a:avLst/>
          </a:prstGeom>
          <a:solidFill>
            <a:srgbClr val="C4964A"/>
          </a:solidFill>
          <a:ln w="12700">
            <a:solidFill>
              <a:srgbClr val="C4964A"/>
            </a:solidFill>
            <a:prstDash val="solid"/>
          </a:ln>
        </p:spPr>
        <p:txBody>
          <a:bodyPr/>
          <a:lstStyle/>
          <a:p>
            <a:endParaRPr lang="en-US" sz="2400"/>
          </a:p>
        </p:txBody>
      </p:sp>
      <p:sp>
        <p:nvSpPr>
          <p:cNvPr id="16" name="Text 13"/>
          <p:cNvSpPr/>
          <p:nvPr/>
        </p:nvSpPr>
        <p:spPr>
          <a:xfrm>
            <a:off x="6559296" y="1402080"/>
            <a:ext cx="4876800" cy="341376"/>
          </a:xfrm>
          <a:prstGeom prst="rect">
            <a:avLst/>
          </a:prstGeom>
          <a:noFill/>
          <a:ln/>
        </p:spPr>
        <p:txBody>
          <a:bodyPr wrap="square" lIns="0" tIns="0" rIns="0" bIns="0" rtlCol="0" anchor="ctr"/>
          <a:lstStyle/>
          <a:p>
            <a:r>
              <a:rPr lang="en-US" sz="1467" b="1" dirty="0">
                <a:solidFill>
                  <a:srgbClr val="C4964A"/>
                </a:solidFill>
                <a:latin typeface="Calibri" pitchFamily="34" charset="0"/>
                <a:ea typeface="Calibri" pitchFamily="34" charset="-122"/>
                <a:cs typeface="Calibri" pitchFamily="34" charset="-120"/>
              </a:rPr>
              <a:t>What a rule looks like:</a:t>
            </a:r>
            <a:endParaRPr lang="en-US" sz="1467" dirty="0"/>
          </a:p>
        </p:txBody>
      </p:sp>
      <p:sp>
        <p:nvSpPr>
          <p:cNvPr id="17" name="Text 14"/>
          <p:cNvSpPr/>
          <p:nvPr/>
        </p:nvSpPr>
        <p:spPr>
          <a:xfrm>
            <a:off x="6559296" y="1780032"/>
            <a:ext cx="4876800" cy="1682496"/>
          </a:xfrm>
          <a:prstGeom prst="rect">
            <a:avLst/>
          </a:prstGeom>
          <a:noFill/>
          <a:ln/>
        </p:spPr>
        <p:txBody>
          <a:bodyPr wrap="square" lIns="0" tIns="0" rIns="0" bIns="0" rtlCol="0" anchor="ctr"/>
          <a:lstStyle/>
          <a:p>
            <a:r>
              <a:rPr lang="en-US" sz="1467" i="1" dirty="0">
                <a:solidFill>
                  <a:srgbClr val="1C1214"/>
                </a:solidFill>
                <a:latin typeface="Calibri" pitchFamily="34" charset="0"/>
                <a:ea typeface="Calibri" pitchFamily="34" charset="-122"/>
                <a:cs typeface="Calibri" pitchFamily="34" charset="-120"/>
              </a:rPr>
              <a:t>"IF soil water at harvest ∈ [74–101 mm]</a:t>
            </a:r>
            <a:endParaRPr lang="en-US" sz="1467" dirty="0"/>
          </a:p>
          <a:p>
            <a:r>
              <a:rPr lang="en-US" sz="1467" i="1" dirty="0">
                <a:solidFill>
                  <a:srgbClr val="1C1214"/>
                </a:solidFill>
                <a:latin typeface="Calibri" pitchFamily="34" charset="0"/>
                <a:ea typeface="Calibri" pitchFamily="34" charset="-122"/>
                <a:cs typeface="Calibri" pitchFamily="34" charset="-120"/>
              </a:rPr>
              <a:t>AND wet days post-flowering ≤ 3.3 d</a:t>
            </a:r>
            <a:endParaRPr lang="en-US" sz="1467" dirty="0"/>
          </a:p>
          <a:p>
            <a:r>
              <a:rPr lang="en-US" sz="1467" i="1" dirty="0">
                <a:solidFill>
                  <a:srgbClr val="1C1214"/>
                </a:solidFill>
                <a:latin typeface="Calibri" pitchFamily="34" charset="0"/>
                <a:ea typeface="Calibri" pitchFamily="34" charset="-122"/>
                <a:cs typeface="Calibri" pitchFamily="34" charset="-120"/>
              </a:rPr>
              <a:t>THEN production is +192 mhl above trend</a:t>
            </a:r>
            <a:endParaRPr lang="en-US" sz="1467" dirty="0"/>
          </a:p>
          <a:p>
            <a:r>
              <a:rPr lang="en-US" sz="1467" i="1" dirty="0">
                <a:solidFill>
                  <a:srgbClr val="1C1214"/>
                </a:solidFill>
                <a:latin typeface="Calibri" pitchFamily="34" charset="0"/>
                <a:ea typeface="Calibri" pitchFamily="34" charset="-122"/>
                <a:cs typeface="Calibri" pitchFamily="34" charset="-120"/>
              </a:rPr>
              <a:t>(support 21%, p = 0.010)"</a:t>
            </a:r>
            <a:endParaRPr lang="en-US" sz="1467" dirty="0"/>
          </a:p>
        </p:txBody>
      </p:sp>
      <p:sp>
        <p:nvSpPr>
          <p:cNvPr id="18" name="Shape 15"/>
          <p:cNvSpPr/>
          <p:nvPr/>
        </p:nvSpPr>
        <p:spPr>
          <a:xfrm>
            <a:off x="6339840" y="3779520"/>
            <a:ext cx="5303520" cy="256032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9" name="Shape 16"/>
          <p:cNvSpPr/>
          <p:nvPr/>
        </p:nvSpPr>
        <p:spPr>
          <a:xfrm>
            <a:off x="6339840" y="3779520"/>
            <a:ext cx="73152" cy="2560320"/>
          </a:xfrm>
          <a:prstGeom prst="rect">
            <a:avLst/>
          </a:prstGeom>
          <a:solidFill>
            <a:srgbClr val="2A7F7F"/>
          </a:solidFill>
          <a:ln w="12700">
            <a:solidFill>
              <a:srgbClr val="2A7F7F"/>
            </a:solidFill>
            <a:prstDash val="solid"/>
          </a:ln>
        </p:spPr>
        <p:txBody>
          <a:bodyPr/>
          <a:lstStyle/>
          <a:p>
            <a:endParaRPr lang="en-US" sz="2400"/>
          </a:p>
        </p:txBody>
      </p:sp>
      <p:sp>
        <p:nvSpPr>
          <p:cNvPr id="20" name="Text 17"/>
          <p:cNvSpPr/>
          <p:nvPr/>
        </p:nvSpPr>
        <p:spPr>
          <a:xfrm>
            <a:off x="6559296" y="3840480"/>
            <a:ext cx="4876800" cy="341376"/>
          </a:xfrm>
          <a:prstGeom prst="rect">
            <a:avLst/>
          </a:prstGeom>
          <a:noFill/>
          <a:ln/>
        </p:spPr>
        <p:txBody>
          <a:bodyPr wrap="square" lIns="0" tIns="0" rIns="0" bIns="0" rtlCol="0" anchor="ctr"/>
          <a:lstStyle/>
          <a:p>
            <a:r>
              <a:rPr lang="en-US" sz="1467" b="1" dirty="0">
                <a:solidFill>
                  <a:srgbClr val="2A7F7F"/>
                </a:solidFill>
                <a:latin typeface="Calibri" pitchFamily="34" charset="0"/>
                <a:ea typeface="Calibri" pitchFamily="34" charset="-122"/>
                <a:cs typeface="Calibri" pitchFamily="34" charset="-120"/>
              </a:rPr>
              <a:t>Why interpretability matters:</a:t>
            </a:r>
            <a:endParaRPr lang="en-US" sz="1467" dirty="0"/>
          </a:p>
        </p:txBody>
      </p:sp>
      <p:sp>
        <p:nvSpPr>
          <p:cNvPr id="21" name="Text 18"/>
          <p:cNvSpPr/>
          <p:nvPr/>
        </p:nvSpPr>
        <p:spPr>
          <a:xfrm>
            <a:off x="6559296" y="4218432"/>
            <a:ext cx="4876800" cy="1975104"/>
          </a:xfrm>
          <a:prstGeom prst="rect">
            <a:avLst/>
          </a:prstGeom>
          <a:noFill/>
          <a:ln/>
        </p:spPr>
        <p:txBody>
          <a:bodyPr wrap="square" lIns="0" tIns="0" rIns="0" bIns="0" rtlCol="0" anchor="ctr"/>
          <a:lstStyle/>
          <a:p>
            <a:pPr marL="457189" indent="-457189">
              <a:buSzPct val="100000"/>
              <a:buChar char="•"/>
            </a:pPr>
            <a:r>
              <a:rPr lang="en-US" sz="1467" dirty="0">
                <a:solidFill>
                  <a:srgbClr val="1C1214"/>
                </a:solidFill>
                <a:latin typeface="Calibri" pitchFamily="34" charset="0"/>
                <a:ea typeface="Calibri" pitchFamily="34" charset="-122"/>
                <a:cs typeface="Calibri" pitchFamily="34" charset="-120"/>
              </a:rPr>
              <a:t>Readable by agronomists without ML knowledge</a:t>
            </a:r>
            <a:endParaRPr lang="en-US" sz="1467" dirty="0"/>
          </a:p>
          <a:p>
            <a:pPr marL="457189" indent="-457189">
              <a:buSzPct val="100000"/>
              <a:buChar char="•"/>
            </a:pPr>
            <a:r>
              <a:rPr lang="en-US" sz="1467" dirty="0">
                <a:solidFill>
                  <a:srgbClr val="1C1214"/>
                </a:solidFill>
                <a:latin typeface="Calibri" pitchFamily="34" charset="0"/>
                <a:ea typeface="Calibri" pitchFamily="34" charset="-122"/>
                <a:cs typeface="Calibri" pitchFamily="34" charset="-120"/>
              </a:rPr>
              <a:t>Each rule carries explicit support &amp; p-value</a:t>
            </a:r>
            <a:endParaRPr lang="en-US" sz="1467" dirty="0"/>
          </a:p>
          <a:p>
            <a:pPr marL="457189" indent="-457189">
              <a:buSzPct val="100000"/>
              <a:buChar char="•"/>
            </a:pPr>
            <a:r>
              <a:rPr lang="en-US" sz="1467" dirty="0">
                <a:solidFill>
                  <a:srgbClr val="1C1214"/>
                </a:solidFill>
                <a:latin typeface="Calibri" pitchFamily="34" charset="0"/>
                <a:ea typeface="Calibri" pitchFamily="34" charset="-122"/>
                <a:cs typeface="Calibri" pitchFamily="34" charset="-120"/>
              </a:rPr>
              <a:t>Can be challenged and domain-validated</a:t>
            </a:r>
            <a:endParaRPr lang="en-US" sz="1467" dirty="0"/>
          </a:p>
          <a:p>
            <a:pPr marL="457189" indent="-457189">
              <a:buSzPct val="100000"/>
              <a:buChar char="•"/>
            </a:pPr>
            <a:r>
              <a:rPr lang="en-US" sz="1467" dirty="0">
                <a:solidFill>
                  <a:srgbClr val="1C1214"/>
                </a:solidFill>
                <a:latin typeface="Calibri" pitchFamily="34" charset="0"/>
                <a:ea typeface="Calibri" pitchFamily="34" charset="-122"/>
                <a:cs typeface="Calibri" pitchFamily="34" charset="-120"/>
              </a:rPr>
              <a:t>Directly actionable for harvest planning</a:t>
            </a:r>
            <a:endParaRPr lang="en-US" sz="1467" dirty="0"/>
          </a:p>
        </p:txBody>
      </p:sp>
      <p:sp>
        <p:nvSpPr>
          <p:cNvPr id="22" name="Text 19"/>
          <p:cNvSpPr/>
          <p:nvPr/>
        </p:nvSpPr>
        <p:spPr>
          <a:xfrm>
            <a:off x="548640" y="6461760"/>
            <a:ext cx="11094720" cy="304800"/>
          </a:xfrm>
          <a:prstGeom prst="rect">
            <a:avLst/>
          </a:prstGeom>
          <a:noFill/>
          <a:ln/>
        </p:spPr>
        <p:txBody>
          <a:bodyPr wrap="square" lIns="0" tIns="0" rIns="0" bIns="0" rtlCol="0" anchor="ctr"/>
          <a:lstStyle/>
          <a:p>
            <a:r>
              <a:rPr lang="en-US" sz="1200" i="1" dirty="0">
                <a:solidFill>
                  <a:srgbClr val="9A8E8B"/>
                </a:solidFill>
                <a:latin typeface="Calibri" pitchFamily="34" charset="0"/>
                <a:ea typeface="Calibri" pitchFamily="34" charset="-122"/>
                <a:cs typeface="Calibri" pitchFamily="34" charset="-120"/>
              </a:rPr>
              <a:t>No published work has applied interpretable distributional rule discovery to multi-decade regional wine production records (cf. Table 2.1).</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9248"/>
          </a:xfrm>
          <a:prstGeom prst="rect">
            <a:avLst/>
          </a:prstGeom>
          <a:solidFill>
            <a:srgbClr val="C4964A"/>
          </a:solidFill>
          <a:ln w="12700">
            <a:solidFill>
              <a:srgbClr val="C4964A"/>
            </a:solidFill>
            <a:prstDash val="solid"/>
          </a:ln>
        </p:spPr>
        <p:txBody>
          <a:bodyPr/>
          <a:lstStyle/>
          <a:p>
            <a:endParaRPr lang="en-US" sz="2400"/>
          </a:p>
        </p:txBody>
      </p:sp>
      <p:sp>
        <p:nvSpPr>
          <p:cNvPr id="3" name="Text 1"/>
          <p:cNvSpPr/>
          <p:nvPr/>
        </p:nvSpPr>
        <p:spPr>
          <a:xfrm>
            <a:off x="548640" y="146304"/>
            <a:ext cx="11094720" cy="707136"/>
          </a:xfrm>
          <a:prstGeom prst="rect">
            <a:avLst/>
          </a:prstGeom>
          <a:noFill/>
          <a:ln/>
        </p:spPr>
        <p:txBody>
          <a:bodyPr wrap="square" lIns="0" tIns="0" rIns="0" bIns="0" rtlCol="0" anchor="ctr"/>
          <a:lstStyle/>
          <a:p>
            <a:r>
              <a:rPr lang="en-US" sz="3467" b="1" dirty="0">
                <a:solidFill>
                  <a:srgbClr val="6B2737"/>
                </a:solidFill>
                <a:latin typeface="Georgia" pitchFamily="34" charset="0"/>
                <a:ea typeface="Georgia" pitchFamily="34" charset="-122"/>
                <a:cs typeface="Georgia" pitchFamily="34" charset="-120"/>
              </a:rPr>
              <a:t>Two Goals, Four Research Questions</a:t>
            </a:r>
            <a:endParaRPr lang="en-US" sz="3467" dirty="0"/>
          </a:p>
        </p:txBody>
      </p:sp>
      <p:sp>
        <p:nvSpPr>
          <p:cNvPr id="4" name="Shape 2"/>
          <p:cNvSpPr/>
          <p:nvPr/>
        </p:nvSpPr>
        <p:spPr>
          <a:xfrm>
            <a:off x="548640" y="1170432"/>
            <a:ext cx="11094720" cy="0"/>
          </a:xfrm>
          <a:prstGeom prst="line">
            <a:avLst/>
          </a:prstGeom>
          <a:noFill/>
          <a:ln w="12700">
            <a:solidFill>
              <a:srgbClr val="D4CACA"/>
            </a:solidFill>
            <a:prstDash val="solid"/>
          </a:ln>
        </p:spPr>
        <p:txBody>
          <a:bodyPr/>
          <a:lstStyle/>
          <a:p>
            <a:endParaRPr lang="en-US" sz="2400"/>
          </a:p>
        </p:txBody>
      </p:sp>
      <p:sp>
        <p:nvSpPr>
          <p:cNvPr id="5" name="Text 3"/>
          <p:cNvSpPr/>
          <p:nvPr/>
        </p:nvSpPr>
        <p:spPr>
          <a:xfrm>
            <a:off x="10728960" y="6461760"/>
            <a:ext cx="1219200" cy="304800"/>
          </a:xfrm>
          <a:prstGeom prst="rect">
            <a:avLst/>
          </a:prstGeom>
          <a:noFill/>
          <a:ln/>
        </p:spPr>
        <p:txBody>
          <a:bodyPr wrap="square" lIns="0" tIns="0" rIns="0" bIns="0" rtlCol="0" anchor="ctr"/>
          <a:lstStyle/>
          <a:p>
            <a:pPr algn="r"/>
            <a:r>
              <a:rPr lang="en-US" sz="1200" dirty="0">
                <a:solidFill>
                  <a:srgbClr val="C4964A"/>
                </a:solidFill>
                <a:latin typeface="Calibri" pitchFamily="34" charset="0"/>
                <a:ea typeface="Calibri" pitchFamily="34" charset="-122"/>
                <a:cs typeface="Calibri" pitchFamily="34" charset="-120"/>
              </a:rPr>
              <a:t>3 / 12</a:t>
            </a:r>
            <a:endParaRPr lang="en-US" sz="1200" dirty="0"/>
          </a:p>
        </p:txBody>
      </p:sp>
      <p:sp>
        <p:nvSpPr>
          <p:cNvPr id="6" name="Shape 4"/>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7" name="Shape 5"/>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lang="en-US" sz="2400"/>
          </a:p>
        </p:txBody>
      </p:sp>
      <p:sp>
        <p:nvSpPr>
          <p:cNvPr id="8" name="Text 6"/>
          <p:cNvSpPr/>
          <p:nvPr/>
        </p:nvSpPr>
        <p:spPr>
          <a:xfrm>
            <a:off x="755904" y="1402080"/>
            <a:ext cx="5120640" cy="414528"/>
          </a:xfrm>
          <a:prstGeom prst="rect">
            <a:avLst/>
          </a:prstGeom>
          <a:noFill/>
          <a:ln/>
        </p:spPr>
        <p:txBody>
          <a:bodyPr wrap="square" lIns="0" tIns="0" rIns="0" bIns="0" rtlCol="0" anchor="ctr"/>
          <a:lstStyle/>
          <a:p>
            <a:r>
              <a:rPr lang="en-US" sz="1733" b="1" dirty="0">
                <a:solidFill>
                  <a:srgbClr val="3A7A50"/>
                </a:solidFill>
                <a:latin typeface="Georgia" pitchFamily="34" charset="0"/>
                <a:ea typeface="Georgia" pitchFamily="34" charset="-122"/>
                <a:cs typeface="Georgia" pitchFamily="34" charset="-120"/>
              </a:rPr>
              <a:t>✓  GOAL 1 — Rule Discovery</a:t>
            </a:r>
            <a:endParaRPr lang="en-US" sz="1733" dirty="0"/>
          </a:p>
        </p:txBody>
      </p:sp>
      <p:sp>
        <p:nvSpPr>
          <p:cNvPr id="9" name="Text 7"/>
          <p:cNvSpPr/>
          <p:nvPr/>
        </p:nvSpPr>
        <p:spPr>
          <a:xfrm>
            <a:off x="755904" y="1853184"/>
            <a:ext cx="5120640" cy="877824"/>
          </a:xfrm>
          <a:prstGeom prst="rect">
            <a:avLst/>
          </a:prstGeom>
          <a:noFill/>
          <a:ln/>
        </p:spPr>
        <p:txBody>
          <a:bodyPr wrap="square" lIns="0" tIns="0" rIns="0" bIns="0" rtlCol="0" anchor="ctr"/>
          <a:lstStyle/>
          <a:p>
            <a:r>
              <a:rPr lang="en-US" sz="1600" dirty="0">
                <a:solidFill>
                  <a:srgbClr val="1C1214"/>
                </a:solidFill>
                <a:latin typeface="Calibri" pitchFamily="34" charset="0"/>
                <a:ea typeface="Calibri" pitchFamily="34" charset="-122"/>
                <a:cs typeface="Calibri" pitchFamily="34" charset="-120"/>
              </a:rPr>
              <a:t>Discover interpretable agroclimatic rules explaining above / below-trend production years in each region.</a:t>
            </a:r>
            <a:endParaRPr lang="en-US" sz="1600" dirty="0"/>
          </a:p>
        </p:txBody>
      </p:sp>
      <p:sp>
        <p:nvSpPr>
          <p:cNvPr id="10" name="Text 8"/>
          <p:cNvSpPr/>
          <p:nvPr/>
        </p:nvSpPr>
        <p:spPr>
          <a:xfrm>
            <a:off x="755904" y="2779776"/>
            <a:ext cx="4876800" cy="365760"/>
          </a:xfrm>
          <a:prstGeom prst="rect">
            <a:avLst/>
          </a:prstGeom>
          <a:noFill/>
          <a:ln/>
        </p:spPr>
        <p:txBody>
          <a:bodyPr wrap="square" lIns="0" tIns="0" rIns="0" bIns="0" rtlCol="0" anchor="ctr"/>
          <a:lstStyle/>
          <a:p>
            <a:r>
              <a:rPr lang="en-US" sz="1600" b="1" dirty="0">
                <a:solidFill>
                  <a:srgbClr val="3A7A50"/>
                </a:solidFill>
                <a:latin typeface="Calibri" pitchFamily="34" charset="0"/>
                <a:ea typeface="Calibri" pitchFamily="34" charset="-122"/>
                <a:cs typeface="Calibri" pitchFamily="34" charset="-120"/>
              </a:rPr>
              <a:t>ACHIEVED ✓</a:t>
            </a:r>
            <a:endParaRPr lang="en-US" sz="1600" dirty="0"/>
          </a:p>
        </p:txBody>
      </p:sp>
      <p:sp>
        <p:nvSpPr>
          <p:cNvPr id="11" name="Text 9"/>
          <p:cNvSpPr/>
          <p:nvPr/>
        </p:nvSpPr>
        <p:spPr>
          <a:xfrm>
            <a:off x="755904" y="3121152"/>
            <a:ext cx="4876800" cy="341376"/>
          </a:xfrm>
          <a:prstGeom prst="rect">
            <a:avLst/>
          </a:prstGeom>
          <a:noFill/>
          <a:ln/>
        </p:spPr>
        <p:txBody>
          <a:bodyPr wrap="square" lIns="0" tIns="0" rIns="0" bIns="0" rtlCol="0" anchor="ctr"/>
          <a:lstStyle/>
          <a:p>
            <a:r>
              <a:rPr lang="en-US" sz="1333" i="1" dirty="0">
                <a:solidFill>
                  <a:srgbClr val="5A4042"/>
                </a:solidFill>
                <a:latin typeface="Calibri" pitchFamily="34" charset="0"/>
                <a:ea typeface="Calibri" pitchFamily="34" charset="-122"/>
                <a:cs typeface="Calibri" pitchFamily="34" charset="-120"/>
              </a:rPr>
              <a:t>48 rules (RDD) · 20 rules (RVV)</a:t>
            </a:r>
            <a:endParaRPr lang="en-US" sz="1333" dirty="0"/>
          </a:p>
        </p:txBody>
      </p:sp>
      <p:sp>
        <p:nvSpPr>
          <p:cNvPr id="12" name="Shape 10"/>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3" name="Shape 11"/>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lang="en-US" sz="2400"/>
          </a:p>
        </p:txBody>
      </p:sp>
      <p:sp>
        <p:nvSpPr>
          <p:cNvPr id="14" name="Text 12"/>
          <p:cNvSpPr/>
          <p:nvPr/>
        </p:nvSpPr>
        <p:spPr>
          <a:xfrm>
            <a:off x="6364224" y="1402080"/>
            <a:ext cx="5120640" cy="414528"/>
          </a:xfrm>
          <a:prstGeom prst="rect">
            <a:avLst/>
          </a:prstGeom>
          <a:noFill/>
          <a:ln/>
        </p:spPr>
        <p:txBody>
          <a:bodyPr wrap="square" lIns="0" tIns="0" rIns="0" bIns="0" rtlCol="0" anchor="ctr"/>
          <a:lstStyle/>
          <a:p>
            <a:r>
              <a:rPr lang="en-US" sz="1733" b="1" dirty="0">
                <a:solidFill>
                  <a:srgbClr val="B74A4A"/>
                </a:solidFill>
                <a:latin typeface="Georgia" pitchFamily="34" charset="0"/>
                <a:ea typeface="Georgia" pitchFamily="34" charset="-122"/>
                <a:cs typeface="Georgia" pitchFamily="34" charset="-120"/>
              </a:rPr>
              <a:t>✗  GOAL 2 — Predictive Validation</a:t>
            </a:r>
            <a:endParaRPr lang="en-US" sz="1733" dirty="0"/>
          </a:p>
        </p:txBody>
      </p:sp>
      <p:sp>
        <p:nvSpPr>
          <p:cNvPr id="15" name="Text 13"/>
          <p:cNvSpPr/>
          <p:nvPr/>
        </p:nvSpPr>
        <p:spPr>
          <a:xfrm>
            <a:off x="6364224" y="1853184"/>
            <a:ext cx="5120640" cy="877824"/>
          </a:xfrm>
          <a:prstGeom prst="rect">
            <a:avLst/>
          </a:prstGeom>
          <a:noFill/>
          <a:ln/>
        </p:spPr>
        <p:txBody>
          <a:bodyPr wrap="square" lIns="0" tIns="0" rIns="0" bIns="0" rtlCol="0" anchor="ctr"/>
          <a:lstStyle/>
          <a:p>
            <a:r>
              <a:rPr lang="en-US" sz="1600" dirty="0">
                <a:solidFill>
                  <a:srgbClr val="1C1214"/>
                </a:solidFill>
                <a:latin typeface="Calibri" pitchFamily="34" charset="0"/>
                <a:ea typeface="Calibri" pitchFamily="34" charset="-122"/>
                <a:cs typeface="Calibri" pitchFamily="34" charset="-120"/>
              </a:rPr>
              <a:t>Evaluate whether discovered rules beat a naive baseline in rigorous walk-forward (expanding window) validation.</a:t>
            </a:r>
            <a:endParaRPr lang="en-US" sz="1600" dirty="0"/>
          </a:p>
        </p:txBody>
      </p:sp>
      <p:sp>
        <p:nvSpPr>
          <p:cNvPr id="16" name="Text 14"/>
          <p:cNvSpPr/>
          <p:nvPr/>
        </p:nvSpPr>
        <p:spPr>
          <a:xfrm>
            <a:off x="6364224" y="2779776"/>
            <a:ext cx="5120640" cy="365760"/>
          </a:xfrm>
          <a:prstGeom prst="rect">
            <a:avLst/>
          </a:prstGeom>
          <a:noFill/>
          <a:ln/>
        </p:spPr>
        <p:txBody>
          <a:bodyPr wrap="square" lIns="0" tIns="0" rIns="0" bIns="0" rtlCol="0" anchor="ctr"/>
          <a:lstStyle/>
          <a:p>
            <a:r>
              <a:rPr lang="en-US" sz="1600" b="1" dirty="0">
                <a:solidFill>
                  <a:srgbClr val="B74A4A"/>
                </a:solidFill>
                <a:latin typeface="Calibri" pitchFamily="34" charset="0"/>
                <a:ea typeface="Calibri" pitchFamily="34" charset="-122"/>
                <a:cs typeface="Calibri" pitchFamily="34" charset="-120"/>
              </a:rPr>
              <a:t>NOT ACHIEVED in aggregate</a:t>
            </a:r>
            <a:endParaRPr lang="en-US" sz="1600" dirty="0"/>
          </a:p>
        </p:txBody>
      </p:sp>
      <p:sp>
        <p:nvSpPr>
          <p:cNvPr id="17" name="Text 15"/>
          <p:cNvSpPr/>
          <p:nvPr/>
        </p:nvSpPr>
        <p:spPr>
          <a:xfrm>
            <a:off x="6364224" y="3121152"/>
            <a:ext cx="5120640" cy="341376"/>
          </a:xfrm>
          <a:prstGeom prst="rect">
            <a:avLst/>
          </a:prstGeom>
          <a:noFill/>
          <a:ln/>
        </p:spPr>
        <p:txBody>
          <a:bodyPr wrap="square" lIns="0" tIns="0" rIns="0" bIns="0" rtlCol="0" anchor="ctr"/>
          <a:lstStyle/>
          <a:p>
            <a:r>
              <a:rPr lang="en-US" sz="1333" i="1" dirty="0">
                <a:solidFill>
                  <a:srgbClr val="5A4042"/>
                </a:solidFill>
                <a:latin typeface="Calibri" pitchFamily="34" charset="0"/>
                <a:ea typeface="Calibri" pitchFamily="34" charset="-122"/>
                <a:cs typeface="Calibri" pitchFamily="34" charset="-120"/>
              </a:rPr>
              <a:t>Conditional finding in Douro (exploratory)</a:t>
            </a:r>
            <a:endParaRPr lang="en-US" sz="1333" dirty="0"/>
          </a:p>
        </p:txBody>
      </p:sp>
      <p:sp>
        <p:nvSpPr>
          <p:cNvPr id="18" name="Shape 16"/>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9" name="Text 17"/>
          <p:cNvSpPr/>
          <p:nvPr/>
        </p:nvSpPr>
        <p:spPr>
          <a:xfrm>
            <a:off x="792480" y="4169664"/>
            <a:ext cx="10607040" cy="365760"/>
          </a:xfrm>
          <a:prstGeom prst="rect">
            <a:avLst/>
          </a:prstGeom>
          <a:noFill/>
          <a:ln/>
        </p:spPr>
        <p:txBody>
          <a:bodyPr wrap="square" lIns="0" tIns="0" rIns="0" bIns="0" rtlCol="0" anchor="ctr"/>
          <a:lstStyle/>
          <a:p>
            <a:r>
              <a:rPr lang="en-US" sz="1600" b="1" dirty="0">
                <a:solidFill>
                  <a:srgbClr val="6B2737"/>
                </a:solidFill>
                <a:latin typeface="Georgia" pitchFamily="34" charset="0"/>
                <a:ea typeface="Georgia" pitchFamily="34" charset="-122"/>
                <a:cs typeface="Georgia" pitchFamily="34" charset="-120"/>
              </a:rPr>
              <a:t>Research Questions</a:t>
            </a:r>
            <a:endParaRPr lang="en-US" sz="1600" dirty="0"/>
          </a:p>
        </p:txBody>
      </p:sp>
      <p:sp>
        <p:nvSpPr>
          <p:cNvPr id="20" name="Text 18"/>
          <p:cNvSpPr/>
          <p:nvPr/>
        </p:nvSpPr>
        <p:spPr>
          <a:xfrm>
            <a:off x="792480" y="4608576"/>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RQ1  </a:t>
            </a:r>
            <a:endParaRPr lang="en-US" sz="1333" dirty="0"/>
          </a:p>
        </p:txBody>
      </p:sp>
      <p:sp>
        <p:nvSpPr>
          <p:cNvPr id="21" name="Text 19"/>
          <p:cNvSpPr/>
          <p:nvPr/>
        </p:nvSpPr>
        <p:spPr>
          <a:xfrm>
            <a:off x="1402080" y="4608576"/>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Which climate variables most consistently distinguish above/below-trend years?</a:t>
            </a:r>
            <a:endParaRPr lang="en-US" sz="1333" dirty="0"/>
          </a:p>
        </p:txBody>
      </p:sp>
      <p:sp>
        <p:nvSpPr>
          <p:cNvPr id="22" name="Text 20"/>
          <p:cNvSpPr/>
          <p:nvPr/>
        </p:nvSpPr>
        <p:spPr>
          <a:xfrm>
            <a:off x="792480" y="5193792"/>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RQ2  </a:t>
            </a:r>
            <a:endParaRPr lang="en-US" sz="1333" dirty="0"/>
          </a:p>
        </p:txBody>
      </p:sp>
      <p:sp>
        <p:nvSpPr>
          <p:cNvPr id="23" name="Text 21"/>
          <p:cNvSpPr/>
          <p:nvPr/>
        </p:nvSpPr>
        <p:spPr>
          <a:xfrm>
            <a:off x="1402080" y="5193792"/>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Are the identified variables genuine within-era signals or era-membership artefacts?</a:t>
            </a:r>
            <a:endParaRPr lang="en-US" sz="1333" dirty="0"/>
          </a:p>
        </p:txBody>
      </p:sp>
      <p:sp>
        <p:nvSpPr>
          <p:cNvPr id="24" name="Text 22"/>
          <p:cNvSpPr/>
          <p:nvPr/>
        </p:nvSpPr>
        <p:spPr>
          <a:xfrm>
            <a:off x="6217920" y="4608576"/>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RQ3  </a:t>
            </a:r>
            <a:endParaRPr lang="en-US" sz="1333" dirty="0"/>
          </a:p>
        </p:txBody>
      </p:sp>
      <p:sp>
        <p:nvSpPr>
          <p:cNvPr id="25" name="Text 23"/>
          <p:cNvSpPr/>
          <p:nvPr/>
        </p:nvSpPr>
        <p:spPr>
          <a:xfrm>
            <a:off x="6827520" y="4608576"/>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Do three independent algorithms converge on the same features?</a:t>
            </a:r>
            <a:endParaRPr lang="en-US" sz="1333" dirty="0"/>
          </a:p>
        </p:txBody>
      </p:sp>
      <p:sp>
        <p:nvSpPr>
          <p:cNvPr id="26" name="Text 24"/>
          <p:cNvSpPr/>
          <p:nvPr/>
        </p:nvSpPr>
        <p:spPr>
          <a:xfrm>
            <a:off x="6217920" y="5193792"/>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RQ4  </a:t>
            </a:r>
            <a:endParaRPr lang="en-US" sz="1333" dirty="0"/>
          </a:p>
        </p:txBody>
      </p:sp>
      <p:sp>
        <p:nvSpPr>
          <p:cNvPr id="27" name="Text 25"/>
          <p:cNvSpPr/>
          <p:nvPr/>
        </p:nvSpPr>
        <p:spPr>
          <a:xfrm>
            <a:off x="6827520" y="5193792"/>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Do discovered rules improve out-of-sample forecasts in walk-forward validation?</a:t>
            </a:r>
            <a:endParaRPr lang="en-US" sz="1333" dirty="0"/>
          </a:p>
        </p:txBody>
      </p:sp>
      <p:sp>
        <p:nvSpPr>
          <p:cNvPr id="28" name="Text 26"/>
          <p:cNvSpPr/>
          <p:nvPr/>
        </p:nvSpPr>
        <p:spPr>
          <a:xfrm>
            <a:off x="548640" y="6461760"/>
            <a:ext cx="11094720" cy="304800"/>
          </a:xfrm>
          <a:prstGeom prst="rect">
            <a:avLst/>
          </a:prstGeom>
          <a:noFill/>
          <a:ln/>
        </p:spPr>
        <p:txBody>
          <a:bodyPr wrap="square" lIns="0" tIns="0" rIns="0" bIns="0" rtlCol="0" anchor="ctr"/>
          <a:lstStyle/>
          <a:p>
            <a:pPr algn="ctr"/>
            <a:r>
              <a:rPr lang="en-US" sz="1333" b="1" i="1" dirty="0">
                <a:solidFill>
                  <a:srgbClr val="6B2737"/>
                </a:solidFill>
                <a:latin typeface="Calibri" pitchFamily="34" charset="0"/>
                <a:ea typeface="Calibri" pitchFamily="34" charset="-122"/>
                <a:cs typeface="Calibri" pitchFamily="34" charset="-120"/>
              </a:rPr>
              <a:t>The most scientifically interesting finding was not that prediction failed — it was why it failed.</a:t>
            </a:r>
            <a:endParaRPr lang="en-US" sz="1333"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2E242-AF20-62BC-CDD5-737B674CE65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ABC41FD-FD66-BD55-8CBE-4F86A5FC997D}"/>
              </a:ext>
            </a:extLst>
          </p:cNvPr>
          <p:cNvSpPr/>
          <p:nvPr/>
        </p:nvSpPr>
        <p:spPr>
          <a:xfrm>
            <a:off x="0" y="0"/>
            <a:ext cx="12192000" cy="79248"/>
          </a:xfrm>
          <a:prstGeom prst="rect">
            <a:avLst/>
          </a:prstGeom>
          <a:solidFill>
            <a:srgbClr val="C4964A"/>
          </a:solidFill>
          <a:ln w="12700">
            <a:solidFill>
              <a:srgbClr val="C4964A"/>
            </a:solidFill>
            <a:prstDash val="solid"/>
          </a:ln>
        </p:spPr>
        <p:txBody>
          <a:bodyPr/>
          <a:lstStyle/>
          <a:p>
            <a:endParaRPr lang="en-US" sz="2400"/>
          </a:p>
        </p:txBody>
      </p:sp>
      <p:sp>
        <p:nvSpPr>
          <p:cNvPr id="3" name="Text 1">
            <a:extLst>
              <a:ext uri="{FF2B5EF4-FFF2-40B4-BE49-F238E27FC236}">
                <a16:creationId xmlns:a16="http://schemas.microsoft.com/office/drawing/2014/main" id="{C76943E3-5F4A-F628-74D7-94C314832AD1}"/>
              </a:ext>
            </a:extLst>
          </p:cNvPr>
          <p:cNvSpPr/>
          <p:nvPr/>
        </p:nvSpPr>
        <p:spPr>
          <a:xfrm>
            <a:off x="548640" y="146304"/>
            <a:ext cx="11094720" cy="707136"/>
          </a:xfrm>
          <a:prstGeom prst="rect">
            <a:avLst/>
          </a:prstGeom>
          <a:noFill/>
          <a:ln/>
        </p:spPr>
        <p:txBody>
          <a:bodyPr wrap="square" lIns="0" tIns="0" rIns="0" bIns="0" rtlCol="0" anchor="ctr"/>
          <a:lstStyle/>
          <a:p>
            <a:r>
              <a:rPr lang="en-US" sz="3467" b="1" dirty="0">
                <a:solidFill>
                  <a:srgbClr val="6B2737"/>
                </a:solidFill>
                <a:latin typeface="Georgia" pitchFamily="34" charset="0"/>
                <a:ea typeface="Georgia" pitchFamily="34" charset="-122"/>
                <a:cs typeface="Georgia" pitchFamily="34" charset="-120"/>
              </a:rPr>
              <a:t>Two Goals, Four Research Questions</a:t>
            </a:r>
            <a:endParaRPr lang="en-US" sz="3467" dirty="0"/>
          </a:p>
        </p:txBody>
      </p:sp>
      <p:sp>
        <p:nvSpPr>
          <p:cNvPr id="4" name="Shape 2">
            <a:extLst>
              <a:ext uri="{FF2B5EF4-FFF2-40B4-BE49-F238E27FC236}">
                <a16:creationId xmlns:a16="http://schemas.microsoft.com/office/drawing/2014/main" id="{61D5474E-B85F-CB36-708A-E6D460581028}"/>
              </a:ext>
            </a:extLst>
          </p:cNvPr>
          <p:cNvSpPr/>
          <p:nvPr/>
        </p:nvSpPr>
        <p:spPr>
          <a:xfrm>
            <a:off x="548640" y="1170432"/>
            <a:ext cx="11094720" cy="0"/>
          </a:xfrm>
          <a:prstGeom prst="line">
            <a:avLst/>
          </a:prstGeom>
          <a:noFill/>
          <a:ln w="12700">
            <a:solidFill>
              <a:srgbClr val="D4CACA"/>
            </a:solidFill>
            <a:prstDash val="solid"/>
          </a:ln>
        </p:spPr>
        <p:txBody>
          <a:bodyPr/>
          <a:lstStyle/>
          <a:p>
            <a:endParaRPr lang="en-US" sz="2400"/>
          </a:p>
        </p:txBody>
      </p:sp>
      <p:sp>
        <p:nvSpPr>
          <p:cNvPr id="5" name="Text 3">
            <a:extLst>
              <a:ext uri="{FF2B5EF4-FFF2-40B4-BE49-F238E27FC236}">
                <a16:creationId xmlns:a16="http://schemas.microsoft.com/office/drawing/2014/main" id="{10F85C39-2135-FC14-0A15-16834B643578}"/>
              </a:ext>
            </a:extLst>
          </p:cNvPr>
          <p:cNvSpPr/>
          <p:nvPr/>
        </p:nvSpPr>
        <p:spPr>
          <a:xfrm>
            <a:off x="10728960" y="6461760"/>
            <a:ext cx="1219200" cy="304800"/>
          </a:xfrm>
          <a:prstGeom prst="rect">
            <a:avLst/>
          </a:prstGeom>
          <a:noFill/>
          <a:ln/>
        </p:spPr>
        <p:txBody>
          <a:bodyPr wrap="square" lIns="0" tIns="0" rIns="0" bIns="0" rtlCol="0" anchor="ctr"/>
          <a:lstStyle/>
          <a:p>
            <a:pPr algn="r"/>
            <a:r>
              <a:rPr lang="en-US" sz="1200" dirty="0">
                <a:solidFill>
                  <a:srgbClr val="C4964A"/>
                </a:solidFill>
                <a:latin typeface="Calibri" pitchFamily="34" charset="0"/>
                <a:ea typeface="Calibri" pitchFamily="34" charset="-122"/>
                <a:cs typeface="Calibri" pitchFamily="34" charset="-120"/>
              </a:rPr>
              <a:t>3 / 12</a:t>
            </a:r>
            <a:endParaRPr lang="en-US" sz="1200" dirty="0"/>
          </a:p>
        </p:txBody>
      </p:sp>
      <p:sp>
        <p:nvSpPr>
          <p:cNvPr id="6" name="Shape 4">
            <a:extLst>
              <a:ext uri="{FF2B5EF4-FFF2-40B4-BE49-F238E27FC236}">
                <a16:creationId xmlns:a16="http://schemas.microsoft.com/office/drawing/2014/main" id="{3B733AF3-3885-7142-20DB-A17300C4AD00}"/>
              </a:ext>
            </a:extLst>
          </p:cNvPr>
          <p:cNvSpPr/>
          <p:nvPr/>
        </p:nvSpPr>
        <p:spPr>
          <a:xfrm>
            <a:off x="548640" y="1341120"/>
            <a:ext cx="5486400" cy="2560320"/>
          </a:xfrm>
          <a:prstGeom prst="rect">
            <a:avLst/>
          </a:prstGeom>
          <a:solidFill>
            <a:srgbClr val="E8F4ED"/>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7" name="Shape 5">
            <a:extLst>
              <a:ext uri="{FF2B5EF4-FFF2-40B4-BE49-F238E27FC236}">
                <a16:creationId xmlns:a16="http://schemas.microsoft.com/office/drawing/2014/main" id="{D50C6D3D-514B-2212-0428-9DAD33D370DD}"/>
              </a:ext>
            </a:extLst>
          </p:cNvPr>
          <p:cNvSpPr/>
          <p:nvPr/>
        </p:nvSpPr>
        <p:spPr>
          <a:xfrm>
            <a:off x="548640" y="1341120"/>
            <a:ext cx="73152" cy="2560320"/>
          </a:xfrm>
          <a:prstGeom prst="rect">
            <a:avLst/>
          </a:prstGeom>
          <a:solidFill>
            <a:srgbClr val="3A7A50"/>
          </a:solidFill>
          <a:ln w="12700">
            <a:solidFill>
              <a:srgbClr val="3A7A50"/>
            </a:solidFill>
            <a:prstDash val="solid"/>
          </a:ln>
        </p:spPr>
        <p:txBody>
          <a:bodyPr/>
          <a:lstStyle/>
          <a:p>
            <a:endParaRPr lang="en-US" sz="2400"/>
          </a:p>
        </p:txBody>
      </p:sp>
      <p:sp>
        <p:nvSpPr>
          <p:cNvPr id="8" name="Text 6">
            <a:extLst>
              <a:ext uri="{FF2B5EF4-FFF2-40B4-BE49-F238E27FC236}">
                <a16:creationId xmlns:a16="http://schemas.microsoft.com/office/drawing/2014/main" id="{9C2DD699-8908-9753-A70B-CC95EEF13B53}"/>
              </a:ext>
            </a:extLst>
          </p:cNvPr>
          <p:cNvSpPr/>
          <p:nvPr/>
        </p:nvSpPr>
        <p:spPr>
          <a:xfrm>
            <a:off x="755904" y="1402080"/>
            <a:ext cx="5120640" cy="414528"/>
          </a:xfrm>
          <a:prstGeom prst="rect">
            <a:avLst/>
          </a:prstGeom>
          <a:noFill/>
          <a:ln/>
        </p:spPr>
        <p:txBody>
          <a:bodyPr wrap="square" lIns="0" tIns="0" rIns="0" bIns="0" rtlCol="0" anchor="ctr"/>
          <a:lstStyle/>
          <a:p>
            <a:r>
              <a:rPr lang="en-US" sz="1733" b="1" dirty="0">
                <a:solidFill>
                  <a:srgbClr val="3A7A50"/>
                </a:solidFill>
                <a:latin typeface="Georgia" pitchFamily="34" charset="0"/>
                <a:ea typeface="Georgia" pitchFamily="34" charset="-122"/>
                <a:cs typeface="Georgia" pitchFamily="34" charset="-120"/>
              </a:rPr>
              <a:t>✓  GOAL 1 — Rule Discovery</a:t>
            </a:r>
            <a:endParaRPr lang="en-US" sz="1733" dirty="0"/>
          </a:p>
        </p:txBody>
      </p:sp>
      <p:sp>
        <p:nvSpPr>
          <p:cNvPr id="9" name="Text 7">
            <a:extLst>
              <a:ext uri="{FF2B5EF4-FFF2-40B4-BE49-F238E27FC236}">
                <a16:creationId xmlns:a16="http://schemas.microsoft.com/office/drawing/2014/main" id="{336A8874-7C57-2EA8-DA84-C6BB3FC53F85}"/>
              </a:ext>
            </a:extLst>
          </p:cNvPr>
          <p:cNvSpPr/>
          <p:nvPr/>
        </p:nvSpPr>
        <p:spPr>
          <a:xfrm>
            <a:off x="755904" y="1853184"/>
            <a:ext cx="5120640" cy="877824"/>
          </a:xfrm>
          <a:prstGeom prst="rect">
            <a:avLst/>
          </a:prstGeom>
          <a:noFill/>
          <a:ln/>
        </p:spPr>
        <p:txBody>
          <a:bodyPr wrap="square" lIns="0" tIns="0" rIns="0" bIns="0" rtlCol="0" anchor="ctr"/>
          <a:lstStyle/>
          <a:p>
            <a:r>
              <a:rPr lang="en-US" sz="1600" dirty="0">
                <a:solidFill>
                  <a:srgbClr val="1C1214"/>
                </a:solidFill>
                <a:latin typeface="Calibri" pitchFamily="34" charset="0"/>
                <a:ea typeface="Calibri" pitchFamily="34" charset="-122"/>
                <a:cs typeface="Calibri" pitchFamily="34" charset="-120"/>
              </a:rPr>
              <a:t>Discover interpretable agroclimatic rules explaining above / below-trend production years in each region.</a:t>
            </a:r>
            <a:endParaRPr lang="en-US" sz="1600" dirty="0"/>
          </a:p>
        </p:txBody>
      </p:sp>
      <p:sp>
        <p:nvSpPr>
          <p:cNvPr id="10" name="Text 8">
            <a:extLst>
              <a:ext uri="{FF2B5EF4-FFF2-40B4-BE49-F238E27FC236}">
                <a16:creationId xmlns:a16="http://schemas.microsoft.com/office/drawing/2014/main" id="{2601501F-B0DB-A2DE-E65E-9A371241A745}"/>
              </a:ext>
            </a:extLst>
          </p:cNvPr>
          <p:cNvSpPr/>
          <p:nvPr/>
        </p:nvSpPr>
        <p:spPr>
          <a:xfrm>
            <a:off x="755904" y="2779776"/>
            <a:ext cx="4876800" cy="365760"/>
          </a:xfrm>
          <a:prstGeom prst="rect">
            <a:avLst/>
          </a:prstGeom>
          <a:noFill/>
          <a:ln/>
        </p:spPr>
        <p:txBody>
          <a:bodyPr wrap="square" lIns="0" tIns="0" rIns="0" bIns="0" rtlCol="0" anchor="ctr"/>
          <a:lstStyle/>
          <a:p>
            <a:r>
              <a:rPr lang="en-US" sz="1600" b="1" dirty="0">
                <a:solidFill>
                  <a:srgbClr val="3A7A50"/>
                </a:solidFill>
                <a:latin typeface="Calibri" pitchFamily="34" charset="0"/>
                <a:ea typeface="Calibri" pitchFamily="34" charset="-122"/>
                <a:cs typeface="Calibri" pitchFamily="34" charset="-120"/>
              </a:rPr>
              <a:t>ACHIEVED ✓</a:t>
            </a:r>
            <a:endParaRPr lang="en-US" sz="1600" dirty="0"/>
          </a:p>
        </p:txBody>
      </p:sp>
      <p:sp>
        <p:nvSpPr>
          <p:cNvPr id="11" name="Text 9">
            <a:extLst>
              <a:ext uri="{FF2B5EF4-FFF2-40B4-BE49-F238E27FC236}">
                <a16:creationId xmlns:a16="http://schemas.microsoft.com/office/drawing/2014/main" id="{18BCE43C-B669-9FD9-4D08-7116FD80D71E}"/>
              </a:ext>
            </a:extLst>
          </p:cNvPr>
          <p:cNvSpPr/>
          <p:nvPr/>
        </p:nvSpPr>
        <p:spPr>
          <a:xfrm>
            <a:off x="755904" y="3121152"/>
            <a:ext cx="4876800" cy="341376"/>
          </a:xfrm>
          <a:prstGeom prst="rect">
            <a:avLst/>
          </a:prstGeom>
          <a:noFill/>
          <a:ln/>
        </p:spPr>
        <p:txBody>
          <a:bodyPr wrap="square" lIns="0" tIns="0" rIns="0" bIns="0" rtlCol="0" anchor="ctr"/>
          <a:lstStyle/>
          <a:p>
            <a:r>
              <a:rPr lang="en-US" sz="1333" i="1" dirty="0">
                <a:solidFill>
                  <a:srgbClr val="5A4042"/>
                </a:solidFill>
                <a:latin typeface="Calibri" pitchFamily="34" charset="0"/>
                <a:ea typeface="Calibri" pitchFamily="34" charset="-122"/>
                <a:cs typeface="Calibri" pitchFamily="34" charset="-120"/>
              </a:rPr>
              <a:t>48 rules (RDD) · 20 rules (RVV)</a:t>
            </a:r>
            <a:endParaRPr lang="en-US" sz="1333" dirty="0"/>
          </a:p>
        </p:txBody>
      </p:sp>
      <p:sp>
        <p:nvSpPr>
          <p:cNvPr id="12" name="Shape 10">
            <a:extLst>
              <a:ext uri="{FF2B5EF4-FFF2-40B4-BE49-F238E27FC236}">
                <a16:creationId xmlns:a16="http://schemas.microsoft.com/office/drawing/2014/main" id="{2DCDFD32-66AC-E6EF-353E-56FE3033BE39}"/>
              </a:ext>
            </a:extLst>
          </p:cNvPr>
          <p:cNvSpPr/>
          <p:nvPr/>
        </p:nvSpPr>
        <p:spPr>
          <a:xfrm>
            <a:off x="6156960" y="1341120"/>
            <a:ext cx="5486400" cy="2560320"/>
          </a:xfrm>
          <a:prstGeom prst="rect">
            <a:avLst/>
          </a:prstGeom>
          <a:solidFill>
            <a:srgbClr val="F9ECEC"/>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3" name="Shape 11">
            <a:extLst>
              <a:ext uri="{FF2B5EF4-FFF2-40B4-BE49-F238E27FC236}">
                <a16:creationId xmlns:a16="http://schemas.microsoft.com/office/drawing/2014/main" id="{4EF2F843-8FA6-4247-31CC-E63788522477}"/>
              </a:ext>
            </a:extLst>
          </p:cNvPr>
          <p:cNvSpPr/>
          <p:nvPr/>
        </p:nvSpPr>
        <p:spPr>
          <a:xfrm>
            <a:off x="6156960" y="1341120"/>
            <a:ext cx="73152" cy="2560320"/>
          </a:xfrm>
          <a:prstGeom prst="rect">
            <a:avLst/>
          </a:prstGeom>
          <a:solidFill>
            <a:srgbClr val="B74A4A"/>
          </a:solidFill>
          <a:ln w="12700">
            <a:solidFill>
              <a:srgbClr val="B74A4A"/>
            </a:solidFill>
            <a:prstDash val="solid"/>
          </a:ln>
        </p:spPr>
        <p:txBody>
          <a:bodyPr/>
          <a:lstStyle/>
          <a:p>
            <a:endParaRPr lang="en-US" sz="2400"/>
          </a:p>
        </p:txBody>
      </p:sp>
      <p:sp>
        <p:nvSpPr>
          <p:cNvPr id="14" name="Text 12">
            <a:extLst>
              <a:ext uri="{FF2B5EF4-FFF2-40B4-BE49-F238E27FC236}">
                <a16:creationId xmlns:a16="http://schemas.microsoft.com/office/drawing/2014/main" id="{855814AC-7AB8-5B50-A56A-A6F99DCA40EF}"/>
              </a:ext>
            </a:extLst>
          </p:cNvPr>
          <p:cNvSpPr/>
          <p:nvPr/>
        </p:nvSpPr>
        <p:spPr>
          <a:xfrm>
            <a:off x="6364224" y="1402080"/>
            <a:ext cx="5120640" cy="414528"/>
          </a:xfrm>
          <a:prstGeom prst="rect">
            <a:avLst/>
          </a:prstGeom>
          <a:noFill/>
          <a:ln/>
        </p:spPr>
        <p:txBody>
          <a:bodyPr wrap="square" lIns="0" tIns="0" rIns="0" bIns="0" rtlCol="0" anchor="ctr"/>
          <a:lstStyle/>
          <a:p>
            <a:r>
              <a:rPr lang="en-US" sz="1733" b="1" dirty="0">
                <a:solidFill>
                  <a:srgbClr val="B74A4A"/>
                </a:solidFill>
                <a:latin typeface="Georgia" pitchFamily="34" charset="0"/>
                <a:ea typeface="Georgia" pitchFamily="34" charset="-122"/>
                <a:cs typeface="Georgia" pitchFamily="34" charset="-120"/>
              </a:rPr>
              <a:t>✗  GOAL 2 — Predictive Validation</a:t>
            </a:r>
            <a:endParaRPr lang="en-US" sz="1733" dirty="0"/>
          </a:p>
        </p:txBody>
      </p:sp>
      <p:sp>
        <p:nvSpPr>
          <p:cNvPr id="15" name="Text 13">
            <a:extLst>
              <a:ext uri="{FF2B5EF4-FFF2-40B4-BE49-F238E27FC236}">
                <a16:creationId xmlns:a16="http://schemas.microsoft.com/office/drawing/2014/main" id="{6257D09F-F6D6-581B-A73A-B7AD8BF40EA0}"/>
              </a:ext>
            </a:extLst>
          </p:cNvPr>
          <p:cNvSpPr/>
          <p:nvPr/>
        </p:nvSpPr>
        <p:spPr>
          <a:xfrm>
            <a:off x="6364224" y="1853184"/>
            <a:ext cx="5120640" cy="877824"/>
          </a:xfrm>
          <a:prstGeom prst="rect">
            <a:avLst/>
          </a:prstGeom>
          <a:noFill/>
          <a:ln/>
        </p:spPr>
        <p:txBody>
          <a:bodyPr wrap="square" lIns="0" tIns="0" rIns="0" bIns="0" rtlCol="0" anchor="ctr"/>
          <a:lstStyle/>
          <a:p>
            <a:r>
              <a:rPr lang="en-US" sz="1600" dirty="0">
                <a:solidFill>
                  <a:srgbClr val="1C1214"/>
                </a:solidFill>
                <a:latin typeface="Calibri" pitchFamily="34" charset="0"/>
                <a:ea typeface="Calibri" pitchFamily="34" charset="-122"/>
                <a:cs typeface="Calibri" pitchFamily="34" charset="-120"/>
              </a:rPr>
              <a:t>Evaluate whether discovered rules beat a naive baseline in rigorous walk-forward (expanding window) validation.</a:t>
            </a:r>
            <a:endParaRPr lang="en-US" sz="1600" dirty="0"/>
          </a:p>
        </p:txBody>
      </p:sp>
      <p:sp>
        <p:nvSpPr>
          <p:cNvPr id="16" name="Text 14">
            <a:extLst>
              <a:ext uri="{FF2B5EF4-FFF2-40B4-BE49-F238E27FC236}">
                <a16:creationId xmlns:a16="http://schemas.microsoft.com/office/drawing/2014/main" id="{D9D6DDF4-18E0-82F5-A14D-96E42D60B91C}"/>
              </a:ext>
            </a:extLst>
          </p:cNvPr>
          <p:cNvSpPr/>
          <p:nvPr/>
        </p:nvSpPr>
        <p:spPr>
          <a:xfrm>
            <a:off x="6364224" y="2779776"/>
            <a:ext cx="5120640" cy="365760"/>
          </a:xfrm>
          <a:prstGeom prst="rect">
            <a:avLst/>
          </a:prstGeom>
          <a:noFill/>
          <a:ln/>
        </p:spPr>
        <p:txBody>
          <a:bodyPr wrap="square" lIns="0" tIns="0" rIns="0" bIns="0" rtlCol="0" anchor="ctr"/>
          <a:lstStyle/>
          <a:p>
            <a:r>
              <a:rPr lang="en-US" sz="1600" b="1" dirty="0">
                <a:solidFill>
                  <a:srgbClr val="B74A4A"/>
                </a:solidFill>
                <a:latin typeface="Calibri" pitchFamily="34" charset="0"/>
                <a:ea typeface="Calibri" pitchFamily="34" charset="-122"/>
                <a:cs typeface="Calibri" pitchFamily="34" charset="-120"/>
              </a:rPr>
              <a:t>NOT ACHIEVED in aggregate</a:t>
            </a:r>
            <a:endParaRPr lang="en-US" sz="1600" dirty="0"/>
          </a:p>
        </p:txBody>
      </p:sp>
      <p:sp>
        <p:nvSpPr>
          <p:cNvPr id="17" name="Text 15">
            <a:extLst>
              <a:ext uri="{FF2B5EF4-FFF2-40B4-BE49-F238E27FC236}">
                <a16:creationId xmlns:a16="http://schemas.microsoft.com/office/drawing/2014/main" id="{CAC40BFD-C4E2-4AE3-0D08-CBA8CCE39719}"/>
              </a:ext>
            </a:extLst>
          </p:cNvPr>
          <p:cNvSpPr/>
          <p:nvPr/>
        </p:nvSpPr>
        <p:spPr>
          <a:xfrm>
            <a:off x="6364224" y="3121152"/>
            <a:ext cx="5120640" cy="341376"/>
          </a:xfrm>
          <a:prstGeom prst="rect">
            <a:avLst/>
          </a:prstGeom>
          <a:noFill/>
          <a:ln/>
        </p:spPr>
        <p:txBody>
          <a:bodyPr wrap="square" lIns="0" tIns="0" rIns="0" bIns="0" rtlCol="0" anchor="ctr"/>
          <a:lstStyle/>
          <a:p>
            <a:r>
              <a:rPr lang="en-US" sz="1333" i="1" dirty="0">
                <a:solidFill>
                  <a:srgbClr val="5A4042"/>
                </a:solidFill>
                <a:latin typeface="Calibri" pitchFamily="34" charset="0"/>
                <a:ea typeface="Calibri" pitchFamily="34" charset="-122"/>
                <a:cs typeface="Calibri" pitchFamily="34" charset="-120"/>
              </a:rPr>
              <a:t>Conditional finding in Douro (exploratory)</a:t>
            </a:r>
            <a:endParaRPr lang="en-US" sz="1333" dirty="0"/>
          </a:p>
        </p:txBody>
      </p:sp>
      <p:sp>
        <p:nvSpPr>
          <p:cNvPr id="18" name="Shape 16">
            <a:extLst>
              <a:ext uri="{FF2B5EF4-FFF2-40B4-BE49-F238E27FC236}">
                <a16:creationId xmlns:a16="http://schemas.microsoft.com/office/drawing/2014/main" id="{570F2AAA-785F-C97C-89FD-608402ED5310}"/>
              </a:ext>
            </a:extLst>
          </p:cNvPr>
          <p:cNvSpPr/>
          <p:nvPr/>
        </p:nvSpPr>
        <p:spPr>
          <a:xfrm>
            <a:off x="548640" y="4084320"/>
            <a:ext cx="11094720" cy="2377440"/>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9" name="Text 17">
            <a:extLst>
              <a:ext uri="{FF2B5EF4-FFF2-40B4-BE49-F238E27FC236}">
                <a16:creationId xmlns:a16="http://schemas.microsoft.com/office/drawing/2014/main" id="{CE65445A-3D87-DB00-351C-3418D44CDBEE}"/>
              </a:ext>
            </a:extLst>
          </p:cNvPr>
          <p:cNvSpPr/>
          <p:nvPr/>
        </p:nvSpPr>
        <p:spPr>
          <a:xfrm>
            <a:off x="792480" y="4169664"/>
            <a:ext cx="10607040" cy="365760"/>
          </a:xfrm>
          <a:prstGeom prst="rect">
            <a:avLst/>
          </a:prstGeom>
          <a:noFill/>
          <a:ln/>
        </p:spPr>
        <p:txBody>
          <a:bodyPr wrap="square" lIns="0" tIns="0" rIns="0" bIns="0" rtlCol="0" anchor="ctr"/>
          <a:lstStyle/>
          <a:p>
            <a:r>
              <a:rPr lang="en-US" sz="1600" b="1" dirty="0">
                <a:solidFill>
                  <a:srgbClr val="6B2737"/>
                </a:solidFill>
                <a:latin typeface="Georgia" pitchFamily="34" charset="0"/>
                <a:ea typeface="Georgia" pitchFamily="34" charset="-122"/>
                <a:cs typeface="Georgia" pitchFamily="34" charset="-120"/>
              </a:rPr>
              <a:t>Research Questions</a:t>
            </a:r>
            <a:endParaRPr lang="en-US" sz="1600" dirty="0"/>
          </a:p>
        </p:txBody>
      </p:sp>
      <p:sp>
        <p:nvSpPr>
          <p:cNvPr id="20" name="Text 18">
            <a:extLst>
              <a:ext uri="{FF2B5EF4-FFF2-40B4-BE49-F238E27FC236}">
                <a16:creationId xmlns:a16="http://schemas.microsoft.com/office/drawing/2014/main" id="{BCD3C0B8-66F5-AB95-E6AB-347813F6B451}"/>
              </a:ext>
            </a:extLst>
          </p:cNvPr>
          <p:cNvSpPr/>
          <p:nvPr/>
        </p:nvSpPr>
        <p:spPr>
          <a:xfrm>
            <a:off x="792480" y="4608576"/>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RQ1  </a:t>
            </a:r>
            <a:endParaRPr lang="en-US" sz="1333" dirty="0"/>
          </a:p>
        </p:txBody>
      </p:sp>
      <p:sp>
        <p:nvSpPr>
          <p:cNvPr id="21" name="Text 19">
            <a:extLst>
              <a:ext uri="{FF2B5EF4-FFF2-40B4-BE49-F238E27FC236}">
                <a16:creationId xmlns:a16="http://schemas.microsoft.com/office/drawing/2014/main" id="{E489CD6F-A3F0-E121-1276-416914011DA1}"/>
              </a:ext>
            </a:extLst>
          </p:cNvPr>
          <p:cNvSpPr/>
          <p:nvPr/>
        </p:nvSpPr>
        <p:spPr>
          <a:xfrm>
            <a:off x="1402080" y="4608576"/>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Which climate variables most consistently distinguish above/below-trend years?</a:t>
            </a:r>
            <a:endParaRPr lang="en-US" sz="1333" dirty="0"/>
          </a:p>
        </p:txBody>
      </p:sp>
      <p:sp>
        <p:nvSpPr>
          <p:cNvPr id="22" name="Text 20">
            <a:extLst>
              <a:ext uri="{FF2B5EF4-FFF2-40B4-BE49-F238E27FC236}">
                <a16:creationId xmlns:a16="http://schemas.microsoft.com/office/drawing/2014/main" id="{06720412-0F36-BB73-762F-90A3357F6AF3}"/>
              </a:ext>
            </a:extLst>
          </p:cNvPr>
          <p:cNvSpPr/>
          <p:nvPr/>
        </p:nvSpPr>
        <p:spPr>
          <a:xfrm>
            <a:off x="792480" y="5193792"/>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RQ2  </a:t>
            </a:r>
            <a:endParaRPr lang="en-US" sz="1333" dirty="0"/>
          </a:p>
        </p:txBody>
      </p:sp>
      <p:sp>
        <p:nvSpPr>
          <p:cNvPr id="23" name="Text 21">
            <a:extLst>
              <a:ext uri="{FF2B5EF4-FFF2-40B4-BE49-F238E27FC236}">
                <a16:creationId xmlns:a16="http://schemas.microsoft.com/office/drawing/2014/main" id="{924002C7-3EEC-1829-7A33-9C97A3ADF32F}"/>
              </a:ext>
            </a:extLst>
          </p:cNvPr>
          <p:cNvSpPr/>
          <p:nvPr/>
        </p:nvSpPr>
        <p:spPr>
          <a:xfrm>
            <a:off x="1402080" y="5193792"/>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Are the identified variables genuine within-era signals or era-membership artefacts?</a:t>
            </a:r>
            <a:endParaRPr lang="en-US" sz="1333" dirty="0"/>
          </a:p>
        </p:txBody>
      </p:sp>
      <p:sp>
        <p:nvSpPr>
          <p:cNvPr id="24" name="Text 22">
            <a:extLst>
              <a:ext uri="{FF2B5EF4-FFF2-40B4-BE49-F238E27FC236}">
                <a16:creationId xmlns:a16="http://schemas.microsoft.com/office/drawing/2014/main" id="{14F03383-7B7B-6C09-F153-F1C665953062}"/>
              </a:ext>
            </a:extLst>
          </p:cNvPr>
          <p:cNvSpPr/>
          <p:nvPr/>
        </p:nvSpPr>
        <p:spPr>
          <a:xfrm>
            <a:off x="6217920" y="4608576"/>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RQ3  </a:t>
            </a:r>
            <a:endParaRPr lang="en-US" sz="1333" dirty="0"/>
          </a:p>
        </p:txBody>
      </p:sp>
      <p:sp>
        <p:nvSpPr>
          <p:cNvPr id="25" name="Text 23">
            <a:extLst>
              <a:ext uri="{FF2B5EF4-FFF2-40B4-BE49-F238E27FC236}">
                <a16:creationId xmlns:a16="http://schemas.microsoft.com/office/drawing/2014/main" id="{26C7B69D-77EA-4FF8-0297-B1C43C62609D}"/>
              </a:ext>
            </a:extLst>
          </p:cNvPr>
          <p:cNvSpPr/>
          <p:nvPr/>
        </p:nvSpPr>
        <p:spPr>
          <a:xfrm>
            <a:off x="6827520" y="4608576"/>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Do three independent algorithms converge on the same features?</a:t>
            </a:r>
            <a:endParaRPr lang="en-US" sz="1333" dirty="0"/>
          </a:p>
        </p:txBody>
      </p:sp>
      <p:sp>
        <p:nvSpPr>
          <p:cNvPr id="26" name="Text 24">
            <a:extLst>
              <a:ext uri="{FF2B5EF4-FFF2-40B4-BE49-F238E27FC236}">
                <a16:creationId xmlns:a16="http://schemas.microsoft.com/office/drawing/2014/main" id="{7B5125BD-1E33-0624-B751-5FB117B4674E}"/>
              </a:ext>
            </a:extLst>
          </p:cNvPr>
          <p:cNvSpPr/>
          <p:nvPr/>
        </p:nvSpPr>
        <p:spPr>
          <a:xfrm>
            <a:off x="6217920" y="5193792"/>
            <a:ext cx="609600" cy="438912"/>
          </a:xfrm>
          <a:prstGeom prst="rect">
            <a:avLst/>
          </a:prstGeom>
          <a:noFill/>
          <a:ln/>
        </p:spPr>
        <p:txBody>
          <a:bodyPr wrap="square" lIns="0" tIns="0" rIns="0" bIns="0" rtlCol="0" anchor="ctr"/>
          <a:lstStyle/>
          <a:p>
            <a:r>
              <a:rPr lang="en-US" sz="1333" b="1" dirty="0">
                <a:solidFill>
                  <a:srgbClr val="C4964A"/>
                </a:solidFill>
                <a:latin typeface="Calibri" pitchFamily="34" charset="0"/>
                <a:ea typeface="Calibri" pitchFamily="34" charset="-122"/>
                <a:cs typeface="Calibri" pitchFamily="34" charset="-120"/>
              </a:rPr>
              <a:t>RQ4  </a:t>
            </a:r>
            <a:endParaRPr lang="en-US" sz="1333" dirty="0"/>
          </a:p>
        </p:txBody>
      </p:sp>
      <p:sp>
        <p:nvSpPr>
          <p:cNvPr id="27" name="Text 25">
            <a:extLst>
              <a:ext uri="{FF2B5EF4-FFF2-40B4-BE49-F238E27FC236}">
                <a16:creationId xmlns:a16="http://schemas.microsoft.com/office/drawing/2014/main" id="{F8B36E63-9F22-19CE-B441-2D9A4DE4EDA8}"/>
              </a:ext>
            </a:extLst>
          </p:cNvPr>
          <p:cNvSpPr/>
          <p:nvPr/>
        </p:nvSpPr>
        <p:spPr>
          <a:xfrm>
            <a:off x="6827520" y="5193792"/>
            <a:ext cx="4754880" cy="43891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Do discovered rules improve out-of-sample forecasts in walk-forward validation?</a:t>
            </a:r>
            <a:endParaRPr lang="en-US" sz="1333" dirty="0"/>
          </a:p>
        </p:txBody>
      </p:sp>
      <p:sp>
        <p:nvSpPr>
          <p:cNvPr id="28" name="Text 26">
            <a:extLst>
              <a:ext uri="{FF2B5EF4-FFF2-40B4-BE49-F238E27FC236}">
                <a16:creationId xmlns:a16="http://schemas.microsoft.com/office/drawing/2014/main" id="{3D3FBFE4-9EE0-3916-28C7-1B3E1B6E75F1}"/>
              </a:ext>
            </a:extLst>
          </p:cNvPr>
          <p:cNvSpPr/>
          <p:nvPr/>
        </p:nvSpPr>
        <p:spPr>
          <a:xfrm>
            <a:off x="548640" y="6461760"/>
            <a:ext cx="11094720" cy="304800"/>
          </a:xfrm>
          <a:prstGeom prst="rect">
            <a:avLst/>
          </a:prstGeom>
          <a:noFill/>
          <a:ln/>
        </p:spPr>
        <p:txBody>
          <a:bodyPr wrap="square" lIns="0" tIns="0" rIns="0" bIns="0" rtlCol="0" anchor="ctr"/>
          <a:lstStyle/>
          <a:p>
            <a:pPr algn="ctr"/>
            <a:r>
              <a:rPr lang="en-US" sz="1333" b="1" i="1" dirty="0">
                <a:solidFill>
                  <a:srgbClr val="6B2737"/>
                </a:solidFill>
                <a:latin typeface="Calibri" pitchFamily="34" charset="0"/>
                <a:ea typeface="Calibri" pitchFamily="34" charset="-122"/>
                <a:cs typeface="Calibri" pitchFamily="34" charset="-120"/>
              </a:rPr>
              <a:t>The most scientifically interesting finding was not that prediction failed — it was why it failed.</a:t>
            </a:r>
            <a:endParaRPr lang="en-US" sz="1333" dirty="0"/>
          </a:p>
        </p:txBody>
      </p:sp>
    </p:spTree>
    <p:extLst>
      <p:ext uri="{BB962C8B-B14F-4D97-AF65-F5344CB8AC3E}">
        <p14:creationId xmlns:p14="http://schemas.microsoft.com/office/powerpoint/2010/main" val="18811727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7733"/>
          </a:xfrm>
          <a:prstGeom prst="rect">
            <a:avLst/>
          </a:prstGeom>
          <a:solidFill>
            <a:srgbClr val="C49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609600" y="152401"/>
            <a:ext cx="10972800" cy="584775"/>
          </a:xfrm>
          <a:prstGeom prst="rect">
            <a:avLst/>
          </a:prstGeom>
          <a:noFill/>
        </p:spPr>
        <p:txBody>
          <a:bodyPr wrap="square">
            <a:spAutoFit/>
          </a:bodyPr>
          <a:lstStyle/>
          <a:p>
            <a:pPr algn="l"/>
            <a:r>
              <a:rPr sz="3200" b="1">
                <a:solidFill>
                  <a:srgbClr val="6B2737"/>
                </a:solidFill>
                <a:latin typeface="Georgia"/>
              </a:rPr>
              <a:t>Algorithm Comparison</a:t>
            </a:r>
          </a:p>
        </p:txBody>
      </p:sp>
      <p:sp>
        <p:nvSpPr>
          <p:cNvPr id="4" name="TextBox 3"/>
          <p:cNvSpPr txBox="1"/>
          <p:nvPr/>
        </p:nvSpPr>
        <p:spPr>
          <a:xfrm>
            <a:off x="609600" y="711200"/>
            <a:ext cx="10972800" cy="297454"/>
          </a:xfrm>
          <a:prstGeom prst="rect">
            <a:avLst/>
          </a:prstGeom>
          <a:noFill/>
        </p:spPr>
        <p:txBody>
          <a:bodyPr wrap="square">
            <a:spAutoFit/>
          </a:bodyPr>
          <a:lstStyle/>
          <a:p>
            <a:pPr algn="l"/>
            <a:r>
              <a:rPr sz="1333" i="1">
                <a:solidFill>
                  <a:srgbClr val="5A4042"/>
                </a:solidFill>
                <a:latin typeface="Calibri"/>
              </a:rPr>
              <a:t>Three interpretable rule learners — different questions, same feature domain</a:t>
            </a:r>
          </a:p>
        </p:txBody>
      </p:sp>
      <p:sp>
        <p:nvSpPr>
          <p:cNvPr id="5" name="Rectangle 4"/>
          <p:cNvSpPr/>
          <p:nvPr/>
        </p:nvSpPr>
        <p:spPr>
          <a:xfrm>
            <a:off x="609600" y="982134"/>
            <a:ext cx="10972800" cy="16933"/>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ectangle 5"/>
          <p:cNvSpPr/>
          <p:nvPr/>
        </p:nvSpPr>
        <p:spPr>
          <a:xfrm>
            <a:off x="6096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09600" y="1100667"/>
            <a:ext cx="3589867" cy="359009"/>
          </a:xfrm>
          <a:prstGeom prst="rect">
            <a:avLst/>
          </a:prstGeom>
          <a:noFill/>
        </p:spPr>
        <p:txBody>
          <a:bodyPr wrap="square">
            <a:spAutoFit/>
          </a:bodyPr>
          <a:lstStyle/>
          <a:p>
            <a:pPr algn="ctr"/>
            <a:r>
              <a:rPr sz="1733" b="1">
                <a:solidFill>
                  <a:srgbClr val="C4964A"/>
                </a:solidFill>
                <a:latin typeface="Georgia"/>
              </a:rPr>
              <a:t>CarenR</a:t>
            </a:r>
          </a:p>
        </p:txBody>
      </p:sp>
      <p:sp>
        <p:nvSpPr>
          <p:cNvPr id="8" name="TextBox 7"/>
          <p:cNvSpPr txBox="1"/>
          <p:nvPr/>
        </p:nvSpPr>
        <p:spPr>
          <a:xfrm>
            <a:off x="609600" y="1371601"/>
            <a:ext cx="3589867" cy="256545"/>
          </a:xfrm>
          <a:prstGeom prst="rect">
            <a:avLst/>
          </a:prstGeom>
          <a:noFill/>
        </p:spPr>
        <p:txBody>
          <a:bodyPr wrap="square">
            <a:spAutoFit/>
          </a:bodyPr>
          <a:lstStyle/>
          <a:p>
            <a:pPr algn="ctr"/>
            <a:r>
              <a:rPr sz="1067" i="1">
                <a:solidFill>
                  <a:srgbClr val="C4964A"/>
                </a:solidFill>
                <a:latin typeface="Calibri"/>
              </a:rPr>
              <a:t>Primary algorithm</a:t>
            </a:r>
          </a:p>
        </p:txBody>
      </p:sp>
      <p:sp>
        <p:nvSpPr>
          <p:cNvPr id="9" name="Rectangle 8"/>
          <p:cNvSpPr/>
          <p:nvPr/>
        </p:nvSpPr>
        <p:spPr>
          <a:xfrm>
            <a:off x="42672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4267200" y="1100667"/>
            <a:ext cx="3589867" cy="359009"/>
          </a:xfrm>
          <a:prstGeom prst="rect">
            <a:avLst/>
          </a:prstGeom>
          <a:noFill/>
        </p:spPr>
        <p:txBody>
          <a:bodyPr wrap="square">
            <a:spAutoFit/>
          </a:bodyPr>
          <a:lstStyle/>
          <a:p>
            <a:pPr algn="ctr"/>
            <a:r>
              <a:rPr sz="1733" b="1">
                <a:solidFill>
                  <a:srgbClr val="F8F2EA"/>
                </a:solidFill>
                <a:latin typeface="Georgia"/>
              </a:rPr>
              <a:t>RIPPER</a:t>
            </a:r>
          </a:p>
        </p:txBody>
      </p:sp>
      <p:sp>
        <p:nvSpPr>
          <p:cNvPr id="11" name="TextBox 10"/>
          <p:cNvSpPr txBox="1"/>
          <p:nvPr/>
        </p:nvSpPr>
        <p:spPr>
          <a:xfrm>
            <a:off x="4267200" y="1371601"/>
            <a:ext cx="3589867" cy="256545"/>
          </a:xfrm>
          <a:prstGeom prst="rect">
            <a:avLst/>
          </a:prstGeom>
          <a:noFill/>
        </p:spPr>
        <p:txBody>
          <a:bodyPr wrap="square">
            <a:spAutoFit/>
          </a:bodyPr>
          <a:lstStyle/>
          <a:p>
            <a:pPr algn="ctr"/>
            <a:r>
              <a:rPr sz="1067" i="1">
                <a:solidFill>
                  <a:srgbClr val="DDCCBB"/>
                </a:solidFill>
                <a:latin typeface="Calibri"/>
              </a:rPr>
              <a:t>Classification baseline</a:t>
            </a:r>
          </a:p>
        </p:txBody>
      </p:sp>
      <p:sp>
        <p:nvSpPr>
          <p:cNvPr id="12" name="Rectangle 11"/>
          <p:cNvSpPr/>
          <p:nvPr/>
        </p:nvSpPr>
        <p:spPr>
          <a:xfrm>
            <a:off x="7924800" y="1083733"/>
            <a:ext cx="3589867" cy="5418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7924800" y="1100667"/>
            <a:ext cx="3589867" cy="359009"/>
          </a:xfrm>
          <a:prstGeom prst="rect">
            <a:avLst/>
          </a:prstGeom>
          <a:noFill/>
        </p:spPr>
        <p:txBody>
          <a:bodyPr wrap="square">
            <a:spAutoFit/>
          </a:bodyPr>
          <a:lstStyle/>
          <a:p>
            <a:pPr algn="ctr"/>
            <a:r>
              <a:rPr sz="1733" b="1">
                <a:solidFill>
                  <a:srgbClr val="F8F2EA"/>
                </a:solidFill>
                <a:latin typeface="Georgia"/>
              </a:rPr>
              <a:t>M5Rules</a:t>
            </a:r>
          </a:p>
        </p:txBody>
      </p:sp>
      <p:sp>
        <p:nvSpPr>
          <p:cNvPr id="14" name="TextBox 13"/>
          <p:cNvSpPr txBox="1"/>
          <p:nvPr/>
        </p:nvSpPr>
        <p:spPr>
          <a:xfrm>
            <a:off x="7924800" y="1371601"/>
            <a:ext cx="3589867" cy="256545"/>
          </a:xfrm>
          <a:prstGeom prst="rect">
            <a:avLst/>
          </a:prstGeom>
          <a:noFill/>
        </p:spPr>
        <p:txBody>
          <a:bodyPr wrap="square">
            <a:spAutoFit/>
          </a:bodyPr>
          <a:lstStyle/>
          <a:p>
            <a:pPr algn="ctr"/>
            <a:r>
              <a:rPr sz="1067" i="1">
                <a:solidFill>
                  <a:srgbClr val="DDCCBB"/>
                </a:solidFill>
                <a:latin typeface="Calibri"/>
              </a:rPr>
              <a:t>Regression baseline</a:t>
            </a:r>
          </a:p>
        </p:txBody>
      </p:sp>
      <p:sp>
        <p:nvSpPr>
          <p:cNvPr id="15" name="Rectangle 14"/>
          <p:cNvSpPr/>
          <p:nvPr/>
        </p:nvSpPr>
        <p:spPr>
          <a:xfrm>
            <a:off x="609600" y="16933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Rectangle 15"/>
          <p:cNvSpPr/>
          <p:nvPr/>
        </p:nvSpPr>
        <p:spPr>
          <a:xfrm>
            <a:off x="609600" y="16933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p:cNvSpPr txBox="1"/>
          <p:nvPr/>
        </p:nvSpPr>
        <p:spPr>
          <a:xfrm>
            <a:off x="626533" y="1761067"/>
            <a:ext cx="541867" cy="666593"/>
          </a:xfrm>
          <a:prstGeom prst="rect">
            <a:avLst/>
          </a:prstGeom>
          <a:noFill/>
        </p:spPr>
        <p:txBody>
          <a:bodyPr wrap="square">
            <a:spAutoFit/>
          </a:bodyPr>
          <a:lstStyle/>
          <a:p>
            <a:pPr algn="ctr"/>
            <a:r>
              <a:rPr sz="933" b="1">
                <a:solidFill>
                  <a:srgbClr val="C4964A"/>
                </a:solidFill>
                <a:latin typeface="Calibri"/>
              </a:rPr>
              <a:t>Research
question</a:t>
            </a:r>
          </a:p>
        </p:txBody>
      </p:sp>
      <p:sp>
        <p:nvSpPr>
          <p:cNvPr id="18" name="Rectangle 17"/>
          <p:cNvSpPr/>
          <p:nvPr/>
        </p:nvSpPr>
        <p:spPr>
          <a:xfrm>
            <a:off x="42502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ectangle 18"/>
          <p:cNvSpPr/>
          <p:nvPr/>
        </p:nvSpPr>
        <p:spPr>
          <a:xfrm>
            <a:off x="7907867" y="16933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TextBox 19"/>
          <p:cNvSpPr txBox="1"/>
          <p:nvPr/>
        </p:nvSpPr>
        <p:spPr>
          <a:xfrm>
            <a:off x="1219200" y="1761067"/>
            <a:ext cx="3014133" cy="420756"/>
          </a:xfrm>
          <a:prstGeom prst="rect">
            <a:avLst/>
          </a:prstGeom>
          <a:noFill/>
        </p:spPr>
        <p:txBody>
          <a:bodyPr wrap="square">
            <a:spAutoFit/>
          </a:bodyPr>
          <a:lstStyle/>
          <a:p>
            <a:pPr algn="l"/>
            <a:r>
              <a:rPr sz="1067">
                <a:solidFill>
                  <a:srgbClr val="2A7F7F"/>
                </a:solidFill>
                <a:latin typeface="Calibri"/>
              </a:rPr>
              <a:t>When does the shape of the
production distribution shift?</a:t>
            </a:r>
          </a:p>
        </p:txBody>
      </p:sp>
      <p:sp>
        <p:nvSpPr>
          <p:cNvPr id="21" name="TextBox 20"/>
          <p:cNvSpPr txBox="1"/>
          <p:nvPr/>
        </p:nvSpPr>
        <p:spPr>
          <a:xfrm>
            <a:off x="4301067" y="1761067"/>
            <a:ext cx="3522133" cy="420756"/>
          </a:xfrm>
          <a:prstGeom prst="rect">
            <a:avLst/>
          </a:prstGeom>
          <a:noFill/>
        </p:spPr>
        <p:txBody>
          <a:bodyPr wrap="square">
            <a:spAutoFit/>
          </a:bodyPr>
          <a:lstStyle/>
          <a:p>
            <a:pPr algn="l"/>
            <a:r>
              <a:rPr sz="1067">
                <a:solidFill>
                  <a:srgbClr val="1C1214"/>
                </a:solidFill>
                <a:latin typeface="Calibri"/>
              </a:rPr>
              <a:t>Which production class
does this year belong to?</a:t>
            </a:r>
          </a:p>
        </p:txBody>
      </p:sp>
      <p:sp>
        <p:nvSpPr>
          <p:cNvPr id="22" name="TextBox 21"/>
          <p:cNvSpPr txBox="1"/>
          <p:nvPr/>
        </p:nvSpPr>
        <p:spPr>
          <a:xfrm>
            <a:off x="7958667" y="1761067"/>
            <a:ext cx="3522133" cy="420756"/>
          </a:xfrm>
          <a:prstGeom prst="rect">
            <a:avLst/>
          </a:prstGeom>
          <a:noFill/>
        </p:spPr>
        <p:txBody>
          <a:bodyPr wrap="square">
            <a:spAutoFit/>
          </a:bodyPr>
          <a:lstStyle/>
          <a:p>
            <a:pPr algn="l"/>
            <a:r>
              <a:rPr sz="1067">
                <a:solidFill>
                  <a:srgbClr val="1C1214"/>
                </a:solidFill>
                <a:latin typeface="Calibri"/>
              </a:rPr>
              <a:t>What exact production level
does a year have?</a:t>
            </a:r>
          </a:p>
        </p:txBody>
      </p:sp>
      <p:sp>
        <p:nvSpPr>
          <p:cNvPr id="23" name="Rectangle 22"/>
          <p:cNvSpPr/>
          <p:nvPr/>
        </p:nvSpPr>
        <p:spPr>
          <a:xfrm>
            <a:off x="609600" y="25569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Rectangle 23"/>
          <p:cNvSpPr/>
          <p:nvPr/>
        </p:nvSpPr>
        <p:spPr>
          <a:xfrm>
            <a:off x="609600" y="25569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5" name="TextBox 24"/>
          <p:cNvSpPr txBox="1"/>
          <p:nvPr/>
        </p:nvSpPr>
        <p:spPr>
          <a:xfrm>
            <a:off x="626533" y="2624667"/>
            <a:ext cx="541867" cy="666593"/>
          </a:xfrm>
          <a:prstGeom prst="rect">
            <a:avLst/>
          </a:prstGeom>
          <a:noFill/>
        </p:spPr>
        <p:txBody>
          <a:bodyPr wrap="square">
            <a:spAutoFit/>
          </a:bodyPr>
          <a:lstStyle/>
          <a:p>
            <a:pPr algn="ctr"/>
            <a:r>
              <a:rPr sz="933" b="1">
                <a:solidFill>
                  <a:srgbClr val="C4964A"/>
                </a:solidFill>
                <a:latin typeface="Calibri"/>
              </a:rPr>
              <a:t>Induction
criterion</a:t>
            </a:r>
          </a:p>
        </p:txBody>
      </p:sp>
      <p:sp>
        <p:nvSpPr>
          <p:cNvPr id="26" name="Rectangle 25"/>
          <p:cNvSpPr/>
          <p:nvPr/>
        </p:nvSpPr>
        <p:spPr>
          <a:xfrm>
            <a:off x="42502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Rectangle 26"/>
          <p:cNvSpPr/>
          <p:nvPr/>
        </p:nvSpPr>
        <p:spPr>
          <a:xfrm>
            <a:off x="7907867" y="25569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1219200" y="2624667"/>
            <a:ext cx="3014133" cy="420756"/>
          </a:xfrm>
          <a:prstGeom prst="rect">
            <a:avLst/>
          </a:prstGeom>
          <a:noFill/>
        </p:spPr>
        <p:txBody>
          <a:bodyPr wrap="square">
            <a:spAutoFit/>
          </a:bodyPr>
          <a:lstStyle/>
          <a:p>
            <a:pPr algn="l"/>
            <a:r>
              <a:rPr sz="1067">
                <a:solidFill>
                  <a:srgbClr val="2A7F7F"/>
                </a:solidFill>
                <a:latin typeface="Calibri"/>
              </a:rPr>
              <a:t>Kolmogorov–Smirnov
two-sample test</a:t>
            </a:r>
          </a:p>
        </p:txBody>
      </p:sp>
      <p:sp>
        <p:nvSpPr>
          <p:cNvPr id="29" name="TextBox 28"/>
          <p:cNvSpPr txBox="1"/>
          <p:nvPr/>
        </p:nvSpPr>
        <p:spPr>
          <a:xfrm>
            <a:off x="4301067" y="2624667"/>
            <a:ext cx="3522133" cy="420756"/>
          </a:xfrm>
          <a:prstGeom prst="rect">
            <a:avLst/>
          </a:prstGeom>
          <a:noFill/>
        </p:spPr>
        <p:txBody>
          <a:bodyPr wrap="square">
            <a:spAutoFit/>
          </a:bodyPr>
          <a:lstStyle/>
          <a:p>
            <a:pPr algn="l"/>
            <a:r>
              <a:rPr sz="1067">
                <a:solidFill>
                  <a:srgbClr val="1C1214"/>
                </a:solidFill>
                <a:latin typeface="Calibri"/>
              </a:rPr>
              <a:t>FOIL information gain
(classification)</a:t>
            </a:r>
          </a:p>
        </p:txBody>
      </p:sp>
      <p:sp>
        <p:nvSpPr>
          <p:cNvPr id="30" name="TextBox 29"/>
          <p:cNvSpPr txBox="1"/>
          <p:nvPr/>
        </p:nvSpPr>
        <p:spPr>
          <a:xfrm>
            <a:off x="7958667" y="2624667"/>
            <a:ext cx="3522133" cy="420756"/>
          </a:xfrm>
          <a:prstGeom prst="rect">
            <a:avLst/>
          </a:prstGeom>
          <a:noFill/>
        </p:spPr>
        <p:txBody>
          <a:bodyPr wrap="square">
            <a:spAutoFit/>
          </a:bodyPr>
          <a:lstStyle/>
          <a:p>
            <a:pPr algn="l"/>
            <a:r>
              <a:rPr sz="1067">
                <a:solidFill>
                  <a:srgbClr val="1C1214"/>
                </a:solidFill>
                <a:latin typeface="Calibri"/>
              </a:rPr>
              <a:t>MSE / standard deviation
reduction</a:t>
            </a:r>
          </a:p>
        </p:txBody>
      </p:sp>
      <p:sp>
        <p:nvSpPr>
          <p:cNvPr id="31" name="Rectangle 30"/>
          <p:cNvSpPr/>
          <p:nvPr/>
        </p:nvSpPr>
        <p:spPr>
          <a:xfrm>
            <a:off x="609600" y="34205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Rectangle 31"/>
          <p:cNvSpPr/>
          <p:nvPr/>
        </p:nvSpPr>
        <p:spPr>
          <a:xfrm>
            <a:off x="609600" y="34205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3" name="TextBox 32"/>
          <p:cNvSpPr txBox="1"/>
          <p:nvPr/>
        </p:nvSpPr>
        <p:spPr>
          <a:xfrm>
            <a:off x="626533" y="3488267"/>
            <a:ext cx="541867" cy="379463"/>
          </a:xfrm>
          <a:prstGeom prst="rect">
            <a:avLst/>
          </a:prstGeom>
          <a:noFill/>
        </p:spPr>
        <p:txBody>
          <a:bodyPr wrap="square">
            <a:spAutoFit/>
          </a:bodyPr>
          <a:lstStyle/>
          <a:p>
            <a:pPr algn="ctr"/>
            <a:r>
              <a:rPr sz="933" b="1">
                <a:solidFill>
                  <a:srgbClr val="C4964A"/>
                </a:solidFill>
                <a:latin typeface="Calibri"/>
              </a:rPr>
              <a:t>Output
format</a:t>
            </a:r>
          </a:p>
        </p:txBody>
      </p:sp>
      <p:sp>
        <p:nvSpPr>
          <p:cNvPr id="34" name="Rectangle 33"/>
          <p:cNvSpPr/>
          <p:nvPr/>
        </p:nvSpPr>
        <p:spPr>
          <a:xfrm>
            <a:off x="42502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5" name="Rectangle 34"/>
          <p:cNvSpPr/>
          <p:nvPr/>
        </p:nvSpPr>
        <p:spPr>
          <a:xfrm>
            <a:off x="7907867" y="34205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6" name="TextBox 35"/>
          <p:cNvSpPr txBox="1"/>
          <p:nvPr/>
        </p:nvSpPr>
        <p:spPr>
          <a:xfrm>
            <a:off x="1219200" y="3488267"/>
            <a:ext cx="3014133" cy="420756"/>
          </a:xfrm>
          <a:prstGeom prst="rect">
            <a:avLst/>
          </a:prstGeom>
          <a:noFill/>
        </p:spPr>
        <p:txBody>
          <a:bodyPr wrap="square">
            <a:spAutoFit/>
          </a:bodyPr>
          <a:lstStyle/>
          <a:p>
            <a:pPr algn="l"/>
            <a:r>
              <a:rPr sz="1067">
                <a:solidFill>
                  <a:srgbClr val="2A7F7F"/>
                </a:solidFill>
                <a:latin typeface="Calibri"/>
              </a:rPr>
              <a:t>IF conditions
THEN distribution shifts ±X mhl</a:t>
            </a:r>
          </a:p>
        </p:txBody>
      </p:sp>
      <p:sp>
        <p:nvSpPr>
          <p:cNvPr id="37" name="TextBox 36"/>
          <p:cNvSpPr txBox="1"/>
          <p:nvPr/>
        </p:nvSpPr>
        <p:spPr>
          <a:xfrm>
            <a:off x="4301067" y="3488267"/>
            <a:ext cx="3522133" cy="420756"/>
          </a:xfrm>
          <a:prstGeom prst="rect">
            <a:avLst/>
          </a:prstGeom>
          <a:noFill/>
        </p:spPr>
        <p:txBody>
          <a:bodyPr wrap="square">
            <a:spAutoFit/>
          </a:bodyPr>
          <a:lstStyle/>
          <a:p>
            <a:pPr algn="l"/>
            <a:r>
              <a:rPr sz="1067">
                <a:solidFill>
                  <a:srgbClr val="1C1214"/>
                </a:solidFill>
                <a:latin typeface="Calibri"/>
              </a:rPr>
              <a:t>IF conditions
THEN class = Low / Med / High</a:t>
            </a:r>
          </a:p>
        </p:txBody>
      </p:sp>
      <p:sp>
        <p:nvSpPr>
          <p:cNvPr id="38" name="TextBox 37"/>
          <p:cNvSpPr txBox="1"/>
          <p:nvPr/>
        </p:nvSpPr>
        <p:spPr>
          <a:xfrm>
            <a:off x="7958667" y="3488267"/>
            <a:ext cx="3522133" cy="420756"/>
          </a:xfrm>
          <a:prstGeom prst="rect">
            <a:avLst/>
          </a:prstGeom>
          <a:noFill/>
        </p:spPr>
        <p:txBody>
          <a:bodyPr wrap="square">
            <a:spAutoFit/>
          </a:bodyPr>
          <a:lstStyle/>
          <a:p>
            <a:pPr algn="l"/>
            <a:r>
              <a:rPr sz="1067">
                <a:solidFill>
                  <a:srgbClr val="1C1214"/>
                </a:solidFill>
                <a:latin typeface="Calibri"/>
              </a:rPr>
              <a:t>IF conditions
THEN production = linear model</a:t>
            </a:r>
          </a:p>
        </p:txBody>
      </p:sp>
      <p:sp>
        <p:nvSpPr>
          <p:cNvPr id="39" name="Rectangle 38"/>
          <p:cNvSpPr/>
          <p:nvPr/>
        </p:nvSpPr>
        <p:spPr>
          <a:xfrm>
            <a:off x="609600" y="4284133"/>
            <a:ext cx="10972800" cy="812800"/>
          </a:xfrm>
          <a:prstGeom prst="rect">
            <a:avLst/>
          </a:prstGeom>
          <a:solidFill>
            <a:srgbClr val="F8F2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0" name="Rectangle 39"/>
          <p:cNvSpPr/>
          <p:nvPr/>
        </p:nvSpPr>
        <p:spPr>
          <a:xfrm>
            <a:off x="609600" y="42841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1" name="TextBox 40"/>
          <p:cNvSpPr txBox="1"/>
          <p:nvPr/>
        </p:nvSpPr>
        <p:spPr>
          <a:xfrm>
            <a:off x="626533" y="4351867"/>
            <a:ext cx="541867" cy="523028"/>
          </a:xfrm>
          <a:prstGeom prst="rect">
            <a:avLst/>
          </a:prstGeom>
          <a:noFill/>
        </p:spPr>
        <p:txBody>
          <a:bodyPr wrap="square">
            <a:spAutoFit/>
          </a:bodyPr>
          <a:lstStyle/>
          <a:p>
            <a:pPr algn="ctr"/>
            <a:r>
              <a:rPr sz="933" b="1">
                <a:solidFill>
                  <a:srgbClr val="C4964A"/>
                </a:solidFill>
                <a:latin typeface="Calibri"/>
              </a:rPr>
              <a:t>Key
advantage</a:t>
            </a:r>
          </a:p>
        </p:txBody>
      </p:sp>
      <p:sp>
        <p:nvSpPr>
          <p:cNvPr id="42" name="Rectangle 41"/>
          <p:cNvSpPr/>
          <p:nvPr/>
        </p:nvSpPr>
        <p:spPr>
          <a:xfrm>
            <a:off x="42502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3" name="Rectangle 42"/>
          <p:cNvSpPr/>
          <p:nvPr/>
        </p:nvSpPr>
        <p:spPr>
          <a:xfrm>
            <a:off x="7907867" y="42841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4" name="TextBox 43"/>
          <p:cNvSpPr txBox="1"/>
          <p:nvPr/>
        </p:nvSpPr>
        <p:spPr>
          <a:xfrm>
            <a:off x="1219200" y="4351867"/>
            <a:ext cx="3014133" cy="420756"/>
          </a:xfrm>
          <a:prstGeom prst="rect">
            <a:avLst/>
          </a:prstGeom>
          <a:noFill/>
        </p:spPr>
        <p:txBody>
          <a:bodyPr wrap="square">
            <a:spAutoFit/>
          </a:bodyPr>
          <a:lstStyle/>
          <a:p>
            <a:pPr algn="l"/>
            <a:r>
              <a:rPr sz="1067">
                <a:solidFill>
                  <a:srgbClr val="C4964A"/>
                </a:solidFill>
                <a:latin typeface="Calibri"/>
              </a:rPr>
              <a:t>Non-parametric; no normality
assumption; no discretisation</a:t>
            </a:r>
          </a:p>
        </p:txBody>
      </p:sp>
      <p:sp>
        <p:nvSpPr>
          <p:cNvPr id="45" name="TextBox 44"/>
          <p:cNvSpPr txBox="1"/>
          <p:nvPr/>
        </p:nvSpPr>
        <p:spPr>
          <a:xfrm>
            <a:off x="4301067" y="4351867"/>
            <a:ext cx="3522133" cy="420756"/>
          </a:xfrm>
          <a:prstGeom prst="rect">
            <a:avLst/>
          </a:prstGeom>
          <a:noFill/>
        </p:spPr>
        <p:txBody>
          <a:bodyPr wrap="square">
            <a:spAutoFit/>
          </a:bodyPr>
          <a:lstStyle/>
          <a:p>
            <a:pPr algn="l"/>
            <a:r>
              <a:rPr sz="1067">
                <a:solidFill>
                  <a:srgbClr val="1C1214"/>
                </a:solidFill>
                <a:latin typeface="Calibri"/>
              </a:rPr>
              <a:t>Well-established, readable;
strong classification baseline</a:t>
            </a:r>
          </a:p>
        </p:txBody>
      </p:sp>
      <p:sp>
        <p:nvSpPr>
          <p:cNvPr id="46" name="TextBox 45"/>
          <p:cNvSpPr txBox="1"/>
          <p:nvPr/>
        </p:nvSpPr>
        <p:spPr>
          <a:xfrm>
            <a:off x="7958667" y="4351867"/>
            <a:ext cx="3522133" cy="420756"/>
          </a:xfrm>
          <a:prstGeom prst="rect">
            <a:avLst/>
          </a:prstGeom>
          <a:noFill/>
        </p:spPr>
        <p:txBody>
          <a:bodyPr wrap="square">
            <a:spAutoFit/>
          </a:bodyPr>
          <a:lstStyle/>
          <a:p>
            <a:pPr algn="l"/>
            <a:r>
              <a:rPr sz="1067">
                <a:solidFill>
                  <a:srgbClr val="1C1214"/>
                </a:solidFill>
                <a:latin typeface="Calibri"/>
              </a:rPr>
              <a:t>Piecewise regression;
quantitative predictions</a:t>
            </a:r>
          </a:p>
        </p:txBody>
      </p:sp>
      <p:sp>
        <p:nvSpPr>
          <p:cNvPr id="47" name="Rectangle 46"/>
          <p:cNvSpPr/>
          <p:nvPr/>
        </p:nvSpPr>
        <p:spPr>
          <a:xfrm>
            <a:off x="609600" y="5147733"/>
            <a:ext cx="10972800" cy="812800"/>
          </a:xfrm>
          <a:prstGeom prst="rect">
            <a:avLst/>
          </a:prstGeom>
          <a:solidFill>
            <a:srgbClr val="EFE7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8" name="Rectangle 47"/>
          <p:cNvSpPr/>
          <p:nvPr/>
        </p:nvSpPr>
        <p:spPr>
          <a:xfrm>
            <a:off x="609600" y="5147733"/>
            <a:ext cx="575733" cy="812800"/>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49" name="TextBox 48"/>
          <p:cNvSpPr txBox="1"/>
          <p:nvPr/>
        </p:nvSpPr>
        <p:spPr>
          <a:xfrm>
            <a:off x="626533" y="5215467"/>
            <a:ext cx="541867" cy="523028"/>
          </a:xfrm>
          <a:prstGeom prst="rect">
            <a:avLst/>
          </a:prstGeom>
          <a:noFill/>
        </p:spPr>
        <p:txBody>
          <a:bodyPr wrap="square">
            <a:spAutoFit/>
          </a:bodyPr>
          <a:lstStyle/>
          <a:p>
            <a:pPr algn="ctr"/>
            <a:r>
              <a:rPr sz="933" b="1">
                <a:solidFill>
                  <a:srgbClr val="C4964A"/>
                </a:solidFill>
                <a:latin typeface="Calibri"/>
              </a:rPr>
              <a:t>Key
limitation</a:t>
            </a:r>
          </a:p>
        </p:txBody>
      </p:sp>
      <p:sp>
        <p:nvSpPr>
          <p:cNvPr id="50" name="Rectangle 49"/>
          <p:cNvSpPr/>
          <p:nvPr/>
        </p:nvSpPr>
        <p:spPr>
          <a:xfrm>
            <a:off x="42502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1" name="Rectangle 50"/>
          <p:cNvSpPr/>
          <p:nvPr/>
        </p:nvSpPr>
        <p:spPr>
          <a:xfrm>
            <a:off x="7907867" y="5147733"/>
            <a:ext cx="16933" cy="812800"/>
          </a:xfrm>
          <a:prstGeom prst="rect">
            <a:avLst/>
          </a:prstGeom>
          <a:solidFill>
            <a:srgbClr val="CCBB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2" name="TextBox 51"/>
          <p:cNvSpPr txBox="1"/>
          <p:nvPr/>
        </p:nvSpPr>
        <p:spPr>
          <a:xfrm>
            <a:off x="1219200" y="5215467"/>
            <a:ext cx="3014133" cy="420756"/>
          </a:xfrm>
          <a:prstGeom prst="rect">
            <a:avLst/>
          </a:prstGeom>
          <a:noFill/>
        </p:spPr>
        <p:txBody>
          <a:bodyPr wrap="square">
            <a:spAutoFit/>
          </a:bodyPr>
          <a:lstStyle/>
          <a:p>
            <a:pPr algn="l"/>
            <a:r>
              <a:rPr sz="1067">
                <a:solidFill>
                  <a:srgbClr val="8B2F2F"/>
                </a:solidFill>
                <a:latin typeface="Calibri"/>
              </a:rPr>
              <a:t>Finds distributional shift,
not magnitude prediction</a:t>
            </a:r>
          </a:p>
        </p:txBody>
      </p:sp>
      <p:sp>
        <p:nvSpPr>
          <p:cNvPr id="53" name="TextBox 52"/>
          <p:cNvSpPr txBox="1"/>
          <p:nvPr/>
        </p:nvSpPr>
        <p:spPr>
          <a:xfrm>
            <a:off x="4301067" y="5215467"/>
            <a:ext cx="3522133" cy="420756"/>
          </a:xfrm>
          <a:prstGeom prst="rect">
            <a:avLst/>
          </a:prstGeom>
          <a:noFill/>
        </p:spPr>
        <p:txBody>
          <a:bodyPr wrap="square">
            <a:spAutoFit/>
          </a:bodyPr>
          <a:lstStyle/>
          <a:p>
            <a:pPr algn="l"/>
            <a:r>
              <a:rPr sz="1067">
                <a:solidFill>
                  <a:srgbClr val="1C1214"/>
                </a:solidFill>
                <a:latin typeface="Calibri"/>
              </a:rPr>
              <a:t>Requires tertile-discretised
target (loses information)</a:t>
            </a:r>
          </a:p>
        </p:txBody>
      </p:sp>
      <p:sp>
        <p:nvSpPr>
          <p:cNvPr id="54" name="TextBox 53"/>
          <p:cNvSpPr txBox="1"/>
          <p:nvPr/>
        </p:nvSpPr>
        <p:spPr>
          <a:xfrm>
            <a:off x="7958667" y="5215467"/>
            <a:ext cx="3522133" cy="420756"/>
          </a:xfrm>
          <a:prstGeom prst="rect">
            <a:avLst/>
          </a:prstGeom>
          <a:noFill/>
        </p:spPr>
        <p:txBody>
          <a:bodyPr wrap="square">
            <a:spAutoFit/>
          </a:bodyPr>
          <a:lstStyle/>
          <a:p>
            <a:pPr algn="l"/>
            <a:r>
              <a:rPr sz="1067">
                <a:solidFill>
                  <a:srgbClr val="1C1214"/>
                </a:solidFill>
                <a:latin typeface="Calibri"/>
              </a:rPr>
              <a:t>Collapses to global model
on small datasets (n&lt;89)</a:t>
            </a:r>
          </a:p>
        </p:txBody>
      </p:sp>
      <p:sp>
        <p:nvSpPr>
          <p:cNvPr id="55" name="Rectangle 54"/>
          <p:cNvSpPr/>
          <p:nvPr/>
        </p:nvSpPr>
        <p:spPr>
          <a:xfrm>
            <a:off x="609600" y="6112933"/>
            <a:ext cx="10972800" cy="643467"/>
          </a:xfrm>
          <a:prstGeom prst="rect">
            <a:avLst/>
          </a:prstGeom>
          <a:solidFill>
            <a:srgbClr val="6B2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6" name="TextBox 55"/>
          <p:cNvSpPr txBox="1"/>
          <p:nvPr/>
        </p:nvSpPr>
        <p:spPr>
          <a:xfrm>
            <a:off x="609600" y="6180667"/>
            <a:ext cx="10972800" cy="276999"/>
          </a:xfrm>
          <a:prstGeom prst="rect">
            <a:avLst/>
          </a:prstGeom>
          <a:noFill/>
        </p:spPr>
        <p:txBody>
          <a:bodyPr wrap="square">
            <a:spAutoFit/>
          </a:bodyPr>
          <a:lstStyle/>
          <a:p>
            <a:pPr algn="ctr"/>
            <a:r>
              <a:rPr sz="1200" b="1">
                <a:solidFill>
                  <a:srgbClr val="C4964A"/>
                </a:solidFill>
                <a:latin typeface="Calibri"/>
              </a:rPr>
              <a:t>All three algorithms are applied to the same 59-feature dataset and same walk-forward validation protocol</a:t>
            </a:r>
          </a:p>
        </p:txBody>
      </p:sp>
      <p:sp>
        <p:nvSpPr>
          <p:cNvPr id="57" name="TextBox 56"/>
          <p:cNvSpPr txBox="1"/>
          <p:nvPr/>
        </p:nvSpPr>
        <p:spPr>
          <a:xfrm>
            <a:off x="609600" y="6451601"/>
            <a:ext cx="10972800" cy="256545"/>
          </a:xfrm>
          <a:prstGeom prst="rect">
            <a:avLst/>
          </a:prstGeom>
          <a:noFill/>
        </p:spPr>
        <p:txBody>
          <a:bodyPr wrap="square">
            <a:spAutoFit/>
          </a:bodyPr>
          <a:lstStyle/>
          <a:p>
            <a:pPr algn="ctr"/>
            <a:r>
              <a:rPr sz="1067" i="1">
                <a:solidFill>
                  <a:srgbClr val="F8F2EA"/>
                </a:solidFill>
                <a:latin typeface="Calibri"/>
              </a:rPr>
              <a:t>Cross-algorithm feature convergence (slide 8) is the strongest evidence that discovered patterns are genuine data structure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9248"/>
          </a:xfrm>
          <a:prstGeom prst="rect">
            <a:avLst/>
          </a:prstGeom>
          <a:solidFill>
            <a:srgbClr val="C4964A"/>
          </a:solidFill>
          <a:ln w="12700">
            <a:solidFill>
              <a:srgbClr val="C4964A"/>
            </a:solidFill>
            <a:prstDash val="solid"/>
          </a:ln>
        </p:spPr>
        <p:txBody>
          <a:bodyPr/>
          <a:lstStyle/>
          <a:p>
            <a:endParaRPr lang="en-US" sz="2400"/>
          </a:p>
        </p:txBody>
      </p:sp>
      <p:sp>
        <p:nvSpPr>
          <p:cNvPr id="3" name="Text 1"/>
          <p:cNvSpPr/>
          <p:nvPr/>
        </p:nvSpPr>
        <p:spPr>
          <a:xfrm>
            <a:off x="548640" y="146304"/>
            <a:ext cx="11094720" cy="707136"/>
          </a:xfrm>
          <a:prstGeom prst="rect">
            <a:avLst/>
          </a:prstGeom>
          <a:noFill/>
          <a:ln/>
        </p:spPr>
        <p:txBody>
          <a:bodyPr wrap="square" lIns="0" tIns="0" rIns="0" bIns="0" rtlCol="0" anchor="ctr"/>
          <a:lstStyle/>
          <a:p>
            <a:r>
              <a:rPr lang="en-US" sz="3467" b="1" dirty="0">
                <a:solidFill>
                  <a:srgbClr val="6B2737"/>
                </a:solidFill>
                <a:latin typeface="Georgia" pitchFamily="34" charset="0"/>
                <a:ea typeface="Georgia" pitchFamily="34" charset="-122"/>
                <a:cs typeface="Georgia" pitchFamily="34" charset="-120"/>
              </a:rPr>
              <a:t>Cross-Algorithm Validation</a:t>
            </a:r>
            <a:endParaRPr lang="en-US" sz="3467" dirty="0"/>
          </a:p>
        </p:txBody>
      </p:sp>
      <p:sp>
        <p:nvSpPr>
          <p:cNvPr id="4" name="Text 2"/>
          <p:cNvSpPr/>
          <p:nvPr/>
        </p:nvSpPr>
        <p:spPr>
          <a:xfrm>
            <a:off x="548640" y="829056"/>
            <a:ext cx="11094720" cy="341376"/>
          </a:xfrm>
          <a:prstGeom prst="rect">
            <a:avLst/>
          </a:prstGeom>
          <a:noFill/>
          <a:ln/>
        </p:spPr>
        <p:txBody>
          <a:bodyPr wrap="square" lIns="0" tIns="0" rIns="0" bIns="0" rtlCol="0" anchor="ctr"/>
          <a:lstStyle/>
          <a:p>
            <a:r>
              <a:rPr lang="en-US" sz="1600" i="1" dirty="0">
                <a:solidFill>
                  <a:srgbClr val="5A4042"/>
                </a:solidFill>
                <a:latin typeface="Calibri" pitchFamily="34" charset="0"/>
                <a:ea typeface="Calibri" pitchFamily="34" charset="-122"/>
                <a:cs typeface="Calibri" pitchFamily="34" charset="-120"/>
              </a:rPr>
              <a:t>Three independent optimisation criteria — same feature families</a:t>
            </a:r>
            <a:endParaRPr lang="en-US" sz="1600" dirty="0"/>
          </a:p>
        </p:txBody>
      </p:sp>
      <p:sp>
        <p:nvSpPr>
          <p:cNvPr id="5" name="Shape 3"/>
          <p:cNvSpPr/>
          <p:nvPr/>
        </p:nvSpPr>
        <p:spPr>
          <a:xfrm>
            <a:off x="548640" y="1170432"/>
            <a:ext cx="11094720" cy="0"/>
          </a:xfrm>
          <a:prstGeom prst="line">
            <a:avLst/>
          </a:prstGeom>
          <a:noFill/>
          <a:ln w="12700">
            <a:solidFill>
              <a:srgbClr val="D4CACA"/>
            </a:solidFill>
            <a:prstDash val="solid"/>
          </a:ln>
        </p:spPr>
        <p:txBody>
          <a:bodyPr/>
          <a:lstStyle/>
          <a:p>
            <a:endParaRPr lang="en-US" sz="2400"/>
          </a:p>
        </p:txBody>
      </p:sp>
      <p:sp>
        <p:nvSpPr>
          <p:cNvPr id="6" name="Text 4"/>
          <p:cNvSpPr/>
          <p:nvPr/>
        </p:nvSpPr>
        <p:spPr>
          <a:xfrm>
            <a:off x="10728960" y="6461760"/>
            <a:ext cx="1219200" cy="304800"/>
          </a:xfrm>
          <a:prstGeom prst="rect">
            <a:avLst/>
          </a:prstGeom>
          <a:noFill/>
          <a:ln/>
        </p:spPr>
        <p:txBody>
          <a:bodyPr wrap="square" lIns="0" tIns="0" rIns="0" bIns="0" rtlCol="0" anchor="ctr"/>
          <a:lstStyle/>
          <a:p>
            <a:pPr algn="r"/>
            <a:r>
              <a:rPr lang="en-US" sz="1200" dirty="0">
                <a:solidFill>
                  <a:srgbClr val="C4964A"/>
                </a:solidFill>
                <a:latin typeface="Calibri" pitchFamily="34" charset="0"/>
                <a:ea typeface="Calibri" pitchFamily="34" charset="-122"/>
                <a:cs typeface="Calibri" pitchFamily="34" charset="-120"/>
              </a:rPr>
              <a:t>7 / 12</a:t>
            </a:r>
            <a:endParaRPr lang="en-US" sz="1200" dirty="0"/>
          </a:p>
        </p:txBody>
      </p:sp>
      <p:sp>
        <p:nvSpPr>
          <p:cNvPr id="7" name="Shape 5"/>
          <p:cNvSpPr/>
          <p:nvPr/>
        </p:nvSpPr>
        <p:spPr>
          <a:xfrm>
            <a:off x="548640" y="1316736"/>
            <a:ext cx="2499360" cy="426720"/>
          </a:xfrm>
          <a:prstGeom prst="rect">
            <a:avLst/>
          </a:prstGeom>
          <a:solidFill>
            <a:srgbClr val="6B2737"/>
          </a:solidFill>
          <a:ln w="12700">
            <a:solidFill>
              <a:srgbClr val="6B2737"/>
            </a:solidFill>
            <a:prstDash val="solid"/>
          </a:ln>
        </p:spPr>
        <p:txBody>
          <a:bodyPr/>
          <a:lstStyle/>
          <a:p>
            <a:endParaRPr lang="en-US" sz="2400"/>
          </a:p>
        </p:txBody>
      </p:sp>
      <p:sp>
        <p:nvSpPr>
          <p:cNvPr id="8" name="Text 6"/>
          <p:cNvSpPr/>
          <p:nvPr/>
        </p:nvSpPr>
        <p:spPr>
          <a:xfrm>
            <a:off x="609600" y="1341120"/>
            <a:ext cx="2377440" cy="37795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Feature</a:t>
            </a:r>
            <a:endParaRPr lang="en-US" sz="1333" dirty="0"/>
          </a:p>
        </p:txBody>
      </p:sp>
      <p:sp>
        <p:nvSpPr>
          <p:cNvPr id="9" name="Shape 7"/>
          <p:cNvSpPr/>
          <p:nvPr/>
        </p:nvSpPr>
        <p:spPr>
          <a:xfrm>
            <a:off x="3048000" y="1316736"/>
            <a:ext cx="2682240" cy="426720"/>
          </a:xfrm>
          <a:prstGeom prst="rect">
            <a:avLst/>
          </a:prstGeom>
          <a:solidFill>
            <a:srgbClr val="6B2737"/>
          </a:solidFill>
          <a:ln w="12700">
            <a:solidFill>
              <a:srgbClr val="6B2737"/>
            </a:solidFill>
            <a:prstDash val="solid"/>
          </a:ln>
        </p:spPr>
        <p:txBody>
          <a:bodyPr/>
          <a:lstStyle/>
          <a:p>
            <a:endParaRPr lang="en-US" sz="2400"/>
          </a:p>
        </p:txBody>
      </p:sp>
      <p:sp>
        <p:nvSpPr>
          <p:cNvPr id="10" name="Text 8"/>
          <p:cNvSpPr/>
          <p:nvPr/>
        </p:nvSpPr>
        <p:spPr>
          <a:xfrm>
            <a:off x="3108960" y="1341120"/>
            <a:ext cx="2560320" cy="37795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CarenR (KS test)</a:t>
            </a:r>
            <a:endParaRPr lang="en-US" sz="1333" dirty="0"/>
          </a:p>
        </p:txBody>
      </p:sp>
      <p:sp>
        <p:nvSpPr>
          <p:cNvPr id="11" name="Shape 9"/>
          <p:cNvSpPr/>
          <p:nvPr/>
        </p:nvSpPr>
        <p:spPr>
          <a:xfrm>
            <a:off x="5730240" y="1316736"/>
            <a:ext cx="2194560" cy="426720"/>
          </a:xfrm>
          <a:prstGeom prst="rect">
            <a:avLst/>
          </a:prstGeom>
          <a:solidFill>
            <a:srgbClr val="6B2737"/>
          </a:solidFill>
          <a:ln w="12700">
            <a:solidFill>
              <a:srgbClr val="6B2737"/>
            </a:solidFill>
            <a:prstDash val="solid"/>
          </a:ln>
        </p:spPr>
        <p:txBody>
          <a:bodyPr/>
          <a:lstStyle/>
          <a:p>
            <a:endParaRPr lang="en-US" sz="2400"/>
          </a:p>
        </p:txBody>
      </p:sp>
      <p:sp>
        <p:nvSpPr>
          <p:cNvPr id="12" name="Text 10"/>
          <p:cNvSpPr/>
          <p:nvPr/>
        </p:nvSpPr>
        <p:spPr>
          <a:xfrm>
            <a:off x="5791200" y="1341120"/>
            <a:ext cx="2072640" cy="37795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RIPPER (FOIL gain)</a:t>
            </a:r>
            <a:endParaRPr lang="en-US" sz="1333" dirty="0"/>
          </a:p>
        </p:txBody>
      </p:sp>
      <p:sp>
        <p:nvSpPr>
          <p:cNvPr id="13" name="Shape 11"/>
          <p:cNvSpPr/>
          <p:nvPr/>
        </p:nvSpPr>
        <p:spPr>
          <a:xfrm>
            <a:off x="7924800" y="1316736"/>
            <a:ext cx="2194560" cy="426720"/>
          </a:xfrm>
          <a:prstGeom prst="rect">
            <a:avLst/>
          </a:prstGeom>
          <a:solidFill>
            <a:srgbClr val="6B2737"/>
          </a:solidFill>
          <a:ln w="12700">
            <a:solidFill>
              <a:srgbClr val="6B2737"/>
            </a:solidFill>
            <a:prstDash val="solid"/>
          </a:ln>
        </p:spPr>
        <p:txBody>
          <a:bodyPr/>
          <a:lstStyle/>
          <a:p>
            <a:endParaRPr lang="en-US" sz="2400"/>
          </a:p>
        </p:txBody>
      </p:sp>
      <p:sp>
        <p:nvSpPr>
          <p:cNvPr id="14" name="Text 12"/>
          <p:cNvSpPr/>
          <p:nvPr/>
        </p:nvSpPr>
        <p:spPr>
          <a:xfrm>
            <a:off x="7985760" y="1341120"/>
            <a:ext cx="2072640" cy="37795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M5Rules (MSE min.)</a:t>
            </a:r>
            <a:endParaRPr lang="en-US" sz="1333" dirty="0"/>
          </a:p>
        </p:txBody>
      </p:sp>
      <p:sp>
        <p:nvSpPr>
          <p:cNvPr id="15" name="Shape 13"/>
          <p:cNvSpPr/>
          <p:nvPr/>
        </p:nvSpPr>
        <p:spPr>
          <a:xfrm>
            <a:off x="10119360" y="1316736"/>
            <a:ext cx="1889760" cy="426720"/>
          </a:xfrm>
          <a:prstGeom prst="rect">
            <a:avLst/>
          </a:prstGeom>
          <a:solidFill>
            <a:srgbClr val="6B2737"/>
          </a:solidFill>
          <a:ln w="12700">
            <a:solidFill>
              <a:srgbClr val="6B2737"/>
            </a:solidFill>
            <a:prstDash val="solid"/>
          </a:ln>
        </p:spPr>
        <p:txBody>
          <a:bodyPr/>
          <a:lstStyle/>
          <a:p>
            <a:endParaRPr lang="en-US" sz="2400"/>
          </a:p>
        </p:txBody>
      </p:sp>
      <p:sp>
        <p:nvSpPr>
          <p:cNvPr id="16" name="Text 14"/>
          <p:cNvSpPr/>
          <p:nvPr/>
        </p:nvSpPr>
        <p:spPr>
          <a:xfrm>
            <a:off x="10180320" y="1341120"/>
            <a:ext cx="1767840" cy="377952"/>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Confidence</a:t>
            </a:r>
            <a:endParaRPr lang="en-US" sz="1333" dirty="0"/>
          </a:p>
        </p:txBody>
      </p:sp>
      <p:sp>
        <p:nvSpPr>
          <p:cNvPr id="17" name="Shape 15"/>
          <p:cNvSpPr/>
          <p:nvPr/>
        </p:nvSpPr>
        <p:spPr>
          <a:xfrm>
            <a:off x="548640" y="1804416"/>
            <a:ext cx="2499360" cy="1072896"/>
          </a:xfrm>
          <a:prstGeom prst="rect">
            <a:avLst/>
          </a:prstGeom>
          <a:solidFill>
            <a:srgbClr val="EDE5DA"/>
          </a:solidFill>
          <a:ln w="6350">
            <a:solidFill>
              <a:srgbClr val="D4CACA"/>
            </a:solidFill>
            <a:prstDash val="solid"/>
          </a:ln>
        </p:spPr>
        <p:txBody>
          <a:bodyPr/>
          <a:lstStyle/>
          <a:p>
            <a:endParaRPr lang="en-US" sz="2400"/>
          </a:p>
        </p:txBody>
      </p:sp>
      <p:sp>
        <p:nvSpPr>
          <p:cNvPr id="18" name="Shape 16"/>
          <p:cNvSpPr/>
          <p:nvPr/>
        </p:nvSpPr>
        <p:spPr>
          <a:xfrm>
            <a:off x="548640" y="1804416"/>
            <a:ext cx="73152" cy="1072896"/>
          </a:xfrm>
          <a:prstGeom prst="rect">
            <a:avLst/>
          </a:prstGeom>
          <a:solidFill>
            <a:srgbClr val="6B2737"/>
          </a:solidFill>
          <a:ln w="12700">
            <a:solidFill>
              <a:srgbClr val="6B2737"/>
            </a:solidFill>
            <a:prstDash val="solid"/>
          </a:ln>
        </p:spPr>
        <p:txBody>
          <a:bodyPr/>
          <a:lstStyle/>
          <a:p>
            <a:endParaRPr lang="en-US" sz="2400"/>
          </a:p>
        </p:txBody>
      </p:sp>
      <p:sp>
        <p:nvSpPr>
          <p:cNvPr id="19" name="Text 17"/>
          <p:cNvSpPr/>
          <p:nvPr/>
        </p:nvSpPr>
        <p:spPr>
          <a:xfrm>
            <a:off x="719328" y="1877568"/>
            <a:ext cx="2255520" cy="92659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Harvest soil water</a:t>
            </a:r>
            <a:endParaRPr lang="en-US" sz="1333" dirty="0"/>
          </a:p>
          <a:p>
            <a:r>
              <a:rPr lang="en-US" sz="1333" dirty="0">
                <a:solidFill>
                  <a:srgbClr val="1C1214"/>
                </a:solidFill>
                <a:latin typeface="Calibri" pitchFamily="34" charset="0"/>
                <a:ea typeface="Calibri" pitchFamily="34" charset="-122"/>
                <a:cs typeface="Calibri" pitchFamily="34" charset="-120"/>
              </a:rPr>
              <a:t>(swa_hv_y1_b20)</a:t>
            </a:r>
            <a:endParaRPr lang="en-US" sz="1333" dirty="0"/>
          </a:p>
        </p:txBody>
      </p:sp>
      <p:sp>
        <p:nvSpPr>
          <p:cNvPr id="20" name="Shape 18"/>
          <p:cNvSpPr/>
          <p:nvPr/>
        </p:nvSpPr>
        <p:spPr>
          <a:xfrm>
            <a:off x="3048000" y="1804416"/>
            <a:ext cx="2682240" cy="1072896"/>
          </a:xfrm>
          <a:prstGeom prst="rect">
            <a:avLst/>
          </a:prstGeom>
          <a:solidFill>
            <a:srgbClr val="EDE5DA"/>
          </a:solidFill>
          <a:ln w="6350">
            <a:solidFill>
              <a:srgbClr val="D4CACA"/>
            </a:solidFill>
            <a:prstDash val="solid"/>
          </a:ln>
        </p:spPr>
        <p:txBody>
          <a:bodyPr/>
          <a:lstStyle/>
          <a:p>
            <a:endParaRPr lang="en-US" sz="2400"/>
          </a:p>
        </p:txBody>
      </p:sp>
      <p:sp>
        <p:nvSpPr>
          <p:cNvPr id="21" name="Text 19"/>
          <p:cNvSpPr/>
          <p:nvPr/>
        </p:nvSpPr>
        <p:spPr>
          <a:xfrm>
            <a:off x="3121152" y="1877568"/>
            <a:ext cx="253593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54% of RDD rules</a:t>
            </a:r>
            <a:endParaRPr lang="en-US" sz="1267" dirty="0"/>
          </a:p>
          <a:p>
            <a:r>
              <a:rPr lang="en-US" sz="1267" dirty="0">
                <a:solidFill>
                  <a:srgbClr val="1C1214"/>
                </a:solidFill>
                <a:latin typeface="Calibri" pitchFamily="34" charset="0"/>
                <a:ea typeface="Calibri" pitchFamily="34" charset="-122"/>
                <a:cs typeface="Calibri" pitchFamily="34" charset="-120"/>
              </a:rPr>
              <a:t>✓  25% of RVV rules</a:t>
            </a:r>
            <a:endParaRPr lang="en-US" sz="1267" dirty="0"/>
          </a:p>
        </p:txBody>
      </p:sp>
      <p:sp>
        <p:nvSpPr>
          <p:cNvPr id="22" name="Shape 20"/>
          <p:cNvSpPr/>
          <p:nvPr/>
        </p:nvSpPr>
        <p:spPr>
          <a:xfrm>
            <a:off x="5730240" y="1804416"/>
            <a:ext cx="2194560" cy="1072896"/>
          </a:xfrm>
          <a:prstGeom prst="rect">
            <a:avLst/>
          </a:prstGeom>
          <a:solidFill>
            <a:srgbClr val="EDE5DA"/>
          </a:solidFill>
          <a:ln w="6350">
            <a:solidFill>
              <a:srgbClr val="D4CACA"/>
            </a:solidFill>
            <a:prstDash val="solid"/>
          </a:ln>
        </p:spPr>
        <p:txBody>
          <a:bodyPr/>
          <a:lstStyle/>
          <a:p>
            <a:endParaRPr lang="en-US" sz="2400"/>
          </a:p>
        </p:txBody>
      </p:sp>
      <p:sp>
        <p:nvSpPr>
          <p:cNvPr id="23" name="Text 21"/>
          <p:cNvSpPr/>
          <p:nvPr/>
        </p:nvSpPr>
        <p:spPr>
          <a:xfrm>
            <a:off x="5803392" y="1877568"/>
            <a:ext cx="204825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RVV Rule 3</a:t>
            </a:r>
            <a:endParaRPr lang="en-US" sz="1267" dirty="0"/>
          </a:p>
        </p:txBody>
      </p:sp>
      <p:sp>
        <p:nvSpPr>
          <p:cNvPr id="24" name="Shape 22"/>
          <p:cNvSpPr/>
          <p:nvPr/>
        </p:nvSpPr>
        <p:spPr>
          <a:xfrm>
            <a:off x="7924800" y="1804416"/>
            <a:ext cx="2194560" cy="1072896"/>
          </a:xfrm>
          <a:prstGeom prst="rect">
            <a:avLst/>
          </a:prstGeom>
          <a:solidFill>
            <a:srgbClr val="EDE5DA"/>
          </a:solidFill>
          <a:ln w="6350">
            <a:solidFill>
              <a:srgbClr val="D4CACA"/>
            </a:solidFill>
            <a:prstDash val="solid"/>
          </a:ln>
        </p:spPr>
        <p:txBody>
          <a:bodyPr/>
          <a:lstStyle/>
          <a:p>
            <a:endParaRPr lang="en-US" sz="2400"/>
          </a:p>
        </p:txBody>
      </p:sp>
      <p:sp>
        <p:nvSpPr>
          <p:cNvPr id="25" name="Text 23"/>
          <p:cNvSpPr/>
          <p:nvPr/>
        </p:nvSpPr>
        <p:spPr>
          <a:xfrm>
            <a:off x="7997952" y="1877568"/>
            <a:ext cx="204825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−2.3/mm RDD</a:t>
            </a:r>
            <a:endParaRPr lang="en-US" sz="1267" dirty="0"/>
          </a:p>
          <a:p>
            <a:r>
              <a:rPr lang="en-US" sz="1267" dirty="0">
                <a:solidFill>
                  <a:srgbClr val="1C1214"/>
                </a:solidFill>
                <a:latin typeface="Calibri" pitchFamily="34" charset="0"/>
                <a:ea typeface="Calibri" pitchFamily="34" charset="-122"/>
                <a:cs typeface="Calibri" pitchFamily="34" charset="-120"/>
              </a:rPr>
              <a:t>✓  −8.1/mm RVV</a:t>
            </a:r>
            <a:endParaRPr lang="en-US" sz="1267" dirty="0"/>
          </a:p>
        </p:txBody>
      </p:sp>
      <p:sp>
        <p:nvSpPr>
          <p:cNvPr id="26" name="Shape 24"/>
          <p:cNvSpPr/>
          <p:nvPr/>
        </p:nvSpPr>
        <p:spPr>
          <a:xfrm>
            <a:off x="10119360" y="1804416"/>
            <a:ext cx="1889760" cy="1072896"/>
          </a:xfrm>
          <a:prstGeom prst="rect">
            <a:avLst/>
          </a:prstGeom>
          <a:solidFill>
            <a:srgbClr val="EDE5DA"/>
          </a:solidFill>
          <a:ln w="6350">
            <a:solidFill>
              <a:srgbClr val="D4CACA"/>
            </a:solidFill>
            <a:prstDash val="solid"/>
          </a:ln>
        </p:spPr>
        <p:txBody>
          <a:bodyPr/>
          <a:lstStyle/>
          <a:p>
            <a:endParaRPr lang="en-US" sz="2400"/>
          </a:p>
        </p:txBody>
      </p:sp>
      <p:sp>
        <p:nvSpPr>
          <p:cNvPr id="27" name="Text 25"/>
          <p:cNvSpPr/>
          <p:nvPr/>
        </p:nvSpPr>
        <p:spPr>
          <a:xfrm>
            <a:off x="10192512" y="1877568"/>
            <a:ext cx="1743456" cy="926592"/>
          </a:xfrm>
          <a:prstGeom prst="rect">
            <a:avLst/>
          </a:prstGeom>
          <a:noFill/>
          <a:ln/>
        </p:spPr>
        <p:txBody>
          <a:bodyPr wrap="square" lIns="0" tIns="0" rIns="0" bIns="0" rtlCol="0" anchor="ctr"/>
          <a:lstStyle/>
          <a:p>
            <a:r>
              <a:rPr lang="en-US" sz="1267" b="1" dirty="0">
                <a:solidFill>
                  <a:srgbClr val="3A7A50"/>
                </a:solidFill>
                <a:latin typeface="Calibri" pitchFamily="34" charset="0"/>
                <a:ea typeface="Calibri" pitchFamily="34" charset="-122"/>
                <a:cs typeface="Calibri" pitchFamily="34" charset="-120"/>
              </a:rPr>
              <a:t>HIGH — universal</a:t>
            </a:r>
            <a:endParaRPr lang="en-US" sz="1267" dirty="0"/>
          </a:p>
        </p:txBody>
      </p:sp>
      <p:sp>
        <p:nvSpPr>
          <p:cNvPr id="28" name="Shape 26"/>
          <p:cNvSpPr/>
          <p:nvPr/>
        </p:nvSpPr>
        <p:spPr>
          <a:xfrm>
            <a:off x="548640" y="2950464"/>
            <a:ext cx="2499360" cy="1072896"/>
          </a:xfrm>
          <a:prstGeom prst="rect">
            <a:avLst/>
          </a:prstGeom>
          <a:solidFill>
            <a:srgbClr val="FFFFFF"/>
          </a:solidFill>
          <a:ln w="6350">
            <a:solidFill>
              <a:srgbClr val="D4CACA"/>
            </a:solidFill>
            <a:prstDash val="solid"/>
          </a:ln>
        </p:spPr>
        <p:txBody>
          <a:bodyPr/>
          <a:lstStyle/>
          <a:p>
            <a:endParaRPr lang="en-US" sz="2400"/>
          </a:p>
        </p:txBody>
      </p:sp>
      <p:sp>
        <p:nvSpPr>
          <p:cNvPr id="29" name="Shape 27"/>
          <p:cNvSpPr/>
          <p:nvPr/>
        </p:nvSpPr>
        <p:spPr>
          <a:xfrm>
            <a:off x="548640" y="2950464"/>
            <a:ext cx="73152" cy="1072896"/>
          </a:xfrm>
          <a:prstGeom prst="rect">
            <a:avLst/>
          </a:prstGeom>
          <a:solidFill>
            <a:srgbClr val="2A7F7F"/>
          </a:solidFill>
          <a:ln w="12700">
            <a:solidFill>
              <a:srgbClr val="2A7F7F"/>
            </a:solidFill>
            <a:prstDash val="solid"/>
          </a:ln>
        </p:spPr>
        <p:txBody>
          <a:bodyPr/>
          <a:lstStyle/>
          <a:p>
            <a:endParaRPr lang="en-US" sz="2400"/>
          </a:p>
        </p:txBody>
      </p:sp>
      <p:sp>
        <p:nvSpPr>
          <p:cNvPr id="30" name="Text 28"/>
          <p:cNvSpPr/>
          <p:nvPr/>
        </p:nvSpPr>
        <p:spPr>
          <a:xfrm>
            <a:off x="719328" y="3023616"/>
            <a:ext cx="2255520" cy="92659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LAI family</a:t>
            </a:r>
            <a:endParaRPr lang="en-US" sz="1333" dirty="0"/>
          </a:p>
          <a:p>
            <a:r>
              <a:rPr lang="en-US" sz="1333" dirty="0">
                <a:solidFill>
                  <a:srgbClr val="1C1214"/>
                </a:solidFill>
                <a:latin typeface="Calibri" pitchFamily="34" charset="0"/>
                <a:ea typeface="Calibri" pitchFamily="34" charset="-122"/>
                <a:cs typeface="Calibri" pitchFamily="34" charset="-120"/>
              </a:rPr>
              <a:t>(iaf_hv, iaf_fl)</a:t>
            </a:r>
            <a:endParaRPr lang="en-US" sz="1333" dirty="0"/>
          </a:p>
        </p:txBody>
      </p:sp>
      <p:sp>
        <p:nvSpPr>
          <p:cNvPr id="31" name="Shape 29"/>
          <p:cNvSpPr/>
          <p:nvPr/>
        </p:nvSpPr>
        <p:spPr>
          <a:xfrm>
            <a:off x="3048000" y="2950464"/>
            <a:ext cx="2682240" cy="1072896"/>
          </a:xfrm>
          <a:prstGeom prst="rect">
            <a:avLst/>
          </a:prstGeom>
          <a:solidFill>
            <a:srgbClr val="FFFFFF"/>
          </a:solidFill>
          <a:ln w="6350">
            <a:solidFill>
              <a:srgbClr val="D4CACA"/>
            </a:solidFill>
            <a:prstDash val="solid"/>
          </a:ln>
        </p:spPr>
        <p:txBody>
          <a:bodyPr/>
          <a:lstStyle/>
          <a:p>
            <a:endParaRPr lang="en-US" sz="2400"/>
          </a:p>
        </p:txBody>
      </p:sp>
      <p:sp>
        <p:nvSpPr>
          <p:cNvPr id="32" name="Text 30"/>
          <p:cNvSpPr/>
          <p:nvPr/>
        </p:nvSpPr>
        <p:spPr>
          <a:xfrm>
            <a:off x="3121152" y="3023616"/>
            <a:ext cx="253593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All 20 RVV rules</a:t>
            </a:r>
            <a:endParaRPr lang="en-US" sz="1267" dirty="0"/>
          </a:p>
          <a:p>
            <a:r>
              <a:rPr lang="en-US" sz="1267" dirty="0">
                <a:solidFill>
                  <a:srgbClr val="1C1214"/>
                </a:solidFill>
                <a:latin typeface="Calibri" pitchFamily="34" charset="0"/>
                <a:ea typeface="Calibri" pitchFamily="34" charset="-122"/>
                <a:cs typeface="Calibri" pitchFamily="34" charset="-120"/>
              </a:rPr>
              <a:t>✓  Minor RDD signal</a:t>
            </a:r>
            <a:endParaRPr lang="en-US" sz="1267" dirty="0"/>
          </a:p>
        </p:txBody>
      </p:sp>
      <p:sp>
        <p:nvSpPr>
          <p:cNvPr id="33" name="Shape 31"/>
          <p:cNvSpPr/>
          <p:nvPr/>
        </p:nvSpPr>
        <p:spPr>
          <a:xfrm>
            <a:off x="5730240" y="2950464"/>
            <a:ext cx="2194560" cy="1072896"/>
          </a:xfrm>
          <a:prstGeom prst="rect">
            <a:avLst/>
          </a:prstGeom>
          <a:solidFill>
            <a:srgbClr val="FFFFFF"/>
          </a:solidFill>
          <a:ln w="6350">
            <a:solidFill>
              <a:srgbClr val="D4CACA"/>
            </a:solidFill>
            <a:prstDash val="solid"/>
          </a:ln>
        </p:spPr>
        <p:txBody>
          <a:bodyPr/>
          <a:lstStyle/>
          <a:p>
            <a:endParaRPr lang="en-US" sz="2400"/>
          </a:p>
        </p:txBody>
      </p:sp>
      <p:sp>
        <p:nvSpPr>
          <p:cNvPr id="34" name="Text 32"/>
          <p:cNvSpPr/>
          <p:nvPr/>
        </p:nvSpPr>
        <p:spPr>
          <a:xfrm>
            <a:off x="5803392" y="3023616"/>
            <a:ext cx="204825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RVV Rules 1–2</a:t>
            </a:r>
            <a:endParaRPr lang="en-US" sz="1267" dirty="0"/>
          </a:p>
        </p:txBody>
      </p:sp>
      <p:sp>
        <p:nvSpPr>
          <p:cNvPr id="35" name="Shape 33"/>
          <p:cNvSpPr/>
          <p:nvPr/>
        </p:nvSpPr>
        <p:spPr>
          <a:xfrm>
            <a:off x="7924800" y="2950464"/>
            <a:ext cx="2194560" cy="1072896"/>
          </a:xfrm>
          <a:prstGeom prst="rect">
            <a:avLst/>
          </a:prstGeom>
          <a:solidFill>
            <a:srgbClr val="FFFFFF"/>
          </a:solidFill>
          <a:ln w="6350">
            <a:solidFill>
              <a:srgbClr val="D4CACA"/>
            </a:solidFill>
            <a:prstDash val="solid"/>
          </a:ln>
        </p:spPr>
        <p:txBody>
          <a:bodyPr/>
          <a:lstStyle/>
          <a:p>
            <a:endParaRPr lang="en-US" sz="2400"/>
          </a:p>
        </p:txBody>
      </p:sp>
      <p:sp>
        <p:nvSpPr>
          <p:cNvPr id="36" name="Text 34"/>
          <p:cNvSpPr/>
          <p:nvPr/>
        </p:nvSpPr>
        <p:spPr>
          <a:xfrm>
            <a:off x="7997952" y="3023616"/>
            <a:ext cx="204825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−2064/unit RVV</a:t>
            </a:r>
            <a:endParaRPr lang="en-US" sz="1267" dirty="0"/>
          </a:p>
        </p:txBody>
      </p:sp>
      <p:sp>
        <p:nvSpPr>
          <p:cNvPr id="37" name="Shape 35"/>
          <p:cNvSpPr/>
          <p:nvPr/>
        </p:nvSpPr>
        <p:spPr>
          <a:xfrm>
            <a:off x="10119360" y="2950464"/>
            <a:ext cx="1889760" cy="1072896"/>
          </a:xfrm>
          <a:prstGeom prst="rect">
            <a:avLst/>
          </a:prstGeom>
          <a:solidFill>
            <a:srgbClr val="FFFFFF"/>
          </a:solidFill>
          <a:ln w="6350">
            <a:solidFill>
              <a:srgbClr val="D4CACA"/>
            </a:solidFill>
            <a:prstDash val="solid"/>
          </a:ln>
        </p:spPr>
        <p:txBody>
          <a:bodyPr/>
          <a:lstStyle/>
          <a:p>
            <a:endParaRPr lang="en-US" sz="2400"/>
          </a:p>
        </p:txBody>
      </p:sp>
      <p:sp>
        <p:nvSpPr>
          <p:cNvPr id="38" name="Text 36"/>
          <p:cNvSpPr/>
          <p:nvPr/>
        </p:nvSpPr>
        <p:spPr>
          <a:xfrm>
            <a:off x="10192512" y="3023616"/>
            <a:ext cx="1743456" cy="926592"/>
          </a:xfrm>
          <a:prstGeom prst="rect">
            <a:avLst/>
          </a:prstGeom>
          <a:noFill/>
          <a:ln/>
        </p:spPr>
        <p:txBody>
          <a:bodyPr wrap="square" lIns="0" tIns="0" rIns="0" bIns="0" rtlCol="0" anchor="ctr"/>
          <a:lstStyle/>
          <a:p>
            <a:r>
              <a:rPr lang="en-US" sz="1267" b="1" dirty="0">
                <a:solidFill>
                  <a:srgbClr val="3A7A50"/>
                </a:solidFill>
                <a:latin typeface="Calibri" pitchFamily="34" charset="0"/>
                <a:ea typeface="Calibri" pitchFamily="34" charset="-122"/>
                <a:cs typeface="Calibri" pitchFamily="34" charset="-120"/>
              </a:rPr>
              <a:t>HIGH — universal</a:t>
            </a:r>
            <a:endParaRPr lang="en-US" sz="1267" dirty="0"/>
          </a:p>
        </p:txBody>
      </p:sp>
      <p:sp>
        <p:nvSpPr>
          <p:cNvPr id="39" name="Shape 37"/>
          <p:cNvSpPr/>
          <p:nvPr/>
        </p:nvSpPr>
        <p:spPr>
          <a:xfrm>
            <a:off x="548640" y="4096512"/>
            <a:ext cx="2499360" cy="1072896"/>
          </a:xfrm>
          <a:prstGeom prst="rect">
            <a:avLst/>
          </a:prstGeom>
          <a:solidFill>
            <a:srgbClr val="EDE5DA"/>
          </a:solidFill>
          <a:ln w="6350">
            <a:solidFill>
              <a:srgbClr val="D4CACA"/>
            </a:solidFill>
            <a:prstDash val="solid"/>
          </a:ln>
        </p:spPr>
        <p:txBody>
          <a:bodyPr/>
          <a:lstStyle/>
          <a:p>
            <a:endParaRPr lang="en-US" sz="2400"/>
          </a:p>
        </p:txBody>
      </p:sp>
      <p:sp>
        <p:nvSpPr>
          <p:cNvPr id="40" name="Shape 38"/>
          <p:cNvSpPr/>
          <p:nvPr/>
        </p:nvSpPr>
        <p:spPr>
          <a:xfrm>
            <a:off x="548640" y="4096512"/>
            <a:ext cx="73152" cy="1072896"/>
          </a:xfrm>
          <a:prstGeom prst="rect">
            <a:avLst/>
          </a:prstGeom>
          <a:solidFill>
            <a:srgbClr val="C4964A"/>
          </a:solidFill>
          <a:ln w="12700">
            <a:solidFill>
              <a:srgbClr val="C4964A"/>
            </a:solidFill>
            <a:prstDash val="solid"/>
          </a:ln>
        </p:spPr>
        <p:txBody>
          <a:bodyPr/>
          <a:lstStyle/>
          <a:p>
            <a:endParaRPr lang="en-US" sz="2400"/>
          </a:p>
        </p:txBody>
      </p:sp>
      <p:sp>
        <p:nvSpPr>
          <p:cNvPr id="41" name="Text 39"/>
          <p:cNvSpPr/>
          <p:nvPr/>
        </p:nvSpPr>
        <p:spPr>
          <a:xfrm>
            <a:off x="719328" y="4169664"/>
            <a:ext cx="2255520" cy="92659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Prev-yr summer temp</a:t>
            </a:r>
            <a:endParaRPr lang="en-US" sz="1333" dirty="0"/>
          </a:p>
          <a:p>
            <a:r>
              <a:rPr lang="en-US" sz="1333" dirty="0">
                <a:solidFill>
                  <a:srgbClr val="1C1214"/>
                </a:solidFill>
                <a:latin typeface="Calibri" pitchFamily="34" charset="0"/>
                <a:ea typeface="Calibri" pitchFamily="34" charset="-122"/>
                <a:cs typeface="Calibri" pitchFamily="34" charset="-120"/>
              </a:rPr>
              <a:t>(tm_sm_y0_a20)</a:t>
            </a:r>
            <a:endParaRPr lang="en-US" sz="1333" dirty="0"/>
          </a:p>
        </p:txBody>
      </p:sp>
      <p:sp>
        <p:nvSpPr>
          <p:cNvPr id="42" name="Shape 40"/>
          <p:cNvSpPr/>
          <p:nvPr/>
        </p:nvSpPr>
        <p:spPr>
          <a:xfrm>
            <a:off x="3048000" y="4096512"/>
            <a:ext cx="2682240" cy="1072896"/>
          </a:xfrm>
          <a:prstGeom prst="rect">
            <a:avLst/>
          </a:prstGeom>
          <a:solidFill>
            <a:srgbClr val="EDE5DA"/>
          </a:solidFill>
          <a:ln w="6350">
            <a:solidFill>
              <a:srgbClr val="D4CACA"/>
            </a:solidFill>
            <a:prstDash val="solid"/>
          </a:ln>
        </p:spPr>
        <p:txBody>
          <a:bodyPr/>
          <a:lstStyle/>
          <a:p>
            <a:endParaRPr lang="en-US" sz="2400"/>
          </a:p>
        </p:txBody>
      </p:sp>
      <p:sp>
        <p:nvSpPr>
          <p:cNvPr id="43" name="Text 41"/>
          <p:cNvSpPr/>
          <p:nvPr/>
        </p:nvSpPr>
        <p:spPr>
          <a:xfrm>
            <a:off x="3121152" y="4169664"/>
            <a:ext cx="253593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RVV carry-over</a:t>
            </a:r>
            <a:endParaRPr lang="en-US" sz="1267" dirty="0"/>
          </a:p>
        </p:txBody>
      </p:sp>
      <p:sp>
        <p:nvSpPr>
          <p:cNvPr id="44" name="Shape 42"/>
          <p:cNvSpPr/>
          <p:nvPr/>
        </p:nvSpPr>
        <p:spPr>
          <a:xfrm>
            <a:off x="5730240" y="4096512"/>
            <a:ext cx="2194560" cy="1072896"/>
          </a:xfrm>
          <a:prstGeom prst="rect">
            <a:avLst/>
          </a:prstGeom>
          <a:solidFill>
            <a:srgbClr val="EDE5DA"/>
          </a:solidFill>
          <a:ln w="6350">
            <a:solidFill>
              <a:srgbClr val="D4CACA"/>
            </a:solidFill>
            <a:prstDash val="solid"/>
          </a:ln>
        </p:spPr>
        <p:txBody>
          <a:bodyPr/>
          <a:lstStyle/>
          <a:p>
            <a:endParaRPr lang="en-US" sz="2400"/>
          </a:p>
        </p:txBody>
      </p:sp>
      <p:sp>
        <p:nvSpPr>
          <p:cNvPr id="45" name="Text 43"/>
          <p:cNvSpPr/>
          <p:nvPr/>
        </p:nvSpPr>
        <p:spPr>
          <a:xfrm>
            <a:off x="5803392" y="4169664"/>
            <a:ext cx="204825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RVV Rule 3</a:t>
            </a:r>
            <a:endParaRPr lang="en-US" sz="1267" dirty="0"/>
          </a:p>
        </p:txBody>
      </p:sp>
      <p:sp>
        <p:nvSpPr>
          <p:cNvPr id="46" name="Shape 44"/>
          <p:cNvSpPr/>
          <p:nvPr/>
        </p:nvSpPr>
        <p:spPr>
          <a:xfrm>
            <a:off x="7924800" y="4096512"/>
            <a:ext cx="2194560" cy="1072896"/>
          </a:xfrm>
          <a:prstGeom prst="rect">
            <a:avLst/>
          </a:prstGeom>
          <a:solidFill>
            <a:srgbClr val="EDE5DA"/>
          </a:solidFill>
          <a:ln w="6350">
            <a:solidFill>
              <a:srgbClr val="D4CACA"/>
            </a:solidFill>
            <a:prstDash val="solid"/>
          </a:ln>
        </p:spPr>
        <p:txBody>
          <a:bodyPr/>
          <a:lstStyle/>
          <a:p>
            <a:endParaRPr lang="en-US" sz="2400"/>
          </a:p>
        </p:txBody>
      </p:sp>
      <p:sp>
        <p:nvSpPr>
          <p:cNvPr id="47" name="Text 45"/>
          <p:cNvSpPr/>
          <p:nvPr/>
        </p:nvSpPr>
        <p:spPr>
          <a:xfrm>
            <a:off x="7997952" y="4169664"/>
            <a:ext cx="204825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+17.2/°C RVV</a:t>
            </a:r>
            <a:endParaRPr lang="en-US" sz="1267" dirty="0"/>
          </a:p>
        </p:txBody>
      </p:sp>
      <p:sp>
        <p:nvSpPr>
          <p:cNvPr id="48" name="Shape 46"/>
          <p:cNvSpPr/>
          <p:nvPr/>
        </p:nvSpPr>
        <p:spPr>
          <a:xfrm>
            <a:off x="10119360" y="4096512"/>
            <a:ext cx="1889760" cy="1072896"/>
          </a:xfrm>
          <a:prstGeom prst="rect">
            <a:avLst/>
          </a:prstGeom>
          <a:solidFill>
            <a:srgbClr val="EDE5DA"/>
          </a:solidFill>
          <a:ln w="6350">
            <a:solidFill>
              <a:srgbClr val="D4CACA"/>
            </a:solidFill>
            <a:prstDash val="solid"/>
          </a:ln>
        </p:spPr>
        <p:txBody>
          <a:bodyPr/>
          <a:lstStyle/>
          <a:p>
            <a:endParaRPr lang="en-US" sz="2400"/>
          </a:p>
        </p:txBody>
      </p:sp>
      <p:sp>
        <p:nvSpPr>
          <p:cNvPr id="49" name="Text 47"/>
          <p:cNvSpPr/>
          <p:nvPr/>
        </p:nvSpPr>
        <p:spPr>
          <a:xfrm>
            <a:off x="10192512" y="4169664"/>
            <a:ext cx="1743456" cy="926592"/>
          </a:xfrm>
          <a:prstGeom prst="rect">
            <a:avLst/>
          </a:prstGeom>
          <a:noFill/>
          <a:ln/>
        </p:spPr>
        <p:txBody>
          <a:bodyPr wrap="square" lIns="0" tIns="0" rIns="0" bIns="0" rtlCol="0" anchor="ctr"/>
          <a:lstStyle/>
          <a:p>
            <a:r>
              <a:rPr lang="en-US" sz="1267" b="1" dirty="0">
                <a:solidFill>
                  <a:srgbClr val="3A7A50"/>
                </a:solidFill>
                <a:latin typeface="Calibri" pitchFamily="34" charset="0"/>
                <a:ea typeface="Calibri" pitchFamily="34" charset="-122"/>
                <a:cs typeface="Calibri" pitchFamily="34" charset="-120"/>
              </a:rPr>
              <a:t>HIGH — RVV focus</a:t>
            </a:r>
            <a:endParaRPr lang="en-US" sz="1267" dirty="0"/>
          </a:p>
        </p:txBody>
      </p:sp>
      <p:sp>
        <p:nvSpPr>
          <p:cNvPr id="50" name="Shape 48"/>
          <p:cNvSpPr/>
          <p:nvPr/>
        </p:nvSpPr>
        <p:spPr>
          <a:xfrm>
            <a:off x="548640" y="5242560"/>
            <a:ext cx="2499360" cy="1072896"/>
          </a:xfrm>
          <a:prstGeom prst="rect">
            <a:avLst/>
          </a:prstGeom>
          <a:solidFill>
            <a:srgbClr val="FFFFFF"/>
          </a:solidFill>
          <a:ln w="6350">
            <a:solidFill>
              <a:srgbClr val="D4CACA"/>
            </a:solidFill>
            <a:prstDash val="solid"/>
          </a:ln>
        </p:spPr>
        <p:txBody>
          <a:bodyPr/>
          <a:lstStyle/>
          <a:p>
            <a:endParaRPr lang="en-US" sz="2400"/>
          </a:p>
        </p:txBody>
      </p:sp>
      <p:sp>
        <p:nvSpPr>
          <p:cNvPr id="51" name="Shape 49"/>
          <p:cNvSpPr/>
          <p:nvPr/>
        </p:nvSpPr>
        <p:spPr>
          <a:xfrm>
            <a:off x="548640" y="5242560"/>
            <a:ext cx="73152" cy="1072896"/>
          </a:xfrm>
          <a:prstGeom prst="rect">
            <a:avLst/>
          </a:prstGeom>
          <a:solidFill>
            <a:srgbClr val="5A4042"/>
          </a:solidFill>
          <a:ln w="12700">
            <a:solidFill>
              <a:srgbClr val="5A4042"/>
            </a:solidFill>
            <a:prstDash val="solid"/>
          </a:ln>
        </p:spPr>
        <p:txBody>
          <a:bodyPr/>
          <a:lstStyle/>
          <a:p>
            <a:endParaRPr lang="en-US" sz="2400"/>
          </a:p>
        </p:txBody>
      </p:sp>
      <p:sp>
        <p:nvSpPr>
          <p:cNvPr id="52" name="Text 50"/>
          <p:cNvSpPr/>
          <p:nvPr/>
        </p:nvSpPr>
        <p:spPr>
          <a:xfrm>
            <a:off x="719328" y="5315712"/>
            <a:ext cx="2255520" cy="926592"/>
          </a:xfrm>
          <a:prstGeom prst="rect">
            <a:avLst/>
          </a:prstGeom>
          <a:noFill/>
          <a:ln/>
        </p:spPr>
        <p:txBody>
          <a:bodyPr wrap="square" lIns="0" tIns="0" rIns="0" bIns="0" rtlCol="0" anchor="ctr"/>
          <a:lstStyle/>
          <a:p>
            <a:r>
              <a:rPr lang="en-US" sz="1333" dirty="0">
                <a:solidFill>
                  <a:srgbClr val="1C1214"/>
                </a:solidFill>
                <a:latin typeface="Calibri" pitchFamily="34" charset="0"/>
                <a:ea typeface="Calibri" pitchFamily="34" charset="-122"/>
                <a:cs typeface="Calibri" pitchFamily="34" charset="-120"/>
              </a:rPr>
              <a:t>Wet days post-flowering</a:t>
            </a:r>
            <a:endParaRPr lang="en-US" sz="1333" dirty="0"/>
          </a:p>
          <a:p>
            <a:r>
              <a:rPr lang="en-US" sz="1333" dirty="0">
                <a:solidFill>
                  <a:srgbClr val="1C1214"/>
                </a:solidFill>
                <a:latin typeface="Calibri" pitchFamily="34" charset="0"/>
                <a:ea typeface="Calibri" pitchFamily="34" charset="-122"/>
                <a:cs typeface="Calibri" pitchFamily="34" charset="-120"/>
              </a:rPr>
              <a:t>(days.rf_fl)</a:t>
            </a:r>
            <a:endParaRPr lang="en-US" sz="1333" dirty="0"/>
          </a:p>
        </p:txBody>
      </p:sp>
      <p:sp>
        <p:nvSpPr>
          <p:cNvPr id="53" name="Shape 51"/>
          <p:cNvSpPr/>
          <p:nvPr/>
        </p:nvSpPr>
        <p:spPr>
          <a:xfrm>
            <a:off x="3048000" y="5242560"/>
            <a:ext cx="2682240" cy="1072896"/>
          </a:xfrm>
          <a:prstGeom prst="rect">
            <a:avLst/>
          </a:prstGeom>
          <a:solidFill>
            <a:srgbClr val="FFFFFF"/>
          </a:solidFill>
          <a:ln w="6350">
            <a:solidFill>
              <a:srgbClr val="D4CACA"/>
            </a:solidFill>
            <a:prstDash val="solid"/>
          </a:ln>
        </p:spPr>
        <p:txBody>
          <a:bodyPr/>
          <a:lstStyle/>
          <a:p>
            <a:endParaRPr lang="en-US" sz="2400"/>
          </a:p>
        </p:txBody>
      </p:sp>
      <p:sp>
        <p:nvSpPr>
          <p:cNvPr id="54" name="Text 52"/>
          <p:cNvSpPr/>
          <p:nvPr/>
        </p:nvSpPr>
        <p:spPr>
          <a:xfrm>
            <a:off x="3121152" y="5315712"/>
            <a:ext cx="2535936" cy="926592"/>
          </a:xfrm>
          <a:prstGeom prst="rect">
            <a:avLst/>
          </a:prstGeom>
          <a:noFill/>
          <a:ln/>
        </p:spPr>
        <p:txBody>
          <a:bodyPr wrap="square" lIns="0" tIns="0" rIns="0" bIns="0" rtlCol="0" anchor="ctr"/>
          <a:lstStyle/>
          <a:p>
            <a:r>
              <a:rPr lang="en-US" sz="1267" dirty="0">
                <a:solidFill>
                  <a:srgbClr val="1C1214"/>
                </a:solidFill>
                <a:latin typeface="Calibri" pitchFamily="34" charset="0"/>
                <a:ea typeface="Calibri" pitchFamily="34" charset="-122"/>
                <a:cs typeface="Calibri" pitchFamily="34" charset="-120"/>
              </a:rPr>
              <a:t>✓  21% of RDD rules</a:t>
            </a:r>
            <a:endParaRPr lang="en-US" sz="1267" dirty="0"/>
          </a:p>
        </p:txBody>
      </p:sp>
      <p:sp>
        <p:nvSpPr>
          <p:cNvPr id="55" name="Shape 53"/>
          <p:cNvSpPr/>
          <p:nvPr/>
        </p:nvSpPr>
        <p:spPr>
          <a:xfrm>
            <a:off x="5730240" y="5242560"/>
            <a:ext cx="2194560" cy="1072896"/>
          </a:xfrm>
          <a:prstGeom prst="rect">
            <a:avLst/>
          </a:prstGeom>
          <a:solidFill>
            <a:srgbClr val="FFFFFF"/>
          </a:solidFill>
          <a:ln w="6350">
            <a:solidFill>
              <a:srgbClr val="D4CACA"/>
            </a:solidFill>
            <a:prstDash val="solid"/>
          </a:ln>
        </p:spPr>
        <p:txBody>
          <a:bodyPr/>
          <a:lstStyle/>
          <a:p>
            <a:endParaRPr lang="en-US" sz="2400"/>
          </a:p>
        </p:txBody>
      </p:sp>
      <p:sp>
        <p:nvSpPr>
          <p:cNvPr id="56" name="Text 54"/>
          <p:cNvSpPr/>
          <p:nvPr/>
        </p:nvSpPr>
        <p:spPr>
          <a:xfrm>
            <a:off x="5803392" y="5315712"/>
            <a:ext cx="2048256" cy="926592"/>
          </a:xfrm>
          <a:prstGeom prst="rect">
            <a:avLst/>
          </a:prstGeom>
          <a:noFill/>
          <a:ln/>
        </p:spPr>
        <p:txBody>
          <a:bodyPr wrap="square" lIns="0" tIns="0" rIns="0" bIns="0" rtlCol="0" anchor="ctr"/>
          <a:lstStyle/>
          <a:p>
            <a:r>
              <a:rPr lang="en-US" sz="1267" dirty="0">
                <a:solidFill>
                  <a:srgbClr val="B74A4A"/>
                </a:solidFill>
                <a:latin typeface="Calibri" pitchFamily="34" charset="0"/>
                <a:ea typeface="Calibri" pitchFamily="34" charset="-122"/>
                <a:cs typeface="Calibri" pitchFamily="34" charset="-120"/>
              </a:rPr>
              <a:t>✗  Not selected</a:t>
            </a:r>
            <a:endParaRPr lang="en-US" sz="1267" dirty="0"/>
          </a:p>
        </p:txBody>
      </p:sp>
      <p:sp>
        <p:nvSpPr>
          <p:cNvPr id="57" name="Shape 55"/>
          <p:cNvSpPr/>
          <p:nvPr/>
        </p:nvSpPr>
        <p:spPr>
          <a:xfrm>
            <a:off x="7924800" y="5242560"/>
            <a:ext cx="2194560" cy="1072896"/>
          </a:xfrm>
          <a:prstGeom prst="rect">
            <a:avLst/>
          </a:prstGeom>
          <a:solidFill>
            <a:srgbClr val="FFFFFF"/>
          </a:solidFill>
          <a:ln w="6350">
            <a:solidFill>
              <a:srgbClr val="D4CACA"/>
            </a:solidFill>
            <a:prstDash val="solid"/>
          </a:ln>
        </p:spPr>
        <p:txBody>
          <a:bodyPr/>
          <a:lstStyle/>
          <a:p>
            <a:endParaRPr lang="en-US" sz="2400"/>
          </a:p>
        </p:txBody>
      </p:sp>
      <p:sp>
        <p:nvSpPr>
          <p:cNvPr id="58" name="Text 56"/>
          <p:cNvSpPr/>
          <p:nvPr/>
        </p:nvSpPr>
        <p:spPr>
          <a:xfrm>
            <a:off x="7997952" y="5315712"/>
            <a:ext cx="2048256" cy="926592"/>
          </a:xfrm>
          <a:prstGeom prst="rect">
            <a:avLst/>
          </a:prstGeom>
          <a:noFill/>
          <a:ln/>
        </p:spPr>
        <p:txBody>
          <a:bodyPr wrap="square" lIns="0" tIns="0" rIns="0" bIns="0" rtlCol="0" anchor="ctr"/>
          <a:lstStyle/>
          <a:p>
            <a:r>
              <a:rPr lang="en-US" sz="1267" dirty="0">
                <a:solidFill>
                  <a:srgbClr val="B74A4A"/>
                </a:solidFill>
                <a:latin typeface="Calibri" pitchFamily="34" charset="0"/>
                <a:ea typeface="Calibri" pitchFamily="34" charset="-122"/>
                <a:cs typeface="Calibri" pitchFamily="34" charset="-120"/>
              </a:rPr>
              <a:t>✗  Not selected</a:t>
            </a:r>
            <a:endParaRPr lang="en-US" sz="1267" dirty="0"/>
          </a:p>
        </p:txBody>
      </p:sp>
      <p:sp>
        <p:nvSpPr>
          <p:cNvPr id="59" name="Shape 57"/>
          <p:cNvSpPr/>
          <p:nvPr/>
        </p:nvSpPr>
        <p:spPr>
          <a:xfrm>
            <a:off x="10119360" y="5242560"/>
            <a:ext cx="1889760" cy="1072896"/>
          </a:xfrm>
          <a:prstGeom prst="rect">
            <a:avLst/>
          </a:prstGeom>
          <a:solidFill>
            <a:srgbClr val="FFFFFF"/>
          </a:solidFill>
          <a:ln w="6350">
            <a:solidFill>
              <a:srgbClr val="D4CACA"/>
            </a:solidFill>
            <a:prstDash val="solid"/>
          </a:ln>
        </p:spPr>
        <p:txBody>
          <a:bodyPr/>
          <a:lstStyle/>
          <a:p>
            <a:endParaRPr lang="en-US" sz="2400"/>
          </a:p>
        </p:txBody>
      </p:sp>
      <p:sp>
        <p:nvSpPr>
          <p:cNvPr id="60" name="Text 58"/>
          <p:cNvSpPr/>
          <p:nvPr/>
        </p:nvSpPr>
        <p:spPr>
          <a:xfrm>
            <a:off x="10192512" y="5315712"/>
            <a:ext cx="1743456" cy="926592"/>
          </a:xfrm>
          <a:prstGeom prst="rect">
            <a:avLst/>
          </a:prstGeom>
          <a:noFill/>
          <a:ln/>
        </p:spPr>
        <p:txBody>
          <a:bodyPr wrap="square" lIns="0" tIns="0" rIns="0" bIns="0" rtlCol="0" anchor="ctr"/>
          <a:lstStyle/>
          <a:p>
            <a:r>
              <a:rPr lang="en-US" sz="1267" b="1" dirty="0">
                <a:solidFill>
                  <a:srgbClr val="5A4042"/>
                </a:solidFill>
                <a:latin typeface="Calibri" pitchFamily="34" charset="0"/>
                <a:ea typeface="Calibri" pitchFamily="34" charset="-122"/>
                <a:cs typeface="Calibri" pitchFamily="34" charset="-120"/>
              </a:rPr>
              <a:t>MODERATE</a:t>
            </a:r>
            <a:endParaRPr lang="en-US" sz="1267" dirty="0"/>
          </a:p>
          <a:p>
            <a:r>
              <a:rPr lang="en-US" sz="1267" b="1" dirty="0">
                <a:solidFill>
                  <a:srgbClr val="5A4042"/>
                </a:solidFill>
                <a:latin typeface="Calibri" pitchFamily="34" charset="0"/>
                <a:ea typeface="Calibri" pitchFamily="34" charset="-122"/>
                <a:cs typeface="Calibri" pitchFamily="34" charset="-120"/>
              </a:rPr>
              <a:t>CarenR-specific</a:t>
            </a:r>
            <a:endParaRPr lang="en-US" sz="1267" dirty="0"/>
          </a:p>
        </p:txBody>
      </p:sp>
      <p:sp>
        <p:nvSpPr>
          <p:cNvPr id="61" name="Shape 59"/>
          <p:cNvSpPr/>
          <p:nvPr/>
        </p:nvSpPr>
        <p:spPr>
          <a:xfrm>
            <a:off x="548640" y="6364224"/>
            <a:ext cx="11094720" cy="414528"/>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62" name="Text 60"/>
          <p:cNvSpPr/>
          <p:nvPr/>
        </p:nvSpPr>
        <p:spPr>
          <a:xfrm>
            <a:off x="792480" y="6425184"/>
            <a:ext cx="10607040" cy="316992"/>
          </a:xfrm>
          <a:prstGeom prst="rect">
            <a:avLst/>
          </a:prstGeom>
          <a:noFill/>
          <a:ln/>
        </p:spPr>
        <p:txBody>
          <a:bodyPr wrap="square" lIns="0" tIns="0" rIns="0" bIns="0" rtlCol="0" anchor="ctr"/>
          <a:lstStyle/>
          <a:p>
            <a:r>
              <a:rPr lang="en-US" sz="1333" b="1" dirty="0">
                <a:solidFill>
                  <a:srgbClr val="6B2737"/>
                </a:solidFill>
                <a:latin typeface="Calibri" pitchFamily="34" charset="0"/>
                <a:ea typeface="Calibri" pitchFamily="34" charset="-122"/>
                <a:cs typeface="Calibri" pitchFamily="34" charset="-120"/>
              </a:rPr>
              <a:t>Convergence across 3 independent algorithms = strongest available evidence that these features reflect genuine data structure, not algorithmic noise.</a:t>
            </a:r>
            <a:endParaRPr lang="en-US" sz="1333"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9248"/>
          </a:xfrm>
          <a:prstGeom prst="rect">
            <a:avLst/>
          </a:prstGeom>
          <a:solidFill>
            <a:srgbClr val="C4964A"/>
          </a:solidFill>
          <a:ln w="12700">
            <a:solidFill>
              <a:srgbClr val="C4964A"/>
            </a:solidFill>
            <a:prstDash val="solid"/>
          </a:ln>
        </p:spPr>
        <p:txBody>
          <a:bodyPr/>
          <a:lstStyle/>
          <a:p>
            <a:endParaRPr lang="en-US" sz="2400"/>
          </a:p>
        </p:txBody>
      </p:sp>
      <p:sp>
        <p:nvSpPr>
          <p:cNvPr id="3" name="Text 1"/>
          <p:cNvSpPr/>
          <p:nvPr/>
        </p:nvSpPr>
        <p:spPr>
          <a:xfrm>
            <a:off x="548640" y="146304"/>
            <a:ext cx="11094720" cy="707136"/>
          </a:xfrm>
          <a:prstGeom prst="rect">
            <a:avLst/>
          </a:prstGeom>
          <a:noFill/>
          <a:ln/>
        </p:spPr>
        <p:txBody>
          <a:bodyPr wrap="square" lIns="0" tIns="0" rIns="0" bIns="0" rtlCol="0" anchor="ctr"/>
          <a:lstStyle/>
          <a:p>
            <a:r>
              <a:rPr lang="en-US" sz="3467" b="1" dirty="0">
                <a:solidFill>
                  <a:srgbClr val="6B2737"/>
                </a:solidFill>
                <a:latin typeface="Georgia" pitchFamily="34" charset="0"/>
                <a:ea typeface="Georgia" pitchFamily="34" charset="-122"/>
                <a:cs typeface="Georgia" pitchFamily="34" charset="-120"/>
              </a:rPr>
              <a:t>Predictive Validation Results (Goal 2)</a:t>
            </a:r>
            <a:endParaRPr lang="en-US" sz="3467" dirty="0"/>
          </a:p>
        </p:txBody>
      </p:sp>
      <p:sp>
        <p:nvSpPr>
          <p:cNvPr id="4" name="Text 2"/>
          <p:cNvSpPr/>
          <p:nvPr/>
        </p:nvSpPr>
        <p:spPr>
          <a:xfrm>
            <a:off x="548640" y="829056"/>
            <a:ext cx="11094720" cy="341376"/>
          </a:xfrm>
          <a:prstGeom prst="rect">
            <a:avLst/>
          </a:prstGeom>
          <a:noFill/>
          <a:ln/>
        </p:spPr>
        <p:txBody>
          <a:bodyPr wrap="square" lIns="0" tIns="0" rIns="0" bIns="0" rtlCol="0" anchor="ctr"/>
          <a:lstStyle/>
          <a:p>
            <a:r>
              <a:rPr lang="en-US" sz="1600" i="1" dirty="0">
                <a:solidFill>
                  <a:srgbClr val="5A4042"/>
                </a:solidFill>
                <a:latin typeface="Calibri" pitchFamily="34" charset="0"/>
                <a:ea typeface="Calibri" pitchFamily="34" charset="-122"/>
                <a:cs typeface="Calibri" pitchFamily="34" charset="-120"/>
              </a:rPr>
              <a:t>Walk-forward · 17 models · 18 RDD scenarios · 16 RVV scenarios</a:t>
            </a:r>
            <a:endParaRPr lang="en-US" sz="1600" dirty="0"/>
          </a:p>
        </p:txBody>
      </p:sp>
      <p:sp>
        <p:nvSpPr>
          <p:cNvPr id="5" name="Shape 3"/>
          <p:cNvSpPr/>
          <p:nvPr/>
        </p:nvSpPr>
        <p:spPr>
          <a:xfrm>
            <a:off x="548640" y="1170432"/>
            <a:ext cx="11094720" cy="0"/>
          </a:xfrm>
          <a:prstGeom prst="line">
            <a:avLst/>
          </a:prstGeom>
          <a:noFill/>
          <a:ln w="12700">
            <a:solidFill>
              <a:srgbClr val="D4CACA"/>
            </a:solidFill>
            <a:prstDash val="solid"/>
          </a:ln>
        </p:spPr>
        <p:txBody>
          <a:bodyPr/>
          <a:lstStyle/>
          <a:p>
            <a:endParaRPr lang="en-US" sz="2400"/>
          </a:p>
        </p:txBody>
      </p:sp>
      <p:sp>
        <p:nvSpPr>
          <p:cNvPr id="6" name="Text 4"/>
          <p:cNvSpPr/>
          <p:nvPr/>
        </p:nvSpPr>
        <p:spPr>
          <a:xfrm>
            <a:off x="10728960" y="6461760"/>
            <a:ext cx="1219200" cy="304800"/>
          </a:xfrm>
          <a:prstGeom prst="rect">
            <a:avLst/>
          </a:prstGeom>
          <a:noFill/>
          <a:ln/>
        </p:spPr>
        <p:txBody>
          <a:bodyPr wrap="square" lIns="0" tIns="0" rIns="0" bIns="0" rtlCol="0" anchor="ctr"/>
          <a:lstStyle/>
          <a:p>
            <a:pPr algn="r"/>
            <a:r>
              <a:rPr lang="en-US" sz="1200" dirty="0">
                <a:solidFill>
                  <a:srgbClr val="C4964A"/>
                </a:solidFill>
                <a:latin typeface="Calibri" pitchFamily="34" charset="0"/>
                <a:ea typeface="Calibri" pitchFamily="34" charset="-122"/>
                <a:cs typeface="Calibri" pitchFamily="34" charset="-120"/>
              </a:rPr>
              <a:t>8 / 12</a:t>
            </a:r>
            <a:endParaRPr lang="en-US" sz="1200" dirty="0"/>
          </a:p>
        </p:txBody>
      </p:sp>
      <p:sp>
        <p:nvSpPr>
          <p:cNvPr id="7" name="Text 5"/>
          <p:cNvSpPr/>
          <p:nvPr/>
        </p:nvSpPr>
        <p:spPr>
          <a:xfrm>
            <a:off x="548640" y="1292352"/>
            <a:ext cx="5547360" cy="341376"/>
          </a:xfrm>
          <a:prstGeom prst="rect">
            <a:avLst/>
          </a:prstGeom>
          <a:noFill/>
          <a:ln/>
        </p:spPr>
        <p:txBody>
          <a:bodyPr wrap="square" lIns="0" tIns="0" rIns="0" bIns="0" rtlCol="0" anchor="ctr"/>
          <a:lstStyle/>
          <a:p>
            <a:r>
              <a:rPr lang="en-US" sz="1467" b="1" dirty="0">
                <a:solidFill>
                  <a:srgbClr val="6B2737"/>
                </a:solidFill>
                <a:latin typeface="Georgia" pitchFamily="34" charset="0"/>
                <a:ea typeface="Georgia" pitchFamily="34" charset="-122"/>
                <a:cs typeface="Georgia" pitchFamily="34" charset="-120"/>
              </a:rPr>
              <a:t>Douro (RDD) — Weighted MAE</a:t>
            </a:r>
            <a:endParaRPr lang="en-US" sz="1467" dirty="0"/>
          </a:p>
        </p:txBody>
      </p:sp>
      <p:graphicFrame>
        <p:nvGraphicFramePr>
          <p:cNvPr id="8" name="Chart 0"/>
          <p:cNvGraphicFramePr/>
          <p:nvPr/>
        </p:nvGraphicFramePr>
        <p:xfrm>
          <a:off x="548640" y="1682496"/>
          <a:ext cx="5547360" cy="4486656"/>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p:nvPr/>
        </p:nvSpPr>
        <p:spPr>
          <a:xfrm>
            <a:off x="6217920" y="1292352"/>
            <a:ext cx="5425440" cy="341376"/>
          </a:xfrm>
          <a:prstGeom prst="rect">
            <a:avLst/>
          </a:prstGeom>
          <a:noFill/>
          <a:ln/>
        </p:spPr>
        <p:txBody>
          <a:bodyPr wrap="square" lIns="0" tIns="0" rIns="0" bIns="0" rtlCol="0" anchor="ctr"/>
          <a:lstStyle/>
          <a:p>
            <a:r>
              <a:rPr lang="en-US" sz="1467" b="1" dirty="0">
                <a:solidFill>
                  <a:srgbClr val="2A7F7F"/>
                </a:solidFill>
                <a:latin typeface="Georgia" pitchFamily="34" charset="0"/>
                <a:ea typeface="Georgia" pitchFamily="34" charset="-122"/>
                <a:cs typeface="Georgia" pitchFamily="34" charset="-120"/>
              </a:rPr>
              <a:t>Vinho Verde (RVV) — Weighted MAE</a:t>
            </a:r>
            <a:endParaRPr lang="en-US" sz="1467" dirty="0"/>
          </a:p>
        </p:txBody>
      </p:sp>
      <p:graphicFrame>
        <p:nvGraphicFramePr>
          <p:cNvPr id="10" name="Chart 1"/>
          <p:cNvGraphicFramePr/>
          <p:nvPr/>
        </p:nvGraphicFramePr>
        <p:xfrm>
          <a:off x="6217920" y="1682496"/>
          <a:ext cx="5425440" cy="4486656"/>
        </p:xfrm>
        <a:graphic>
          <a:graphicData uri="http://schemas.openxmlformats.org/drawingml/2006/chart">
            <c:chart xmlns:c="http://schemas.openxmlformats.org/drawingml/2006/chart" xmlns:r="http://schemas.openxmlformats.org/officeDocument/2006/relationships" r:id="rId4"/>
          </a:graphicData>
        </a:graphic>
      </p:graphicFrame>
      <p:sp>
        <p:nvSpPr>
          <p:cNvPr id="11" name="Shape 7"/>
          <p:cNvSpPr/>
          <p:nvPr/>
        </p:nvSpPr>
        <p:spPr>
          <a:xfrm>
            <a:off x="548640" y="6278880"/>
            <a:ext cx="11094720" cy="512064"/>
          </a:xfrm>
          <a:prstGeom prst="rect">
            <a:avLst/>
          </a:prstGeom>
          <a:solidFill>
            <a:srgbClr val="EDE5DA"/>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12" name="Text 8"/>
          <p:cNvSpPr/>
          <p:nvPr/>
        </p:nvSpPr>
        <p:spPr>
          <a:xfrm>
            <a:off x="792480" y="6327648"/>
            <a:ext cx="10607040" cy="414528"/>
          </a:xfrm>
          <a:prstGeom prst="rect">
            <a:avLst/>
          </a:prstGeom>
          <a:noFill/>
          <a:ln/>
        </p:spPr>
        <p:txBody>
          <a:bodyPr wrap="square" lIns="0" tIns="0" rIns="0" bIns="0" rtlCol="0" anchor="ctr"/>
          <a:lstStyle/>
          <a:p>
            <a:r>
              <a:rPr lang="en-US" sz="1333" b="1" dirty="0">
                <a:solidFill>
                  <a:srgbClr val="6B2737"/>
                </a:solidFill>
                <a:latin typeface="Calibri" pitchFamily="34" charset="0"/>
                <a:ea typeface="Calibri" pitchFamily="34" charset="-122"/>
                <a:cs typeface="Calibri" pitchFamily="34" charset="-120"/>
              </a:rPr>
              <a:t>RDD: </a:t>
            </a:r>
            <a:r>
              <a:rPr lang="en-US" sz="1333" dirty="0">
                <a:solidFill>
                  <a:srgbClr val="1C1214"/>
                </a:solidFill>
                <a:latin typeface="Calibri" pitchFamily="34" charset="0"/>
                <a:ea typeface="Calibri" pitchFamily="34" charset="-122"/>
                <a:cs typeface="Calibri" pitchFamily="34" charset="-120"/>
              </a:rPr>
              <a:t>Best CarenR 189 vs Naive 184 mhl  (+3%)  Wilcoxon p = 0.468  (not significant)       </a:t>
            </a:r>
            <a:r>
              <a:rPr lang="en-US" sz="1333" b="1" dirty="0">
                <a:solidFill>
                  <a:srgbClr val="2A7F7F"/>
                </a:solidFill>
                <a:latin typeface="Calibri" pitchFamily="34" charset="0"/>
                <a:ea typeface="Calibri" pitchFamily="34" charset="-122"/>
                <a:cs typeface="Calibri" pitchFamily="34" charset="-120"/>
              </a:rPr>
              <a:t>RVV: </a:t>
            </a:r>
            <a:r>
              <a:rPr lang="en-US" sz="1333" dirty="0">
                <a:solidFill>
                  <a:srgbClr val="B74A4A"/>
                </a:solidFill>
                <a:latin typeface="Calibri" pitchFamily="34" charset="0"/>
                <a:ea typeface="Calibri" pitchFamily="34" charset="-122"/>
                <a:cs typeface="Calibri" pitchFamily="34" charset="-120"/>
              </a:rPr>
              <a:t>Best CarenR 172 vs Naive 140 mhl  (+22%)  Rules actively harm prediction  p = 0.004 ✗</a:t>
            </a:r>
            <a:endParaRPr lang="en-US" sz="1333"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79248"/>
          </a:xfrm>
          <a:prstGeom prst="rect">
            <a:avLst/>
          </a:prstGeom>
          <a:solidFill>
            <a:srgbClr val="C4964A"/>
          </a:solidFill>
          <a:ln w="12700">
            <a:solidFill>
              <a:srgbClr val="C4964A"/>
            </a:solidFill>
            <a:prstDash val="solid"/>
          </a:ln>
        </p:spPr>
        <p:txBody>
          <a:bodyPr/>
          <a:lstStyle/>
          <a:p>
            <a:endParaRPr lang="en-US" sz="2400"/>
          </a:p>
        </p:txBody>
      </p:sp>
      <p:sp>
        <p:nvSpPr>
          <p:cNvPr id="3" name="Text 1"/>
          <p:cNvSpPr/>
          <p:nvPr/>
        </p:nvSpPr>
        <p:spPr>
          <a:xfrm>
            <a:off x="548640" y="146304"/>
            <a:ext cx="11094720" cy="707136"/>
          </a:xfrm>
          <a:prstGeom prst="rect">
            <a:avLst/>
          </a:prstGeom>
          <a:noFill/>
          <a:ln/>
        </p:spPr>
        <p:txBody>
          <a:bodyPr wrap="square" lIns="0" tIns="0" rIns="0" bIns="0" rtlCol="0" anchor="ctr"/>
          <a:lstStyle/>
          <a:p>
            <a:r>
              <a:rPr lang="en-US" sz="3467" b="1" dirty="0">
                <a:solidFill>
                  <a:srgbClr val="6B2737"/>
                </a:solidFill>
                <a:latin typeface="Georgia" pitchFamily="34" charset="0"/>
                <a:ea typeface="Georgia" pitchFamily="34" charset="-122"/>
                <a:cs typeface="Georgia" pitchFamily="34" charset="-120"/>
              </a:rPr>
              <a:t>Why the Two Regions Diverge</a:t>
            </a:r>
            <a:endParaRPr lang="en-US" sz="3467" dirty="0"/>
          </a:p>
        </p:txBody>
      </p:sp>
      <p:sp>
        <p:nvSpPr>
          <p:cNvPr id="4" name="Text 2"/>
          <p:cNvSpPr/>
          <p:nvPr/>
        </p:nvSpPr>
        <p:spPr>
          <a:xfrm>
            <a:off x="548640" y="829056"/>
            <a:ext cx="11094720" cy="341376"/>
          </a:xfrm>
          <a:prstGeom prst="rect">
            <a:avLst/>
          </a:prstGeom>
          <a:noFill/>
          <a:ln/>
        </p:spPr>
        <p:txBody>
          <a:bodyPr wrap="square" lIns="0" tIns="0" rIns="0" bIns="0" rtlCol="0" anchor="ctr"/>
          <a:lstStyle/>
          <a:p>
            <a:r>
              <a:rPr lang="en-US" sz="1600" i="1" dirty="0">
                <a:solidFill>
                  <a:srgbClr val="5A4042"/>
                </a:solidFill>
                <a:latin typeface="Calibri" pitchFamily="34" charset="0"/>
                <a:ea typeface="Calibri" pitchFamily="34" charset="-122"/>
                <a:cs typeface="Calibri" pitchFamily="34" charset="-120"/>
              </a:rPr>
              <a:t>A designed comparative experiment, not an inconvenient inconsistency</a:t>
            </a:r>
            <a:endParaRPr lang="en-US" sz="1600" dirty="0"/>
          </a:p>
        </p:txBody>
      </p:sp>
      <p:sp>
        <p:nvSpPr>
          <p:cNvPr id="5" name="Shape 3"/>
          <p:cNvSpPr/>
          <p:nvPr/>
        </p:nvSpPr>
        <p:spPr>
          <a:xfrm>
            <a:off x="548640" y="1170432"/>
            <a:ext cx="11094720" cy="0"/>
          </a:xfrm>
          <a:prstGeom prst="line">
            <a:avLst/>
          </a:prstGeom>
          <a:noFill/>
          <a:ln w="12700">
            <a:solidFill>
              <a:srgbClr val="D4CACA"/>
            </a:solidFill>
            <a:prstDash val="solid"/>
          </a:ln>
        </p:spPr>
        <p:txBody>
          <a:bodyPr/>
          <a:lstStyle/>
          <a:p>
            <a:endParaRPr lang="en-US" sz="2400"/>
          </a:p>
        </p:txBody>
      </p:sp>
      <p:sp>
        <p:nvSpPr>
          <p:cNvPr id="6" name="Text 4"/>
          <p:cNvSpPr/>
          <p:nvPr/>
        </p:nvSpPr>
        <p:spPr>
          <a:xfrm>
            <a:off x="10728960" y="6461760"/>
            <a:ext cx="1219200" cy="304800"/>
          </a:xfrm>
          <a:prstGeom prst="rect">
            <a:avLst/>
          </a:prstGeom>
          <a:noFill/>
          <a:ln/>
        </p:spPr>
        <p:txBody>
          <a:bodyPr wrap="square" lIns="0" tIns="0" rIns="0" bIns="0" rtlCol="0" anchor="ctr"/>
          <a:lstStyle/>
          <a:p>
            <a:pPr algn="r"/>
            <a:r>
              <a:rPr lang="en-US" sz="1200" dirty="0">
                <a:solidFill>
                  <a:srgbClr val="C4964A"/>
                </a:solidFill>
                <a:latin typeface="Calibri" pitchFamily="34" charset="0"/>
                <a:ea typeface="Calibri" pitchFamily="34" charset="-122"/>
                <a:cs typeface="Calibri" pitchFamily="34" charset="-120"/>
              </a:rPr>
              <a:t>10 / 12</a:t>
            </a:r>
            <a:endParaRPr lang="en-US" sz="1200" dirty="0"/>
          </a:p>
        </p:txBody>
      </p:sp>
      <p:graphicFrame>
        <p:nvGraphicFramePr>
          <p:cNvPr id="11" name="Table 0"/>
          <p:cNvGraphicFramePr>
            <a:graphicFrameLocks noGrp="1"/>
          </p:cNvGraphicFramePr>
          <p:nvPr/>
        </p:nvGraphicFramePr>
        <p:xfrm>
          <a:off x="548640" y="1316736"/>
          <a:ext cx="11094720" cy="4535424"/>
        </p:xfrm>
        <a:graphic>
          <a:graphicData uri="http://schemas.openxmlformats.org/drawingml/2006/table">
            <a:tbl>
              <a:tblPr/>
              <a:tblGrid>
                <a:gridCol w="23164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804160">
                  <a:extLst>
                    <a:ext uri="{9D8B030D-6E8A-4147-A177-3AD203B41FA5}">
                      <a16:colId xmlns:a16="http://schemas.microsoft.com/office/drawing/2014/main" val="20002"/>
                    </a:ext>
                  </a:extLst>
                </a:gridCol>
                <a:gridCol w="3413760">
                  <a:extLst>
                    <a:ext uri="{9D8B030D-6E8A-4147-A177-3AD203B41FA5}">
                      <a16:colId xmlns:a16="http://schemas.microsoft.com/office/drawing/2014/main" val="20003"/>
                    </a:ext>
                  </a:extLst>
                </a:gridCol>
              </a:tblGrid>
              <a:tr h="755904">
                <a:tc>
                  <a:txBody>
                    <a:bodyPr/>
                    <a:lstStyle/>
                    <a:p>
                      <a:pPr marL="0" indent="0" algn="l">
                        <a:buNone/>
                      </a:pPr>
                      <a:r>
                        <a:rPr lang="en-US" sz="1300" b="1" dirty="0">
                          <a:solidFill>
                            <a:srgbClr val="FFFFFF"/>
                          </a:solidFill>
                        </a:rPr>
                        <a:t>Dimension</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marL="0" indent="0" algn="l">
                        <a:buNone/>
                      </a:pPr>
                      <a:r>
                        <a:rPr lang="en-US" sz="1300" b="1" dirty="0">
                          <a:solidFill>
                            <a:srgbClr val="FFFFFF"/>
                          </a:solidFill>
                        </a:rPr>
                        <a:t>Douro (RDD)</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marL="0" indent="0" algn="l">
                        <a:buNone/>
                      </a:pPr>
                      <a:r>
                        <a:rPr lang="en-US" sz="1300" b="1" dirty="0">
                          <a:solidFill>
                            <a:srgbClr val="FFFFFF"/>
                          </a:solidFill>
                        </a:rPr>
                        <a:t>Vinho Verde (RVV)</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tc>
                  <a:txBody>
                    <a:bodyPr/>
                    <a:lstStyle/>
                    <a:p>
                      <a:pPr marL="0" indent="0" algn="l">
                        <a:buNone/>
                      </a:pPr>
                      <a:r>
                        <a:rPr lang="en-US" sz="1300" b="1" dirty="0">
                          <a:solidFill>
                            <a:srgbClr val="FFFFFF"/>
                          </a:solidFill>
                        </a:rPr>
                        <a:t>Implication</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6B2737"/>
                    </a:solidFill>
                  </a:tcPr>
                </a:tc>
                <a:extLst>
                  <a:ext uri="{0D108BD9-81ED-4DB2-BD59-A6C34878D82A}">
                    <a16:rowId xmlns:a16="http://schemas.microsoft.com/office/drawing/2014/main" val="10000"/>
                  </a:ext>
                </a:extLst>
              </a:tr>
              <a:tr h="755904">
                <a:tc>
                  <a:txBody>
                    <a:bodyPr/>
                    <a:lstStyle/>
                    <a:p>
                      <a:pPr marL="0" indent="0" algn="l">
                        <a:buNone/>
                      </a:pPr>
                      <a:r>
                        <a:rPr lang="en-US" sz="1300" b="1" dirty="0">
                          <a:solidFill>
                            <a:srgbClr val="1C1214"/>
                          </a:solidFill>
                        </a:rPr>
                        <a:t>Production trend</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1214"/>
                          </a:solidFill>
                        </a:rPr>
                        <a:t>+80%  (gradual)</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1214"/>
                          </a:solidFill>
                        </a:rPr>
                        <a:t>−65%  (structural break)</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5A4042"/>
                          </a:solidFill>
                        </a:rPr>
                        <a:t>RVV confound is stronger</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55904">
                <a:tc>
                  <a:txBody>
                    <a:bodyPr/>
                    <a:lstStyle/>
                    <a:p>
                      <a:pPr marL="0" indent="0" algn="l">
                        <a:buNone/>
                      </a:pPr>
                      <a:r>
                        <a:rPr lang="en-US" sz="1300" b="1" dirty="0">
                          <a:solidFill>
                            <a:srgbClr val="1C1214"/>
                          </a:solidFill>
                        </a:rPr>
                        <a:t>Era confound</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l">
                        <a:buNone/>
                      </a:pPr>
                      <a:r>
                        <a:rPr lang="en-US" sz="1300" dirty="0">
                          <a:solidFill>
                            <a:srgbClr val="1C1214"/>
                          </a:solidFill>
                        </a:rPr>
                        <a:t>Moderate</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l">
                        <a:buNone/>
                      </a:pPr>
                      <a:r>
                        <a:rPr lang="en-US" sz="1300" dirty="0">
                          <a:solidFill>
                            <a:srgbClr val="1C1214"/>
                          </a:solidFill>
                        </a:rPr>
                        <a:t>Severe (EU policy 1986)</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l">
                        <a:buNone/>
                      </a:pPr>
                      <a:r>
                        <a:rPr lang="en-US" sz="1300" dirty="0">
                          <a:solidFill>
                            <a:srgbClr val="5A4042"/>
                          </a:solidFill>
                        </a:rPr>
                        <a:t>Rules more era-contaminated</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extLst>
                  <a:ext uri="{0D108BD9-81ED-4DB2-BD59-A6C34878D82A}">
                    <a16:rowId xmlns:a16="http://schemas.microsoft.com/office/drawing/2014/main" val="10002"/>
                  </a:ext>
                </a:extLst>
              </a:tr>
              <a:tr h="755904">
                <a:tc>
                  <a:txBody>
                    <a:bodyPr/>
                    <a:lstStyle/>
                    <a:p>
                      <a:pPr marL="0" indent="0" algn="l">
                        <a:buNone/>
                      </a:pPr>
                      <a:r>
                        <a:rPr lang="en-US" sz="1300" b="1" dirty="0">
                          <a:solidFill>
                            <a:srgbClr val="1C1214"/>
                          </a:solidFill>
                        </a:rPr>
                        <a:t>Climate signal</a:t>
                      </a:r>
                      <a:endParaRPr lang="en-US" sz="1300" dirty="0"/>
                    </a:p>
                    <a:p>
                      <a:pPr marL="0" indent="0" algn="l">
                        <a:buNone/>
                      </a:pPr>
                      <a:r>
                        <a:rPr lang="en-US" sz="1300" b="1" dirty="0">
                          <a:solidFill>
                            <a:srgbClr val="1C1214"/>
                          </a:solidFill>
                        </a:rPr>
                        <a:t>after LOESS</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1214"/>
                          </a:solidFill>
                        </a:rPr>
                        <a:t>Retained (90–125%)</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1C1214"/>
                          </a:solidFill>
                        </a:rPr>
                        <a:t>Collapsed (15–16%)</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5A4042"/>
                          </a:solidFill>
                        </a:rPr>
                        <a:t>RVV signal is era-driven</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55904">
                <a:tc>
                  <a:txBody>
                    <a:bodyPr/>
                    <a:lstStyle/>
                    <a:p>
                      <a:pPr marL="0" indent="0" algn="l">
                        <a:buNone/>
                      </a:pPr>
                      <a:r>
                        <a:rPr lang="en-US" sz="1300" b="1" dirty="0">
                          <a:solidFill>
                            <a:srgbClr val="1C1214"/>
                          </a:solidFill>
                        </a:rPr>
                        <a:t>Linear detrend</a:t>
                      </a:r>
                      <a:endParaRPr lang="en-US" sz="1300" dirty="0"/>
                    </a:p>
                    <a:p>
                      <a:pPr marL="0" indent="0" algn="l">
                        <a:buNone/>
                      </a:pPr>
                      <a:r>
                        <a:rPr lang="en-US" sz="1300" b="1" dirty="0">
                          <a:solidFill>
                            <a:srgbClr val="1C1214"/>
                          </a:solidFill>
                        </a:rPr>
                        <a:t>stationarity</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l">
                        <a:buNone/>
                      </a:pPr>
                      <a:r>
                        <a:rPr lang="en-US" sz="1300" dirty="0">
                          <a:solidFill>
                            <a:srgbClr val="1C1214"/>
                          </a:solidFill>
                        </a:rPr>
                        <a:t>Fully stationary ✓</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l">
                        <a:buNone/>
                      </a:pPr>
                      <a:r>
                        <a:rPr lang="en-US" sz="1300" dirty="0">
                          <a:solidFill>
                            <a:srgbClr val="1C1214"/>
                          </a:solidFill>
                        </a:rPr>
                        <a:t>Partial only (ADF fails)</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tc>
                  <a:txBody>
                    <a:bodyPr/>
                    <a:lstStyle/>
                    <a:p>
                      <a:pPr marL="0" indent="0" algn="l">
                        <a:buNone/>
                      </a:pPr>
                      <a:r>
                        <a:rPr lang="en-US" sz="1300" dirty="0">
                          <a:solidFill>
                            <a:srgbClr val="5A4042"/>
                          </a:solidFill>
                        </a:rPr>
                        <a:t>RVV residuals still contain</a:t>
                      </a:r>
                      <a:endParaRPr lang="en-US" sz="1300" dirty="0"/>
                    </a:p>
                    <a:p>
                      <a:pPr marL="0" indent="0" algn="l">
                        <a:buNone/>
                      </a:pPr>
                      <a:r>
                        <a:rPr lang="en-US" sz="1300" dirty="0">
                          <a:solidFill>
                            <a:srgbClr val="5A4042"/>
                          </a:solidFill>
                        </a:rPr>
                        <a:t>structural drift</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EDE5DA"/>
                    </a:solidFill>
                  </a:tcPr>
                </a:tc>
                <a:extLst>
                  <a:ext uri="{0D108BD9-81ED-4DB2-BD59-A6C34878D82A}">
                    <a16:rowId xmlns:a16="http://schemas.microsoft.com/office/drawing/2014/main" val="10004"/>
                  </a:ext>
                </a:extLst>
              </a:tr>
              <a:tr h="755904">
                <a:tc>
                  <a:txBody>
                    <a:bodyPr/>
                    <a:lstStyle/>
                    <a:p>
                      <a:pPr marL="0" indent="0" algn="l">
                        <a:buNone/>
                      </a:pPr>
                      <a:r>
                        <a:rPr lang="en-US" sz="1300" b="1" dirty="0">
                          <a:solidFill>
                            <a:srgbClr val="1C1214"/>
                          </a:solidFill>
                        </a:rPr>
                        <a:t>CarenR performance</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3A7A50"/>
                          </a:solidFill>
                        </a:rPr>
                        <a:t>3% gap  ·  5/18 wins</a:t>
                      </a:r>
                      <a:endParaRPr lang="en-US" sz="1300" dirty="0"/>
                    </a:p>
                    <a:p>
                      <a:pPr marL="0" indent="0" algn="l">
                        <a:buNone/>
                      </a:pPr>
                      <a:r>
                        <a:rPr lang="en-US" sz="1300" dirty="0">
                          <a:solidFill>
                            <a:srgbClr val="3A7A50"/>
                          </a:solidFill>
                        </a:rPr>
                        <a:t>(era-balanced window)</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B74A4A"/>
                          </a:solidFill>
                        </a:rPr>
                        <a:t>22% gap  ·  0/16 wins</a:t>
                      </a:r>
                      <a:endParaRPr lang="en-US" sz="1300" dirty="0"/>
                    </a:p>
                    <a:p>
                      <a:pPr marL="0" indent="0" algn="l">
                        <a:buNone/>
                      </a:pPr>
                      <a:r>
                        <a:rPr lang="en-US" sz="1300" dirty="0">
                          <a:solidFill>
                            <a:srgbClr val="B74A4A"/>
                          </a:solidFill>
                        </a:rPr>
                        <a:t>Rules harmful (p=0.004)</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5A4042"/>
                          </a:solidFill>
                        </a:rPr>
                        <a:t>Structural noise eliminates</a:t>
                      </a:r>
                      <a:endParaRPr lang="en-US" sz="1300" dirty="0"/>
                    </a:p>
                    <a:p>
                      <a:pPr marL="0" indent="0" algn="l">
                        <a:buNone/>
                      </a:pPr>
                      <a:r>
                        <a:rPr lang="en-US" sz="1300" dirty="0">
                          <a:solidFill>
                            <a:srgbClr val="5A4042"/>
                          </a:solidFill>
                        </a:rPr>
                        <a:t>climate advantage in RVV</a:t>
                      </a:r>
                      <a:endParaRPr lang="en-US" sz="1300" dirty="0"/>
                    </a:p>
                  </a:txBody>
                  <a:tcPr marL="121920" marR="121920" marT="60960" marB="60960">
                    <a:lnL w="6350" cap="flat" cmpd="sng" algn="ctr">
                      <a:solidFill>
                        <a:srgbClr val="D4CACA"/>
                      </a:solidFill>
                      <a:prstDash val="solid"/>
                      <a:round/>
                      <a:headEnd type="none" w="med" len="med"/>
                      <a:tailEnd type="none" w="med" len="med"/>
                    </a:lnL>
                    <a:lnR w="6350" cap="flat" cmpd="sng" algn="ctr">
                      <a:solidFill>
                        <a:srgbClr val="D4CACA"/>
                      </a:solidFill>
                      <a:prstDash val="solid"/>
                      <a:round/>
                      <a:headEnd type="none" w="med" len="med"/>
                      <a:tailEnd type="none" w="med" len="med"/>
                    </a:lnR>
                    <a:lnT w="6350" cap="flat" cmpd="sng" algn="ctr">
                      <a:solidFill>
                        <a:srgbClr val="D4CACA"/>
                      </a:solidFill>
                      <a:prstDash val="solid"/>
                      <a:round/>
                      <a:headEnd type="none" w="med" len="med"/>
                      <a:tailEnd type="none" w="med" len="med"/>
                    </a:lnT>
                    <a:lnB w="6350" cap="flat" cmpd="sng" algn="ctr">
                      <a:solidFill>
                        <a:srgbClr val="D4CAC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548640" y="6291072"/>
            <a:ext cx="11094720" cy="463296"/>
          </a:xfrm>
          <a:prstGeom prst="rect">
            <a:avLst/>
          </a:prstGeom>
          <a:solidFill>
            <a:srgbClr val="F2EBE9"/>
          </a:solidFill>
          <a:ln w="6350">
            <a:solidFill>
              <a:srgbClr val="D4CACA"/>
            </a:solidFill>
            <a:prstDash val="solid"/>
          </a:ln>
          <a:effectLst>
            <a:outerShdw blurRad="50800" dist="12700" dir="8100000" algn="bl" rotWithShape="0">
              <a:srgbClr val="000000">
                <a:alpha val="8000"/>
              </a:srgbClr>
            </a:outerShdw>
          </a:effectLst>
        </p:spPr>
        <p:txBody>
          <a:bodyPr/>
          <a:lstStyle/>
          <a:p>
            <a:endParaRPr lang="en-US" sz="2400"/>
          </a:p>
        </p:txBody>
      </p:sp>
      <p:sp>
        <p:nvSpPr>
          <p:cNvPr id="9" name="Shape 6"/>
          <p:cNvSpPr/>
          <p:nvPr/>
        </p:nvSpPr>
        <p:spPr>
          <a:xfrm>
            <a:off x="548640" y="6291072"/>
            <a:ext cx="73152" cy="463296"/>
          </a:xfrm>
          <a:prstGeom prst="rect">
            <a:avLst/>
          </a:prstGeom>
          <a:solidFill>
            <a:srgbClr val="6B2737"/>
          </a:solidFill>
          <a:ln w="12700">
            <a:solidFill>
              <a:srgbClr val="6B2737"/>
            </a:solidFill>
            <a:prstDash val="solid"/>
          </a:ln>
        </p:spPr>
        <p:txBody>
          <a:bodyPr/>
          <a:lstStyle/>
          <a:p>
            <a:endParaRPr lang="en-US" sz="2400"/>
          </a:p>
        </p:txBody>
      </p:sp>
      <p:sp>
        <p:nvSpPr>
          <p:cNvPr id="10" name="Text 7"/>
          <p:cNvSpPr/>
          <p:nvPr/>
        </p:nvSpPr>
        <p:spPr>
          <a:xfrm>
            <a:off x="792480" y="6352032"/>
            <a:ext cx="10607040" cy="341376"/>
          </a:xfrm>
          <a:prstGeom prst="rect">
            <a:avLst/>
          </a:prstGeom>
          <a:noFill/>
          <a:ln/>
        </p:spPr>
        <p:txBody>
          <a:bodyPr wrap="square" lIns="0" tIns="0" rIns="0" bIns="0" rtlCol="0" anchor="ctr"/>
          <a:lstStyle/>
          <a:p>
            <a:r>
              <a:rPr lang="en-US" sz="1467" b="1" dirty="0">
                <a:solidFill>
                  <a:srgbClr val="6B2737"/>
                </a:solidFill>
                <a:latin typeface="Calibri" pitchFamily="34" charset="0"/>
                <a:ea typeface="Calibri" pitchFamily="34" charset="-122"/>
                <a:cs typeface="Calibri" pitchFamily="34" charset="-120"/>
              </a:rPr>
              <a:t>The same algorithm produces qualitatively different outcomes depending entirely on the structural history of the production series.</a:t>
            </a:r>
            <a:endParaRPr lang="en-US" sz="1467" dirty="0"/>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TotalTime>
  <Words>12964</Words>
  <Application>Microsoft Macintosh PowerPoint</Application>
  <DocSecurity>0</DocSecurity>
  <PresentationFormat>Widescreen</PresentationFormat>
  <Paragraphs>1387</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Hugo Nogueira</cp:lastModifiedBy>
  <cp:revision>7</cp:revision>
  <dcterms:created xsi:type="dcterms:W3CDTF">2026-07-13T14:48:29Z</dcterms:created>
  <dcterms:modified xsi:type="dcterms:W3CDTF">2026-07-13T23:35:50Z</dcterms:modified>
</cp:coreProperties>
</file>