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5fc5b885984c46" /><Relationship Type="http://schemas.openxmlformats.org/officeDocument/2006/relationships/extended-properties" Target="/docProps/app.xml" Id="R81a8e4cb357b4f12" /><Relationship Type="http://schemas.openxmlformats.org/officeDocument/2006/relationships/officeDocument" Target="/ppt/presentation.xml" Id="R4050219777c44e89" /></Relationships>
</file>

<file path=ppt/presentation.xml><?xml version="1.0" encoding="utf-8"?>
<p:presentation xmlns:p="http://schemas.openxmlformats.org/presentationml/2006/main">
  <p:sldMasterIdLst>
    <p:sldMasterId xmlns:r="http://schemas.openxmlformats.org/officeDocument/2006/relationships" id="2147483648" r:id="R3059c7f769ef4fc8"/>
  </p:sldMasterIdLst>
  <p:notesMasterIdLst>
    <p:notesMasterId xmlns:r="http://schemas.openxmlformats.org/officeDocument/2006/relationships" r:id="R9c332907a56d41db"/>
  </p:notesMasterIdLst>
  <p:sldIdLst>
    <p:sldId xmlns:r="http://schemas.openxmlformats.org/officeDocument/2006/relationships" id="256" r:id="R81d0f17129594f31"/>
    <p:sldId xmlns:r="http://schemas.openxmlformats.org/officeDocument/2006/relationships" id="257" r:id="R59382aaedddf465a"/>
    <p:sldId xmlns:r="http://schemas.openxmlformats.org/officeDocument/2006/relationships" id="258" r:id="Rfa302db20462419f"/>
    <p:sldId xmlns:r="http://schemas.openxmlformats.org/officeDocument/2006/relationships" id="259" r:id="R09ff9f0873384d31"/>
    <p:sldId xmlns:r="http://schemas.openxmlformats.org/officeDocument/2006/relationships" id="260" r:id="R9d0288d782854fae"/>
    <p:sldId xmlns:r="http://schemas.openxmlformats.org/officeDocument/2006/relationships" id="261" r:id="R172c069c207d4dbc"/>
    <p:sldId xmlns:r="http://schemas.openxmlformats.org/officeDocument/2006/relationships" id="262" r:id="Rc648aeca76914e14"/>
    <p:sldId xmlns:r="http://schemas.openxmlformats.org/officeDocument/2006/relationships" id="263" r:id="R8cf90fc82edc4d0b"/>
    <p:sldId xmlns:r="http://schemas.openxmlformats.org/officeDocument/2006/relationships" id="264" r:id="R4598993978204bf3"/>
    <p:sldId xmlns:r="http://schemas.openxmlformats.org/officeDocument/2006/relationships" id="265" r:id="R7b99336d69ce406f"/>
    <p:sldId xmlns:r="http://schemas.openxmlformats.org/officeDocument/2006/relationships" id="266" r:id="R6f45c3169c864ac8"/>
    <p:sldId xmlns:r="http://schemas.openxmlformats.org/officeDocument/2006/relationships" id="267" r:id="Rebc736537bc0452c"/>
    <p:sldId xmlns:r="http://schemas.openxmlformats.org/officeDocument/2006/relationships" id="268" r:id="R3635c7d3c8964c29"/>
    <p:sldId xmlns:r="http://schemas.openxmlformats.org/officeDocument/2006/relationships" id="269" r:id="Rfdec7ee094d34ec6"/>
    <p:sldId xmlns:r="http://schemas.openxmlformats.org/officeDocument/2006/relationships" id="270" r:id="R5aaf859b91ff43a7"/>
    <p:sldId xmlns:r="http://schemas.openxmlformats.org/officeDocument/2006/relationships" id="271" r:id="R80da8b9fd16f45fd"/>
    <p:sldId xmlns:r="http://schemas.openxmlformats.org/officeDocument/2006/relationships" id="272" r:id="Rb5190fbd77084f36"/>
    <p:sldId xmlns:r="http://schemas.openxmlformats.org/officeDocument/2006/relationships" id="273" r:id="Rc1eb887c16ec4a49"/>
    <p:sldId xmlns:r="http://schemas.openxmlformats.org/officeDocument/2006/relationships" id="274" r:id="R673a5053329d42e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8ed910d8f84577" /><Relationship Type="http://schemas.openxmlformats.org/officeDocument/2006/relationships/slideMaster" Target="/ppt/slideMasters/slideMaster1.xml" Id="R3059c7f769ef4fc8" /><Relationship Type="http://schemas.openxmlformats.org/officeDocument/2006/relationships/notesMaster" Target="/ppt/notesMasters/notesMaster1.xml" Id="R9c332907a56d41db" /><Relationship Type="http://schemas.openxmlformats.org/officeDocument/2006/relationships/presProps" Target="/ppt/presProps.xml" Id="Rb2709471e0934712" /><Relationship Type="http://schemas.openxmlformats.org/officeDocument/2006/relationships/tableStyles" Target="/ppt/tableStyles.xml" Id="R36f503ebe8274d70" /><Relationship Type="http://schemas.openxmlformats.org/officeDocument/2006/relationships/slide" Target="/ppt/slides/slide1.xml" Id="R81d0f17129594f31" /><Relationship Type="http://schemas.openxmlformats.org/officeDocument/2006/relationships/slide" Target="/ppt/slides/slide2.xml" Id="R59382aaedddf465a" /><Relationship Type="http://schemas.openxmlformats.org/officeDocument/2006/relationships/slide" Target="/ppt/slides/slide3.xml" Id="Rfa302db20462419f" /><Relationship Type="http://schemas.openxmlformats.org/officeDocument/2006/relationships/slide" Target="/ppt/slides/slide4.xml" Id="R09ff9f0873384d31" /><Relationship Type="http://schemas.openxmlformats.org/officeDocument/2006/relationships/slide" Target="/ppt/slides/slide5.xml" Id="R9d0288d782854fae" /><Relationship Type="http://schemas.openxmlformats.org/officeDocument/2006/relationships/slide" Target="/ppt/slides/slide6.xml" Id="R172c069c207d4dbc" /><Relationship Type="http://schemas.openxmlformats.org/officeDocument/2006/relationships/slide" Target="/ppt/slides/slide7.xml" Id="Rc648aeca76914e14" /><Relationship Type="http://schemas.openxmlformats.org/officeDocument/2006/relationships/slide" Target="/ppt/slides/slide8.xml" Id="R8cf90fc82edc4d0b" /><Relationship Type="http://schemas.openxmlformats.org/officeDocument/2006/relationships/slide" Target="/ppt/slides/slide9.xml" Id="R4598993978204bf3" /><Relationship Type="http://schemas.openxmlformats.org/officeDocument/2006/relationships/slide" Target="/ppt/slides/slide10.xml" Id="R7b99336d69ce406f" /><Relationship Type="http://schemas.openxmlformats.org/officeDocument/2006/relationships/slide" Target="/ppt/slides/slide11.xml" Id="R6f45c3169c864ac8" /><Relationship Type="http://schemas.openxmlformats.org/officeDocument/2006/relationships/slide" Target="/ppt/slides/slide12.xml" Id="Rebc736537bc0452c" /><Relationship Type="http://schemas.openxmlformats.org/officeDocument/2006/relationships/slide" Target="/ppt/slides/slide13.xml" Id="R3635c7d3c8964c29" /><Relationship Type="http://schemas.openxmlformats.org/officeDocument/2006/relationships/slide" Target="/ppt/slides/slide14.xml" Id="Rfdec7ee094d34ec6" /><Relationship Type="http://schemas.openxmlformats.org/officeDocument/2006/relationships/slide" Target="/ppt/slides/slide15.xml" Id="R5aaf859b91ff43a7" /><Relationship Type="http://schemas.openxmlformats.org/officeDocument/2006/relationships/slide" Target="/ppt/slides/slide16.xml" Id="R80da8b9fd16f45fd" /><Relationship Type="http://schemas.openxmlformats.org/officeDocument/2006/relationships/slide" Target="/ppt/slides/slide17.xml" Id="Rb5190fbd77084f36" /><Relationship Type="http://schemas.openxmlformats.org/officeDocument/2006/relationships/slide" Target="/ppt/slides/slide18.xml" Id="Rc1eb887c16ec4a49" /><Relationship Type="http://schemas.openxmlformats.org/officeDocument/2006/relationships/slide" Target="/ppt/slides/slide19.xml" Id="R673a5053329d42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a631f111ef4c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f7184ad30b4a01" /><Relationship Type="http://schemas.openxmlformats.org/officeDocument/2006/relationships/notesMaster" Target="/ppt/notesMasters/notesMaster1.xml" Id="Rc4ba2ad5af2f42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48497816e04a78" /><Relationship Type="http://schemas.openxmlformats.org/officeDocument/2006/relationships/notesMaster" Target="/ppt/notesMasters/notesMaster1.xml" Id="R4fe7fca08e074f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abbd975f87483c" /><Relationship Type="http://schemas.openxmlformats.org/officeDocument/2006/relationships/notesMaster" Target="/ppt/notesMasters/notesMaster1.xml" Id="Rb35ec2343e4549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a102704d641da" /><Relationship Type="http://schemas.openxmlformats.org/officeDocument/2006/relationships/notesMaster" Target="/ppt/notesMasters/notesMaster1.xml" Id="Re0c0d6828d6c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f6563b8a78487d" /><Relationship Type="http://schemas.openxmlformats.org/officeDocument/2006/relationships/notesMaster" Target="/ppt/notesMasters/notesMaster1.xml" Id="R99fd06c14a1b48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48f1e835f24218" /><Relationship Type="http://schemas.openxmlformats.org/officeDocument/2006/relationships/notesMaster" Target="/ppt/notesMasters/notesMaster1.xml" Id="Rd7252b08316e42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9d84e9147b4a44" /><Relationship Type="http://schemas.openxmlformats.org/officeDocument/2006/relationships/notesMaster" Target="/ppt/notesMasters/notesMaster1.xml" Id="R1c51e6797ac547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770e7ac2cc44f8" /><Relationship Type="http://schemas.openxmlformats.org/officeDocument/2006/relationships/notesMaster" Target="/ppt/notesMasters/notesMaster1.xml" Id="R5c82eca3916a41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151e2539bb4abc" /><Relationship Type="http://schemas.openxmlformats.org/officeDocument/2006/relationships/notesMaster" Target="/ppt/notesMasters/notesMaster1.xml" Id="R14d0a260657a419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8a39c47bc74290" /><Relationship Type="http://schemas.openxmlformats.org/officeDocument/2006/relationships/notesMaster" Target="/ppt/notesMasters/notesMaster1.xml" Id="R3966330273724e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c7b49212534650" /><Relationship Type="http://schemas.openxmlformats.org/officeDocument/2006/relationships/notesMaster" Target="/ppt/notesMasters/notesMaster1.xml" Id="R3c0dd2c201fe40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e4dc42ccb4648" /><Relationship Type="http://schemas.openxmlformats.org/officeDocument/2006/relationships/notesMaster" Target="/ppt/notesMasters/notesMaster1.xml" Id="R2d94a4861ada45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bddd41e2424245" /><Relationship Type="http://schemas.openxmlformats.org/officeDocument/2006/relationships/notesMaster" Target="/ppt/notesMasters/notesMaster1.xml" Id="Rb349d877db9548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16c5e8e32141a7" /><Relationship Type="http://schemas.openxmlformats.org/officeDocument/2006/relationships/notesMaster" Target="/ppt/notesMasters/notesMaster1.xml" Id="Rc3cb4084199842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d4c70c54704cc2" /><Relationship Type="http://schemas.openxmlformats.org/officeDocument/2006/relationships/notesMaster" Target="/ppt/notesMasters/notesMaster1.xml" Id="R2c1de93e2f4341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d08d4d593b49ae" /><Relationship Type="http://schemas.openxmlformats.org/officeDocument/2006/relationships/notesMaster" Target="/ppt/notesMasters/notesMaster1.xml" Id="Rcd9eac4c1ebc45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14338998f3d41e8" /><Relationship Type="http://schemas.openxmlformats.org/officeDocument/2006/relationships/notesMaster" Target="/ppt/notesMasters/notesMaster1.xml" Id="R1ce435dbe2d446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d5ee10a0ec4b05" /><Relationship Type="http://schemas.openxmlformats.org/officeDocument/2006/relationships/notesMaster" Target="/ppt/notesMasters/notesMaster1.xml" Id="Rac802b0d9af640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b7113e67a34ec0" /><Relationship Type="http://schemas.openxmlformats.org/officeDocument/2006/relationships/notesMaster" Target="/ppt/notesMasters/notesMaster1.xml" Id="R0e61a5c3f30446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practical tension: stakeholders need an early, credible forecast, but they also need to understand and audit the drivers behind it. This thesis asks whether interpretable climate rules can deliver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business framing explicit. The output is not a score for its own sake. It must support harvest, storage, capacity and risk decisions. Interpretability matters because the users are agronomists, producers, cooperatives and regulators.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regional production is an unusually noisy target. Climate is only one layer. Vineyard heterogeneity and structural breaks can be larger than the climate effect, while the sample remains fewer than 90 annual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two regions as a natural comparative experiment: same feature engineering, algorithms and validation; different structural histories and climate regimes. The difference is not cosmetic — it tests when the method succeeds or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carry-over mechanisms. Inflorescence primordia form in y0 and set an upper bound on bunch number. Reserves accumulated after the previous harvest influence reproductive investment in y1. Therefore, a current-year-only dataset is physiologically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infographic to show how daily weather is converted into windows around bud break, flowering, start of maturity and harvest. The final set contains temperature, rainfall, wet days, LAI, soil water and stress indicators, with current- and previous-year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two goals are complementary, not interchangeable. A valid association can be valuable for understanding and still be too weak to improve future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complete algorithm set, then focus on CarenR. CarenR does not predict by fitting one global equation: it searches for recurring climate-defined subgroups whose residual distribution differs from the full historical distribution. RIPPER, M5Rules and the Decision Tree answer different optimisation questions; the naive models establish whether climate adds value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algorithm at a conceptual level: discretise features, search conjunctions, compare subgroup and global residual distributions with the KS test, then retain rules with adequate significance and support. Avoid spending time on beam-search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LOESS removes much of the era structure while preserving the dominant correlations. Cross-algorithm convergence gives a second form of robustness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negative result directly. In Douro the best CarenR variant is close but not significantly different from the median. In Vinho Verde the gap is large, and when rules fire they actively worsen forecasts. Goal 2 is not achieved in aggregate.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conceptual heart of the thesis. Statistical association only requires a consistent shift in distribution. Prediction requires the shift to be large enough to reduce error in unseen years. The remaining variance includes disease, local weather, logistics and measurement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original two-decision contribution. Flexible detrending improves the baseline, but can remove the residual signal required for rules. With time as the only structural covariate, these objectives compete. This diagnoses the failure rather than merely reporting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negative predictive result as useful boundary-setting. The work contributes a transferable way to diagnose rule-based forecasting on non-stationary series. For business, the rules support learning and scenarios today, but not automated forecast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question. The rules reveal credible agroclimatic structure, but operational prediction requires explicit structural covariates and prospective validation. The thesis therefore clarifies both the value and the boundary of interpretable rule-based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c8ae0d270449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ff6f48a0c14a5c" /><Relationship Type="http://schemas.openxmlformats.org/officeDocument/2006/relationships/slideLayout" Target="/ppt/slideLayouts/slideLayout1.xml" Id="R661383511eed40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1383511eed40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327719a075470e" /><Relationship Type="http://schemas.openxmlformats.org/officeDocument/2006/relationships/notesSlide" Target="/ppt/notesSlides/notesSlide1.xml" Id="R56402fb469c34e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05c40eb61a44bd" /><Relationship Type="http://schemas.openxmlformats.org/officeDocument/2006/relationships/notesSlide" Target="/ppt/notesSlides/notesSlide2.xml" Id="R231bb8cce75f42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3a5cad1f2241d1" /><Relationship Type="http://schemas.openxmlformats.org/officeDocument/2006/relationships/notesSlide" Target="/ppt/notesSlides/notesSlide3.xml" Id="Rf092fe35e33344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a7aa8709624fc9" /><Relationship Type="http://schemas.openxmlformats.org/officeDocument/2006/relationships/image" Target="/ppt/media/image.png" Id="R0614ce7d317a4aec" /><Relationship Type="http://schemas.openxmlformats.org/officeDocument/2006/relationships/image" Target="/ppt/media/image2.png" Id="Rd28b9495578f4a6b" /><Relationship Type="http://schemas.openxmlformats.org/officeDocument/2006/relationships/notesSlide" Target="/ppt/notesSlides/notesSlide4.xml" Id="Rc38420ebc4db40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871174811b440d" /><Relationship Type="http://schemas.openxmlformats.org/officeDocument/2006/relationships/notesSlide" Target="/ppt/notesSlides/notesSlide5.xml" Id="Ra959b6789a5646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41a86ddc35487d" /><Relationship Type="http://schemas.openxmlformats.org/officeDocument/2006/relationships/image" Target="/ppt/media/image3.png" Id="R66e7d90031904c7b" /><Relationship Type="http://schemas.openxmlformats.org/officeDocument/2006/relationships/notesSlide" Target="/ppt/notesSlides/notesSlide6.xml" Id="R399210ebc16245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1fe2388e714331" /><Relationship Type="http://schemas.openxmlformats.org/officeDocument/2006/relationships/notesSlide" Target="/ppt/notesSlides/notesSlide7.xml" Id="Raf7d1415244b46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5038d64d634785" /><Relationship Type="http://schemas.openxmlformats.org/officeDocument/2006/relationships/notesSlide" Target="/ppt/notesSlides/notesSlide8.xml" Id="Rb10015fdc7764e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d954dd6ef34488" /><Relationship Type="http://schemas.openxmlformats.org/officeDocument/2006/relationships/notesSlide" Target="/ppt/notesSlides/notesSlide9.xml" Id="R713340fa28a441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231f458a5e4c9b" /><Relationship Type="http://schemas.openxmlformats.org/officeDocument/2006/relationships/notesSlide" Target="/ppt/notesSlides/notesSlide10.xml" Id="Rfec852008e7046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b5d07548e24da3" /><Relationship Type="http://schemas.openxmlformats.org/officeDocument/2006/relationships/image" Target="/ppt/media/image4.png" Id="R5442da4cf6484db0" /><Relationship Type="http://schemas.openxmlformats.org/officeDocument/2006/relationships/notesSlide" Target="/ppt/notesSlides/notesSlide11.xml" Id="Rb1a60c8db0734b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dcc09ad8544922" /><Relationship Type="http://schemas.openxmlformats.org/officeDocument/2006/relationships/notesSlide" Target="/ppt/notesSlides/notesSlide12.xml" Id="R156a6d4549694d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84542f54ff14c8c" /><Relationship Type="http://schemas.openxmlformats.org/officeDocument/2006/relationships/notesSlide" Target="/ppt/notesSlides/notesSlide13.xml" Id="R7b8e3569cfcd4e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549e84cf594d9b" /><Relationship Type="http://schemas.openxmlformats.org/officeDocument/2006/relationships/image" Target="/ppt/media/image5.png" Id="Rff041d6495cf401b" /><Relationship Type="http://schemas.openxmlformats.org/officeDocument/2006/relationships/notesSlide" Target="/ppt/notesSlides/notesSlide14.xml" Id="Rc47ee9fad96e48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41b604551ff4e83" /><Relationship Type="http://schemas.openxmlformats.org/officeDocument/2006/relationships/image" Target="/ppt/media/image6.png" Id="Rbfd906ac25614acc" /><Relationship Type="http://schemas.openxmlformats.org/officeDocument/2006/relationships/image" Target="/ppt/media/image7.png" Id="R9f6b18f6db8845e4" /><Relationship Type="http://schemas.openxmlformats.org/officeDocument/2006/relationships/notesSlide" Target="/ppt/notesSlides/notesSlide15.xml" Id="Re4d44643505041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8f36368f2e470c" /><Relationship Type="http://schemas.openxmlformats.org/officeDocument/2006/relationships/notesSlide" Target="/ppt/notesSlides/notesSlide16.xml" Id="Rf6975e5468514e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6709a6677b34062" /><Relationship Type="http://schemas.openxmlformats.org/officeDocument/2006/relationships/notesSlide" Target="/ppt/notesSlides/notesSlide17.xml" Id="Rf5f840820a6d4a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83acff4ce540c0" /><Relationship Type="http://schemas.openxmlformats.org/officeDocument/2006/relationships/notesSlide" Target="/ppt/notesSlides/notesSlide18.xml" Id="R17a56a968e214b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4b48235ff24106" /><Relationship Type="http://schemas.openxmlformats.org/officeDocument/2006/relationships/notesSlide" Target="/ppt/notesSlides/notesSlide19.xml" Id="R0976d018b84947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400050" y="361950"/>
            <a:ext cx="7239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MASTER'S DISSERTATION · FEUP · 2026</a:t>
            </a:r>
          </a:p>
        </p:txBody>
      </p:sp>
      <p:sp>
        <p:nvSpPr>
          <p:cNvPr id="2" name="">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400050" y="1695450"/>
            <a:ext cx="10287000" cy="20002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5400" b="1">
                <a:solidFill>
                  <a:srgbClr val="151515"/>
                </a:solidFill>
                <a:latin typeface="Arial"/>
                <a:ea typeface="Arial"/>
                <a:cs typeface="Arial"/>
              </a:defRPr>
            </a:pPr>
            <a:r>
              <a:t>Wine production forecasting with interpretable rules</a:t>
            </a:r>
          </a:p>
        </p:txBody>
      </p:sp>
      <p:sp>
        <p:nvSpPr>
          <p:cNvPr id="3" name="">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400050" y="4095750"/>
            <a:ext cx="8096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0">
                <a:solidFill>
                  <a:srgbClr val="60656C"/>
                </a:solidFill>
                <a:latin typeface="Arial"/>
                <a:ea typeface="Arial"/>
                <a:cs typeface="Arial"/>
              </a:defRPr>
            </a:pPr>
            <a:r>
              <a:t>What can climate explain — and what can it reliably predict?</a:t>
            </a:r>
          </a:p>
        </p:txBody>
      </p:sp>
      <p:cxnSp>
        <p:nvCxnSpPr>
          <p:cNvPr id="11" name=""/>
          <p:cNvCxnSpPr/>
          <p:nvPr/>
        </p:nvCxnSpPr>
        <p:spPr>
          <a:xfrm xmlns:a="http://schemas.openxmlformats.org/drawingml/2006/main">
            <a:off x="400050" y="5048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400050" y="5353050"/>
            <a:ext cx="4953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51515"/>
                </a:solidFill>
                <a:latin typeface="Arial"/>
                <a:ea typeface="Arial"/>
                <a:cs typeface="Arial"/>
              </a:defRPr>
            </a:pPr>
            <a:r>
              <a:t>Hugo Filipe Queiróz Nogueira</a:t>
            </a:r>
          </a:p>
        </p:txBody>
      </p:sp>
      <p:sp>
        <p:nvSpPr>
          <p:cNvPr id="6" name="">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400050" y="5753100"/>
            <a:ext cx="7429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0656C"/>
                </a:solidFill>
                <a:latin typeface="Arial"/>
                <a:ea typeface="Arial"/>
                <a:cs typeface="Arial"/>
              </a:defRPr>
            </a:pPr>
            <a:r>
              <a:t>Supervisors: João Mendes Moreira · Mário Campos Cunha</a:t>
            </a:r>
          </a:p>
        </p:txBody>
      </p:sp>
      <p:sp>
        <p:nvSpPr>
          <p:cNvPr id="7" name="">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01</a:t>
            </a:r>
          </a:p>
        </p:txBody>
      </p:sp>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CONTEXT</a:t>
            </a:r>
          </a:p>
        </p:txBody>
      </p:sp>
      <p:sp>
        <p:nvSpPr>
          <p:cNvPr id="2" name="">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The business question is a decision question</a:t>
            </a:r>
          </a:p>
        </p:txBody>
      </p:sp>
      <p:sp>
        <p:nvSpPr>
          <p:cNvPr id="3" name="">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02</a:t>
            </a:r>
          </a:p>
        </p:txBody>
      </p:sp>
      <p:sp>
        <p:nvSpPr>
          <p:cNvPr id="4" name="">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400050" y="1619250"/>
            <a:ext cx="7143750" cy="1809750"/>
          </a:xfrm>
          <a:prstGeom xmlns:a="http://schemas.openxmlformats.org/drawingml/2006/main" prst="rect">
            <a:avLst/>
          </a:prstGeom>
        </p:spPr>
        <p:txBody>
          <a:bodyPr xmlns:a="http://schemas.openxmlformats.org/drawingml/2006/main" lIns="0" tIns="0" rIns="0" bIns="0" anchor="t">
            <a:normAutofit fontScale="94246"/>
          </a:bodyPr>
          <a:lstStyle xmlns:a="http://schemas.openxmlformats.org/drawingml/2006/main"/>
          <a:p xmlns:a="http://schemas.openxmlformats.org/drawingml/2006/main">
            <a:pPr algn="l">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096250" y="1571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8429625" y="185737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7B1E3A"/>
                </a:solidFill>
                <a:latin typeface="Arial"/>
                <a:ea typeface="Arial"/>
                <a:cs typeface="Arial"/>
              </a:defRPr>
            </a:pPr>
            <a:r>
              <a:t>Who uses the answer</a:t>
            </a:r>
          </a:p>
        </p:txBody>
      </p:sp>
      <p:sp>
        <p:nvSpPr>
          <p:cNvPr id="7" name="">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8429625" y="238125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151515"/>
                </a:solidFill>
                <a:latin typeface="Arial"/>
                <a:ea typeface="Arial"/>
                <a:cs typeface="Arial"/>
              </a:defRPr>
            </a:pPr>
            <a:r>
              <a:t>Producers and cooperatives
Regulatory bodies
Supply-chain planners</a:t>
            </a:r>
          </a:p>
        </p:txBody>
      </p:sp>
      <p:cxnSp>
        <p:nvCxnSpPr>
          <p:cNvPr id="21" name=""/>
          <p:cNvCxnSpPr/>
          <p:nvPr/>
        </p:nvCxnSpPr>
        <p:spPr>
          <a:xfrm xmlns:a="http://schemas.openxmlformats.org/drawingml/2006/main">
            <a:off x="8429625" y="3781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8429625" y="404812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7B1E3A"/>
                </a:solidFill>
                <a:latin typeface="Arial"/>
                <a:ea typeface="Arial"/>
                <a:cs typeface="Arial"/>
              </a:defRPr>
            </a:pPr>
            <a:r>
              <a:t>Decisions affected</a:t>
            </a:r>
          </a:p>
        </p:txBody>
      </p:sp>
      <p:sp>
        <p:nvSpPr>
          <p:cNvPr id="10" name="">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8429625" y="457200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151515"/>
                </a:solidFill>
                <a:latin typeface="Arial"/>
                <a:ea typeface="Arial"/>
                <a:cs typeface="Arial"/>
              </a:defRPr>
            </a:pPr>
            <a:r>
              <a:t>Harvest planning
Storage and capacity
Risk assessment</a:t>
            </a:r>
          </a:p>
        </p:txBody>
      </p:sp>
      <p:sp>
        <p:nvSpPr>
          <p:cNvPr id="11" name="">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400050" y="4810125"/>
            <a:ext cx="6858000" cy="514350"/>
          </a:xfrm>
          <a:prstGeom xmlns:a="http://schemas.openxmlformats.org/drawingml/2006/main" prst="rect">
            <a:avLst/>
          </a:prstGeom>
        </p:spPr>
        <p:txBody>
          <a:bodyPr xmlns:a="http://schemas.openxmlformats.org/drawingml/2006/main" lIns="0" tIns="0" rIns="0" bIns="0" anchor="t">
            <a:normAutofit fontScale="93125"/>
          </a:bodyPr>
          <a:lstStyle xmlns:a="http://schemas.openxmlformats.org/drawingml/2006/main"/>
          <a:p xmlns:a="http://schemas.openxmlformats.org/drawingml/2006/main">
            <a:pPr algn="l">
              <a:defRPr sz="2250" b="1">
                <a:solidFill>
                  <a:srgbClr val="7B1E3A"/>
                </a:solidFill>
                <a:latin typeface="Arial"/>
                <a:ea typeface="Arial"/>
                <a:cs typeface="Arial"/>
              </a:defRPr>
            </a:pPr>
            <a:r>
              <a:t>A useful model must add accuracy and preserve trust.</a:t>
            </a:r>
          </a:p>
        </p:txBody>
      </p:sp>
      <p:sp>
        <p:nvSpPr>
          <p:cNvPr id="12" name="">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400050" y="5476875"/>
            <a:ext cx="666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0656C"/>
                </a:solidFill>
                <a:latin typeface="Arial"/>
                <a:ea typeface="Arial"/>
                <a:cs typeface="Arial"/>
              </a:defRPr>
            </a:pPr>
            <a:r>
              <a:t>Prediction alone is insufficient when the mechanism cannot be explained or challenged.</a:t>
            </a:r>
          </a:p>
        </p:txBody>
      </p:sp>
      <p:sp>
        <p:nvSpPr>
          <p:cNvPr id="13" name="">
            <a:extLst xmlns:a="http://schemas.openxmlformats.org/drawingml/2006/main">
              <a:ext uri="{FF2B5EF4-FFF2-40B4-BE49-F238E27FC236}">
                <a16:creationId xmlns:a16="http://schemas.microsoft.com/office/drawing/2014/main" id="{036E2A94-6F54-4D36-A688-3C86D078FE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Chapter 1 (Motivation)</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PROBLEM</a:t>
            </a:r>
          </a:p>
        </p:txBody>
      </p:sp>
      <p:sp>
        <p:nvSpPr>
          <p:cNvPr id="2" name="">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defRPr sz="3600" b="1">
                <a:solidFill>
                  <a:srgbClr val="151515"/>
                </a:solidFill>
                <a:latin typeface="Arial"/>
                <a:ea typeface="Arial"/>
                <a:cs typeface="Arial"/>
              </a:defRPr>
            </a:pPr>
            <a:r>
              <a:t>Why this is hard: the climate signal is real, but diluted</a:t>
            </a:r>
          </a:p>
        </p:txBody>
      </p:sp>
      <p:sp>
        <p:nvSpPr>
          <p:cNvPr id="3" name="">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03</a:t>
            </a:r>
          </a:p>
        </p:txBody>
      </p:sp>
      <p:sp>
        <p:nvSpPr>
          <p:cNvPr id="4" name="">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400050" y="1362075"/>
            <a:ext cx="10668000" cy="6667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400050" y="2476500"/>
            <a:ext cx="2495550" cy="28575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59055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590550"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Biology spans years</a:t>
            </a:r>
          </a:p>
        </p:txBody>
      </p:sp>
      <p:sp>
        <p:nvSpPr>
          <p:cNvPr id="8" name="">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59055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60656C"/>
                </a:solidFill>
                <a:latin typeface="Arial"/>
                <a:ea typeface="Arial"/>
                <a:cs typeface="Arial"/>
              </a:defRPr>
            </a:pPr>
            <a:r>
              <a:t>Yield potential is partly set in the previous season, before the harvest year begins.</a:t>
            </a:r>
          </a:p>
        </p:txBody>
      </p:sp>
      <p:sp>
        <p:nvSpPr>
          <p:cNvPr id="9" name="">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3305175" y="2476500"/>
            <a:ext cx="2495550" cy="28575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349567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349567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Aggregation hides variation</a:t>
            </a:r>
          </a:p>
        </p:txBody>
      </p:sp>
      <p:sp>
        <p:nvSpPr>
          <p:cNvPr id="12" name="">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349567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60656C"/>
                </a:solidFill>
                <a:latin typeface="Arial"/>
                <a:ea typeface="Arial"/>
                <a:cs typeface="Arial"/>
              </a:defRPr>
            </a:pPr>
            <a:r>
              <a:t>Thousands of vineyards differ in soil, altitude, practices and local weather.</a:t>
            </a:r>
          </a:p>
        </p:txBody>
      </p:sp>
      <p:sp>
        <p:nvSpPr>
          <p:cNvPr id="13" name="">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210300" y="2476500"/>
            <a:ext cx="2495550" cy="28575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640080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03</a:t>
            </a:r>
          </a:p>
        </p:txBody>
      </p:sp>
      <p:sp>
        <p:nvSpPr>
          <p:cNvPr id="15" name="">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6400800" y="3219450"/>
            <a:ext cx="2114550" cy="666750"/>
          </a:xfrm>
          <a:prstGeom xmlns:a="http://schemas.openxmlformats.org/drawingml/2006/main" prst="rect">
            <a:avLst/>
          </a:prstGeom>
        </p:spPr>
        <p:txBody>
          <a:bodyPr xmlns:a="http://schemas.openxmlformats.org/drawingml/2006/main" lIns="0" tIns="0" rIns="0" bIns="0" anchor="t">
            <a:normAutofit fontScale="97294"/>
          </a:bodyPr>
          <a:lstStyle xmlns:a="http://schemas.openxmlformats.org/drawingml/2006/main"/>
          <a:p xmlns:a="http://schemas.openxmlformats.org/drawingml/2006/main">
            <a:pPr algn="l">
              <a:defRPr sz="1950" b="1">
                <a:solidFill>
                  <a:srgbClr val="151515"/>
                </a:solidFill>
                <a:latin typeface="Arial"/>
                <a:ea typeface="Arial"/>
                <a:cs typeface="Arial"/>
              </a:defRPr>
            </a:pPr>
            <a:r>
              <a:t>Structure changes over time</a:t>
            </a:r>
          </a:p>
        </p:txBody>
      </p:sp>
      <p:sp>
        <p:nvSpPr>
          <p:cNvPr id="16" name="">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640080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60656C"/>
                </a:solidFill>
                <a:latin typeface="Arial"/>
                <a:ea typeface="Arial"/>
                <a:cs typeface="Arial"/>
              </a:defRPr>
            </a:pPr>
            <a:r>
              <a:t>Policy, planted area, producers and market conditions shift the production baseline.</a:t>
            </a:r>
          </a:p>
        </p:txBody>
      </p:sp>
      <p:sp>
        <p:nvSpPr>
          <p:cNvPr id="17" name="">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115425" y="2476500"/>
            <a:ext cx="2495550" cy="2857500"/>
          </a:xfrm>
          <a:prstGeom xmlns:a="http://schemas.openxmlformats.org/drawingml/2006/main" prst="rect">
            <a:avLst/>
          </a:prstGeom>
          <a:solidFill xmlns:a="http://schemas.openxmlformats.org/drawingml/2006/main">
            <a:srgbClr val="FFF3D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930592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930592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The sample is small</a:t>
            </a:r>
          </a:p>
        </p:txBody>
      </p:sp>
      <p:sp>
        <p:nvSpPr>
          <p:cNvPr id="20" name="">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930592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60656C"/>
                </a:solidFill>
                <a:latin typeface="Arial"/>
                <a:ea typeface="Arial"/>
                <a:cs typeface="Arial"/>
              </a:defRPr>
            </a:pPr>
            <a:r>
              <a:t>Only 80–89 annual observations must support 59 engineered features.</a:t>
            </a:r>
          </a:p>
        </p:txBody>
      </p:sp>
      <p:sp>
        <p:nvSpPr>
          <p:cNvPr id="21" name="">
            <a:extLst xmlns:a="http://schemas.openxmlformats.org/drawingml/2006/main">
              <a:ext uri="{FF2B5EF4-FFF2-40B4-BE49-F238E27FC236}">
                <a16:creationId xmlns:a16="http://schemas.microsoft.com/office/drawing/2014/main" id="{0387399D-91AE-4FE0-8CFF-7FEAC996F5D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1.1, 2.8 and 3.1</a:t>
            </a:r>
          </a:p>
        </p:txBody>
      </p:sp>
    </p:spTree>
    <p:extLst>
      <p:ext uri="{BB962C8B-B14F-4D97-AF65-F5344CB8AC3E}">
        <p14:creationId xmlns:p14="http://schemas.microsoft.com/office/powerpoint/2010/main" val="15465908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NATURAL EXPERIMENT</a:t>
            </a:r>
          </a:p>
        </p:txBody>
      </p:sp>
      <p:sp>
        <p:nvSpPr>
          <p:cNvPr id="2" name="">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The same pipeline meets two different histories</a:t>
            </a:r>
          </a:p>
        </p:txBody>
      </p:sp>
      <p:sp>
        <p:nvSpPr>
          <p:cNvPr id="3" name="">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14ce7d317a4aec"/>
          <a:stretch xmlns:a="http://schemas.openxmlformats.org/drawingml/2006/main"/>
        </p:blipFill>
        <p:spPr>
          <a:xfrm xmlns:a="http://schemas.openxmlformats.org/drawingml/2006/main">
            <a:off x="400050" y="1930797"/>
            <a:ext cx="5476875" cy="2282031"/>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28b9495578f4a6b"/>
          <a:stretch xmlns:a="http://schemas.openxmlformats.org/drawingml/2006/main"/>
        </p:blipFill>
        <p:spPr>
          <a:xfrm xmlns:a="http://schemas.openxmlformats.org/drawingml/2006/main">
            <a:off x="6305550" y="1930797"/>
            <a:ext cx="5476875" cy="22820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400050" y="4953000"/>
            <a:ext cx="5476875" cy="10001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6305550" y="4953000"/>
            <a:ext cx="5476875" cy="100012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609600" y="5162550"/>
            <a:ext cx="2190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563A6"/>
                </a:solidFill>
                <a:latin typeface="Arial"/>
                <a:ea typeface="Arial"/>
                <a:cs typeface="Arial"/>
              </a:defRPr>
            </a:pPr>
            <a:r>
              <a:t>DOURO · 89 years</a:t>
            </a:r>
          </a:p>
        </p:txBody>
      </p:sp>
      <p:sp>
        <p:nvSpPr>
          <p:cNvPr id="9" name="">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6096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51515"/>
                </a:solidFill>
                <a:latin typeface="Arial"/>
                <a:ea typeface="Arial"/>
                <a:cs typeface="Arial"/>
              </a:defRPr>
            </a:pPr>
            <a:r>
              <a:t>Gradual +80% structural rise; CV 27%</a:t>
            </a:r>
          </a:p>
        </p:txBody>
      </p:sp>
      <p:sp>
        <p:nvSpPr>
          <p:cNvPr id="10" name="">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6515100" y="51625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7B1E3A"/>
                </a:solidFill>
                <a:latin typeface="Arial"/>
                <a:ea typeface="Arial"/>
                <a:cs typeface="Arial"/>
              </a:defRPr>
            </a:pPr>
            <a:r>
              <a:t>VINHO VERDE · 80 years</a:t>
            </a:r>
          </a:p>
        </p:txBody>
      </p:sp>
      <p:sp>
        <p:nvSpPr>
          <p:cNvPr id="11" name="">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65151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51515"/>
                </a:solidFill>
                <a:latin typeface="Arial"/>
                <a:ea typeface="Arial"/>
                <a:cs typeface="Arial"/>
              </a:defRPr>
            </a:pPr>
            <a:r>
              <a:t>Sharp structural decline; CV 47%</a:t>
            </a:r>
          </a:p>
        </p:txBody>
      </p:sp>
      <p:sp>
        <p:nvSpPr>
          <p:cNvPr id="12" name="">
            <a:extLst xmlns:a="http://schemas.openxmlformats.org/drawingml/2006/main">
              <a:ext uri="{FF2B5EF4-FFF2-40B4-BE49-F238E27FC236}">
                <a16:creationId xmlns:a16="http://schemas.microsoft.com/office/drawing/2014/main" id="{19D47ADC-270E-4147-9CCB-D0367593CF4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Figures 3.1–3.2 and Appendix B</a:t>
            </a:r>
          </a:p>
        </p:txBody>
      </p:sp>
    </p:spTree>
    <p:extLst>
      <p:ext uri="{BB962C8B-B14F-4D97-AF65-F5344CB8AC3E}">
        <p14:creationId xmlns:p14="http://schemas.microsoft.com/office/powerpoint/2010/main" val="15527709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GRAPEVINE CYCLE</a:t>
            </a:r>
          </a:p>
        </p:txBody>
      </p:sp>
      <p:sp>
        <p:nvSpPr>
          <p:cNvPr id="2" name="">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defRPr sz="3600" b="1">
                <a:solidFill>
                  <a:srgbClr val="151515"/>
                </a:solidFill>
                <a:latin typeface="Arial"/>
                <a:ea typeface="Arial"/>
                <a:cs typeface="Arial"/>
              </a:defRPr>
            </a:pPr>
            <a:r>
              <a:t>Current production begins in the previous growing season</a:t>
            </a:r>
          </a:p>
        </p:txBody>
      </p:sp>
      <p:sp>
        <p:nvSpPr>
          <p:cNvPr id="3" name="">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05</a:t>
            </a:r>
          </a:p>
        </p:txBody>
      </p:sp>
      <p:sp>
        <p:nvSpPr>
          <p:cNvPr id="4" name="">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400050" y="152400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YEAR y0 · POTENTIAL</a:t>
            </a:r>
          </a:p>
        </p:txBody>
      </p:sp>
      <p:sp>
        <p:nvSpPr>
          <p:cNvPr id="5" name="">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6381750" y="1524000"/>
            <a:ext cx="3333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YEAR y1 · REALISATION</a:t>
            </a:r>
          </a:p>
        </p:txBody>
      </p:sp>
      <p:cxnSp>
        <p:nvCxnSpPr>
          <p:cNvPr id="28" name=""/>
          <p:cNvCxnSpPr/>
          <p:nvPr/>
        </p:nvCxnSpPr>
        <p:spPr>
          <a:xfrm xmlns:a="http://schemas.openxmlformats.org/drawingml/2006/main">
            <a:off x="666750" y="3143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047750" y="3048000"/>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3714750" y="3048000"/>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6715125" y="3048000"/>
            <a:ext cx="190500" cy="190500"/>
          </a:xfrm>
          <a:prstGeom xmlns:a="http://schemas.openxmlformats.org/drawingml/2006/main" prst="ellipse">
            <a:avLst/>
          </a:prstGeom>
          <a:solidFill xmlns:a="http://schemas.openxmlformats.org/drawingml/2006/main">
            <a:srgbClr val="7B1E3A"/>
          </a:solidFill>
        </p:spPr>
      </p:sp>
      <p:sp>
        <p:nvSpPr>
          <p:cNvPr id="10" name="">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8858250" y="3048000"/>
            <a:ext cx="190500" cy="190500"/>
          </a:xfrm>
          <a:prstGeom xmlns:a="http://schemas.openxmlformats.org/drawingml/2006/main" prst="ellipse">
            <a:avLst/>
          </a:prstGeom>
          <a:solidFill xmlns:a="http://schemas.openxmlformats.org/drawingml/2006/main">
            <a:srgbClr val="7B1E3A"/>
          </a:solidFill>
        </p:spPr>
      </p:sp>
      <p:sp>
        <p:nvSpPr>
          <p:cNvPr id="11" name="">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049000" y="3048000"/>
            <a:ext cx="190500" cy="190500"/>
          </a:xfrm>
          <a:prstGeom xmlns:a="http://schemas.openxmlformats.org/drawingml/2006/main" prst="ellipse">
            <a:avLst/>
          </a:prstGeom>
          <a:solidFill xmlns:a="http://schemas.openxmlformats.org/drawingml/2006/main">
            <a:srgbClr val="7B1E3A"/>
          </a:solidFill>
        </p:spPr>
      </p:sp>
      <p:sp>
        <p:nvSpPr>
          <p:cNvPr id="12" name="">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762000" y="2333625"/>
            <a:ext cx="1524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51515"/>
                </a:solidFill>
                <a:latin typeface="Arial"/>
                <a:ea typeface="Arial"/>
                <a:cs typeface="Arial"/>
              </a:defRPr>
            </a:pPr>
            <a:r>
              <a:t>Primordia
formation</a:t>
            </a:r>
          </a:p>
        </p:txBody>
      </p:sp>
      <p:sp>
        <p:nvSpPr>
          <p:cNvPr id="13" name="">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3333750" y="3476625"/>
            <a:ext cx="13335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51515"/>
                </a:solidFill>
                <a:latin typeface="Arial"/>
                <a:ea typeface="Arial"/>
                <a:cs typeface="Arial"/>
              </a:defRPr>
            </a:pPr>
            <a:r>
              <a:t>Reserve
building</a:t>
            </a:r>
          </a:p>
        </p:txBody>
      </p:sp>
      <p:sp>
        <p:nvSpPr>
          <p:cNvPr id="14" name="">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6286500" y="2333625"/>
            <a:ext cx="1143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51515"/>
                </a:solidFill>
                <a:latin typeface="Arial"/>
                <a:ea typeface="Arial"/>
                <a:cs typeface="Arial"/>
              </a:defRPr>
            </a:pPr>
            <a:r>
              <a:t>Bud break</a:t>
            </a:r>
          </a:p>
        </p:txBody>
      </p:sp>
      <p:sp>
        <p:nvSpPr>
          <p:cNvPr id="15" name="">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8286750" y="3476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51515"/>
                </a:solidFill>
                <a:latin typeface="Arial"/>
                <a:ea typeface="Arial"/>
                <a:cs typeface="Arial"/>
              </a:defRPr>
            </a:pPr>
            <a:r>
              <a:t>Flowering &amp;
fruit set</a:t>
            </a:r>
          </a:p>
        </p:txBody>
      </p:sp>
      <p:sp>
        <p:nvSpPr>
          <p:cNvPr id="16" name="">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0477500" y="2333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51515"/>
                </a:solidFill>
                <a:latin typeface="Arial"/>
                <a:ea typeface="Arial"/>
                <a:cs typeface="Arial"/>
              </a:defRPr>
            </a:pPr>
            <a:r>
              <a:t>Veraison to
harvest</a:t>
            </a:r>
          </a:p>
        </p:txBody>
      </p:sp>
      <p:sp>
        <p:nvSpPr>
          <p:cNvPr id="17" name="">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523875" y="4476750"/>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0656C"/>
                </a:solidFill>
                <a:latin typeface="Arial"/>
                <a:ea typeface="Arial"/>
                <a:cs typeface="Arial"/>
              </a:defRPr>
            </a:pPr>
            <a:r>
              <a:t>Temperature and light set the upper bound on bunch number.</a:t>
            </a:r>
          </a:p>
        </p:txBody>
      </p:sp>
      <p:sp>
        <p:nvSpPr>
          <p:cNvPr id="18" name="">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523875" y="5191125"/>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0656C"/>
                </a:solidFill>
                <a:latin typeface="Arial"/>
                <a:ea typeface="Arial"/>
                <a:cs typeface="Arial"/>
              </a:defRPr>
            </a:pPr>
            <a:r>
              <a:t>Prior water and thermal stress shape carbohydrate reserves.</a:t>
            </a:r>
          </a:p>
        </p:txBody>
      </p:sp>
      <p:sp>
        <p:nvSpPr>
          <p:cNvPr id="19" name="">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6381750" y="4476750"/>
            <a:ext cx="49530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60656C"/>
                </a:solidFill>
                <a:latin typeface="Arial"/>
                <a:ea typeface="Arial"/>
                <a:cs typeface="Arial"/>
              </a:defRPr>
            </a:pPr>
            <a:r>
              <a:t>Current-year temperature, rain, canopy and soil water determine fruit set and berry development.</a:t>
            </a:r>
          </a:p>
        </p:txBody>
      </p:sp>
      <p:sp>
        <p:nvSpPr>
          <p:cNvPr id="20" name="">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4953000" y="2047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048250" y="2952750"/>
            <a:ext cx="71437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CARRY-
OVER</a:t>
            </a:r>
          </a:p>
        </p:txBody>
      </p:sp>
      <p:sp>
        <p:nvSpPr>
          <p:cNvPr id="22" name="">
            <a:extLst xmlns:a="http://schemas.openxmlformats.org/drawingml/2006/main">
              <a:ext uri="{FF2B5EF4-FFF2-40B4-BE49-F238E27FC236}">
                <a16:creationId xmlns:a16="http://schemas.microsoft.com/office/drawing/2014/main" id="{207FA2E2-0C1C-4B3D-9801-471A7553855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 2.2 — The Two-Year Vine Development Cycle</a:t>
            </a:r>
          </a:p>
        </p:txBody>
      </p:sp>
    </p:spTree>
    <p:extLst>
      <p:ext uri="{BB962C8B-B14F-4D97-AF65-F5344CB8AC3E}">
        <p14:creationId xmlns:p14="http://schemas.microsoft.com/office/powerpoint/2010/main" val="1655500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FEATURE ENGINEERING</a:t>
            </a:r>
          </a:p>
        </p:txBody>
      </p:sp>
      <p:sp>
        <p:nvSpPr>
          <p:cNvPr id="2" name="">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Features follow the biology, not the calendar</a:t>
            </a:r>
          </a:p>
        </p:txBody>
      </p:sp>
      <p:sp>
        <p:nvSpPr>
          <p:cNvPr id="3" name="">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6e7d90031904c7b"/>
          <a:stretch xmlns:a="http://schemas.openxmlformats.org/drawingml/2006/main"/>
        </p:blipFill>
        <p:spPr>
          <a:xfrm xmlns:a="http://schemas.openxmlformats.org/drawingml/2006/main">
            <a:off x="1883389" y="1266825"/>
            <a:ext cx="8425222"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400050" y="5953125"/>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57150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51515"/>
                </a:solidFill>
                <a:latin typeface="Arial"/>
                <a:ea typeface="Arial"/>
                <a:cs typeface="Arial"/>
              </a:defRPr>
            </a:pPr>
            <a:r>
              <a:t>32,842 / 29,902 daily records</a:t>
            </a:r>
          </a:p>
        </p:txBody>
      </p:sp>
      <p:sp>
        <p:nvSpPr>
          <p:cNvPr id="7" name="">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3552825" y="6029325"/>
            <a:ext cx="214312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7B1E3A"/>
                </a:solidFill>
                <a:latin typeface="Arial"/>
                <a:ea typeface="Arial"/>
                <a:cs typeface="Arial"/>
              </a:defRPr>
            </a:pPr>
            <a:r>
              <a:t>→ 59 annual predictors</a:t>
            </a:r>
          </a:p>
        </p:txBody>
      </p:sp>
      <p:sp>
        <p:nvSpPr>
          <p:cNvPr id="8" name="">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6096000" y="6029325"/>
            <a:ext cx="22860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51515"/>
                </a:solidFill>
                <a:latin typeface="Arial"/>
                <a:ea typeface="Arial"/>
                <a:cs typeface="Arial"/>
              </a:defRPr>
            </a:pPr>
            <a:r>
              <a:t>→ 4 phenological anchors</a:t>
            </a:r>
          </a:p>
        </p:txBody>
      </p:sp>
      <p:sp>
        <p:nvSpPr>
          <p:cNvPr id="9" name="">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885825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51515"/>
                </a:solidFill>
                <a:latin typeface="Arial"/>
                <a:ea typeface="Arial"/>
                <a:cs typeface="Arial"/>
              </a:defRPr>
            </a:pPr>
            <a:r>
              <a:t>→ current + previous year</a:t>
            </a:r>
          </a:p>
        </p:txBody>
      </p:sp>
      <p:sp>
        <p:nvSpPr>
          <p:cNvPr id="10" name="">
            <a:extLst xmlns:a="http://schemas.openxmlformats.org/drawingml/2006/main">
              <a:ext uri="{FF2B5EF4-FFF2-40B4-BE49-F238E27FC236}">
                <a16:creationId xmlns:a16="http://schemas.microsoft.com/office/drawing/2014/main" id="{F9634962-38EF-4542-8174-8F531A2985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Figure D.1 and Section 3.11. The map visualises 58 agroclimatic windows; the model set contains 59 predictors in total.</a:t>
            </a:r>
          </a:p>
        </p:txBody>
      </p:sp>
    </p:spTree>
    <p:extLst>
      <p:ext uri="{BB962C8B-B14F-4D97-AF65-F5344CB8AC3E}">
        <p14:creationId xmlns:p14="http://schemas.microsoft.com/office/powerpoint/2010/main" val="6449021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POSITIONING</a:t>
            </a:r>
          </a:p>
        </p:txBody>
      </p:sp>
      <p:sp>
        <p:nvSpPr>
          <p:cNvPr id="2" name="">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0397"/>
          </a:bodyPr>
          <a:lstStyle xmlns:a="http://schemas.openxmlformats.org/drawingml/2006/main"/>
          <a:p xmlns:a="http://schemas.openxmlformats.org/drawingml/2006/main">
            <a:pPr algn="l">
              <a:defRPr sz="3600" b="1">
                <a:solidFill>
                  <a:srgbClr val="151515"/>
                </a:solidFill>
                <a:latin typeface="Arial"/>
                <a:ea typeface="Arial"/>
                <a:cs typeface="Arial"/>
              </a:defRPr>
            </a:pPr>
            <a:r>
              <a:t>The research gap sits between explanation and prediction</a:t>
            </a:r>
          </a:p>
        </p:txBody>
      </p:sp>
      <p:sp>
        <p:nvSpPr>
          <p:cNvPr id="3" name="">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07</a:t>
            </a:r>
          </a:p>
        </p:txBody>
      </p:sp>
      <p:sp>
        <p:nvSpPr>
          <p:cNvPr id="4" name="">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400050" y="1809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6838950" y="1809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714375"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51515"/>
                </a:solidFill>
                <a:latin typeface="Arial"/>
                <a:ea typeface="Arial"/>
                <a:cs typeface="Arial"/>
              </a:defRPr>
            </a:pPr>
            <a:r>
              <a:t>Modern machine learning</a:t>
            </a:r>
          </a:p>
        </p:txBody>
      </p:sp>
      <p:sp>
        <p:nvSpPr>
          <p:cNvPr id="7" name="">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714375"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Handles nonlinear interactions
Often strong predictive accuracy
Decision logic remains opaque</a:t>
            </a:r>
          </a:p>
        </p:txBody>
      </p:sp>
      <p:sp>
        <p:nvSpPr>
          <p:cNvPr id="8" name="">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143750"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7B1E3A"/>
                </a:solidFill>
                <a:latin typeface="Arial"/>
                <a:ea typeface="Arial"/>
                <a:cs typeface="Arial"/>
              </a:defRPr>
            </a:pPr>
            <a:r>
              <a:t>Rule-based discovery</a:t>
            </a:r>
          </a:p>
        </p:txBody>
      </p:sp>
      <p:sp>
        <p:nvSpPr>
          <p:cNvPr id="9" name="">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143750"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5305425" y="2667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5476875" y="3067050"/>
            <a:ext cx="1238250" cy="952500"/>
          </a:xfrm>
          <a:prstGeom xmlns:a="http://schemas.openxmlformats.org/drawingml/2006/main" prst="rect">
            <a:avLst/>
          </a:prstGeom>
        </p:spPr>
        <p:txBody>
          <a:bodyPr xmlns:a="http://schemas.openxmlformats.org/drawingml/2006/main" lIns="0" tIns="0" rIns="0" bIns="0" anchor="t">
            <a:normAutofit fontScale="95785"/>
          </a:bodyPr>
          <a:lstStyle xmlns:a="http://schemas.openxmlformats.org/drawingml/2006/main"/>
          <a:p xmlns:a="http://schemas.openxmlformats.org/drawingml/2006/main">
            <a:pPr algn="ctr">
              <a:defRPr sz="2175" b="1">
                <a:solidFill>
                  <a:srgbClr val="FFFFFF"/>
                </a:solidFill>
                <a:latin typeface="Arial"/>
                <a:ea typeface="Arial"/>
                <a:cs typeface="Arial"/>
              </a:defRPr>
            </a:pPr>
            <a:r>
              <a:t>Can we
have
both?</a:t>
            </a:r>
          </a:p>
        </p:txBody>
      </p:sp>
      <p:sp>
        <p:nvSpPr>
          <p:cNvPr id="12" name="">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1285875" y="5619750"/>
            <a:ext cx="9620250" cy="457200"/>
          </a:xfrm>
          <a:prstGeom xmlns:a="http://schemas.openxmlformats.org/drawingml/2006/main" prst="rect">
            <a:avLst/>
          </a:prstGeom>
        </p:spPr>
        <p:txBody>
          <a:bodyPr xmlns:a="http://schemas.openxmlformats.org/drawingml/2006/main" lIns="0" tIns="0" rIns="0" bIns="0" anchor="t">
            <a:normAutofit fontScale="80000"/>
          </a:bodyPr>
          <a:lstStyle xmlns:a="http://schemas.openxmlformats.org/drawingml/2006/main"/>
          <a:p xmlns:a="http://schemas.openxmlformats.org/drawingml/2006/main">
            <a:pPr algn="ctr">
              <a:defRPr sz="1875" b="1">
                <a:solidFill>
                  <a:srgbClr val="151515"/>
                </a:solidFill>
                <a:latin typeface="Arial"/>
                <a:ea typeface="Arial"/>
                <a:cs typeface="Arial"/>
              </a:defRPr>
            </a:pPr>
            <a:r>
              <a:t>No prior work systematically evaluated distributional subgroup discovery in walk-forward wine production forecasting.</a:t>
            </a:r>
          </a:p>
        </p:txBody>
      </p:sp>
      <p:sp>
        <p:nvSpPr>
          <p:cNvPr id="13" name="">
            <a:extLst xmlns:a="http://schemas.openxmlformats.org/drawingml/2006/main">
              <a:ext uri="{FF2B5EF4-FFF2-40B4-BE49-F238E27FC236}">
                <a16:creationId xmlns:a16="http://schemas.microsoft.com/office/drawing/2014/main" id="{D66EEA0A-EC11-428E-80EB-BA6F1FF072D8}"/>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1.1 and 2.7</a:t>
            </a:r>
          </a:p>
        </p:txBody>
      </p:sp>
    </p:spTree>
    <p:extLst>
      <p:ext uri="{BB962C8B-B14F-4D97-AF65-F5344CB8AC3E}">
        <p14:creationId xmlns:p14="http://schemas.microsoft.com/office/powerpoint/2010/main" val="4720538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RESEARCH DESIGN</a:t>
            </a:r>
          </a:p>
        </p:txBody>
      </p:sp>
      <p:sp>
        <p:nvSpPr>
          <p:cNvPr id="2" name="">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defRPr sz="3600" b="1">
                <a:solidFill>
                  <a:srgbClr val="151515"/>
                </a:solidFill>
                <a:latin typeface="Arial"/>
                <a:ea typeface="Arial"/>
                <a:cs typeface="Arial"/>
              </a:defRPr>
            </a:pPr>
            <a:r>
              <a:t>Two goals separate historical insight from future utility</a:t>
            </a:r>
          </a:p>
        </p:txBody>
      </p:sp>
      <p:sp>
        <p:nvSpPr>
          <p:cNvPr id="3" name="">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08</a:t>
            </a:r>
          </a:p>
        </p:txBody>
      </p:sp>
      <p:sp>
        <p:nvSpPr>
          <p:cNvPr id="4" name="">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400050" y="1571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6305550" y="1571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7143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563A6"/>
                </a:solidFill>
                <a:latin typeface="Arial"/>
                <a:ea typeface="Arial"/>
                <a:cs typeface="Arial"/>
              </a:defRPr>
            </a:pPr>
            <a:r>
              <a:t>GOAL 1</a:t>
            </a:r>
          </a:p>
        </p:txBody>
      </p:sp>
      <p:sp>
        <p:nvSpPr>
          <p:cNvPr id="7" name="">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7143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51515"/>
                </a:solidFill>
                <a:latin typeface="Arial"/>
                <a:ea typeface="Arial"/>
                <a:cs typeface="Arial"/>
              </a:defRPr>
            </a:pPr>
            <a:r>
              <a:t>Discover</a:t>
            </a:r>
          </a:p>
        </p:txBody>
      </p:sp>
      <p:sp>
        <p:nvSpPr>
          <p:cNvPr id="8" name="">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714375" y="3095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defRPr sz="2025" b="0">
                <a:solidFill>
                  <a:srgbClr val="151515"/>
                </a:solidFill>
                <a:latin typeface="Arial"/>
                <a:ea typeface="Arial"/>
                <a:cs typeface="Arial"/>
              </a:defRPr>
            </a:pPr>
            <a:r>
              <a:t>Which agroclimatic conditions distinguish above- and below-trend production years?</a:t>
            </a:r>
          </a:p>
        </p:txBody>
      </p:sp>
      <p:sp>
        <p:nvSpPr>
          <p:cNvPr id="9" name="">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7143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0656C"/>
                </a:solidFill>
                <a:latin typeface="Arial"/>
                <a:ea typeface="Arial"/>
                <a:cs typeface="Arial"/>
              </a:defRPr>
            </a:pPr>
            <a:r>
              <a:t>RQ1 · dominant variables
RQ2 · genuine signal or era confound?</a:t>
            </a:r>
          </a:p>
        </p:txBody>
      </p:sp>
      <p:sp>
        <p:nvSpPr>
          <p:cNvPr id="10" name="">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66198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6534"/>
                </a:solidFill>
                <a:latin typeface="Arial"/>
                <a:ea typeface="Arial"/>
                <a:cs typeface="Arial"/>
              </a:defRPr>
            </a:pPr>
            <a:r>
              <a:t>GOAL 2</a:t>
            </a:r>
          </a:p>
        </p:txBody>
      </p:sp>
      <p:sp>
        <p:nvSpPr>
          <p:cNvPr id="11" name="">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66198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51515"/>
                </a:solidFill>
                <a:latin typeface="Arial"/>
                <a:ea typeface="Arial"/>
                <a:cs typeface="Arial"/>
              </a:defRPr>
            </a:pPr>
            <a:r>
              <a:t>Validate</a:t>
            </a:r>
          </a:p>
        </p:txBody>
      </p:sp>
      <p:sp>
        <p:nvSpPr>
          <p:cNvPr id="12" name="">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6619875" y="3095625"/>
            <a:ext cx="4572000" cy="857250"/>
          </a:xfrm>
          <a:prstGeom xmlns:a="http://schemas.openxmlformats.org/drawingml/2006/main" prst="rect">
            <a:avLst/>
          </a:prstGeom>
        </p:spPr>
        <p:txBody>
          <a:bodyPr xmlns:a="http://schemas.openxmlformats.org/drawingml/2006/main" lIns="0" tIns="0" rIns="0" bIns="0" anchor="t">
            <a:normAutofit fontScale="96354"/>
          </a:bodyPr>
          <a:lstStyle xmlns:a="http://schemas.openxmlformats.org/drawingml/2006/main"/>
          <a:p xmlns:a="http://schemas.openxmlformats.org/drawingml/2006/main">
            <a:pPr algn="l">
              <a:defRPr sz="2025" b="0">
                <a:solidFill>
                  <a:srgbClr val="151515"/>
                </a:solidFill>
                <a:latin typeface="Arial"/>
                <a:ea typeface="Arial"/>
                <a:cs typeface="Arial"/>
              </a:defRPr>
            </a:pPr>
            <a:r>
              <a:t>Can rule-based models beat the historical median in genuine future periods?</a:t>
            </a:r>
          </a:p>
        </p:txBody>
      </p:sp>
      <p:sp>
        <p:nvSpPr>
          <p:cNvPr id="13" name="">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66198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0656C"/>
                </a:solidFill>
                <a:latin typeface="Arial"/>
                <a:ea typeface="Arial"/>
                <a:cs typeface="Arial"/>
              </a:defRPr>
            </a:pPr>
            <a:r>
              <a:t>RQ3 · out-of-sample improvement
RQ4 · conditions for success or failure</a:t>
            </a:r>
          </a:p>
        </p:txBody>
      </p:sp>
      <p:sp>
        <p:nvSpPr>
          <p:cNvPr id="14" name="">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400050" y="5715000"/>
            <a:ext cx="11382375"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7B1E3A"/>
                </a:solidFill>
                <a:latin typeface="Arial"/>
                <a:ea typeface="Arial"/>
                <a:cs typeface="Arial"/>
              </a:defRPr>
            </a:pPr>
            <a:r>
              <a:t>Same data and rule family — different standard of evidence.</a:t>
            </a:r>
          </a:p>
        </p:txBody>
      </p:sp>
      <p:sp>
        <p:nvSpPr>
          <p:cNvPr id="15" name="">
            <a:extLst xmlns:a="http://schemas.openxmlformats.org/drawingml/2006/main">
              <a:ext uri="{FF2B5EF4-FFF2-40B4-BE49-F238E27FC236}">
                <a16:creationId xmlns:a16="http://schemas.microsoft.com/office/drawing/2014/main" id="{72EFAB99-756E-4F2D-B8EF-254C6FBF3FE9}"/>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 1.2</a:t>
            </a:r>
          </a:p>
        </p:txBody>
      </p:sp>
    </p:spTree>
    <p:extLst>
      <p:ext uri="{BB962C8B-B14F-4D97-AF65-F5344CB8AC3E}">
        <p14:creationId xmlns:p14="http://schemas.microsoft.com/office/powerpoint/2010/main" val="12385730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STUDY DESIGN</a:t>
            </a:r>
          </a:p>
        </p:txBody>
      </p:sp>
      <p:sp>
        <p:nvSpPr>
          <p:cNvPr id="2" name="">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defRPr sz="3600" b="1">
                <a:solidFill>
                  <a:srgbClr val="151515"/>
                </a:solidFill>
                <a:latin typeface="Arial"/>
                <a:ea typeface="Arial"/>
                <a:cs typeface="Arial"/>
              </a:defRPr>
            </a:pPr>
            <a:r>
              <a:t>A controlled comparison isolates the role of data structure</a:t>
            </a:r>
          </a:p>
        </p:txBody>
      </p:sp>
      <p:sp>
        <p:nvSpPr>
          <p:cNvPr id="3" name="">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09</a:t>
            </a:r>
          </a:p>
        </p:txBody>
      </p:sp>
      <p:sp>
        <p:nvSpPr>
          <p:cNvPr id="4" name="">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400050" y="1619250"/>
            <a:ext cx="1714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7B1E3A"/>
                </a:solidFill>
                <a:latin typeface="Arial"/>
                <a:ea typeface="Arial"/>
                <a:cs typeface="Arial"/>
              </a:defRPr>
            </a:pPr>
            <a:r>
              <a:t>SAME</a:t>
            </a:r>
          </a:p>
        </p:txBody>
      </p:sp>
      <p:sp>
        <p:nvSpPr>
          <p:cNvPr id="5" name="">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4000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51515"/>
                </a:solidFill>
                <a:latin typeface="Arial"/>
                <a:ea typeface="Arial"/>
                <a:cs typeface="Arial"/>
              </a:defRPr>
            </a:pPr>
            <a:r>
              <a:t>Feature engineering
Detrending logic
Rule learners
Evaluation metric</a:t>
            </a:r>
          </a:p>
        </p:txBody>
      </p:sp>
      <p:sp>
        <p:nvSpPr>
          <p:cNvPr id="6" name="">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4476750" y="1619250"/>
            <a:ext cx="19050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7B1E3A"/>
                </a:solidFill>
                <a:latin typeface="Arial"/>
                <a:ea typeface="Arial"/>
                <a:cs typeface="Arial"/>
              </a:defRPr>
            </a:pPr>
            <a:r>
              <a:t>DIFFERENT</a:t>
            </a:r>
          </a:p>
        </p:txBody>
      </p:sp>
      <p:sp>
        <p:nvSpPr>
          <p:cNvPr id="7" name="">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44767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51515"/>
                </a:solidFill>
                <a:latin typeface="Arial"/>
                <a:ea typeface="Arial"/>
                <a:cs typeface="Arial"/>
              </a:defRPr>
            </a:pPr>
            <a:r>
              <a:t>Climate regime
Structural trajectory
Noise level
Era composition</a:t>
            </a:r>
          </a:p>
        </p:txBody>
      </p:sp>
      <p:sp>
        <p:nvSpPr>
          <p:cNvPr id="8" name="">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096250" y="1524000"/>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8429625" y="1857375"/>
            <a:ext cx="25717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250" b="1">
                <a:solidFill>
                  <a:srgbClr val="FFFFFF"/>
                </a:solidFill>
                <a:latin typeface="Arial"/>
                <a:ea typeface="Arial"/>
                <a:cs typeface="Arial"/>
              </a:defRPr>
            </a:pPr>
            <a:r>
              <a:t>2</a:t>
            </a:r>
          </a:p>
        </p:txBody>
      </p:sp>
      <p:sp>
        <p:nvSpPr>
          <p:cNvPr id="10" name="">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8429625" y="2647950"/>
            <a:ext cx="2571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FFFFFF"/>
                </a:solidFill>
                <a:latin typeface="Arial"/>
                <a:ea typeface="Arial"/>
                <a:cs typeface="Arial"/>
              </a:defRPr>
            </a:pPr>
            <a:r>
              <a:t>regions</a:t>
            </a:r>
          </a:p>
        </p:txBody>
      </p:sp>
      <p:cxnSp>
        <p:nvCxnSpPr>
          <p:cNvPr id="26" name=""/>
          <p:cNvCxnSpPr/>
          <p:nvPr/>
        </p:nvCxnSpPr>
        <p:spPr>
          <a:xfrm xmlns:a="http://schemas.openxmlformats.org/drawingml/2006/main">
            <a:off x="8429625" y="3257550"/>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8429625" y="3571875"/>
            <a:ext cx="25717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t>89 + 80</a:t>
            </a:r>
          </a:p>
        </p:txBody>
      </p:sp>
      <p:sp>
        <p:nvSpPr>
          <p:cNvPr id="13" name="">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8429625" y="4238625"/>
            <a:ext cx="2571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t>annual observations</a:t>
            </a:r>
          </a:p>
        </p:txBody>
      </p:sp>
      <p:sp>
        <p:nvSpPr>
          <p:cNvPr id="14" name="">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400050" y="5143500"/>
            <a:ext cx="6858000" cy="666750"/>
          </a:xfrm>
          <a:prstGeom xmlns:a="http://schemas.openxmlformats.org/drawingml/2006/main" prst="rect">
            <a:avLst/>
          </a:prstGeom>
        </p:spPr>
        <p:txBody>
          <a:bodyPr xmlns:a="http://schemas.openxmlformats.org/drawingml/2006/main" lIns="0" tIns="0" rIns="0" bIns="0" anchor="t">
            <a:normAutofit fontScale="91146"/>
          </a:bodyPr>
          <a:lstStyle xmlns:a="http://schemas.openxmlformats.org/drawingml/2006/main"/>
          <a:p xmlns:a="http://schemas.openxmlformats.org/drawingml/2006/main">
            <a:pPr algn="l">
              <a:defRPr sz="2400" b="1">
                <a:solidFill>
                  <a:srgbClr val="151515"/>
                </a:solidFill>
                <a:latin typeface="Arial"/>
                <a:ea typeface="Arial"/>
                <a:cs typeface="Arial"/>
              </a:defRPr>
            </a:pPr>
            <a:r>
              <a:t>The contrast turns two case studies into a natural experiment.</a:t>
            </a:r>
          </a:p>
        </p:txBody>
      </p:sp>
      <p:sp>
        <p:nvSpPr>
          <p:cNvPr id="15" name="">
            <a:extLst xmlns:a="http://schemas.openxmlformats.org/drawingml/2006/main">
              <a:ext uri="{FF2B5EF4-FFF2-40B4-BE49-F238E27FC236}">
                <a16:creationId xmlns:a16="http://schemas.microsoft.com/office/drawing/2014/main" id="{D4347169-E8A6-424D-A693-6DEE163DB53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3.1 and 3.11</a:t>
            </a:r>
          </a:p>
        </p:txBody>
      </p:sp>
    </p:spTree>
    <p:extLst>
      <p:ext uri="{BB962C8B-B14F-4D97-AF65-F5344CB8AC3E}">
        <p14:creationId xmlns:p14="http://schemas.microsoft.com/office/powerpoint/2010/main" val="12964232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ALGORITHMS</a:t>
            </a:r>
          </a:p>
        </p:txBody>
      </p:sp>
      <p:sp>
        <p:nvSpPr>
          <p:cNvPr id="2" name="">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defRPr sz="3600" b="1">
                <a:solidFill>
                  <a:srgbClr val="151515"/>
                </a:solidFill>
                <a:latin typeface="Arial"/>
                <a:ea typeface="Arial"/>
                <a:cs typeface="Arial"/>
              </a:defRPr>
            </a:pPr>
            <a:r>
              <a:t>CarenR is the primary lens among five model families</a:t>
            </a:r>
          </a:p>
        </p:txBody>
      </p:sp>
      <p:sp>
        <p:nvSpPr>
          <p:cNvPr id="3" name="">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10</a:t>
            </a:r>
          </a:p>
        </p:txBody>
      </p:sp>
      <p:sp>
        <p:nvSpPr>
          <p:cNvPr id="4" name="">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400050" y="1476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685800" y="17335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2563A6"/>
                </a:solidFill>
                <a:latin typeface="Arial"/>
                <a:ea typeface="Arial"/>
                <a:cs typeface="Arial"/>
              </a:defRPr>
            </a:pPr>
            <a:r>
              <a:t>PRIMARY METHOD</a:t>
            </a:r>
          </a:p>
        </p:txBody>
      </p:sp>
      <p:sp>
        <p:nvSpPr>
          <p:cNvPr id="6" name="">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685800" y="2095500"/>
            <a:ext cx="2381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51515"/>
                </a:solidFill>
                <a:latin typeface="Arial"/>
                <a:ea typeface="Arial"/>
                <a:cs typeface="Arial"/>
              </a:defRPr>
            </a:pPr>
            <a:r>
              <a:t>CarenR</a:t>
            </a:r>
          </a:p>
        </p:txBody>
      </p:sp>
      <p:sp>
        <p:nvSpPr>
          <p:cNvPr id="7" name="">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143250" y="2238375"/>
            <a:ext cx="3667125" cy="323850"/>
          </a:xfrm>
          <a:prstGeom xmlns:a="http://schemas.openxmlformats.org/drawingml/2006/main" prst="rect">
            <a:avLst/>
          </a:prstGeom>
        </p:spPr>
        <p:txBody>
          <a:bodyPr xmlns:a="http://schemas.openxmlformats.org/drawingml/2006/main" lIns="0" tIns="0" rIns="0" bIns="0" anchor="t">
            <a:normAutofit fontScale="98569"/>
          </a:bodyPr>
          <a:lstStyle xmlns:a="http://schemas.openxmlformats.org/drawingml/2006/main"/>
          <a:p xmlns:a="http://schemas.openxmlformats.org/drawingml/2006/main">
            <a:pPr algn="l">
              <a:defRPr sz="1800" b="1">
                <a:solidFill>
                  <a:srgbClr val="2563A6"/>
                </a:solidFill>
                <a:latin typeface="Arial"/>
                <a:ea typeface="Arial"/>
                <a:cs typeface="Arial"/>
              </a:defRPr>
            </a:pPr>
            <a:r>
              <a:t>Distributional subgroup discovery</a:t>
            </a:r>
          </a:p>
        </p:txBody>
      </p:sp>
      <p:sp>
        <p:nvSpPr>
          <p:cNvPr id="8" name="">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714375" y="300037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563A6"/>
                </a:solidFill>
                <a:latin typeface="Arial"/>
                <a:ea typeface="Arial"/>
                <a:cs typeface="Arial"/>
              </a:defRPr>
            </a:pPr>
            <a:r>
              <a:t>1</a:t>
            </a:r>
          </a:p>
        </p:txBody>
      </p:sp>
      <p:sp>
        <p:nvSpPr>
          <p:cNvPr id="9" name="">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066800" y="300037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1515"/>
                </a:solidFill>
                <a:latin typeface="Arial"/>
                <a:ea typeface="Arial"/>
                <a:cs typeface="Arial"/>
              </a:defRPr>
            </a:pPr>
            <a:r>
              <a:t>Discretise</a:t>
            </a:r>
          </a:p>
        </p:txBody>
      </p:sp>
      <p:sp>
        <p:nvSpPr>
          <p:cNvPr id="10" name="">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2381250" y="300037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0656C"/>
                </a:solidFill>
                <a:latin typeface="Arial"/>
                <a:ea typeface="Arial"/>
                <a:cs typeface="Arial"/>
              </a:defRPr>
            </a:pPr>
            <a:r>
              <a:t>Climate features become equal-frequency bins.</a:t>
            </a:r>
          </a:p>
        </p:txBody>
      </p:sp>
      <p:cxnSp>
        <p:nvCxnSpPr>
          <p:cNvPr id="50" name=""/>
          <p:cNvCxnSpPr/>
          <p:nvPr/>
        </p:nvCxnSpPr>
        <p:spPr>
          <a:xfrm xmlns:a="http://schemas.openxmlformats.org/drawingml/2006/main">
            <a:off x="838200" y="3352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714375" y="371475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563A6"/>
                </a:solidFill>
                <a:latin typeface="Arial"/>
                <a:ea typeface="Arial"/>
                <a:cs typeface="Arial"/>
              </a:defRPr>
            </a:pPr>
            <a:r>
              <a:t>2</a:t>
            </a:r>
          </a:p>
        </p:txBody>
      </p:sp>
      <p:sp>
        <p:nvSpPr>
          <p:cNvPr id="13" name="">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066800" y="371475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1515"/>
                </a:solidFill>
                <a:latin typeface="Arial"/>
                <a:ea typeface="Arial"/>
                <a:cs typeface="Arial"/>
              </a:defRPr>
            </a:pPr>
            <a:r>
              <a:t>Search</a:t>
            </a:r>
          </a:p>
        </p:txBody>
      </p:sp>
      <p:sp>
        <p:nvSpPr>
          <p:cNvPr id="14" name="">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2381250" y="371475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0656C"/>
                </a:solidFill>
                <a:latin typeface="Arial"/>
                <a:ea typeface="Arial"/>
                <a:cs typeface="Arial"/>
              </a:defRPr>
            </a:pPr>
            <a:r>
              <a:t>Beam search combines feature-bin conditions.</a:t>
            </a:r>
          </a:p>
        </p:txBody>
      </p:sp>
      <p:cxnSp>
        <p:nvCxnSpPr>
          <p:cNvPr id="54" name=""/>
          <p:cNvCxnSpPr/>
          <p:nvPr/>
        </p:nvCxnSpPr>
        <p:spPr>
          <a:xfrm xmlns:a="http://schemas.openxmlformats.org/drawingml/2006/main">
            <a:off x="838200" y="4067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714375" y="442912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563A6"/>
                </a:solidFill>
                <a:latin typeface="Arial"/>
                <a:ea typeface="Arial"/>
                <a:cs typeface="Arial"/>
              </a:defRPr>
            </a:pPr>
            <a:r>
              <a:t>3</a:t>
            </a:r>
          </a:p>
        </p:txBody>
      </p:sp>
      <p:sp>
        <p:nvSpPr>
          <p:cNvPr id="17" name="">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066800" y="442912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1515"/>
                </a:solidFill>
                <a:latin typeface="Arial"/>
                <a:ea typeface="Arial"/>
                <a:cs typeface="Arial"/>
              </a:defRPr>
            </a:pPr>
            <a:r>
              <a:t>Compare</a:t>
            </a:r>
          </a:p>
        </p:txBody>
      </p:sp>
      <p:sp>
        <p:nvSpPr>
          <p:cNvPr id="18" name="">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2381250" y="442912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0656C"/>
                </a:solidFill>
                <a:latin typeface="Arial"/>
                <a:ea typeface="Arial"/>
                <a:cs typeface="Arial"/>
              </a:defRPr>
            </a:pPr>
            <a:r>
              <a:t>KS test: subgroup residuals vs global residuals.</a:t>
            </a:r>
          </a:p>
        </p:txBody>
      </p:sp>
      <p:cxnSp>
        <p:nvCxnSpPr>
          <p:cNvPr id="58" name=""/>
          <p:cNvCxnSpPr/>
          <p:nvPr/>
        </p:nvCxnSpPr>
        <p:spPr>
          <a:xfrm xmlns:a="http://schemas.openxmlformats.org/drawingml/2006/main">
            <a:off x="838200" y="4781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714375" y="514350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563A6"/>
                </a:solidFill>
                <a:latin typeface="Arial"/>
                <a:ea typeface="Arial"/>
                <a:cs typeface="Arial"/>
              </a:defRPr>
            </a:pPr>
            <a:r>
              <a:t>4</a:t>
            </a:r>
          </a:p>
        </p:txBody>
      </p:sp>
      <p:sp>
        <p:nvSpPr>
          <p:cNvPr id="21" name="">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066800" y="514350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51515"/>
                </a:solidFill>
                <a:latin typeface="Arial"/>
                <a:ea typeface="Arial"/>
                <a:cs typeface="Arial"/>
              </a:defRPr>
            </a:pPr>
            <a:r>
              <a:t>Retain</a:t>
            </a:r>
          </a:p>
        </p:txBody>
      </p:sp>
      <p:sp>
        <p:nvSpPr>
          <p:cNvPr id="22" name="">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2381250" y="514350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0656C"/>
                </a:solidFill>
                <a:latin typeface="Arial"/>
                <a:ea typeface="Arial"/>
                <a:cs typeface="Arial"/>
              </a:defRPr>
            </a:pPr>
            <a:r>
              <a:t>Keep significant rules with sufficient support.</a:t>
            </a:r>
          </a:p>
        </p:txBody>
      </p:sp>
      <p:sp>
        <p:nvSpPr>
          <p:cNvPr id="23" name="">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685800" y="5572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838200" y="5629275"/>
            <a:ext cx="571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OUTPUT  ·  IF climate conditions  →  shifted production-residual distribution</a:t>
            </a:r>
          </a:p>
        </p:txBody>
      </p:sp>
      <p:sp>
        <p:nvSpPr>
          <p:cNvPr id="25" name="">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7810500" y="1571625"/>
            <a:ext cx="1714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7B1E3A"/>
                </a:solidFill>
                <a:latin typeface="Arial"/>
                <a:ea typeface="Arial"/>
                <a:cs typeface="Arial"/>
              </a:defRPr>
            </a:pPr>
            <a:r>
              <a:t>COMPARATORS</a:t>
            </a:r>
          </a:p>
        </p:txBody>
      </p:sp>
      <p:sp>
        <p:nvSpPr>
          <p:cNvPr id="26" name="">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7715250" y="1952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7953375" y="2124075"/>
            <a:ext cx="1095375"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51515"/>
                </a:solidFill>
                <a:latin typeface="Arial"/>
                <a:ea typeface="Arial"/>
                <a:cs typeface="Arial"/>
              </a:defRPr>
            </a:pPr>
            <a:r>
              <a:t>RIPPER</a:t>
            </a:r>
          </a:p>
        </p:txBody>
      </p:sp>
      <p:sp>
        <p:nvSpPr>
          <p:cNvPr id="28" name="">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9239250" y="2066925"/>
            <a:ext cx="22669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0656C"/>
                </a:solidFill>
                <a:latin typeface="Arial"/>
                <a:ea typeface="Arial"/>
                <a:cs typeface="Arial"/>
              </a:defRPr>
            </a:pPr>
            <a:r>
              <a:t>Classification rules for below / on / above trend</a:t>
            </a:r>
          </a:p>
        </p:txBody>
      </p:sp>
      <p:sp>
        <p:nvSpPr>
          <p:cNvPr id="29" name="">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7715250" y="2876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7953375" y="3048000"/>
            <a:ext cx="1143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51515"/>
                </a:solidFill>
                <a:latin typeface="Arial"/>
                <a:ea typeface="Arial"/>
                <a:cs typeface="Arial"/>
              </a:defRPr>
            </a:pPr>
            <a:r>
              <a:t>M5Rules</a:t>
            </a:r>
          </a:p>
        </p:txBody>
      </p:sp>
      <p:sp>
        <p:nvSpPr>
          <p:cNvPr id="31" name="">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9239250" y="3048000"/>
            <a:ext cx="22669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0656C"/>
                </a:solidFill>
                <a:latin typeface="Arial"/>
                <a:ea typeface="Arial"/>
                <a:cs typeface="Arial"/>
              </a:defRPr>
            </a:pPr>
            <a:r>
              <a:t>Piecewise linear regression rules</a:t>
            </a:r>
          </a:p>
        </p:txBody>
      </p:sp>
      <p:sp>
        <p:nvSpPr>
          <p:cNvPr id="32" name="">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7715250" y="380047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7953375" y="3971925"/>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defRPr sz="1575" b="1">
                <a:solidFill>
                  <a:srgbClr val="151515"/>
                </a:solidFill>
                <a:latin typeface="Arial"/>
                <a:ea typeface="Arial"/>
                <a:cs typeface="Arial"/>
              </a:defRPr>
            </a:pPr>
            <a:r>
              <a:t>Decision Tree</a:t>
            </a:r>
          </a:p>
        </p:txBody>
      </p:sp>
      <p:sp>
        <p:nvSpPr>
          <p:cNvPr id="34" name="">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9429750" y="3914775"/>
            <a:ext cx="20764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0656C"/>
                </a:solidFill>
                <a:latin typeface="Arial"/>
                <a:ea typeface="Arial"/>
                <a:cs typeface="Arial"/>
              </a:defRPr>
            </a:pPr>
            <a:r>
              <a:t>Non-rule ML comparator using all features</a:t>
            </a:r>
          </a:p>
        </p:txBody>
      </p:sp>
      <p:sp>
        <p:nvSpPr>
          <p:cNvPr id="35" name="">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7715250" y="4724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7953375" y="4895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defRPr sz="1575" b="1">
                <a:solidFill>
                  <a:srgbClr val="7B1E3A"/>
                </a:solidFill>
                <a:latin typeface="Arial"/>
                <a:ea typeface="Arial"/>
                <a:cs typeface="Arial"/>
              </a:defRPr>
            </a:pPr>
            <a:r>
              <a:t>Naive baselines</a:t>
            </a:r>
          </a:p>
        </p:txBody>
      </p:sp>
      <p:sp>
        <p:nvSpPr>
          <p:cNvPr id="37" name="">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9477375" y="4838700"/>
            <a:ext cx="202882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0656C"/>
                </a:solidFill>
                <a:latin typeface="Arial"/>
                <a:ea typeface="Arial"/>
                <a:cs typeface="Arial"/>
              </a:defRPr>
            </a:pPr>
            <a:r>
              <a:t>Median · last value · 3-year moving average</a:t>
            </a:r>
          </a:p>
        </p:txBody>
      </p:sp>
      <p:sp>
        <p:nvSpPr>
          <p:cNvPr id="38" name="">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7715250" y="5667375"/>
            <a:ext cx="4048125" cy="419100"/>
          </a:xfrm>
          <a:prstGeom xmlns:a="http://schemas.openxmlformats.org/drawingml/2006/main" prst="rect">
            <a:avLst/>
          </a:prstGeom>
        </p:spPr>
        <p:txBody>
          <a:bodyPr xmlns:a="http://schemas.openxmlformats.org/drawingml/2006/main" lIns="0" tIns="0" rIns="0" bIns="0" anchor="t">
            <a:normAutofit fontScale="93403"/>
          </a:bodyPr>
          <a:lstStyle xmlns:a="http://schemas.openxmlformats.org/drawingml/2006/main"/>
          <a:p xmlns:a="http://schemas.openxmlformats.org/drawingml/2006/main">
            <a:pPr algn="l">
              <a:defRPr sz="1350" b="1">
                <a:solidFill>
                  <a:srgbClr val="7B1E3A"/>
                </a:solidFill>
                <a:latin typeface="Arial"/>
                <a:ea typeface="Arial"/>
                <a:cs typeface="Arial"/>
              </a:defRPr>
            </a:pPr>
            <a:r>
              <a:t>11 CarenR variants test feature selection and prediction aggregation — not 11 different algorithms.</a:t>
            </a:r>
          </a:p>
        </p:txBody>
      </p:sp>
      <p:sp>
        <p:nvSpPr>
          <p:cNvPr id="39" name="">
            <a:extLst xmlns:a="http://schemas.openxmlformats.org/drawingml/2006/main">
              <a:ext uri="{FF2B5EF4-FFF2-40B4-BE49-F238E27FC236}">
                <a16:creationId xmlns:a16="http://schemas.microsoft.com/office/drawing/2014/main" id="{ED359A2C-2152-4554-B471-89507B6D8B8A}"/>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3.4 and Tables 3.2–3.4</a:t>
            </a:r>
          </a:p>
        </p:txBody>
      </p:sp>
    </p:spTree>
    <p:extLst>
      <p:ext uri="{BB962C8B-B14F-4D97-AF65-F5344CB8AC3E}">
        <p14:creationId xmlns:p14="http://schemas.microsoft.com/office/powerpoint/2010/main" val="3074207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METHOD · DISCOVERY</a:t>
            </a:r>
          </a:p>
        </p:txBody>
      </p:sp>
      <p:sp>
        <p:nvSpPr>
          <p:cNvPr id="2" name="">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Goal 1 finds statistically exceptional subgroups</a:t>
            </a:r>
          </a:p>
        </p:txBody>
      </p:sp>
      <p:sp>
        <p:nvSpPr>
          <p:cNvPr id="3" name="">
            <a:extLst xmlns:a="http://schemas.openxmlformats.org/drawingml/2006/main">
              <a:ext uri="{FF2B5EF4-FFF2-40B4-BE49-F238E27FC236}">
                <a16:creationId xmlns:a16="http://schemas.microsoft.com/office/drawing/2014/main" id="{97D3A28F-CA1D-4B30-89BE-286928C810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442da4cf6484db0"/>
          <a:stretch xmlns:a="http://schemas.openxmlformats.org/drawingml/2006/main"/>
        </p:blipFill>
        <p:spPr>
          <a:xfrm xmlns:a="http://schemas.openxmlformats.org/drawingml/2006/main">
            <a:off x="941554" y="1352550"/>
            <a:ext cx="463199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0A96E6-596D-4FBA-97F4-46108B78DD6F}"/>
              </a:ext>
            </a:extLst>
          </p:cNvPr>
          <p:cNvSpPr>
            <a:spLocks xmlns:a="http://schemas.openxmlformats.org/drawingml/2006/main" noGrp="1"/>
          </p:cNvSpPr>
          <p:nvPr/>
        </p:nvSpPr>
        <p:spPr>
          <a:xfrm xmlns:a="http://schemas.openxmlformats.org/drawingml/2006/main">
            <a:off x="6667500" y="1619250"/>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defRPr sz="2250" b="1">
                <a:solidFill>
                  <a:srgbClr val="151515"/>
                </a:solidFill>
                <a:latin typeface="Arial"/>
                <a:ea typeface="Arial"/>
                <a:cs typeface="Arial"/>
              </a:defRPr>
            </a:pPr>
            <a:r>
              <a:t>CarenR asks a distributional question</a:t>
            </a:r>
          </a:p>
        </p:txBody>
      </p:sp>
      <p:sp>
        <p:nvSpPr>
          <p:cNvPr id="6" name="">
            <a:extLst xmlns:a="http://schemas.openxmlformats.org/drawingml/2006/main">
              <a:ext uri="{FF2B5EF4-FFF2-40B4-BE49-F238E27FC236}">
                <a16:creationId xmlns:a16="http://schemas.microsoft.com/office/drawing/2014/main" id="{05D05423-D809-460A-B658-536CBBE7D26A}"/>
              </a:ext>
            </a:extLst>
          </p:cNvPr>
          <p:cNvSpPr>
            <a:spLocks xmlns:a="http://schemas.openxmlformats.org/drawingml/2006/main" noGrp="1"/>
          </p:cNvSpPr>
          <p:nvPr/>
        </p:nvSpPr>
        <p:spPr>
          <a:xfrm xmlns:a="http://schemas.openxmlformats.org/drawingml/2006/main">
            <a:off x="6667500" y="2333625"/>
            <a:ext cx="447675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7" name="">
            <a:extLst xmlns:a="http://schemas.openxmlformats.org/drawingml/2006/main">
              <a:ext uri="{FF2B5EF4-FFF2-40B4-BE49-F238E27FC236}">
                <a16:creationId xmlns:a16="http://schemas.microsoft.com/office/drawing/2014/main" id="{69F2A449-111C-4A89-B6F5-61602A5D074F}"/>
              </a:ext>
            </a:extLst>
          </p:cNvPr>
          <p:cNvSpPr>
            <a:spLocks xmlns:a="http://schemas.openxmlformats.org/drawingml/2006/main" noGrp="1"/>
          </p:cNvSpPr>
          <p:nvPr/>
        </p:nvSpPr>
        <p:spPr>
          <a:xfrm xmlns:a="http://schemas.openxmlformats.org/drawingml/2006/main">
            <a:off x="6667500" y="3619500"/>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022787-5929-4BE4-B632-A8DC1AA03EC5}"/>
              </a:ext>
            </a:extLst>
          </p:cNvPr>
          <p:cNvSpPr>
            <a:spLocks xmlns:a="http://schemas.openxmlformats.org/drawingml/2006/main" noGrp="1"/>
          </p:cNvSpPr>
          <p:nvPr/>
        </p:nvSpPr>
        <p:spPr>
          <a:xfrm xmlns:a="http://schemas.openxmlformats.org/drawingml/2006/main">
            <a:off x="6905625" y="3867150"/>
            <a:ext cx="428625"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563A6"/>
                </a:solidFill>
                <a:latin typeface="Arial"/>
                <a:ea typeface="Arial"/>
                <a:cs typeface="Arial"/>
              </a:defRPr>
            </a:pPr>
            <a:r>
              <a:t>IF</a:t>
            </a:r>
          </a:p>
        </p:txBody>
      </p:sp>
      <p:sp>
        <p:nvSpPr>
          <p:cNvPr id="9" name="">
            <a:extLst xmlns:a="http://schemas.openxmlformats.org/drawingml/2006/main">
              <a:ext uri="{FF2B5EF4-FFF2-40B4-BE49-F238E27FC236}">
                <a16:creationId xmlns:a16="http://schemas.microsoft.com/office/drawing/2014/main" id="{6499BD19-2301-49E7-B065-A081723FFF07}"/>
              </a:ext>
            </a:extLst>
          </p:cNvPr>
          <p:cNvSpPr>
            <a:spLocks xmlns:a="http://schemas.openxmlformats.org/drawingml/2006/main" noGrp="1"/>
          </p:cNvSpPr>
          <p:nvPr/>
        </p:nvSpPr>
        <p:spPr>
          <a:xfrm xmlns:a="http://schemas.openxmlformats.org/drawingml/2006/main">
            <a:off x="7429500" y="3810000"/>
            <a:ext cx="3429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51515"/>
                </a:solidFill>
                <a:latin typeface="Arial"/>
                <a:ea typeface="Arial"/>
                <a:cs typeface="Arial"/>
              </a:defRPr>
            </a:pPr>
            <a:r>
              <a:t>wet days after flowering are low
AND post-maturity wet days are low</a:t>
            </a:r>
          </a:p>
        </p:txBody>
      </p:sp>
      <p:sp>
        <p:nvSpPr>
          <p:cNvPr id="10" name="">
            <a:extLst xmlns:a="http://schemas.openxmlformats.org/drawingml/2006/main">
              <a:ext uri="{FF2B5EF4-FFF2-40B4-BE49-F238E27FC236}">
                <a16:creationId xmlns:a16="http://schemas.microsoft.com/office/drawing/2014/main" id="{7BF8C099-2D8F-49A2-886D-B71AFF0EB906}"/>
              </a:ext>
            </a:extLst>
          </p:cNvPr>
          <p:cNvSpPr>
            <a:spLocks xmlns:a="http://schemas.openxmlformats.org/drawingml/2006/main" noGrp="1"/>
          </p:cNvSpPr>
          <p:nvPr/>
        </p:nvSpPr>
        <p:spPr>
          <a:xfrm xmlns:a="http://schemas.openxmlformats.org/drawingml/2006/main">
            <a:off x="6667500" y="4810125"/>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D91F51-0459-4F5A-BE67-45A789400939}"/>
              </a:ext>
            </a:extLst>
          </p:cNvPr>
          <p:cNvSpPr>
            <a:spLocks xmlns:a="http://schemas.openxmlformats.org/drawingml/2006/main" noGrp="1"/>
          </p:cNvSpPr>
          <p:nvPr/>
        </p:nvSpPr>
        <p:spPr>
          <a:xfrm xmlns:a="http://schemas.openxmlformats.org/drawingml/2006/main">
            <a:off x="6905625" y="5048250"/>
            <a:ext cx="66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66534"/>
                </a:solidFill>
                <a:latin typeface="Arial"/>
                <a:ea typeface="Arial"/>
                <a:cs typeface="Arial"/>
              </a:defRPr>
            </a:pPr>
            <a:r>
              <a:t>THEN</a:t>
            </a:r>
          </a:p>
        </p:txBody>
      </p:sp>
      <p:sp>
        <p:nvSpPr>
          <p:cNvPr id="12" name="">
            <a:extLst xmlns:a="http://schemas.openxmlformats.org/drawingml/2006/main">
              <a:ext uri="{FF2B5EF4-FFF2-40B4-BE49-F238E27FC236}">
                <a16:creationId xmlns:a16="http://schemas.microsoft.com/office/drawing/2014/main" id="{491D58F9-6A14-4B2C-B673-3A96BFF1B76F}"/>
              </a:ext>
            </a:extLst>
          </p:cNvPr>
          <p:cNvSpPr>
            <a:spLocks xmlns:a="http://schemas.openxmlformats.org/drawingml/2006/main" noGrp="1"/>
          </p:cNvSpPr>
          <p:nvPr/>
        </p:nvSpPr>
        <p:spPr>
          <a:xfrm xmlns:a="http://schemas.openxmlformats.org/drawingml/2006/main">
            <a:off x="7762875" y="5000625"/>
            <a:ext cx="30480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51515"/>
                </a:solidFill>
                <a:latin typeface="Arial"/>
                <a:ea typeface="Arial"/>
                <a:cs typeface="Arial"/>
              </a:defRPr>
            </a:pPr>
            <a:r>
              <a:t>the residual distribution shifts</a:t>
            </a:r>
          </a:p>
        </p:txBody>
      </p:sp>
      <p:sp>
        <p:nvSpPr>
          <p:cNvPr id="13" name="">
            <a:extLst xmlns:a="http://schemas.openxmlformats.org/drawingml/2006/main">
              <a:ext uri="{FF2B5EF4-FFF2-40B4-BE49-F238E27FC236}">
                <a16:creationId xmlns:a16="http://schemas.microsoft.com/office/drawing/2014/main" id="{C13BE5C3-8CD8-40E8-81C6-290BE282B568}"/>
              </a:ext>
            </a:extLst>
          </p:cNvPr>
          <p:cNvSpPr>
            <a:spLocks xmlns:a="http://schemas.openxmlformats.org/drawingml/2006/main" noGrp="1"/>
          </p:cNvSpPr>
          <p:nvPr/>
        </p:nvSpPr>
        <p:spPr>
          <a:xfrm xmlns:a="http://schemas.openxmlformats.org/drawingml/2006/main">
            <a:off x="6667500" y="5810250"/>
            <a:ext cx="4476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60656C"/>
                </a:solidFill>
                <a:latin typeface="Arial"/>
                <a:ea typeface="Arial"/>
                <a:cs typeface="Arial"/>
              </a:defRPr>
            </a:pPr>
            <a:r>
              <a:t>KS p ≤ 0.10 · support ≥ 20% for discovery</a:t>
            </a:r>
          </a:p>
        </p:txBody>
      </p:sp>
      <p:sp>
        <p:nvSpPr>
          <p:cNvPr id="14" name="">
            <a:extLst xmlns:a="http://schemas.openxmlformats.org/drawingml/2006/main">
              <a:ext uri="{FF2B5EF4-FFF2-40B4-BE49-F238E27FC236}">
                <a16:creationId xmlns:a16="http://schemas.microsoft.com/office/drawing/2014/main" id="{9BA0A743-2D19-4AEA-8B82-EF48B9BFC0F3}"/>
              </a:ext>
            </a:extLst>
          </p:cNvPr>
          <p:cNvSpPr>
            <a:spLocks xmlns:a="http://schemas.openxmlformats.org/drawingml/2006/main" noGrp="1"/>
          </p:cNvSpPr>
          <p:nvPr/>
        </p:nvSpPr>
        <p:spPr>
          <a:xfrm xmlns:a="http://schemas.openxmlformats.org/drawingml/2006/main">
            <a:off x="6667500" y="6438900"/>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Figure 3.3 and Section 3.4.1</a:t>
            </a:r>
          </a:p>
        </p:txBody>
      </p:sp>
    </p:spTree>
    <p:extLst>
      <p:ext uri="{BB962C8B-B14F-4D97-AF65-F5344CB8AC3E}">
        <p14:creationId xmlns:p14="http://schemas.microsoft.com/office/powerpoint/2010/main" val="195006293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RESULTS · DISCOVERY</a:t>
            </a:r>
          </a:p>
        </p:txBody>
      </p:sp>
      <p:sp>
        <p:nvSpPr>
          <p:cNvPr id="2" name="">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defRPr sz="3600" b="1">
                <a:solidFill>
                  <a:srgbClr val="151515"/>
                </a:solidFill>
                <a:latin typeface="Arial"/>
                <a:ea typeface="Arial"/>
                <a:cs typeface="Arial"/>
              </a:defRPr>
            </a:pPr>
            <a:r>
              <a:t>Goal 1 succeeded: compact rules reveal regional drivers</a:t>
            </a:r>
          </a:p>
        </p:txBody>
      </p:sp>
      <p:sp>
        <p:nvSpPr>
          <p:cNvPr id="3" name="">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12</a:t>
            </a:r>
          </a:p>
        </p:txBody>
      </p:sp>
      <p:sp>
        <p:nvSpPr>
          <p:cNvPr id="4" name="">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400050" y="1571625"/>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6353175" y="1571625"/>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714375" y="1857375"/>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563A6"/>
                </a:solidFill>
                <a:latin typeface="Arial"/>
                <a:ea typeface="Arial"/>
                <a:cs typeface="Arial"/>
              </a:defRPr>
            </a:pPr>
            <a:r>
              <a:t>DOURO</a:t>
            </a:r>
          </a:p>
        </p:txBody>
      </p:sp>
      <p:sp>
        <p:nvSpPr>
          <p:cNvPr id="7" name="">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714375"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defRPr sz="5100" b="1">
                <a:solidFill>
                  <a:srgbClr val="151515"/>
                </a:solidFill>
                <a:latin typeface="Arial"/>
                <a:ea typeface="Arial"/>
                <a:cs typeface="Arial"/>
              </a:defRPr>
            </a:pPr>
            <a:r>
              <a:t>48</a:t>
            </a:r>
          </a:p>
        </p:txBody>
      </p:sp>
      <p:sp>
        <p:nvSpPr>
          <p:cNvPr id="8" name="">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2381250"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51515"/>
                </a:solidFill>
                <a:latin typeface="Arial"/>
                <a:ea typeface="Arial"/>
                <a:cs typeface="Arial"/>
              </a:defRPr>
            </a:pPr>
            <a:r>
              <a:t>rules</a:t>
            </a:r>
          </a:p>
        </p:txBody>
      </p:sp>
      <p:sp>
        <p:nvSpPr>
          <p:cNvPr id="9" name="">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714375"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51515"/>
                </a:solidFill>
                <a:latin typeface="Arial"/>
                <a:ea typeface="Arial"/>
                <a:cs typeface="Arial"/>
              </a:defRPr>
            </a:pPr>
            <a:r>
              <a:t>Harvest soil water appears in 54% of rules.</a:t>
            </a:r>
          </a:p>
        </p:txBody>
      </p:sp>
      <p:sp>
        <p:nvSpPr>
          <p:cNvPr id="10" name="">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714375"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0656C"/>
                </a:solidFill>
                <a:latin typeface="Arial"/>
                <a:ea typeface="Arial"/>
                <a:cs typeface="Arial"/>
              </a:defRPr>
            </a:pPr>
            <a:r>
              <a:t>Dry post-flowering conditions and bounded heat repeatedly associate with above-trend production.</a:t>
            </a:r>
          </a:p>
        </p:txBody>
      </p:sp>
      <p:sp>
        <p:nvSpPr>
          <p:cNvPr id="11" name="">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6667500" y="1857375"/>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VINHO VERDE</a:t>
            </a:r>
          </a:p>
        </p:txBody>
      </p:sp>
      <p:sp>
        <p:nvSpPr>
          <p:cNvPr id="12" name="">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6667500"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defRPr sz="5100" b="1">
                <a:solidFill>
                  <a:srgbClr val="151515"/>
                </a:solidFill>
                <a:latin typeface="Arial"/>
                <a:ea typeface="Arial"/>
                <a:cs typeface="Arial"/>
              </a:defRPr>
            </a:pPr>
            <a:r>
              <a:t>20</a:t>
            </a:r>
          </a:p>
        </p:txBody>
      </p:sp>
      <p:sp>
        <p:nvSpPr>
          <p:cNvPr id="13" name="">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8334375"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51515"/>
                </a:solidFill>
                <a:latin typeface="Arial"/>
                <a:ea typeface="Arial"/>
                <a:cs typeface="Arial"/>
              </a:defRPr>
            </a:pPr>
            <a:r>
              <a:t>rules</a:t>
            </a:r>
          </a:p>
        </p:txBody>
      </p:sp>
      <p:sp>
        <p:nvSpPr>
          <p:cNvPr id="14" name="">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6667500"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defRPr sz="2100" b="1">
                <a:solidFill>
                  <a:srgbClr val="151515"/>
                </a:solidFill>
                <a:latin typeface="Arial"/>
                <a:ea typeface="Arial"/>
                <a:cs typeface="Arial"/>
              </a:defRPr>
            </a:pPr>
            <a:r>
              <a:t>LAI at harvest appears in all 20 rules.</a:t>
            </a:r>
          </a:p>
        </p:txBody>
      </p:sp>
      <p:sp>
        <p:nvSpPr>
          <p:cNvPr id="15" name="">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6667500"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0656C"/>
                </a:solidFill>
                <a:latin typeface="Arial"/>
                <a:ea typeface="Arial"/>
                <a:cs typeface="Arial"/>
              </a:defRPr>
            </a:pPr>
            <a:r>
              <a:t>Canopy development, heat stress and harvest soil water dominate the regional rule set.</a:t>
            </a:r>
          </a:p>
        </p:txBody>
      </p:sp>
      <p:sp>
        <p:nvSpPr>
          <p:cNvPr id="16" name="">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000125" y="5953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RESULTS · VALIDATION</a:t>
            </a:r>
          </a:p>
        </p:txBody>
      </p:sp>
      <p:sp>
        <p:nvSpPr>
          <p:cNvPr id="2" name="">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Two checks confirm the discovered signal</a:t>
            </a:r>
          </a:p>
        </p:txBody>
      </p:sp>
      <p:sp>
        <p:nvSpPr>
          <p:cNvPr id="3" name="">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13</a:t>
            </a:r>
          </a:p>
        </p:txBody>
      </p:sp>
      <p:sp>
        <p:nvSpPr>
          <p:cNvPr id="4" name="">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4000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64579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714375"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714375"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51515"/>
                </a:solidFill>
                <a:latin typeface="Arial"/>
                <a:ea typeface="Arial"/>
                <a:cs typeface="Arial"/>
              </a:defRPr>
            </a:pPr>
            <a:r>
              <a:t>Aggressive detrending</a:t>
            </a:r>
          </a:p>
        </p:txBody>
      </p:sp>
      <p:sp>
        <p:nvSpPr>
          <p:cNvPr id="8" name="">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714375"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51515"/>
                </a:solidFill>
                <a:latin typeface="Arial"/>
                <a:ea typeface="Arial"/>
                <a:cs typeface="Arial"/>
              </a:defRPr>
            </a:pPr>
            <a:r>
              <a:t>Top features retain 90–92% of their correlation after LOESS era-trend removal.</a:t>
            </a:r>
          </a:p>
        </p:txBody>
      </p:sp>
      <p:sp>
        <p:nvSpPr>
          <p:cNvPr id="9" name="">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714375" y="4524375"/>
            <a:ext cx="428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66534"/>
                </a:solidFill>
                <a:latin typeface="Arial"/>
                <a:ea typeface="Arial"/>
                <a:cs typeface="Arial"/>
              </a:defRPr>
            </a:pPr>
            <a:r>
              <a:t>→ The rules are not merely era labels.</a:t>
            </a:r>
          </a:p>
        </p:txBody>
      </p:sp>
      <p:sp>
        <p:nvSpPr>
          <p:cNvPr id="10" name="">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6762750"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6762750"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51515"/>
                </a:solidFill>
                <a:latin typeface="Arial"/>
                <a:ea typeface="Arial"/>
                <a:cs typeface="Arial"/>
              </a:defRPr>
            </a:pPr>
            <a:r>
              <a:t>Independent algorithms</a:t>
            </a:r>
          </a:p>
        </p:txBody>
      </p:sp>
      <p:sp>
        <p:nvSpPr>
          <p:cNvPr id="12" name="">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6762750"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51515"/>
                </a:solidFill>
                <a:latin typeface="Arial"/>
                <a:ea typeface="Arial"/>
                <a:cs typeface="Arial"/>
              </a:defRPr>
            </a:pPr>
            <a:r>
              <a:t>RIPPER and M5Rules converge on harvest soil water, LAI and previous-year temperature.</a:t>
            </a:r>
          </a:p>
        </p:txBody>
      </p:sp>
      <p:sp>
        <p:nvSpPr>
          <p:cNvPr id="13" name="">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6762750" y="4524375"/>
            <a:ext cx="428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66534"/>
                </a:solidFill>
                <a:latin typeface="Arial"/>
                <a:ea typeface="Arial"/>
                <a:cs typeface="Arial"/>
              </a:defRPr>
            </a:pPr>
            <a:r>
              <a:t>→ The signal is not CarenR-specific.</a:t>
            </a:r>
          </a:p>
        </p:txBody>
      </p:sp>
      <p:sp>
        <p:nvSpPr>
          <p:cNvPr id="14" name="">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400050" y="5619750"/>
            <a:ext cx="11382375"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7B1E3A"/>
                </a:solidFill>
                <a:latin typeface="Arial"/>
                <a:ea typeface="Arial"/>
                <a:cs typeface="Arial"/>
              </a:defRPr>
            </a:pPr>
            <a:r>
              <a:t>Discovery is credible — but credibility is not yet predictive utility.</a:t>
            </a:r>
          </a:p>
        </p:txBody>
      </p:sp>
      <p:sp>
        <p:nvSpPr>
          <p:cNvPr id="15" name="">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209550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METHOD · PREDICTION</a:t>
            </a:r>
          </a:p>
        </p:txBody>
      </p:sp>
      <p:sp>
        <p:nvSpPr>
          <p:cNvPr id="2" name="">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2095500" y="552450"/>
            <a:ext cx="969645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a:solidFill>
                  <a:srgbClr val="151515"/>
                </a:solidFill>
                <a:latin typeface="Arial"/>
                <a:ea typeface="Arial"/>
                <a:cs typeface="Arial"/>
              </a:defRPr>
            </a:pPr>
            <a:r>
              <a:t>Goal 2 recreates prediction-time information</a:t>
            </a:r>
          </a:p>
        </p:txBody>
      </p:sp>
      <p:sp>
        <p:nvSpPr>
          <p:cNvPr id="3" name="">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f041d6495cf401b"/>
          <a:stretch xmlns:a="http://schemas.openxmlformats.org/drawingml/2006/main"/>
        </p:blipFill>
        <p:spPr>
          <a:xfrm xmlns:a="http://schemas.openxmlformats.org/drawingml/2006/main">
            <a:off x="1693399" y="1381125"/>
            <a:ext cx="360455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7096125" y="1619250"/>
            <a:ext cx="4095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51515"/>
                </a:solidFill>
                <a:latin typeface="Arial"/>
                <a:ea typeface="Arial"/>
                <a:cs typeface="Arial"/>
              </a:defRPr>
            </a:pPr>
            <a:r>
              <a:t>Expanding-window validation</a:t>
            </a:r>
          </a:p>
        </p:txBody>
      </p:sp>
      <p:sp>
        <p:nvSpPr>
          <p:cNvPr id="6" name="">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7096125" y="2190750"/>
            <a:ext cx="409575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18 scenarios · Douro
16 scenarios · Vinho Verde</a:t>
            </a:r>
          </a:p>
        </p:txBody>
      </p:sp>
      <p:cxnSp>
        <p:nvCxnSpPr>
          <p:cNvPr id="19" name=""/>
          <p:cNvCxnSpPr/>
          <p:nvPr/>
        </p:nvCxnSpPr>
        <p:spPr>
          <a:xfrm xmlns:a="http://schemas.openxmlformats.org/drawingml/2006/main">
            <a:off x="7096125" y="3143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7096125" y="3429000"/>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defRPr sz="1725" b="1">
                <a:solidFill>
                  <a:srgbClr val="151515"/>
                </a:solidFill>
                <a:latin typeface="Arial"/>
                <a:ea typeface="Arial"/>
                <a:cs typeface="Arial"/>
              </a:defRPr>
            </a:pPr>
            <a:r>
              <a:t>All preprocessing stays inside each training fold:</a:t>
            </a:r>
          </a:p>
        </p:txBody>
      </p:sp>
      <p:sp>
        <p:nvSpPr>
          <p:cNvPr id="9" name="">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7286625" y="4095750"/>
            <a:ext cx="3619500"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151515"/>
                </a:solidFill>
                <a:latin typeface="Arial"/>
                <a:ea typeface="Arial"/>
                <a:cs typeface="Arial"/>
              </a:defRPr>
            </a:pPr>
            <a:r>
              <a:t>• detrending
• discretisation
• feature selection
• rule induction</a:t>
            </a:r>
          </a:p>
        </p:txBody>
      </p:sp>
      <p:sp>
        <p:nvSpPr>
          <p:cNvPr id="10" name="">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7096125" y="5619750"/>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7286625" y="5743575"/>
            <a:ext cx="376237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7B1E3A"/>
                </a:solidFill>
                <a:latin typeface="Arial"/>
                <a:ea typeface="Arial"/>
                <a:cs typeface="Arial"/>
              </a:defRPr>
            </a:pPr>
            <a:r>
              <a:t>17 models · weighted MAE · lower is better</a:t>
            </a:r>
          </a:p>
        </p:txBody>
      </p:sp>
      <p:sp>
        <p:nvSpPr>
          <p:cNvPr id="12" name="">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7096125" y="6438900"/>
            <a:ext cx="4095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RESULTS · PREDICTION</a:t>
            </a:r>
          </a:p>
        </p:txBody>
      </p:sp>
      <p:sp>
        <p:nvSpPr>
          <p:cNvPr id="2" name="">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No rule-based model beats the median overall</a:t>
            </a:r>
          </a:p>
        </p:txBody>
      </p:sp>
      <p:sp>
        <p:nvSpPr>
          <p:cNvPr id="3" name="">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fd906ac25614acc"/>
          <a:stretch xmlns:a="http://schemas.openxmlformats.org/drawingml/2006/main"/>
        </p:blipFill>
        <p:spPr>
          <a:xfrm xmlns:a="http://schemas.openxmlformats.org/drawingml/2006/main">
            <a:off x="400050" y="1666875"/>
            <a:ext cx="5476875" cy="32861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f6b18f6db8845e4"/>
          <a:stretch xmlns:a="http://schemas.openxmlformats.org/drawingml/2006/main"/>
        </p:blipFill>
        <p:spPr>
          <a:xfrm xmlns:a="http://schemas.openxmlformats.org/drawingml/2006/main">
            <a:off x="6305550" y="1666875"/>
            <a:ext cx="5476875" cy="3286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400050" y="5334000"/>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6305550" y="5334000"/>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5905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2563A6"/>
                </a:solidFill>
                <a:latin typeface="Arial"/>
                <a:ea typeface="Arial"/>
                <a:cs typeface="Arial"/>
              </a:defRPr>
            </a:pPr>
            <a:r>
              <a:t>RDD · 189 vs 184 mhl</a:t>
            </a:r>
          </a:p>
        </p:txBody>
      </p:sp>
      <p:sp>
        <p:nvSpPr>
          <p:cNvPr id="9" name="">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36385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0656C"/>
                </a:solidFill>
                <a:latin typeface="Arial"/>
                <a:ea typeface="Arial"/>
                <a:cs typeface="Arial"/>
              </a:defRPr>
            </a:pPr>
            <a:r>
              <a:t>3% worse · p = 0.468</a:t>
            </a:r>
          </a:p>
        </p:txBody>
      </p:sp>
      <p:sp>
        <p:nvSpPr>
          <p:cNvPr id="10" name="">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64960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7B1E3A"/>
                </a:solidFill>
                <a:latin typeface="Arial"/>
                <a:ea typeface="Arial"/>
                <a:cs typeface="Arial"/>
              </a:defRPr>
            </a:pPr>
            <a:r>
              <a:t>RVV · 172 vs 140 mhl</a:t>
            </a:r>
          </a:p>
        </p:txBody>
      </p:sp>
      <p:sp>
        <p:nvSpPr>
          <p:cNvPr id="11" name="">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95440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0656C"/>
                </a:solidFill>
                <a:latin typeface="Arial"/>
                <a:ea typeface="Arial"/>
                <a:cs typeface="Arial"/>
              </a:defRPr>
            </a:pPr>
            <a:r>
              <a:t>22% worse · p = 0.004*</a:t>
            </a:r>
          </a:p>
        </p:txBody>
      </p:sp>
      <p:sp>
        <p:nvSpPr>
          <p:cNvPr id="12" name="">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6572250" y="6115050"/>
            <a:ext cx="4953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60656C"/>
                </a:solidFill>
                <a:latin typeface="Arial"/>
                <a:ea typeface="Arial"/>
                <a:cs typeface="Arial"/>
              </a:defRPr>
            </a:pPr>
            <a:r>
              <a:t>*Among the 9 scenarios where RVV rules fired, they significantly harmed prediction.</a:t>
            </a:r>
          </a:p>
        </p:txBody>
      </p:sp>
      <p:sp>
        <p:nvSpPr>
          <p:cNvPr id="13" name="">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Figures 5.1–5.2 and Table 5.6</a:t>
            </a:r>
          </a:p>
        </p:txBody>
      </p:sp>
    </p:spTree>
    <p:extLst>
      <p:ext uri="{BB962C8B-B14F-4D97-AF65-F5344CB8AC3E}">
        <p14:creationId xmlns:p14="http://schemas.microsoft.com/office/powerpoint/2010/main" val="146628996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INTERPRETATION</a:t>
            </a:r>
          </a:p>
        </p:txBody>
      </p:sp>
      <p:sp>
        <p:nvSpPr>
          <p:cNvPr id="2" name="">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A real association can still be too weak to forecast</a:t>
            </a:r>
          </a:p>
        </p:txBody>
      </p:sp>
      <p:sp>
        <p:nvSpPr>
          <p:cNvPr id="3" name="">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16</a:t>
            </a:r>
          </a:p>
        </p:txBody>
      </p:sp>
      <p:sp>
        <p:nvSpPr>
          <p:cNvPr id="4" name="">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400050" y="1666875"/>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6838950" y="1666875"/>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714375"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6534"/>
                </a:solidFill>
                <a:latin typeface="Arial"/>
                <a:ea typeface="Arial"/>
                <a:cs typeface="Arial"/>
              </a:defRPr>
            </a:pPr>
            <a:r>
              <a:t>DISCOVERY</a:t>
            </a:r>
          </a:p>
        </p:txBody>
      </p:sp>
      <p:sp>
        <p:nvSpPr>
          <p:cNvPr id="7" name="">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714375"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51515"/>
                </a:solidFill>
                <a:latin typeface="Arial"/>
                <a:ea typeface="Arial"/>
                <a:cs typeface="Arial"/>
              </a:defRPr>
            </a:pPr>
            <a:r>
              <a:t>Is the subgroup distribution different?</a:t>
            </a:r>
          </a:p>
        </p:txBody>
      </p:sp>
      <p:sp>
        <p:nvSpPr>
          <p:cNvPr id="8" name="">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714375"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With |r| ≈ 0.47, the association is detectable across 80–89 historical years.</a:t>
            </a:r>
          </a:p>
        </p:txBody>
      </p:sp>
      <p:sp>
        <p:nvSpPr>
          <p:cNvPr id="9" name="">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143750"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B1E3A"/>
                </a:solidFill>
                <a:latin typeface="Arial"/>
                <a:ea typeface="Arial"/>
                <a:cs typeface="Arial"/>
              </a:defRPr>
            </a:pPr>
            <a:r>
              <a:t>PREDICTION</a:t>
            </a:r>
          </a:p>
        </p:txBody>
      </p:sp>
      <p:sp>
        <p:nvSpPr>
          <p:cNvPr id="10" name="">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143750"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51515"/>
                </a:solidFill>
                <a:latin typeface="Arial"/>
                <a:ea typeface="Arial"/>
                <a:cs typeface="Arial"/>
              </a:defRPr>
            </a:pPr>
            <a:r>
              <a:t>Does the rule reduce future error?</a:t>
            </a:r>
          </a:p>
        </p:txBody>
      </p:sp>
      <p:sp>
        <p:nvSpPr>
          <p:cNvPr id="11" name="">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143750"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Climate explains ≈22% of residual variance; ≈78% remains unobserved or noisy.</a:t>
            </a:r>
          </a:p>
        </p:txBody>
      </p:sp>
      <p:sp>
        <p:nvSpPr>
          <p:cNvPr id="12" name="">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5667375" y="2952750"/>
            <a:ext cx="8572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4650" b="1">
                <a:solidFill>
                  <a:srgbClr val="7B1E3A"/>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400050" y="5667375"/>
            <a:ext cx="11382375"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151515"/>
                </a:solidFill>
                <a:latin typeface="Arial"/>
                <a:ea typeface="Arial"/>
                <a:cs typeface="Arial"/>
              </a:defRPr>
            </a:pPr>
            <a:r>
              <a:t>Pattern discovery and forecasting answer different questions.</a:t>
            </a:r>
          </a:p>
        </p:txBody>
      </p:sp>
      <p:sp>
        <p:nvSpPr>
          <p:cNvPr id="14" name="">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TWO-DECISION FRAMEWORK</a:t>
            </a:r>
          </a:p>
        </p:txBody>
      </p:sp>
      <p:sp>
        <p:nvSpPr>
          <p:cNvPr id="2" name="">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Better detrending can remove the signal rules need</a:t>
            </a:r>
          </a:p>
        </p:txBody>
      </p:sp>
      <p:sp>
        <p:nvSpPr>
          <p:cNvPr id="3" name="">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17</a:t>
            </a:r>
          </a:p>
        </p:txBody>
      </p:sp>
      <p:sp>
        <p:nvSpPr>
          <p:cNvPr id="4" name="">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400050" y="1666875"/>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029450" y="1666875"/>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714375"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563A6"/>
                </a:solidFill>
                <a:latin typeface="Arial"/>
                <a:ea typeface="Arial"/>
                <a:cs typeface="Arial"/>
              </a:defRPr>
            </a:pPr>
            <a:r>
              <a:t>DECISION 1</a:t>
            </a:r>
          </a:p>
        </p:txBody>
      </p:sp>
      <p:sp>
        <p:nvSpPr>
          <p:cNvPr id="7" name="">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714375" y="2476500"/>
            <a:ext cx="3714750" cy="685800"/>
          </a:xfrm>
          <a:prstGeom xmlns:a="http://schemas.openxmlformats.org/drawingml/2006/main" prst="rect">
            <a:avLst/>
          </a:prstGeom>
        </p:spPr>
        <p:txBody>
          <a:bodyPr xmlns:a="http://schemas.openxmlformats.org/drawingml/2006/main" lIns="0" tIns="0" rIns="0" bIns="0" anchor="t">
            <a:normAutofit fontScale="98830"/>
          </a:bodyPr>
          <a:lstStyle xmlns:a="http://schemas.openxmlformats.org/drawingml/2006/main"/>
          <a:p xmlns:a="http://schemas.openxmlformats.org/drawingml/2006/main">
            <a:pPr algn="l">
              <a:defRPr sz="2400" b="1">
                <a:solidFill>
                  <a:srgbClr val="151515"/>
                </a:solidFill>
                <a:latin typeface="Arial"/>
                <a:ea typeface="Arial"/>
                <a:cs typeface="Arial"/>
              </a:defRPr>
            </a:pPr>
            <a:r>
              <a:t>Model the structural trend</a:t>
            </a:r>
          </a:p>
        </p:txBody>
      </p:sp>
      <p:sp>
        <p:nvSpPr>
          <p:cNvPr id="8" name="">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714375"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A better trend leaves smaller test residuals and lowers the naive error floor.</a:t>
            </a:r>
          </a:p>
        </p:txBody>
      </p:sp>
      <p:sp>
        <p:nvSpPr>
          <p:cNvPr id="9" name="">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7334250"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66534"/>
                </a:solidFill>
                <a:latin typeface="Arial"/>
                <a:ea typeface="Arial"/>
                <a:cs typeface="Arial"/>
              </a:defRPr>
            </a:pPr>
            <a:r>
              <a:t>DECISION 2</a:t>
            </a:r>
          </a:p>
        </p:txBody>
      </p:sp>
      <p:sp>
        <p:nvSpPr>
          <p:cNvPr id="10" name="">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7334250" y="2476500"/>
            <a:ext cx="3714750" cy="685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a:solidFill>
                  <a:srgbClr val="151515"/>
                </a:solidFill>
                <a:latin typeface="Arial"/>
                <a:ea typeface="Arial"/>
                <a:cs typeface="Arial"/>
              </a:defRPr>
            </a:pPr>
            <a:r>
              <a:t>Extract climate signal</a:t>
            </a:r>
          </a:p>
        </p:txBody>
      </p:sp>
      <p:sp>
        <p:nvSpPr>
          <p:cNvPr id="11" name="">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7334250"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51515"/>
                </a:solidFill>
                <a:latin typeface="Arial"/>
                <a:ea typeface="Arial"/>
                <a:cs typeface="Arial"/>
              </a:defRPr>
            </a:pPr>
            <a:r>
              <a:t>Stable rules need residual structure that is large enough to detect and exploit.</a:t>
            </a:r>
          </a:p>
        </p:txBody>
      </p:sp>
      <p:cxnSp>
        <p:nvCxnSpPr>
          <p:cNvPr id="28" name=""/>
          <p:cNvCxnSpPr/>
          <p:nvPr/>
        </p:nvCxnSpPr>
        <p:spPr>
          <a:xfrm xmlns:a="http://schemas.openxmlformats.org/drawingml/2006/main">
            <a:off x="5162550" y="3381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5429250" y="2857500"/>
            <a:ext cx="1333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TENSION</a:t>
            </a:r>
          </a:p>
        </p:txBody>
      </p:sp>
      <p:sp>
        <p:nvSpPr>
          <p:cNvPr id="14" name="">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219200" y="5476875"/>
            <a:ext cx="97536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7B1E3A"/>
                </a:solidFill>
                <a:latin typeface="Arial"/>
                <a:ea typeface="Arial"/>
                <a:cs typeface="Arial"/>
              </a:defRPr>
            </a:pPr>
            <a:r>
              <a:t>RVV LOESS: baseline improves 140 → 90 mhl, but rule induction falls to zero.</a:t>
            </a:r>
          </a:p>
        </p:txBody>
      </p:sp>
      <p:sp>
        <p:nvSpPr>
          <p:cNvPr id="15" name="">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1619250" y="6000750"/>
            <a:ext cx="8953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60656C"/>
                </a:solidFill>
                <a:latin typeface="Arial"/>
                <a:ea typeface="Arial"/>
                <a:cs typeface="Arial"/>
              </a:defRPr>
            </a:pPr>
            <a:r>
              <a:t>Time alone cannot cleanly separate industry structure from climate.</a:t>
            </a:r>
          </a:p>
        </p:txBody>
      </p:sp>
      <p:sp>
        <p:nvSpPr>
          <p:cNvPr id="16" name="">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CONTRIBUTION</a:t>
            </a:r>
          </a:p>
        </p:txBody>
      </p:sp>
      <p:sp>
        <p:nvSpPr>
          <p:cNvPr id="2" name="">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78809"/>
          </a:bodyPr>
          <a:lstStyle xmlns:a="http://schemas.openxmlformats.org/drawingml/2006/main"/>
          <a:p xmlns:a="http://schemas.openxmlformats.org/drawingml/2006/main">
            <a:pPr algn="l">
              <a:defRPr sz="3600" b="1">
                <a:solidFill>
                  <a:srgbClr val="151515"/>
                </a:solidFill>
                <a:latin typeface="Arial"/>
                <a:ea typeface="Arial"/>
                <a:cs typeface="Arial"/>
              </a:defRPr>
            </a:pPr>
            <a:r>
              <a:t>The contribution is a diagnostic framework, not a winning forecast</a:t>
            </a:r>
          </a:p>
        </p:txBody>
      </p:sp>
      <p:sp>
        <p:nvSpPr>
          <p:cNvPr id="3" name="">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18</a:t>
            </a:r>
          </a:p>
        </p:txBody>
      </p:sp>
      <p:sp>
        <p:nvSpPr>
          <p:cNvPr id="4" name="">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400050" y="1476375"/>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666750" y="1733550"/>
            <a:ext cx="19050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7B1E3A"/>
                </a:solidFill>
                <a:latin typeface="Arial"/>
                <a:ea typeface="Arial"/>
                <a:cs typeface="Arial"/>
              </a:defRPr>
            </a:pPr>
            <a:r>
              <a:t>For the field</a:t>
            </a:r>
          </a:p>
        </p:txBody>
      </p:sp>
      <p:sp>
        <p:nvSpPr>
          <p:cNvPr id="6" name="">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2714625" y="1676400"/>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defRPr sz="2100" b="1">
                <a:solidFill>
                  <a:srgbClr val="151515"/>
                </a:solidFill>
                <a:latin typeface="Arial"/>
                <a:ea typeface="Arial"/>
                <a:cs typeface="Arial"/>
              </a:defRPr>
            </a:pPr>
            <a:r>
              <a:t>Separates discovery from prediction and decomposes failure into trend quality versus residual-signal extraction.</a:t>
            </a:r>
          </a:p>
        </p:txBody>
      </p:sp>
      <p:sp>
        <p:nvSpPr>
          <p:cNvPr id="7" name="">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40005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4314825"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22960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66675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Robust discovery</a:t>
            </a:r>
          </a:p>
        </p:txBody>
      </p:sp>
      <p:sp>
        <p:nvSpPr>
          <p:cNvPr id="11" name="">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666750" y="3762375"/>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51515"/>
                </a:solidFill>
                <a:latin typeface="Arial"/>
                <a:ea typeface="Arial"/>
                <a:cs typeface="Arial"/>
              </a:defRPr>
            </a:pPr>
            <a:r>
              <a:t>Cross-algorithm and LOESS validation show genuine, interpretable structure.</a:t>
            </a:r>
          </a:p>
        </p:txBody>
      </p:sp>
      <p:sp>
        <p:nvSpPr>
          <p:cNvPr id="12" name="">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4581525"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Honest evaluation</a:t>
            </a:r>
          </a:p>
        </p:txBody>
      </p:sp>
      <p:sp>
        <p:nvSpPr>
          <p:cNvPr id="13" name="">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4581525" y="3762375"/>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51515"/>
                </a:solidFill>
                <a:latin typeface="Arial"/>
                <a:ea typeface="Arial"/>
                <a:cs typeface="Arial"/>
              </a:defRPr>
            </a:pPr>
            <a:r>
              <a:t>Walk-forward testing shows when historically valid rules fail prospectively.</a:t>
            </a:r>
          </a:p>
        </p:txBody>
      </p:sp>
      <p:sp>
        <p:nvSpPr>
          <p:cNvPr id="14" name="">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849630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51515"/>
                </a:solidFill>
                <a:latin typeface="Arial"/>
                <a:ea typeface="Arial"/>
                <a:cs typeface="Arial"/>
              </a:defRPr>
            </a:pPr>
            <a:r>
              <a:t>Actionable conditions</a:t>
            </a:r>
          </a:p>
        </p:txBody>
      </p:sp>
      <p:sp>
        <p:nvSpPr>
          <p:cNvPr id="15" name="">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849630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defRPr sz="1725" b="0">
                <a:solidFill>
                  <a:srgbClr val="151515"/>
                </a:solidFill>
                <a:latin typeface="Arial"/>
                <a:ea typeface="Arial"/>
                <a:cs typeface="Arial"/>
              </a:defRPr>
            </a:pPr>
            <a:r>
              <a:t>Era composition and regional contrast identify when rule-based prediction may become viable.</a:t>
            </a:r>
          </a:p>
        </p:txBody>
      </p:sp>
      <p:sp>
        <p:nvSpPr>
          <p:cNvPr id="16" name="">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685800" y="5810250"/>
            <a:ext cx="10810875" cy="495300"/>
          </a:xfrm>
          <a:prstGeom xmlns:a="http://schemas.openxmlformats.org/drawingml/2006/main" prst="rect">
            <a:avLst/>
          </a:prstGeom>
        </p:spPr>
        <p:txBody>
          <a:bodyPr xmlns:a="http://schemas.openxmlformats.org/drawingml/2006/main" lIns="0" tIns="0" rIns="0" bIns="0" anchor="t">
            <a:normAutofit fontScale="86667"/>
          </a:bodyPr>
          <a:lstStyle xmlns:a="http://schemas.openxmlformats.org/drawingml/2006/main"/>
          <a:p xmlns:a="http://schemas.openxmlformats.org/drawingml/2006/main">
            <a:pPr algn="ctr">
              <a:defRPr sz="1875" b="1">
                <a:solidFill>
                  <a:srgbClr val="7B1E3A"/>
                </a:solidFill>
                <a:latin typeface="Arial"/>
                <a:ea typeface="Arial"/>
                <a:cs typeface="Arial"/>
              </a:defRPr>
            </a:pPr>
            <a:r>
              <a:t>For business: use the rules now for diagnosis and scenario discussion; require prospective evidence before operational forecasting.</a:t>
            </a:r>
          </a:p>
        </p:txBody>
      </p:sp>
      <p:sp>
        <p:nvSpPr>
          <p:cNvPr id="17" name="">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7B1E3A"/>
                </a:solidFill>
                <a:latin typeface="Arial"/>
                <a:ea typeface="Arial"/>
                <a:cs typeface="Arial"/>
              </a:defRPr>
            </a:pPr>
            <a:r>
              <a:t>NEXT STEPS</a:t>
            </a:r>
          </a:p>
        </p:txBody>
      </p:sp>
      <p:sp>
        <p:nvSpPr>
          <p:cNvPr id="2" name="">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51515"/>
                </a:solidFill>
                <a:latin typeface="Arial"/>
                <a:ea typeface="Arial"/>
                <a:cs typeface="Arial"/>
              </a:defRPr>
            </a:pPr>
            <a:r>
              <a:t>The next step is to model structure explicitly</a:t>
            </a:r>
          </a:p>
        </p:txBody>
      </p:sp>
      <p:sp>
        <p:nvSpPr>
          <p:cNvPr id="3" name="">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60656C"/>
                </a:solidFill>
                <a:latin typeface="Arial"/>
                <a:ea typeface="Arial"/>
                <a:cs typeface="Arial"/>
              </a:defRPr>
            </a:pPr>
            <a:r>
              <a:t>19</a:t>
            </a:r>
          </a:p>
        </p:txBody>
      </p:sp>
      <p:cxnSp>
        <p:nvCxnSpPr>
          <p:cNvPr id="29" name=""/>
          <p:cNvCxnSpPr/>
          <p:nvPr/>
        </p:nvCxnSpPr>
        <p:spPr>
          <a:xfrm xmlns:a="http://schemas.openxmlformats.org/drawingml/2006/main">
            <a:off x="742950" y="3048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095375" y="2962275"/>
            <a:ext cx="190500" cy="190500"/>
          </a:xfrm>
          <a:prstGeom xmlns:a="http://schemas.openxmlformats.org/drawingml/2006/main" prst="ellipse">
            <a:avLst/>
          </a:prstGeom>
          <a:solidFill xmlns:a="http://schemas.openxmlformats.org/drawingml/2006/main">
            <a:srgbClr val="7B1E3A"/>
          </a:solidFill>
        </p:spPr>
      </p:sp>
      <p:sp>
        <p:nvSpPr>
          <p:cNvPr id="6" name="">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3714750" y="2962275"/>
            <a:ext cx="190500" cy="190500"/>
          </a:xfrm>
          <a:prstGeom xmlns:a="http://schemas.openxmlformats.org/drawingml/2006/main" prst="ellipse">
            <a:avLst/>
          </a:prstGeom>
          <a:solidFill xmlns:a="http://schemas.openxmlformats.org/drawingml/2006/main">
            <a:srgbClr val="7B1E3A"/>
          </a:solidFill>
        </p:spPr>
      </p:sp>
      <p:sp>
        <p:nvSpPr>
          <p:cNvPr id="7" name="">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6334125" y="2962275"/>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8953500" y="2962275"/>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80962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01</a:t>
            </a:r>
          </a:p>
        </p:txBody>
      </p:sp>
      <p:sp>
        <p:nvSpPr>
          <p:cNvPr id="10" name="">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571500" y="3381375"/>
            <a:ext cx="1238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51515"/>
                </a:solidFill>
                <a:latin typeface="Arial"/>
                <a:ea typeface="Arial"/>
                <a:cs typeface="Arial"/>
              </a:defRPr>
            </a:pPr>
            <a:r>
              <a:t>Structural
covariates</a:t>
            </a:r>
          </a:p>
        </p:txBody>
      </p:sp>
      <p:sp>
        <p:nvSpPr>
          <p:cNvPr id="11" name="">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381000" y="4238625"/>
            <a:ext cx="1619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0656C"/>
                </a:solidFill>
                <a:latin typeface="Arial"/>
                <a:ea typeface="Arial"/>
                <a:cs typeface="Arial"/>
              </a:defRPr>
            </a:pPr>
            <a:r>
              <a:t>Planted area, quotas, producers</a:t>
            </a:r>
          </a:p>
        </p:txBody>
      </p:sp>
      <p:sp>
        <p:nvSpPr>
          <p:cNvPr id="12" name="">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342900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02</a:t>
            </a:r>
          </a:p>
        </p:txBody>
      </p:sp>
      <p:sp>
        <p:nvSpPr>
          <p:cNvPr id="13" name="">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2952750" y="338137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51515"/>
                </a:solidFill>
                <a:latin typeface="Arial"/>
                <a:ea typeface="Arial"/>
                <a:cs typeface="Arial"/>
              </a:defRPr>
            </a:pPr>
            <a:r>
              <a:t>Prospective
validation</a:t>
            </a:r>
          </a:p>
        </p:txBody>
      </p:sp>
      <p:sp>
        <p:nvSpPr>
          <p:cNvPr id="14" name="">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2952750" y="423862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0656C"/>
                </a:solidFill>
                <a:latin typeface="Arial"/>
                <a:ea typeface="Arial"/>
                <a:cs typeface="Arial"/>
              </a:defRPr>
            </a:pPr>
            <a:r>
              <a:t>Pre-register the era-balanced hypothesis</a:t>
            </a:r>
          </a:p>
        </p:txBody>
      </p:sp>
      <p:sp>
        <p:nvSpPr>
          <p:cNvPr id="15" name="">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04837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03</a:t>
            </a:r>
          </a:p>
        </p:txBody>
      </p:sp>
      <p:sp>
        <p:nvSpPr>
          <p:cNvPr id="16" name="">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5762625" y="3381375"/>
            <a:ext cx="1428750" cy="666750"/>
          </a:xfrm>
          <a:prstGeom xmlns:a="http://schemas.openxmlformats.org/drawingml/2006/main" prst="rect">
            <a:avLst/>
          </a:prstGeom>
        </p:spPr>
        <p:txBody>
          <a:bodyPr xmlns:a="http://schemas.openxmlformats.org/drawingml/2006/main" lIns="0" tIns="0" rIns="0" bIns="0" anchor="t">
            <a:normAutofit fontScale="94531"/>
          </a:bodyPr>
          <a:lstStyle xmlns:a="http://schemas.openxmlformats.org/drawingml/2006/main"/>
          <a:p xmlns:a="http://schemas.openxmlformats.org/drawingml/2006/main">
            <a:pPr algn="ctr">
              <a:defRPr sz="1800" b="1">
                <a:solidFill>
                  <a:srgbClr val="151515"/>
                </a:solidFill>
                <a:latin typeface="Arial"/>
                <a:ea typeface="Arial"/>
                <a:cs typeface="Arial"/>
              </a:defRPr>
            </a:pPr>
            <a:r>
              <a:t>Higher spatial
resolution</a:t>
            </a:r>
          </a:p>
        </p:txBody>
      </p:sp>
      <p:sp>
        <p:nvSpPr>
          <p:cNvPr id="17" name="">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5572125" y="4238625"/>
            <a:ext cx="18097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0656C"/>
                </a:solidFill>
                <a:latin typeface="Arial"/>
                <a:ea typeface="Arial"/>
                <a:cs typeface="Arial"/>
              </a:defRPr>
            </a:pPr>
            <a:r>
              <a:t>Capture within-region heterogeneity</a:t>
            </a:r>
          </a:p>
        </p:txBody>
      </p:sp>
      <p:sp>
        <p:nvSpPr>
          <p:cNvPr id="18" name="">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866775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8429625" y="3381375"/>
            <a:ext cx="1428750" cy="666750"/>
          </a:xfrm>
          <a:prstGeom xmlns:a="http://schemas.openxmlformats.org/drawingml/2006/main" prst="rect">
            <a:avLst/>
          </a:prstGeom>
        </p:spPr>
        <p:txBody>
          <a:bodyPr xmlns:a="http://schemas.openxmlformats.org/drawingml/2006/main" lIns="0" tIns="0" rIns="0" bIns="0" anchor="t">
            <a:normAutofit fontScale="96156"/>
          </a:bodyPr>
          <a:lstStyle xmlns:a="http://schemas.openxmlformats.org/drawingml/2006/main"/>
          <a:p xmlns:a="http://schemas.openxmlformats.org/drawingml/2006/main">
            <a:pPr algn="ctr">
              <a:defRPr sz="1800" b="1">
                <a:solidFill>
                  <a:srgbClr val="151515"/>
                </a:solidFill>
                <a:latin typeface="Arial"/>
                <a:ea typeface="Arial"/>
                <a:cs typeface="Arial"/>
              </a:defRPr>
            </a:pPr>
            <a:r>
              <a:t>New methods
&amp; regions</a:t>
            </a:r>
          </a:p>
        </p:txBody>
      </p:sp>
      <p:sp>
        <p:nvSpPr>
          <p:cNvPr id="20" name="">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191500" y="4238625"/>
            <a:ext cx="19050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0656C"/>
                </a:solidFill>
                <a:latin typeface="Arial"/>
                <a:ea typeface="Arial"/>
                <a:cs typeface="Arial"/>
              </a:defRPr>
            </a:pPr>
            <a:r>
              <a:t>EMM and stable production histories</a:t>
            </a:r>
          </a:p>
        </p:txBody>
      </p:sp>
      <p:sp>
        <p:nvSpPr>
          <p:cNvPr id="21" name="">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001250" y="2143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220325" y="2457450"/>
            <a:ext cx="1143000" cy="2286000"/>
          </a:xfrm>
          <a:prstGeom xmlns:a="http://schemas.openxmlformats.org/drawingml/2006/main" prst="rect">
            <a:avLst/>
          </a:prstGeom>
        </p:spPr>
        <p:txBody>
          <a:bodyPr xmlns:a="http://schemas.openxmlformats.org/drawingml/2006/main" lIns="0" tIns="0" rIns="0" bIns="0" anchor="t">
            <a:normAutofit fontScale="76923"/>
          </a:bodyPr>
          <a:lstStyle xmlns:a="http://schemas.openxmlformats.org/drawingml/2006/main"/>
          <a:p xmlns:a="http://schemas.openxmlformats.org/drawingml/2006/main">
            <a:pPr algn="ctr">
              <a:defRPr sz="1950" b="1">
                <a:solidFill>
                  <a:srgbClr val="FFFFFF"/>
                </a:solidFill>
                <a:latin typeface="Arial"/>
                <a:ea typeface="Arial"/>
                <a:cs typeface="Arial"/>
              </a:defRPr>
            </a:pPr>
            <a:r>
              <a:t>Rules can
explain the
past.
Structure
determines
whether they
predict the
future.</a:t>
            </a:r>
          </a:p>
        </p:txBody>
      </p:sp>
      <p:sp>
        <p:nvSpPr>
          <p:cNvPr id="23" name="">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400050" y="5619750"/>
            <a:ext cx="5715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00" b="1">
                <a:solidFill>
                  <a:srgbClr val="151515"/>
                </a:solidFill>
                <a:latin typeface="Arial"/>
                <a:ea typeface="Arial"/>
                <a:cs typeface="Arial"/>
              </a:defRPr>
            </a:pPr>
            <a:r>
              <a:t>Thank you</a:t>
            </a:r>
          </a:p>
        </p:txBody>
      </p:sp>
      <p:sp>
        <p:nvSpPr>
          <p:cNvPr id="24" name="">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400050" y="6172200"/>
            <a:ext cx="285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0656C"/>
                </a:solidFill>
                <a:latin typeface="Arial"/>
                <a:ea typeface="Arial"/>
                <a:cs typeface="Arial"/>
              </a:defRPr>
            </a:pPr>
            <a:r>
              <a:t>Questions</a:t>
            </a:r>
          </a:p>
        </p:txBody>
      </p:sp>
      <p:sp>
        <p:nvSpPr>
          <p:cNvPr id="25" name="">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3810000" y="6438900"/>
            <a:ext cx="4762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2026-07-13T07:53:19.5760000Z</dcterms:created>
  <dcterms:modified xsi:type="dcterms:W3CDTF">2026-07-13T07:53:19.5760000Z</dcterms:modified>
</coreProperties>
</file>