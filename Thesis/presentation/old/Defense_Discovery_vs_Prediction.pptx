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Douro (RDD)  +80%</c:v>
                </c:pt>
              </c:strCache>
            </c:strRef>
          </c:tx>
          <c:spPr>
            <a:solidFill>
              <a:srgbClr val="C97B2C"/>
            </a:solidFill>
            <a:ln w="44450" cap="flat">
              <a:solidFill>
                <a:srgbClr val="C97B2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97B2C"/>
              </a:solidFill>
              <a:ln w="9525" cap="flat">
                <a:solidFill>
                  <a:srgbClr val="C97B2C"/>
                </a:solidFill>
                <a:prstDash val="solid"/>
                <a:round/>
              </a:ln>
              <a:effectLst/>
            </c:spPr>
          </c:marker>
          <c:cat>
            <c:multiLvlStrRef>
              <c:f>Sheet1!$A$2:$A$7</c:f>
              <c:multiLvlStrCache>
                <c:ptCount val="6"/>
                <c:lvl>
                  <c:pt idx="0">
                    <c:v>1940</c:v>
                  </c:pt>
                  <c:pt idx="1">
                    <c:v>1955</c:v>
                  </c:pt>
                  <c:pt idx="2">
                    <c:v>1970</c:v>
                  </c:pt>
                  <c:pt idx="3">
                    <c:v>1985</c:v>
                  </c:pt>
                  <c:pt idx="4">
                    <c:v>2000</c:v>
                  </c:pt>
                  <c:pt idx="5">
                    <c:v>2015</c:v>
                  </c:pt>
                </c:lvl>
              </c:multiLvlStrCache>
            </c:multiLvlStrRef>
          </c:cat>
          <c:val>
            <c:numRef>
              <c:f>Sheet1!$B$2:$B$7</c:f>
              <c:numCache>
                <c:formatCode>General</c:formatCode>
                <c:ptCount val="6"/>
                <c:pt idx="0">
                  <c:v>780</c:v>
                </c:pt>
                <c:pt idx="1">
                  <c:v>900</c:v>
                </c:pt>
                <c:pt idx="2">
                  <c:v>1050</c:v>
                </c:pt>
                <c:pt idx="3">
                  <c:v>1200</c:v>
                </c:pt>
                <c:pt idx="4">
                  <c:v>1350</c:v>
                </c:pt>
                <c:pt idx="5">
                  <c:v>1400</c:v>
                </c:pt>
              </c:numCache>
            </c:numRef>
          </c:val>
          <c:smooth val="1"/>
        </c:ser>
        <c:ser>
          <c:idx val="1"/>
          <c:order val="1"/>
          <c:tx>
            <c:strRef>
              <c:f>Sheet1!$C$1</c:f>
              <c:strCache>
                <c:ptCount val="1"/>
                <c:pt idx="0">
                  <c:v>Vinho Verde (RVV)  −65%</c:v>
                </c:pt>
              </c:strCache>
            </c:strRef>
          </c:tx>
          <c:spPr>
            <a:solidFill>
              <a:srgbClr val="3E7C59"/>
            </a:solidFill>
            <a:ln w="44450" cap="flat">
              <a:solidFill>
                <a:srgbClr val="3E7C5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3E7C59"/>
              </a:solidFill>
              <a:ln w="9525" cap="flat">
                <a:solidFill>
                  <a:srgbClr val="3E7C59"/>
                </a:solidFill>
                <a:prstDash val="solid"/>
                <a:round/>
              </a:ln>
              <a:effectLst/>
            </c:spPr>
          </c:marker>
          <c:cat>
            <c:multiLvlStrRef>
              <c:f>Sheet1!$A$2:$A$7</c:f>
              <c:multiLvlStrCache>
                <c:ptCount val="6"/>
                <c:lvl>
                  <c:pt idx="0">
                    <c:v>1940</c:v>
                  </c:pt>
                  <c:pt idx="1">
                    <c:v>1955</c:v>
                  </c:pt>
                  <c:pt idx="2">
                    <c:v>1970</c:v>
                  </c:pt>
                  <c:pt idx="3">
                    <c:v>1985</c:v>
                  </c:pt>
                  <c:pt idx="4">
                    <c:v>2000</c:v>
                  </c:pt>
                  <c:pt idx="5">
                    <c:v>2015</c:v>
                  </c:pt>
                </c:lvl>
              </c:multiLvlStrCache>
            </c:multiLvlStrRef>
          </c:cat>
          <c:val>
            <c:numRef>
              <c:f>Sheet1!$C$2:$C$7</c:f>
              <c:numCache>
                <c:formatCode>General</c:formatCode>
                <c:ptCount val="6"/>
                <c:pt idx="0">
                  <c:v>1850</c:v>
                </c:pt>
                <c:pt idx="1">
                  <c:v>2300</c:v>
                </c:pt>
                <c:pt idx="2">
                  <c:v>2050</c:v>
                </c:pt>
                <c:pt idx="3">
                  <c:v>1550</c:v>
                </c:pt>
                <c:pt idx="4">
                  <c:v>1100</c:v>
                </c:pt>
                <c:pt idx="5">
                  <c:v>850</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8A7F76"/>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4DBCF"/>
              </a:solidFill>
              <a:prstDash val="solid"/>
              <a:round/>
            </a:ln>
          </c:spPr>
        </c:majorGridlines>
        <c:title>
          <c:tx>
            <c:rich>
              <a:bodyPr/>
              <a:lstStyle/>
              <a:p>
                <a:pPr>
                  <a:defRPr sz="1100" b="0" i="0" u="none" strike="noStrike">
                    <a:solidFill>
                      <a:srgbClr val="8A7F76"/>
                    </a:solidFill>
                    <a:latin typeface="Arial"/>
                  </a:defRPr>
                </a:pPr>
                <a:r>
                  <a:rPr sz="1100" b="0" i="0" u="none" strike="noStrike">
                    <a:solidFill>
                      <a:srgbClr val="8A7F76"/>
                    </a:solidFill>
                    <a:latin typeface="Arial"/>
                  </a:rPr>
                  <a:t>Production (mhl)</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8A7F76"/>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2B2223"/>
              </a:solidFill>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Naive-Median baseline</c:v>
                </c:pt>
              </c:strCache>
            </c:strRef>
          </c:tx>
          <c:spPr>
            <a:solidFill>
              <a:srgbClr val="9BB39F"/>
            </a:solidFill>
            <a:effectLst/>
          </c:spPr>
          <c:invertIfNegative val="0"/>
          <c:dLbls>
            <c:numFmt formatCode="#,##0"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cat>
            <c:multiLvlStrRef>
              <c:f>Sheet1!$A$2:$A$3</c:f>
              <c:multiLvlStrCache>
                <c:ptCount val="2"/>
                <c:lvl>
                  <c:pt idx="0">
                    <c:v>Douro (RDD)</c:v>
                  </c:pt>
                  <c:pt idx="1">
                    <c:v>Vinho Verde (RVV)</c:v>
                  </c:pt>
                </c:lvl>
              </c:multiLvlStrCache>
            </c:multiLvlStrRef>
          </c:cat>
          <c:val>
            <c:numRef>
              <c:f>Sheet1!$B$2:$B$3</c:f>
              <c:numCache>
                <c:formatCode>General</c:formatCode>
                <c:ptCount val="2"/>
                <c:pt idx="0">
                  <c:v>184</c:v>
                </c:pt>
                <c:pt idx="1">
                  <c:v>140</c:v>
                </c:pt>
              </c:numCache>
            </c:numRef>
          </c:val>
        </c:ser>
        <c:ser>
          <c:idx val="1"/>
          <c:order val="1"/>
          <c:tx>
            <c:strRef>
              <c:f>Sheet1!$C$1</c:f>
              <c:strCache>
                <c:ptCount val="1"/>
                <c:pt idx="0">
                  <c:v>Best CarenR</c:v>
                </c:pt>
              </c:strCache>
            </c:strRef>
          </c:tx>
          <c:spPr>
            <a:solidFill>
              <a:srgbClr val="C9A227"/>
            </a:solidFill>
            <a:effectLst/>
          </c:spPr>
          <c:invertIfNegative val="0"/>
          <c:dLbls>
            <c:numFmt formatCode="#,##0"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cat>
            <c:multiLvlStrRef>
              <c:f>Sheet1!$A$2:$A$3</c:f>
              <c:multiLvlStrCache>
                <c:ptCount val="2"/>
                <c:lvl>
                  <c:pt idx="0">
                    <c:v>Douro (RDD)</c:v>
                  </c:pt>
                  <c:pt idx="1">
                    <c:v>Vinho Verde (RVV)</c:v>
                  </c:pt>
                </c:lvl>
              </c:multiLvlStrCache>
            </c:multiLvlStrRef>
          </c:cat>
          <c:val>
            <c:numRef>
              <c:f>Sheet1!$C$2:$C$3</c:f>
              <c:numCache>
                <c:formatCode>General</c:formatCode>
                <c:ptCount val="2"/>
                <c:pt idx="0">
                  <c:v>189</c:v>
                </c:pt>
                <c:pt idx="1">
                  <c:v>172</c:v>
                </c:pt>
              </c:numCache>
            </c:numRef>
          </c:val>
        </c:ser>
        <c:dLbls>
          <c:numFmt formatCode="#,##0"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E7D9D2"/>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6E2033"/>
              </a:solidFill>
              <a:prstDash val="solid"/>
              <a:round/>
            </a:ln>
          </c:spPr>
        </c:majorGridlines>
        <c:title>
          <c:tx>
            <c:rich>
              <a:bodyPr/>
              <a:lstStyle/>
              <a:p>
                <a:pPr>
                  <a:defRPr sz="1100" b="0" i="0" u="none" strike="noStrike">
                    <a:solidFill>
                      <a:srgbClr val="C9A9A0"/>
                    </a:solidFill>
                    <a:latin typeface="Arial"/>
                  </a:defRPr>
                </a:pPr>
                <a:r>
                  <a:rPr sz="1100" b="0" i="0" u="none" strike="noStrike">
                    <a:solidFill>
                      <a:srgbClr val="C9A9A0"/>
                    </a:solidFill>
                    <a:latin typeface="Arial"/>
                  </a:rPr>
                  <a:t>Weighted MAE (mhl) — lower is better</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C9A9A0"/>
                </a:solidFill>
                <a:latin typeface="Arial"/>
              </a:defRPr>
            </a:pPr>
            <a:endParaRPr lang="en-US"/>
          </a:p>
        </c:txPr>
        <c:crossAx val="2094734554"/>
        <c:crosses val="autoZero"/>
        <c:crossBetween val="between"/>
      </c:valAx>
      <c:spPr>
        <a:solidFill>
          <a:srgbClr val="4A1522"/>
        </a:solidFill>
        <a:ln>
          <a:noFill/>
        </a:ln>
        <a:effectLst/>
      </c:spPr>
    </c:plotArea>
    <c:legend>
      <c:legendPos val="b"/>
      <c:overlay val="0"/>
      <c:txPr>
        <a:bodyPr/>
        <a:lstStyle/>
        <a:p>
          <a:pPr>
            <a:defRPr sz="1200">
              <a:solidFill>
                <a:srgbClr val="E7D9D2"/>
              </a:solidFill>
            </a:defRPr>
          </a:pPr>
          <a:endParaRPr lang="en-US"/>
        </a:p>
      </c:txPr>
    </c:legend>
    <c:plotVisOnly val="1"/>
    <c:dispBlanksAs val="span"/>
  </c:chart>
  <c:spPr>
    <a:solidFill>
      <a:srgbClr val="4A1522"/>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Naive-Median baseline error</c:v>
                </c:pt>
              </c:strCache>
            </c:strRef>
          </c:tx>
          <c:spPr>
            <a:solidFill>
              <a:srgbClr val="4A1522"/>
            </a:solidFill>
            <a:effectLst/>
          </c:spPr>
          <c:invertIfNegative val="0"/>
          <c:dLbls>
            <c:numFmt formatCode="#,##0" sourceLinked="0"/>
            <c:txPr>
              <a:bodyPr/>
              <a:lstStyle/>
              <a:p>
                <a:pPr>
                  <a:defRPr b="0" i="0" strike="noStrike" sz="1400" u="none">
                    <a:solidFill>
                      <a:srgbClr val="2B2223"/>
                    </a:solidFill>
                    <a:latin typeface="Arial"/>
                  </a:defRPr>
                </a:pPr>
              </a:p>
            </c:txPr>
            <c:showLegendKey val="0"/>
            <c:showVal val="1"/>
            <c:showCatName val="0"/>
            <c:showSerName val="0"/>
            <c:showPercent val="0"/>
            <c:showBubbleSize val="0"/>
            <c:showLeaderLines val="0"/>
          </c:dLbls>
          <c:cat>
            <c:multiLvlStrRef>
              <c:f>Sheet1!$A$2:$A$3</c:f>
              <c:multiLvlStrCache>
                <c:ptCount val="2"/>
                <c:lvl>
                  <c:pt idx="0">
                    <c:v>Linear detrend</c:v>
                  </c:pt>
                  <c:pt idx="1">
                    <c:v>LOESS detrend</c:v>
                  </c:pt>
                </c:lvl>
              </c:multiLvlStrCache>
            </c:multiLvlStrRef>
          </c:cat>
          <c:val>
            <c:numRef>
              <c:f>Sheet1!$B$2:$B$3</c:f>
              <c:numCache>
                <c:formatCode>General</c:formatCode>
                <c:ptCount val="2"/>
                <c:pt idx="0">
                  <c:v>140</c:v>
                </c:pt>
                <c:pt idx="1">
                  <c:v>90</c:v>
                </c:pt>
              </c:numCache>
            </c:numRef>
          </c:val>
        </c:ser>
        <c:dLbls>
          <c:numFmt formatCode="#,##0" sourceLinked="0"/>
          <c:txPr>
            <a:bodyPr/>
            <a:lstStyle/>
            <a:p>
              <a:pPr>
                <a:defRPr b="0" i="0" strike="noStrike" sz="1400" u="none">
                  <a:solidFill>
                    <a:srgbClr val="2B222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2B2223"/>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4DBCF"/>
              </a:solidFill>
              <a:prstDash val="solid"/>
              <a:round/>
            </a:ln>
          </c:spPr>
        </c:majorGridlines>
        <c:title>
          <c:tx>
            <c:rich>
              <a:bodyPr/>
              <a:lstStyle/>
              <a:p>
                <a:pPr>
                  <a:defRPr sz="1100" b="0" i="0" u="none" strike="noStrike">
                    <a:solidFill>
                      <a:srgbClr val="8A7F76"/>
                    </a:solidFill>
                    <a:latin typeface="Arial"/>
                  </a:defRPr>
                </a:pPr>
                <a:r>
                  <a:rPr sz="1100" b="0" i="0" u="none" strike="noStrike">
                    <a:solidFill>
                      <a:srgbClr val="8A7F76"/>
                    </a:solidFill>
                    <a:latin typeface="Arial"/>
                  </a:rPr>
                  <a:t>Baseline MAE (mhl)</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A7F76"/>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paradox, not an agenda. 'Imagine you find a rule, validated by three independent algorithms, that reliably describes ninety years of wine production. Every expert agrees it's correct. Then you try to forecast next year with it — and it loses to simply predicting the median. That is not a bug. That is my finding. In the next twenty minutes I'll show you exactly when discovery and prediction come apart, and give you a framework that explains why.'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Black boxes forecast well but can't be audited, so in high-stakes domains we reach for rule-based methods. But we assume describing the data implies forecasting it. Goal 1: can we discover interpretable climate rules? Goal 2: do they predict? The answer is yes and no — and the 'no' is the interesting part.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Portuguese regions, side by side. Douro nearly doubled over ninety years — a smooth rise. Vinho Verde collapsed by two-thirds after EU accession in 1986 — policy, not weather. Same physics, same pipeline. The only thing that differs is the structural trend. That makes structural confounding my independent variable — I can watch what it does to both discovery and prediction.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feature can reliably move the distribution without predicting any single year — hold that thought, it is the seed of the whole discovery-versus-prediction gap. And critically: when nothing fires, CarenR abstains and predicts the median, so it can only lose by acting, never by staying silent.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CarenR finds 48 rules in Douro, 20 in Vinho Verde. Two completely different algorithms — RIPPER on information gain, M5Rules on variance — independently pick the same variable families. Three optimizers, three objective functions, same physics. And the LOESS test kills the obvious objection: in Douro the correlations survive era-removal. The signal is real. Goal 1 achieved. Note the Vinho Verde collapse to 15% — that becomes the key to Act Two.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credibility BEFORE the null. No random CV — it leaks on a non-stationary series. Everything re-fitted inside the fold. And the bar is the Naive-Median: predict 'on trend' every year. That baseline is not lazy — the median provably minimises MAE among constant predictors, so anything that beats it must extract real structure. This is the fairest, most demanding test I could build.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the null confidently — this is the pivot. Douro: 189 vs 184, three percent, indistinguishable. Vinho Verde: twenty-two percent behind, and when rules fire they are significantly worse than doing nothing. So the exact same rules Act One proved were real cannot beat a one-line baseline. A weaker student stops here and calls it a failed thesis. I'm going to argue this is the most informative result in the work — because I can tell you precisely why. SAY THE SPINE ALOUD.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loses to baseline' tells you nothing. My decomposition splits the error and asks WHICH decision failed. The answer is not Decision Two — the rule step is already near the ceiling the signal allows. The bottleneck is Decision One, the trend itself. That reframes the entire problem. And these two decisions don't just sit side by side — they are in direct conflict. Next slide proves it. [~2.5 min — this is your buffer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experiment that convinced me the framework is right. Swap the linear trend for a flexible LOESS trend. Decision One improves 36%. But the flexible trend absorbs so much year-to-year variation that CarenR finds ZERO rules — the KS test has nothing left to detect. I improved trend quality by consuming the signal the rules needed. That is the two-decision trade-off, not as theory but as a measured outcome. As long as time is the only detrending covariate, these two pull against each other.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Douro rose gradually — a linear trend captures it, residuals stay clean, the climate signal survives. Vinho Verde collapsed abruptly — no time-based trend separates policy from weather, so residuals are polluted with structural change. The proof: as I feed MORE modern data into Vinho Verde, the rules get WORSE, because they lock onto era-specific artifacts. Same climate physics — structural noise erases the advantage in one region. Callback: that 15% LOESS collapse was telling us this all along.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a window in Douro — once the modern era makes up about 29% of training data — where CarenR beats the baseline in five consecutive scenarios. Consistent with the framework: balance the eras and Decision One stops fighting Decision Two. But I'll be completely straight: I found that window after looking at the results. Five points. The next scenarios fail. I report it as a hypothesis to pre-register, not a claim. I'd rather give you an honest signpost than an oversold finding.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wine with crop yield, disease incidence, energy demand, macroeconomics. Three transferable lessons. One: a validated interpretable pattern is not evidence it forecasts — test out-of-sample. Two: don't reach for a more flexible detrender without asking what signal it eats. Three: your metric silently interacts with regime composition. These are cautions the whole field needs.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contribution is not a winning forecaster — it's a diagnosis. The two-decision framework, transferable to any agroclimatic forecasting problem. A LOESS test that separates signal from artifact. A controlled two-region design that isolates structural confounding. The prescription follows directly: stop detrending with time alone. Add structural covariates so the trend models the industry and the residual is pure climate. That decouples the two decisions the current pipeline forces into conflict.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set out to forecast wine production with interpretable rules. I discovered something more useful than a forecast: WHERE interpretable discovery and reliable prediction come apart, a framework that explains why, and the structural fix. That precision is the result. Thank you — I welcome your questions. Backup slides ready: LOESS-retention correction, the n=5 caveat, the ~3-cycle test-window limitation. [~0.5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A1522"/>
        </a:solidFill>
      </p:bgPr>
    </p:bg>
    <p:spTree>
      <p:nvGrpSpPr>
        <p:cNvPr id="1" name=""/>
        <p:cNvGrpSpPr/>
        <p:nvPr/>
      </p:nvGrpSpPr>
      <p:grpSpPr>
        <a:xfrm>
          <a:off x="0" y="0"/>
          <a:ext cx="0" cy="0"/>
          <a:chOff x="0" y="0"/>
          <a:chExt cx="0" cy="0"/>
        </a:xfrm>
      </p:grpSpPr>
      <p:sp>
        <p:nvSpPr>
          <p:cNvPr id="2" name="Shape 0"/>
          <p:cNvSpPr/>
          <p:nvPr/>
        </p:nvSpPr>
        <p:spPr>
          <a:xfrm>
            <a:off x="8869680" y="-2011680"/>
            <a:ext cx="5943600" cy="5943600"/>
          </a:xfrm>
          <a:prstGeom prst="ellipse">
            <a:avLst/>
          </a:prstGeom>
          <a:solidFill>
            <a:srgbClr val="6E2033"/>
          </a:solidFill>
          <a:ln/>
        </p:spPr>
      </p:sp>
      <p:sp>
        <p:nvSpPr>
          <p:cNvPr id="3" name="Shape 1"/>
          <p:cNvSpPr/>
          <p:nvPr/>
        </p:nvSpPr>
        <p:spPr>
          <a:xfrm>
            <a:off x="10241280" y="3108960"/>
            <a:ext cx="4206240" cy="4206240"/>
          </a:xfrm>
          <a:prstGeom prst="ellipse">
            <a:avLst/>
          </a:prstGeom>
          <a:solidFill>
            <a:srgbClr val="5C1B2B"/>
          </a:solidFill>
          <a:ln/>
        </p:spPr>
      </p:sp>
      <p:sp>
        <p:nvSpPr>
          <p:cNvPr id="4" name="Text 2"/>
          <p:cNvSpPr/>
          <p:nvPr/>
        </p:nvSpPr>
        <p:spPr>
          <a:xfrm>
            <a:off x="731520" y="1965960"/>
            <a:ext cx="10058400" cy="822960"/>
          </a:xfrm>
          <a:prstGeom prst="rect">
            <a:avLst/>
          </a:prstGeom>
          <a:noFill/>
          <a:ln/>
        </p:spPr>
        <p:txBody>
          <a:bodyPr wrap="square" lIns="0" tIns="0" rIns="0" bIns="0" rtlCol="0" anchor="ctr"/>
          <a:lstStyle/>
          <a:p>
            <a:pPr indent="0" marL="0">
              <a:buNone/>
            </a:pPr>
            <a:r>
              <a:rPr lang="en-US" sz="4400" b="1" dirty="0">
                <a:solidFill>
                  <a:srgbClr val="F5EFE6"/>
                </a:solidFill>
                <a:latin typeface="Century Schoolbook" pitchFamily="34" charset="0"/>
                <a:ea typeface="Century Schoolbook" pitchFamily="34" charset="-122"/>
                <a:cs typeface="Century Schoolbook" pitchFamily="34" charset="-120"/>
              </a:rPr>
              <a:t>THE RULE WAS REAL.</a:t>
            </a:r>
            <a:endParaRPr lang="en-US" sz="4400" dirty="0"/>
          </a:p>
        </p:txBody>
      </p:sp>
      <p:sp>
        <p:nvSpPr>
          <p:cNvPr id="5" name="Text 3"/>
          <p:cNvSpPr/>
          <p:nvPr/>
        </p:nvSpPr>
        <p:spPr>
          <a:xfrm>
            <a:off x="731520" y="2788920"/>
            <a:ext cx="10972800" cy="822960"/>
          </a:xfrm>
          <a:prstGeom prst="rect">
            <a:avLst/>
          </a:prstGeom>
          <a:noFill/>
          <a:ln/>
        </p:spPr>
        <p:txBody>
          <a:bodyPr wrap="square" lIns="0" tIns="0" rIns="0" bIns="0" rtlCol="0" anchor="ctr"/>
          <a:lstStyle/>
          <a:p>
            <a:pPr indent="0" marL="0">
              <a:buNone/>
            </a:pPr>
            <a:r>
              <a:rPr lang="en-US" sz="4400" b="1" dirty="0">
                <a:solidFill>
                  <a:srgbClr val="C9A227"/>
                </a:solidFill>
                <a:latin typeface="Century Schoolbook" pitchFamily="34" charset="0"/>
                <a:ea typeface="Century Schoolbook" pitchFamily="34" charset="-122"/>
                <a:cs typeface="Century Schoolbook" pitchFamily="34" charset="-120"/>
              </a:rPr>
              <a:t>THE FORECAST STILL FAILED.</a:t>
            </a:r>
            <a:endParaRPr lang="en-US" sz="4400" dirty="0"/>
          </a:p>
        </p:txBody>
      </p:sp>
      <p:sp>
        <p:nvSpPr>
          <p:cNvPr id="6" name="Text 4"/>
          <p:cNvSpPr/>
          <p:nvPr/>
        </p:nvSpPr>
        <p:spPr>
          <a:xfrm>
            <a:off x="749808" y="3794760"/>
            <a:ext cx="10515600" cy="457200"/>
          </a:xfrm>
          <a:prstGeom prst="rect">
            <a:avLst/>
          </a:prstGeom>
          <a:noFill/>
          <a:ln/>
        </p:spPr>
        <p:txBody>
          <a:bodyPr wrap="square" lIns="0" tIns="0" rIns="0" bIns="0" rtlCol="0" anchor="ctr"/>
          <a:lstStyle/>
          <a:p>
            <a:pPr indent="0" marL="0">
              <a:buNone/>
            </a:pPr>
            <a:r>
              <a:rPr lang="en-US" sz="1700" i="1" dirty="0">
                <a:solidFill>
                  <a:srgbClr val="E7D9D2"/>
                </a:solidFill>
                <a:latin typeface="Calibri" pitchFamily="34" charset="0"/>
                <a:ea typeface="Calibri" pitchFamily="34" charset="-122"/>
                <a:cs typeface="Calibri" pitchFamily="34" charset="-120"/>
              </a:rPr>
              <a:t>Wine Production Forecasting Using Rule-Based Machine Learning</a:t>
            </a:r>
            <a:endParaRPr lang="en-US" sz="1700" dirty="0"/>
          </a:p>
        </p:txBody>
      </p:sp>
      <p:sp>
        <p:nvSpPr>
          <p:cNvPr id="7" name="Text 5"/>
          <p:cNvSpPr/>
          <p:nvPr/>
        </p:nvSpPr>
        <p:spPr>
          <a:xfrm>
            <a:off x="749808" y="4160520"/>
            <a:ext cx="10515600" cy="365760"/>
          </a:xfrm>
          <a:prstGeom prst="rect">
            <a:avLst/>
          </a:prstGeom>
          <a:noFill/>
          <a:ln/>
        </p:spPr>
        <p:txBody>
          <a:bodyPr wrap="square" lIns="0" tIns="0" rIns="0" bIns="0" rtlCol="0" anchor="ctr"/>
          <a:lstStyle/>
          <a:p>
            <a:pPr indent="0" marL="0">
              <a:buNone/>
            </a:pPr>
            <a:r>
              <a:rPr lang="en-US" sz="1400" dirty="0">
                <a:solidFill>
                  <a:srgbClr val="C9A9A0"/>
                </a:solidFill>
                <a:latin typeface="Calibri" pitchFamily="34" charset="0"/>
                <a:ea typeface="Calibri" pitchFamily="34" charset="-122"/>
                <a:cs typeface="Calibri" pitchFamily="34" charset="-120"/>
              </a:rPr>
              <a:t>A Distributional Subgroup Discovery Approach</a:t>
            </a:r>
            <a:endParaRPr lang="en-US" sz="1400" dirty="0"/>
          </a:p>
        </p:txBody>
      </p:sp>
      <p:sp>
        <p:nvSpPr>
          <p:cNvPr id="8" name="Text 6"/>
          <p:cNvSpPr/>
          <p:nvPr/>
        </p:nvSpPr>
        <p:spPr>
          <a:xfrm>
            <a:off x="749808" y="5577840"/>
            <a:ext cx="10058400" cy="731520"/>
          </a:xfrm>
          <a:prstGeom prst="rect">
            <a:avLst/>
          </a:prstGeom>
          <a:noFill/>
          <a:ln/>
        </p:spPr>
        <p:txBody>
          <a:bodyPr wrap="square" lIns="0" tIns="0" rIns="0" bIns="0" rtlCol="0" anchor="ctr"/>
          <a:lstStyle/>
          <a:p>
            <a:pPr indent="0" marL="0">
              <a:buNone/>
            </a:pPr>
            <a:r>
              <a:rPr lang="en-US" sz="1400" b="1" dirty="0">
                <a:solidFill>
                  <a:srgbClr val="F5EFE6"/>
                </a:solidFill>
                <a:latin typeface="Calibri" pitchFamily="34" charset="0"/>
                <a:ea typeface="Calibri" pitchFamily="34" charset="-122"/>
                <a:cs typeface="Calibri" pitchFamily="34" charset="-120"/>
              </a:rPr>
              <a:t>Hugo Filipe Queiróz Nogueira</a:t>
            </a:r>
            <a:endParaRPr lang="en-US" sz="1400" dirty="0"/>
          </a:p>
          <a:p>
            <a:pPr indent="0" marL="0">
              <a:buNone/>
            </a:pPr>
            <a:r>
              <a:rPr lang="en-US" sz="1200" dirty="0">
                <a:solidFill>
                  <a:srgbClr val="C9A9A0"/>
                </a:solidFill>
                <a:latin typeface="Calibri" pitchFamily="34" charset="0"/>
                <a:ea typeface="Calibri" pitchFamily="34" charset="-122"/>
                <a:cs typeface="Calibri" pitchFamily="34" charset="-120"/>
              </a:rPr>
              <a:t>MSc in Informatics and Computing Engineering · FEUP</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EFE6"/>
        </a:solidFill>
      </p:bgPr>
    </p:bg>
    <p:spTree>
      <p:nvGrpSpPr>
        <p:cNvPr id="1" name=""/>
        <p:cNvGrpSpPr/>
        <p:nvPr/>
      </p:nvGrpSpPr>
      <p:grpSpPr>
        <a:xfrm>
          <a:off x="0" y="0"/>
          <a:ext cx="0" cy="0"/>
          <a:chOff x="0" y="0"/>
          <a:chExt cx="0" cy="0"/>
        </a:xfrm>
      </p:grpSpPr>
      <p:sp>
        <p:nvSpPr>
          <p:cNvPr id="2" name="Text 0"/>
          <p:cNvSpPr/>
          <p:nvPr/>
        </p:nvSpPr>
        <p:spPr>
          <a:xfrm>
            <a:off x="566928" y="502920"/>
            <a:ext cx="10058400" cy="320040"/>
          </a:xfrm>
          <a:prstGeom prst="rect">
            <a:avLst/>
          </a:prstGeom>
          <a:noFill/>
          <a:ln/>
        </p:spPr>
        <p:txBody>
          <a:bodyPr wrap="square" lIns="0" tIns="0" rIns="0" bIns="0" rtlCol="0" anchor="ctr"/>
          <a:lstStyle/>
          <a:p>
            <a:pPr indent="0" marL="0">
              <a:buNone/>
            </a:pPr>
            <a:r>
              <a:rPr lang="en-US" sz="1200" b="1" spc="300" kern="0" dirty="0">
                <a:solidFill>
                  <a:srgbClr val="C9A227"/>
                </a:solidFill>
                <a:latin typeface="Calibri" pitchFamily="34" charset="0"/>
                <a:ea typeface="Calibri" pitchFamily="34" charset="-122"/>
                <a:cs typeface="Calibri" pitchFamily="34" charset="-120"/>
              </a:rPr>
              <a:t>THE TENSION AT THE HEART OF THIS WORK</a:t>
            </a:r>
            <a:endParaRPr lang="en-US" sz="1200" dirty="0"/>
          </a:p>
        </p:txBody>
      </p:sp>
      <p:sp>
        <p:nvSpPr>
          <p:cNvPr id="3" name="Text 1"/>
          <p:cNvSpPr/>
          <p:nvPr/>
        </p:nvSpPr>
        <p:spPr>
          <a:xfrm>
            <a:off x="548640" y="841248"/>
            <a:ext cx="11064240" cy="1051560"/>
          </a:xfrm>
          <a:prstGeom prst="rect">
            <a:avLst/>
          </a:prstGeom>
          <a:noFill/>
          <a:ln/>
        </p:spPr>
        <p:txBody>
          <a:bodyPr wrap="square" lIns="0" tIns="0" rIns="0" bIns="0" rtlCol="0" anchor="ctr"/>
          <a:lstStyle/>
          <a:p>
            <a:pPr indent="0" marL="0">
              <a:lnSpc>
                <a:spcPct val="98000"/>
              </a:lnSpc>
              <a:buNone/>
            </a:pPr>
            <a:r>
              <a:rPr lang="en-US" sz="3200" b="1" dirty="0">
                <a:solidFill>
                  <a:srgbClr val="2B2223"/>
                </a:solidFill>
                <a:latin typeface="Century Schoolbook" pitchFamily="34" charset="0"/>
                <a:ea typeface="Century Schoolbook" pitchFamily="34" charset="-122"/>
                <a:cs typeface="Century Schoolbook" pitchFamily="34" charset="-120"/>
              </a:rPr>
              <a:t>We ask machine learning to do two different jobs</a:t>
            </a:r>
            <a:endParaRPr lang="en-US" sz="3200" dirty="0"/>
          </a:p>
        </p:txBody>
      </p:sp>
      <p:sp>
        <p:nvSpPr>
          <p:cNvPr id="4" name="Shape 2"/>
          <p:cNvSpPr/>
          <p:nvPr/>
        </p:nvSpPr>
        <p:spPr>
          <a:xfrm>
            <a:off x="566928" y="2286000"/>
            <a:ext cx="5074920" cy="3017520"/>
          </a:xfrm>
          <a:prstGeom prst="roundRect">
            <a:avLst>
              <a:gd name="adj" fmla="val 3636"/>
            </a:avLst>
          </a:prstGeom>
          <a:solidFill>
            <a:srgbClr val="FFFFFF"/>
          </a:solidFill>
          <a:ln/>
          <a:effectLst>
            <a:outerShdw sx="100000" sy="100000" kx="0" ky="0" algn="bl" rotWithShape="0" blurRad="101600" dist="38100" dir="5400000">
              <a:srgbClr val="000000">
                <a:alpha val="18000"/>
              </a:srgbClr>
            </a:outerShdw>
          </a:effectLst>
        </p:spPr>
      </p:sp>
      <p:sp>
        <p:nvSpPr>
          <p:cNvPr id="5" name="Shape 3"/>
          <p:cNvSpPr/>
          <p:nvPr/>
        </p:nvSpPr>
        <p:spPr>
          <a:xfrm>
            <a:off x="932688" y="2651760"/>
            <a:ext cx="640080" cy="640080"/>
          </a:xfrm>
          <a:prstGeom prst="ellipse">
            <a:avLst/>
          </a:prstGeom>
          <a:solidFill>
            <a:srgbClr val="C97B2C"/>
          </a:solidFill>
          <a:ln/>
        </p:spPr>
      </p:sp>
      <p:sp>
        <p:nvSpPr>
          <p:cNvPr id="6" name="Text 4"/>
          <p:cNvSpPr/>
          <p:nvPr/>
        </p:nvSpPr>
        <p:spPr>
          <a:xfrm>
            <a:off x="1801368" y="2670048"/>
            <a:ext cx="3566160" cy="640080"/>
          </a:xfrm>
          <a:prstGeom prst="rect">
            <a:avLst/>
          </a:prstGeom>
          <a:noFill/>
          <a:ln/>
        </p:spPr>
        <p:txBody>
          <a:bodyPr wrap="square" lIns="0" tIns="0" rIns="0" bIns="0" rtlCol="0" anchor="ctr"/>
          <a:lstStyle/>
          <a:p>
            <a:pPr indent="0" marL="0">
              <a:buNone/>
            </a:pPr>
            <a:r>
              <a:rPr lang="en-US" sz="2200" b="1" dirty="0">
                <a:solidFill>
                  <a:srgbClr val="2B2223"/>
                </a:solidFill>
                <a:latin typeface="Century Schoolbook" pitchFamily="34" charset="0"/>
                <a:ea typeface="Century Schoolbook" pitchFamily="34" charset="-122"/>
                <a:cs typeface="Century Schoolbook" pitchFamily="34" charset="-120"/>
              </a:rPr>
              <a:t>EXPLAIN</a:t>
            </a:r>
            <a:endParaRPr lang="en-US" sz="2200" dirty="0"/>
          </a:p>
        </p:txBody>
      </p:sp>
      <p:sp>
        <p:nvSpPr>
          <p:cNvPr id="7" name="Text 5"/>
          <p:cNvSpPr/>
          <p:nvPr/>
        </p:nvSpPr>
        <p:spPr>
          <a:xfrm>
            <a:off x="950976" y="3520440"/>
            <a:ext cx="4343400" cy="1600200"/>
          </a:xfrm>
          <a:prstGeom prst="rect">
            <a:avLst/>
          </a:prstGeom>
          <a:noFill/>
          <a:ln/>
        </p:spPr>
        <p:txBody>
          <a:bodyPr wrap="square" lIns="0" tIns="0" rIns="0" bIns="0" rtlCol="0" anchor="ctr"/>
          <a:lstStyle/>
          <a:p>
            <a:pPr indent="0" marL="0">
              <a:lnSpc>
                <a:spcPct val="105000"/>
              </a:lnSpc>
              <a:buNone/>
            </a:pPr>
            <a:r>
              <a:rPr lang="en-US" sz="1500" dirty="0">
                <a:solidFill>
                  <a:srgbClr val="4A4340"/>
                </a:solidFill>
                <a:latin typeface="Calibri" pitchFamily="34" charset="0"/>
                <a:ea typeface="Calibri" pitchFamily="34" charset="-122"/>
                <a:cs typeface="Calibri" pitchFamily="34" charset="-120"/>
              </a:rPr>
              <a:t>Extract auditable patterns a human can read, question, and act on. Interpretability is the goal.</a:t>
            </a:r>
            <a:endParaRPr lang="en-US" sz="1500" dirty="0"/>
          </a:p>
        </p:txBody>
      </p:sp>
      <p:sp>
        <p:nvSpPr>
          <p:cNvPr id="8" name="Shape 6"/>
          <p:cNvSpPr/>
          <p:nvPr/>
        </p:nvSpPr>
        <p:spPr>
          <a:xfrm>
            <a:off x="6537960" y="2286000"/>
            <a:ext cx="5074920" cy="3017520"/>
          </a:xfrm>
          <a:prstGeom prst="roundRect">
            <a:avLst>
              <a:gd name="adj" fmla="val 3636"/>
            </a:avLst>
          </a:prstGeom>
          <a:solidFill>
            <a:srgbClr val="FFFFFF"/>
          </a:solidFill>
          <a:ln/>
          <a:effectLst>
            <a:outerShdw sx="100000" sy="100000" kx="0" ky="0" algn="bl" rotWithShape="0" blurRad="101600" dist="38100" dir="5400000">
              <a:srgbClr val="000000">
                <a:alpha val="18000"/>
              </a:srgbClr>
            </a:outerShdw>
          </a:effectLst>
        </p:spPr>
      </p:sp>
      <p:sp>
        <p:nvSpPr>
          <p:cNvPr id="9" name="Shape 7"/>
          <p:cNvSpPr/>
          <p:nvPr/>
        </p:nvSpPr>
        <p:spPr>
          <a:xfrm>
            <a:off x="6903720" y="2651760"/>
            <a:ext cx="640080" cy="640080"/>
          </a:xfrm>
          <a:prstGeom prst="ellipse">
            <a:avLst/>
          </a:prstGeom>
          <a:solidFill>
            <a:srgbClr val="3E7C59"/>
          </a:solidFill>
          <a:ln/>
        </p:spPr>
      </p:sp>
      <p:sp>
        <p:nvSpPr>
          <p:cNvPr id="10" name="Text 8"/>
          <p:cNvSpPr/>
          <p:nvPr/>
        </p:nvSpPr>
        <p:spPr>
          <a:xfrm>
            <a:off x="7772400" y="2670048"/>
            <a:ext cx="3566160" cy="640080"/>
          </a:xfrm>
          <a:prstGeom prst="rect">
            <a:avLst/>
          </a:prstGeom>
          <a:noFill/>
          <a:ln/>
        </p:spPr>
        <p:txBody>
          <a:bodyPr wrap="square" lIns="0" tIns="0" rIns="0" bIns="0" rtlCol="0" anchor="ctr"/>
          <a:lstStyle/>
          <a:p>
            <a:pPr indent="0" marL="0">
              <a:buNone/>
            </a:pPr>
            <a:r>
              <a:rPr lang="en-US" sz="2200" b="1" dirty="0">
                <a:solidFill>
                  <a:srgbClr val="2B2223"/>
                </a:solidFill>
                <a:latin typeface="Century Schoolbook" pitchFamily="34" charset="0"/>
                <a:ea typeface="Century Schoolbook" pitchFamily="34" charset="-122"/>
                <a:cs typeface="Century Schoolbook" pitchFamily="34" charset="-120"/>
              </a:rPr>
              <a:t>PREDICT</a:t>
            </a:r>
            <a:endParaRPr lang="en-US" sz="2200" dirty="0"/>
          </a:p>
        </p:txBody>
      </p:sp>
      <p:sp>
        <p:nvSpPr>
          <p:cNvPr id="11" name="Text 9"/>
          <p:cNvSpPr/>
          <p:nvPr/>
        </p:nvSpPr>
        <p:spPr>
          <a:xfrm>
            <a:off x="6922008" y="3520440"/>
            <a:ext cx="4343400" cy="1600200"/>
          </a:xfrm>
          <a:prstGeom prst="rect">
            <a:avLst/>
          </a:prstGeom>
          <a:noFill/>
          <a:ln/>
        </p:spPr>
        <p:txBody>
          <a:bodyPr wrap="square" lIns="0" tIns="0" rIns="0" bIns="0" rtlCol="0" anchor="ctr"/>
          <a:lstStyle/>
          <a:p>
            <a:pPr indent="0" marL="0">
              <a:lnSpc>
                <a:spcPct val="105000"/>
              </a:lnSpc>
              <a:buNone/>
            </a:pPr>
            <a:r>
              <a:rPr lang="en-US" sz="1500" dirty="0">
                <a:solidFill>
                  <a:srgbClr val="4A4340"/>
                </a:solidFill>
                <a:latin typeface="Calibri" pitchFamily="34" charset="0"/>
                <a:ea typeface="Calibri" pitchFamily="34" charset="-122"/>
                <a:cs typeface="Calibri" pitchFamily="34" charset="-120"/>
              </a:rPr>
              <a:t>Forecast next year's value out-of-sample, beating a simple baseline. Accuracy is the goal.</a:t>
            </a:r>
            <a:endParaRPr lang="en-US" sz="1500" dirty="0"/>
          </a:p>
        </p:txBody>
      </p:sp>
      <p:sp>
        <p:nvSpPr>
          <p:cNvPr id="12" name="Text 10"/>
          <p:cNvSpPr/>
          <p:nvPr/>
        </p:nvSpPr>
        <p:spPr>
          <a:xfrm>
            <a:off x="566928" y="5623560"/>
            <a:ext cx="11064240" cy="640080"/>
          </a:xfrm>
          <a:prstGeom prst="rect">
            <a:avLst/>
          </a:prstGeom>
          <a:noFill/>
          <a:ln/>
        </p:spPr>
        <p:txBody>
          <a:bodyPr wrap="square" lIns="0" tIns="0" rIns="0" bIns="0" rtlCol="0" anchor="ctr"/>
          <a:lstStyle/>
          <a:p>
            <a:pPr indent="0" marL="0">
              <a:buNone/>
            </a:pPr>
            <a:r>
              <a:rPr lang="en-US" sz="1500" i="1" dirty="0">
                <a:solidFill>
                  <a:srgbClr val="4A1522"/>
                </a:solidFill>
                <a:latin typeface="Calibri" pitchFamily="34" charset="0"/>
                <a:ea typeface="Calibri" pitchFamily="34" charset="-122"/>
                <a:cs typeface="Calibri" pitchFamily="34" charset="-120"/>
              </a:rPr>
              <a:t>We quietly assume that if a rule describes the past well, it will forecast the future well. This thesis stress-tests that assumption.</a:t>
            </a:r>
            <a:endParaRPr lang="en-US" sz="1500" dirty="0"/>
          </a:p>
        </p:txBody>
      </p:sp>
      <p:sp>
        <p:nvSpPr>
          <p:cNvPr id="13" name="Text 11"/>
          <p:cNvSpPr/>
          <p:nvPr/>
        </p:nvSpPr>
        <p:spPr>
          <a:xfrm>
            <a:off x="548640" y="6400800"/>
            <a:ext cx="8229600" cy="274320"/>
          </a:xfrm>
          <a:prstGeom prst="rect">
            <a:avLst/>
          </a:prstGeom>
          <a:noFill/>
          <a:ln/>
        </p:spPr>
        <p:txBody>
          <a:bodyPr wrap="square" lIns="0" tIns="0" rIns="0" bIns="0" rtlCol="0" anchor="ctr"/>
          <a:lstStyle/>
          <a:p>
            <a:pPr algn="l" indent="0" marL="0">
              <a:buNone/>
            </a:pPr>
            <a:r>
              <a:rPr lang="en-US" sz="900" dirty="0">
                <a:solidFill>
                  <a:srgbClr val="8A7F76"/>
                </a:solidFill>
                <a:latin typeface="Calibri" pitchFamily="34" charset="0"/>
                <a:ea typeface="Calibri" pitchFamily="34" charset="-122"/>
                <a:cs typeface="Calibri" pitchFamily="34" charset="-120"/>
              </a:rPr>
              <a:t>Discovery ≠ Prediction  ·  MSc Defense  ·  H. Nogueira</a:t>
            </a:r>
            <a:endParaRPr lang="en-US" sz="900" dirty="0"/>
          </a:p>
        </p:txBody>
      </p:sp>
      <p:sp>
        <p:nvSpPr>
          <p:cNvPr id="14" name="Text 12"/>
          <p:cNvSpPr/>
          <p:nvPr/>
        </p:nvSpPr>
        <p:spPr>
          <a:xfrm>
            <a:off x="10728655" y="6400800"/>
            <a:ext cx="914400" cy="274320"/>
          </a:xfrm>
          <a:prstGeom prst="rect">
            <a:avLst/>
          </a:prstGeom>
          <a:noFill/>
          <a:ln/>
        </p:spPr>
        <p:txBody>
          <a:bodyPr wrap="square" lIns="0" tIns="0" rIns="0" bIns="0" rtlCol="0" anchor="ctr"/>
          <a:lstStyle/>
          <a:p>
            <a:pPr algn="r" indent="0" marL="0">
              <a:buNone/>
            </a:pPr>
            <a:r>
              <a:rPr lang="en-US" sz="900" dirty="0">
                <a:solidFill>
                  <a:srgbClr val="8A7F76"/>
                </a:solidFill>
                <a:latin typeface="Calibri" pitchFamily="34" charset="0"/>
                <a:ea typeface="Calibri" pitchFamily="34" charset="-122"/>
                <a:cs typeface="Calibri" pitchFamily="34" charset="-120"/>
              </a:rPr>
              <a:t>2 / 14</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EFE6"/>
        </a:solidFill>
      </p:bgPr>
    </p:bg>
    <p:spTree>
      <p:nvGrpSpPr>
        <p:cNvPr id="1" name=""/>
        <p:cNvGrpSpPr/>
        <p:nvPr/>
      </p:nvGrpSpPr>
      <p:grpSpPr>
        <a:xfrm>
          <a:off x="0" y="0"/>
          <a:ext cx="0" cy="0"/>
          <a:chOff x="0" y="0"/>
          <a:chExt cx="0" cy="0"/>
        </a:xfrm>
      </p:grpSpPr>
      <p:sp>
        <p:nvSpPr>
          <p:cNvPr id="2" name="Text 0"/>
          <p:cNvSpPr/>
          <p:nvPr/>
        </p:nvSpPr>
        <p:spPr>
          <a:xfrm>
            <a:off x="566928" y="502920"/>
            <a:ext cx="10058400" cy="320040"/>
          </a:xfrm>
          <a:prstGeom prst="rect">
            <a:avLst/>
          </a:prstGeom>
          <a:noFill/>
          <a:ln/>
        </p:spPr>
        <p:txBody>
          <a:bodyPr wrap="square" lIns="0" tIns="0" rIns="0" bIns="0" rtlCol="0" anchor="ctr"/>
          <a:lstStyle/>
          <a:p>
            <a:pPr indent="0" marL="0">
              <a:buNone/>
            </a:pPr>
            <a:r>
              <a:rPr lang="en-US" sz="1200" b="1" spc="300" kern="0" dirty="0">
                <a:solidFill>
                  <a:srgbClr val="C9A227"/>
                </a:solidFill>
                <a:latin typeface="Calibri" pitchFamily="34" charset="0"/>
                <a:ea typeface="Calibri" pitchFamily="34" charset="-122"/>
                <a:cs typeface="Calibri" pitchFamily="34" charset="-120"/>
              </a:rPr>
              <a:t>A CONTROLLED NATURAL EXPERIMENT</a:t>
            </a:r>
            <a:endParaRPr lang="en-US" sz="1200" dirty="0"/>
          </a:p>
        </p:txBody>
      </p:sp>
      <p:sp>
        <p:nvSpPr>
          <p:cNvPr id="3" name="Text 1"/>
          <p:cNvSpPr/>
          <p:nvPr/>
        </p:nvSpPr>
        <p:spPr>
          <a:xfrm>
            <a:off x="548640" y="841248"/>
            <a:ext cx="11064240" cy="1051560"/>
          </a:xfrm>
          <a:prstGeom prst="rect">
            <a:avLst/>
          </a:prstGeom>
          <a:noFill/>
          <a:ln/>
        </p:spPr>
        <p:txBody>
          <a:bodyPr wrap="square" lIns="0" tIns="0" rIns="0" bIns="0" rtlCol="0" anchor="ctr"/>
          <a:lstStyle/>
          <a:p>
            <a:pPr indent="0" marL="0">
              <a:lnSpc>
                <a:spcPct val="98000"/>
              </a:lnSpc>
              <a:buNone/>
            </a:pPr>
            <a:r>
              <a:rPr lang="en-US" sz="3200" b="1" dirty="0">
                <a:solidFill>
                  <a:srgbClr val="2B2223"/>
                </a:solidFill>
                <a:latin typeface="Century Schoolbook" pitchFamily="34" charset="0"/>
                <a:ea typeface="Century Schoolbook" pitchFamily="34" charset="-122"/>
                <a:cs typeface="Century Schoolbook" pitchFamily="34" charset="-120"/>
              </a:rPr>
              <a:t>One pipeline, two opposite histories</a:t>
            </a:r>
            <a:endParaRPr lang="en-US" sz="3200" dirty="0"/>
          </a:p>
        </p:txBody>
      </p:sp>
      <p:graphicFrame>
        <p:nvGraphicFramePr>
          <p:cNvPr id="4" name="Chart 0" descr=""/>
          <p:cNvGraphicFramePr/>
          <p:nvPr/>
        </p:nvGraphicFramePr>
        <p:xfrm>
          <a:off x="566928" y="2240280"/>
          <a:ext cx="7406640" cy="39319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29600" y="2331720"/>
            <a:ext cx="3383280" cy="3749040"/>
          </a:xfrm>
          <a:prstGeom prst="roundRect">
            <a:avLst>
              <a:gd name="adj" fmla="val 3243"/>
            </a:avLst>
          </a:prstGeom>
          <a:solidFill>
            <a:srgbClr val="FFFFFF"/>
          </a:solidFill>
          <a:ln/>
          <a:effectLst>
            <a:outerShdw sx="100000" sy="100000" kx="0" ky="0" algn="bl" rotWithShape="0" blurRad="101600" dist="38100" dir="5400000">
              <a:srgbClr val="000000">
                <a:alpha val="18000"/>
              </a:srgbClr>
            </a:outerShdw>
          </a:effectLst>
        </p:spPr>
      </p:sp>
      <p:sp>
        <p:nvSpPr>
          <p:cNvPr id="6" name="Text 3"/>
          <p:cNvSpPr/>
          <p:nvPr/>
        </p:nvSpPr>
        <p:spPr>
          <a:xfrm>
            <a:off x="8458200" y="2560320"/>
            <a:ext cx="2926080" cy="36576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SAME</a:t>
            </a:r>
            <a:endParaRPr lang="en-US" sz="1200" dirty="0"/>
          </a:p>
        </p:txBody>
      </p:sp>
      <p:sp>
        <p:nvSpPr>
          <p:cNvPr id="7" name="Text 4"/>
          <p:cNvSpPr/>
          <p:nvPr/>
        </p:nvSpPr>
        <p:spPr>
          <a:xfrm>
            <a:off x="8458200" y="2880360"/>
            <a:ext cx="3017520" cy="1097280"/>
          </a:xfrm>
          <a:prstGeom prst="rect">
            <a:avLst/>
          </a:prstGeom>
          <a:noFill/>
          <a:ln/>
        </p:spPr>
        <p:txBody>
          <a:bodyPr wrap="square" lIns="0" tIns="0" rIns="0" bIns="0" rtlCol="0" anchor="ctr"/>
          <a:lstStyle/>
          <a:p>
            <a:pPr indent="0" marL="0">
              <a:lnSpc>
                <a:spcPct val="110000"/>
              </a:lnSpc>
              <a:buNone/>
            </a:pPr>
            <a:r>
              <a:rPr lang="en-US" sz="1400" dirty="0">
                <a:solidFill>
                  <a:srgbClr val="2B2223"/>
                </a:solidFill>
                <a:latin typeface="Calibri" pitchFamily="34" charset="0"/>
                <a:ea typeface="Calibri" pitchFamily="34" charset="-122"/>
                <a:cs typeface="Calibri" pitchFamily="34" charset="-120"/>
              </a:rPr>
              <a:t>• Feature pipeline
</a:t>
            </a:r>
            <a:endParaRPr lang="en-US" sz="1400" dirty="0"/>
          </a:p>
          <a:p>
            <a:pPr indent="0" marL="0">
              <a:lnSpc>
                <a:spcPct val="110000"/>
              </a:lnSpc>
              <a:buNone/>
            </a:pPr>
            <a:r>
              <a:rPr lang="en-US" sz="1400" dirty="0">
                <a:solidFill>
                  <a:srgbClr val="2B2223"/>
                </a:solidFill>
                <a:latin typeface="Calibri" pitchFamily="34" charset="0"/>
                <a:ea typeface="Calibri" pitchFamily="34" charset="-122"/>
                <a:cs typeface="Calibri" pitchFamily="34" charset="-120"/>
              </a:rPr>
              <a:t>• Algorithms
</a:t>
            </a:r>
            <a:endParaRPr lang="en-US" sz="1400" dirty="0"/>
          </a:p>
          <a:p>
            <a:pPr indent="0" marL="0">
              <a:lnSpc>
                <a:spcPct val="110000"/>
              </a:lnSpc>
              <a:buNone/>
            </a:pPr>
            <a:r>
              <a:rPr lang="en-US" sz="1400" dirty="0">
                <a:solidFill>
                  <a:srgbClr val="2B2223"/>
                </a:solidFill>
                <a:latin typeface="Calibri" pitchFamily="34" charset="0"/>
                <a:ea typeface="Calibri" pitchFamily="34" charset="-122"/>
                <a:cs typeface="Calibri" pitchFamily="34" charset="-120"/>
              </a:rPr>
              <a:t>• Validation protocol</a:t>
            </a:r>
            <a:endParaRPr lang="en-US" sz="1400" dirty="0"/>
          </a:p>
        </p:txBody>
      </p:sp>
      <p:sp>
        <p:nvSpPr>
          <p:cNvPr id="8" name="Text 5"/>
          <p:cNvSpPr/>
          <p:nvPr/>
        </p:nvSpPr>
        <p:spPr>
          <a:xfrm>
            <a:off x="8458200" y="4114800"/>
            <a:ext cx="2926080" cy="365760"/>
          </a:xfrm>
          <a:prstGeom prst="rect">
            <a:avLst/>
          </a:prstGeom>
          <a:noFill/>
          <a:ln/>
        </p:spPr>
        <p:txBody>
          <a:bodyPr wrap="square" lIns="0" tIns="0" rIns="0" bIns="0" rtlCol="0" anchor="ctr"/>
          <a:lstStyle/>
          <a:p>
            <a:pPr indent="0" marL="0">
              <a:buNone/>
            </a:pPr>
            <a:r>
              <a:rPr lang="en-US" sz="1200" b="1" spc="200" kern="0" dirty="0">
                <a:solidFill>
                  <a:srgbClr val="4A1522"/>
                </a:solidFill>
                <a:latin typeface="Calibri" pitchFamily="34" charset="0"/>
                <a:ea typeface="Calibri" pitchFamily="34" charset="-122"/>
                <a:cs typeface="Calibri" pitchFamily="34" charset="-120"/>
              </a:rPr>
              <a:t>DIFFERENT</a:t>
            </a:r>
            <a:endParaRPr lang="en-US" sz="1200" dirty="0"/>
          </a:p>
        </p:txBody>
      </p:sp>
      <p:sp>
        <p:nvSpPr>
          <p:cNvPr id="9" name="Text 6"/>
          <p:cNvSpPr/>
          <p:nvPr/>
        </p:nvSpPr>
        <p:spPr>
          <a:xfrm>
            <a:off x="8458200" y="4434840"/>
            <a:ext cx="3017520" cy="822960"/>
          </a:xfrm>
          <a:prstGeom prst="rect">
            <a:avLst/>
          </a:prstGeom>
          <a:noFill/>
          <a:ln/>
        </p:spPr>
        <p:txBody>
          <a:bodyPr wrap="square" lIns="0" tIns="0" rIns="0" bIns="0" rtlCol="0" anchor="ctr"/>
          <a:lstStyle/>
          <a:p>
            <a:pPr indent="0" marL="0">
              <a:lnSpc>
                <a:spcPct val="110000"/>
              </a:lnSpc>
              <a:buNone/>
            </a:pPr>
            <a:r>
              <a:rPr lang="en-US" sz="1400" dirty="0">
                <a:solidFill>
                  <a:srgbClr val="2B2223"/>
                </a:solidFill>
                <a:latin typeface="Calibri" pitchFamily="34" charset="0"/>
                <a:ea typeface="Calibri" pitchFamily="34" charset="-122"/>
                <a:cs typeface="Calibri" pitchFamily="34" charset="-120"/>
              </a:rPr>
              <a:t>Structural history</a:t>
            </a:r>
            <a:endParaRPr lang="en-US" sz="1400" dirty="0"/>
          </a:p>
          <a:p>
            <a:pPr indent="0" marL="0">
              <a:lnSpc>
                <a:spcPct val="110000"/>
              </a:lnSpc>
              <a:buNone/>
            </a:pPr>
            <a:r>
              <a:rPr lang="en-US" sz="1400" dirty="0">
                <a:solidFill>
                  <a:srgbClr val="2B2223"/>
                </a:solidFill>
                <a:latin typeface="Calibri" pitchFamily="34" charset="0"/>
                <a:ea typeface="Calibri" pitchFamily="34" charset="-122"/>
                <a:cs typeface="Calibri" pitchFamily="34" charset="-120"/>
              </a:rPr>
              <a:t>&amp; climate regime</a:t>
            </a:r>
            <a:endParaRPr lang="en-US" sz="1400" dirty="0"/>
          </a:p>
        </p:txBody>
      </p:sp>
      <p:sp>
        <p:nvSpPr>
          <p:cNvPr id="10" name="Text 7"/>
          <p:cNvSpPr/>
          <p:nvPr/>
        </p:nvSpPr>
        <p:spPr>
          <a:xfrm>
            <a:off x="8458200" y="5349240"/>
            <a:ext cx="3017520" cy="640080"/>
          </a:xfrm>
          <a:prstGeom prst="rect">
            <a:avLst/>
          </a:prstGeom>
          <a:noFill/>
          <a:ln/>
        </p:spPr>
        <p:txBody>
          <a:bodyPr wrap="square" lIns="0" tIns="0" rIns="0" bIns="0" rtlCol="0" anchor="ctr"/>
          <a:lstStyle/>
          <a:p>
            <a:pPr indent="0" marL="0">
              <a:buNone/>
            </a:pPr>
            <a:r>
              <a:rPr lang="en-US" sz="1250" i="1" dirty="0">
                <a:solidFill>
                  <a:srgbClr val="4A1522"/>
                </a:solidFill>
                <a:latin typeface="Calibri" pitchFamily="34" charset="0"/>
                <a:ea typeface="Calibri" pitchFamily="34" charset="-122"/>
                <a:cs typeface="Calibri" pitchFamily="34" charset="-120"/>
              </a:rPr>
              <a:t>→ structural confounding is my independent variable</a:t>
            </a:r>
            <a:endParaRPr lang="en-US" sz="1250" dirty="0"/>
          </a:p>
        </p:txBody>
      </p:sp>
      <p:sp>
        <p:nvSpPr>
          <p:cNvPr id="11" name="Text 8"/>
          <p:cNvSpPr/>
          <p:nvPr/>
        </p:nvSpPr>
        <p:spPr>
          <a:xfrm>
            <a:off x="548640" y="6400800"/>
            <a:ext cx="8229600" cy="274320"/>
          </a:xfrm>
          <a:prstGeom prst="rect">
            <a:avLst/>
          </a:prstGeom>
          <a:noFill/>
          <a:ln/>
        </p:spPr>
        <p:txBody>
          <a:bodyPr wrap="square" lIns="0" tIns="0" rIns="0" bIns="0" rtlCol="0" anchor="ctr"/>
          <a:lstStyle/>
          <a:p>
            <a:pPr algn="l" indent="0" marL="0">
              <a:buNone/>
            </a:pPr>
            <a:r>
              <a:rPr lang="en-US" sz="900" dirty="0">
                <a:solidFill>
                  <a:srgbClr val="8A7F76"/>
                </a:solidFill>
                <a:latin typeface="Calibri" pitchFamily="34" charset="0"/>
                <a:ea typeface="Calibri" pitchFamily="34" charset="-122"/>
                <a:cs typeface="Calibri" pitchFamily="34" charset="-120"/>
              </a:rPr>
              <a:t>Discovery ≠ Prediction  ·  MSc Defense  ·  H. Nogueira</a:t>
            </a:r>
            <a:endParaRPr lang="en-US" sz="900" dirty="0"/>
          </a:p>
        </p:txBody>
      </p:sp>
      <p:sp>
        <p:nvSpPr>
          <p:cNvPr id="12" name="Text 9"/>
          <p:cNvSpPr/>
          <p:nvPr/>
        </p:nvSpPr>
        <p:spPr>
          <a:xfrm>
            <a:off x="10728655" y="6400800"/>
            <a:ext cx="914400" cy="274320"/>
          </a:xfrm>
          <a:prstGeom prst="rect">
            <a:avLst/>
          </a:prstGeom>
          <a:noFill/>
          <a:ln/>
        </p:spPr>
        <p:txBody>
          <a:bodyPr wrap="square" lIns="0" tIns="0" rIns="0" bIns="0" rtlCol="0" anchor="ctr"/>
          <a:lstStyle/>
          <a:p>
            <a:pPr algn="r" indent="0" marL="0">
              <a:buNone/>
            </a:pPr>
            <a:r>
              <a:rPr lang="en-US" sz="900" dirty="0">
                <a:solidFill>
                  <a:srgbClr val="8A7F76"/>
                </a:solidFill>
                <a:latin typeface="Calibri" pitchFamily="34" charset="0"/>
                <a:ea typeface="Calibri" pitchFamily="34" charset="-122"/>
                <a:cs typeface="Calibri" pitchFamily="34" charset="-120"/>
              </a:rPr>
              <a:t>3 / 14</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EFE6"/>
        </a:solidFill>
      </p:bgPr>
    </p:bg>
    <p:spTree>
      <p:nvGrpSpPr>
        <p:cNvPr id="1" name=""/>
        <p:cNvGrpSpPr/>
        <p:nvPr/>
      </p:nvGrpSpPr>
      <p:grpSpPr>
        <a:xfrm>
          <a:off x="0" y="0"/>
          <a:ext cx="0" cy="0"/>
          <a:chOff x="0" y="0"/>
          <a:chExt cx="0" cy="0"/>
        </a:xfrm>
      </p:grpSpPr>
      <p:sp>
        <p:nvSpPr>
          <p:cNvPr id="2" name="Text 0"/>
          <p:cNvSpPr/>
          <p:nvPr/>
        </p:nvSpPr>
        <p:spPr>
          <a:xfrm>
            <a:off x="566928" y="502920"/>
            <a:ext cx="10058400" cy="320040"/>
          </a:xfrm>
          <a:prstGeom prst="rect">
            <a:avLst/>
          </a:prstGeom>
          <a:noFill/>
          <a:ln/>
        </p:spPr>
        <p:txBody>
          <a:bodyPr wrap="square" lIns="0" tIns="0" rIns="0" bIns="0" rtlCol="0" anchor="ctr"/>
          <a:lstStyle/>
          <a:p>
            <a:pPr indent="0" marL="0">
              <a:buNone/>
            </a:pPr>
            <a:r>
              <a:rPr lang="en-US" sz="1200" b="1" spc="300" kern="0" dirty="0">
                <a:solidFill>
                  <a:srgbClr val="C9A227"/>
                </a:solidFill>
                <a:latin typeface="Calibri" pitchFamily="34" charset="0"/>
                <a:ea typeface="Calibri" pitchFamily="34" charset="-122"/>
                <a:cs typeface="Calibri" pitchFamily="34" charset="-120"/>
              </a:rPr>
              <a:t>THE METHOD IN ONE IDEA</a:t>
            </a:r>
            <a:endParaRPr lang="en-US" sz="1200" dirty="0"/>
          </a:p>
        </p:txBody>
      </p:sp>
      <p:sp>
        <p:nvSpPr>
          <p:cNvPr id="3" name="Text 1"/>
          <p:cNvSpPr/>
          <p:nvPr/>
        </p:nvSpPr>
        <p:spPr>
          <a:xfrm>
            <a:off x="548640" y="841248"/>
            <a:ext cx="11064240" cy="1051560"/>
          </a:xfrm>
          <a:prstGeom prst="rect">
            <a:avLst/>
          </a:prstGeom>
          <a:noFill/>
          <a:ln/>
        </p:spPr>
        <p:txBody>
          <a:bodyPr wrap="square" lIns="0" tIns="0" rIns="0" bIns="0" rtlCol="0" anchor="ctr"/>
          <a:lstStyle/>
          <a:p>
            <a:pPr indent="0" marL="0">
              <a:lnSpc>
                <a:spcPct val="98000"/>
              </a:lnSpc>
              <a:buNone/>
            </a:pPr>
            <a:r>
              <a:rPr lang="en-US" sz="3200" b="1" dirty="0">
                <a:solidFill>
                  <a:srgbClr val="2B2223"/>
                </a:solidFill>
                <a:latin typeface="Century Schoolbook" pitchFamily="34" charset="0"/>
                <a:ea typeface="Century Schoolbook" pitchFamily="34" charset="-122"/>
                <a:cs typeface="Century Schoolbook" pitchFamily="34" charset="-120"/>
              </a:rPr>
              <a:t>Don't ask what value. Ask whether the distribution moved.</a:t>
            </a:r>
            <a:endParaRPr lang="en-US" sz="3200" dirty="0"/>
          </a:p>
        </p:txBody>
      </p:sp>
      <p:sp>
        <p:nvSpPr>
          <p:cNvPr id="4" name="Text 2"/>
          <p:cNvSpPr/>
          <p:nvPr/>
        </p:nvSpPr>
        <p:spPr>
          <a:xfrm>
            <a:off x="566928" y="2148840"/>
            <a:ext cx="10972800" cy="457200"/>
          </a:xfrm>
          <a:prstGeom prst="rect">
            <a:avLst/>
          </a:prstGeom>
          <a:noFill/>
          <a:ln/>
        </p:spPr>
        <p:txBody>
          <a:bodyPr wrap="square" lIns="0" tIns="0" rIns="0" bIns="0" rtlCol="0" anchor="ctr"/>
          <a:lstStyle/>
          <a:p>
            <a:pPr indent="0" marL="0">
              <a:buNone/>
            </a:pPr>
            <a:r>
              <a:rPr lang="en-US" sz="1700" dirty="0">
                <a:solidFill>
                  <a:srgbClr val="8A7F76"/>
                </a:solidFill>
                <a:latin typeface="Calibri" pitchFamily="34" charset="0"/>
                <a:ea typeface="Calibri" pitchFamily="34" charset="-122"/>
                <a:cs typeface="Calibri" pitchFamily="34" charset="-120"/>
              </a:rPr>
              <a:t>Most rule learners ask:  </a:t>
            </a:r>
            <a:pPr indent="0" marL="0">
              <a:buNone/>
            </a:pPr>
            <a:r>
              <a:rPr lang="en-US" sz="1700" b="1" i="1" dirty="0">
                <a:solidFill>
                  <a:srgbClr val="2B2223"/>
                </a:solidFill>
                <a:latin typeface="Calibri" pitchFamily="34" charset="0"/>
                <a:ea typeface="Calibri" pitchFamily="34" charset="-122"/>
                <a:cs typeface="Calibri" pitchFamily="34" charset="-120"/>
              </a:rPr>
              <a:t>“What number will this year produce?”</a:t>
            </a:r>
            <a:endParaRPr lang="en-US" sz="1700" dirty="0"/>
          </a:p>
        </p:txBody>
      </p:sp>
      <p:sp>
        <p:nvSpPr>
          <p:cNvPr id="5" name="Text 3"/>
          <p:cNvSpPr/>
          <p:nvPr/>
        </p:nvSpPr>
        <p:spPr>
          <a:xfrm>
            <a:off x="566928" y="2606040"/>
            <a:ext cx="11064240" cy="457200"/>
          </a:xfrm>
          <a:prstGeom prst="rect">
            <a:avLst/>
          </a:prstGeom>
          <a:noFill/>
          <a:ln/>
        </p:spPr>
        <p:txBody>
          <a:bodyPr wrap="square" lIns="0" tIns="0" rIns="0" bIns="0" rtlCol="0" anchor="ctr"/>
          <a:lstStyle/>
          <a:p>
            <a:pPr indent="0" marL="0">
              <a:buNone/>
            </a:pPr>
            <a:r>
              <a:rPr lang="en-US" sz="1700" dirty="0">
                <a:solidFill>
                  <a:srgbClr val="8A7F76"/>
                </a:solidFill>
                <a:latin typeface="Calibri" pitchFamily="34" charset="0"/>
                <a:ea typeface="Calibri" pitchFamily="34" charset="-122"/>
                <a:cs typeface="Calibri" pitchFamily="34" charset="-120"/>
              </a:rPr>
              <a:t>CarenR asks instead:  </a:t>
            </a:r>
            <a:pPr indent="0" marL="0">
              <a:buNone/>
            </a:pPr>
            <a:r>
              <a:rPr lang="en-US" sz="1700" b="1" i="1" dirty="0">
                <a:solidFill>
                  <a:srgbClr val="4A1522"/>
                </a:solidFill>
                <a:latin typeface="Calibri" pitchFamily="34" charset="0"/>
                <a:ea typeface="Calibri" pitchFamily="34" charset="-122"/>
                <a:cs typeface="Calibri" pitchFamily="34" charset="-120"/>
              </a:rPr>
              <a:t>“Do these climate conditions shift the whole distribution of production?”</a:t>
            </a:r>
            <a:endParaRPr lang="en-US" sz="1700" dirty="0"/>
          </a:p>
        </p:txBody>
      </p:sp>
      <p:sp>
        <p:nvSpPr>
          <p:cNvPr id="6" name="Shape 4"/>
          <p:cNvSpPr/>
          <p:nvPr/>
        </p:nvSpPr>
        <p:spPr>
          <a:xfrm>
            <a:off x="566928" y="3429000"/>
            <a:ext cx="3474720" cy="2331720"/>
          </a:xfrm>
          <a:prstGeom prst="roundRect">
            <a:avLst>
              <a:gd name="adj" fmla="val 3922"/>
            </a:avLst>
          </a:prstGeom>
          <a:solidFill>
            <a:srgbClr val="FFFFFF"/>
          </a:solidFill>
          <a:ln/>
          <a:effectLst>
            <a:outerShdw sx="100000" sy="100000" kx="0" ky="0" algn="bl" rotWithShape="0" blurRad="101600" dist="38100" dir="5400000">
              <a:srgbClr val="000000">
                <a:alpha val="18000"/>
              </a:srgbClr>
            </a:outerShdw>
          </a:effectLst>
        </p:spPr>
      </p:sp>
      <p:sp>
        <p:nvSpPr>
          <p:cNvPr id="7" name="Shape 5"/>
          <p:cNvSpPr/>
          <p:nvPr/>
        </p:nvSpPr>
        <p:spPr>
          <a:xfrm>
            <a:off x="886968" y="3703320"/>
            <a:ext cx="502920" cy="502920"/>
          </a:xfrm>
          <a:prstGeom prst="ellipse">
            <a:avLst/>
          </a:prstGeom>
          <a:solidFill>
            <a:srgbClr val="4A1522"/>
          </a:solidFill>
          <a:ln/>
        </p:spPr>
      </p:sp>
      <p:sp>
        <p:nvSpPr>
          <p:cNvPr id="8" name="Text 6"/>
          <p:cNvSpPr/>
          <p:nvPr/>
        </p:nvSpPr>
        <p:spPr>
          <a:xfrm>
            <a:off x="886968" y="3703320"/>
            <a:ext cx="502920" cy="502920"/>
          </a:xfrm>
          <a:prstGeom prst="rect">
            <a:avLst/>
          </a:prstGeom>
          <a:noFill/>
          <a:ln/>
        </p:spPr>
        <p:txBody>
          <a:bodyPr wrap="square" lIns="0" tIns="0" rIns="0" bIns="0" rtlCol="0" anchor="ctr"/>
          <a:lstStyle/>
          <a:p>
            <a:pPr algn="ctr" indent="0" marL="0">
              <a:buNone/>
            </a:pPr>
            <a:r>
              <a:rPr lang="en-US" sz="1800" b="1" dirty="0">
                <a:solidFill>
                  <a:srgbClr val="F5EFE6"/>
                </a:solidFill>
                <a:latin typeface="Century Schoolbook" pitchFamily="34" charset="0"/>
                <a:ea typeface="Century Schoolbook" pitchFamily="34" charset="-122"/>
                <a:cs typeface="Century Schoolbook" pitchFamily="34" charset="-120"/>
              </a:rPr>
              <a:t>1</a:t>
            </a:r>
            <a:endParaRPr lang="en-US" sz="1800" dirty="0"/>
          </a:p>
        </p:txBody>
      </p:sp>
      <p:sp>
        <p:nvSpPr>
          <p:cNvPr id="9" name="Text 7"/>
          <p:cNvSpPr/>
          <p:nvPr/>
        </p:nvSpPr>
        <p:spPr>
          <a:xfrm>
            <a:off x="1527048" y="3703320"/>
            <a:ext cx="2377440" cy="548640"/>
          </a:xfrm>
          <a:prstGeom prst="rect">
            <a:avLst/>
          </a:prstGeom>
          <a:noFill/>
          <a:ln/>
        </p:spPr>
        <p:txBody>
          <a:bodyPr wrap="square" lIns="0" tIns="0" rIns="0" bIns="0" rtlCol="0" anchor="ctr"/>
          <a:lstStyle/>
          <a:p>
            <a:pPr indent="0" marL="0">
              <a:buNone/>
            </a:pPr>
            <a:r>
              <a:rPr lang="en-US" sz="1550" b="1" dirty="0">
                <a:solidFill>
                  <a:srgbClr val="2B2223"/>
                </a:solidFill>
                <a:latin typeface="Century Schoolbook" pitchFamily="34" charset="0"/>
                <a:ea typeface="Century Schoolbook" pitchFamily="34" charset="-122"/>
                <a:cs typeface="Century Schoolbook" pitchFamily="34" charset="-120"/>
              </a:rPr>
              <a:t>Kolmogorov–Smirnov test</a:t>
            </a:r>
            <a:endParaRPr lang="en-US" sz="1550" dirty="0"/>
          </a:p>
        </p:txBody>
      </p:sp>
      <p:sp>
        <p:nvSpPr>
          <p:cNvPr id="10" name="Text 8"/>
          <p:cNvSpPr/>
          <p:nvPr/>
        </p:nvSpPr>
        <p:spPr>
          <a:xfrm>
            <a:off x="896112" y="4389120"/>
            <a:ext cx="2834640" cy="1280160"/>
          </a:xfrm>
          <a:prstGeom prst="rect">
            <a:avLst/>
          </a:prstGeom>
          <a:noFill/>
          <a:ln/>
        </p:spPr>
        <p:txBody>
          <a:bodyPr wrap="square" lIns="0" tIns="0" rIns="0" bIns="0" rtlCol="0" anchor="ctr"/>
          <a:lstStyle/>
          <a:p>
            <a:pPr indent="0" marL="0">
              <a:lnSpc>
                <a:spcPct val="105000"/>
              </a:lnSpc>
              <a:buNone/>
            </a:pPr>
            <a:r>
              <a:rPr lang="en-US" sz="1300" dirty="0">
                <a:solidFill>
                  <a:srgbClr val="4A4340"/>
                </a:solidFill>
                <a:latin typeface="Calibri" pitchFamily="34" charset="0"/>
                <a:ea typeface="Calibri" pitchFamily="34" charset="-122"/>
                <a:cs typeface="Calibri" pitchFamily="34" charset="-120"/>
              </a:rPr>
              <a:t>Non-parametric shift detection — no normality assumed. Ideal for ~80 noisy years.</a:t>
            </a:r>
            <a:endParaRPr lang="en-US" sz="1300" dirty="0"/>
          </a:p>
        </p:txBody>
      </p:sp>
      <p:sp>
        <p:nvSpPr>
          <p:cNvPr id="11" name="Shape 9"/>
          <p:cNvSpPr/>
          <p:nvPr/>
        </p:nvSpPr>
        <p:spPr>
          <a:xfrm>
            <a:off x="4279392" y="3429000"/>
            <a:ext cx="3474720" cy="2331720"/>
          </a:xfrm>
          <a:prstGeom prst="roundRect">
            <a:avLst>
              <a:gd name="adj" fmla="val 3922"/>
            </a:avLst>
          </a:prstGeom>
          <a:solidFill>
            <a:srgbClr val="FFFFFF"/>
          </a:solidFill>
          <a:ln/>
          <a:effectLst>
            <a:outerShdw sx="100000" sy="100000" kx="0" ky="0" algn="bl" rotWithShape="0" blurRad="101600" dist="38100" dir="5400000">
              <a:srgbClr val="000000">
                <a:alpha val="18000"/>
              </a:srgbClr>
            </a:outerShdw>
          </a:effectLst>
        </p:spPr>
      </p:sp>
      <p:sp>
        <p:nvSpPr>
          <p:cNvPr id="12" name="Shape 10"/>
          <p:cNvSpPr/>
          <p:nvPr/>
        </p:nvSpPr>
        <p:spPr>
          <a:xfrm>
            <a:off x="4599432" y="3703320"/>
            <a:ext cx="502920" cy="502920"/>
          </a:xfrm>
          <a:prstGeom prst="ellipse">
            <a:avLst/>
          </a:prstGeom>
          <a:solidFill>
            <a:srgbClr val="4A1522"/>
          </a:solidFill>
          <a:ln/>
        </p:spPr>
      </p:sp>
      <p:sp>
        <p:nvSpPr>
          <p:cNvPr id="13" name="Text 11"/>
          <p:cNvSpPr/>
          <p:nvPr/>
        </p:nvSpPr>
        <p:spPr>
          <a:xfrm>
            <a:off x="4599432" y="3703320"/>
            <a:ext cx="502920" cy="502920"/>
          </a:xfrm>
          <a:prstGeom prst="rect">
            <a:avLst/>
          </a:prstGeom>
          <a:noFill/>
          <a:ln/>
        </p:spPr>
        <p:txBody>
          <a:bodyPr wrap="square" lIns="0" tIns="0" rIns="0" bIns="0" rtlCol="0" anchor="ctr"/>
          <a:lstStyle/>
          <a:p>
            <a:pPr algn="ctr" indent="0" marL="0">
              <a:buNone/>
            </a:pPr>
            <a:r>
              <a:rPr lang="en-US" sz="1800" b="1" dirty="0">
                <a:solidFill>
                  <a:srgbClr val="F5EFE6"/>
                </a:solidFill>
                <a:latin typeface="Century Schoolbook" pitchFamily="34" charset="0"/>
                <a:ea typeface="Century Schoolbook" pitchFamily="34" charset="-122"/>
                <a:cs typeface="Century Schoolbook" pitchFamily="34" charset="-120"/>
              </a:rPr>
              <a:t>2</a:t>
            </a:r>
            <a:endParaRPr lang="en-US" sz="1800" dirty="0"/>
          </a:p>
        </p:txBody>
      </p:sp>
      <p:sp>
        <p:nvSpPr>
          <p:cNvPr id="14" name="Text 12"/>
          <p:cNvSpPr/>
          <p:nvPr/>
        </p:nvSpPr>
        <p:spPr>
          <a:xfrm>
            <a:off x="5239512" y="3703320"/>
            <a:ext cx="2377440" cy="548640"/>
          </a:xfrm>
          <a:prstGeom prst="rect">
            <a:avLst/>
          </a:prstGeom>
          <a:noFill/>
          <a:ln/>
        </p:spPr>
        <p:txBody>
          <a:bodyPr wrap="square" lIns="0" tIns="0" rIns="0" bIns="0" rtlCol="0" anchor="ctr"/>
          <a:lstStyle/>
          <a:p>
            <a:pPr indent="0" marL="0">
              <a:buNone/>
            </a:pPr>
            <a:r>
              <a:rPr lang="en-US" sz="1550" b="1" dirty="0">
                <a:solidFill>
                  <a:srgbClr val="2B2223"/>
                </a:solidFill>
                <a:latin typeface="Century Schoolbook" pitchFamily="34" charset="0"/>
                <a:ea typeface="Century Schoolbook" pitchFamily="34" charset="-122"/>
                <a:cs typeface="Century Schoolbook" pitchFamily="34" charset="-120"/>
              </a:rPr>
              <a:t>Distributional shift</a:t>
            </a:r>
            <a:endParaRPr lang="en-US" sz="1550" dirty="0"/>
          </a:p>
        </p:txBody>
      </p:sp>
      <p:sp>
        <p:nvSpPr>
          <p:cNvPr id="15" name="Text 13"/>
          <p:cNvSpPr/>
          <p:nvPr/>
        </p:nvSpPr>
        <p:spPr>
          <a:xfrm>
            <a:off x="4608576" y="4389120"/>
            <a:ext cx="2834640" cy="1280160"/>
          </a:xfrm>
          <a:prstGeom prst="rect">
            <a:avLst/>
          </a:prstGeom>
          <a:noFill/>
          <a:ln/>
        </p:spPr>
        <p:txBody>
          <a:bodyPr wrap="square" lIns="0" tIns="0" rIns="0" bIns="0" rtlCol="0" anchor="ctr"/>
          <a:lstStyle/>
          <a:p>
            <a:pPr indent="0" marL="0">
              <a:lnSpc>
                <a:spcPct val="105000"/>
              </a:lnSpc>
              <a:buNone/>
            </a:pPr>
            <a:r>
              <a:rPr lang="en-US" sz="1300" dirty="0">
                <a:solidFill>
                  <a:srgbClr val="4A4340"/>
                </a:solidFill>
                <a:latin typeface="Calibri" pitchFamily="34" charset="0"/>
                <a:ea typeface="Calibri" pitchFamily="34" charset="-122"/>
                <a:cs typeface="Calibri" pitchFamily="34" charset="-120"/>
              </a:rPr>
              <a:t>Detects signals that classification &amp; regression systematically miss.</a:t>
            </a:r>
            <a:endParaRPr lang="en-US" sz="1300" dirty="0"/>
          </a:p>
        </p:txBody>
      </p:sp>
      <p:sp>
        <p:nvSpPr>
          <p:cNvPr id="16" name="Shape 14"/>
          <p:cNvSpPr/>
          <p:nvPr/>
        </p:nvSpPr>
        <p:spPr>
          <a:xfrm>
            <a:off x="7991856" y="3429000"/>
            <a:ext cx="3474720" cy="2331720"/>
          </a:xfrm>
          <a:prstGeom prst="roundRect">
            <a:avLst>
              <a:gd name="adj" fmla="val 3922"/>
            </a:avLst>
          </a:prstGeom>
          <a:solidFill>
            <a:srgbClr val="FFFFFF"/>
          </a:solidFill>
          <a:ln/>
          <a:effectLst>
            <a:outerShdw sx="100000" sy="100000" kx="0" ky="0" algn="bl" rotWithShape="0" blurRad="101600" dist="38100" dir="5400000">
              <a:srgbClr val="000000">
                <a:alpha val="18000"/>
              </a:srgbClr>
            </a:outerShdw>
          </a:effectLst>
        </p:spPr>
      </p:sp>
      <p:sp>
        <p:nvSpPr>
          <p:cNvPr id="17" name="Shape 15"/>
          <p:cNvSpPr/>
          <p:nvPr/>
        </p:nvSpPr>
        <p:spPr>
          <a:xfrm>
            <a:off x="8311896" y="3703320"/>
            <a:ext cx="502920" cy="502920"/>
          </a:xfrm>
          <a:prstGeom prst="ellipse">
            <a:avLst/>
          </a:prstGeom>
          <a:solidFill>
            <a:srgbClr val="4A1522"/>
          </a:solidFill>
          <a:ln/>
        </p:spPr>
      </p:sp>
      <p:sp>
        <p:nvSpPr>
          <p:cNvPr id="18" name="Text 16"/>
          <p:cNvSpPr/>
          <p:nvPr/>
        </p:nvSpPr>
        <p:spPr>
          <a:xfrm>
            <a:off x="8311896" y="3703320"/>
            <a:ext cx="502920" cy="502920"/>
          </a:xfrm>
          <a:prstGeom prst="rect">
            <a:avLst/>
          </a:prstGeom>
          <a:noFill/>
          <a:ln/>
        </p:spPr>
        <p:txBody>
          <a:bodyPr wrap="square" lIns="0" tIns="0" rIns="0" bIns="0" rtlCol="0" anchor="ctr"/>
          <a:lstStyle/>
          <a:p>
            <a:pPr algn="ctr" indent="0" marL="0">
              <a:buNone/>
            </a:pPr>
            <a:r>
              <a:rPr lang="en-US" sz="1800" b="1" dirty="0">
                <a:solidFill>
                  <a:srgbClr val="F5EFE6"/>
                </a:solidFill>
                <a:latin typeface="Century Schoolbook" pitchFamily="34" charset="0"/>
                <a:ea typeface="Century Schoolbook" pitchFamily="34" charset="-122"/>
                <a:cs typeface="Century Schoolbook" pitchFamily="34" charset="-120"/>
              </a:rPr>
              <a:t>3</a:t>
            </a:r>
            <a:endParaRPr lang="en-US" sz="1800" dirty="0"/>
          </a:p>
        </p:txBody>
      </p:sp>
      <p:sp>
        <p:nvSpPr>
          <p:cNvPr id="19" name="Text 17"/>
          <p:cNvSpPr/>
          <p:nvPr/>
        </p:nvSpPr>
        <p:spPr>
          <a:xfrm>
            <a:off x="8951976" y="3703320"/>
            <a:ext cx="2377440" cy="548640"/>
          </a:xfrm>
          <a:prstGeom prst="rect">
            <a:avLst/>
          </a:prstGeom>
          <a:noFill/>
          <a:ln/>
        </p:spPr>
        <p:txBody>
          <a:bodyPr wrap="square" lIns="0" tIns="0" rIns="0" bIns="0" rtlCol="0" anchor="ctr"/>
          <a:lstStyle/>
          <a:p>
            <a:pPr indent="0" marL="0">
              <a:buNone/>
            </a:pPr>
            <a:r>
              <a:rPr lang="en-US" sz="1550" b="1" dirty="0">
                <a:solidFill>
                  <a:srgbClr val="2B2223"/>
                </a:solidFill>
                <a:latin typeface="Century Schoolbook" pitchFamily="34" charset="0"/>
                <a:ea typeface="Century Schoolbook" pitchFamily="34" charset="-122"/>
                <a:cs typeface="Century Schoolbook" pitchFamily="34" charset="-120"/>
              </a:rPr>
              <a:t>Abstain to median</a:t>
            </a:r>
            <a:endParaRPr lang="en-US" sz="1550" dirty="0"/>
          </a:p>
        </p:txBody>
      </p:sp>
      <p:sp>
        <p:nvSpPr>
          <p:cNvPr id="20" name="Text 18"/>
          <p:cNvSpPr/>
          <p:nvPr/>
        </p:nvSpPr>
        <p:spPr>
          <a:xfrm>
            <a:off x="8321040" y="4389120"/>
            <a:ext cx="2834640" cy="1280160"/>
          </a:xfrm>
          <a:prstGeom prst="rect">
            <a:avLst/>
          </a:prstGeom>
          <a:noFill/>
          <a:ln/>
        </p:spPr>
        <p:txBody>
          <a:bodyPr wrap="square" lIns="0" tIns="0" rIns="0" bIns="0" rtlCol="0" anchor="ctr"/>
          <a:lstStyle/>
          <a:p>
            <a:pPr indent="0" marL="0">
              <a:lnSpc>
                <a:spcPct val="105000"/>
              </a:lnSpc>
              <a:buNone/>
            </a:pPr>
            <a:r>
              <a:rPr lang="en-US" sz="1300" dirty="0">
                <a:solidFill>
                  <a:srgbClr val="4A4340"/>
                </a:solidFill>
                <a:latin typeface="Calibri" pitchFamily="34" charset="0"/>
                <a:ea typeface="Calibri" pitchFamily="34" charset="-122"/>
                <a:cs typeface="Calibri" pitchFamily="34" charset="-120"/>
              </a:rPr>
              <a:t>When no rule confidently fires, predict the median — it can only lose by acting.</a:t>
            </a:r>
            <a:endParaRPr lang="en-US" sz="1300" dirty="0"/>
          </a:p>
        </p:txBody>
      </p:sp>
      <p:sp>
        <p:nvSpPr>
          <p:cNvPr id="21" name="Text 19"/>
          <p:cNvSpPr/>
          <p:nvPr/>
        </p:nvSpPr>
        <p:spPr>
          <a:xfrm>
            <a:off x="548640" y="6400800"/>
            <a:ext cx="8229600" cy="274320"/>
          </a:xfrm>
          <a:prstGeom prst="rect">
            <a:avLst/>
          </a:prstGeom>
          <a:noFill/>
          <a:ln/>
        </p:spPr>
        <p:txBody>
          <a:bodyPr wrap="square" lIns="0" tIns="0" rIns="0" bIns="0" rtlCol="0" anchor="ctr"/>
          <a:lstStyle/>
          <a:p>
            <a:pPr algn="l" indent="0" marL="0">
              <a:buNone/>
            </a:pPr>
            <a:r>
              <a:rPr lang="en-US" sz="900" dirty="0">
                <a:solidFill>
                  <a:srgbClr val="8A7F76"/>
                </a:solidFill>
                <a:latin typeface="Calibri" pitchFamily="34" charset="0"/>
                <a:ea typeface="Calibri" pitchFamily="34" charset="-122"/>
                <a:cs typeface="Calibri" pitchFamily="34" charset="-120"/>
              </a:rPr>
              <a:t>Discovery ≠ Prediction  ·  MSc Defense  ·  H. Nogueira</a:t>
            </a:r>
            <a:endParaRPr lang="en-US" sz="900" dirty="0"/>
          </a:p>
        </p:txBody>
      </p:sp>
      <p:sp>
        <p:nvSpPr>
          <p:cNvPr id="22" name="Text 20"/>
          <p:cNvSpPr/>
          <p:nvPr/>
        </p:nvSpPr>
        <p:spPr>
          <a:xfrm>
            <a:off x="10728655" y="6400800"/>
            <a:ext cx="914400" cy="274320"/>
          </a:xfrm>
          <a:prstGeom prst="rect">
            <a:avLst/>
          </a:prstGeom>
          <a:noFill/>
          <a:ln/>
        </p:spPr>
        <p:txBody>
          <a:bodyPr wrap="square" lIns="0" tIns="0" rIns="0" bIns="0" rtlCol="0" anchor="ctr"/>
          <a:lstStyle/>
          <a:p>
            <a:pPr algn="r" indent="0" marL="0">
              <a:buNone/>
            </a:pPr>
            <a:r>
              <a:rPr lang="en-US" sz="900" dirty="0">
                <a:solidFill>
                  <a:srgbClr val="8A7F76"/>
                </a:solidFill>
                <a:latin typeface="Calibri" pitchFamily="34" charset="0"/>
                <a:ea typeface="Calibri" pitchFamily="34" charset="-122"/>
                <a:cs typeface="Calibri" pitchFamily="34" charset="-120"/>
              </a:rPr>
              <a:t>4 / 14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EFE6"/>
        </a:solidFill>
      </p:bgPr>
    </p:bg>
    <p:spTree>
      <p:nvGrpSpPr>
        <p:cNvPr id="1" name=""/>
        <p:cNvGrpSpPr/>
        <p:nvPr/>
      </p:nvGrpSpPr>
      <p:grpSpPr>
        <a:xfrm>
          <a:off x="0" y="0"/>
          <a:ext cx="0" cy="0"/>
          <a:chOff x="0" y="0"/>
          <a:chExt cx="0" cy="0"/>
        </a:xfrm>
      </p:grpSpPr>
      <p:sp>
        <p:nvSpPr>
          <p:cNvPr id="2" name="Text 0"/>
          <p:cNvSpPr/>
          <p:nvPr/>
        </p:nvSpPr>
        <p:spPr>
          <a:xfrm>
            <a:off x="566928" y="502920"/>
            <a:ext cx="10058400" cy="320040"/>
          </a:xfrm>
          <a:prstGeom prst="rect">
            <a:avLst/>
          </a:prstGeom>
          <a:noFill/>
          <a:ln/>
        </p:spPr>
        <p:txBody>
          <a:bodyPr wrap="square" lIns="0" tIns="0" rIns="0" bIns="0" rtlCol="0" anchor="ctr"/>
          <a:lstStyle/>
          <a:p>
            <a:pPr indent="0" marL="0">
              <a:buNone/>
            </a:pPr>
            <a:r>
              <a:rPr lang="en-US" sz="1200" b="1" spc="300" kern="0" dirty="0">
                <a:solidFill>
                  <a:srgbClr val="C97B2C"/>
                </a:solidFill>
                <a:latin typeface="Calibri" pitchFamily="34" charset="0"/>
                <a:ea typeface="Calibri" pitchFamily="34" charset="-122"/>
                <a:cs typeface="Calibri" pitchFamily="34" charset="-120"/>
              </a:rPr>
              <a:t>ACT I — THE PROMISE</a:t>
            </a:r>
            <a:endParaRPr lang="en-US" sz="1200" dirty="0"/>
          </a:p>
        </p:txBody>
      </p:sp>
      <p:sp>
        <p:nvSpPr>
          <p:cNvPr id="3" name="Text 1"/>
          <p:cNvSpPr/>
          <p:nvPr/>
        </p:nvSpPr>
        <p:spPr>
          <a:xfrm>
            <a:off x="548640" y="841248"/>
            <a:ext cx="11064240" cy="1051560"/>
          </a:xfrm>
          <a:prstGeom prst="rect">
            <a:avLst/>
          </a:prstGeom>
          <a:noFill/>
          <a:ln/>
        </p:spPr>
        <p:txBody>
          <a:bodyPr wrap="square" lIns="0" tIns="0" rIns="0" bIns="0" rtlCol="0" anchor="ctr"/>
          <a:lstStyle/>
          <a:p>
            <a:pPr indent="0" marL="0">
              <a:lnSpc>
                <a:spcPct val="98000"/>
              </a:lnSpc>
              <a:buNone/>
            </a:pPr>
            <a:r>
              <a:rPr lang="en-US" sz="3200" b="1" dirty="0">
                <a:solidFill>
                  <a:srgbClr val="2B2223"/>
                </a:solidFill>
                <a:latin typeface="Century Schoolbook" pitchFamily="34" charset="0"/>
                <a:ea typeface="Century Schoolbook" pitchFamily="34" charset="-122"/>
                <a:cs typeface="Century Schoolbook" pitchFamily="34" charset="-120"/>
              </a:rPr>
              <a:t>Discovery works — and the signal is real</a:t>
            </a:r>
            <a:endParaRPr lang="en-US" sz="3200" dirty="0"/>
          </a:p>
        </p:txBody>
      </p:sp>
      <p:sp>
        <p:nvSpPr>
          <p:cNvPr id="4" name="Shape 2"/>
          <p:cNvSpPr/>
          <p:nvPr/>
        </p:nvSpPr>
        <p:spPr>
          <a:xfrm>
            <a:off x="566928" y="2331720"/>
            <a:ext cx="2514600" cy="1828800"/>
          </a:xfrm>
          <a:prstGeom prst="roundRect">
            <a:avLst>
              <a:gd name="adj" fmla="val 6000"/>
            </a:avLst>
          </a:prstGeom>
          <a:solidFill>
            <a:srgbClr val="FFFFFF"/>
          </a:solidFill>
          <a:ln/>
          <a:effectLst>
            <a:outerShdw sx="100000" sy="100000" kx="0" ky="0" algn="bl" rotWithShape="0" blurRad="101600" dist="38100" dir="5400000">
              <a:srgbClr val="000000">
                <a:alpha val="18000"/>
              </a:srgbClr>
            </a:outerShdw>
          </a:effectLst>
        </p:spPr>
      </p:sp>
      <p:sp>
        <p:nvSpPr>
          <p:cNvPr id="5" name="Text 3"/>
          <p:cNvSpPr/>
          <p:nvPr/>
        </p:nvSpPr>
        <p:spPr>
          <a:xfrm>
            <a:off x="566928" y="2514600"/>
            <a:ext cx="2514600" cy="914400"/>
          </a:xfrm>
          <a:prstGeom prst="rect">
            <a:avLst/>
          </a:prstGeom>
          <a:noFill/>
          <a:ln/>
        </p:spPr>
        <p:txBody>
          <a:bodyPr wrap="square" lIns="0" tIns="0" rIns="0" bIns="0" rtlCol="0" anchor="ctr"/>
          <a:lstStyle/>
          <a:p>
            <a:pPr algn="ctr" indent="0" marL="0">
              <a:buNone/>
            </a:pPr>
            <a:r>
              <a:rPr lang="en-US" sz="4600" b="1" dirty="0">
                <a:solidFill>
                  <a:srgbClr val="C97B2C"/>
                </a:solidFill>
                <a:latin typeface="Century Schoolbook" pitchFamily="34" charset="0"/>
                <a:ea typeface="Century Schoolbook" pitchFamily="34" charset="-122"/>
                <a:cs typeface="Century Schoolbook" pitchFamily="34" charset="-120"/>
              </a:rPr>
              <a:t>48</a:t>
            </a:r>
            <a:endParaRPr lang="en-US" sz="4600" dirty="0"/>
          </a:p>
        </p:txBody>
      </p:sp>
      <p:sp>
        <p:nvSpPr>
          <p:cNvPr id="6" name="Text 4"/>
          <p:cNvSpPr/>
          <p:nvPr/>
        </p:nvSpPr>
        <p:spPr>
          <a:xfrm>
            <a:off x="749808" y="3474720"/>
            <a:ext cx="2148840" cy="594360"/>
          </a:xfrm>
          <a:prstGeom prst="rect">
            <a:avLst/>
          </a:prstGeom>
          <a:noFill/>
          <a:ln/>
        </p:spPr>
        <p:txBody>
          <a:bodyPr wrap="square" lIns="0" tIns="0" rIns="0" bIns="0" rtlCol="0" anchor="ctr"/>
          <a:lstStyle/>
          <a:p>
            <a:pPr algn="ctr" indent="0" marL="0">
              <a:lnSpc>
                <a:spcPct val="100000"/>
              </a:lnSpc>
              <a:buNone/>
            </a:pPr>
            <a:r>
              <a:rPr lang="en-US" sz="1250" dirty="0">
                <a:solidFill>
                  <a:srgbClr val="2B2223"/>
                </a:solidFill>
                <a:latin typeface="Calibri" pitchFamily="34" charset="0"/>
                <a:ea typeface="Calibri" pitchFamily="34" charset="-122"/>
                <a:cs typeface="Calibri" pitchFamily="34" charset="-120"/>
              </a:rPr>
              <a:t>validated rules</a:t>
            </a:r>
            <a:endParaRPr lang="en-US" sz="1250" dirty="0"/>
          </a:p>
          <a:p>
            <a:pPr algn="ctr" indent="0" marL="0">
              <a:lnSpc>
                <a:spcPct val="100000"/>
              </a:lnSpc>
              <a:buNone/>
            </a:pPr>
            <a:r>
              <a:rPr lang="en-US" sz="1250" dirty="0">
                <a:solidFill>
                  <a:srgbClr val="2B2223"/>
                </a:solidFill>
                <a:latin typeface="Calibri" pitchFamily="34" charset="0"/>
                <a:ea typeface="Calibri" pitchFamily="34" charset="-122"/>
                <a:cs typeface="Calibri" pitchFamily="34" charset="-120"/>
              </a:rPr>
              <a:t>(Douro)</a:t>
            </a:r>
            <a:endParaRPr lang="en-US" sz="1250" dirty="0"/>
          </a:p>
        </p:txBody>
      </p:sp>
      <p:sp>
        <p:nvSpPr>
          <p:cNvPr id="7" name="Shape 5"/>
          <p:cNvSpPr/>
          <p:nvPr/>
        </p:nvSpPr>
        <p:spPr>
          <a:xfrm>
            <a:off x="3246120" y="2331720"/>
            <a:ext cx="2514600" cy="1828800"/>
          </a:xfrm>
          <a:prstGeom prst="roundRect">
            <a:avLst>
              <a:gd name="adj" fmla="val 6000"/>
            </a:avLst>
          </a:prstGeom>
          <a:solidFill>
            <a:srgbClr val="FFFFFF"/>
          </a:solidFill>
          <a:ln/>
          <a:effectLst>
            <a:outerShdw sx="100000" sy="100000" kx="0" ky="0" algn="bl" rotWithShape="0" blurRad="101600" dist="38100" dir="5400000">
              <a:srgbClr val="000000">
                <a:alpha val="18000"/>
              </a:srgbClr>
            </a:outerShdw>
          </a:effectLst>
        </p:spPr>
      </p:sp>
      <p:sp>
        <p:nvSpPr>
          <p:cNvPr id="8" name="Text 6"/>
          <p:cNvSpPr/>
          <p:nvPr/>
        </p:nvSpPr>
        <p:spPr>
          <a:xfrm>
            <a:off x="3246120" y="2514600"/>
            <a:ext cx="2514600" cy="914400"/>
          </a:xfrm>
          <a:prstGeom prst="rect">
            <a:avLst/>
          </a:prstGeom>
          <a:noFill/>
          <a:ln/>
        </p:spPr>
        <p:txBody>
          <a:bodyPr wrap="square" lIns="0" tIns="0" rIns="0" bIns="0" rtlCol="0" anchor="ctr"/>
          <a:lstStyle/>
          <a:p>
            <a:pPr algn="ctr" indent="0" marL="0">
              <a:buNone/>
            </a:pPr>
            <a:r>
              <a:rPr lang="en-US" sz="4600" b="1" dirty="0">
                <a:solidFill>
                  <a:srgbClr val="3E7C59"/>
                </a:solidFill>
                <a:latin typeface="Century Schoolbook" pitchFamily="34" charset="0"/>
                <a:ea typeface="Century Schoolbook" pitchFamily="34" charset="-122"/>
                <a:cs typeface="Century Schoolbook" pitchFamily="34" charset="-120"/>
              </a:rPr>
              <a:t>20</a:t>
            </a:r>
            <a:endParaRPr lang="en-US" sz="4600" dirty="0"/>
          </a:p>
        </p:txBody>
      </p:sp>
      <p:sp>
        <p:nvSpPr>
          <p:cNvPr id="9" name="Text 7"/>
          <p:cNvSpPr/>
          <p:nvPr/>
        </p:nvSpPr>
        <p:spPr>
          <a:xfrm>
            <a:off x="3429000" y="3474720"/>
            <a:ext cx="2148840" cy="594360"/>
          </a:xfrm>
          <a:prstGeom prst="rect">
            <a:avLst/>
          </a:prstGeom>
          <a:noFill/>
          <a:ln/>
        </p:spPr>
        <p:txBody>
          <a:bodyPr wrap="square" lIns="0" tIns="0" rIns="0" bIns="0" rtlCol="0" anchor="ctr"/>
          <a:lstStyle/>
          <a:p>
            <a:pPr algn="ctr" indent="0" marL="0">
              <a:lnSpc>
                <a:spcPct val="100000"/>
              </a:lnSpc>
              <a:buNone/>
            </a:pPr>
            <a:r>
              <a:rPr lang="en-US" sz="1250" dirty="0">
                <a:solidFill>
                  <a:srgbClr val="2B2223"/>
                </a:solidFill>
                <a:latin typeface="Calibri" pitchFamily="34" charset="0"/>
                <a:ea typeface="Calibri" pitchFamily="34" charset="-122"/>
                <a:cs typeface="Calibri" pitchFamily="34" charset="-120"/>
              </a:rPr>
              <a:t>validated rules</a:t>
            </a:r>
            <a:endParaRPr lang="en-US" sz="1250" dirty="0"/>
          </a:p>
          <a:p>
            <a:pPr algn="ctr" indent="0" marL="0">
              <a:lnSpc>
                <a:spcPct val="100000"/>
              </a:lnSpc>
              <a:buNone/>
            </a:pPr>
            <a:r>
              <a:rPr lang="en-US" sz="1250" dirty="0">
                <a:solidFill>
                  <a:srgbClr val="2B2223"/>
                </a:solidFill>
                <a:latin typeface="Calibri" pitchFamily="34" charset="0"/>
                <a:ea typeface="Calibri" pitchFamily="34" charset="-122"/>
                <a:cs typeface="Calibri" pitchFamily="34" charset="-120"/>
              </a:rPr>
              <a:t>(Vinho Verde)</a:t>
            </a:r>
            <a:endParaRPr lang="en-US" sz="1250" dirty="0"/>
          </a:p>
        </p:txBody>
      </p:sp>
      <p:sp>
        <p:nvSpPr>
          <p:cNvPr id="10" name="Shape 8"/>
          <p:cNvSpPr/>
          <p:nvPr/>
        </p:nvSpPr>
        <p:spPr>
          <a:xfrm>
            <a:off x="5925312" y="2331720"/>
            <a:ext cx="2514600" cy="1828800"/>
          </a:xfrm>
          <a:prstGeom prst="roundRect">
            <a:avLst>
              <a:gd name="adj" fmla="val 6000"/>
            </a:avLst>
          </a:prstGeom>
          <a:solidFill>
            <a:srgbClr val="FFFFFF"/>
          </a:solidFill>
          <a:ln/>
          <a:effectLst>
            <a:outerShdw sx="100000" sy="100000" kx="0" ky="0" algn="bl" rotWithShape="0" blurRad="101600" dist="38100" dir="5400000">
              <a:srgbClr val="000000">
                <a:alpha val="18000"/>
              </a:srgbClr>
            </a:outerShdw>
          </a:effectLst>
        </p:spPr>
      </p:sp>
      <p:sp>
        <p:nvSpPr>
          <p:cNvPr id="11" name="Text 9"/>
          <p:cNvSpPr/>
          <p:nvPr/>
        </p:nvSpPr>
        <p:spPr>
          <a:xfrm>
            <a:off x="5925312" y="2514600"/>
            <a:ext cx="2514600" cy="914400"/>
          </a:xfrm>
          <a:prstGeom prst="rect">
            <a:avLst/>
          </a:prstGeom>
          <a:noFill/>
          <a:ln/>
        </p:spPr>
        <p:txBody>
          <a:bodyPr wrap="square" lIns="0" tIns="0" rIns="0" bIns="0" rtlCol="0" anchor="ctr"/>
          <a:lstStyle/>
          <a:p>
            <a:pPr algn="ctr" indent="0" marL="0">
              <a:buNone/>
            </a:pPr>
            <a:r>
              <a:rPr lang="en-US" sz="4600" b="1" dirty="0">
                <a:solidFill>
                  <a:srgbClr val="4A1522"/>
                </a:solidFill>
                <a:latin typeface="Century Schoolbook" pitchFamily="34" charset="0"/>
                <a:ea typeface="Century Schoolbook" pitchFamily="34" charset="-122"/>
                <a:cs typeface="Century Schoolbook" pitchFamily="34" charset="-120"/>
              </a:rPr>
              <a:t>3</a:t>
            </a:r>
            <a:endParaRPr lang="en-US" sz="4600" dirty="0"/>
          </a:p>
        </p:txBody>
      </p:sp>
      <p:sp>
        <p:nvSpPr>
          <p:cNvPr id="12" name="Text 10"/>
          <p:cNvSpPr/>
          <p:nvPr/>
        </p:nvSpPr>
        <p:spPr>
          <a:xfrm>
            <a:off x="6108192" y="3474720"/>
            <a:ext cx="2148840" cy="594360"/>
          </a:xfrm>
          <a:prstGeom prst="rect">
            <a:avLst/>
          </a:prstGeom>
          <a:noFill/>
          <a:ln/>
        </p:spPr>
        <p:txBody>
          <a:bodyPr wrap="square" lIns="0" tIns="0" rIns="0" bIns="0" rtlCol="0" anchor="ctr"/>
          <a:lstStyle/>
          <a:p>
            <a:pPr algn="ctr" indent="0" marL="0">
              <a:lnSpc>
                <a:spcPct val="100000"/>
              </a:lnSpc>
              <a:buNone/>
            </a:pPr>
            <a:r>
              <a:rPr lang="en-US" sz="1250" dirty="0">
                <a:solidFill>
                  <a:srgbClr val="2B2223"/>
                </a:solidFill>
                <a:latin typeface="Calibri" pitchFamily="34" charset="0"/>
                <a:ea typeface="Calibri" pitchFamily="34" charset="-122"/>
                <a:cs typeface="Calibri" pitchFamily="34" charset="-120"/>
              </a:rPr>
              <a:t>algorithms</a:t>
            </a:r>
            <a:endParaRPr lang="en-US" sz="1250" dirty="0"/>
          </a:p>
          <a:p>
            <a:pPr algn="ctr" indent="0" marL="0">
              <a:lnSpc>
                <a:spcPct val="100000"/>
              </a:lnSpc>
              <a:buNone/>
            </a:pPr>
            <a:r>
              <a:rPr lang="en-US" sz="1250" dirty="0">
                <a:solidFill>
                  <a:srgbClr val="2B2223"/>
                </a:solidFill>
                <a:latin typeface="Calibri" pitchFamily="34" charset="0"/>
                <a:ea typeface="Calibri" pitchFamily="34" charset="-122"/>
                <a:cs typeface="Calibri" pitchFamily="34" charset="-120"/>
              </a:rPr>
              <a:t>converge</a:t>
            </a:r>
            <a:endParaRPr lang="en-US" sz="1250" dirty="0"/>
          </a:p>
        </p:txBody>
      </p:sp>
      <p:sp>
        <p:nvSpPr>
          <p:cNvPr id="13" name="Shape 11"/>
          <p:cNvSpPr/>
          <p:nvPr/>
        </p:nvSpPr>
        <p:spPr>
          <a:xfrm>
            <a:off x="8604504" y="2331720"/>
            <a:ext cx="2514600" cy="1828800"/>
          </a:xfrm>
          <a:prstGeom prst="roundRect">
            <a:avLst>
              <a:gd name="adj" fmla="val 6000"/>
            </a:avLst>
          </a:prstGeom>
          <a:solidFill>
            <a:srgbClr val="FFFFFF"/>
          </a:solidFill>
          <a:ln/>
          <a:effectLst>
            <a:outerShdw sx="100000" sy="100000" kx="0" ky="0" algn="bl" rotWithShape="0" blurRad="101600" dist="38100" dir="5400000">
              <a:srgbClr val="000000">
                <a:alpha val="18000"/>
              </a:srgbClr>
            </a:outerShdw>
          </a:effectLst>
        </p:spPr>
      </p:sp>
      <p:sp>
        <p:nvSpPr>
          <p:cNvPr id="14" name="Text 12"/>
          <p:cNvSpPr/>
          <p:nvPr/>
        </p:nvSpPr>
        <p:spPr>
          <a:xfrm>
            <a:off x="8604504" y="2514600"/>
            <a:ext cx="2514600" cy="914400"/>
          </a:xfrm>
          <a:prstGeom prst="rect">
            <a:avLst/>
          </a:prstGeom>
          <a:noFill/>
          <a:ln/>
        </p:spPr>
        <p:txBody>
          <a:bodyPr wrap="square" lIns="0" tIns="0" rIns="0" bIns="0" rtlCol="0" anchor="ctr"/>
          <a:lstStyle/>
          <a:p>
            <a:pPr algn="ctr" indent="0" marL="0">
              <a:buNone/>
            </a:pPr>
            <a:r>
              <a:rPr lang="en-US" sz="4600" b="1" dirty="0">
                <a:solidFill>
                  <a:srgbClr val="C9A227"/>
                </a:solidFill>
                <a:latin typeface="Century Schoolbook" pitchFamily="34" charset="0"/>
                <a:ea typeface="Century Schoolbook" pitchFamily="34" charset="-122"/>
                <a:cs typeface="Century Schoolbook" pitchFamily="34" charset="-120"/>
              </a:rPr>
              <a:t>54%</a:t>
            </a:r>
            <a:endParaRPr lang="en-US" sz="4600" dirty="0"/>
          </a:p>
        </p:txBody>
      </p:sp>
      <p:sp>
        <p:nvSpPr>
          <p:cNvPr id="15" name="Text 13"/>
          <p:cNvSpPr/>
          <p:nvPr/>
        </p:nvSpPr>
        <p:spPr>
          <a:xfrm>
            <a:off x="8787384" y="3474720"/>
            <a:ext cx="2148840" cy="594360"/>
          </a:xfrm>
          <a:prstGeom prst="rect">
            <a:avLst/>
          </a:prstGeom>
          <a:noFill/>
          <a:ln/>
        </p:spPr>
        <p:txBody>
          <a:bodyPr wrap="square" lIns="0" tIns="0" rIns="0" bIns="0" rtlCol="0" anchor="ctr"/>
          <a:lstStyle/>
          <a:p>
            <a:pPr algn="ctr" indent="0" marL="0">
              <a:lnSpc>
                <a:spcPct val="100000"/>
              </a:lnSpc>
              <a:buNone/>
            </a:pPr>
            <a:r>
              <a:rPr lang="en-US" sz="1250" dirty="0">
                <a:solidFill>
                  <a:srgbClr val="2B2223"/>
                </a:solidFill>
                <a:latin typeface="Calibri" pitchFamily="34" charset="0"/>
                <a:ea typeface="Calibri" pitchFamily="34" charset="-122"/>
                <a:cs typeface="Calibri" pitchFamily="34" charset="-120"/>
              </a:rPr>
              <a:t>of Douro rules:</a:t>
            </a:r>
            <a:endParaRPr lang="en-US" sz="1250" dirty="0"/>
          </a:p>
          <a:p>
            <a:pPr algn="ctr" indent="0" marL="0">
              <a:lnSpc>
                <a:spcPct val="100000"/>
              </a:lnSpc>
              <a:buNone/>
            </a:pPr>
            <a:r>
              <a:rPr lang="en-US" sz="1250" dirty="0">
                <a:solidFill>
                  <a:srgbClr val="2B2223"/>
                </a:solidFill>
                <a:latin typeface="Calibri" pitchFamily="34" charset="0"/>
                <a:ea typeface="Calibri" pitchFamily="34" charset="-122"/>
                <a:cs typeface="Calibri" pitchFamily="34" charset="-120"/>
              </a:rPr>
              <a:t>harvest soil water</a:t>
            </a:r>
            <a:endParaRPr lang="en-US" sz="1250" dirty="0"/>
          </a:p>
        </p:txBody>
      </p:sp>
      <p:sp>
        <p:nvSpPr>
          <p:cNvPr id="16" name="Shape 14"/>
          <p:cNvSpPr/>
          <p:nvPr/>
        </p:nvSpPr>
        <p:spPr>
          <a:xfrm>
            <a:off x="566928" y="4434840"/>
            <a:ext cx="11064240" cy="1508760"/>
          </a:xfrm>
          <a:prstGeom prst="roundRect">
            <a:avLst>
              <a:gd name="adj" fmla="val 6061"/>
            </a:avLst>
          </a:prstGeom>
          <a:solidFill>
            <a:srgbClr val="FFFFFF"/>
          </a:solidFill>
          <a:ln/>
          <a:effectLst>
            <a:outerShdw sx="100000" sy="100000" kx="0" ky="0" algn="bl" rotWithShape="0" blurRad="101600" dist="38100" dir="5400000">
              <a:srgbClr val="000000">
                <a:alpha val="18000"/>
              </a:srgbClr>
            </a:outerShdw>
          </a:effectLst>
        </p:spPr>
      </p:sp>
      <p:sp>
        <p:nvSpPr>
          <p:cNvPr id="17" name="Text 15"/>
          <p:cNvSpPr/>
          <p:nvPr/>
        </p:nvSpPr>
        <p:spPr>
          <a:xfrm>
            <a:off x="868680" y="4617720"/>
            <a:ext cx="2194560" cy="457200"/>
          </a:xfrm>
          <a:prstGeom prst="rect">
            <a:avLst/>
          </a:prstGeom>
          <a:noFill/>
          <a:ln/>
        </p:spPr>
        <p:txBody>
          <a:bodyPr wrap="square" lIns="0" tIns="0" rIns="0" bIns="0" rtlCol="0" anchor="ctr"/>
          <a:lstStyle/>
          <a:p>
            <a:pPr indent="0" marL="0">
              <a:buNone/>
            </a:pPr>
            <a:r>
              <a:rPr lang="en-US" sz="1600" b="1" dirty="0">
                <a:solidFill>
                  <a:srgbClr val="4A1522"/>
                </a:solidFill>
                <a:latin typeface="Century Schoolbook" pitchFamily="34" charset="0"/>
                <a:ea typeface="Century Schoolbook" pitchFamily="34" charset="-122"/>
                <a:cs typeface="Century Schoolbook" pitchFamily="34" charset="-120"/>
              </a:rPr>
              <a:t>LOESS test</a:t>
            </a:r>
            <a:endParaRPr lang="en-US" sz="1600" dirty="0"/>
          </a:p>
        </p:txBody>
      </p:sp>
      <p:sp>
        <p:nvSpPr>
          <p:cNvPr id="18" name="Text 16"/>
          <p:cNvSpPr/>
          <p:nvPr/>
        </p:nvSpPr>
        <p:spPr>
          <a:xfrm>
            <a:off x="3063240" y="4617720"/>
            <a:ext cx="8321040" cy="1143000"/>
          </a:xfrm>
          <a:prstGeom prst="rect">
            <a:avLst/>
          </a:prstGeom>
          <a:noFill/>
          <a:ln/>
        </p:spPr>
        <p:txBody>
          <a:bodyPr wrap="square" lIns="0" tIns="0" rIns="0" bIns="0" rtlCol="0" anchor="ctr"/>
          <a:lstStyle/>
          <a:p>
            <a:pPr indent="0" marL="0">
              <a:lnSpc>
                <a:spcPct val="105000"/>
              </a:lnSpc>
              <a:buNone/>
            </a:pPr>
            <a:r>
              <a:rPr lang="en-US" sz="1400" dirty="0">
                <a:solidFill>
                  <a:srgbClr val="4A4340"/>
                </a:solidFill>
                <a:latin typeface="Calibri" pitchFamily="34" charset="0"/>
                <a:ea typeface="Calibri" pitchFamily="34" charset="-122"/>
                <a:cs typeface="Calibri" pitchFamily="34" charset="-120"/>
              </a:rPr>
              <a:t>Douro features keep their correlation after era-trend removal — genuine within-era signal, not era membership. </a:t>
            </a:r>
            <a:pPr indent="0" marL="0">
              <a:lnSpc>
                <a:spcPct val="105000"/>
              </a:lnSpc>
              <a:buNone/>
            </a:pPr>
            <a:r>
              <a:rPr lang="en-US" sz="1400" i="1" dirty="0">
                <a:solidFill>
                  <a:srgbClr val="4A1522"/>
                </a:solidFill>
                <a:latin typeface="Calibri" pitchFamily="34" charset="0"/>
                <a:ea typeface="Calibri" pitchFamily="34" charset="-122"/>
                <a:cs typeface="Calibri" pitchFamily="34" charset="-120"/>
              </a:rPr>
              <a:t>(In Vinho Verde the dominant features collapse to ~15% — a clue we'll return to.)</a:t>
            </a:r>
            <a:endParaRPr lang="en-US" sz="1400" dirty="0"/>
          </a:p>
        </p:txBody>
      </p:sp>
      <p:sp>
        <p:nvSpPr>
          <p:cNvPr id="19" name="Text 17"/>
          <p:cNvSpPr/>
          <p:nvPr/>
        </p:nvSpPr>
        <p:spPr>
          <a:xfrm>
            <a:off x="548640" y="6400800"/>
            <a:ext cx="8229600" cy="274320"/>
          </a:xfrm>
          <a:prstGeom prst="rect">
            <a:avLst/>
          </a:prstGeom>
          <a:noFill/>
          <a:ln/>
        </p:spPr>
        <p:txBody>
          <a:bodyPr wrap="square" lIns="0" tIns="0" rIns="0" bIns="0" rtlCol="0" anchor="ctr"/>
          <a:lstStyle/>
          <a:p>
            <a:pPr algn="l" indent="0" marL="0">
              <a:buNone/>
            </a:pPr>
            <a:r>
              <a:rPr lang="en-US" sz="900" dirty="0">
                <a:solidFill>
                  <a:srgbClr val="8A7F76"/>
                </a:solidFill>
                <a:latin typeface="Calibri" pitchFamily="34" charset="0"/>
                <a:ea typeface="Calibri" pitchFamily="34" charset="-122"/>
                <a:cs typeface="Calibri" pitchFamily="34" charset="-120"/>
              </a:rPr>
              <a:t>Discovery ≠ Prediction  ·  MSc Defense  ·  H. Nogueira</a:t>
            </a:r>
            <a:endParaRPr lang="en-US" sz="900" dirty="0"/>
          </a:p>
        </p:txBody>
      </p:sp>
      <p:sp>
        <p:nvSpPr>
          <p:cNvPr id="20" name="Text 18"/>
          <p:cNvSpPr/>
          <p:nvPr/>
        </p:nvSpPr>
        <p:spPr>
          <a:xfrm>
            <a:off x="10728655" y="6400800"/>
            <a:ext cx="914400" cy="274320"/>
          </a:xfrm>
          <a:prstGeom prst="rect">
            <a:avLst/>
          </a:prstGeom>
          <a:noFill/>
          <a:ln/>
        </p:spPr>
        <p:txBody>
          <a:bodyPr wrap="square" lIns="0" tIns="0" rIns="0" bIns="0" rtlCol="0" anchor="ctr"/>
          <a:lstStyle/>
          <a:p>
            <a:pPr algn="r" indent="0" marL="0">
              <a:buNone/>
            </a:pPr>
            <a:r>
              <a:rPr lang="en-US" sz="900" dirty="0">
                <a:solidFill>
                  <a:srgbClr val="8A7F76"/>
                </a:solidFill>
                <a:latin typeface="Calibri" pitchFamily="34" charset="0"/>
                <a:ea typeface="Calibri" pitchFamily="34" charset="-122"/>
                <a:cs typeface="Calibri" pitchFamily="34" charset="-120"/>
              </a:rPr>
              <a:t>5 / 14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EFE6"/>
        </a:solidFill>
      </p:bgPr>
    </p:bg>
    <p:spTree>
      <p:nvGrpSpPr>
        <p:cNvPr id="1" name=""/>
        <p:cNvGrpSpPr/>
        <p:nvPr/>
      </p:nvGrpSpPr>
      <p:grpSpPr>
        <a:xfrm>
          <a:off x="0" y="0"/>
          <a:ext cx="0" cy="0"/>
          <a:chOff x="0" y="0"/>
          <a:chExt cx="0" cy="0"/>
        </a:xfrm>
      </p:grpSpPr>
      <p:sp>
        <p:nvSpPr>
          <p:cNvPr id="2" name="Text 0"/>
          <p:cNvSpPr/>
          <p:nvPr/>
        </p:nvSpPr>
        <p:spPr>
          <a:xfrm>
            <a:off x="566928" y="502920"/>
            <a:ext cx="10058400" cy="320040"/>
          </a:xfrm>
          <a:prstGeom prst="rect">
            <a:avLst/>
          </a:prstGeom>
          <a:noFill/>
          <a:ln/>
        </p:spPr>
        <p:txBody>
          <a:bodyPr wrap="square" lIns="0" tIns="0" rIns="0" bIns="0" rtlCol="0" anchor="ctr"/>
          <a:lstStyle/>
          <a:p>
            <a:pPr indent="0" marL="0">
              <a:buNone/>
            </a:pPr>
            <a:r>
              <a:rPr lang="en-US" sz="1200" b="1" spc="300" kern="0" dirty="0">
                <a:solidFill>
                  <a:srgbClr val="C9A227"/>
                </a:solidFill>
                <a:latin typeface="Calibri" pitchFamily="34" charset="0"/>
                <a:ea typeface="Calibri" pitchFamily="34" charset="-122"/>
                <a:cs typeface="Calibri" pitchFamily="34" charset="-120"/>
              </a:rPr>
              <a:t>ACT II — THE TEST</a:t>
            </a:r>
            <a:endParaRPr lang="en-US" sz="1200" dirty="0"/>
          </a:p>
        </p:txBody>
      </p:sp>
      <p:sp>
        <p:nvSpPr>
          <p:cNvPr id="3" name="Text 1"/>
          <p:cNvSpPr/>
          <p:nvPr/>
        </p:nvSpPr>
        <p:spPr>
          <a:xfrm>
            <a:off x="548640" y="841248"/>
            <a:ext cx="11064240" cy="1051560"/>
          </a:xfrm>
          <a:prstGeom prst="rect">
            <a:avLst/>
          </a:prstGeom>
          <a:noFill/>
          <a:ln/>
        </p:spPr>
        <p:txBody>
          <a:bodyPr wrap="square" lIns="0" tIns="0" rIns="0" bIns="0" rtlCol="0" anchor="ctr"/>
          <a:lstStyle/>
          <a:p>
            <a:pPr indent="0" marL="0">
              <a:lnSpc>
                <a:spcPct val="98000"/>
              </a:lnSpc>
              <a:buNone/>
            </a:pPr>
            <a:r>
              <a:rPr lang="en-US" sz="3200" b="1" dirty="0">
                <a:solidFill>
                  <a:srgbClr val="2B2223"/>
                </a:solidFill>
                <a:latin typeface="Century Schoolbook" pitchFamily="34" charset="0"/>
                <a:ea typeface="Century Schoolbook" pitchFamily="34" charset="-122"/>
                <a:cs typeface="Century Schoolbook" pitchFamily="34" charset="-120"/>
              </a:rPr>
              <a:t>The hardest fair test I could design</a:t>
            </a:r>
            <a:endParaRPr lang="en-US" sz="3200" dirty="0"/>
          </a:p>
        </p:txBody>
      </p:sp>
      <p:sp>
        <p:nvSpPr>
          <p:cNvPr id="4" name="Shape 2"/>
          <p:cNvSpPr/>
          <p:nvPr/>
        </p:nvSpPr>
        <p:spPr>
          <a:xfrm>
            <a:off x="566928" y="2286000"/>
            <a:ext cx="11064240" cy="1115568"/>
          </a:xfrm>
          <a:prstGeom prst="roundRect">
            <a:avLst>
              <a:gd name="adj" fmla="val 8197"/>
            </a:avLst>
          </a:prstGeom>
          <a:solidFill>
            <a:srgbClr val="FFFFFF"/>
          </a:solidFill>
          <a:ln/>
          <a:effectLst>
            <a:outerShdw sx="100000" sy="100000" kx="0" ky="0" algn="bl" rotWithShape="0" blurRad="101600" dist="38100" dir="5400000">
              <a:srgbClr val="000000">
                <a:alpha val="18000"/>
              </a:srgbClr>
            </a:outerShdw>
          </a:effectLst>
        </p:spPr>
      </p:sp>
      <p:sp>
        <p:nvSpPr>
          <p:cNvPr id="5" name="Shape 3"/>
          <p:cNvSpPr/>
          <p:nvPr/>
        </p:nvSpPr>
        <p:spPr>
          <a:xfrm>
            <a:off x="914400" y="2569464"/>
            <a:ext cx="548640" cy="548640"/>
          </a:xfrm>
          <a:prstGeom prst="ellipse">
            <a:avLst/>
          </a:prstGeom>
          <a:solidFill>
            <a:srgbClr val="4A1522"/>
          </a:solidFill>
          <a:ln/>
        </p:spPr>
      </p:sp>
      <p:sp>
        <p:nvSpPr>
          <p:cNvPr id="6" name="Text 4"/>
          <p:cNvSpPr/>
          <p:nvPr/>
        </p:nvSpPr>
        <p:spPr>
          <a:xfrm>
            <a:off x="914400" y="2569464"/>
            <a:ext cx="548640" cy="548640"/>
          </a:xfrm>
          <a:prstGeom prst="rect">
            <a:avLst/>
          </a:prstGeom>
          <a:noFill/>
          <a:ln/>
        </p:spPr>
        <p:txBody>
          <a:bodyPr wrap="square" lIns="0" tIns="0" rIns="0" bIns="0" rtlCol="0" anchor="ctr"/>
          <a:lstStyle/>
          <a:p>
            <a:pPr algn="ctr" indent="0" marL="0">
              <a:buNone/>
            </a:pPr>
            <a:r>
              <a:rPr lang="en-US" sz="2000" b="1" dirty="0">
                <a:solidFill>
                  <a:srgbClr val="F5EFE6"/>
                </a:solidFill>
                <a:latin typeface="Century Schoolbook" pitchFamily="34" charset="0"/>
                <a:ea typeface="Century Schoolbook" pitchFamily="34" charset="-122"/>
                <a:cs typeface="Century Schoolbook" pitchFamily="34" charset="-120"/>
              </a:rPr>
              <a:t>1</a:t>
            </a:r>
            <a:endParaRPr lang="en-US" sz="2000" dirty="0"/>
          </a:p>
        </p:txBody>
      </p:sp>
      <p:sp>
        <p:nvSpPr>
          <p:cNvPr id="7" name="Text 5"/>
          <p:cNvSpPr/>
          <p:nvPr/>
        </p:nvSpPr>
        <p:spPr>
          <a:xfrm>
            <a:off x="1691640" y="2395728"/>
            <a:ext cx="3017520" cy="914400"/>
          </a:xfrm>
          <a:prstGeom prst="rect">
            <a:avLst/>
          </a:prstGeom>
          <a:noFill/>
          <a:ln/>
        </p:spPr>
        <p:txBody>
          <a:bodyPr wrap="square" lIns="0" tIns="0" rIns="0" bIns="0" rtlCol="0" anchor="ctr"/>
          <a:lstStyle/>
          <a:p>
            <a:pPr indent="0" marL="0">
              <a:buNone/>
            </a:pPr>
            <a:r>
              <a:rPr lang="en-US" sz="1900" b="1" dirty="0">
                <a:solidFill>
                  <a:srgbClr val="2B2223"/>
                </a:solidFill>
                <a:latin typeface="Century Schoolbook" pitchFamily="34" charset="0"/>
                <a:ea typeface="Century Schoolbook" pitchFamily="34" charset="-122"/>
                <a:cs typeface="Century Schoolbook" pitchFamily="34" charset="-120"/>
              </a:rPr>
              <a:t>Walk-forward</a:t>
            </a:r>
            <a:endParaRPr lang="en-US" sz="1900" dirty="0"/>
          </a:p>
        </p:txBody>
      </p:sp>
      <p:sp>
        <p:nvSpPr>
          <p:cNvPr id="8" name="Text 6"/>
          <p:cNvSpPr/>
          <p:nvPr/>
        </p:nvSpPr>
        <p:spPr>
          <a:xfrm>
            <a:off x="4754880" y="2395728"/>
            <a:ext cx="6583680" cy="914400"/>
          </a:xfrm>
          <a:prstGeom prst="rect">
            <a:avLst/>
          </a:prstGeom>
          <a:noFill/>
          <a:ln/>
        </p:spPr>
        <p:txBody>
          <a:bodyPr wrap="square" lIns="0" tIns="0" rIns="0" bIns="0" rtlCol="0" anchor="ctr"/>
          <a:lstStyle/>
          <a:p>
            <a:pPr indent="0" marL="0">
              <a:lnSpc>
                <a:spcPct val="103000"/>
              </a:lnSpc>
              <a:buNone/>
            </a:pPr>
            <a:r>
              <a:rPr lang="en-US" sz="1450" dirty="0">
                <a:solidFill>
                  <a:srgbClr val="4A4340"/>
                </a:solidFill>
                <a:latin typeface="Calibri" pitchFamily="34" charset="0"/>
                <a:ea typeface="Calibri" pitchFamily="34" charset="-122"/>
                <a:cs typeface="Calibri" pitchFamily="34" charset="-120"/>
              </a:rPr>
              <a:t>Train on the past, predict forward, step ahead. No random cross-validation — that leaks the future.</a:t>
            </a:r>
            <a:endParaRPr lang="en-US" sz="1450" dirty="0"/>
          </a:p>
        </p:txBody>
      </p:sp>
      <p:sp>
        <p:nvSpPr>
          <p:cNvPr id="9" name="Shape 7"/>
          <p:cNvSpPr/>
          <p:nvPr/>
        </p:nvSpPr>
        <p:spPr>
          <a:xfrm>
            <a:off x="566928" y="3584448"/>
            <a:ext cx="11064240" cy="1115568"/>
          </a:xfrm>
          <a:prstGeom prst="roundRect">
            <a:avLst>
              <a:gd name="adj" fmla="val 8197"/>
            </a:avLst>
          </a:prstGeom>
          <a:solidFill>
            <a:srgbClr val="FFFFFF"/>
          </a:solidFill>
          <a:ln/>
          <a:effectLst>
            <a:outerShdw sx="100000" sy="100000" kx="0" ky="0" algn="bl" rotWithShape="0" blurRad="101600" dist="38100" dir="5400000">
              <a:srgbClr val="000000">
                <a:alpha val="18000"/>
              </a:srgbClr>
            </a:outerShdw>
          </a:effectLst>
        </p:spPr>
      </p:sp>
      <p:sp>
        <p:nvSpPr>
          <p:cNvPr id="10" name="Shape 8"/>
          <p:cNvSpPr/>
          <p:nvPr/>
        </p:nvSpPr>
        <p:spPr>
          <a:xfrm>
            <a:off x="914400" y="3867912"/>
            <a:ext cx="548640" cy="548640"/>
          </a:xfrm>
          <a:prstGeom prst="ellipse">
            <a:avLst/>
          </a:prstGeom>
          <a:solidFill>
            <a:srgbClr val="4A1522"/>
          </a:solidFill>
          <a:ln/>
        </p:spPr>
      </p:sp>
      <p:sp>
        <p:nvSpPr>
          <p:cNvPr id="11" name="Text 9"/>
          <p:cNvSpPr/>
          <p:nvPr/>
        </p:nvSpPr>
        <p:spPr>
          <a:xfrm>
            <a:off x="914400" y="3867912"/>
            <a:ext cx="548640" cy="548640"/>
          </a:xfrm>
          <a:prstGeom prst="rect">
            <a:avLst/>
          </a:prstGeom>
          <a:noFill/>
          <a:ln/>
        </p:spPr>
        <p:txBody>
          <a:bodyPr wrap="square" lIns="0" tIns="0" rIns="0" bIns="0" rtlCol="0" anchor="ctr"/>
          <a:lstStyle/>
          <a:p>
            <a:pPr algn="ctr" indent="0" marL="0">
              <a:buNone/>
            </a:pPr>
            <a:r>
              <a:rPr lang="en-US" sz="2000" b="1" dirty="0">
                <a:solidFill>
                  <a:srgbClr val="F5EFE6"/>
                </a:solidFill>
                <a:latin typeface="Century Schoolbook" pitchFamily="34" charset="0"/>
                <a:ea typeface="Century Schoolbook" pitchFamily="34" charset="-122"/>
                <a:cs typeface="Century Schoolbook" pitchFamily="34" charset="-120"/>
              </a:rPr>
              <a:t>2</a:t>
            </a:r>
            <a:endParaRPr lang="en-US" sz="2000" dirty="0"/>
          </a:p>
        </p:txBody>
      </p:sp>
      <p:sp>
        <p:nvSpPr>
          <p:cNvPr id="12" name="Text 10"/>
          <p:cNvSpPr/>
          <p:nvPr/>
        </p:nvSpPr>
        <p:spPr>
          <a:xfrm>
            <a:off x="1691640" y="3694176"/>
            <a:ext cx="3017520" cy="914400"/>
          </a:xfrm>
          <a:prstGeom prst="rect">
            <a:avLst/>
          </a:prstGeom>
          <a:noFill/>
          <a:ln/>
        </p:spPr>
        <p:txBody>
          <a:bodyPr wrap="square" lIns="0" tIns="0" rIns="0" bIns="0" rtlCol="0" anchor="ctr"/>
          <a:lstStyle/>
          <a:p>
            <a:pPr indent="0" marL="0">
              <a:buNone/>
            </a:pPr>
            <a:r>
              <a:rPr lang="en-US" sz="1900" b="1" dirty="0">
                <a:solidFill>
                  <a:srgbClr val="2B2223"/>
                </a:solidFill>
                <a:latin typeface="Century Schoolbook" pitchFamily="34" charset="0"/>
                <a:ea typeface="Century Schoolbook" pitchFamily="34" charset="-122"/>
                <a:cs typeface="Century Schoolbook" pitchFamily="34" charset="-120"/>
              </a:rPr>
              <a:t>No leakage</a:t>
            </a:r>
            <a:endParaRPr lang="en-US" sz="1900" dirty="0"/>
          </a:p>
        </p:txBody>
      </p:sp>
      <p:sp>
        <p:nvSpPr>
          <p:cNvPr id="13" name="Text 11"/>
          <p:cNvSpPr/>
          <p:nvPr/>
        </p:nvSpPr>
        <p:spPr>
          <a:xfrm>
            <a:off x="4754880" y="3694176"/>
            <a:ext cx="6583680" cy="914400"/>
          </a:xfrm>
          <a:prstGeom prst="rect">
            <a:avLst/>
          </a:prstGeom>
          <a:noFill/>
          <a:ln/>
        </p:spPr>
        <p:txBody>
          <a:bodyPr wrap="square" lIns="0" tIns="0" rIns="0" bIns="0" rtlCol="0" anchor="ctr"/>
          <a:lstStyle/>
          <a:p>
            <a:pPr indent="0" marL="0">
              <a:lnSpc>
                <a:spcPct val="103000"/>
              </a:lnSpc>
              <a:buNone/>
            </a:pPr>
            <a:r>
              <a:rPr lang="en-US" sz="1450" dirty="0">
                <a:solidFill>
                  <a:srgbClr val="4A4340"/>
                </a:solidFill>
                <a:latin typeface="Calibri" pitchFamily="34" charset="0"/>
                <a:ea typeface="Calibri" pitchFamily="34" charset="-122"/>
                <a:cs typeface="Calibri" pitchFamily="34" charset="-120"/>
              </a:rPr>
              <a:t>Detrending, discretisation, feature selection — all re-done inside each training fold.</a:t>
            </a:r>
            <a:endParaRPr lang="en-US" sz="1450" dirty="0"/>
          </a:p>
        </p:txBody>
      </p:sp>
      <p:sp>
        <p:nvSpPr>
          <p:cNvPr id="14" name="Shape 12"/>
          <p:cNvSpPr/>
          <p:nvPr/>
        </p:nvSpPr>
        <p:spPr>
          <a:xfrm>
            <a:off x="566928" y="4882896"/>
            <a:ext cx="11064240" cy="1115568"/>
          </a:xfrm>
          <a:prstGeom prst="roundRect">
            <a:avLst>
              <a:gd name="adj" fmla="val 8197"/>
            </a:avLst>
          </a:prstGeom>
          <a:solidFill>
            <a:srgbClr val="FFFFFF"/>
          </a:solidFill>
          <a:ln/>
          <a:effectLst>
            <a:outerShdw sx="100000" sy="100000" kx="0" ky="0" algn="bl" rotWithShape="0" blurRad="101600" dist="38100" dir="5400000">
              <a:srgbClr val="000000">
                <a:alpha val="18000"/>
              </a:srgbClr>
            </a:outerShdw>
          </a:effectLst>
        </p:spPr>
      </p:sp>
      <p:sp>
        <p:nvSpPr>
          <p:cNvPr id="15" name="Shape 13"/>
          <p:cNvSpPr/>
          <p:nvPr/>
        </p:nvSpPr>
        <p:spPr>
          <a:xfrm>
            <a:off x="914400" y="5166360"/>
            <a:ext cx="548640" cy="548640"/>
          </a:xfrm>
          <a:prstGeom prst="ellipse">
            <a:avLst/>
          </a:prstGeom>
          <a:solidFill>
            <a:srgbClr val="4A1522"/>
          </a:solidFill>
          <a:ln/>
        </p:spPr>
      </p:sp>
      <p:sp>
        <p:nvSpPr>
          <p:cNvPr id="16" name="Text 14"/>
          <p:cNvSpPr/>
          <p:nvPr/>
        </p:nvSpPr>
        <p:spPr>
          <a:xfrm>
            <a:off x="914400" y="5166360"/>
            <a:ext cx="548640" cy="548640"/>
          </a:xfrm>
          <a:prstGeom prst="rect">
            <a:avLst/>
          </a:prstGeom>
          <a:noFill/>
          <a:ln/>
        </p:spPr>
        <p:txBody>
          <a:bodyPr wrap="square" lIns="0" tIns="0" rIns="0" bIns="0" rtlCol="0" anchor="ctr"/>
          <a:lstStyle/>
          <a:p>
            <a:pPr algn="ctr" indent="0" marL="0">
              <a:buNone/>
            </a:pPr>
            <a:r>
              <a:rPr lang="en-US" sz="2000" b="1" dirty="0">
                <a:solidFill>
                  <a:srgbClr val="F5EFE6"/>
                </a:solidFill>
                <a:latin typeface="Century Schoolbook" pitchFamily="34" charset="0"/>
                <a:ea typeface="Century Schoolbook" pitchFamily="34" charset="-122"/>
                <a:cs typeface="Century Schoolbook" pitchFamily="34" charset="-120"/>
              </a:rPr>
              <a:t>3</a:t>
            </a:r>
            <a:endParaRPr lang="en-US" sz="2000" dirty="0"/>
          </a:p>
        </p:txBody>
      </p:sp>
      <p:sp>
        <p:nvSpPr>
          <p:cNvPr id="17" name="Text 15"/>
          <p:cNvSpPr/>
          <p:nvPr/>
        </p:nvSpPr>
        <p:spPr>
          <a:xfrm>
            <a:off x="1691640" y="4992624"/>
            <a:ext cx="3017520" cy="914400"/>
          </a:xfrm>
          <a:prstGeom prst="rect">
            <a:avLst/>
          </a:prstGeom>
          <a:noFill/>
          <a:ln/>
        </p:spPr>
        <p:txBody>
          <a:bodyPr wrap="square" lIns="0" tIns="0" rIns="0" bIns="0" rtlCol="0" anchor="ctr"/>
          <a:lstStyle/>
          <a:p>
            <a:pPr indent="0" marL="0">
              <a:buNone/>
            </a:pPr>
            <a:r>
              <a:rPr lang="en-US" sz="1900" b="1" dirty="0">
                <a:solidFill>
                  <a:srgbClr val="2B2223"/>
                </a:solidFill>
                <a:latin typeface="Century Schoolbook" pitchFamily="34" charset="0"/>
                <a:ea typeface="Century Schoolbook" pitchFamily="34" charset="-122"/>
                <a:cs typeface="Century Schoolbook" pitchFamily="34" charset="-120"/>
              </a:rPr>
              <a:t>A provably hard bar</a:t>
            </a:r>
            <a:endParaRPr lang="en-US" sz="1900" dirty="0"/>
          </a:p>
        </p:txBody>
      </p:sp>
      <p:sp>
        <p:nvSpPr>
          <p:cNvPr id="18" name="Text 16"/>
          <p:cNvSpPr/>
          <p:nvPr/>
        </p:nvSpPr>
        <p:spPr>
          <a:xfrm>
            <a:off x="4754880" y="4992624"/>
            <a:ext cx="6583680" cy="914400"/>
          </a:xfrm>
          <a:prstGeom prst="rect">
            <a:avLst/>
          </a:prstGeom>
          <a:noFill/>
          <a:ln/>
        </p:spPr>
        <p:txBody>
          <a:bodyPr wrap="square" lIns="0" tIns="0" rIns="0" bIns="0" rtlCol="0" anchor="ctr"/>
          <a:lstStyle/>
          <a:p>
            <a:pPr indent="0" marL="0">
              <a:lnSpc>
                <a:spcPct val="103000"/>
              </a:lnSpc>
              <a:buNone/>
            </a:pPr>
            <a:r>
              <a:rPr lang="en-US" sz="1450" dirty="0">
                <a:solidFill>
                  <a:srgbClr val="4A4340"/>
                </a:solidFill>
                <a:latin typeface="Calibri" pitchFamily="34" charset="0"/>
                <a:ea typeface="Calibri" pitchFamily="34" charset="-122"/>
                <a:cs typeface="Calibri" pitchFamily="34" charset="-120"/>
              </a:rPr>
              <a:t>The median MINIMISES mean absolute error among constant predictors. Beating it means finding real structure.</a:t>
            </a:r>
            <a:endParaRPr lang="en-US" sz="1450" dirty="0"/>
          </a:p>
        </p:txBody>
      </p:sp>
      <p:sp>
        <p:nvSpPr>
          <p:cNvPr id="19" name="Text 17"/>
          <p:cNvSpPr/>
          <p:nvPr/>
        </p:nvSpPr>
        <p:spPr>
          <a:xfrm>
            <a:off x="548640" y="6400800"/>
            <a:ext cx="8229600" cy="274320"/>
          </a:xfrm>
          <a:prstGeom prst="rect">
            <a:avLst/>
          </a:prstGeom>
          <a:noFill/>
          <a:ln/>
        </p:spPr>
        <p:txBody>
          <a:bodyPr wrap="square" lIns="0" tIns="0" rIns="0" bIns="0" rtlCol="0" anchor="ctr"/>
          <a:lstStyle/>
          <a:p>
            <a:pPr algn="l" indent="0" marL="0">
              <a:buNone/>
            </a:pPr>
            <a:r>
              <a:rPr lang="en-US" sz="900" dirty="0">
                <a:solidFill>
                  <a:srgbClr val="8A7F76"/>
                </a:solidFill>
                <a:latin typeface="Calibri" pitchFamily="34" charset="0"/>
                <a:ea typeface="Calibri" pitchFamily="34" charset="-122"/>
                <a:cs typeface="Calibri" pitchFamily="34" charset="-120"/>
              </a:rPr>
              <a:t>Discovery ≠ Prediction  ·  MSc Defense  ·  H. Nogueira</a:t>
            </a:r>
            <a:endParaRPr lang="en-US" sz="900" dirty="0"/>
          </a:p>
        </p:txBody>
      </p:sp>
      <p:sp>
        <p:nvSpPr>
          <p:cNvPr id="20" name="Text 18"/>
          <p:cNvSpPr/>
          <p:nvPr/>
        </p:nvSpPr>
        <p:spPr>
          <a:xfrm>
            <a:off x="10728655" y="6400800"/>
            <a:ext cx="914400" cy="274320"/>
          </a:xfrm>
          <a:prstGeom prst="rect">
            <a:avLst/>
          </a:prstGeom>
          <a:noFill/>
          <a:ln/>
        </p:spPr>
        <p:txBody>
          <a:bodyPr wrap="square" lIns="0" tIns="0" rIns="0" bIns="0" rtlCol="0" anchor="ctr"/>
          <a:lstStyle/>
          <a:p>
            <a:pPr algn="r" indent="0" marL="0">
              <a:buNone/>
            </a:pPr>
            <a:r>
              <a:rPr lang="en-US" sz="900" dirty="0">
                <a:solidFill>
                  <a:srgbClr val="8A7F76"/>
                </a:solidFill>
                <a:latin typeface="Calibri" pitchFamily="34" charset="0"/>
                <a:ea typeface="Calibri" pitchFamily="34" charset="-122"/>
                <a:cs typeface="Calibri" pitchFamily="34" charset="-120"/>
              </a:rPr>
              <a:t>6 / 14</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4A1522"/>
        </a:solidFill>
      </p:bgPr>
    </p:bg>
    <p:spTree>
      <p:nvGrpSpPr>
        <p:cNvPr id="1" name=""/>
        <p:cNvGrpSpPr/>
        <p:nvPr/>
      </p:nvGrpSpPr>
      <p:grpSpPr>
        <a:xfrm>
          <a:off x="0" y="0"/>
          <a:ext cx="0" cy="0"/>
          <a:chOff x="0" y="0"/>
          <a:chExt cx="0" cy="0"/>
        </a:xfrm>
      </p:grpSpPr>
      <p:sp>
        <p:nvSpPr>
          <p:cNvPr id="2" name="Text 0"/>
          <p:cNvSpPr/>
          <p:nvPr/>
        </p:nvSpPr>
        <p:spPr>
          <a:xfrm>
            <a:off x="731520" y="685800"/>
            <a:ext cx="10972800" cy="731520"/>
          </a:xfrm>
          <a:prstGeom prst="rect">
            <a:avLst/>
          </a:prstGeom>
          <a:noFill/>
          <a:ln/>
        </p:spPr>
        <p:txBody>
          <a:bodyPr wrap="square" lIns="0" tIns="0" rIns="0" bIns="0" rtlCol="0" anchor="ctr"/>
          <a:lstStyle/>
          <a:p>
            <a:pPr indent="0" marL="0">
              <a:buNone/>
            </a:pPr>
            <a:r>
              <a:rPr lang="en-US" sz="3400" b="1" dirty="0">
                <a:solidFill>
                  <a:srgbClr val="F5EFE6"/>
                </a:solidFill>
                <a:latin typeface="Century Schoolbook" pitchFamily="34" charset="0"/>
                <a:ea typeface="Century Schoolbook" pitchFamily="34" charset="-122"/>
                <a:cs typeface="Century Schoolbook" pitchFamily="34" charset="-120"/>
              </a:rPr>
              <a:t>IT DOESN'T BEAT THE MEDIAN.</a:t>
            </a:r>
            <a:endParaRPr lang="en-US" sz="3400" dirty="0"/>
          </a:p>
        </p:txBody>
      </p:sp>
      <p:sp>
        <p:nvSpPr>
          <p:cNvPr id="3" name="Text 1"/>
          <p:cNvSpPr/>
          <p:nvPr/>
        </p:nvSpPr>
        <p:spPr>
          <a:xfrm>
            <a:off x="749808" y="1371600"/>
            <a:ext cx="10972800" cy="548640"/>
          </a:xfrm>
          <a:prstGeom prst="rect">
            <a:avLst/>
          </a:prstGeom>
          <a:noFill/>
          <a:ln/>
        </p:spPr>
        <p:txBody>
          <a:bodyPr wrap="square" lIns="0" tIns="0" rIns="0" bIns="0" rtlCol="0" anchor="ctr"/>
          <a:lstStyle/>
          <a:p>
            <a:pPr indent="0" marL="0">
              <a:buNone/>
            </a:pPr>
            <a:r>
              <a:rPr lang="en-US" sz="2600" i="1" dirty="0">
                <a:solidFill>
                  <a:srgbClr val="C9A227"/>
                </a:solidFill>
                <a:latin typeface="Century Schoolbook" pitchFamily="34" charset="0"/>
                <a:ea typeface="Century Schoolbook" pitchFamily="34" charset="-122"/>
                <a:cs typeface="Century Schoolbook" pitchFamily="34" charset="-120"/>
              </a:rPr>
              <a:t>That's the result.</a:t>
            </a:r>
            <a:endParaRPr lang="en-US" sz="2600" dirty="0"/>
          </a:p>
        </p:txBody>
      </p:sp>
      <p:graphicFrame>
        <p:nvGraphicFramePr>
          <p:cNvPr id="4" name="Chart 0" descr=""/>
          <p:cNvGraphicFramePr/>
          <p:nvPr/>
        </p:nvGraphicFramePr>
        <p:xfrm>
          <a:off x="640080" y="2286000"/>
          <a:ext cx="7040880" cy="39319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001000" y="2468880"/>
            <a:ext cx="3611880" cy="1691640"/>
          </a:xfrm>
          <a:prstGeom prst="roundRect">
            <a:avLst>
              <a:gd name="adj" fmla="val 5405"/>
            </a:avLst>
          </a:prstGeom>
          <a:solidFill>
            <a:srgbClr val="6E2033"/>
          </a:solidFill>
          <a:ln/>
        </p:spPr>
      </p:sp>
      <p:sp>
        <p:nvSpPr>
          <p:cNvPr id="6" name="Text 3"/>
          <p:cNvSpPr/>
          <p:nvPr/>
        </p:nvSpPr>
        <p:spPr>
          <a:xfrm>
            <a:off x="8229600" y="2651760"/>
            <a:ext cx="3108960" cy="320040"/>
          </a:xfrm>
          <a:prstGeom prst="rect">
            <a:avLst/>
          </a:prstGeom>
          <a:noFill/>
          <a:ln/>
        </p:spPr>
        <p:txBody>
          <a:bodyPr wrap="square" lIns="0" tIns="0" rIns="0" bIns="0"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DOURO</a:t>
            </a:r>
            <a:endParaRPr lang="en-US" sz="1100" dirty="0"/>
          </a:p>
        </p:txBody>
      </p:sp>
      <p:sp>
        <p:nvSpPr>
          <p:cNvPr id="7" name="Text 4"/>
          <p:cNvSpPr/>
          <p:nvPr/>
        </p:nvSpPr>
        <p:spPr>
          <a:xfrm>
            <a:off x="8229600" y="2971800"/>
            <a:ext cx="3200400" cy="457200"/>
          </a:xfrm>
          <a:prstGeom prst="rect">
            <a:avLst/>
          </a:prstGeom>
          <a:noFill/>
          <a:ln/>
        </p:spPr>
        <p:txBody>
          <a:bodyPr wrap="square" lIns="0" tIns="0" rIns="0" bIns="0" rtlCol="0" anchor="ctr"/>
          <a:lstStyle/>
          <a:p>
            <a:pPr indent="0" marL="0">
              <a:buNone/>
            </a:pPr>
            <a:r>
              <a:rPr lang="en-US" sz="2000" b="1" dirty="0">
                <a:solidFill>
                  <a:srgbClr val="F5EFE6"/>
                </a:solidFill>
                <a:latin typeface="Century Schoolbook" pitchFamily="34" charset="0"/>
                <a:ea typeface="Century Schoolbook" pitchFamily="34" charset="-122"/>
                <a:cs typeface="Century Schoolbook" pitchFamily="34" charset="-120"/>
              </a:rPr>
              <a:t>+3%   behind baseline</a:t>
            </a:r>
            <a:endParaRPr lang="en-US" sz="2000" dirty="0"/>
          </a:p>
        </p:txBody>
      </p:sp>
      <p:sp>
        <p:nvSpPr>
          <p:cNvPr id="8" name="Text 5"/>
          <p:cNvSpPr/>
          <p:nvPr/>
        </p:nvSpPr>
        <p:spPr>
          <a:xfrm>
            <a:off x="8229600" y="3520440"/>
            <a:ext cx="3291840" cy="457200"/>
          </a:xfrm>
          <a:prstGeom prst="rect">
            <a:avLst/>
          </a:prstGeom>
          <a:noFill/>
          <a:ln/>
        </p:spPr>
        <p:txBody>
          <a:bodyPr wrap="square" lIns="0" tIns="0" rIns="0" bIns="0" rtlCol="0" anchor="ctr"/>
          <a:lstStyle/>
          <a:p>
            <a:pPr indent="0" marL="0">
              <a:buNone/>
            </a:pPr>
            <a:r>
              <a:rPr lang="en-US" sz="1250" dirty="0">
                <a:solidFill>
                  <a:srgbClr val="E7D9D2"/>
                </a:solidFill>
                <a:latin typeface="Calibri" pitchFamily="34" charset="0"/>
                <a:ea typeface="Calibri" pitchFamily="34" charset="-122"/>
                <a:cs typeface="Calibri" pitchFamily="34" charset="-120"/>
              </a:rPr>
              <a:t>not significant  ·  Wilcoxon p = 0.468</a:t>
            </a:r>
            <a:endParaRPr lang="en-US" sz="1250" dirty="0"/>
          </a:p>
        </p:txBody>
      </p:sp>
      <p:sp>
        <p:nvSpPr>
          <p:cNvPr id="9" name="Shape 6"/>
          <p:cNvSpPr/>
          <p:nvPr/>
        </p:nvSpPr>
        <p:spPr>
          <a:xfrm>
            <a:off x="8001000" y="4343400"/>
            <a:ext cx="3611880" cy="1828800"/>
          </a:xfrm>
          <a:prstGeom prst="roundRect">
            <a:avLst>
              <a:gd name="adj" fmla="val 5000"/>
            </a:avLst>
          </a:prstGeom>
          <a:solidFill>
            <a:srgbClr val="6E2033"/>
          </a:solidFill>
          <a:ln/>
        </p:spPr>
      </p:sp>
      <p:sp>
        <p:nvSpPr>
          <p:cNvPr id="10" name="Text 7"/>
          <p:cNvSpPr/>
          <p:nvPr/>
        </p:nvSpPr>
        <p:spPr>
          <a:xfrm>
            <a:off x="8229600" y="4526280"/>
            <a:ext cx="3108960" cy="320040"/>
          </a:xfrm>
          <a:prstGeom prst="rect">
            <a:avLst/>
          </a:prstGeom>
          <a:noFill/>
          <a:ln/>
        </p:spPr>
        <p:txBody>
          <a:bodyPr wrap="square" lIns="0" tIns="0" rIns="0" bIns="0" rtlCol="0" anchor="ctr"/>
          <a:lstStyle/>
          <a:p>
            <a:pPr indent="0" marL="0">
              <a:buNone/>
            </a:pPr>
            <a:r>
              <a:rPr lang="en-US" sz="1100" b="1" spc="200" kern="0" dirty="0">
                <a:solidFill>
                  <a:srgbClr val="9BC7A8"/>
                </a:solidFill>
                <a:latin typeface="Calibri" pitchFamily="34" charset="0"/>
                <a:ea typeface="Calibri" pitchFamily="34" charset="-122"/>
                <a:cs typeface="Calibri" pitchFamily="34" charset="-120"/>
              </a:rPr>
              <a:t>VINHO VERDE</a:t>
            </a:r>
            <a:endParaRPr lang="en-US" sz="1100" dirty="0"/>
          </a:p>
        </p:txBody>
      </p:sp>
      <p:sp>
        <p:nvSpPr>
          <p:cNvPr id="11" name="Text 8"/>
          <p:cNvSpPr/>
          <p:nvPr/>
        </p:nvSpPr>
        <p:spPr>
          <a:xfrm>
            <a:off x="8229600" y="4846320"/>
            <a:ext cx="3291840" cy="457200"/>
          </a:xfrm>
          <a:prstGeom prst="rect">
            <a:avLst/>
          </a:prstGeom>
          <a:noFill/>
          <a:ln/>
        </p:spPr>
        <p:txBody>
          <a:bodyPr wrap="square" lIns="0" tIns="0" rIns="0" bIns="0" rtlCol="0" anchor="ctr"/>
          <a:lstStyle/>
          <a:p>
            <a:pPr indent="0" marL="0">
              <a:buNone/>
            </a:pPr>
            <a:r>
              <a:rPr lang="en-US" sz="2000" b="1" dirty="0">
                <a:solidFill>
                  <a:srgbClr val="F5EFE6"/>
                </a:solidFill>
                <a:latin typeface="Century Schoolbook" pitchFamily="34" charset="0"/>
                <a:ea typeface="Century Schoolbook" pitchFamily="34" charset="-122"/>
                <a:cs typeface="Century Schoolbook" pitchFamily="34" charset="-120"/>
              </a:rPr>
              <a:t>+22%   behind baseline</a:t>
            </a:r>
            <a:endParaRPr lang="en-US" sz="2000" dirty="0"/>
          </a:p>
        </p:txBody>
      </p:sp>
      <p:sp>
        <p:nvSpPr>
          <p:cNvPr id="12" name="Text 9"/>
          <p:cNvSpPr/>
          <p:nvPr/>
        </p:nvSpPr>
        <p:spPr>
          <a:xfrm>
            <a:off x="8229600" y="5394960"/>
            <a:ext cx="3291840" cy="640080"/>
          </a:xfrm>
          <a:prstGeom prst="rect">
            <a:avLst/>
          </a:prstGeom>
          <a:noFill/>
          <a:ln/>
        </p:spPr>
        <p:txBody>
          <a:bodyPr wrap="square" lIns="0" tIns="0" rIns="0" bIns="0" rtlCol="0" anchor="ctr"/>
          <a:lstStyle/>
          <a:p>
            <a:pPr indent="0" marL="0">
              <a:lnSpc>
                <a:spcPct val="105000"/>
              </a:lnSpc>
              <a:buNone/>
            </a:pPr>
            <a:r>
              <a:rPr lang="en-US" sz="1250" dirty="0">
                <a:solidFill>
                  <a:srgbClr val="E7D9D2"/>
                </a:solidFill>
                <a:latin typeface="Calibri" pitchFamily="34" charset="0"/>
                <a:ea typeface="Calibri" pitchFamily="34" charset="-122"/>
                <a:cs typeface="Calibri" pitchFamily="34" charset="-120"/>
              </a:rPr>
              <a:t>when rules fire, they actively HURT — p = 0.004</a:t>
            </a:r>
            <a:endParaRPr lang="en-US" sz="1250" dirty="0"/>
          </a:p>
        </p:txBody>
      </p:sp>
      <p:sp>
        <p:nvSpPr>
          <p:cNvPr id="13" name="Text 10"/>
          <p:cNvSpPr/>
          <p:nvPr/>
        </p:nvSpPr>
        <p:spPr>
          <a:xfrm>
            <a:off x="548640" y="6400800"/>
            <a:ext cx="8229600" cy="274320"/>
          </a:xfrm>
          <a:prstGeom prst="rect">
            <a:avLst/>
          </a:prstGeom>
          <a:noFill/>
          <a:ln/>
        </p:spPr>
        <p:txBody>
          <a:bodyPr wrap="square" lIns="0" tIns="0" rIns="0" bIns="0" rtlCol="0" anchor="ctr"/>
          <a:lstStyle/>
          <a:p>
            <a:pPr algn="l" indent="0" marL="0">
              <a:buNone/>
            </a:pPr>
            <a:r>
              <a:rPr lang="en-US" sz="900" dirty="0">
                <a:solidFill>
                  <a:srgbClr val="C9A9A0"/>
                </a:solidFill>
                <a:latin typeface="Calibri" pitchFamily="34" charset="0"/>
                <a:ea typeface="Calibri" pitchFamily="34" charset="-122"/>
                <a:cs typeface="Calibri" pitchFamily="34" charset="-120"/>
              </a:rPr>
              <a:t>Discovery ≠ Prediction  ·  MSc Defense  ·  H. Nogueira</a:t>
            </a:r>
            <a:endParaRPr lang="en-US" sz="900" dirty="0"/>
          </a:p>
        </p:txBody>
      </p:sp>
      <p:sp>
        <p:nvSpPr>
          <p:cNvPr id="14" name="Text 11"/>
          <p:cNvSpPr/>
          <p:nvPr/>
        </p:nvSpPr>
        <p:spPr>
          <a:xfrm>
            <a:off x="10728655" y="6400800"/>
            <a:ext cx="914400" cy="274320"/>
          </a:xfrm>
          <a:prstGeom prst="rect">
            <a:avLst/>
          </a:prstGeom>
          <a:noFill/>
          <a:ln/>
        </p:spPr>
        <p:txBody>
          <a:bodyPr wrap="square" lIns="0" tIns="0" rIns="0" bIns="0" rtlCol="0" anchor="ctr"/>
          <a:lstStyle/>
          <a:p>
            <a:pPr algn="r" indent="0" marL="0">
              <a:buNone/>
            </a:pPr>
            <a:r>
              <a:rPr lang="en-US" sz="900" dirty="0">
                <a:solidFill>
                  <a:srgbClr val="C9A9A0"/>
                </a:solidFill>
                <a:latin typeface="Calibri" pitchFamily="34" charset="0"/>
                <a:ea typeface="Calibri" pitchFamily="34" charset="-122"/>
                <a:cs typeface="Calibri" pitchFamily="34" charset="-120"/>
              </a:rPr>
              <a:t>7 / 14</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EFE6"/>
        </a:solidFill>
      </p:bgPr>
    </p:bg>
    <p:spTree>
      <p:nvGrpSpPr>
        <p:cNvPr id="1" name=""/>
        <p:cNvGrpSpPr/>
        <p:nvPr/>
      </p:nvGrpSpPr>
      <p:grpSpPr>
        <a:xfrm>
          <a:off x="0" y="0"/>
          <a:ext cx="0" cy="0"/>
          <a:chOff x="0" y="0"/>
          <a:chExt cx="0" cy="0"/>
        </a:xfrm>
      </p:grpSpPr>
      <p:sp>
        <p:nvSpPr>
          <p:cNvPr id="2" name="Text 0"/>
          <p:cNvSpPr/>
          <p:nvPr/>
        </p:nvSpPr>
        <p:spPr>
          <a:xfrm>
            <a:off x="566928" y="502920"/>
            <a:ext cx="10058400" cy="320040"/>
          </a:xfrm>
          <a:prstGeom prst="rect">
            <a:avLst/>
          </a:prstGeom>
          <a:noFill/>
          <a:ln/>
        </p:spPr>
        <p:txBody>
          <a:bodyPr wrap="square" lIns="0" tIns="0" rIns="0" bIns="0" rtlCol="0" anchor="ctr"/>
          <a:lstStyle/>
          <a:p>
            <a:pPr indent="0" marL="0">
              <a:buNone/>
            </a:pPr>
            <a:r>
              <a:rPr lang="en-US" sz="1200" b="1" spc="300" kern="0" dirty="0">
                <a:solidFill>
                  <a:srgbClr val="C9A227"/>
                </a:solidFill>
                <a:latin typeface="Calibri" pitchFamily="34" charset="0"/>
                <a:ea typeface="Calibri" pitchFamily="34" charset="-122"/>
                <a:cs typeface="Calibri" pitchFamily="34" charset="-120"/>
              </a:rPr>
              <a:t>ACT III — THE UNDERSTANDING</a:t>
            </a:r>
            <a:endParaRPr lang="en-US" sz="1200" dirty="0"/>
          </a:p>
        </p:txBody>
      </p:sp>
      <p:sp>
        <p:nvSpPr>
          <p:cNvPr id="3" name="Text 1"/>
          <p:cNvSpPr/>
          <p:nvPr/>
        </p:nvSpPr>
        <p:spPr>
          <a:xfrm>
            <a:off x="548640" y="841248"/>
            <a:ext cx="11064240" cy="1051560"/>
          </a:xfrm>
          <a:prstGeom prst="rect">
            <a:avLst/>
          </a:prstGeom>
          <a:noFill/>
          <a:ln/>
        </p:spPr>
        <p:txBody>
          <a:bodyPr wrap="square" lIns="0" tIns="0" rIns="0" bIns="0" rtlCol="0" anchor="ctr"/>
          <a:lstStyle/>
          <a:p>
            <a:pPr indent="0" marL="0">
              <a:lnSpc>
                <a:spcPct val="98000"/>
              </a:lnSpc>
              <a:buNone/>
            </a:pPr>
            <a:r>
              <a:rPr lang="en-US" sz="3200" b="1" dirty="0">
                <a:solidFill>
                  <a:srgbClr val="2B2223"/>
                </a:solidFill>
                <a:latin typeface="Century Schoolbook" pitchFamily="34" charset="0"/>
                <a:ea typeface="Century Schoolbook" pitchFamily="34" charset="-122"/>
                <a:cs typeface="Century Schoolbook" pitchFamily="34" charset="-120"/>
              </a:rPr>
              <a:t>Every forecast hides two decisions</a:t>
            </a:r>
            <a:endParaRPr lang="en-US" sz="3200" dirty="0"/>
          </a:p>
        </p:txBody>
      </p:sp>
      <p:sp>
        <p:nvSpPr>
          <p:cNvPr id="4" name="Shape 2"/>
          <p:cNvSpPr/>
          <p:nvPr/>
        </p:nvSpPr>
        <p:spPr>
          <a:xfrm>
            <a:off x="566928" y="2514600"/>
            <a:ext cx="3383280" cy="1554480"/>
          </a:xfrm>
          <a:prstGeom prst="roundRect">
            <a:avLst>
              <a:gd name="adj" fmla="val 5882"/>
            </a:avLst>
          </a:prstGeom>
          <a:solidFill>
            <a:srgbClr val="4A1522"/>
          </a:solidFill>
          <a:ln/>
          <a:effectLst>
            <a:outerShdw sx="100000" sy="100000" kx="0" ky="0" algn="bl" rotWithShape="0" blurRad="101600" dist="38100" dir="5400000">
              <a:srgbClr val="000000">
                <a:alpha val="18000"/>
              </a:srgbClr>
            </a:outerShdw>
          </a:effectLst>
        </p:spPr>
      </p:sp>
      <p:sp>
        <p:nvSpPr>
          <p:cNvPr id="5" name="Text 3"/>
          <p:cNvSpPr/>
          <p:nvPr/>
        </p:nvSpPr>
        <p:spPr>
          <a:xfrm>
            <a:off x="749808" y="2697480"/>
            <a:ext cx="3017520" cy="548640"/>
          </a:xfrm>
          <a:prstGeom prst="rect">
            <a:avLst/>
          </a:prstGeom>
          <a:noFill/>
          <a:ln/>
        </p:spPr>
        <p:txBody>
          <a:bodyPr wrap="square" lIns="0" tIns="0" rIns="0" bIns="0" rtlCol="0" anchor="ctr"/>
          <a:lstStyle/>
          <a:p>
            <a:pPr algn="ctr" indent="0" marL="0">
              <a:buNone/>
            </a:pPr>
            <a:r>
              <a:rPr lang="en-US" sz="1800" b="1" dirty="0">
                <a:solidFill>
                  <a:srgbClr val="F5EFE6"/>
                </a:solidFill>
                <a:latin typeface="Century Schoolbook" pitchFamily="34" charset="0"/>
                <a:ea typeface="Century Schoolbook" pitchFamily="34" charset="-122"/>
                <a:cs typeface="Century Schoolbook" pitchFamily="34" charset="-120"/>
              </a:rPr>
              <a:t>TREND</a:t>
            </a:r>
            <a:endParaRPr lang="en-US" sz="1800" dirty="0"/>
          </a:p>
        </p:txBody>
      </p:sp>
      <p:sp>
        <p:nvSpPr>
          <p:cNvPr id="6" name="Text 4"/>
          <p:cNvSpPr/>
          <p:nvPr/>
        </p:nvSpPr>
        <p:spPr>
          <a:xfrm>
            <a:off x="749808" y="3246120"/>
            <a:ext cx="3017520" cy="685800"/>
          </a:xfrm>
          <a:prstGeom prst="rect">
            <a:avLst/>
          </a:prstGeom>
          <a:noFill/>
          <a:ln/>
        </p:spPr>
        <p:txBody>
          <a:bodyPr wrap="square" lIns="0" tIns="0" rIns="0" bIns="0" rtlCol="0" anchor="ctr"/>
          <a:lstStyle/>
          <a:p>
            <a:pPr algn="ctr" indent="0" marL="0">
              <a:lnSpc>
                <a:spcPct val="100000"/>
              </a:lnSpc>
              <a:buNone/>
            </a:pPr>
            <a:r>
              <a:rPr lang="en-US" sz="1250" dirty="0">
                <a:solidFill>
                  <a:srgbClr val="F5EFE6"/>
                </a:solidFill>
                <a:latin typeface="Calibri" pitchFamily="34" charset="0"/>
                <a:ea typeface="Calibri" pitchFamily="34" charset="-122"/>
                <a:cs typeface="Calibri" pitchFamily="34" charset="-120"/>
              </a:rPr>
              <a:t>structural trajectory</a:t>
            </a:r>
            <a:endParaRPr lang="en-US" sz="1250" dirty="0"/>
          </a:p>
          <a:p>
            <a:pPr algn="ctr" indent="0" marL="0">
              <a:lnSpc>
                <a:spcPct val="100000"/>
              </a:lnSpc>
              <a:buNone/>
            </a:pPr>
            <a:r>
              <a:rPr lang="en-US" sz="1250" dirty="0">
                <a:solidFill>
                  <a:srgbClr val="F5EFE6"/>
                </a:solidFill>
                <a:latin typeface="Calibri" pitchFamily="34" charset="0"/>
                <a:ea typeface="Calibri" pitchFamily="34" charset="-122"/>
                <a:cs typeface="Calibri" pitchFamily="34" charset="-120"/>
              </a:rPr>
              <a:t>over the decades</a:t>
            </a:r>
            <a:endParaRPr lang="en-US" sz="1250" dirty="0"/>
          </a:p>
        </p:txBody>
      </p:sp>
      <p:sp>
        <p:nvSpPr>
          <p:cNvPr id="7" name="Text 5"/>
          <p:cNvSpPr/>
          <p:nvPr/>
        </p:nvSpPr>
        <p:spPr>
          <a:xfrm>
            <a:off x="3977640" y="2697480"/>
            <a:ext cx="822960" cy="1188720"/>
          </a:xfrm>
          <a:prstGeom prst="rect">
            <a:avLst/>
          </a:prstGeom>
          <a:noFill/>
          <a:ln/>
        </p:spPr>
        <p:txBody>
          <a:bodyPr wrap="square" lIns="0" tIns="0" rIns="0" bIns="0" rtlCol="0" anchor="ctr"/>
          <a:lstStyle/>
          <a:p>
            <a:pPr algn="ctr" indent="0" marL="0">
              <a:buNone/>
            </a:pPr>
            <a:r>
              <a:rPr lang="en-US" sz="4000" b="1" dirty="0">
                <a:solidFill>
                  <a:srgbClr val="4A1522"/>
                </a:solidFill>
                <a:latin typeface="Calibri" pitchFamily="34" charset="0"/>
                <a:ea typeface="Calibri" pitchFamily="34" charset="-122"/>
                <a:cs typeface="Calibri" pitchFamily="34" charset="-120"/>
              </a:rPr>
              <a:t>→</a:t>
            </a:r>
            <a:endParaRPr lang="en-US" sz="4000" dirty="0"/>
          </a:p>
        </p:txBody>
      </p:sp>
      <p:sp>
        <p:nvSpPr>
          <p:cNvPr id="8" name="Shape 6"/>
          <p:cNvSpPr/>
          <p:nvPr/>
        </p:nvSpPr>
        <p:spPr>
          <a:xfrm>
            <a:off x="4754880" y="2514600"/>
            <a:ext cx="3383280" cy="1554480"/>
          </a:xfrm>
          <a:prstGeom prst="roundRect">
            <a:avLst>
              <a:gd name="adj" fmla="val 5882"/>
            </a:avLst>
          </a:prstGeom>
          <a:solidFill>
            <a:srgbClr val="7A5C2E"/>
          </a:solidFill>
          <a:ln/>
          <a:effectLst>
            <a:outerShdw sx="100000" sy="100000" kx="0" ky="0" algn="bl" rotWithShape="0" blurRad="101600" dist="38100" dir="5400000">
              <a:srgbClr val="000000">
                <a:alpha val="18000"/>
              </a:srgbClr>
            </a:outerShdw>
          </a:effectLst>
        </p:spPr>
      </p:sp>
      <p:sp>
        <p:nvSpPr>
          <p:cNvPr id="9" name="Text 7"/>
          <p:cNvSpPr/>
          <p:nvPr/>
        </p:nvSpPr>
        <p:spPr>
          <a:xfrm>
            <a:off x="4937760" y="2697480"/>
            <a:ext cx="3017520" cy="548640"/>
          </a:xfrm>
          <a:prstGeom prst="rect">
            <a:avLst/>
          </a:prstGeom>
          <a:noFill/>
          <a:ln/>
        </p:spPr>
        <p:txBody>
          <a:bodyPr wrap="square" lIns="0" tIns="0" rIns="0" bIns="0" rtlCol="0" anchor="ctr"/>
          <a:lstStyle/>
          <a:p>
            <a:pPr algn="ctr" indent="0" marL="0">
              <a:buNone/>
            </a:pPr>
            <a:r>
              <a:rPr lang="en-US" sz="1800" b="1" dirty="0">
                <a:solidFill>
                  <a:srgbClr val="F5EFE6"/>
                </a:solidFill>
                <a:latin typeface="Century Schoolbook" pitchFamily="34" charset="0"/>
                <a:ea typeface="Century Schoolbook" pitchFamily="34" charset="-122"/>
                <a:cs typeface="Century Schoolbook" pitchFamily="34" charset="-120"/>
              </a:rPr>
              <a:t>RESIDUAL</a:t>
            </a:r>
            <a:endParaRPr lang="en-US" sz="1800" dirty="0"/>
          </a:p>
        </p:txBody>
      </p:sp>
      <p:sp>
        <p:nvSpPr>
          <p:cNvPr id="10" name="Text 8"/>
          <p:cNvSpPr/>
          <p:nvPr/>
        </p:nvSpPr>
        <p:spPr>
          <a:xfrm>
            <a:off x="4937760" y="3246120"/>
            <a:ext cx="3017520" cy="685800"/>
          </a:xfrm>
          <a:prstGeom prst="rect">
            <a:avLst/>
          </a:prstGeom>
          <a:noFill/>
          <a:ln/>
        </p:spPr>
        <p:txBody>
          <a:bodyPr wrap="square" lIns="0" tIns="0" rIns="0" bIns="0" rtlCol="0" anchor="ctr"/>
          <a:lstStyle/>
          <a:p>
            <a:pPr algn="ctr" indent="0" marL="0">
              <a:lnSpc>
                <a:spcPct val="100000"/>
              </a:lnSpc>
              <a:buNone/>
            </a:pPr>
            <a:r>
              <a:rPr lang="en-US" sz="1250" dirty="0">
                <a:solidFill>
                  <a:srgbClr val="F5EFE6"/>
                </a:solidFill>
                <a:latin typeface="Calibri" pitchFamily="34" charset="0"/>
                <a:ea typeface="Calibri" pitchFamily="34" charset="-122"/>
                <a:cs typeface="Calibri" pitchFamily="34" charset="-120"/>
              </a:rPr>
              <a:t>what's left after</a:t>
            </a:r>
            <a:endParaRPr lang="en-US" sz="1250" dirty="0"/>
          </a:p>
          <a:p>
            <a:pPr algn="ctr" indent="0" marL="0">
              <a:lnSpc>
                <a:spcPct val="100000"/>
              </a:lnSpc>
              <a:buNone/>
            </a:pPr>
            <a:r>
              <a:rPr lang="en-US" sz="1250" dirty="0">
                <a:solidFill>
                  <a:srgbClr val="F5EFE6"/>
                </a:solidFill>
                <a:latin typeface="Calibri" pitchFamily="34" charset="0"/>
                <a:ea typeface="Calibri" pitchFamily="34" charset="-122"/>
                <a:cs typeface="Calibri" pitchFamily="34" charset="-120"/>
              </a:rPr>
              <a:t>removing the trend</a:t>
            </a:r>
            <a:endParaRPr lang="en-US" sz="1250" dirty="0"/>
          </a:p>
        </p:txBody>
      </p:sp>
      <p:sp>
        <p:nvSpPr>
          <p:cNvPr id="11" name="Text 9"/>
          <p:cNvSpPr/>
          <p:nvPr/>
        </p:nvSpPr>
        <p:spPr>
          <a:xfrm>
            <a:off x="8165592" y="2697480"/>
            <a:ext cx="822960" cy="1188720"/>
          </a:xfrm>
          <a:prstGeom prst="rect">
            <a:avLst/>
          </a:prstGeom>
          <a:noFill/>
          <a:ln/>
        </p:spPr>
        <p:txBody>
          <a:bodyPr wrap="square" lIns="0" tIns="0" rIns="0" bIns="0" rtlCol="0" anchor="ctr"/>
          <a:lstStyle/>
          <a:p>
            <a:pPr algn="ctr" indent="0" marL="0">
              <a:buNone/>
            </a:pPr>
            <a:r>
              <a:rPr lang="en-US" sz="4000" b="1" dirty="0">
                <a:solidFill>
                  <a:srgbClr val="4A1522"/>
                </a:solidFill>
                <a:latin typeface="Calibri" pitchFamily="34" charset="0"/>
                <a:ea typeface="Calibri" pitchFamily="34" charset="-122"/>
                <a:cs typeface="Calibri" pitchFamily="34" charset="-120"/>
              </a:rPr>
              <a:t>→</a:t>
            </a:r>
            <a:endParaRPr lang="en-US" sz="4000" dirty="0"/>
          </a:p>
        </p:txBody>
      </p:sp>
      <p:sp>
        <p:nvSpPr>
          <p:cNvPr id="12" name="Shape 10"/>
          <p:cNvSpPr/>
          <p:nvPr/>
        </p:nvSpPr>
        <p:spPr>
          <a:xfrm>
            <a:off x="8942832" y="2514600"/>
            <a:ext cx="2697480" cy="1554480"/>
          </a:xfrm>
          <a:prstGeom prst="roundRect">
            <a:avLst>
              <a:gd name="adj" fmla="val 5882"/>
            </a:avLst>
          </a:prstGeom>
          <a:solidFill>
            <a:srgbClr val="3E7C59"/>
          </a:solidFill>
          <a:ln/>
          <a:effectLst>
            <a:outerShdw sx="100000" sy="100000" kx="0" ky="0" algn="bl" rotWithShape="0" blurRad="101600" dist="38100" dir="5400000">
              <a:srgbClr val="000000">
                <a:alpha val="18000"/>
              </a:srgbClr>
            </a:outerShdw>
          </a:effectLst>
        </p:spPr>
      </p:sp>
      <p:sp>
        <p:nvSpPr>
          <p:cNvPr id="13" name="Text 11"/>
          <p:cNvSpPr/>
          <p:nvPr/>
        </p:nvSpPr>
        <p:spPr>
          <a:xfrm>
            <a:off x="9125712" y="2697480"/>
            <a:ext cx="2331720" cy="548640"/>
          </a:xfrm>
          <a:prstGeom prst="rect">
            <a:avLst/>
          </a:prstGeom>
          <a:noFill/>
          <a:ln/>
        </p:spPr>
        <p:txBody>
          <a:bodyPr wrap="square" lIns="0" tIns="0" rIns="0" bIns="0" rtlCol="0" anchor="ctr"/>
          <a:lstStyle/>
          <a:p>
            <a:pPr algn="ctr" indent="0" marL="0">
              <a:buNone/>
            </a:pPr>
            <a:r>
              <a:rPr lang="en-US" sz="1800" b="1" dirty="0">
                <a:solidFill>
                  <a:srgbClr val="F5EFE6"/>
                </a:solidFill>
                <a:latin typeface="Century Schoolbook" pitchFamily="34" charset="0"/>
                <a:ea typeface="Century Schoolbook" pitchFamily="34" charset="-122"/>
                <a:cs typeface="Century Schoolbook" pitchFamily="34" charset="-120"/>
              </a:rPr>
              <a:t>RULES</a:t>
            </a:r>
            <a:endParaRPr lang="en-US" sz="1800" dirty="0"/>
          </a:p>
        </p:txBody>
      </p:sp>
      <p:sp>
        <p:nvSpPr>
          <p:cNvPr id="14" name="Text 12"/>
          <p:cNvSpPr/>
          <p:nvPr/>
        </p:nvSpPr>
        <p:spPr>
          <a:xfrm>
            <a:off x="9125712" y="3246120"/>
            <a:ext cx="2331720" cy="685800"/>
          </a:xfrm>
          <a:prstGeom prst="rect">
            <a:avLst/>
          </a:prstGeom>
          <a:noFill/>
          <a:ln/>
        </p:spPr>
        <p:txBody>
          <a:bodyPr wrap="square" lIns="0" tIns="0" rIns="0" bIns="0" rtlCol="0" anchor="ctr"/>
          <a:lstStyle/>
          <a:p>
            <a:pPr algn="ctr" indent="0" marL="0">
              <a:lnSpc>
                <a:spcPct val="100000"/>
              </a:lnSpc>
              <a:buNone/>
            </a:pPr>
            <a:r>
              <a:rPr lang="en-US" sz="1250" dirty="0">
                <a:solidFill>
                  <a:srgbClr val="F5EFE6"/>
                </a:solidFill>
                <a:latin typeface="Calibri" pitchFamily="34" charset="0"/>
                <a:ea typeface="Calibri" pitchFamily="34" charset="-122"/>
                <a:cs typeface="Calibri" pitchFamily="34" charset="-120"/>
              </a:rPr>
              <a:t>climate rules on</a:t>
            </a:r>
            <a:endParaRPr lang="en-US" sz="1250" dirty="0"/>
          </a:p>
          <a:p>
            <a:pPr algn="ctr" indent="0" marL="0">
              <a:lnSpc>
                <a:spcPct val="100000"/>
              </a:lnSpc>
              <a:buNone/>
            </a:pPr>
            <a:r>
              <a:rPr lang="en-US" sz="1250" dirty="0">
                <a:solidFill>
                  <a:srgbClr val="F5EFE6"/>
                </a:solidFill>
                <a:latin typeface="Calibri" pitchFamily="34" charset="0"/>
                <a:ea typeface="Calibri" pitchFamily="34" charset="-122"/>
                <a:cs typeface="Calibri" pitchFamily="34" charset="-120"/>
              </a:rPr>
              <a:t>the residual</a:t>
            </a:r>
            <a:endParaRPr lang="en-US" sz="1250" dirty="0"/>
          </a:p>
        </p:txBody>
      </p:sp>
      <p:sp>
        <p:nvSpPr>
          <p:cNvPr id="15" name="Shape 13"/>
          <p:cNvSpPr/>
          <p:nvPr/>
        </p:nvSpPr>
        <p:spPr>
          <a:xfrm>
            <a:off x="566928" y="4526280"/>
            <a:ext cx="5486400" cy="1600200"/>
          </a:xfrm>
          <a:prstGeom prst="roundRect">
            <a:avLst>
              <a:gd name="adj" fmla="val 5714"/>
            </a:avLst>
          </a:prstGeom>
          <a:solidFill>
            <a:srgbClr val="FFFFFF"/>
          </a:solidFill>
          <a:ln/>
          <a:effectLst>
            <a:outerShdw sx="100000" sy="100000" kx="0" ky="0" algn="bl" rotWithShape="0" blurRad="101600" dist="38100" dir="5400000">
              <a:srgbClr val="000000">
                <a:alpha val="18000"/>
              </a:srgbClr>
            </a:outerShdw>
          </a:effectLst>
        </p:spPr>
      </p:sp>
      <p:sp>
        <p:nvSpPr>
          <p:cNvPr id="16" name="Text 14"/>
          <p:cNvSpPr/>
          <p:nvPr/>
        </p:nvSpPr>
        <p:spPr>
          <a:xfrm>
            <a:off x="822960" y="4709160"/>
            <a:ext cx="5029200" cy="1280160"/>
          </a:xfrm>
          <a:prstGeom prst="rect">
            <a:avLst/>
          </a:prstGeom>
          <a:noFill/>
          <a:ln/>
        </p:spPr>
        <p:txBody>
          <a:bodyPr wrap="square" lIns="0" tIns="0" rIns="0" bIns="0" rtlCol="0" anchor="ctr"/>
          <a:lstStyle/>
          <a:p>
            <a:pPr indent="0" marL="0">
              <a:lnSpc>
                <a:spcPct val="105000"/>
              </a:lnSpc>
              <a:buNone/>
            </a:pPr>
            <a:r>
              <a:rPr lang="en-US" sz="1500" b="1" dirty="0">
                <a:solidFill>
                  <a:srgbClr val="4A1522"/>
                </a:solidFill>
                <a:latin typeface="Calibri" pitchFamily="34" charset="0"/>
                <a:ea typeface="Calibri" pitchFamily="34" charset="-122"/>
                <a:cs typeface="Calibri" pitchFamily="34" charset="-120"/>
              </a:rPr>
              <a:t>DECISION 1 — Trend
</a:t>
            </a:r>
            <a:endParaRPr lang="en-US" sz="1500" dirty="0"/>
          </a:p>
          <a:p>
            <a:pPr indent="0" marL="0">
              <a:lnSpc>
                <a:spcPct val="105000"/>
              </a:lnSpc>
              <a:buNone/>
            </a:pPr>
            <a:r>
              <a:rPr lang="en-US" sz="1350" dirty="0">
                <a:solidFill>
                  <a:srgbClr val="4A4340"/>
                </a:solidFill>
                <a:latin typeface="Calibri" pitchFamily="34" charset="0"/>
                <a:ea typeface="Calibri" pitchFamily="34" charset="-122"/>
                <a:cs typeface="Calibri" pitchFamily="34" charset="-120"/>
              </a:rPr>
              <a:t>Does the trend extrapolate? Sets the baseline error — the floor everything is measured against.</a:t>
            </a:r>
            <a:endParaRPr lang="en-US" sz="1500" dirty="0"/>
          </a:p>
        </p:txBody>
      </p:sp>
      <p:sp>
        <p:nvSpPr>
          <p:cNvPr id="17" name="Shape 15"/>
          <p:cNvSpPr/>
          <p:nvPr/>
        </p:nvSpPr>
        <p:spPr>
          <a:xfrm>
            <a:off x="6144768" y="4526280"/>
            <a:ext cx="5486400" cy="1600200"/>
          </a:xfrm>
          <a:prstGeom prst="roundRect">
            <a:avLst>
              <a:gd name="adj" fmla="val 5714"/>
            </a:avLst>
          </a:prstGeom>
          <a:solidFill>
            <a:srgbClr val="FFFFFF"/>
          </a:solidFill>
          <a:ln/>
          <a:effectLst>
            <a:outerShdw sx="100000" sy="100000" kx="0" ky="0" algn="bl" rotWithShape="0" blurRad="101600" dist="38100" dir="5400000">
              <a:srgbClr val="000000">
                <a:alpha val="18000"/>
              </a:srgbClr>
            </a:outerShdw>
          </a:effectLst>
        </p:spPr>
      </p:sp>
      <p:sp>
        <p:nvSpPr>
          <p:cNvPr id="18" name="Text 16"/>
          <p:cNvSpPr/>
          <p:nvPr/>
        </p:nvSpPr>
        <p:spPr>
          <a:xfrm>
            <a:off x="6400800" y="4709160"/>
            <a:ext cx="5029200" cy="1280160"/>
          </a:xfrm>
          <a:prstGeom prst="rect">
            <a:avLst/>
          </a:prstGeom>
          <a:noFill/>
          <a:ln/>
        </p:spPr>
        <p:txBody>
          <a:bodyPr wrap="square" lIns="0" tIns="0" rIns="0" bIns="0" rtlCol="0" anchor="ctr"/>
          <a:lstStyle/>
          <a:p>
            <a:pPr indent="0" marL="0">
              <a:lnSpc>
                <a:spcPct val="105000"/>
              </a:lnSpc>
              <a:buNone/>
            </a:pPr>
            <a:r>
              <a:rPr lang="en-US" sz="1500" b="1" dirty="0">
                <a:solidFill>
                  <a:srgbClr val="3E7C59"/>
                </a:solidFill>
                <a:latin typeface="Calibri" pitchFamily="34" charset="0"/>
                <a:ea typeface="Calibri" pitchFamily="34" charset="-122"/>
                <a:cs typeface="Calibri" pitchFamily="34" charset="-120"/>
              </a:rPr>
              <a:t>DECISION 2 — Signal
</a:t>
            </a:r>
            <a:endParaRPr lang="en-US" sz="1500" dirty="0"/>
          </a:p>
          <a:p>
            <a:pPr indent="0" marL="0">
              <a:lnSpc>
                <a:spcPct val="105000"/>
              </a:lnSpc>
              <a:buNone/>
            </a:pPr>
            <a:r>
              <a:rPr lang="en-US" sz="1350" dirty="0">
                <a:solidFill>
                  <a:srgbClr val="4A4340"/>
                </a:solidFill>
                <a:latin typeface="Calibri" pitchFamily="34" charset="0"/>
                <a:ea typeface="Calibri" pitchFamily="34" charset="-122"/>
                <a:cs typeface="Calibri" pitchFamily="34" charset="-120"/>
              </a:rPr>
              <a:t>Do climate rules beat the leftover residual? My analysis: this step is already near the signal ceiling.</a:t>
            </a:r>
            <a:endParaRPr lang="en-US" sz="1500" dirty="0"/>
          </a:p>
        </p:txBody>
      </p:sp>
      <p:sp>
        <p:nvSpPr>
          <p:cNvPr id="19" name="Text 17"/>
          <p:cNvSpPr/>
          <p:nvPr/>
        </p:nvSpPr>
        <p:spPr>
          <a:xfrm>
            <a:off x="548640" y="6400800"/>
            <a:ext cx="8229600" cy="274320"/>
          </a:xfrm>
          <a:prstGeom prst="rect">
            <a:avLst/>
          </a:prstGeom>
          <a:noFill/>
          <a:ln/>
        </p:spPr>
        <p:txBody>
          <a:bodyPr wrap="square" lIns="0" tIns="0" rIns="0" bIns="0" rtlCol="0" anchor="ctr"/>
          <a:lstStyle/>
          <a:p>
            <a:pPr algn="l" indent="0" marL="0">
              <a:buNone/>
            </a:pPr>
            <a:r>
              <a:rPr lang="en-US" sz="900" dirty="0">
                <a:solidFill>
                  <a:srgbClr val="8A7F76"/>
                </a:solidFill>
                <a:latin typeface="Calibri" pitchFamily="34" charset="0"/>
                <a:ea typeface="Calibri" pitchFamily="34" charset="-122"/>
                <a:cs typeface="Calibri" pitchFamily="34" charset="-120"/>
              </a:rPr>
              <a:t>Discovery ≠ Prediction  ·  MSc Defense  ·  H. Nogueira</a:t>
            </a:r>
            <a:endParaRPr lang="en-US" sz="900" dirty="0"/>
          </a:p>
        </p:txBody>
      </p:sp>
      <p:sp>
        <p:nvSpPr>
          <p:cNvPr id="20" name="Text 18"/>
          <p:cNvSpPr/>
          <p:nvPr/>
        </p:nvSpPr>
        <p:spPr>
          <a:xfrm>
            <a:off x="10728655" y="6400800"/>
            <a:ext cx="914400" cy="274320"/>
          </a:xfrm>
          <a:prstGeom prst="rect">
            <a:avLst/>
          </a:prstGeom>
          <a:noFill/>
          <a:ln/>
        </p:spPr>
        <p:txBody>
          <a:bodyPr wrap="square" lIns="0" tIns="0" rIns="0" bIns="0" rtlCol="0" anchor="ctr"/>
          <a:lstStyle/>
          <a:p>
            <a:pPr algn="r" indent="0" marL="0">
              <a:buNone/>
            </a:pPr>
            <a:r>
              <a:rPr lang="en-US" sz="900" dirty="0">
                <a:solidFill>
                  <a:srgbClr val="8A7F76"/>
                </a:solidFill>
                <a:latin typeface="Calibri" pitchFamily="34" charset="0"/>
                <a:ea typeface="Calibri" pitchFamily="34" charset="-122"/>
                <a:cs typeface="Calibri" pitchFamily="34" charset="-120"/>
              </a:rPr>
              <a:t>8 / 14</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EFE6"/>
        </a:solidFill>
      </p:bgPr>
    </p:bg>
    <p:spTree>
      <p:nvGrpSpPr>
        <p:cNvPr id="1" name=""/>
        <p:cNvGrpSpPr/>
        <p:nvPr/>
      </p:nvGrpSpPr>
      <p:grpSpPr>
        <a:xfrm>
          <a:off x="0" y="0"/>
          <a:ext cx="0" cy="0"/>
          <a:chOff x="0" y="0"/>
          <a:chExt cx="0" cy="0"/>
        </a:xfrm>
      </p:grpSpPr>
      <p:sp>
        <p:nvSpPr>
          <p:cNvPr id="2" name="Text 0"/>
          <p:cNvSpPr/>
          <p:nvPr/>
        </p:nvSpPr>
        <p:spPr>
          <a:xfrm>
            <a:off x="566928" y="502920"/>
            <a:ext cx="10058400" cy="320040"/>
          </a:xfrm>
          <a:prstGeom prst="rect">
            <a:avLst/>
          </a:prstGeom>
          <a:noFill/>
          <a:ln/>
        </p:spPr>
        <p:txBody>
          <a:bodyPr wrap="square" lIns="0" tIns="0" rIns="0" bIns="0" rtlCol="0" anchor="ctr"/>
          <a:lstStyle/>
          <a:p>
            <a:pPr indent="0" marL="0">
              <a:buNone/>
            </a:pPr>
            <a:r>
              <a:rPr lang="en-US" sz="1200" b="1" spc="300" kern="0" dirty="0">
                <a:solidFill>
                  <a:srgbClr val="C9A227"/>
                </a:solidFill>
                <a:latin typeface="Calibri" pitchFamily="34" charset="0"/>
                <a:ea typeface="Calibri" pitchFamily="34" charset="-122"/>
                <a:cs typeface="Calibri" pitchFamily="34" charset="-120"/>
              </a:rPr>
              <a:t>THE TRADE-OFF, MEASURED</a:t>
            </a:r>
            <a:endParaRPr lang="en-US" sz="1200" dirty="0"/>
          </a:p>
        </p:txBody>
      </p:sp>
      <p:sp>
        <p:nvSpPr>
          <p:cNvPr id="3" name="Text 1"/>
          <p:cNvSpPr/>
          <p:nvPr/>
        </p:nvSpPr>
        <p:spPr>
          <a:xfrm>
            <a:off x="548640" y="841248"/>
            <a:ext cx="11064240" cy="1051560"/>
          </a:xfrm>
          <a:prstGeom prst="rect">
            <a:avLst/>
          </a:prstGeom>
          <a:noFill/>
          <a:ln/>
        </p:spPr>
        <p:txBody>
          <a:bodyPr wrap="square" lIns="0" tIns="0" rIns="0" bIns="0" rtlCol="0" anchor="ctr"/>
          <a:lstStyle/>
          <a:p>
            <a:pPr indent="0" marL="0">
              <a:lnSpc>
                <a:spcPct val="98000"/>
              </a:lnSpc>
              <a:buNone/>
            </a:pPr>
            <a:r>
              <a:rPr lang="en-US" sz="3200" b="1" dirty="0">
                <a:solidFill>
                  <a:srgbClr val="2B2223"/>
                </a:solidFill>
                <a:latin typeface="Century Schoolbook" pitchFamily="34" charset="0"/>
                <a:ea typeface="Century Schoolbook" pitchFamily="34" charset="-122"/>
                <a:cs typeface="Century Schoolbook" pitchFamily="34" charset="-120"/>
              </a:rPr>
              <a:t>Fix the trend, and you murder the signal</a:t>
            </a:r>
            <a:endParaRPr lang="en-US" sz="3200" dirty="0"/>
          </a:p>
        </p:txBody>
      </p:sp>
      <p:sp>
        <p:nvSpPr>
          <p:cNvPr id="4" name="Text 2"/>
          <p:cNvSpPr/>
          <p:nvPr/>
        </p:nvSpPr>
        <p:spPr>
          <a:xfrm>
            <a:off x="566928" y="1874520"/>
            <a:ext cx="10972800" cy="365760"/>
          </a:xfrm>
          <a:prstGeom prst="rect">
            <a:avLst/>
          </a:prstGeom>
          <a:noFill/>
          <a:ln/>
        </p:spPr>
        <p:txBody>
          <a:bodyPr wrap="square" lIns="0" tIns="0" rIns="0" bIns="0" rtlCol="0" anchor="ctr"/>
          <a:lstStyle/>
          <a:p>
            <a:pPr indent="0" marL="0">
              <a:buNone/>
            </a:pPr>
            <a:r>
              <a:rPr lang="en-US" sz="1400" i="1" dirty="0">
                <a:solidFill>
                  <a:srgbClr val="8A7F76"/>
                </a:solidFill>
                <a:latin typeface="Calibri" pitchFamily="34" charset="0"/>
                <a:ea typeface="Calibri" pitchFamily="34" charset="-122"/>
                <a:cs typeface="Calibri" pitchFamily="34" charset="-120"/>
              </a:rPr>
              <a:t>Vinho Verde · switching linear → flexible (LOESS) detrending</a:t>
            </a:r>
            <a:endParaRPr lang="en-US" sz="1400" dirty="0"/>
          </a:p>
        </p:txBody>
      </p:sp>
      <p:graphicFrame>
        <p:nvGraphicFramePr>
          <p:cNvPr id="5" name="Chart 0" descr=""/>
          <p:cNvGraphicFramePr/>
          <p:nvPr/>
        </p:nvGraphicFramePr>
        <p:xfrm>
          <a:off x="640080" y="2377440"/>
          <a:ext cx="5943600" cy="356616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6858000" y="2377440"/>
            <a:ext cx="4754880" cy="1691640"/>
          </a:xfrm>
          <a:prstGeom prst="roundRect">
            <a:avLst>
              <a:gd name="adj" fmla="val 5405"/>
            </a:avLst>
          </a:prstGeom>
          <a:solidFill>
            <a:srgbClr val="FFFFFF"/>
          </a:solidFill>
          <a:ln/>
          <a:effectLst>
            <a:outerShdw sx="100000" sy="100000" kx="0" ky="0" algn="bl" rotWithShape="0" blurRad="101600" dist="38100" dir="5400000">
              <a:srgbClr val="000000">
                <a:alpha val="18000"/>
              </a:srgbClr>
            </a:outerShdw>
          </a:effectLst>
        </p:spPr>
      </p:sp>
      <p:sp>
        <p:nvSpPr>
          <p:cNvPr id="7" name="Text 4"/>
          <p:cNvSpPr/>
          <p:nvPr/>
        </p:nvSpPr>
        <p:spPr>
          <a:xfrm>
            <a:off x="7132320" y="2697480"/>
            <a:ext cx="4297680" cy="640080"/>
          </a:xfrm>
          <a:prstGeom prst="rect">
            <a:avLst/>
          </a:prstGeom>
          <a:noFill/>
          <a:ln/>
        </p:spPr>
        <p:txBody>
          <a:bodyPr wrap="square" lIns="0" tIns="0" rIns="0" bIns="0" rtlCol="0" anchor="ctr"/>
          <a:lstStyle/>
          <a:p>
            <a:pPr indent="0" marL="0">
              <a:buNone/>
            </a:pPr>
            <a:r>
              <a:rPr lang="en-US" sz="3000" b="1" dirty="0">
                <a:solidFill>
                  <a:srgbClr val="3E7C59"/>
                </a:solidFill>
                <a:latin typeface="Century Schoolbook" pitchFamily="34" charset="0"/>
                <a:ea typeface="Century Schoolbook" pitchFamily="34" charset="-122"/>
                <a:cs typeface="Century Schoolbook" pitchFamily="34" charset="-120"/>
              </a:rPr>
              <a:t>−36%  </a:t>
            </a:r>
            <a:pPr indent="0" marL="0">
              <a:buNone/>
            </a:pPr>
            <a:r>
              <a:rPr lang="en-US" sz="1500" dirty="0">
                <a:solidFill>
                  <a:srgbClr val="2B2223"/>
                </a:solidFill>
                <a:latin typeface="Century Schoolbook" pitchFamily="34" charset="0"/>
                <a:ea typeface="Century Schoolbook" pitchFamily="34" charset="-122"/>
                <a:cs typeface="Century Schoolbook" pitchFamily="34" charset="-120"/>
              </a:rPr>
              <a:t>baseline error</a:t>
            </a:r>
            <a:endParaRPr lang="en-US" sz="3000" dirty="0"/>
          </a:p>
        </p:txBody>
      </p:sp>
      <p:sp>
        <p:nvSpPr>
          <p:cNvPr id="8" name="Text 5"/>
          <p:cNvSpPr/>
          <p:nvPr/>
        </p:nvSpPr>
        <p:spPr>
          <a:xfrm>
            <a:off x="7132320" y="3383280"/>
            <a:ext cx="4206240" cy="548640"/>
          </a:xfrm>
          <a:prstGeom prst="rect">
            <a:avLst/>
          </a:prstGeom>
          <a:noFill/>
          <a:ln/>
        </p:spPr>
        <p:txBody>
          <a:bodyPr wrap="square" lIns="0" tIns="0" rIns="0" bIns="0" rtlCol="0" anchor="ctr"/>
          <a:lstStyle/>
          <a:p>
            <a:pPr indent="0" marL="0">
              <a:buNone/>
            </a:pPr>
            <a:r>
              <a:rPr lang="en-US" sz="1400" dirty="0">
                <a:solidFill>
                  <a:srgbClr val="4A4340"/>
                </a:solidFill>
                <a:latin typeface="Calibri" pitchFamily="34" charset="0"/>
                <a:ea typeface="Calibri" pitchFamily="34" charset="-122"/>
                <a:cs typeface="Calibri" pitchFamily="34" charset="-120"/>
              </a:rPr>
              <a:t>Decision 1 got dramatically better.</a:t>
            </a:r>
            <a:endParaRPr lang="en-US" sz="1400" dirty="0"/>
          </a:p>
        </p:txBody>
      </p:sp>
      <p:sp>
        <p:nvSpPr>
          <p:cNvPr id="9" name="Shape 6"/>
          <p:cNvSpPr/>
          <p:nvPr/>
        </p:nvSpPr>
        <p:spPr>
          <a:xfrm>
            <a:off x="6858000" y="4251960"/>
            <a:ext cx="4754880" cy="1691640"/>
          </a:xfrm>
          <a:prstGeom prst="roundRect">
            <a:avLst>
              <a:gd name="adj" fmla="val 5405"/>
            </a:avLst>
          </a:prstGeom>
          <a:solidFill>
            <a:srgbClr val="4A1522"/>
          </a:solidFill>
          <a:ln/>
          <a:effectLst>
            <a:outerShdw sx="100000" sy="100000" kx="0" ky="0" algn="bl" rotWithShape="0" blurRad="101600" dist="38100" dir="5400000">
              <a:srgbClr val="000000">
                <a:alpha val="18000"/>
              </a:srgbClr>
            </a:outerShdw>
          </a:effectLst>
        </p:spPr>
      </p:sp>
      <p:sp>
        <p:nvSpPr>
          <p:cNvPr id="10" name="Text 7"/>
          <p:cNvSpPr/>
          <p:nvPr/>
        </p:nvSpPr>
        <p:spPr>
          <a:xfrm>
            <a:off x="7132320" y="4572000"/>
            <a:ext cx="4297680" cy="640080"/>
          </a:xfrm>
          <a:prstGeom prst="rect">
            <a:avLst/>
          </a:prstGeom>
          <a:noFill/>
          <a:ln/>
        </p:spPr>
        <p:txBody>
          <a:bodyPr wrap="square" lIns="0" tIns="0" rIns="0" bIns="0" rtlCol="0" anchor="ctr"/>
          <a:lstStyle/>
          <a:p>
            <a:pPr indent="0" marL="0">
              <a:buNone/>
            </a:pPr>
            <a:r>
              <a:rPr lang="en-US" sz="3000" b="1" dirty="0">
                <a:solidFill>
                  <a:srgbClr val="C9A227"/>
                </a:solidFill>
                <a:latin typeface="Century Schoolbook" pitchFamily="34" charset="0"/>
                <a:ea typeface="Century Schoolbook" pitchFamily="34" charset="-122"/>
                <a:cs typeface="Century Schoolbook" pitchFamily="34" charset="-120"/>
              </a:rPr>
              <a:t>20 → 0  </a:t>
            </a:r>
            <a:pPr indent="0" marL="0">
              <a:buNone/>
            </a:pPr>
            <a:r>
              <a:rPr lang="en-US" sz="1500" dirty="0">
                <a:solidFill>
                  <a:srgbClr val="F5EFE6"/>
                </a:solidFill>
                <a:latin typeface="Century Schoolbook" pitchFamily="34" charset="0"/>
                <a:ea typeface="Century Schoolbook" pitchFamily="34" charset="-122"/>
                <a:cs typeface="Century Schoolbook" pitchFamily="34" charset="-120"/>
              </a:rPr>
              <a:t>rules</a:t>
            </a:r>
            <a:endParaRPr lang="en-US" sz="3000" dirty="0"/>
          </a:p>
        </p:txBody>
      </p:sp>
      <p:sp>
        <p:nvSpPr>
          <p:cNvPr id="11" name="Text 8"/>
          <p:cNvSpPr/>
          <p:nvPr/>
        </p:nvSpPr>
        <p:spPr>
          <a:xfrm>
            <a:off x="7132320" y="5257800"/>
            <a:ext cx="4206240" cy="640080"/>
          </a:xfrm>
          <a:prstGeom prst="rect">
            <a:avLst/>
          </a:prstGeom>
          <a:noFill/>
          <a:ln/>
        </p:spPr>
        <p:txBody>
          <a:bodyPr wrap="square" lIns="0" tIns="0" rIns="0" bIns="0" rtlCol="0" anchor="ctr"/>
          <a:lstStyle/>
          <a:p>
            <a:pPr indent="0" marL="0">
              <a:lnSpc>
                <a:spcPct val="103000"/>
              </a:lnSpc>
              <a:buNone/>
            </a:pPr>
            <a:r>
              <a:rPr lang="en-US" sz="1400" dirty="0">
                <a:solidFill>
                  <a:srgbClr val="E7D9D2"/>
                </a:solidFill>
                <a:latin typeface="Calibri" pitchFamily="34" charset="0"/>
                <a:ea typeface="Calibri" pitchFamily="34" charset="-122"/>
                <a:cs typeface="Calibri" pitchFamily="34" charset="-120"/>
              </a:rPr>
              <a:t>The flexible trend absorbed the very signal the rules needed. Decision 2 destroyed.</a:t>
            </a:r>
            <a:endParaRPr lang="en-US" sz="1400" dirty="0"/>
          </a:p>
        </p:txBody>
      </p:sp>
      <p:sp>
        <p:nvSpPr>
          <p:cNvPr id="12" name="Text 9"/>
          <p:cNvSpPr/>
          <p:nvPr/>
        </p:nvSpPr>
        <p:spPr>
          <a:xfrm>
            <a:off x="548640" y="6400800"/>
            <a:ext cx="8229600" cy="274320"/>
          </a:xfrm>
          <a:prstGeom prst="rect">
            <a:avLst/>
          </a:prstGeom>
          <a:noFill/>
          <a:ln/>
        </p:spPr>
        <p:txBody>
          <a:bodyPr wrap="square" lIns="0" tIns="0" rIns="0" bIns="0" rtlCol="0" anchor="ctr"/>
          <a:lstStyle/>
          <a:p>
            <a:pPr algn="l" indent="0" marL="0">
              <a:buNone/>
            </a:pPr>
            <a:r>
              <a:rPr lang="en-US" sz="900" dirty="0">
                <a:solidFill>
                  <a:srgbClr val="8A7F76"/>
                </a:solidFill>
                <a:latin typeface="Calibri" pitchFamily="34" charset="0"/>
                <a:ea typeface="Calibri" pitchFamily="34" charset="-122"/>
                <a:cs typeface="Calibri" pitchFamily="34" charset="-120"/>
              </a:rPr>
              <a:t>Discovery ≠ Prediction  ·  MSc Defense  ·  H. Nogueira</a:t>
            </a:r>
            <a:endParaRPr lang="en-US" sz="900" dirty="0"/>
          </a:p>
        </p:txBody>
      </p:sp>
      <p:sp>
        <p:nvSpPr>
          <p:cNvPr id="13" name="Text 10"/>
          <p:cNvSpPr/>
          <p:nvPr/>
        </p:nvSpPr>
        <p:spPr>
          <a:xfrm>
            <a:off x="10728655" y="6400800"/>
            <a:ext cx="914400" cy="274320"/>
          </a:xfrm>
          <a:prstGeom prst="rect">
            <a:avLst/>
          </a:prstGeom>
          <a:noFill/>
          <a:ln/>
        </p:spPr>
        <p:txBody>
          <a:bodyPr wrap="square" lIns="0" tIns="0" rIns="0" bIns="0" rtlCol="0" anchor="ctr"/>
          <a:lstStyle/>
          <a:p>
            <a:pPr algn="r" indent="0" marL="0">
              <a:buNone/>
            </a:pPr>
            <a:r>
              <a:rPr lang="en-US" sz="900" dirty="0">
                <a:solidFill>
                  <a:srgbClr val="8A7F76"/>
                </a:solidFill>
                <a:latin typeface="Calibri" pitchFamily="34" charset="0"/>
                <a:ea typeface="Calibri" pitchFamily="34" charset="-122"/>
                <a:cs typeface="Calibri" pitchFamily="34" charset="-120"/>
              </a:rPr>
              <a:t>9 / 14</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EFE6"/>
        </a:solidFill>
      </p:bgPr>
    </p:bg>
    <p:spTree>
      <p:nvGrpSpPr>
        <p:cNvPr id="1" name=""/>
        <p:cNvGrpSpPr/>
        <p:nvPr/>
      </p:nvGrpSpPr>
      <p:grpSpPr>
        <a:xfrm>
          <a:off x="0" y="0"/>
          <a:ext cx="0" cy="0"/>
          <a:chOff x="0" y="0"/>
          <a:chExt cx="0" cy="0"/>
        </a:xfrm>
      </p:grpSpPr>
      <p:sp>
        <p:nvSpPr>
          <p:cNvPr id="2" name="Text 0"/>
          <p:cNvSpPr/>
          <p:nvPr/>
        </p:nvSpPr>
        <p:spPr>
          <a:xfrm>
            <a:off x="566928" y="502920"/>
            <a:ext cx="10058400" cy="320040"/>
          </a:xfrm>
          <a:prstGeom prst="rect">
            <a:avLst/>
          </a:prstGeom>
          <a:noFill/>
          <a:ln/>
        </p:spPr>
        <p:txBody>
          <a:bodyPr wrap="square" lIns="0" tIns="0" rIns="0" bIns="0" rtlCol="0" anchor="ctr"/>
          <a:lstStyle/>
          <a:p>
            <a:pPr indent="0" marL="0">
              <a:buNone/>
            </a:pPr>
            <a:r>
              <a:rPr lang="en-US" sz="1200" b="1" spc="300" kern="0" dirty="0">
                <a:solidFill>
                  <a:srgbClr val="C9A227"/>
                </a:solidFill>
                <a:latin typeface="Calibri" pitchFamily="34" charset="0"/>
                <a:ea typeface="Calibri" pitchFamily="34" charset="-122"/>
                <a:cs typeface="Calibri" pitchFamily="34" charset="-120"/>
              </a:rPr>
              <a:t>THE HIDDEN VARIABLE</a:t>
            </a:r>
            <a:endParaRPr lang="en-US" sz="1200" dirty="0"/>
          </a:p>
        </p:txBody>
      </p:sp>
      <p:sp>
        <p:nvSpPr>
          <p:cNvPr id="3" name="Text 1"/>
          <p:cNvSpPr/>
          <p:nvPr/>
        </p:nvSpPr>
        <p:spPr>
          <a:xfrm>
            <a:off x="548640" y="841248"/>
            <a:ext cx="11064240" cy="1051560"/>
          </a:xfrm>
          <a:prstGeom prst="rect">
            <a:avLst/>
          </a:prstGeom>
          <a:noFill/>
          <a:ln/>
        </p:spPr>
        <p:txBody>
          <a:bodyPr wrap="square" lIns="0" tIns="0" rIns="0" bIns="0" rtlCol="0" anchor="ctr"/>
          <a:lstStyle/>
          <a:p>
            <a:pPr indent="0" marL="0">
              <a:lnSpc>
                <a:spcPct val="98000"/>
              </a:lnSpc>
              <a:buNone/>
            </a:pPr>
            <a:r>
              <a:rPr lang="en-US" sz="3200" b="1" dirty="0">
                <a:solidFill>
                  <a:srgbClr val="2B2223"/>
                </a:solidFill>
                <a:latin typeface="Century Schoolbook" pitchFamily="34" charset="0"/>
                <a:ea typeface="Century Schoolbook" pitchFamily="34" charset="-122"/>
                <a:cs typeface="Century Schoolbook" pitchFamily="34" charset="-120"/>
              </a:rPr>
              <a:t>Structural confounding decides the outcome</a:t>
            </a:r>
            <a:endParaRPr lang="en-US" sz="3200" dirty="0"/>
          </a:p>
        </p:txBody>
      </p:sp>
      <p:sp>
        <p:nvSpPr>
          <p:cNvPr id="4" name="Shape 2"/>
          <p:cNvSpPr/>
          <p:nvPr/>
        </p:nvSpPr>
        <p:spPr>
          <a:xfrm>
            <a:off x="566928" y="2331720"/>
            <a:ext cx="5394960" cy="3611880"/>
          </a:xfrm>
          <a:prstGeom prst="roundRect">
            <a:avLst>
              <a:gd name="adj" fmla="val 3038"/>
            </a:avLst>
          </a:prstGeom>
          <a:solidFill>
            <a:srgbClr val="FFFFFF"/>
          </a:solidFill>
          <a:ln/>
          <a:effectLst>
            <a:outerShdw sx="100000" sy="100000" kx="0" ky="0" algn="bl" rotWithShape="0" blurRad="101600" dist="38100" dir="5400000">
              <a:srgbClr val="000000">
                <a:alpha val="18000"/>
              </a:srgbClr>
            </a:outerShdw>
          </a:effectLst>
        </p:spPr>
      </p:sp>
      <p:sp>
        <p:nvSpPr>
          <p:cNvPr id="5" name="Shape 3"/>
          <p:cNvSpPr/>
          <p:nvPr/>
        </p:nvSpPr>
        <p:spPr>
          <a:xfrm>
            <a:off x="932688" y="2651760"/>
            <a:ext cx="502920" cy="502920"/>
          </a:xfrm>
          <a:prstGeom prst="ellipse">
            <a:avLst/>
          </a:prstGeom>
          <a:solidFill>
            <a:srgbClr val="C97B2C"/>
          </a:solidFill>
          <a:ln/>
        </p:spPr>
      </p:sp>
      <p:sp>
        <p:nvSpPr>
          <p:cNvPr id="6" name="Text 4"/>
          <p:cNvSpPr/>
          <p:nvPr/>
        </p:nvSpPr>
        <p:spPr>
          <a:xfrm>
            <a:off x="1618488" y="2651760"/>
            <a:ext cx="4023360" cy="502920"/>
          </a:xfrm>
          <a:prstGeom prst="rect">
            <a:avLst/>
          </a:prstGeom>
          <a:noFill/>
          <a:ln/>
        </p:spPr>
        <p:txBody>
          <a:bodyPr wrap="square" lIns="0" tIns="0" rIns="0" bIns="0" rtlCol="0" anchor="ctr"/>
          <a:lstStyle/>
          <a:p>
            <a:pPr indent="0" marL="0">
              <a:buNone/>
            </a:pPr>
            <a:r>
              <a:rPr lang="en-US" sz="1900" b="1" dirty="0">
                <a:solidFill>
                  <a:srgbClr val="2B2223"/>
                </a:solidFill>
                <a:latin typeface="Century Schoolbook" pitchFamily="34" charset="0"/>
                <a:ea typeface="Century Schoolbook" pitchFamily="34" charset="-122"/>
                <a:cs typeface="Century Schoolbook" pitchFamily="34" charset="-120"/>
              </a:rPr>
              <a:t>Douro (RDD)</a:t>
            </a:r>
            <a:endParaRPr lang="en-US" sz="1900" dirty="0"/>
          </a:p>
        </p:txBody>
      </p:sp>
      <p:sp>
        <p:nvSpPr>
          <p:cNvPr id="7" name="Text 5"/>
          <p:cNvSpPr/>
          <p:nvPr/>
        </p:nvSpPr>
        <p:spPr>
          <a:xfrm>
            <a:off x="950976" y="3383280"/>
            <a:ext cx="1463040" cy="685800"/>
          </a:xfrm>
          <a:prstGeom prst="rect">
            <a:avLst/>
          </a:prstGeom>
          <a:noFill/>
          <a:ln/>
        </p:spPr>
        <p:txBody>
          <a:bodyPr wrap="square" lIns="0" tIns="0" rIns="0" bIns="0" rtlCol="0" anchor="t"/>
          <a:lstStyle/>
          <a:p>
            <a:pPr indent="0" marL="0">
              <a:buNone/>
            </a:pPr>
            <a:r>
              <a:rPr lang="en-US" sz="1100" b="1" spc="100" kern="0" dirty="0">
                <a:solidFill>
                  <a:srgbClr val="8A7F76"/>
                </a:solidFill>
                <a:latin typeface="Calibri" pitchFamily="34" charset="0"/>
                <a:ea typeface="Calibri" pitchFamily="34" charset="-122"/>
                <a:cs typeface="Calibri" pitchFamily="34" charset="-120"/>
              </a:rPr>
              <a:t>TREND</a:t>
            </a:r>
            <a:endParaRPr lang="en-US" sz="1100" dirty="0"/>
          </a:p>
        </p:txBody>
      </p:sp>
      <p:sp>
        <p:nvSpPr>
          <p:cNvPr id="8" name="Text 6"/>
          <p:cNvSpPr/>
          <p:nvPr/>
        </p:nvSpPr>
        <p:spPr>
          <a:xfrm>
            <a:off x="2350008" y="3383280"/>
            <a:ext cx="3383280" cy="777240"/>
          </a:xfrm>
          <a:prstGeom prst="rect">
            <a:avLst/>
          </a:prstGeom>
          <a:noFill/>
          <a:ln/>
        </p:spPr>
        <p:txBody>
          <a:bodyPr wrap="square" lIns="0" tIns="0" rIns="0" bIns="0" rtlCol="0" anchor="t"/>
          <a:lstStyle/>
          <a:p>
            <a:pPr indent="0" marL="0">
              <a:lnSpc>
                <a:spcPct val="100000"/>
              </a:lnSpc>
              <a:buNone/>
            </a:pPr>
            <a:r>
              <a:rPr lang="en-US" sz="1350" dirty="0">
                <a:solidFill>
                  <a:srgbClr val="2B2223"/>
                </a:solidFill>
                <a:latin typeface="Calibri" pitchFamily="34" charset="0"/>
                <a:ea typeface="Calibri" pitchFamily="34" charset="-122"/>
                <a:cs typeface="Calibri" pitchFamily="34" charset="-120"/>
              </a:rPr>
              <a:t>Gradual +80% rise</a:t>
            </a:r>
            <a:endParaRPr lang="en-US" sz="1350" dirty="0"/>
          </a:p>
        </p:txBody>
      </p:sp>
      <p:sp>
        <p:nvSpPr>
          <p:cNvPr id="9" name="Text 7"/>
          <p:cNvSpPr/>
          <p:nvPr/>
        </p:nvSpPr>
        <p:spPr>
          <a:xfrm>
            <a:off x="950976" y="4206240"/>
            <a:ext cx="1463040" cy="685800"/>
          </a:xfrm>
          <a:prstGeom prst="rect">
            <a:avLst/>
          </a:prstGeom>
          <a:noFill/>
          <a:ln/>
        </p:spPr>
        <p:txBody>
          <a:bodyPr wrap="square" lIns="0" tIns="0" rIns="0" bIns="0" rtlCol="0" anchor="t"/>
          <a:lstStyle/>
          <a:p>
            <a:pPr indent="0" marL="0">
              <a:buNone/>
            </a:pPr>
            <a:r>
              <a:rPr lang="en-US" sz="1100" b="1" spc="100" kern="0" dirty="0">
                <a:solidFill>
                  <a:srgbClr val="8A7F76"/>
                </a:solidFill>
                <a:latin typeface="Calibri" pitchFamily="34" charset="0"/>
                <a:ea typeface="Calibri" pitchFamily="34" charset="-122"/>
                <a:cs typeface="Calibri" pitchFamily="34" charset="-120"/>
              </a:rPr>
              <a:t>RESIDUAL</a:t>
            </a:r>
            <a:endParaRPr lang="en-US" sz="1100" dirty="0"/>
          </a:p>
        </p:txBody>
      </p:sp>
      <p:sp>
        <p:nvSpPr>
          <p:cNvPr id="10" name="Text 8"/>
          <p:cNvSpPr/>
          <p:nvPr/>
        </p:nvSpPr>
        <p:spPr>
          <a:xfrm>
            <a:off x="2350008" y="4206240"/>
            <a:ext cx="3383280" cy="777240"/>
          </a:xfrm>
          <a:prstGeom prst="rect">
            <a:avLst/>
          </a:prstGeom>
          <a:noFill/>
          <a:ln/>
        </p:spPr>
        <p:txBody>
          <a:bodyPr wrap="square" lIns="0" tIns="0" rIns="0" bIns="0" rtlCol="0" anchor="t"/>
          <a:lstStyle/>
          <a:p>
            <a:pPr indent="0" marL="0">
              <a:lnSpc>
                <a:spcPct val="100000"/>
              </a:lnSpc>
              <a:buNone/>
            </a:pPr>
            <a:r>
              <a:rPr lang="en-US" sz="1350" dirty="0">
                <a:solidFill>
                  <a:srgbClr val="2B2223"/>
                </a:solidFill>
                <a:latin typeface="Calibri" pitchFamily="34" charset="0"/>
                <a:ea typeface="Calibri" pitchFamily="34" charset="-122"/>
                <a:cs typeface="Calibri" pitchFamily="34" charset="-120"/>
              </a:rPr>
              <a:t>Clean, exploitable</a:t>
            </a:r>
            <a:endParaRPr lang="en-US" sz="1350" dirty="0"/>
          </a:p>
        </p:txBody>
      </p:sp>
      <p:sp>
        <p:nvSpPr>
          <p:cNvPr id="11" name="Text 9"/>
          <p:cNvSpPr/>
          <p:nvPr/>
        </p:nvSpPr>
        <p:spPr>
          <a:xfrm>
            <a:off x="950976" y="5029200"/>
            <a:ext cx="1463040" cy="685800"/>
          </a:xfrm>
          <a:prstGeom prst="rect">
            <a:avLst/>
          </a:prstGeom>
          <a:noFill/>
          <a:ln/>
        </p:spPr>
        <p:txBody>
          <a:bodyPr wrap="square" lIns="0" tIns="0" rIns="0" bIns="0" rtlCol="0" anchor="t"/>
          <a:lstStyle/>
          <a:p>
            <a:pPr indent="0" marL="0">
              <a:buNone/>
            </a:pPr>
            <a:r>
              <a:rPr lang="en-US" sz="1100" b="1" spc="100" kern="0" dirty="0">
                <a:solidFill>
                  <a:srgbClr val="8A7F76"/>
                </a:solidFill>
                <a:latin typeface="Calibri" pitchFamily="34" charset="0"/>
                <a:ea typeface="Calibri" pitchFamily="34" charset="-122"/>
                <a:cs typeface="Calibri" pitchFamily="34" charset="-120"/>
              </a:rPr>
              <a:t>RESULT</a:t>
            </a:r>
            <a:endParaRPr lang="en-US" sz="1100" dirty="0"/>
          </a:p>
        </p:txBody>
      </p:sp>
      <p:sp>
        <p:nvSpPr>
          <p:cNvPr id="12" name="Text 10"/>
          <p:cNvSpPr/>
          <p:nvPr/>
        </p:nvSpPr>
        <p:spPr>
          <a:xfrm>
            <a:off x="2350008" y="5029200"/>
            <a:ext cx="3383280" cy="777240"/>
          </a:xfrm>
          <a:prstGeom prst="rect">
            <a:avLst/>
          </a:prstGeom>
          <a:noFill/>
          <a:ln/>
        </p:spPr>
        <p:txBody>
          <a:bodyPr wrap="square" lIns="0" tIns="0" rIns="0" bIns="0" rtlCol="0" anchor="t"/>
          <a:lstStyle/>
          <a:p>
            <a:pPr indent="0" marL="0">
              <a:lnSpc>
                <a:spcPct val="100000"/>
              </a:lnSpc>
              <a:buNone/>
            </a:pPr>
            <a:r>
              <a:rPr lang="en-US" sz="1350" dirty="0">
                <a:solidFill>
                  <a:srgbClr val="2B2223"/>
                </a:solidFill>
                <a:latin typeface="Calibri" pitchFamily="34" charset="0"/>
                <a:ea typeface="Calibri" pitchFamily="34" charset="-122"/>
                <a:cs typeface="Calibri" pitchFamily="34" charset="-120"/>
              </a:rPr>
              <a:t>Wins 5 of 18 scenarios · 3% gap</a:t>
            </a:r>
            <a:endParaRPr lang="en-US" sz="1350" dirty="0"/>
          </a:p>
        </p:txBody>
      </p:sp>
      <p:sp>
        <p:nvSpPr>
          <p:cNvPr id="13" name="Shape 11"/>
          <p:cNvSpPr/>
          <p:nvPr/>
        </p:nvSpPr>
        <p:spPr>
          <a:xfrm>
            <a:off x="6236208" y="2331720"/>
            <a:ext cx="5394960" cy="3611880"/>
          </a:xfrm>
          <a:prstGeom prst="roundRect">
            <a:avLst>
              <a:gd name="adj" fmla="val 3038"/>
            </a:avLst>
          </a:prstGeom>
          <a:solidFill>
            <a:srgbClr val="FFFFFF"/>
          </a:solidFill>
          <a:ln/>
          <a:effectLst>
            <a:outerShdw sx="100000" sy="100000" kx="0" ky="0" algn="bl" rotWithShape="0" blurRad="101600" dist="38100" dir="5400000">
              <a:srgbClr val="000000">
                <a:alpha val="18000"/>
              </a:srgbClr>
            </a:outerShdw>
          </a:effectLst>
        </p:spPr>
      </p:sp>
      <p:sp>
        <p:nvSpPr>
          <p:cNvPr id="14" name="Shape 12"/>
          <p:cNvSpPr/>
          <p:nvPr/>
        </p:nvSpPr>
        <p:spPr>
          <a:xfrm>
            <a:off x="6601968" y="2651760"/>
            <a:ext cx="502920" cy="502920"/>
          </a:xfrm>
          <a:prstGeom prst="ellipse">
            <a:avLst/>
          </a:prstGeom>
          <a:solidFill>
            <a:srgbClr val="3E7C59"/>
          </a:solidFill>
          <a:ln/>
        </p:spPr>
      </p:sp>
      <p:sp>
        <p:nvSpPr>
          <p:cNvPr id="15" name="Text 13"/>
          <p:cNvSpPr/>
          <p:nvPr/>
        </p:nvSpPr>
        <p:spPr>
          <a:xfrm>
            <a:off x="7287768" y="2651760"/>
            <a:ext cx="4023360" cy="502920"/>
          </a:xfrm>
          <a:prstGeom prst="rect">
            <a:avLst/>
          </a:prstGeom>
          <a:noFill/>
          <a:ln/>
        </p:spPr>
        <p:txBody>
          <a:bodyPr wrap="square" lIns="0" tIns="0" rIns="0" bIns="0" rtlCol="0" anchor="ctr"/>
          <a:lstStyle/>
          <a:p>
            <a:pPr indent="0" marL="0">
              <a:buNone/>
            </a:pPr>
            <a:r>
              <a:rPr lang="en-US" sz="1900" b="1" dirty="0">
                <a:solidFill>
                  <a:srgbClr val="2B2223"/>
                </a:solidFill>
                <a:latin typeface="Century Schoolbook" pitchFamily="34" charset="0"/>
                <a:ea typeface="Century Schoolbook" pitchFamily="34" charset="-122"/>
                <a:cs typeface="Century Schoolbook" pitchFamily="34" charset="-120"/>
              </a:rPr>
              <a:t>Vinho Verde (RVV)</a:t>
            </a:r>
            <a:endParaRPr lang="en-US" sz="1900" dirty="0"/>
          </a:p>
        </p:txBody>
      </p:sp>
      <p:sp>
        <p:nvSpPr>
          <p:cNvPr id="16" name="Text 14"/>
          <p:cNvSpPr/>
          <p:nvPr/>
        </p:nvSpPr>
        <p:spPr>
          <a:xfrm>
            <a:off x="6620256" y="3383280"/>
            <a:ext cx="1463040" cy="685800"/>
          </a:xfrm>
          <a:prstGeom prst="rect">
            <a:avLst/>
          </a:prstGeom>
          <a:noFill/>
          <a:ln/>
        </p:spPr>
        <p:txBody>
          <a:bodyPr wrap="square" lIns="0" tIns="0" rIns="0" bIns="0" rtlCol="0" anchor="t"/>
          <a:lstStyle/>
          <a:p>
            <a:pPr indent="0" marL="0">
              <a:buNone/>
            </a:pPr>
            <a:r>
              <a:rPr lang="en-US" sz="1100" b="1" spc="100" kern="0" dirty="0">
                <a:solidFill>
                  <a:srgbClr val="8A7F76"/>
                </a:solidFill>
                <a:latin typeface="Calibri" pitchFamily="34" charset="0"/>
                <a:ea typeface="Calibri" pitchFamily="34" charset="-122"/>
                <a:cs typeface="Calibri" pitchFamily="34" charset="-120"/>
              </a:rPr>
              <a:t>TREND</a:t>
            </a:r>
            <a:endParaRPr lang="en-US" sz="1100" dirty="0"/>
          </a:p>
        </p:txBody>
      </p:sp>
      <p:sp>
        <p:nvSpPr>
          <p:cNvPr id="17" name="Text 15"/>
          <p:cNvSpPr/>
          <p:nvPr/>
        </p:nvSpPr>
        <p:spPr>
          <a:xfrm>
            <a:off x="8019288" y="3383280"/>
            <a:ext cx="3383280" cy="777240"/>
          </a:xfrm>
          <a:prstGeom prst="rect">
            <a:avLst/>
          </a:prstGeom>
          <a:noFill/>
          <a:ln/>
        </p:spPr>
        <p:txBody>
          <a:bodyPr wrap="square" lIns="0" tIns="0" rIns="0" bIns="0" rtlCol="0" anchor="t"/>
          <a:lstStyle/>
          <a:p>
            <a:pPr indent="0" marL="0">
              <a:lnSpc>
                <a:spcPct val="100000"/>
              </a:lnSpc>
              <a:buNone/>
            </a:pPr>
            <a:r>
              <a:rPr lang="en-US" sz="1350" dirty="0">
                <a:solidFill>
                  <a:srgbClr val="2B2223"/>
                </a:solidFill>
                <a:latin typeface="Calibri" pitchFamily="34" charset="0"/>
                <a:ea typeface="Calibri" pitchFamily="34" charset="-122"/>
                <a:cs typeface="Calibri" pitchFamily="34" charset="-120"/>
              </a:rPr>
              <a:t>Abrupt −65% policy collapse</a:t>
            </a:r>
            <a:endParaRPr lang="en-US" sz="1350" dirty="0"/>
          </a:p>
        </p:txBody>
      </p:sp>
      <p:sp>
        <p:nvSpPr>
          <p:cNvPr id="18" name="Text 16"/>
          <p:cNvSpPr/>
          <p:nvPr/>
        </p:nvSpPr>
        <p:spPr>
          <a:xfrm>
            <a:off x="6620256" y="4206240"/>
            <a:ext cx="1463040" cy="685800"/>
          </a:xfrm>
          <a:prstGeom prst="rect">
            <a:avLst/>
          </a:prstGeom>
          <a:noFill/>
          <a:ln/>
        </p:spPr>
        <p:txBody>
          <a:bodyPr wrap="square" lIns="0" tIns="0" rIns="0" bIns="0" rtlCol="0" anchor="t"/>
          <a:lstStyle/>
          <a:p>
            <a:pPr indent="0" marL="0">
              <a:buNone/>
            </a:pPr>
            <a:r>
              <a:rPr lang="en-US" sz="1100" b="1" spc="100" kern="0" dirty="0">
                <a:solidFill>
                  <a:srgbClr val="8A7F76"/>
                </a:solidFill>
                <a:latin typeface="Calibri" pitchFamily="34" charset="0"/>
                <a:ea typeface="Calibri" pitchFamily="34" charset="-122"/>
                <a:cs typeface="Calibri" pitchFamily="34" charset="-120"/>
              </a:rPr>
              <a:t>RESIDUAL</a:t>
            </a:r>
            <a:endParaRPr lang="en-US" sz="1100" dirty="0"/>
          </a:p>
        </p:txBody>
      </p:sp>
      <p:sp>
        <p:nvSpPr>
          <p:cNvPr id="19" name="Text 17"/>
          <p:cNvSpPr/>
          <p:nvPr/>
        </p:nvSpPr>
        <p:spPr>
          <a:xfrm>
            <a:off x="8019288" y="4206240"/>
            <a:ext cx="3383280" cy="777240"/>
          </a:xfrm>
          <a:prstGeom prst="rect">
            <a:avLst/>
          </a:prstGeom>
          <a:noFill/>
          <a:ln/>
        </p:spPr>
        <p:txBody>
          <a:bodyPr wrap="square" lIns="0" tIns="0" rIns="0" bIns="0" rtlCol="0" anchor="t"/>
          <a:lstStyle/>
          <a:p>
            <a:pPr indent="0" marL="0">
              <a:lnSpc>
                <a:spcPct val="100000"/>
              </a:lnSpc>
              <a:buNone/>
            </a:pPr>
            <a:r>
              <a:rPr lang="en-US" sz="1350" dirty="0">
                <a:solidFill>
                  <a:srgbClr val="2B2223"/>
                </a:solidFill>
                <a:latin typeface="Calibri" pitchFamily="34" charset="0"/>
                <a:ea typeface="Calibri" pitchFamily="34" charset="-122"/>
                <a:cs typeface="Calibri" pitchFamily="34" charset="-120"/>
              </a:rPr>
              <a:t>Contaminated by era</a:t>
            </a:r>
            <a:endParaRPr lang="en-US" sz="1350" dirty="0"/>
          </a:p>
        </p:txBody>
      </p:sp>
      <p:sp>
        <p:nvSpPr>
          <p:cNvPr id="20" name="Text 18"/>
          <p:cNvSpPr/>
          <p:nvPr/>
        </p:nvSpPr>
        <p:spPr>
          <a:xfrm>
            <a:off x="6620256" y="5029200"/>
            <a:ext cx="1463040" cy="685800"/>
          </a:xfrm>
          <a:prstGeom prst="rect">
            <a:avLst/>
          </a:prstGeom>
          <a:noFill/>
          <a:ln/>
        </p:spPr>
        <p:txBody>
          <a:bodyPr wrap="square" lIns="0" tIns="0" rIns="0" bIns="0" rtlCol="0" anchor="t"/>
          <a:lstStyle/>
          <a:p>
            <a:pPr indent="0" marL="0">
              <a:buNone/>
            </a:pPr>
            <a:r>
              <a:rPr lang="en-US" sz="1100" b="1" spc="100" kern="0" dirty="0">
                <a:solidFill>
                  <a:srgbClr val="8A7F76"/>
                </a:solidFill>
                <a:latin typeface="Calibri" pitchFamily="34" charset="0"/>
                <a:ea typeface="Calibri" pitchFamily="34" charset="-122"/>
                <a:cs typeface="Calibri" pitchFamily="34" charset="-120"/>
              </a:rPr>
              <a:t>RESULT</a:t>
            </a:r>
            <a:endParaRPr lang="en-US" sz="1100" dirty="0"/>
          </a:p>
        </p:txBody>
      </p:sp>
      <p:sp>
        <p:nvSpPr>
          <p:cNvPr id="21" name="Text 19"/>
          <p:cNvSpPr/>
          <p:nvPr/>
        </p:nvSpPr>
        <p:spPr>
          <a:xfrm>
            <a:off x="8019288" y="5029200"/>
            <a:ext cx="3383280" cy="777240"/>
          </a:xfrm>
          <a:prstGeom prst="rect">
            <a:avLst/>
          </a:prstGeom>
          <a:noFill/>
          <a:ln/>
        </p:spPr>
        <p:txBody>
          <a:bodyPr wrap="square" lIns="0" tIns="0" rIns="0" bIns="0" rtlCol="0" anchor="t"/>
          <a:lstStyle/>
          <a:p>
            <a:pPr indent="0" marL="0">
              <a:lnSpc>
                <a:spcPct val="100000"/>
              </a:lnSpc>
              <a:buNone/>
            </a:pPr>
            <a:r>
              <a:rPr lang="en-US" sz="1350" dirty="0">
                <a:solidFill>
                  <a:srgbClr val="2B2223"/>
                </a:solidFill>
                <a:latin typeface="Calibri" pitchFamily="34" charset="0"/>
                <a:ea typeface="Calibri" pitchFamily="34" charset="-122"/>
                <a:cs typeface="Calibri" pitchFamily="34" charset="-120"/>
              </a:rPr>
              <a:t>0 wins · rules harmful · 22% gap</a:t>
            </a:r>
            <a:endParaRPr lang="en-US" sz="1350" dirty="0"/>
          </a:p>
        </p:txBody>
      </p:sp>
      <p:sp>
        <p:nvSpPr>
          <p:cNvPr id="22" name="Text 20"/>
          <p:cNvSpPr/>
          <p:nvPr/>
        </p:nvSpPr>
        <p:spPr>
          <a:xfrm>
            <a:off x="566928" y="6126480"/>
            <a:ext cx="11064240" cy="457200"/>
          </a:xfrm>
          <a:prstGeom prst="rect">
            <a:avLst/>
          </a:prstGeom>
          <a:noFill/>
          <a:ln/>
        </p:spPr>
        <p:txBody>
          <a:bodyPr wrap="square" lIns="0" tIns="0" rIns="0" bIns="0" rtlCol="0" anchor="ctr"/>
          <a:lstStyle/>
          <a:p>
            <a:pPr indent="0" marL="0">
              <a:buNone/>
            </a:pPr>
            <a:r>
              <a:rPr lang="en-US" sz="1450" i="1" dirty="0">
                <a:solidFill>
                  <a:srgbClr val="4A1522"/>
                </a:solidFill>
                <a:latin typeface="Calibri" pitchFamily="34" charset="0"/>
                <a:ea typeface="Calibri" pitchFamily="34" charset="-122"/>
                <a:cs typeface="Calibri" pitchFamily="34" charset="-120"/>
              </a:rPr>
              <a:t>More modern data makes Vinho Verde WORSE — its rules lock onto era artifacts, not weather.</a:t>
            </a:r>
            <a:endParaRPr lang="en-US" sz="1450" dirty="0"/>
          </a:p>
        </p:txBody>
      </p:sp>
      <p:sp>
        <p:nvSpPr>
          <p:cNvPr id="23" name="Text 21"/>
          <p:cNvSpPr/>
          <p:nvPr/>
        </p:nvSpPr>
        <p:spPr>
          <a:xfrm>
            <a:off x="548640" y="6400800"/>
            <a:ext cx="8229600" cy="274320"/>
          </a:xfrm>
          <a:prstGeom prst="rect">
            <a:avLst/>
          </a:prstGeom>
          <a:noFill/>
          <a:ln/>
        </p:spPr>
        <p:txBody>
          <a:bodyPr wrap="square" lIns="0" tIns="0" rIns="0" bIns="0" rtlCol="0" anchor="ctr"/>
          <a:lstStyle/>
          <a:p>
            <a:pPr algn="l" indent="0" marL="0">
              <a:buNone/>
            </a:pPr>
            <a:r>
              <a:rPr lang="en-US" sz="900" dirty="0">
                <a:solidFill>
                  <a:srgbClr val="8A7F76"/>
                </a:solidFill>
                <a:latin typeface="Calibri" pitchFamily="34" charset="0"/>
                <a:ea typeface="Calibri" pitchFamily="34" charset="-122"/>
                <a:cs typeface="Calibri" pitchFamily="34" charset="-120"/>
              </a:rPr>
              <a:t>Discovery ≠ Prediction  ·  MSc Defense  ·  H. Nogueira</a:t>
            </a:r>
            <a:endParaRPr lang="en-US" sz="900" dirty="0"/>
          </a:p>
        </p:txBody>
      </p:sp>
      <p:sp>
        <p:nvSpPr>
          <p:cNvPr id="24" name="Text 22"/>
          <p:cNvSpPr/>
          <p:nvPr/>
        </p:nvSpPr>
        <p:spPr>
          <a:xfrm>
            <a:off x="10728655" y="6400800"/>
            <a:ext cx="914400" cy="274320"/>
          </a:xfrm>
          <a:prstGeom prst="rect">
            <a:avLst/>
          </a:prstGeom>
          <a:noFill/>
          <a:ln/>
        </p:spPr>
        <p:txBody>
          <a:bodyPr wrap="square" lIns="0" tIns="0" rIns="0" bIns="0" rtlCol="0" anchor="ctr"/>
          <a:lstStyle/>
          <a:p>
            <a:pPr algn="r" indent="0" marL="0">
              <a:buNone/>
            </a:pPr>
            <a:r>
              <a:rPr lang="en-US" sz="900" dirty="0">
                <a:solidFill>
                  <a:srgbClr val="8A7F76"/>
                </a:solidFill>
                <a:latin typeface="Calibri" pitchFamily="34" charset="0"/>
                <a:ea typeface="Calibri" pitchFamily="34" charset="-122"/>
                <a:cs typeface="Calibri" pitchFamily="34" charset="-120"/>
              </a:rPr>
              <a:t>10 / 14</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EFE6"/>
        </a:solidFill>
      </p:bgPr>
    </p:bg>
    <p:spTree>
      <p:nvGrpSpPr>
        <p:cNvPr id="1" name=""/>
        <p:cNvGrpSpPr/>
        <p:nvPr/>
      </p:nvGrpSpPr>
      <p:grpSpPr>
        <a:xfrm>
          <a:off x="0" y="0"/>
          <a:ext cx="0" cy="0"/>
          <a:chOff x="0" y="0"/>
          <a:chExt cx="0" cy="0"/>
        </a:xfrm>
      </p:grpSpPr>
      <p:sp>
        <p:nvSpPr>
          <p:cNvPr id="2" name="Text 0"/>
          <p:cNvSpPr/>
          <p:nvPr/>
        </p:nvSpPr>
        <p:spPr>
          <a:xfrm>
            <a:off x="566928" y="502920"/>
            <a:ext cx="10058400" cy="320040"/>
          </a:xfrm>
          <a:prstGeom prst="rect">
            <a:avLst/>
          </a:prstGeom>
          <a:noFill/>
          <a:ln/>
        </p:spPr>
        <p:txBody>
          <a:bodyPr wrap="square" lIns="0" tIns="0" rIns="0" bIns="0" rtlCol="0" anchor="ctr"/>
          <a:lstStyle/>
          <a:p>
            <a:pPr indent="0" marL="0">
              <a:buNone/>
            </a:pPr>
            <a:r>
              <a:rPr lang="en-US" sz="1200" b="1" spc="300" kern="0" dirty="0">
                <a:solidFill>
                  <a:srgbClr val="C9A227"/>
                </a:solidFill>
                <a:latin typeface="Calibri" pitchFamily="34" charset="0"/>
                <a:ea typeface="Calibri" pitchFamily="34" charset="-122"/>
                <a:cs typeface="Calibri" pitchFamily="34" charset="-120"/>
              </a:rPr>
              <a:t>ONE HONEST GLIMMER</a:t>
            </a:r>
            <a:endParaRPr lang="en-US" sz="1200" dirty="0"/>
          </a:p>
        </p:txBody>
      </p:sp>
      <p:sp>
        <p:nvSpPr>
          <p:cNvPr id="3" name="Text 1"/>
          <p:cNvSpPr/>
          <p:nvPr/>
        </p:nvSpPr>
        <p:spPr>
          <a:xfrm>
            <a:off x="548640" y="841248"/>
            <a:ext cx="11064240" cy="1051560"/>
          </a:xfrm>
          <a:prstGeom prst="rect">
            <a:avLst/>
          </a:prstGeom>
          <a:noFill/>
          <a:ln/>
        </p:spPr>
        <p:txBody>
          <a:bodyPr wrap="square" lIns="0" tIns="0" rIns="0" bIns="0" rtlCol="0" anchor="ctr"/>
          <a:lstStyle/>
          <a:p>
            <a:pPr indent="0" marL="0">
              <a:lnSpc>
                <a:spcPct val="98000"/>
              </a:lnSpc>
              <a:buNone/>
            </a:pPr>
            <a:r>
              <a:rPr lang="en-US" sz="3200" b="1" dirty="0">
                <a:solidFill>
                  <a:srgbClr val="2B2223"/>
                </a:solidFill>
                <a:latin typeface="Century Schoolbook" pitchFamily="34" charset="0"/>
                <a:ea typeface="Century Schoolbook" pitchFamily="34" charset="-122"/>
                <a:cs typeface="Century Schoolbook" pitchFamily="34" charset="-120"/>
              </a:rPr>
              <a:t>When the eras balance, the rules win</a:t>
            </a:r>
            <a:endParaRPr lang="en-US" sz="3200" dirty="0"/>
          </a:p>
        </p:txBody>
      </p:sp>
      <p:sp>
        <p:nvSpPr>
          <p:cNvPr id="4" name="Shape 2"/>
          <p:cNvSpPr/>
          <p:nvPr/>
        </p:nvSpPr>
        <p:spPr>
          <a:xfrm>
            <a:off x="566928" y="2377440"/>
            <a:ext cx="5120640" cy="3566160"/>
          </a:xfrm>
          <a:prstGeom prst="roundRect">
            <a:avLst>
              <a:gd name="adj" fmla="val 3077"/>
            </a:avLst>
          </a:prstGeom>
          <a:solidFill>
            <a:srgbClr val="FFFFFF"/>
          </a:solidFill>
          <a:ln/>
          <a:effectLst>
            <a:outerShdw sx="100000" sy="100000" kx="0" ky="0" algn="bl" rotWithShape="0" blurRad="101600" dist="38100" dir="5400000">
              <a:srgbClr val="000000">
                <a:alpha val="18000"/>
              </a:srgbClr>
            </a:outerShdw>
          </a:effectLst>
        </p:spPr>
      </p:sp>
      <p:sp>
        <p:nvSpPr>
          <p:cNvPr id="5" name="Text 3"/>
          <p:cNvSpPr/>
          <p:nvPr/>
        </p:nvSpPr>
        <p:spPr>
          <a:xfrm>
            <a:off x="566928" y="2697480"/>
            <a:ext cx="5120640" cy="1097280"/>
          </a:xfrm>
          <a:prstGeom prst="rect">
            <a:avLst/>
          </a:prstGeom>
          <a:noFill/>
          <a:ln/>
        </p:spPr>
        <p:txBody>
          <a:bodyPr wrap="square" lIns="0" tIns="0" rIns="0" bIns="0" rtlCol="0" anchor="ctr"/>
          <a:lstStyle/>
          <a:p>
            <a:pPr algn="ctr" indent="0" marL="0">
              <a:buNone/>
            </a:pPr>
            <a:r>
              <a:rPr lang="en-US" sz="6000" b="1" dirty="0">
                <a:solidFill>
                  <a:srgbClr val="3E7C59"/>
                </a:solidFill>
                <a:latin typeface="Century Schoolbook" pitchFamily="34" charset="0"/>
                <a:ea typeface="Century Schoolbook" pitchFamily="34" charset="-122"/>
                <a:cs typeface="Century Schoolbook" pitchFamily="34" charset="-120"/>
              </a:rPr>
              <a:t>5 / 5</a:t>
            </a:r>
            <a:endParaRPr lang="en-US" sz="6000" dirty="0"/>
          </a:p>
        </p:txBody>
      </p:sp>
      <p:sp>
        <p:nvSpPr>
          <p:cNvPr id="6" name="Text 4"/>
          <p:cNvSpPr/>
          <p:nvPr/>
        </p:nvSpPr>
        <p:spPr>
          <a:xfrm>
            <a:off x="914400" y="3794760"/>
            <a:ext cx="4434840" cy="822960"/>
          </a:xfrm>
          <a:prstGeom prst="rect">
            <a:avLst/>
          </a:prstGeom>
          <a:noFill/>
          <a:ln/>
        </p:spPr>
        <p:txBody>
          <a:bodyPr wrap="square" lIns="0" tIns="0" rIns="0" bIns="0" rtlCol="0" anchor="ctr"/>
          <a:lstStyle/>
          <a:p>
            <a:pPr algn="ctr" indent="0" marL="0">
              <a:lnSpc>
                <a:spcPct val="105000"/>
              </a:lnSpc>
              <a:buNone/>
            </a:pPr>
            <a:r>
              <a:rPr lang="en-US" sz="1500" dirty="0">
                <a:solidFill>
                  <a:srgbClr val="2B2223"/>
                </a:solidFill>
                <a:latin typeface="Calibri" pitchFamily="34" charset="0"/>
                <a:ea typeface="Calibri" pitchFamily="34" charset="-122"/>
                <a:cs typeface="Calibri" pitchFamily="34" charset="-120"/>
              </a:rPr>
              <a:t>consecutive Douro scenarios where CarenR beats the baseline</a:t>
            </a:r>
            <a:endParaRPr lang="en-US" sz="1500" dirty="0"/>
          </a:p>
        </p:txBody>
      </p:sp>
      <p:sp>
        <p:nvSpPr>
          <p:cNvPr id="7" name="Text 5"/>
          <p:cNvSpPr/>
          <p:nvPr/>
        </p:nvSpPr>
        <p:spPr>
          <a:xfrm>
            <a:off x="914400" y="4709160"/>
            <a:ext cx="4434840" cy="822960"/>
          </a:xfrm>
          <a:prstGeom prst="rect">
            <a:avLst/>
          </a:prstGeom>
          <a:noFill/>
          <a:ln/>
        </p:spPr>
        <p:txBody>
          <a:bodyPr wrap="square" lIns="0" tIns="0" rIns="0" bIns="0" rtlCol="0" anchor="ctr"/>
          <a:lstStyle/>
          <a:p>
            <a:pPr algn="ctr" indent="0" marL="0">
              <a:lnSpc>
                <a:spcPct val="105000"/>
              </a:lnSpc>
              <a:buNone/>
            </a:pPr>
            <a:r>
              <a:rPr lang="en-US" sz="1300" i="1" dirty="0">
                <a:solidFill>
                  <a:srgbClr val="8A7F76"/>
                </a:solidFill>
                <a:latin typeface="Calibri" pitchFamily="34" charset="0"/>
                <a:ea typeface="Calibri" pitchFamily="34" charset="-122"/>
                <a:cs typeface="Calibri" pitchFamily="34" charset="-120"/>
              </a:rPr>
              <a:t>once training data reaches ~29% modern-era share  ·  binomial p = 0.031</a:t>
            </a:r>
            <a:endParaRPr lang="en-US" sz="1300" dirty="0"/>
          </a:p>
        </p:txBody>
      </p:sp>
      <p:sp>
        <p:nvSpPr>
          <p:cNvPr id="8" name="Shape 6"/>
          <p:cNvSpPr/>
          <p:nvPr/>
        </p:nvSpPr>
        <p:spPr>
          <a:xfrm>
            <a:off x="5943600" y="2377440"/>
            <a:ext cx="5669280" cy="3566160"/>
          </a:xfrm>
          <a:prstGeom prst="roundRect">
            <a:avLst>
              <a:gd name="adj" fmla="val 3077"/>
            </a:avLst>
          </a:prstGeom>
          <a:solidFill>
            <a:srgbClr val="4A1522"/>
          </a:solidFill>
          <a:ln/>
          <a:effectLst>
            <a:outerShdw sx="100000" sy="100000" kx="0" ky="0" algn="bl" rotWithShape="0" blurRad="101600" dist="38100" dir="5400000">
              <a:srgbClr val="000000">
                <a:alpha val="18000"/>
              </a:srgbClr>
            </a:outerShdw>
          </a:effectLst>
        </p:spPr>
      </p:sp>
      <p:sp>
        <p:nvSpPr>
          <p:cNvPr id="9" name="Text 7"/>
          <p:cNvSpPr/>
          <p:nvPr/>
        </p:nvSpPr>
        <p:spPr>
          <a:xfrm>
            <a:off x="6263640" y="2651760"/>
            <a:ext cx="5120640" cy="457200"/>
          </a:xfrm>
          <a:prstGeom prst="rect">
            <a:avLst/>
          </a:prstGeom>
          <a:noFill/>
          <a:ln/>
        </p:spPr>
        <p:txBody>
          <a:bodyPr wrap="square" lIns="0" tIns="0" rIns="0" bIns="0" rtlCol="0" anchor="ctr"/>
          <a:lstStyle/>
          <a:p>
            <a:pPr indent="0" marL="0">
              <a:buNone/>
            </a:pPr>
            <a:r>
              <a:rPr lang="en-US" sz="1800" b="1" dirty="0">
                <a:solidFill>
                  <a:srgbClr val="C9A227"/>
                </a:solidFill>
                <a:latin typeface="Century Schoolbook" pitchFamily="34" charset="0"/>
                <a:ea typeface="Century Schoolbook" pitchFamily="34" charset="-122"/>
                <a:cs typeface="Century Schoolbook" pitchFamily="34" charset="-120"/>
              </a:rPr>
              <a:t>Read this honestly</a:t>
            </a:r>
            <a:endParaRPr lang="en-US" sz="1800" dirty="0"/>
          </a:p>
        </p:txBody>
      </p:sp>
      <p:sp>
        <p:nvSpPr>
          <p:cNvPr id="10" name="Text 8"/>
          <p:cNvSpPr/>
          <p:nvPr/>
        </p:nvSpPr>
        <p:spPr>
          <a:xfrm>
            <a:off x="6263640" y="3246120"/>
            <a:ext cx="5074920" cy="2468880"/>
          </a:xfrm>
          <a:prstGeom prst="rect">
            <a:avLst/>
          </a:prstGeom>
          <a:noFill/>
          <a:ln/>
        </p:spPr>
        <p:txBody>
          <a:bodyPr wrap="square" lIns="0" tIns="0" rIns="0" bIns="0" rtlCol="0" anchor="ctr"/>
          <a:lstStyle/>
          <a:p>
            <a:pPr indent="0" marL="0">
              <a:lnSpc>
                <a:spcPct val="115000"/>
              </a:lnSpc>
              <a:buNone/>
            </a:pPr>
            <a:r>
              <a:rPr lang="en-US" sz="1450" dirty="0">
                <a:solidFill>
                  <a:srgbClr val="F5EFE6"/>
                </a:solidFill>
                <a:latin typeface="Calibri" pitchFamily="34" charset="0"/>
                <a:ea typeface="Calibri" pitchFamily="34" charset="-122"/>
                <a:cs typeface="Calibri" pitchFamily="34" charset="-120"/>
              </a:rPr>
              <a:t>• Found </a:t>
            </a:r>
            <a:pPr indent="0" marL="0">
              <a:lnSpc>
                <a:spcPct val="115000"/>
              </a:lnSpc>
              <a:buNone/>
            </a:pPr>
            <a:r>
              <a:rPr lang="en-US" sz="1450" i="1" dirty="0">
                <a:solidFill>
                  <a:srgbClr val="F5EFE6"/>
                </a:solidFill>
                <a:latin typeface="Calibri" pitchFamily="34" charset="0"/>
                <a:ea typeface="Calibri" pitchFamily="34" charset="-122"/>
                <a:cs typeface="Calibri" pitchFamily="34" charset="-120"/>
              </a:rPr>
              <a:t>after</a:t>
            </a:r>
            <a:pPr indent="0" marL="0">
              <a:lnSpc>
                <a:spcPct val="115000"/>
              </a:lnSpc>
              <a:buNone/>
            </a:pPr>
            <a:r>
              <a:rPr lang="en-US" sz="1450" dirty="0">
                <a:solidFill>
                  <a:srgbClr val="F5EFE6"/>
                </a:solidFill>
                <a:latin typeface="Calibri" pitchFamily="34" charset="0"/>
                <a:ea typeface="Calibri" pitchFamily="34" charset="-122"/>
                <a:cs typeface="Calibri" pitchFamily="34" charset="-120"/>
              </a:rPr>
              <a:t> seeing the results — post-hoc.
</a:t>
            </a:r>
            <a:endParaRPr lang="en-US" sz="1450" dirty="0"/>
          </a:p>
          <a:p>
            <a:pPr indent="0" marL="0">
              <a:lnSpc>
                <a:spcPct val="115000"/>
              </a:lnSpc>
              <a:buNone/>
            </a:pPr>
            <a:r>
              <a:rPr lang="en-US" sz="1450" dirty="0">
                <a:solidFill>
                  <a:srgbClr val="F5EFE6"/>
                </a:solidFill>
                <a:latin typeface="Calibri" pitchFamily="34" charset="0"/>
                <a:ea typeface="Calibri" pitchFamily="34" charset="-122"/>
                <a:cs typeface="Calibri" pitchFamily="34" charset="-120"/>
              </a:rPr>
              <a:t>• Only five nested data points.
</a:t>
            </a:r>
            <a:endParaRPr lang="en-US" sz="1450" dirty="0"/>
          </a:p>
          <a:p>
            <a:pPr indent="0" marL="0">
              <a:lnSpc>
                <a:spcPct val="115000"/>
              </a:lnSpc>
              <a:buNone/>
            </a:pPr>
            <a:r>
              <a:rPr lang="en-US" sz="1450" dirty="0">
                <a:solidFill>
                  <a:srgbClr val="F5EFE6"/>
                </a:solidFill>
                <a:latin typeface="Calibri" pitchFamily="34" charset="0"/>
                <a:ea typeface="Calibri" pitchFamily="34" charset="-122"/>
                <a:cs typeface="Calibri" pitchFamily="34" charset="-120"/>
              </a:rPr>
              <a:t>• The very next scenarios fail.
</a:t>
            </a:r>
            <a:endParaRPr lang="en-US" sz="1450" dirty="0"/>
          </a:p>
          <a:p>
            <a:pPr indent="0" marL="0">
              <a:lnSpc>
                <a:spcPct val="115000"/>
              </a:lnSpc>
              <a:buNone/>
            </a:pPr>
            <a:r>
              <a:rPr lang="en-US" sz="1450" b="1" dirty="0">
                <a:solidFill>
                  <a:srgbClr val="F5EFE6"/>
                </a:solidFill>
                <a:latin typeface="Calibri" pitchFamily="34" charset="0"/>
                <a:ea typeface="Calibri" pitchFamily="34" charset="-122"/>
                <a:cs typeface="Calibri" pitchFamily="34" charset="-120"/>
              </a:rPr>
              <a:t>→ Hypothesis-generating, not a finding. Must be pre-registered and tested prospectively.</a:t>
            </a:r>
            <a:endParaRPr lang="en-US" sz="1450" dirty="0"/>
          </a:p>
        </p:txBody>
      </p:sp>
      <p:sp>
        <p:nvSpPr>
          <p:cNvPr id="11" name="Text 9"/>
          <p:cNvSpPr/>
          <p:nvPr/>
        </p:nvSpPr>
        <p:spPr>
          <a:xfrm>
            <a:off x="548640" y="6400800"/>
            <a:ext cx="8229600" cy="274320"/>
          </a:xfrm>
          <a:prstGeom prst="rect">
            <a:avLst/>
          </a:prstGeom>
          <a:noFill/>
          <a:ln/>
        </p:spPr>
        <p:txBody>
          <a:bodyPr wrap="square" lIns="0" tIns="0" rIns="0" bIns="0" rtlCol="0" anchor="ctr"/>
          <a:lstStyle/>
          <a:p>
            <a:pPr algn="l" indent="0" marL="0">
              <a:buNone/>
            </a:pPr>
            <a:r>
              <a:rPr lang="en-US" sz="900" dirty="0">
                <a:solidFill>
                  <a:srgbClr val="8A7F76"/>
                </a:solidFill>
                <a:latin typeface="Calibri" pitchFamily="34" charset="0"/>
                <a:ea typeface="Calibri" pitchFamily="34" charset="-122"/>
                <a:cs typeface="Calibri" pitchFamily="34" charset="-120"/>
              </a:rPr>
              <a:t>Discovery ≠ Prediction  ·  MSc Defense  ·  H. Nogueira</a:t>
            </a:r>
            <a:endParaRPr lang="en-US" sz="900" dirty="0"/>
          </a:p>
        </p:txBody>
      </p:sp>
      <p:sp>
        <p:nvSpPr>
          <p:cNvPr id="12" name="Text 10"/>
          <p:cNvSpPr/>
          <p:nvPr/>
        </p:nvSpPr>
        <p:spPr>
          <a:xfrm>
            <a:off x="10728655" y="6400800"/>
            <a:ext cx="914400" cy="274320"/>
          </a:xfrm>
          <a:prstGeom prst="rect">
            <a:avLst/>
          </a:prstGeom>
          <a:noFill/>
          <a:ln/>
        </p:spPr>
        <p:txBody>
          <a:bodyPr wrap="square" lIns="0" tIns="0" rIns="0" bIns="0" rtlCol="0" anchor="ctr"/>
          <a:lstStyle/>
          <a:p>
            <a:pPr algn="r" indent="0" marL="0">
              <a:buNone/>
            </a:pPr>
            <a:r>
              <a:rPr lang="en-US" sz="900" dirty="0">
                <a:solidFill>
                  <a:srgbClr val="8A7F76"/>
                </a:solidFill>
                <a:latin typeface="Calibri" pitchFamily="34" charset="0"/>
                <a:ea typeface="Calibri" pitchFamily="34" charset="-122"/>
                <a:cs typeface="Calibri" pitchFamily="34" charset="-120"/>
              </a:rPr>
              <a:t>11 / 14</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EFE6"/>
        </a:solidFill>
      </p:bgPr>
    </p:bg>
    <p:spTree>
      <p:nvGrpSpPr>
        <p:cNvPr id="1" name=""/>
        <p:cNvGrpSpPr/>
        <p:nvPr/>
      </p:nvGrpSpPr>
      <p:grpSpPr>
        <a:xfrm>
          <a:off x="0" y="0"/>
          <a:ext cx="0" cy="0"/>
          <a:chOff x="0" y="0"/>
          <a:chExt cx="0" cy="0"/>
        </a:xfrm>
      </p:grpSpPr>
      <p:sp>
        <p:nvSpPr>
          <p:cNvPr id="2" name="Text 0"/>
          <p:cNvSpPr/>
          <p:nvPr/>
        </p:nvSpPr>
        <p:spPr>
          <a:xfrm>
            <a:off x="566928" y="502920"/>
            <a:ext cx="10058400" cy="320040"/>
          </a:xfrm>
          <a:prstGeom prst="rect">
            <a:avLst/>
          </a:prstGeom>
          <a:noFill/>
          <a:ln/>
        </p:spPr>
        <p:txBody>
          <a:bodyPr wrap="square" lIns="0" tIns="0" rIns="0" bIns="0" rtlCol="0" anchor="ctr"/>
          <a:lstStyle/>
          <a:p>
            <a:pPr indent="0" marL="0">
              <a:buNone/>
            </a:pPr>
            <a:r>
              <a:rPr lang="en-US" sz="1200" b="1" spc="300" kern="0" dirty="0">
                <a:solidFill>
                  <a:srgbClr val="C9A227"/>
                </a:solidFill>
                <a:latin typeface="Calibri" pitchFamily="34" charset="0"/>
                <a:ea typeface="Calibri" pitchFamily="34" charset="-122"/>
                <a:cs typeface="Calibri" pitchFamily="34" charset="-120"/>
              </a:rPr>
              <a:t>WHY THIS GENERALISES</a:t>
            </a:r>
            <a:endParaRPr lang="en-US" sz="1200" dirty="0"/>
          </a:p>
        </p:txBody>
      </p:sp>
      <p:sp>
        <p:nvSpPr>
          <p:cNvPr id="3" name="Text 1"/>
          <p:cNvSpPr/>
          <p:nvPr/>
        </p:nvSpPr>
        <p:spPr>
          <a:xfrm>
            <a:off x="548640" y="841248"/>
            <a:ext cx="11064240" cy="1051560"/>
          </a:xfrm>
          <a:prstGeom prst="rect">
            <a:avLst/>
          </a:prstGeom>
          <a:noFill/>
          <a:ln/>
        </p:spPr>
        <p:txBody>
          <a:bodyPr wrap="square" lIns="0" tIns="0" rIns="0" bIns="0" rtlCol="0" anchor="ctr"/>
          <a:lstStyle/>
          <a:p>
            <a:pPr indent="0" marL="0">
              <a:lnSpc>
                <a:spcPct val="98000"/>
              </a:lnSpc>
              <a:buNone/>
            </a:pPr>
            <a:r>
              <a:rPr lang="en-US" sz="3200" b="1" dirty="0">
                <a:solidFill>
                  <a:srgbClr val="2B2223"/>
                </a:solidFill>
                <a:latin typeface="Century Schoolbook" pitchFamily="34" charset="0"/>
                <a:ea typeface="Century Schoolbook" pitchFamily="34" charset="-122"/>
                <a:cs typeface="Century Schoolbook" pitchFamily="34" charset="-120"/>
              </a:rPr>
              <a:t>This is a lesson about non-stationary time series</a:t>
            </a:r>
            <a:endParaRPr lang="en-US" sz="3200" dirty="0"/>
          </a:p>
        </p:txBody>
      </p:sp>
      <p:sp>
        <p:nvSpPr>
          <p:cNvPr id="4" name="Text 2"/>
          <p:cNvSpPr/>
          <p:nvPr/>
        </p:nvSpPr>
        <p:spPr>
          <a:xfrm>
            <a:off x="566928" y="1874520"/>
            <a:ext cx="11064240" cy="640080"/>
          </a:xfrm>
          <a:prstGeom prst="rect">
            <a:avLst/>
          </a:prstGeom>
          <a:noFill/>
          <a:ln/>
        </p:spPr>
        <p:txBody>
          <a:bodyPr wrap="square" lIns="0" tIns="0" rIns="0" bIns="0" rtlCol="0" anchor="ctr"/>
          <a:lstStyle/>
          <a:p>
            <a:pPr indent="0" marL="0">
              <a:lnSpc>
                <a:spcPct val="105000"/>
              </a:lnSpc>
              <a:buNone/>
            </a:pPr>
            <a:r>
              <a:rPr lang="en-US" sz="1550" i="1" dirty="0">
                <a:solidFill>
                  <a:srgbClr val="4A1522"/>
                </a:solidFill>
                <a:latin typeface="Calibri" pitchFamily="34" charset="0"/>
                <a:ea typeface="Calibri" pitchFamily="34" charset="-122"/>
                <a:cs typeface="Calibri" pitchFamily="34" charset="-120"/>
              </a:rPr>
              <a:t>Replace “wine” with crop yield, disease incidence, energy demand, macroeconomics — any series with structural regime shifts.</a:t>
            </a:r>
            <a:endParaRPr lang="en-US" sz="1550" dirty="0"/>
          </a:p>
        </p:txBody>
      </p:sp>
      <p:sp>
        <p:nvSpPr>
          <p:cNvPr id="5" name="Shape 3"/>
          <p:cNvSpPr/>
          <p:nvPr/>
        </p:nvSpPr>
        <p:spPr>
          <a:xfrm>
            <a:off x="566928" y="2697480"/>
            <a:ext cx="3474720" cy="3200400"/>
          </a:xfrm>
          <a:prstGeom prst="roundRect">
            <a:avLst>
              <a:gd name="adj" fmla="val 2857"/>
            </a:avLst>
          </a:prstGeom>
          <a:solidFill>
            <a:srgbClr val="FFFFFF"/>
          </a:solidFill>
          <a:ln/>
          <a:effectLst>
            <a:outerShdw sx="100000" sy="100000" kx="0" ky="0" algn="bl" rotWithShape="0" blurRad="101600" dist="38100" dir="5400000">
              <a:srgbClr val="000000">
                <a:alpha val="18000"/>
              </a:srgbClr>
            </a:outerShdw>
          </a:effectLst>
        </p:spPr>
      </p:sp>
      <p:sp>
        <p:nvSpPr>
          <p:cNvPr id="6" name="Shape 4"/>
          <p:cNvSpPr/>
          <p:nvPr/>
        </p:nvSpPr>
        <p:spPr>
          <a:xfrm>
            <a:off x="886968" y="2971800"/>
            <a:ext cx="548640" cy="548640"/>
          </a:xfrm>
          <a:prstGeom prst="ellipse">
            <a:avLst/>
          </a:prstGeom>
          <a:solidFill>
            <a:srgbClr val="C97B2C"/>
          </a:solidFill>
          <a:ln/>
        </p:spPr>
      </p:sp>
      <p:sp>
        <p:nvSpPr>
          <p:cNvPr id="7" name="Text 5"/>
          <p:cNvSpPr/>
          <p:nvPr/>
        </p:nvSpPr>
        <p:spPr>
          <a:xfrm>
            <a:off x="886968" y="2971800"/>
            <a:ext cx="548640" cy="548640"/>
          </a:xfrm>
          <a:prstGeom prst="rect">
            <a:avLst/>
          </a:prstGeom>
          <a:noFill/>
          <a:ln/>
        </p:spPr>
        <p:txBody>
          <a:bodyPr wrap="square" lIns="0" tIns="0" rIns="0" bIns="0" rtlCol="0" anchor="ctr"/>
          <a:lstStyle/>
          <a:p>
            <a:pPr algn="ctr" indent="0" marL="0">
              <a:buNone/>
            </a:pPr>
            <a:r>
              <a:rPr lang="en-US" sz="2000" b="1" dirty="0">
                <a:solidFill>
                  <a:srgbClr val="F5EFE6"/>
                </a:solidFill>
                <a:latin typeface="Century Schoolbook" pitchFamily="34" charset="0"/>
                <a:ea typeface="Century Schoolbook" pitchFamily="34" charset="-122"/>
                <a:cs typeface="Century Schoolbook" pitchFamily="34" charset="-120"/>
              </a:rPr>
              <a:t>1</a:t>
            </a:r>
            <a:endParaRPr lang="en-US" sz="2000" dirty="0"/>
          </a:p>
        </p:txBody>
      </p:sp>
      <p:sp>
        <p:nvSpPr>
          <p:cNvPr id="8" name="Text 6"/>
          <p:cNvSpPr/>
          <p:nvPr/>
        </p:nvSpPr>
        <p:spPr>
          <a:xfrm>
            <a:off x="896112" y="3703320"/>
            <a:ext cx="2834640" cy="914400"/>
          </a:xfrm>
          <a:prstGeom prst="rect">
            <a:avLst/>
          </a:prstGeom>
          <a:noFill/>
          <a:ln/>
        </p:spPr>
        <p:txBody>
          <a:bodyPr wrap="square" lIns="0" tIns="0" rIns="0" bIns="0" rtlCol="0" anchor="ctr"/>
          <a:lstStyle/>
          <a:p>
            <a:pPr indent="0" marL="0">
              <a:lnSpc>
                <a:spcPct val="100000"/>
              </a:lnSpc>
              <a:buNone/>
            </a:pPr>
            <a:r>
              <a:rPr lang="en-US" sz="1650" b="1" dirty="0">
                <a:solidFill>
                  <a:srgbClr val="2B2223"/>
                </a:solidFill>
                <a:latin typeface="Century Schoolbook" pitchFamily="34" charset="0"/>
                <a:ea typeface="Century Schoolbook" pitchFamily="34" charset="-122"/>
                <a:cs typeface="Century Schoolbook" pitchFamily="34" charset="-120"/>
              </a:rPr>
              <a:t>Discoverability ≠ predictability</a:t>
            </a:r>
            <a:endParaRPr lang="en-US" sz="1650" dirty="0"/>
          </a:p>
        </p:txBody>
      </p:sp>
      <p:sp>
        <p:nvSpPr>
          <p:cNvPr id="9" name="Text 7"/>
          <p:cNvSpPr/>
          <p:nvPr/>
        </p:nvSpPr>
        <p:spPr>
          <a:xfrm>
            <a:off x="896112" y="4617720"/>
            <a:ext cx="2880360" cy="1188720"/>
          </a:xfrm>
          <a:prstGeom prst="rect">
            <a:avLst/>
          </a:prstGeom>
          <a:noFill/>
          <a:ln/>
        </p:spPr>
        <p:txBody>
          <a:bodyPr wrap="square" lIns="0" tIns="0" rIns="0" bIns="0" rtlCol="0" anchor="ctr"/>
          <a:lstStyle/>
          <a:p>
            <a:pPr indent="0" marL="0">
              <a:lnSpc>
                <a:spcPct val="105000"/>
              </a:lnSpc>
              <a:buNone/>
            </a:pPr>
            <a:r>
              <a:rPr lang="en-US" sz="1300" dirty="0">
                <a:solidFill>
                  <a:srgbClr val="4A4340"/>
                </a:solidFill>
                <a:latin typeface="Calibri" pitchFamily="34" charset="0"/>
                <a:ea typeface="Calibri" pitchFamily="34" charset="-122"/>
                <a:cs typeface="Calibri" pitchFamily="34" charset="-120"/>
              </a:rPr>
              <a:t>A validated, interpretable pattern is not evidence it will forecast. Always test out-of-sample against an honest baseline.</a:t>
            </a:r>
            <a:endParaRPr lang="en-US" sz="1300" dirty="0"/>
          </a:p>
        </p:txBody>
      </p:sp>
      <p:sp>
        <p:nvSpPr>
          <p:cNvPr id="10" name="Shape 8"/>
          <p:cNvSpPr/>
          <p:nvPr/>
        </p:nvSpPr>
        <p:spPr>
          <a:xfrm>
            <a:off x="4279392" y="2697480"/>
            <a:ext cx="3474720" cy="3200400"/>
          </a:xfrm>
          <a:prstGeom prst="roundRect">
            <a:avLst>
              <a:gd name="adj" fmla="val 2857"/>
            </a:avLst>
          </a:prstGeom>
          <a:solidFill>
            <a:srgbClr val="FFFFFF"/>
          </a:solidFill>
          <a:ln/>
          <a:effectLst>
            <a:outerShdw sx="100000" sy="100000" kx="0" ky="0" algn="bl" rotWithShape="0" blurRad="101600" dist="38100" dir="5400000">
              <a:srgbClr val="000000">
                <a:alpha val="18000"/>
              </a:srgbClr>
            </a:outerShdw>
          </a:effectLst>
        </p:spPr>
      </p:sp>
      <p:sp>
        <p:nvSpPr>
          <p:cNvPr id="11" name="Shape 9"/>
          <p:cNvSpPr/>
          <p:nvPr/>
        </p:nvSpPr>
        <p:spPr>
          <a:xfrm>
            <a:off x="4599432" y="2971800"/>
            <a:ext cx="548640" cy="548640"/>
          </a:xfrm>
          <a:prstGeom prst="ellipse">
            <a:avLst/>
          </a:prstGeom>
          <a:solidFill>
            <a:srgbClr val="4A1522"/>
          </a:solidFill>
          <a:ln/>
        </p:spPr>
      </p:sp>
      <p:sp>
        <p:nvSpPr>
          <p:cNvPr id="12" name="Text 10"/>
          <p:cNvSpPr/>
          <p:nvPr/>
        </p:nvSpPr>
        <p:spPr>
          <a:xfrm>
            <a:off x="4599432" y="2971800"/>
            <a:ext cx="548640" cy="548640"/>
          </a:xfrm>
          <a:prstGeom prst="rect">
            <a:avLst/>
          </a:prstGeom>
          <a:noFill/>
          <a:ln/>
        </p:spPr>
        <p:txBody>
          <a:bodyPr wrap="square" lIns="0" tIns="0" rIns="0" bIns="0" rtlCol="0" anchor="ctr"/>
          <a:lstStyle/>
          <a:p>
            <a:pPr algn="ctr" indent="0" marL="0">
              <a:buNone/>
            </a:pPr>
            <a:r>
              <a:rPr lang="en-US" sz="2000" b="1" dirty="0">
                <a:solidFill>
                  <a:srgbClr val="F5EFE6"/>
                </a:solidFill>
                <a:latin typeface="Century Schoolbook" pitchFamily="34" charset="0"/>
                <a:ea typeface="Century Schoolbook" pitchFamily="34" charset="-122"/>
                <a:cs typeface="Century Schoolbook" pitchFamily="34" charset="-120"/>
              </a:rPr>
              <a:t>2</a:t>
            </a:r>
            <a:endParaRPr lang="en-US" sz="2000" dirty="0"/>
          </a:p>
        </p:txBody>
      </p:sp>
      <p:sp>
        <p:nvSpPr>
          <p:cNvPr id="13" name="Text 11"/>
          <p:cNvSpPr/>
          <p:nvPr/>
        </p:nvSpPr>
        <p:spPr>
          <a:xfrm>
            <a:off x="4608576" y="3703320"/>
            <a:ext cx="2834640" cy="914400"/>
          </a:xfrm>
          <a:prstGeom prst="rect">
            <a:avLst/>
          </a:prstGeom>
          <a:noFill/>
          <a:ln/>
        </p:spPr>
        <p:txBody>
          <a:bodyPr wrap="square" lIns="0" tIns="0" rIns="0" bIns="0" rtlCol="0" anchor="ctr"/>
          <a:lstStyle/>
          <a:p>
            <a:pPr indent="0" marL="0">
              <a:lnSpc>
                <a:spcPct val="100000"/>
              </a:lnSpc>
              <a:buNone/>
            </a:pPr>
            <a:r>
              <a:rPr lang="en-US" sz="1650" b="1" dirty="0">
                <a:solidFill>
                  <a:srgbClr val="2B2223"/>
                </a:solidFill>
                <a:latin typeface="Century Schoolbook" pitchFamily="34" charset="0"/>
                <a:ea typeface="Century Schoolbook" pitchFamily="34" charset="-122"/>
                <a:cs typeface="Century Schoolbook" pitchFamily="34" charset="-120"/>
              </a:rPr>
              <a:t>Mind the detrending trade-off</a:t>
            </a:r>
            <a:endParaRPr lang="en-US" sz="1650" dirty="0"/>
          </a:p>
        </p:txBody>
      </p:sp>
      <p:sp>
        <p:nvSpPr>
          <p:cNvPr id="14" name="Text 12"/>
          <p:cNvSpPr/>
          <p:nvPr/>
        </p:nvSpPr>
        <p:spPr>
          <a:xfrm>
            <a:off x="4608576" y="4617720"/>
            <a:ext cx="2880360" cy="1188720"/>
          </a:xfrm>
          <a:prstGeom prst="rect">
            <a:avLst/>
          </a:prstGeom>
          <a:noFill/>
          <a:ln/>
        </p:spPr>
        <p:txBody>
          <a:bodyPr wrap="square" lIns="0" tIns="0" rIns="0" bIns="0" rtlCol="0" anchor="ctr"/>
          <a:lstStyle/>
          <a:p>
            <a:pPr indent="0" marL="0">
              <a:lnSpc>
                <a:spcPct val="105000"/>
              </a:lnSpc>
              <a:buNone/>
            </a:pPr>
            <a:r>
              <a:rPr lang="en-US" sz="1300" dirty="0">
                <a:solidFill>
                  <a:srgbClr val="4A4340"/>
                </a:solidFill>
                <a:latin typeface="Calibri" pitchFamily="34" charset="0"/>
                <a:ea typeface="Calibri" pitchFamily="34" charset="-122"/>
                <a:cs typeface="Calibri" pitchFamily="34" charset="-120"/>
              </a:rPr>
              <a:t>A more flexible trend can quietly eat the signal you're trying to model. Trend quality and signal availability compete.</a:t>
            </a:r>
            <a:endParaRPr lang="en-US" sz="1300" dirty="0"/>
          </a:p>
        </p:txBody>
      </p:sp>
      <p:sp>
        <p:nvSpPr>
          <p:cNvPr id="15" name="Shape 13"/>
          <p:cNvSpPr/>
          <p:nvPr/>
        </p:nvSpPr>
        <p:spPr>
          <a:xfrm>
            <a:off x="7991856" y="2697480"/>
            <a:ext cx="3474720" cy="3200400"/>
          </a:xfrm>
          <a:prstGeom prst="roundRect">
            <a:avLst>
              <a:gd name="adj" fmla="val 2857"/>
            </a:avLst>
          </a:prstGeom>
          <a:solidFill>
            <a:srgbClr val="FFFFFF"/>
          </a:solidFill>
          <a:ln/>
          <a:effectLst>
            <a:outerShdw sx="100000" sy="100000" kx="0" ky="0" algn="bl" rotWithShape="0" blurRad="101600" dist="38100" dir="5400000">
              <a:srgbClr val="000000">
                <a:alpha val="18000"/>
              </a:srgbClr>
            </a:outerShdw>
          </a:effectLst>
        </p:spPr>
      </p:sp>
      <p:sp>
        <p:nvSpPr>
          <p:cNvPr id="16" name="Shape 14"/>
          <p:cNvSpPr/>
          <p:nvPr/>
        </p:nvSpPr>
        <p:spPr>
          <a:xfrm>
            <a:off x="8311896" y="2971800"/>
            <a:ext cx="548640" cy="548640"/>
          </a:xfrm>
          <a:prstGeom prst="ellipse">
            <a:avLst/>
          </a:prstGeom>
          <a:solidFill>
            <a:srgbClr val="3E7C59"/>
          </a:solidFill>
          <a:ln/>
        </p:spPr>
      </p:sp>
      <p:sp>
        <p:nvSpPr>
          <p:cNvPr id="17" name="Text 15"/>
          <p:cNvSpPr/>
          <p:nvPr/>
        </p:nvSpPr>
        <p:spPr>
          <a:xfrm>
            <a:off x="8311896" y="2971800"/>
            <a:ext cx="548640" cy="548640"/>
          </a:xfrm>
          <a:prstGeom prst="rect">
            <a:avLst/>
          </a:prstGeom>
          <a:noFill/>
          <a:ln/>
        </p:spPr>
        <p:txBody>
          <a:bodyPr wrap="square" lIns="0" tIns="0" rIns="0" bIns="0" rtlCol="0" anchor="ctr"/>
          <a:lstStyle/>
          <a:p>
            <a:pPr algn="ctr" indent="0" marL="0">
              <a:buNone/>
            </a:pPr>
            <a:r>
              <a:rPr lang="en-US" sz="2000" b="1" dirty="0">
                <a:solidFill>
                  <a:srgbClr val="F5EFE6"/>
                </a:solidFill>
                <a:latin typeface="Century Schoolbook" pitchFamily="34" charset="0"/>
                <a:ea typeface="Century Schoolbook" pitchFamily="34" charset="-122"/>
                <a:cs typeface="Century Schoolbook" pitchFamily="34" charset="-120"/>
              </a:rPr>
              <a:t>3</a:t>
            </a:r>
            <a:endParaRPr lang="en-US" sz="2000" dirty="0"/>
          </a:p>
        </p:txBody>
      </p:sp>
      <p:sp>
        <p:nvSpPr>
          <p:cNvPr id="18" name="Text 16"/>
          <p:cNvSpPr/>
          <p:nvPr/>
        </p:nvSpPr>
        <p:spPr>
          <a:xfrm>
            <a:off x="8321040" y="3703320"/>
            <a:ext cx="2834640" cy="914400"/>
          </a:xfrm>
          <a:prstGeom prst="rect">
            <a:avLst/>
          </a:prstGeom>
          <a:noFill/>
          <a:ln/>
        </p:spPr>
        <p:txBody>
          <a:bodyPr wrap="square" lIns="0" tIns="0" rIns="0" bIns="0" rtlCol="0" anchor="ctr"/>
          <a:lstStyle/>
          <a:p>
            <a:pPr indent="0" marL="0">
              <a:lnSpc>
                <a:spcPct val="100000"/>
              </a:lnSpc>
              <a:buNone/>
            </a:pPr>
            <a:r>
              <a:rPr lang="en-US" sz="1650" b="1" dirty="0">
                <a:solidFill>
                  <a:srgbClr val="2B2223"/>
                </a:solidFill>
                <a:latin typeface="Century Schoolbook" pitchFamily="34" charset="0"/>
                <a:ea typeface="Century Schoolbook" pitchFamily="34" charset="-122"/>
                <a:cs typeface="Century Schoolbook" pitchFamily="34" charset="-120"/>
              </a:rPr>
              <a:t>Metrics interact with regimes</a:t>
            </a:r>
            <a:endParaRPr lang="en-US" sz="1650" dirty="0"/>
          </a:p>
        </p:txBody>
      </p:sp>
      <p:sp>
        <p:nvSpPr>
          <p:cNvPr id="19" name="Text 17"/>
          <p:cNvSpPr/>
          <p:nvPr/>
        </p:nvSpPr>
        <p:spPr>
          <a:xfrm>
            <a:off x="8321040" y="4617720"/>
            <a:ext cx="2880360" cy="1188720"/>
          </a:xfrm>
          <a:prstGeom prst="rect">
            <a:avLst/>
          </a:prstGeom>
          <a:noFill/>
          <a:ln/>
        </p:spPr>
        <p:txBody>
          <a:bodyPr wrap="square" lIns="0" tIns="0" rIns="0" bIns="0" rtlCol="0" anchor="ctr"/>
          <a:lstStyle/>
          <a:p>
            <a:pPr indent="0" marL="0">
              <a:lnSpc>
                <a:spcPct val="105000"/>
              </a:lnSpc>
              <a:buNone/>
            </a:pPr>
            <a:r>
              <a:rPr lang="en-US" sz="1300" dirty="0">
                <a:solidFill>
                  <a:srgbClr val="4A4340"/>
                </a:solidFill>
                <a:latin typeface="Calibri" pitchFamily="34" charset="0"/>
                <a:ea typeface="Calibri" pitchFamily="34" charset="-122"/>
                <a:cs typeface="Calibri" pitchFamily="34" charset="-120"/>
              </a:rPr>
              <a:t>Your evaluation weighting silently encodes the era composition of the data. The verdict can shift as data accumulates.</a:t>
            </a:r>
            <a:endParaRPr lang="en-US" sz="1300" dirty="0"/>
          </a:p>
        </p:txBody>
      </p:sp>
      <p:sp>
        <p:nvSpPr>
          <p:cNvPr id="20" name="Text 18"/>
          <p:cNvSpPr/>
          <p:nvPr/>
        </p:nvSpPr>
        <p:spPr>
          <a:xfrm>
            <a:off x="548640" y="6400800"/>
            <a:ext cx="8229600" cy="274320"/>
          </a:xfrm>
          <a:prstGeom prst="rect">
            <a:avLst/>
          </a:prstGeom>
          <a:noFill/>
          <a:ln/>
        </p:spPr>
        <p:txBody>
          <a:bodyPr wrap="square" lIns="0" tIns="0" rIns="0" bIns="0" rtlCol="0" anchor="ctr"/>
          <a:lstStyle/>
          <a:p>
            <a:pPr algn="l" indent="0" marL="0">
              <a:buNone/>
            </a:pPr>
            <a:r>
              <a:rPr lang="en-US" sz="900" dirty="0">
                <a:solidFill>
                  <a:srgbClr val="8A7F76"/>
                </a:solidFill>
                <a:latin typeface="Calibri" pitchFamily="34" charset="0"/>
                <a:ea typeface="Calibri" pitchFamily="34" charset="-122"/>
                <a:cs typeface="Calibri" pitchFamily="34" charset="-120"/>
              </a:rPr>
              <a:t>Discovery ≠ Prediction  ·  MSc Defense  ·  H. Nogueira</a:t>
            </a:r>
            <a:endParaRPr lang="en-US" sz="900" dirty="0"/>
          </a:p>
        </p:txBody>
      </p:sp>
      <p:sp>
        <p:nvSpPr>
          <p:cNvPr id="21" name="Text 19"/>
          <p:cNvSpPr/>
          <p:nvPr/>
        </p:nvSpPr>
        <p:spPr>
          <a:xfrm>
            <a:off x="10728655" y="6400800"/>
            <a:ext cx="914400" cy="274320"/>
          </a:xfrm>
          <a:prstGeom prst="rect">
            <a:avLst/>
          </a:prstGeom>
          <a:noFill/>
          <a:ln/>
        </p:spPr>
        <p:txBody>
          <a:bodyPr wrap="square" lIns="0" tIns="0" rIns="0" bIns="0" rtlCol="0" anchor="ctr"/>
          <a:lstStyle/>
          <a:p>
            <a:pPr algn="r" indent="0" marL="0">
              <a:buNone/>
            </a:pPr>
            <a:r>
              <a:rPr lang="en-US" sz="900" dirty="0">
                <a:solidFill>
                  <a:srgbClr val="8A7F76"/>
                </a:solidFill>
                <a:latin typeface="Calibri" pitchFamily="34" charset="0"/>
                <a:ea typeface="Calibri" pitchFamily="34" charset="-122"/>
                <a:cs typeface="Calibri" pitchFamily="34" charset="-120"/>
              </a:rPr>
              <a:t>12 / 14</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EFE6"/>
        </a:solidFill>
      </p:bgPr>
    </p:bg>
    <p:spTree>
      <p:nvGrpSpPr>
        <p:cNvPr id="1" name=""/>
        <p:cNvGrpSpPr/>
        <p:nvPr/>
      </p:nvGrpSpPr>
      <p:grpSpPr>
        <a:xfrm>
          <a:off x="0" y="0"/>
          <a:ext cx="0" cy="0"/>
          <a:chOff x="0" y="0"/>
          <a:chExt cx="0" cy="0"/>
        </a:xfrm>
      </p:grpSpPr>
      <p:sp>
        <p:nvSpPr>
          <p:cNvPr id="2" name="Text 0"/>
          <p:cNvSpPr/>
          <p:nvPr/>
        </p:nvSpPr>
        <p:spPr>
          <a:xfrm>
            <a:off x="566928" y="502920"/>
            <a:ext cx="10058400" cy="320040"/>
          </a:xfrm>
          <a:prstGeom prst="rect">
            <a:avLst/>
          </a:prstGeom>
          <a:noFill/>
          <a:ln/>
        </p:spPr>
        <p:txBody>
          <a:bodyPr wrap="square" lIns="0" tIns="0" rIns="0" bIns="0" rtlCol="0" anchor="ctr"/>
          <a:lstStyle/>
          <a:p>
            <a:pPr indent="0" marL="0">
              <a:buNone/>
            </a:pPr>
            <a:r>
              <a:rPr lang="en-US" sz="1200" b="1" spc="300" kern="0" dirty="0">
                <a:solidFill>
                  <a:srgbClr val="C9A227"/>
                </a:solidFill>
                <a:latin typeface="Calibri" pitchFamily="34" charset="0"/>
                <a:ea typeface="Calibri" pitchFamily="34" charset="-122"/>
                <a:cs typeface="Calibri" pitchFamily="34" charset="-120"/>
              </a:rPr>
              <a:t>WHAT THIS THESIS DELIVERS</a:t>
            </a:r>
            <a:endParaRPr lang="en-US" sz="1200" dirty="0"/>
          </a:p>
        </p:txBody>
      </p:sp>
      <p:sp>
        <p:nvSpPr>
          <p:cNvPr id="3" name="Text 1"/>
          <p:cNvSpPr/>
          <p:nvPr/>
        </p:nvSpPr>
        <p:spPr>
          <a:xfrm>
            <a:off x="548640" y="841248"/>
            <a:ext cx="11064240" cy="1051560"/>
          </a:xfrm>
          <a:prstGeom prst="rect">
            <a:avLst/>
          </a:prstGeom>
          <a:noFill/>
          <a:ln/>
        </p:spPr>
        <p:txBody>
          <a:bodyPr wrap="square" lIns="0" tIns="0" rIns="0" bIns="0" rtlCol="0" anchor="ctr"/>
          <a:lstStyle/>
          <a:p>
            <a:pPr indent="0" marL="0">
              <a:lnSpc>
                <a:spcPct val="98000"/>
              </a:lnSpc>
              <a:buNone/>
            </a:pPr>
            <a:r>
              <a:rPr lang="en-US" sz="3200" b="1" dirty="0">
                <a:solidFill>
                  <a:srgbClr val="2B2223"/>
                </a:solidFill>
                <a:latin typeface="Century Schoolbook" pitchFamily="34" charset="0"/>
                <a:ea typeface="Century Schoolbook" pitchFamily="34" charset="-122"/>
                <a:cs typeface="Century Schoolbook" pitchFamily="34" charset="-120"/>
              </a:rPr>
              <a:t>A diagnosis — and the prescription</a:t>
            </a:r>
            <a:endParaRPr lang="en-US" sz="3200" dirty="0"/>
          </a:p>
        </p:txBody>
      </p:sp>
      <p:sp>
        <p:nvSpPr>
          <p:cNvPr id="4" name="Shape 2"/>
          <p:cNvSpPr/>
          <p:nvPr/>
        </p:nvSpPr>
        <p:spPr>
          <a:xfrm>
            <a:off x="566928" y="2331720"/>
            <a:ext cx="5532120" cy="3657600"/>
          </a:xfrm>
          <a:prstGeom prst="roundRect">
            <a:avLst>
              <a:gd name="adj" fmla="val 3000"/>
            </a:avLst>
          </a:prstGeom>
          <a:solidFill>
            <a:srgbClr val="FFFFFF"/>
          </a:solidFill>
          <a:ln/>
          <a:effectLst>
            <a:outerShdw sx="100000" sy="100000" kx="0" ky="0" algn="bl" rotWithShape="0" blurRad="101600" dist="38100" dir="5400000">
              <a:srgbClr val="000000">
                <a:alpha val="18000"/>
              </a:srgbClr>
            </a:outerShdw>
          </a:effectLst>
        </p:spPr>
      </p:sp>
      <p:sp>
        <p:nvSpPr>
          <p:cNvPr id="5" name="Text 3"/>
          <p:cNvSpPr/>
          <p:nvPr/>
        </p:nvSpPr>
        <p:spPr>
          <a:xfrm>
            <a:off x="868680" y="2560320"/>
            <a:ext cx="4937760" cy="457200"/>
          </a:xfrm>
          <a:prstGeom prst="rect">
            <a:avLst/>
          </a:prstGeom>
          <a:noFill/>
          <a:ln/>
        </p:spPr>
        <p:txBody>
          <a:bodyPr wrap="square" lIns="0" tIns="0" rIns="0" bIns="0" rtlCol="0" anchor="ctr"/>
          <a:lstStyle/>
          <a:p>
            <a:pPr indent="0" marL="0">
              <a:buNone/>
            </a:pPr>
            <a:r>
              <a:rPr lang="en-US" sz="1800" b="1" dirty="0">
                <a:solidFill>
                  <a:srgbClr val="4A1522"/>
                </a:solidFill>
                <a:latin typeface="Century Schoolbook" pitchFamily="34" charset="0"/>
                <a:ea typeface="Century Schoolbook" pitchFamily="34" charset="-122"/>
                <a:cs typeface="Century Schoolbook" pitchFamily="34" charset="-120"/>
              </a:rPr>
              <a:t>The contribution</a:t>
            </a:r>
            <a:endParaRPr lang="en-US" sz="1800" dirty="0"/>
          </a:p>
        </p:txBody>
      </p:sp>
      <p:sp>
        <p:nvSpPr>
          <p:cNvPr id="6" name="Text 4"/>
          <p:cNvSpPr/>
          <p:nvPr/>
        </p:nvSpPr>
        <p:spPr>
          <a:xfrm>
            <a:off x="868680" y="3063240"/>
            <a:ext cx="4937760" cy="2788920"/>
          </a:xfrm>
          <a:prstGeom prst="rect">
            <a:avLst/>
          </a:prstGeom>
          <a:noFill/>
          <a:ln/>
        </p:spPr>
        <p:txBody>
          <a:bodyPr wrap="square" lIns="0" tIns="0" rIns="0" bIns="0" rtlCol="0" anchor="ctr"/>
          <a:lstStyle/>
          <a:p>
            <a:pPr indent="0" marL="0">
              <a:lnSpc>
                <a:spcPct val="100000"/>
              </a:lnSpc>
              <a:buNone/>
            </a:pPr>
            <a:r>
              <a:rPr lang="en-US" sz="1450" b="1" dirty="0">
                <a:solidFill>
                  <a:srgbClr val="2B2223"/>
                </a:solidFill>
                <a:latin typeface="Calibri" pitchFamily="34" charset="0"/>
                <a:ea typeface="Calibri" pitchFamily="34" charset="-122"/>
                <a:cs typeface="Calibri" pitchFamily="34" charset="-120"/>
              </a:rPr>
              <a:t>Two-decision framework</a:t>
            </a:r>
            <a:endParaRPr lang="en-US" sz="1450" dirty="0"/>
          </a:p>
          <a:p>
            <a:pPr indent="0" marL="0">
              <a:lnSpc>
                <a:spcPct val="100000"/>
              </a:lnSpc>
              <a:buNone/>
            </a:pPr>
            <a:r>
              <a:rPr lang="en-US" sz="1350" dirty="0">
                <a:solidFill>
                  <a:srgbClr val="4A4340"/>
                </a:solidFill>
                <a:latin typeface="Calibri" pitchFamily="34" charset="0"/>
                <a:ea typeface="Calibri" pitchFamily="34" charset="-122"/>
                <a:cs typeface="Calibri" pitchFamily="34" charset="-120"/>
              </a:rPr>
              <a:t>a diagnostic that localises where forecasting fails.
</a:t>
            </a:r>
            <a:endParaRPr lang="en-US" sz="1450" dirty="0"/>
          </a:p>
          <a:p>
            <a:pPr indent="0" marL="0">
              <a:lnSpc>
                <a:spcPct val="100000"/>
              </a:lnSpc>
              <a:buNone/>
            </a:pPr>
            <a:r>
              <a:rPr lang="en-US" sz="1450" b="1" dirty="0">
                <a:solidFill>
                  <a:srgbClr val="2B2223"/>
                </a:solidFill>
                <a:latin typeface="Calibri" pitchFamily="34" charset="0"/>
                <a:ea typeface="Calibri" pitchFamily="34" charset="-122"/>
                <a:cs typeface="Calibri" pitchFamily="34" charset="-120"/>
              </a:rPr>
              <a:t>LOESS era-confound test</a:t>
            </a:r>
            <a:endParaRPr lang="en-US" sz="1450" dirty="0"/>
          </a:p>
          <a:p>
            <a:pPr indent="0" marL="0">
              <a:lnSpc>
                <a:spcPct val="100000"/>
              </a:lnSpc>
              <a:buNone/>
            </a:pPr>
            <a:r>
              <a:rPr lang="en-US" sz="1350" dirty="0">
                <a:solidFill>
                  <a:srgbClr val="4A4340"/>
                </a:solidFill>
                <a:latin typeface="Calibri" pitchFamily="34" charset="0"/>
                <a:ea typeface="Calibri" pitchFamily="34" charset="-122"/>
                <a:cs typeface="Calibri" pitchFamily="34" charset="-120"/>
              </a:rPr>
              <a:t>separates genuine signal from era artifact.
</a:t>
            </a:r>
            <a:endParaRPr lang="en-US" sz="1450" dirty="0"/>
          </a:p>
          <a:p>
            <a:pPr indent="0" marL="0">
              <a:lnSpc>
                <a:spcPct val="100000"/>
              </a:lnSpc>
              <a:buNone/>
            </a:pPr>
            <a:r>
              <a:rPr lang="en-US" sz="1450" b="1" dirty="0">
                <a:solidFill>
                  <a:srgbClr val="2B2223"/>
                </a:solidFill>
                <a:latin typeface="Calibri" pitchFamily="34" charset="0"/>
                <a:ea typeface="Calibri" pitchFamily="34" charset="-122"/>
                <a:cs typeface="Calibri" pitchFamily="34" charset="-120"/>
              </a:rPr>
              <a:t>Controlled two-region design</a:t>
            </a:r>
            <a:endParaRPr lang="en-US" sz="1450" dirty="0"/>
          </a:p>
          <a:p>
            <a:pPr indent="0" marL="0">
              <a:lnSpc>
                <a:spcPct val="100000"/>
              </a:lnSpc>
              <a:buNone/>
            </a:pPr>
            <a:r>
              <a:rPr lang="en-US" sz="1350" dirty="0">
                <a:solidFill>
                  <a:srgbClr val="4A4340"/>
                </a:solidFill>
                <a:latin typeface="Calibri" pitchFamily="34" charset="0"/>
                <a:ea typeface="Calibri" pitchFamily="34" charset="-122"/>
                <a:cs typeface="Calibri" pitchFamily="34" charset="-120"/>
              </a:rPr>
              <a:t>isolates structural confounding as the driver.</a:t>
            </a:r>
            <a:endParaRPr lang="en-US" sz="1450" dirty="0"/>
          </a:p>
        </p:txBody>
      </p:sp>
      <p:sp>
        <p:nvSpPr>
          <p:cNvPr id="7" name="Shape 5"/>
          <p:cNvSpPr/>
          <p:nvPr/>
        </p:nvSpPr>
        <p:spPr>
          <a:xfrm>
            <a:off x="6309360" y="2331720"/>
            <a:ext cx="5303520" cy="3657600"/>
          </a:xfrm>
          <a:prstGeom prst="roundRect">
            <a:avLst>
              <a:gd name="adj" fmla="val 3000"/>
            </a:avLst>
          </a:prstGeom>
          <a:solidFill>
            <a:srgbClr val="4A1522"/>
          </a:solidFill>
          <a:ln/>
          <a:effectLst>
            <a:outerShdw sx="100000" sy="100000" kx="0" ky="0" algn="bl" rotWithShape="0" blurRad="101600" dist="38100" dir="5400000">
              <a:srgbClr val="000000">
                <a:alpha val="18000"/>
              </a:srgbClr>
            </a:outerShdw>
          </a:effectLst>
        </p:spPr>
      </p:sp>
      <p:sp>
        <p:nvSpPr>
          <p:cNvPr id="8" name="Text 6"/>
          <p:cNvSpPr/>
          <p:nvPr/>
        </p:nvSpPr>
        <p:spPr>
          <a:xfrm>
            <a:off x="6629400" y="2560320"/>
            <a:ext cx="4754880" cy="457200"/>
          </a:xfrm>
          <a:prstGeom prst="rect">
            <a:avLst/>
          </a:prstGeom>
          <a:noFill/>
          <a:ln/>
        </p:spPr>
        <p:txBody>
          <a:bodyPr wrap="square" lIns="0" tIns="0" rIns="0" bIns="0" rtlCol="0" anchor="ctr"/>
          <a:lstStyle/>
          <a:p>
            <a:pPr indent="0" marL="0">
              <a:buNone/>
            </a:pPr>
            <a:r>
              <a:rPr lang="en-US" sz="1800" b="1" dirty="0">
                <a:solidFill>
                  <a:srgbClr val="C9A227"/>
                </a:solidFill>
                <a:latin typeface="Century Schoolbook" pitchFamily="34" charset="0"/>
                <a:ea typeface="Century Schoolbook" pitchFamily="34" charset="-122"/>
                <a:cs typeface="Century Schoolbook" pitchFamily="34" charset="-120"/>
              </a:rPr>
              <a:t>The prescription</a:t>
            </a:r>
            <a:endParaRPr lang="en-US" sz="1800" dirty="0"/>
          </a:p>
        </p:txBody>
      </p:sp>
      <p:sp>
        <p:nvSpPr>
          <p:cNvPr id="9" name="Text 7"/>
          <p:cNvSpPr/>
          <p:nvPr/>
        </p:nvSpPr>
        <p:spPr>
          <a:xfrm>
            <a:off x="6629400" y="3063240"/>
            <a:ext cx="4754880" cy="457200"/>
          </a:xfrm>
          <a:prstGeom prst="rect">
            <a:avLst/>
          </a:prstGeom>
          <a:noFill/>
          <a:ln/>
        </p:spPr>
        <p:txBody>
          <a:bodyPr wrap="square" lIns="0" tIns="0" rIns="0" bIns="0" rtlCol="0" anchor="ctr"/>
          <a:lstStyle/>
          <a:p>
            <a:pPr indent="0" marL="0">
              <a:buNone/>
            </a:pPr>
            <a:r>
              <a:rPr lang="en-US" sz="1600" b="1" dirty="0">
                <a:solidFill>
                  <a:srgbClr val="F5EFE6"/>
                </a:solidFill>
                <a:latin typeface="Calibri" pitchFamily="34" charset="0"/>
                <a:ea typeface="Calibri" pitchFamily="34" charset="-122"/>
                <a:cs typeface="Calibri" pitchFamily="34" charset="-120"/>
              </a:rPr>
              <a:t>Stop detrending with time alone.</a:t>
            </a:r>
            <a:endParaRPr lang="en-US" sz="1600" dirty="0"/>
          </a:p>
        </p:txBody>
      </p:sp>
      <p:sp>
        <p:nvSpPr>
          <p:cNvPr id="10" name="Text 8"/>
          <p:cNvSpPr/>
          <p:nvPr/>
        </p:nvSpPr>
        <p:spPr>
          <a:xfrm>
            <a:off x="6629400" y="3657600"/>
            <a:ext cx="4754880" cy="1463040"/>
          </a:xfrm>
          <a:prstGeom prst="rect">
            <a:avLst/>
          </a:prstGeom>
          <a:noFill/>
          <a:ln/>
        </p:spPr>
        <p:txBody>
          <a:bodyPr wrap="square" lIns="0" tIns="0" rIns="0" bIns="0" rtlCol="0" anchor="ctr"/>
          <a:lstStyle/>
          <a:p>
            <a:pPr indent="0" marL="0">
              <a:lnSpc>
                <a:spcPct val="110000"/>
              </a:lnSpc>
              <a:buNone/>
            </a:pPr>
            <a:r>
              <a:rPr lang="en-US" sz="1500" dirty="0">
                <a:solidFill>
                  <a:srgbClr val="E7D9D2"/>
                </a:solidFill>
                <a:latin typeface="Calibri" pitchFamily="34" charset="0"/>
                <a:ea typeface="Calibri" pitchFamily="34" charset="-122"/>
                <a:cs typeface="Calibri" pitchFamily="34" charset="-120"/>
              </a:rPr>
              <a:t>Add structural covariates — planted area, production quotas, producer counts — so the trend models the </a:t>
            </a:r>
            <a:pPr indent="0" marL="0">
              <a:lnSpc>
                <a:spcPct val="110000"/>
              </a:lnSpc>
              <a:buNone/>
            </a:pPr>
            <a:r>
              <a:rPr lang="en-US" sz="1500" b="1" i="1" dirty="0">
                <a:solidFill>
                  <a:srgbClr val="E7D9D2"/>
                </a:solidFill>
                <a:latin typeface="Calibri" pitchFamily="34" charset="0"/>
                <a:ea typeface="Calibri" pitchFamily="34" charset="-122"/>
                <a:cs typeface="Calibri" pitchFamily="34" charset="-120"/>
              </a:rPr>
              <a:t>industry</a:t>
            </a:r>
            <a:pPr indent="0" marL="0">
              <a:lnSpc>
                <a:spcPct val="110000"/>
              </a:lnSpc>
              <a:buNone/>
            </a:pPr>
            <a:r>
              <a:rPr lang="en-US" sz="1500" dirty="0">
                <a:solidFill>
                  <a:srgbClr val="E7D9D2"/>
                </a:solidFill>
                <a:latin typeface="Calibri" pitchFamily="34" charset="0"/>
                <a:ea typeface="Calibri" pitchFamily="34" charset="-122"/>
                <a:cs typeface="Calibri" pitchFamily="34" charset="-120"/>
              </a:rPr>
              <a:t> and the residual is pure </a:t>
            </a:r>
            <a:pPr indent="0" marL="0">
              <a:lnSpc>
                <a:spcPct val="110000"/>
              </a:lnSpc>
              <a:buNone/>
            </a:pPr>
            <a:r>
              <a:rPr lang="en-US" sz="1500" b="1" i="1" dirty="0">
                <a:solidFill>
                  <a:srgbClr val="E7D9D2"/>
                </a:solidFill>
                <a:latin typeface="Calibri" pitchFamily="34" charset="0"/>
                <a:ea typeface="Calibri" pitchFamily="34" charset="-122"/>
                <a:cs typeface="Calibri" pitchFamily="34" charset="-120"/>
              </a:rPr>
              <a:t>climate</a:t>
            </a:r>
            <a:pPr indent="0" marL="0">
              <a:lnSpc>
                <a:spcPct val="110000"/>
              </a:lnSpc>
              <a:buNone/>
            </a:pPr>
            <a:r>
              <a:rPr lang="en-US" sz="1500" dirty="0">
                <a:solidFill>
                  <a:srgbClr val="E7D9D2"/>
                </a:solidFill>
                <a:latin typeface="Calibri" pitchFamily="34" charset="0"/>
                <a:ea typeface="Calibri" pitchFamily="34" charset="-122"/>
                <a:cs typeface="Calibri" pitchFamily="34" charset="-120"/>
              </a:rPr>
              <a:t>.</a:t>
            </a:r>
            <a:endParaRPr lang="en-US" sz="1500" dirty="0"/>
          </a:p>
        </p:txBody>
      </p:sp>
      <p:sp>
        <p:nvSpPr>
          <p:cNvPr id="11" name="Text 9"/>
          <p:cNvSpPr/>
          <p:nvPr/>
        </p:nvSpPr>
        <p:spPr>
          <a:xfrm>
            <a:off x="6629400" y="5166360"/>
            <a:ext cx="4754880" cy="731520"/>
          </a:xfrm>
          <a:prstGeom prst="rect">
            <a:avLst/>
          </a:prstGeom>
          <a:noFill/>
          <a:ln/>
        </p:spPr>
        <p:txBody>
          <a:bodyPr wrap="square" lIns="0" tIns="0" rIns="0" bIns="0" rtlCol="0" anchor="ctr"/>
          <a:lstStyle/>
          <a:p>
            <a:pPr indent="0" marL="0">
              <a:lnSpc>
                <a:spcPct val="105000"/>
              </a:lnSpc>
              <a:buNone/>
            </a:pPr>
            <a:r>
              <a:rPr lang="en-US" sz="1350" i="1" dirty="0">
                <a:solidFill>
                  <a:srgbClr val="C9A227"/>
                </a:solidFill>
                <a:latin typeface="Calibri" pitchFamily="34" charset="0"/>
                <a:ea typeface="Calibri" pitchFamily="34" charset="-122"/>
                <a:cs typeface="Calibri" pitchFamily="34" charset="-120"/>
              </a:rPr>
              <a:t>→ decouples the two decisions the current pipeline forces into conflict.</a:t>
            </a:r>
            <a:endParaRPr lang="en-US" sz="1350" dirty="0"/>
          </a:p>
        </p:txBody>
      </p:sp>
      <p:sp>
        <p:nvSpPr>
          <p:cNvPr id="12" name="Text 10"/>
          <p:cNvSpPr/>
          <p:nvPr/>
        </p:nvSpPr>
        <p:spPr>
          <a:xfrm>
            <a:off x="548640" y="6400800"/>
            <a:ext cx="8229600" cy="274320"/>
          </a:xfrm>
          <a:prstGeom prst="rect">
            <a:avLst/>
          </a:prstGeom>
          <a:noFill/>
          <a:ln/>
        </p:spPr>
        <p:txBody>
          <a:bodyPr wrap="square" lIns="0" tIns="0" rIns="0" bIns="0" rtlCol="0" anchor="ctr"/>
          <a:lstStyle/>
          <a:p>
            <a:pPr algn="l" indent="0" marL="0">
              <a:buNone/>
            </a:pPr>
            <a:r>
              <a:rPr lang="en-US" sz="900" dirty="0">
                <a:solidFill>
                  <a:srgbClr val="8A7F76"/>
                </a:solidFill>
                <a:latin typeface="Calibri" pitchFamily="34" charset="0"/>
                <a:ea typeface="Calibri" pitchFamily="34" charset="-122"/>
                <a:cs typeface="Calibri" pitchFamily="34" charset="-120"/>
              </a:rPr>
              <a:t>Discovery ≠ Prediction  ·  MSc Defense  ·  H. Nogueira</a:t>
            </a:r>
            <a:endParaRPr lang="en-US" sz="900" dirty="0"/>
          </a:p>
        </p:txBody>
      </p:sp>
      <p:sp>
        <p:nvSpPr>
          <p:cNvPr id="13" name="Text 11"/>
          <p:cNvSpPr/>
          <p:nvPr/>
        </p:nvSpPr>
        <p:spPr>
          <a:xfrm>
            <a:off x="10728655" y="6400800"/>
            <a:ext cx="914400" cy="274320"/>
          </a:xfrm>
          <a:prstGeom prst="rect">
            <a:avLst/>
          </a:prstGeom>
          <a:noFill/>
          <a:ln/>
        </p:spPr>
        <p:txBody>
          <a:bodyPr wrap="square" lIns="0" tIns="0" rIns="0" bIns="0" rtlCol="0" anchor="ctr"/>
          <a:lstStyle/>
          <a:p>
            <a:pPr algn="r" indent="0" marL="0">
              <a:buNone/>
            </a:pPr>
            <a:r>
              <a:rPr lang="en-US" sz="900" dirty="0">
                <a:solidFill>
                  <a:srgbClr val="8A7F76"/>
                </a:solidFill>
                <a:latin typeface="Calibri" pitchFamily="34" charset="0"/>
                <a:ea typeface="Calibri" pitchFamily="34" charset="-122"/>
                <a:cs typeface="Calibri" pitchFamily="34" charset="-120"/>
              </a:rPr>
              <a:t>13 / 14</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4A1522"/>
        </a:solidFill>
      </p:bgPr>
    </p:bg>
    <p:spTree>
      <p:nvGrpSpPr>
        <p:cNvPr id="1" name=""/>
        <p:cNvGrpSpPr/>
        <p:nvPr/>
      </p:nvGrpSpPr>
      <p:grpSpPr>
        <a:xfrm>
          <a:off x="0" y="0"/>
          <a:ext cx="0" cy="0"/>
          <a:chOff x="0" y="0"/>
          <a:chExt cx="0" cy="0"/>
        </a:xfrm>
      </p:grpSpPr>
      <p:sp>
        <p:nvSpPr>
          <p:cNvPr id="2" name="Shape 0"/>
          <p:cNvSpPr/>
          <p:nvPr/>
        </p:nvSpPr>
        <p:spPr>
          <a:xfrm>
            <a:off x="-2011680" y="3291840"/>
            <a:ext cx="5943600" cy="5943600"/>
          </a:xfrm>
          <a:prstGeom prst="ellipse">
            <a:avLst/>
          </a:prstGeom>
          <a:solidFill>
            <a:srgbClr val="6E2033"/>
          </a:solidFill>
          <a:ln/>
        </p:spPr>
      </p:sp>
      <p:sp>
        <p:nvSpPr>
          <p:cNvPr id="3" name="Text 1"/>
          <p:cNvSpPr/>
          <p:nvPr/>
        </p:nvSpPr>
        <p:spPr>
          <a:xfrm>
            <a:off x="822960" y="2148840"/>
            <a:ext cx="10972800" cy="822960"/>
          </a:xfrm>
          <a:prstGeom prst="rect">
            <a:avLst/>
          </a:prstGeom>
          <a:noFill/>
          <a:ln/>
        </p:spPr>
        <p:txBody>
          <a:bodyPr wrap="square" lIns="0" tIns="0" rIns="0" bIns="0" rtlCol="0" anchor="ctr"/>
          <a:lstStyle/>
          <a:p>
            <a:pPr indent="0" marL="0">
              <a:buNone/>
            </a:pPr>
            <a:r>
              <a:rPr lang="en-US" sz="3800" b="1" dirty="0">
                <a:solidFill>
                  <a:srgbClr val="F5EFE6"/>
                </a:solidFill>
                <a:latin typeface="Century Schoolbook" pitchFamily="34" charset="0"/>
                <a:ea typeface="Century Schoolbook" pitchFamily="34" charset="-122"/>
                <a:cs typeface="Century Schoolbook" pitchFamily="34" charset="-120"/>
              </a:rPr>
              <a:t>Discovery is not prediction —</a:t>
            </a:r>
            <a:endParaRPr lang="en-US" sz="3800" dirty="0"/>
          </a:p>
        </p:txBody>
      </p:sp>
      <p:sp>
        <p:nvSpPr>
          <p:cNvPr id="4" name="Text 2"/>
          <p:cNvSpPr/>
          <p:nvPr/>
        </p:nvSpPr>
        <p:spPr>
          <a:xfrm>
            <a:off x="822960" y="2926080"/>
            <a:ext cx="10972800" cy="822960"/>
          </a:xfrm>
          <a:prstGeom prst="rect">
            <a:avLst/>
          </a:prstGeom>
          <a:noFill/>
          <a:ln/>
        </p:spPr>
        <p:txBody>
          <a:bodyPr wrap="square" lIns="0" tIns="0" rIns="0" bIns="0" rtlCol="0" anchor="ctr"/>
          <a:lstStyle/>
          <a:p>
            <a:pPr indent="0" marL="0">
              <a:buNone/>
            </a:pPr>
            <a:r>
              <a:rPr lang="en-US" sz="3800" b="1" dirty="0">
                <a:solidFill>
                  <a:srgbClr val="C9A227"/>
                </a:solidFill>
                <a:latin typeface="Century Schoolbook" pitchFamily="34" charset="0"/>
                <a:ea typeface="Century Schoolbook" pitchFamily="34" charset="-122"/>
                <a:cs typeface="Century Schoolbook" pitchFamily="34" charset="-120"/>
              </a:rPr>
              <a:t>and knowing the difference is the science.</a:t>
            </a:r>
            <a:endParaRPr lang="en-US" sz="3800" dirty="0"/>
          </a:p>
        </p:txBody>
      </p:sp>
      <p:sp>
        <p:nvSpPr>
          <p:cNvPr id="5" name="Text 3"/>
          <p:cNvSpPr/>
          <p:nvPr/>
        </p:nvSpPr>
        <p:spPr>
          <a:xfrm>
            <a:off x="841248" y="3977640"/>
            <a:ext cx="10241280" cy="914400"/>
          </a:xfrm>
          <a:prstGeom prst="rect">
            <a:avLst/>
          </a:prstGeom>
          <a:noFill/>
          <a:ln/>
        </p:spPr>
        <p:txBody>
          <a:bodyPr wrap="square" lIns="0" tIns="0" rIns="0" bIns="0" rtlCol="0" anchor="ctr"/>
          <a:lstStyle/>
          <a:p>
            <a:pPr indent="0" marL="0">
              <a:lnSpc>
                <a:spcPct val="110000"/>
              </a:lnSpc>
              <a:buNone/>
            </a:pPr>
            <a:r>
              <a:rPr lang="en-US" sz="1600" i="1" dirty="0">
                <a:solidFill>
                  <a:srgbClr val="E7D9D2"/>
                </a:solidFill>
                <a:latin typeface="Calibri" pitchFamily="34" charset="0"/>
                <a:ea typeface="Calibri" pitchFamily="34" charset="-122"/>
                <a:cs typeface="Calibri" pitchFamily="34" charset="-120"/>
              </a:rPr>
              <a:t>On 90 years of real, non-stationary data, distributional subgroup discovery extracted patterns that are real — and I can tell you, precisely, why they don't yet predict.</a:t>
            </a:r>
            <a:endParaRPr lang="en-US" sz="1600" dirty="0"/>
          </a:p>
        </p:txBody>
      </p:sp>
      <p:sp>
        <p:nvSpPr>
          <p:cNvPr id="6" name="Text 4"/>
          <p:cNvSpPr/>
          <p:nvPr/>
        </p:nvSpPr>
        <p:spPr>
          <a:xfrm>
            <a:off x="841248" y="5257800"/>
            <a:ext cx="7315200" cy="548640"/>
          </a:xfrm>
          <a:prstGeom prst="rect">
            <a:avLst/>
          </a:prstGeom>
          <a:noFill/>
          <a:ln/>
        </p:spPr>
        <p:txBody>
          <a:bodyPr wrap="square" lIns="0" tIns="0" rIns="0" bIns="0" rtlCol="0" anchor="ctr"/>
          <a:lstStyle/>
          <a:p>
            <a:pPr indent="0" marL="0">
              <a:buNone/>
            </a:pPr>
            <a:r>
              <a:rPr lang="en-US" sz="2200" b="1" dirty="0">
                <a:solidFill>
                  <a:srgbClr val="F5EFE6"/>
                </a:solidFill>
                <a:latin typeface="Century Schoolbook" pitchFamily="34" charset="0"/>
                <a:ea typeface="Century Schoolbook" pitchFamily="34" charset="-122"/>
                <a:cs typeface="Century Schoolbook" pitchFamily="34" charset="-120"/>
              </a:rPr>
              <a:t>Thank you.  Questions welcome.</a:t>
            </a:r>
            <a:endParaRPr lang="en-US" sz="2200" dirty="0"/>
          </a:p>
        </p:txBody>
      </p:sp>
      <p:sp>
        <p:nvSpPr>
          <p:cNvPr id="7" name="Text 5"/>
          <p:cNvSpPr/>
          <p:nvPr/>
        </p:nvSpPr>
        <p:spPr>
          <a:xfrm>
            <a:off x="841248" y="5943600"/>
            <a:ext cx="8229600" cy="365760"/>
          </a:xfrm>
          <a:prstGeom prst="rect">
            <a:avLst/>
          </a:prstGeom>
          <a:noFill/>
          <a:ln/>
        </p:spPr>
        <p:txBody>
          <a:bodyPr wrap="square" lIns="0" tIns="0" rIns="0" bIns="0" rtlCol="0" anchor="ctr"/>
          <a:lstStyle/>
          <a:p>
            <a:pPr indent="0" marL="0">
              <a:buNone/>
            </a:pPr>
            <a:r>
              <a:rPr lang="en-US" sz="1200" dirty="0">
                <a:solidFill>
                  <a:srgbClr val="C9A9A0"/>
                </a:solidFill>
                <a:latin typeface="Calibri" pitchFamily="34" charset="0"/>
                <a:ea typeface="Calibri" pitchFamily="34" charset="-122"/>
                <a:cs typeface="Calibri" pitchFamily="34" charset="-120"/>
              </a:rPr>
              <a:t>Hugo Filipe Queiróz Nogueira  ·  MECD, FEUP</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Discovery is not Prediction</dc:title>
  <dc:subject>PptxGenJS Presentation</dc:subject>
  <dc:creator>Hugo Filipe Queiróz Nogueira</dc:creator>
  <cp:lastModifiedBy>Hugo Filipe Queiróz Nogueira</cp:lastModifiedBy>
  <cp:revision>1</cp:revision>
  <dcterms:created xsi:type="dcterms:W3CDTF">2026-07-09T19:28:36Z</dcterms:created>
  <dcterms:modified xsi:type="dcterms:W3CDTF">2026-07-09T19:28:36Z</dcterms:modified>
</cp:coreProperties>
</file>