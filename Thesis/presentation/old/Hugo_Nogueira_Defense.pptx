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Wtd MAE</c:v>
                </c:pt>
              </c:strCache>
            </c:strRef>
          </c:tx>
          <c:spPr>
            <a:solidFill>
              <a:srgbClr val="D4A853"/>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D4A853"/>
              </a:solidFill>
              <a:effectLst/>
            </c:spPr>
          </c:dPt>
          <c:dPt>
            <c:idx val="1"/>
            <c:invertIfNegative val="0"/>
            <c:bubble3D val="0"/>
            <c:spPr>
              <a:solidFill>
                <a:srgbClr val="0D7377"/>
              </a:solidFill>
              <a:effectLst/>
            </c:spPr>
          </c:dPt>
          <c:dPt>
            <c:idx val="2"/>
            <c:invertIfNegative val="0"/>
            <c:bubble3D val="0"/>
            <c:spPr>
              <a:solidFill>
                <a:srgbClr val="8AAAB5"/>
              </a:solidFill>
              <a:effectLst/>
            </c:spPr>
          </c:dPt>
          <c:dPt>
            <c:idx val="3"/>
            <c:invertIfNegative val="0"/>
            <c:bubble3D val="0"/>
            <c:spPr>
              <a:solidFill>
                <a:srgbClr val="8AAAB5"/>
              </a:solidFill>
              <a:effectLst/>
            </c:spPr>
          </c:dPt>
          <c:dPt>
            <c:idx val="4"/>
            <c:invertIfNegative val="0"/>
            <c:bubble3D val="0"/>
            <c:spPr>
              <a:solidFill>
                <a:srgbClr val="B03A2E"/>
              </a:solidFill>
              <a:effectLst/>
            </c:spPr>
          </c:dPt>
          <c:dPt>
            <c:idx val="5"/>
            <c:invertIfNegative val="0"/>
            <c:bubble3D val="0"/>
            <c:spPr>
              <a:solidFill>
                <a:srgbClr val="8B2222"/>
              </a:solidFill>
              <a:effectLst/>
            </c:spPr>
          </c:dPt>
          <c:cat>
            <c:multiLvlStrRef>
              <c:f>Sheet1!$A$2:$A$7</c:f>
              <c:multiLvlStrCache>
                <c:ptCount val="6"/>
                <c:lvl>
                  <c:pt idx="0">
                    <c:v>Naive_Median
(baseline)</c:v>
                  </c:pt>
                  <c:pt idx="1">
                    <c:v>CarenR
Eta2</c:v>
                  </c:pt>
                  <c:pt idx="2">
                    <c:v>Naive
MA</c:v>
                  </c:pt>
                  <c:pt idx="3">
                    <c:v>M5
Rules</c:v>
                  </c:pt>
                  <c:pt idx="4">
                    <c:v>DT</c:v>
                  </c:pt>
                  <c:pt idx="5">
                    <c:v>RIPPER</c:v>
                  </c:pt>
                </c:lvl>
              </c:multiLvlStrCache>
            </c:multiLvlStrRef>
          </c:cat>
          <c:val>
            <c:numRef>
              <c:f>Sheet1!$B$2:$B$7</c:f>
              <c:numCache>
                <c:formatCode>General</c:formatCode>
                <c:ptCount val="6"/>
                <c:pt idx="0">
                  <c:v>184</c:v>
                </c:pt>
                <c:pt idx="1">
                  <c:v>189</c:v>
                </c:pt>
                <c:pt idx="2">
                  <c:v>195</c:v>
                </c:pt>
                <c:pt idx="3">
                  <c:v>200</c:v>
                </c:pt>
                <c:pt idx="4">
                  <c:v>250</c:v>
                </c:pt>
                <c:pt idx="5">
                  <c:v>279</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310"/>
          <c:min val="15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8FAFE"/>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Wtd MAE</c:v>
                </c:pt>
              </c:strCache>
            </c:strRef>
          </c:tx>
          <c:spPr>
            <a:solidFill>
              <a:srgbClr val="D4A853"/>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D4A853"/>
              </a:solidFill>
              <a:effectLst/>
            </c:spPr>
          </c:dPt>
          <c:dPt>
            <c:idx val="1"/>
            <c:invertIfNegative val="0"/>
            <c:bubble3D val="0"/>
            <c:spPr>
              <a:solidFill>
                <a:srgbClr val="0D7377"/>
              </a:solidFill>
              <a:effectLst/>
            </c:spPr>
          </c:dPt>
          <c:dPt>
            <c:idx val="2"/>
            <c:invertIfNegative val="0"/>
            <c:bubble3D val="0"/>
            <c:spPr>
              <a:solidFill>
                <a:srgbClr val="8AAAB5"/>
              </a:solidFill>
              <a:effectLst/>
            </c:spPr>
          </c:dPt>
          <c:dPt>
            <c:idx val="3"/>
            <c:invertIfNegative val="0"/>
            <c:bubble3D val="0"/>
            <c:spPr>
              <a:solidFill>
                <a:srgbClr val="8AAAB5"/>
              </a:solidFill>
              <a:effectLst/>
            </c:spPr>
          </c:dPt>
          <c:dPt>
            <c:idx val="4"/>
            <c:invertIfNegative val="0"/>
            <c:bubble3D val="0"/>
            <c:spPr>
              <a:solidFill>
                <a:srgbClr val="B03A2E"/>
              </a:solidFill>
              <a:effectLst/>
            </c:spPr>
          </c:dPt>
          <c:dPt>
            <c:idx val="5"/>
            <c:invertIfNegative val="0"/>
            <c:bubble3D val="0"/>
            <c:spPr>
              <a:solidFill>
                <a:srgbClr val="8B2222"/>
              </a:solidFill>
              <a:effectLst/>
            </c:spPr>
          </c:dPt>
          <c:dPt>
            <c:idx val="6"/>
            <c:invertIfNegative val="0"/>
            <c:bubble3D val="0"/>
            <c:spPr>
              <a:solidFill>
                <a:srgbClr val="8B2222"/>
              </a:solidFill>
              <a:effectLst/>
            </c:spPr>
          </c:dPt>
          <c:cat>
            <c:multiLvlStrRef>
              <c:f>Sheet1!$A$2:$A$8</c:f>
              <c:multiLvlStrCache>
                <c:ptCount val="7"/>
                <c:lvl>
                  <c:pt idx="0">
                    <c:v>Naive_Median
(baseline)</c:v>
                  </c:pt>
                  <c:pt idx="1">
                    <c:v>CarenR
Sup_FS</c:v>
                  </c:pt>
                  <c:pt idx="2">
                    <c:v>Naive
MA</c:v>
                  </c:pt>
                  <c:pt idx="3">
                    <c:v>M5
Rules</c:v>
                  </c:pt>
                  <c:pt idx="4">
                    <c:v>CarenR
Eta2</c:v>
                  </c:pt>
                  <c:pt idx="5">
                    <c:v>DT</c:v>
                  </c:pt>
                  <c:pt idx="6">
                    <c:v>RIPPER</c:v>
                  </c:pt>
                </c:lvl>
              </c:multiLvlStrCache>
            </c:multiLvlStrRef>
          </c:cat>
          <c:val>
            <c:numRef>
              <c:f>Sheet1!$B$2:$B$8</c:f>
              <c:numCache>
                <c:formatCode>General</c:formatCode>
                <c:ptCount val="7"/>
                <c:pt idx="0">
                  <c:v>140</c:v>
                </c:pt>
                <c:pt idx="1">
                  <c:v>172</c:v>
                </c:pt>
                <c:pt idx="2">
                  <c:v>171</c:v>
                </c:pt>
                <c:pt idx="3">
                  <c:v>268</c:v>
                </c:pt>
                <c:pt idx="4">
                  <c:v>226</c:v>
                </c:pt>
                <c:pt idx="5">
                  <c:v>479</c:v>
                </c:pt>
                <c:pt idx="6">
                  <c:v>508</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560"/>
          <c:min val="1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8FAFE"/>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thesis evaluates CarenR – a distributional subgroup discovery algorithm – for two tasks: interpretable pattern extraction (Goal 1) and walk-forward prediction (Goal 2). The domain is wine production, but the research is fundamentally about rule-based ML under non-stationary time-series conditions.
Estimated time: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ML challenge has four dimensions:
1. WEAK SIGNAL: climate explains only ~22% of residual variance. R=0.47.
2. NON-STATIONARITY: both raw series have unit roots. After linear detrending, RVV residuals still fail ADF — the structural shift from EU accession is non-linear.
3. STRUCTURAL CHANGES: regime shifts from EU policy cannot be fully removed by time-only detrending.
4. SMALL SAMPLES: 80-89 annual observations with 59 candidate features creates real overfitting risk.
Estimated time: ~1 min 30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research questions:
RQ1 — answered YES: CarenR discovers 48 + 20 validated rules.
RQ2 — answered YES for RDD (features genuine), partially NO for RVV (dominant features are era artefacts).
RQ3 — answered NO: no model beats Naive_Median in aggregate.
RQ4 — answered by the two-decision decomposition framework.
The core story: success at discovery, failure at prediction, and a principled explanation of why. Negative results, when properly diagnosed, are scientifically valuable.
Estimated time: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regions as a natural comparative experiment.
RDD: upward production trend due to quality-focused market growth.
RVV: sharp decline driven by EU accession and industry restructuring — the dominant structural story there.
59 features constructed from 30,000+ daily records by combining meteorological variables with phenological stage dates. The naming convention encodes everything: variable, stage, year offset, window width.
I won't dwell on the agronomy — this is just the input scaffolding for the ML problem.
Estimated time: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pipeline. Six stages, two output goals.
Key design choices:
1. Linear detrending within-fold: trend parameters estimated only on training data.
2. Feature selection inside the walk-forward loop: no leakage.
3. Goal 1 uses all 89/80 years for discovery; Goal 2 uses expanding training windows.
The anti-leakage design is essential. Every modelling decision is made from training data only.
Estimated time: ~1 min 15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a random forest or neural network? Because interpretability IS the research objective — we want to know WHICH climate conditions explain production anomalies.
CarenR is uniquely appropriate:
1. KS test is non-parametric — no normality assumption for agricultural data.
2. Tests distributional shift, not just mean shift: a variable is informative if it changes the SHAPE of the production distribution.
3. No target pre-discretisation needed — unlike RIPPER.
4. Explicit fallback mechanism: when no rules fire, predicts training median (= Naive_Median). CarenR can only add noise if it fires a wrong rule; it never forces an uninformed prediction.
Estimated time: ~1 min 15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methodological contribution.
Decision 1 — trend modelling: sets the floor. If the trend is wrong, even a perfect climate model can't fix it. Measured by Naive_Median MAE (predicting 'on trend' = training median residual).
Decision 2 — residual prediction: can rules improve over zero? Measured by the gap between model MAE and Naive_Median MAE.
The key tension: LOESS detrending for RVV improves Decision 1 from 140 to 90 mhl. But it reduces test residuals to magnitudes too small for CarenR to form stable rules — Decision 2 collapses. The improvement in trend quality is achieved by removing the very signal that climate prediction requires.
This framework is transferable to any domain where structural non-stationarity and climate signal coexist.
Estimated time: ~1 min 30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1 is achieved.
Douro: 48 rules, dominated by harvest-period soil water (54% of rules) and post-flowering wet days. 65% point above trend. The strongest rule covers 28% of years (p=0.0043) — a recurrent, statistically robust pattern.
Vinho Verde: 20 rules, dominated by heat-stress days (~50%) and LAI at harvest (present in all 20 rules). 80% below trend — reflecting the structural decline.
Directional inversion: harvest soil water is dominant in BOTH regions but predicts ABOVE trend in RDD and BELOW trend in RVV. This is a method validation point: CarenR correctly detects opposite signals in different climatic contexts.
Cross-algorithm convergence: RIPPER and M5Rules agree on the same feature families. Three different optimisation criteria, same answer.
Estimated time: ~1 min 30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LOESS detrending stress test: if a feature's correlation survives aggressive era-trend removal, it carries genuine within-era signal. If it collapses, it was era co-variation.
RDD: harvest soil water and wet days INCREASE their correlation under LOESS (125% and 103% retention). These features are genuinely within-era.
RVV: LAI at harvest and harvest soil water collapse to 15-16% retention. The dominant RVV features were largely era artefacts — they looked informative only because they co-trended with the structural production decline.
This is the key finding that explains why Goal 1 succeeds in discovery (patterns exist) but Goal 2 fails in prediction for RVV (the patterns don't generalise because they're era-specific).
Estimated time: ~1 min 30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2 is not achieved in aggregate.
RDD: Naive_Median wins at 184 mhl. Best CarenR is 189 mhl — 3% gap. Wilcoxon p=0.468, not significant. RIPPER and DT are much worse (250-279 mhl).
RVV: Naive_Median wins at 140 mhl. Best CarenR is 172 mhl — 22% gap. When CarenR fires rules in RVV, they are significantly harmful (p=0.004).
Era-balanced finding in RDD: in scenarios 10-14 (training data at 29-32% post-1990), CarenR wins 5/5 consecutive scenarios by 17-32 mhl. BUT this was identified post-hoc — it's an exploratory hypothesis, not a confirmed finding. Binomial p=0.031 but n=5.
Benchmark context: RIPPER and DT are 35-175% worse than Naive_Median — the limitation is not the interpretability constraint but the signal strength.
Estimated time: ~1 min 30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interlocking failure modes:
1. Signal strength: real but insufficient. 22% explained variance is detectable by KS test but cannot overcome 78% noise in individual held-out years.
2. Structural tension: the Two-Decision framework shows these demands cannot be simultaneously satisfied. Not a tuning problem — a fundamental structural incompatibility.
3. Era contamination: rules learned on pre-1990 data don't generalise to post-1990 test years. This is formally confirmed by the LOESS validation.
4. Missing covariates: time alone cannot model the structural production trajectory. Planted area, EU policy, number of producers — these are the actual drivers of the trend. Without them, Decision 1 is fundamentally limited.
Estimated time: ~1 min 30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methodological contributions — all transferable beyond wine:
1. Two-decision framework: any domain where structural non-stationarity meets climate/environmental signal can use this decomposition to diagnose failures.
2. Sensitivity analysis: the structured 11-variant comparison shows the optimal approach is domain-specific. The lesson is to conduct this evaluation rather than picking one configuration a priori.
3. Era-composition analysis: the finding that CarenR succeeds specifically when training data reaches 29% modern-era representation gives practitioners a concrete diagnostic criterion.
4. Cross-algorithm convergence: three independent algorithms agreeing on features is a strong validation — applicable to any feature importance analysis.
5. LOESS protocol: a reusable method for distinguishing real within-era signal from structural co-variation.
Estimated time: ~1 min 30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acknowledgement of limitations:
1. The primary limitation is structural: time-only detrending. This is the bottleneck for Decision 1 and the root cause of the era confound. It's not a bug in the analysis — it's an inherent property of what detrending with time can and cannot do.
2. Statistical power: 18/16 scenarios, decreasing test-set sizes in later scenarios. Not enough for high-power confirmatory tests.
3. The era-balanced finding is genuinely post-hoc. I need to be transparent about this with the jury.
Priority future work: structural detrending. If we add planted area, EU quotas, and number of certified producers as explicit detrending covariates, we separate the structural production changes from climate residuals. This directly addresses Decision 1 and potentially resolves the fundamental tension.
Estimated time: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summary:
1. Discovery works. CarenR is a valid and effective distributional subgroup discovery tool. The rules are real, validated, cross-confirmed.
2. Prediction does not work in aggregate. But we understand EXACTLY why — the Two-Decision framework gives a precise, testable structural explanation.
3. The core scientific insight: explanation and prediction require different things from the data. Genuine association ≠ predictive power. This is a general principle, not a limitation of CarenR specifically.
4. Path forward: structural detrending. This is the single change most likely to unlock reliable prediction.
Total presentation time target: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D4A853"/>
          </a:solidFill>
          <a:ln w="12700">
            <a:solidFill>
              <a:srgbClr val="D4A853"/>
            </a:solidFill>
            <a:prstDash val="solid"/>
          </a:ln>
        </p:spPr>
      </p:sp>
      <p:sp>
        <p:nvSpPr>
          <p:cNvPr id="3" name="Shape 1"/>
          <p:cNvSpPr/>
          <p:nvPr/>
        </p:nvSpPr>
        <p:spPr>
          <a:xfrm>
            <a:off x="0" y="0"/>
            <a:ext cx="9144000" cy="45720"/>
          </a:xfrm>
          <a:prstGeom prst="rect">
            <a:avLst/>
          </a:prstGeom>
          <a:solidFill>
            <a:srgbClr val="F5D78A"/>
          </a:solidFill>
          <a:ln w="12700">
            <a:solidFill>
              <a:srgbClr val="F5D78A"/>
            </a:solidFill>
            <a:prstDash val="solid"/>
          </a:ln>
        </p:spPr>
      </p:sp>
      <p:sp>
        <p:nvSpPr>
          <p:cNvPr id="4" name="Shape 2"/>
          <p:cNvSpPr/>
          <p:nvPr/>
        </p:nvSpPr>
        <p:spPr>
          <a:xfrm>
            <a:off x="594360" y="320040"/>
            <a:ext cx="2926080" cy="457200"/>
          </a:xfrm>
          <a:prstGeom prst="rect">
            <a:avLst/>
          </a:prstGeom>
          <a:solidFill>
            <a:srgbClr val="253756"/>
          </a:solidFill>
          <a:ln w="12700">
            <a:solidFill>
              <a:srgbClr val="253756"/>
            </a:solidFill>
            <a:prstDash val="solid"/>
          </a:ln>
        </p:spPr>
      </p:sp>
      <p:sp>
        <p:nvSpPr>
          <p:cNvPr id="5" name="Text 3"/>
          <p:cNvSpPr/>
          <p:nvPr/>
        </p:nvSpPr>
        <p:spPr>
          <a:xfrm>
            <a:off x="594360" y="320040"/>
            <a:ext cx="2926080" cy="457200"/>
          </a:xfrm>
          <a:prstGeom prst="rect">
            <a:avLst/>
          </a:prstGeom>
          <a:noFill/>
          <a:ln/>
        </p:spPr>
        <p:txBody>
          <a:bodyPr wrap="square" lIns="0" tIns="0" rIns="0" bIns="0" rtlCol="0" anchor="ctr"/>
          <a:lstStyle/>
          <a:p>
            <a:pPr algn="ctr" indent="0" marL="0">
              <a:buNone/>
            </a:pPr>
            <a:r>
              <a:rPr lang="en-US" sz="1000" i="1" dirty="0">
                <a:solidFill>
                  <a:srgbClr val="F5D78A"/>
                </a:solidFill>
                <a:latin typeface="Calibri" pitchFamily="34" charset="0"/>
                <a:ea typeface="Calibri" pitchFamily="34" charset="-122"/>
                <a:cs typeface="Calibri" pitchFamily="34" charset="-120"/>
              </a:rPr>
              <a:t>FEUP · MECD · June 2026</a:t>
            </a:r>
            <a:endParaRPr lang="en-US" sz="1000" dirty="0"/>
          </a:p>
        </p:txBody>
      </p:sp>
      <p:sp>
        <p:nvSpPr>
          <p:cNvPr id="6" name="Text 4"/>
          <p:cNvSpPr/>
          <p:nvPr/>
        </p:nvSpPr>
        <p:spPr>
          <a:xfrm>
            <a:off x="594360" y="914400"/>
            <a:ext cx="8321040" cy="658368"/>
          </a:xfrm>
          <a:prstGeom prst="rect">
            <a:avLst/>
          </a:prstGeom>
          <a:noFill/>
          <a:ln/>
        </p:spPr>
        <p:txBody>
          <a:bodyPr wrap="square" lIns="0" tIns="0" rIns="0" bIns="0"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Wine Production Forecasting</a:t>
            </a:r>
            <a:endParaRPr lang="en-US" sz="3400" dirty="0"/>
          </a:p>
        </p:txBody>
      </p:sp>
      <p:sp>
        <p:nvSpPr>
          <p:cNvPr id="7" name="Text 5"/>
          <p:cNvSpPr/>
          <p:nvPr/>
        </p:nvSpPr>
        <p:spPr>
          <a:xfrm>
            <a:off x="594360" y="1572768"/>
            <a:ext cx="8321040" cy="566928"/>
          </a:xfrm>
          <a:prstGeom prst="rect">
            <a:avLst/>
          </a:prstGeom>
          <a:noFill/>
          <a:ln/>
        </p:spPr>
        <p:txBody>
          <a:bodyPr wrap="square" lIns="0" tIns="0" rIns="0" bIns="0" rtlCol="0" anchor="ctr"/>
          <a:lstStyle/>
          <a:p>
            <a:pPr algn="l" indent="0" marL="0">
              <a:buNone/>
            </a:pPr>
            <a:r>
              <a:rPr lang="en-US" sz="2700" dirty="0">
                <a:solidFill>
                  <a:srgbClr val="F5D78A"/>
                </a:solidFill>
                <a:latin typeface="Calibri" pitchFamily="34" charset="0"/>
                <a:ea typeface="Calibri" pitchFamily="34" charset="-122"/>
                <a:cs typeface="Calibri" pitchFamily="34" charset="-120"/>
              </a:rPr>
              <a:t>Using Rule-Based Machine Learning</a:t>
            </a:r>
            <a:endParaRPr lang="en-US" sz="2700" dirty="0"/>
          </a:p>
        </p:txBody>
      </p:sp>
      <p:sp>
        <p:nvSpPr>
          <p:cNvPr id="8" name="Text 6"/>
          <p:cNvSpPr/>
          <p:nvPr/>
        </p:nvSpPr>
        <p:spPr>
          <a:xfrm>
            <a:off x="594360" y="2212848"/>
            <a:ext cx="8321040" cy="384048"/>
          </a:xfrm>
          <a:prstGeom prst="rect">
            <a:avLst/>
          </a:prstGeom>
          <a:noFill/>
          <a:ln/>
        </p:spPr>
        <p:txBody>
          <a:bodyPr wrap="square" lIns="0" tIns="0" rIns="0" bIns="0" rtlCol="0" anchor="ctr"/>
          <a:lstStyle/>
          <a:p>
            <a:pPr algn="l" indent="0" marL="0">
              <a:buNone/>
            </a:pPr>
            <a:r>
              <a:rPr lang="en-US" sz="1400" i="1" dirty="0">
                <a:solidFill>
                  <a:srgbClr val="D8E2EE"/>
                </a:solidFill>
                <a:latin typeface="Calibri" pitchFamily="34" charset="0"/>
                <a:ea typeface="Calibri" pitchFamily="34" charset="-122"/>
                <a:cs typeface="Calibri" pitchFamily="34" charset="-120"/>
              </a:rPr>
              <a:t>A Distributional Subgroup Discovery Approach for Portuguese Wine Regions</a:t>
            </a:r>
            <a:endParaRPr lang="en-US" sz="1400" dirty="0"/>
          </a:p>
        </p:txBody>
      </p:sp>
      <p:sp>
        <p:nvSpPr>
          <p:cNvPr id="9" name="Shape 7"/>
          <p:cNvSpPr/>
          <p:nvPr/>
        </p:nvSpPr>
        <p:spPr>
          <a:xfrm>
            <a:off x="594360" y="2697480"/>
            <a:ext cx="5943600" cy="27432"/>
          </a:xfrm>
          <a:prstGeom prst="rect">
            <a:avLst/>
          </a:prstGeom>
          <a:solidFill>
            <a:srgbClr val="D4A853"/>
          </a:solidFill>
          <a:ln w="12700">
            <a:solidFill>
              <a:srgbClr val="D4A853"/>
            </a:solidFill>
            <a:prstDash val="solid"/>
          </a:ln>
        </p:spPr>
      </p:sp>
      <p:sp>
        <p:nvSpPr>
          <p:cNvPr id="10" name="Text 8"/>
          <p:cNvSpPr/>
          <p:nvPr/>
        </p:nvSpPr>
        <p:spPr>
          <a:xfrm>
            <a:off x="594360" y="2798064"/>
            <a:ext cx="5029200" cy="347472"/>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Hugo Filipe Queiróz Nogueira</a:t>
            </a:r>
            <a:endParaRPr lang="en-US" sz="1400" dirty="0"/>
          </a:p>
        </p:txBody>
      </p:sp>
      <p:sp>
        <p:nvSpPr>
          <p:cNvPr id="11" name="Text 9"/>
          <p:cNvSpPr/>
          <p:nvPr/>
        </p:nvSpPr>
        <p:spPr>
          <a:xfrm>
            <a:off x="594360" y="3163824"/>
            <a:ext cx="8321040" cy="292608"/>
          </a:xfrm>
          <a:prstGeom prst="rect">
            <a:avLst/>
          </a:prstGeom>
          <a:noFill/>
          <a:ln/>
        </p:spPr>
        <p:txBody>
          <a:bodyPr wrap="square" lIns="0" tIns="0" rIns="0" bIns="0" rtlCol="0" anchor="ctr"/>
          <a:lstStyle/>
          <a:p>
            <a:pPr indent="0" marL="0">
              <a:buNone/>
            </a:pPr>
            <a:r>
              <a:rPr lang="en-US" sz="1000" dirty="0">
                <a:solidFill>
                  <a:srgbClr val="7F8FA6"/>
                </a:solidFill>
                <a:latin typeface="Calibri" pitchFamily="34" charset="0"/>
                <a:ea typeface="Calibri" pitchFamily="34" charset="-122"/>
                <a:cs typeface="Calibri" pitchFamily="34" charset="-120"/>
              </a:rPr>
              <a:t>Supervisors: Prof. João Paulo Moreira (FEUP)  ·  Prof. Mário Campos Cunha (FCUP)</a:t>
            </a:r>
            <a:endParaRPr lang="en-US" sz="1000" dirty="0"/>
          </a:p>
        </p:txBody>
      </p:sp>
      <p:sp>
        <p:nvSpPr>
          <p:cNvPr id="12" name="Shape 10"/>
          <p:cNvSpPr/>
          <p:nvPr/>
        </p:nvSpPr>
        <p:spPr>
          <a:xfrm>
            <a:off x="6583680" y="1005840"/>
            <a:ext cx="2331720" cy="365760"/>
          </a:xfrm>
          <a:prstGeom prst="rect">
            <a:avLst/>
          </a:prstGeom>
          <a:solidFill>
            <a:srgbClr val="253756"/>
          </a:solidFill>
          <a:ln w="12700">
            <a:solidFill>
              <a:srgbClr val="253756"/>
            </a:solidFill>
            <a:prstDash val="solid"/>
          </a:ln>
        </p:spPr>
      </p:sp>
      <p:sp>
        <p:nvSpPr>
          <p:cNvPr id="13" name="Text 11"/>
          <p:cNvSpPr/>
          <p:nvPr/>
        </p:nvSpPr>
        <p:spPr>
          <a:xfrm>
            <a:off x="6583680" y="1005840"/>
            <a:ext cx="2331720" cy="365760"/>
          </a:xfrm>
          <a:prstGeom prst="rect">
            <a:avLst/>
          </a:prstGeom>
          <a:noFill/>
          <a:ln/>
        </p:spPr>
        <p:txBody>
          <a:bodyPr wrap="square" lIns="0" tIns="0" rIns="0" bIns="0" rtlCol="0" anchor="ctr"/>
          <a:lstStyle/>
          <a:p>
            <a:pPr algn="ctr" indent="0" marL="0">
              <a:buNone/>
            </a:pPr>
            <a:r>
              <a:rPr lang="en-US" sz="950" dirty="0">
                <a:solidFill>
                  <a:srgbClr val="F5D78A"/>
                </a:solidFill>
                <a:latin typeface="Calibri" pitchFamily="34" charset="0"/>
                <a:ea typeface="Calibri" pitchFamily="34" charset="-122"/>
                <a:cs typeface="Calibri" pitchFamily="34" charset="-120"/>
              </a:rPr>
              <a:t>Distributional Subgroup Discovery</a:t>
            </a:r>
            <a:endParaRPr lang="en-US" sz="950" dirty="0"/>
          </a:p>
        </p:txBody>
      </p:sp>
      <p:sp>
        <p:nvSpPr>
          <p:cNvPr id="14" name="Shape 12"/>
          <p:cNvSpPr/>
          <p:nvPr/>
        </p:nvSpPr>
        <p:spPr>
          <a:xfrm>
            <a:off x="6583680" y="1463040"/>
            <a:ext cx="2331720" cy="365760"/>
          </a:xfrm>
          <a:prstGeom prst="rect">
            <a:avLst/>
          </a:prstGeom>
          <a:solidFill>
            <a:srgbClr val="253756"/>
          </a:solidFill>
          <a:ln w="12700">
            <a:solidFill>
              <a:srgbClr val="253756"/>
            </a:solidFill>
            <a:prstDash val="solid"/>
          </a:ln>
        </p:spPr>
      </p:sp>
      <p:sp>
        <p:nvSpPr>
          <p:cNvPr id="15" name="Text 13"/>
          <p:cNvSpPr/>
          <p:nvPr/>
        </p:nvSpPr>
        <p:spPr>
          <a:xfrm>
            <a:off x="6583680" y="1463040"/>
            <a:ext cx="2331720" cy="365760"/>
          </a:xfrm>
          <a:prstGeom prst="rect">
            <a:avLst/>
          </a:prstGeom>
          <a:noFill/>
          <a:ln/>
        </p:spPr>
        <p:txBody>
          <a:bodyPr wrap="square" lIns="0" tIns="0" rIns="0" bIns="0" rtlCol="0" anchor="ctr"/>
          <a:lstStyle/>
          <a:p>
            <a:pPr algn="ctr" indent="0" marL="0">
              <a:buNone/>
            </a:pPr>
            <a:r>
              <a:rPr lang="en-US" sz="950" dirty="0">
                <a:solidFill>
                  <a:srgbClr val="F5D78A"/>
                </a:solidFill>
                <a:latin typeface="Calibri" pitchFamily="34" charset="0"/>
                <a:ea typeface="Calibri" pitchFamily="34" charset="-122"/>
                <a:cs typeface="Calibri" pitchFamily="34" charset="-120"/>
              </a:rPr>
              <a:t>CarenR · KS-Test</a:t>
            </a:r>
            <a:endParaRPr lang="en-US" sz="950" dirty="0"/>
          </a:p>
        </p:txBody>
      </p:sp>
      <p:sp>
        <p:nvSpPr>
          <p:cNvPr id="16" name="Shape 14"/>
          <p:cNvSpPr/>
          <p:nvPr/>
        </p:nvSpPr>
        <p:spPr>
          <a:xfrm>
            <a:off x="6583680" y="1920240"/>
            <a:ext cx="2331720" cy="365760"/>
          </a:xfrm>
          <a:prstGeom prst="rect">
            <a:avLst/>
          </a:prstGeom>
          <a:solidFill>
            <a:srgbClr val="253756"/>
          </a:solidFill>
          <a:ln w="12700">
            <a:solidFill>
              <a:srgbClr val="253756"/>
            </a:solidFill>
            <a:prstDash val="solid"/>
          </a:ln>
        </p:spPr>
      </p:sp>
      <p:sp>
        <p:nvSpPr>
          <p:cNvPr id="17" name="Text 15"/>
          <p:cNvSpPr/>
          <p:nvPr/>
        </p:nvSpPr>
        <p:spPr>
          <a:xfrm>
            <a:off x="6583680" y="1920240"/>
            <a:ext cx="2331720" cy="365760"/>
          </a:xfrm>
          <a:prstGeom prst="rect">
            <a:avLst/>
          </a:prstGeom>
          <a:noFill/>
          <a:ln/>
        </p:spPr>
        <p:txBody>
          <a:bodyPr wrap="square" lIns="0" tIns="0" rIns="0" bIns="0" rtlCol="0" anchor="ctr"/>
          <a:lstStyle/>
          <a:p>
            <a:pPr algn="ctr" indent="0" marL="0">
              <a:buNone/>
            </a:pPr>
            <a:r>
              <a:rPr lang="en-US" sz="950" dirty="0">
                <a:solidFill>
                  <a:srgbClr val="F5D78A"/>
                </a:solidFill>
                <a:latin typeface="Calibri" pitchFamily="34" charset="0"/>
                <a:ea typeface="Calibri" pitchFamily="34" charset="-122"/>
                <a:cs typeface="Calibri" pitchFamily="34" charset="-120"/>
              </a:rPr>
              <a:t>Walk-Forward Validation</a:t>
            </a:r>
            <a:endParaRPr lang="en-US" sz="950" dirty="0"/>
          </a:p>
        </p:txBody>
      </p:sp>
      <p:sp>
        <p:nvSpPr>
          <p:cNvPr id="18" name="Shape 16"/>
          <p:cNvSpPr/>
          <p:nvPr/>
        </p:nvSpPr>
        <p:spPr>
          <a:xfrm>
            <a:off x="6583680" y="2377440"/>
            <a:ext cx="2331720" cy="365760"/>
          </a:xfrm>
          <a:prstGeom prst="rect">
            <a:avLst/>
          </a:prstGeom>
          <a:solidFill>
            <a:srgbClr val="253756"/>
          </a:solidFill>
          <a:ln w="12700">
            <a:solidFill>
              <a:srgbClr val="253756"/>
            </a:solidFill>
            <a:prstDash val="solid"/>
          </a:ln>
        </p:spPr>
      </p:sp>
      <p:sp>
        <p:nvSpPr>
          <p:cNvPr id="19" name="Text 17"/>
          <p:cNvSpPr/>
          <p:nvPr/>
        </p:nvSpPr>
        <p:spPr>
          <a:xfrm>
            <a:off x="6583680" y="2377440"/>
            <a:ext cx="2331720" cy="365760"/>
          </a:xfrm>
          <a:prstGeom prst="rect">
            <a:avLst/>
          </a:prstGeom>
          <a:noFill/>
          <a:ln/>
        </p:spPr>
        <p:txBody>
          <a:bodyPr wrap="square" lIns="0" tIns="0" rIns="0" bIns="0" rtlCol="0" anchor="ctr"/>
          <a:lstStyle/>
          <a:p>
            <a:pPr algn="ctr" indent="0" marL="0">
              <a:buNone/>
            </a:pPr>
            <a:r>
              <a:rPr lang="en-US" sz="950" dirty="0">
                <a:solidFill>
                  <a:srgbClr val="F5D78A"/>
                </a:solidFill>
                <a:latin typeface="Calibri" pitchFamily="34" charset="0"/>
                <a:ea typeface="Calibri" pitchFamily="34" charset="-122"/>
                <a:cs typeface="Calibri" pitchFamily="34" charset="-120"/>
              </a:rPr>
              <a:t>Non-Stationary Time Series</a:t>
            </a:r>
            <a:endParaRPr lang="en-US" sz="950" dirty="0"/>
          </a:p>
        </p:txBody>
      </p:sp>
      <p:sp>
        <p:nvSpPr>
          <p:cNvPr id="20" name="Shape 18"/>
          <p:cNvSpPr/>
          <p:nvPr/>
        </p:nvSpPr>
        <p:spPr>
          <a:xfrm>
            <a:off x="6583680" y="2834640"/>
            <a:ext cx="2331720" cy="365760"/>
          </a:xfrm>
          <a:prstGeom prst="rect">
            <a:avLst/>
          </a:prstGeom>
          <a:solidFill>
            <a:srgbClr val="253756"/>
          </a:solidFill>
          <a:ln w="12700">
            <a:solidFill>
              <a:srgbClr val="253756"/>
            </a:solidFill>
            <a:prstDash val="solid"/>
          </a:ln>
        </p:spPr>
      </p:sp>
      <p:sp>
        <p:nvSpPr>
          <p:cNvPr id="21" name="Text 19"/>
          <p:cNvSpPr/>
          <p:nvPr/>
        </p:nvSpPr>
        <p:spPr>
          <a:xfrm>
            <a:off x="6583680" y="2834640"/>
            <a:ext cx="2331720" cy="365760"/>
          </a:xfrm>
          <a:prstGeom prst="rect">
            <a:avLst/>
          </a:prstGeom>
          <a:noFill/>
          <a:ln/>
        </p:spPr>
        <p:txBody>
          <a:bodyPr wrap="square" lIns="0" tIns="0" rIns="0" bIns="0" rtlCol="0" anchor="ctr"/>
          <a:lstStyle/>
          <a:p>
            <a:pPr algn="ctr" indent="0" marL="0">
              <a:buNone/>
            </a:pPr>
            <a:r>
              <a:rPr lang="en-US" sz="950" dirty="0">
                <a:solidFill>
                  <a:srgbClr val="F5D78A"/>
                </a:solidFill>
                <a:latin typeface="Calibri" pitchFamily="34" charset="0"/>
                <a:ea typeface="Calibri" pitchFamily="34" charset="-122"/>
                <a:cs typeface="Calibri" pitchFamily="34" charset="-120"/>
              </a:rPr>
              <a:t>Interpretable ML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53"/>
          </a:solidFill>
          <a:ln w="12700">
            <a:solidFill>
              <a:srgbClr val="D4A853"/>
            </a:solidFill>
            <a:prstDash val="solid"/>
          </a:ln>
        </p:spPr>
      </p:sp>
      <p:sp>
        <p:nvSpPr>
          <p:cNvPr id="3" name="Text 1"/>
          <p:cNvSpPr/>
          <p:nvPr/>
        </p:nvSpPr>
        <p:spPr>
          <a:xfrm>
            <a:off x="457200" y="109728"/>
            <a:ext cx="8229600" cy="50292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Research Problem &amp; Motivation</a:t>
            </a:r>
            <a:endParaRPr lang="en-US" sz="2200" dirty="0"/>
          </a:p>
        </p:txBody>
      </p:sp>
      <p:sp>
        <p:nvSpPr>
          <p:cNvPr id="4" name="Text 2"/>
          <p:cNvSpPr/>
          <p:nvPr/>
        </p:nvSpPr>
        <p:spPr>
          <a:xfrm>
            <a:off x="457200" y="612648"/>
            <a:ext cx="8229600" cy="256032"/>
          </a:xfrm>
          <a:prstGeom prst="rect">
            <a:avLst/>
          </a:prstGeom>
          <a:noFill/>
          <a:ln/>
        </p:spPr>
        <p:txBody>
          <a:bodyPr wrap="square" lIns="0" tIns="0" rIns="0" bIns="0" rtlCol="0" anchor="ctr"/>
          <a:lstStyle/>
          <a:p>
            <a:pPr algn="l" indent="0" marL="0">
              <a:buNone/>
            </a:pPr>
            <a:r>
              <a:rPr lang="en-US" sz="1100" i="1" dirty="0">
                <a:solidFill>
                  <a:srgbClr val="D4A853"/>
                </a:solidFill>
                <a:latin typeface="Calibri" pitchFamily="34" charset="0"/>
                <a:ea typeface="Calibri" pitchFamily="34" charset="-122"/>
                <a:cs typeface="Calibri" pitchFamily="34" charset="-120"/>
              </a:rPr>
              <a:t>Why is this an interesting Machine Learning challenge?</a:t>
            </a:r>
            <a:endParaRPr lang="en-US" sz="1100" dirty="0"/>
          </a:p>
        </p:txBody>
      </p:sp>
      <p:sp>
        <p:nvSpPr>
          <p:cNvPr id="5" name="Shape 3"/>
          <p:cNvSpPr/>
          <p:nvPr/>
        </p:nvSpPr>
        <p:spPr>
          <a:xfrm>
            <a:off x="457200" y="896112"/>
            <a:ext cx="8229600" cy="18288"/>
          </a:xfrm>
          <a:prstGeom prst="rect">
            <a:avLst/>
          </a:prstGeom>
          <a:solidFill>
            <a:srgbClr val="D8E2EE"/>
          </a:solidFill>
          <a:ln w="12700">
            <a:solidFill>
              <a:srgbClr val="D8E2EE"/>
            </a:solidFill>
            <a:prstDash val="solid"/>
          </a:ln>
        </p:spPr>
      </p:sp>
      <p:sp>
        <p:nvSpPr>
          <p:cNvPr id="6" name="Shape 4"/>
          <p:cNvSpPr/>
          <p:nvPr/>
        </p:nvSpPr>
        <p:spPr>
          <a:xfrm>
            <a:off x="411480" y="1078992"/>
            <a:ext cx="4069080" cy="1627632"/>
          </a:xfrm>
          <a:prstGeom prst="rect">
            <a:avLst/>
          </a:prstGeom>
          <a:solidFill>
            <a:srgbClr val="2E4A7C"/>
          </a:solidFill>
          <a:ln w="12700">
            <a:solidFill>
              <a:srgbClr val="2E4A7C"/>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548640" y="1261872"/>
            <a:ext cx="457200" cy="457200"/>
          </a:xfrm>
          <a:prstGeom prst="rect">
            <a:avLst/>
          </a:prstGeom>
          <a:solidFill>
            <a:srgbClr val="D4A853"/>
          </a:solidFill>
          <a:ln w="12700">
            <a:solidFill>
              <a:srgbClr val="D4A853"/>
            </a:solidFill>
            <a:prstDash val="solid"/>
          </a:ln>
        </p:spPr>
      </p:sp>
      <p:sp>
        <p:nvSpPr>
          <p:cNvPr id="8" name="Text 6"/>
          <p:cNvSpPr/>
          <p:nvPr/>
        </p:nvSpPr>
        <p:spPr>
          <a:xfrm>
            <a:off x="548640" y="1261872"/>
            <a:ext cx="457200" cy="45720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9" name="Text 7"/>
          <p:cNvSpPr/>
          <p:nvPr/>
        </p:nvSpPr>
        <p:spPr>
          <a:xfrm>
            <a:off x="1097280" y="1261872"/>
            <a:ext cx="3246120" cy="45720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Weak Signal</a:t>
            </a:r>
            <a:endParaRPr lang="en-US" sz="1300" dirty="0"/>
          </a:p>
        </p:txBody>
      </p:sp>
      <p:sp>
        <p:nvSpPr>
          <p:cNvPr id="10" name="Text 8"/>
          <p:cNvSpPr/>
          <p:nvPr/>
        </p:nvSpPr>
        <p:spPr>
          <a:xfrm>
            <a:off x="548640" y="1773936"/>
            <a:ext cx="3794760" cy="859536"/>
          </a:xfrm>
          <a:prstGeom prst="rect">
            <a:avLst/>
          </a:prstGeom>
          <a:noFill/>
          <a:ln/>
        </p:spPr>
        <p:txBody>
          <a:bodyPr wrap="square" lIns="0" tIns="0" rIns="0" bIns="0" rtlCol="0" anchor="t"/>
          <a:lstStyle/>
          <a:p>
            <a:pPr algn="l" indent="0" marL="0">
              <a:buNone/>
            </a:pPr>
            <a:r>
              <a:rPr lang="en-US" sz="950" dirty="0">
                <a:solidFill>
                  <a:srgbClr val="D8E2EE"/>
                </a:solidFill>
                <a:latin typeface="Calibri" pitchFamily="34" charset="0"/>
                <a:ea typeface="Calibri" pitchFamily="34" charset="-122"/>
                <a:cs typeface="Calibri" pitchFamily="34" charset="-120"/>
              </a:rPr>
              <a:t>Climate features explain ~22% of residual variance. Coefficient of variation = 47%. Signal-to-noise too low for reliable prediction but sufficient for distributional discovery.</a:t>
            </a:r>
            <a:endParaRPr lang="en-US" sz="950" dirty="0"/>
          </a:p>
        </p:txBody>
      </p:sp>
      <p:sp>
        <p:nvSpPr>
          <p:cNvPr id="11" name="Shape 9"/>
          <p:cNvSpPr/>
          <p:nvPr/>
        </p:nvSpPr>
        <p:spPr>
          <a:xfrm>
            <a:off x="4754880" y="1078992"/>
            <a:ext cx="4069080" cy="1627632"/>
          </a:xfrm>
          <a:prstGeom prst="rect">
            <a:avLst/>
          </a:prstGeom>
          <a:solidFill>
            <a:srgbClr val="B03A2E"/>
          </a:solidFill>
          <a:ln w="12700">
            <a:solidFill>
              <a:srgbClr val="B03A2E"/>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4892040" y="1261872"/>
            <a:ext cx="457200" cy="457200"/>
          </a:xfrm>
          <a:prstGeom prst="rect">
            <a:avLst/>
          </a:prstGeom>
          <a:solidFill>
            <a:srgbClr val="D4A853"/>
          </a:solidFill>
          <a:ln w="12700">
            <a:solidFill>
              <a:srgbClr val="D4A853"/>
            </a:solidFill>
            <a:prstDash val="solid"/>
          </a:ln>
        </p:spPr>
      </p:sp>
      <p:sp>
        <p:nvSpPr>
          <p:cNvPr id="13" name="Text 11"/>
          <p:cNvSpPr/>
          <p:nvPr/>
        </p:nvSpPr>
        <p:spPr>
          <a:xfrm>
            <a:off x="4892040" y="1261872"/>
            <a:ext cx="457200" cy="45720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4" name="Text 12"/>
          <p:cNvSpPr/>
          <p:nvPr/>
        </p:nvSpPr>
        <p:spPr>
          <a:xfrm>
            <a:off x="5440680" y="1261872"/>
            <a:ext cx="3246120" cy="45720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Non-Stationarity</a:t>
            </a:r>
            <a:endParaRPr lang="en-US" sz="1300" dirty="0"/>
          </a:p>
        </p:txBody>
      </p:sp>
      <p:sp>
        <p:nvSpPr>
          <p:cNvPr id="15" name="Text 13"/>
          <p:cNvSpPr/>
          <p:nvPr/>
        </p:nvSpPr>
        <p:spPr>
          <a:xfrm>
            <a:off x="4892040" y="1773936"/>
            <a:ext cx="3794760" cy="859536"/>
          </a:xfrm>
          <a:prstGeom prst="rect">
            <a:avLst/>
          </a:prstGeom>
          <a:noFill/>
          <a:ln/>
        </p:spPr>
        <p:txBody>
          <a:bodyPr wrap="square" lIns="0" tIns="0" rIns="0" bIns="0" rtlCol="0" anchor="t"/>
          <a:lstStyle/>
          <a:p>
            <a:pPr algn="l" indent="0" marL="0">
              <a:buNone/>
            </a:pPr>
            <a:r>
              <a:rPr lang="en-US" sz="950" dirty="0">
                <a:solidFill>
                  <a:srgbClr val="D8E2EE"/>
                </a:solidFill>
                <a:latin typeface="Calibri" pitchFamily="34" charset="0"/>
                <a:ea typeface="Calibri" pitchFamily="34" charset="-122"/>
                <a:cs typeface="Calibri" pitchFamily="34" charset="-120"/>
              </a:rPr>
              <a:t>Both raw series fail ADF stationarity tests (p=0.38 RDD; p=0.89 RVV). After linear detrending, RVV residuals still fail ADF — structural change is non-linear.</a:t>
            </a:r>
            <a:endParaRPr lang="en-US" sz="950" dirty="0"/>
          </a:p>
        </p:txBody>
      </p:sp>
      <p:sp>
        <p:nvSpPr>
          <p:cNvPr id="16" name="Shape 14"/>
          <p:cNvSpPr/>
          <p:nvPr/>
        </p:nvSpPr>
        <p:spPr>
          <a:xfrm>
            <a:off x="411480" y="2834640"/>
            <a:ext cx="4069080" cy="1627632"/>
          </a:xfrm>
          <a:prstGeom prst="rect">
            <a:avLst/>
          </a:prstGeom>
          <a:solidFill>
            <a:srgbClr val="1B2B45"/>
          </a:solidFill>
          <a:ln w="12700">
            <a:solidFill>
              <a:srgbClr val="1B2B45"/>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548640" y="3017520"/>
            <a:ext cx="457200" cy="457200"/>
          </a:xfrm>
          <a:prstGeom prst="rect">
            <a:avLst/>
          </a:prstGeom>
          <a:solidFill>
            <a:srgbClr val="D4A853"/>
          </a:solidFill>
          <a:ln w="12700">
            <a:solidFill>
              <a:srgbClr val="D4A853"/>
            </a:solidFill>
            <a:prstDash val="solid"/>
          </a:ln>
        </p:spPr>
      </p:sp>
      <p:sp>
        <p:nvSpPr>
          <p:cNvPr id="18" name="Text 16"/>
          <p:cNvSpPr/>
          <p:nvPr/>
        </p:nvSpPr>
        <p:spPr>
          <a:xfrm>
            <a:off x="548640" y="3017520"/>
            <a:ext cx="457200" cy="45720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9" name="Text 17"/>
          <p:cNvSpPr/>
          <p:nvPr/>
        </p:nvSpPr>
        <p:spPr>
          <a:xfrm>
            <a:off x="1097280" y="3017520"/>
            <a:ext cx="3246120" cy="45720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Structural Changes</a:t>
            </a:r>
            <a:endParaRPr lang="en-US" sz="1300" dirty="0"/>
          </a:p>
        </p:txBody>
      </p:sp>
      <p:sp>
        <p:nvSpPr>
          <p:cNvPr id="20" name="Text 18"/>
          <p:cNvSpPr/>
          <p:nvPr/>
        </p:nvSpPr>
        <p:spPr>
          <a:xfrm>
            <a:off x="548640" y="3529584"/>
            <a:ext cx="3794760" cy="859536"/>
          </a:xfrm>
          <a:prstGeom prst="rect">
            <a:avLst/>
          </a:prstGeom>
          <a:noFill/>
          <a:ln/>
        </p:spPr>
        <p:txBody>
          <a:bodyPr wrap="square" lIns="0" tIns="0" rIns="0" bIns="0" rtlCol="0" anchor="t"/>
          <a:lstStyle/>
          <a:p>
            <a:pPr algn="l" indent="0" marL="0">
              <a:buNone/>
            </a:pPr>
            <a:r>
              <a:rPr lang="en-US" sz="950" dirty="0">
                <a:solidFill>
                  <a:srgbClr val="D8E2EE"/>
                </a:solidFill>
                <a:latin typeface="Calibri" pitchFamily="34" charset="0"/>
                <a:ea typeface="Calibri" pitchFamily="34" charset="-122"/>
                <a:cs typeface="Calibri" pitchFamily="34" charset="-120"/>
              </a:rPr>
              <a:t>Non-climate drivers (EU quotas, planted area, industry restructuring) cause production regime shifts not captured by time-only linear detrending.</a:t>
            </a:r>
            <a:endParaRPr lang="en-US" sz="950" dirty="0"/>
          </a:p>
        </p:txBody>
      </p:sp>
      <p:sp>
        <p:nvSpPr>
          <p:cNvPr id="21" name="Shape 19"/>
          <p:cNvSpPr/>
          <p:nvPr/>
        </p:nvSpPr>
        <p:spPr>
          <a:xfrm>
            <a:off x="4754880" y="2834640"/>
            <a:ext cx="4069080" cy="1627632"/>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8000"/>
              </a:srgbClr>
            </a:outerShdw>
          </a:effectLst>
        </p:spPr>
      </p:sp>
      <p:sp>
        <p:nvSpPr>
          <p:cNvPr id="22" name="Shape 20"/>
          <p:cNvSpPr/>
          <p:nvPr/>
        </p:nvSpPr>
        <p:spPr>
          <a:xfrm>
            <a:off x="4892040" y="3017520"/>
            <a:ext cx="457200" cy="457200"/>
          </a:xfrm>
          <a:prstGeom prst="rect">
            <a:avLst/>
          </a:prstGeom>
          <a:solidFill>
            <a:srgbClr val="D4A853"/>
          </a:solidFill>
          <a:ln w="12700">
            <a:solidFill>
              <a:srgbClr val="D4A853"/>
            </a:solidFill>
            <a:prstDash val="solid"/>
          </a:ln>
        </p:spPr>
      </p:sp>
      <p:sp>
        <p:nvSpPr>
          <p:cNvPr id="23" name="Text 21"/>
          <p:cNvSpPr/>
          <p:nvPr/>
        </p:nvSpPr>
        <p:spPr>
          <a:xfrm>
            <a:off x="4892040" y="3017520"/>
            <a:ext cx="457200" cy="45720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24" name="Text 22"/>
          <p:cNvSpPr/>
          <p:nvPr/>
        </p:nvSpPr>
        <p:spPr>
          <a:xfrm>
            <a:off x="5440680" y="3017520"/>
            <a:ext cx="3246120" cy="45720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Small Samples</a:t>
            </a:r>
            <a:endParaRPr lang="en-US" sz="1300" dirty="0"/>
          </a:p>
        </p:txBody>
      </p:sp>
      <p:sp>
        <p:nvSpPr>
          <p:cNvPr id="25" name="Text 23"/>
          <p:cNvSpPr/>
          <p:nvPr/>
        </p:nvSpPr>
        <p:spPr>
          <a:xfrm>
            <a:off x="4892040" y="3529584"/>
            <a:ext cx="3794760" cy="859536"/>
          </a:xfrm>
          <a:prstGeom prst="rect">
            <a:avLst/>
          </a:prstGeom>
          <a:noFill/>
          <a:ln/>
        </p:spPr>
        <p:txBody>
          <a:bodyPr wrap="square" lIns="0" tIns="0" rIns="0" bIns="0" rtlCol="0" anchor="t"/>
          <a:lstStyle/>
          <a:p>
            <a:pPr algn="l" indent="0" marL="0">
              <a:buNone/>
            </a:pPr>
            <a:r>
              <a:rPr lang="en-US" sz="950" dirty="0">
                <a:solidFill>
                  <a:srgbClr val="D8E2EE"/>
                </a:solidFill>
                <a:latin typeface="Calibri" pitchFamily="34" charset="0"/>
                <a:ea typeface="Calibri" pitchFamily="34" charset="-122"/>
                <a:cs typeface="Calibri" pitchFamily="34" charset="-120"/>
              </a:rPr>
              <a:t>RDD: n=89 obs (1934–2022). RVV: n=80 obs (1942–2021). Annual aggregates only. 59 features × 4 bins = large search space relative to sample size.</a:t>
            </a:r>
            <a:endParaRPr lang="en-US" sz="950" dirty="0"/>
          </a:p>
        </p:txBody>
      </p:sp>
      <p:sp>
        <p:nvSpPr>
          <p:cNvPr id="26" name="Text 24"/>
          <p:cNvSpPr/>
          <p:nvPr/>
        </p:nvSpPr>
        <p:spPr>
          <a:xfrm>
            <a:off x="411480" y="4553712"/>
            <a:ext cx="8321040" cy="402336"/>
          </a:xfrm>
          <a:prstGeom prst="rect">
            <a:avLst/>
          </a:prstGeom>
          <a:noFill/>
          <a:ln/>
        </p:spPr>
        <p:txBody>
          <a:bodyPr wrap="square" lIns="0" tIns="0" rIns="0" bIns="0" rtlCol="0" anchor="ctr"/>
          <a:lstStyle/>
          <a:p>
            <a:pPr algn="ctr" indent="0" marL="0">
              <a:buNone/>
            </a:pPr>
            <a:r>
              <a:rPr lang="en-US" sz="1050" i="1" dirty="0">
                <a:solidFill>
                  <a:srgbClr val="D4A853"/>
                </a:solidFill>
                <a:latin typeface="Calibri" pitchFamily="34" charset="0"/>
                <a:ea typeface="Calibri" pitchFamily="34" charset="-122"/>
                <a:cs typeface="Calibri" pitchFamily="34" charset="-120"/>
              </a:rPr>
              <a:t>Wine production is the testbed. The research question: can interpretable rule-based ML discover actionable patterns and predict under these adversarial conditions?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53"/>
          </a:solidFill>
          <a:ln w="12700">
            <a:solidFill>
              <a:srgbClr val="D4A853"/>
            </a:solidFill>
            <a:prstDash val="solid"/>
          </a:ln>
        </p:spPr>
      </p:sp>
      <p:sp>
        <p:nvSpPr>
          <p:cNvPr id="3" name="Text 1"/>
          <p:cNvSpPr/>
          <p:nvPr/>
        </p:nvSpPr>
        <p:spPr>
          <a:xfrm>
            <a:off x="457200" y="109728"/>
            <a:ext cx="8229600" cy="50292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Research Questions</a:t>
            </a:r>
            <a:endParaRPr lang="en-US" sz="2200" dirty="0"/>
          </a:p>
        </p:txBody>
      </p:sp>
      <p:sp>
        <p:nvSpPr>
          <p:cNvPr id="4" name="Text 2"/>
          <p:cNvSpPr/>
          <p:nvPr/>
        </p:nvSpPr>
        <p:spPr>
          <a:xfrm>
            <a:off x="457200" y="612648"/>
            <a:ext cx="8229600" cy="256032"/>
          </a:xfrm>
          <a:prstGeom prst="rect">
            <a:avLst/>
          </a:prstGeom>
          <a:noFill/>
          <a:ln/>
        </p:spPr>
        <p:txBody>
          <a:bodyPr wrap="square" lIns="0" tIns="0" rIns="0" bIns="0" rtlCol="0" anchor="ctr"/>
          <a:lstStyle/>
          <a:p>
            <a:pPr algn="l" indent="0" marL="0">
              <a:buNone/>
            </a:pPr>
            <a:r>
              <a:rPr lang="en-US" sz="1100" i="1" dirty="0">
                <a:solidFill>
                  <a:srgbClr val="D4A853"/>
                </a:solidFill>
                <a:latin typeface="Calibri" pitchFamily="34" charset="0"/>
                <a:ea typeface="Calibri" pitchFamily="34" charset="-122"/>
                <a:cs typeface="Calibri" pitchFamily="34" charset="-120"/>
              </a:rPr>
              <a:t>Four questions spanning discovery, validation, and prediction</a:t>
            </a:r>
            <a:endParaRPr lang="en-US" sz="1100" dirty="0"/>
          </a:p>
        </p:txBody>
      </p:sp>
      <p:sp>
        <p:nvSpPr>
          <p:cNvPr id="5" name="Shape 3"/>
          <p:cNvSpPr/>
          <p:nvPr/>
        </p:nvSpPr>
        <p:spPr>
          <a:xfrm>
            <a:off x="457200" y="896112"/>
            <a:ext cx="8229600" cy="18288"/>
          </a:xfrm>
          <a:prstGeom prst="rect">
            <a:avLst/>
          </a:prstGeom>
          <a:solidFill>
            <a:srgbClr val="D8E2EE"/>
          </a:solidFill>
          <a:ln w="12700">
            <a:solidFill>
              <a:srgbClr val="D8E2EE"/>
            </a:solidFill>
            <a:prstDash val="solid"/>
          </a:ln>
        </p:spPr>
      </p:sp>
      <p:sp>
        <p:nvSpPr>
          <p:cNvPr id="6" name="Shape 4"/>
          <p:cNvSpPr/>
          <p:nvPr/>
        </p:nvSpPr>
        <p:spPr>
          <a:xfrm>
            <a:off x="411480" y="1051560"/>
            <a:ext cx="713232" cy="694944"/>
          </a:xfrm>
          <a:prstGeom prst="rect">
            <a:avLst/>
          </a:prstGeom>
          <a:solidFill>
            <a:srgbClr val="0D7377"/>
          </a:solidFill>
          <a:ln w="12700">
            <a:solidFill>
              <a:srgbClr val="0D7377"/>
            </a:solidFill>
            <a:prstDash val="solid"/>
          </a:ln>
        </p:spPr>
      </p:sp>
      <p:sp>
        <p:nvSpPr>
          <p:cNvPr id="7" name="Text 5"/>
          <p:cNvSpPr/>
          <p:nvPr/>
        </p:nvSpPr>
        <p:spPr>
          <a:xfrm>
            <a:off x="411480" y="1051560"/>
            <a:ext cx="713232" cy="6949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RQ1</a:t>
            </a:r>
            <a:endParaRPr lang="en-US" sz="1300" dirty="0"/>
          </a:p>
        </p:txBody>
      </p:sp>
      <p:sp>
        <p:nvSpPr>
          <p:cNvPr id="8" name="Shape 6"/>
          <p:cNvSpPr/>
          <p:nvPr/>
        </p:nvSpPr>
        <p:spPr>
          <a:xfrm>
            <a:off x="1207008" y="1051560"/>
            <a:ext cx="7498080" cy="694944"/>
          </a:xfrm>
          <a:prstGeom prst="rect">
            <a:avLst/>
          </a:prstGeom>
          <a:solidFill>
            <a:srgbClr val="D8E2EE"/>
          </a:solidFill>
          <a:ln w="12700">
            <a:solidFill>
              <a:srgbClr val="D8E2EE"/>
            </a:solidFill>
            <a:prstDash val="solid"/>
          </a:ln>
        </p:spPr>
      </p:sp>
      <p:sp>
        <p:nvSpPr>
          <p:cNvPr id="9" name="Text 7"/>
          <p:cNvSpPr/>
          <p:nvPr/>
        </p:nvSpPr>
        <p:spPr>
          <a:xfrm>
            <a:off x="1335024" y="1078992"/>
            <a:ext cx="6217920" cy="512064"/>
          </a:xfrm>
          <a:prstGeom prst="rect">
            <a:avLst/>
          </a:prstGeom>
          <a:noFill/>
          <a:ln/>
        </p:spPr>
        <p:txBody>
          <a:bodyPr wrap="square" lIns="0" tIns="0" rIns="0" bIns="0" rtlCol="0" anchor="ctr"/>
          <a:lstStyle/>
          <a:p>
            <a:pPr algn="l" indent="0" marL="0">
              <a:buNone/>
            </a:pPr>
            <a:r>
              <a:rPr lang="en-US" sz="1050" dirty="0">
                <a:solidFill>
                  <a:srgbClr val="1A2A3A"/>
                </a:solidFill>
                <a:latin typeface="Calibri" pitchFamily="34" charset="0"/>
                <a:ea typeface="Calibri" pitchFamily="34" charset="-122"/>
                <a:cs typeface="Calibri" pitchFamily="34" charset="-120"/>
              </a:rPr>
              <a:t>Can CarenR's KS-test-based distributional rule induction extract statistically validated, non-trivial patterns from non-stationary agricultural time series?</a:t>
            </a:r>
            <a:endParaRPr lang="en-US" sz="1050" dirty="0"/>
          </a:p>
        </p:txBody>
      </p:sp>
      <p:sp>
        <p:nvSpPr>
          <p:cNvPr id="10" name="Text 8"/>
          <p:cNvSpPr/>
          <p:nvPr/>
        </p:nvSpPr>
        <p:spPr>
          <a:xfrm>
            <a:off x="7589520" y="1188720"/>
            <a:ext cx="1005840" cy="402336"/>
          </a:xfrm>
          <a:prstGeom prst="rect">
            <a:avLst/>
          </a:prstGeom>
          <a:noFill/>
          <a:ln/>
        </p:spPr>
        <p:txBody>
          <a:bodyPr wrap="square" lIns="0" tIns="0" rIns="0" bIns="0" rtlCol="0" anchor="ctr"/>
          <a:lstStyle/>
          <a:p>
            <a:pPr algn="r" indent="0" marL="0">
              <a:buNone/>
            </a:pPr>
            <a:r>
              <a:rPr lang="en-US" sz="800" b="1" i="1" dirty="0">
                <a:solidFill>
                  <a:srgbClr val="0D7377"/>
                </a:solidFill>
                <a:latin typeface="Calibri" pitchFamily="34" charset="0"/>
                <a:ea typeface="Calibri" pitchFamily="34" charset="-122"/>
                <a:cs typeface="Calibri" pitchFamily="34" charset="-120"/>
              </a:rPr>
              <a:t>Goal 1 – Discovery</a:t>
            </a:r>
            <a:endParaRPr lang="en-US" sz="800" dirty="0"/>
          </a:p>
        </p:txBody>
      </p:sp>
      <p:sp>
        <p:nvSpPr>
          <p:cNvPr id="11" name="Shape 9"/>
          <p:cNvSpPr/>
          <p:nvPr/>
        </p:nvSpPr>
        <p:spPr>
          <a:xfrm>
            <a:off x="411480" y="1965960"/>
            <a:ext cx="713232" cy="694944"/>
          </a:xfrm>
          <a:prstGeom prst="rect">
            <a:avLst/>
          </a:prstGeom>
          <a:solidFill>
            <a:srgbClr val="2E4A7C"/>
          </a:solidFill>
          <a:ln w="12700">
            <a:solidFill>
              <a:srgbClr val="2E4A7C"/>
            </a:solidFill>
            <a:prstDash val="solid"/>
          </a:ln>
        </p:spPr>
      </p:sp>
      <p:sp>
        <p:nvSpPr>
          <p:cNvPr id="12" name="Text 10"/>
          <p:cNvSpPr/>
          <p:nvPr/>
        </p:nvSpPr>
        <p:spPr>
          <a:xfrm>
            <a:off x="411480" y="1965960"/>
            <a:ext cx="713232" cy="6949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RQ2</a:t>
            </a:r>
            <a:endParaRPr lang="en-US" sz="1300" dirty="0"/>
          </a:p>
        </p:txBody>
      </p:sp>
      <p:sp>
        <p:nvSpPr>
          <p:cNvPr id="13" name="Shape 11"/>
          <p:cNvSpPr/>
          <p:nvPr/>
        </p:nvSpPr>
        <p:spPr>
          <a:xfrm>
            <a:off x="1207008" y="1965960"/>
            <a:ext cx="7498080" cy="694944"/>
          </a:xfrm>
          <a:prstGeom prst="rect">
            <a:avLst/>
          </a:prstGeom>
          <a:solidFill>
            <a:srgbClr val="D8E2EE"/>
          </a:solidFill>
          <a:ln w="12700">
            <a:solidFill>
              <a:srgbClr val="D8E2EE"/>
            </a:solidFill>
            <a:prstDash val="solid"/>
          </a:ln>
        </p:spPr>
      </p:sp>
      <p:sp>
        <p:nvSpPr>
          <p:cNvPr id="14" name="Text 12"/>
          <p:cNvSpPr/>
          <p:nvPr/>
        </p:nvSpPr>
        <p:spPr>
          <a:xfrm>
            <a:off x="1335024" y="1993392"/>
            <a:ext cx="6217920" cy="512064"/>
          </a:xfrm>
          <a:prstGeom prst="rect">
            <a:avLst/>
          </a:prstGeom>
          <a:noFill/>
          <a:ln/>
        </p:spPr>
        <p:txBody>
          <a:bodyPr wrap="square" lIns="0" tIns="0" rIns="0" bIns="0" rtlCol="0" anchor="ctr"/>
          <a:lstStyle/>
          <a:p>
            <a:pPr algn="l" indent="0" marL="0">
              <a:buNone/>
            </a:pPr>
            <a:r>
              <a:rPr lang="en-US" sz="1050" dirty="0">
                <a:solidFill>
                  <a:srgbClr val="1A2A3A"/>
                </a:solidFill>
                <a:latin typeface="Calibri" pitchFamily="34" charset="0"/>
                <a:ea typeface="Calibri" pitchFamily="34" charset="-122"/>
                <a:cs typeface="Calibri" pitchFamily="34" charset="-120"/>
              </a:rPr>
              <a:t>Are the discovered rules genuine within-era climate signal, or are they era-membership artefacts introduced by imperfect linear detrending?</a:t>
            </a:r>
            <a:endParaRPr lang="en-US" sz="1050" dirty="0"/>
          </a:p>
        </p:txBody>
      </p:sp>
      <p:sp>
        <p:nvSpPr>
          <p:cNvPr id="15" name="Text 13"/>
          <p:cNvSpPr/>
          <p:nvPr/>
        </p:nvSpPr>
        <p:spPr>
          <a:xfrm>
            <a:off x="7589520" y="2103120"/>
            <a:ext cx="1005840" cy="402336"/>
          </a:xfrm>
          <a:prstGeom prst="rect">
            <a:avLst/>
          </a:prstGeom>
          <a:noFill/>
          <a:ln/>
        </p:spPr>
        <p:txBody>
          <a:bodyPr wrap="square" lIns="0" tIns="0" rIns="0" bIns="0" rtlCol="0" anchor="ctr"/>
          <a:lstStyle/>
          <a:p>
            <a:pPr algn="r" indent="0" marL="0">
              <a:buNone/>
            </a:pPr>
            <a:r>
              <a:rPr lang="en-US" sz="800" b="1" i="1" dirty="0">
                <a:solidFill>
                  <a:srgbClr val="2E4A7C"/>
                </a:solidFill>
                <a:latin typeface="Calibri" pitchFamily="34" charset="0"/>
                <a:ea typeface="Calibri" pitchFamily="34" charset="-122"/>
                <a:cs typeface="Calibri" pitchFamily="34" charset="-120"/>
              </a:rPr>
              <a:t>Goal 1 – Validation</a:t>
            </a:r>
            <a:endParaRPr lang="en-US" sz="800" dirty="0"/>
          </a:p>
        </p:txBody>
      </p:sp>
      <p:sp>
        <p:nvSpPr>
          <p:cNvPr id="16" name="Shape 14"/>
          <p:cNvSpPr/>
          <p:nvPr/>
        </p:nvSpPr>
        <p:spPr>
          <a:xfrm>
            <a:off x="411480" y="2880360"/>
            <a:ext cx="713232" cy="694944"/>
          </a:xfrm>
          <a:prstGeom prst="rect">
            <a:avLst/>
          </a:prstGeom>
          <a:solidFill>
            <a:srgbClr val="1B2B45"/>
          </a:solidFill>
          <a:ln w="12700">
            <a:solidFill>
              <a:srgbClr val="1B2B45"/>
            </a:solidFill>
            <a:prstDash val="solid"/>
          </a:ln>
        </p:spPr>
      </p:sp>
      <p:sp>
        <p:nvSpPr>
          <p:cNvPr id="17" name="Text 15"/>
          <p:cNvSpPr/>
          <p:nvPr/>
        </p:nvSpPr>
        <p:spPr>
          <a:xfrm>
            <a:off x="411480" y="2880360"/>
            <a:ext cx="713232" cy="6949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RQ3</a:t>
            </a:r>
            <a:endParaRPr lang="en-US" sz="1300" dirty="0"/>
          </a:p>
        </p:txBody>
      </p:sp>
      <p:sp>
        <p:nvSpPr>
          <p:cNvPr id="18" name="Shape 16"/>
          <p:cNvSpPr/>
          <p:nvPr/>
        </p:nvSpPr>
        <p:spPr>
          <a:xfrm>
            <a:off x="1207008" y="2880360"/>
            <a:ext cx="7498080" cy="694944"/>
          </a:xfrm>
          <a:prstGeom prst="rect">
            <a:avLst/>
          </a:prstGeom>
          <a:solidFill>
            <a:srgbClr val="D8E2EE"/>
          </a:solidFill>
          <a:ln w="12700">
            <a:solidFill>
              <a:srgbClr val="D8E2EE"/>
            </a:solidFill>
            <a:prstDash val="solid"/>
          </a:ln>
        </p:spPr>
      </p:sp>
      <p:sp>
        <p:nvSpPr>
          <p:cNvPr id="19" name="Text 17"/>
          <p:cNvSpPr/>
          <p:nvPr/>
        </p:nvSpPr>
        <p:spPr>
          <a:xfrm>
            <a:off x="1335024" y="2907792"/>
            <a:ext cx="6217920" cy="512064"/>
          </a:xfrm>
          <a:prstGeom prst="rect">
            <a:avLst/>
          </a:prstGeom>
          <a:noFill/>
          <a:ln/>
        </p:spPr>
        <p:txBody>
          <a:bodyPr wrap="square" lIns="0" tIns="0" rIns="0" bIns="0" rtlCol="0" anchor="ctr"/>
          <a:lstStyle/>
          <a:p>
            <a:pPr algn="l" indent="0" marL="0">
              <a:buNone/>
            </a:pPr>
            <a:r>
              <a:rPr lang="en-US" sz="1050" dirty="0">
                <a:solidFill>
                  <a:srgbClr val="1A2A3A"/>
                </a:solidFill>
                <a:latin typeface="Calibri" pitchFamily="34" charset="0"/>
                <a:ea typeface="Calibri" pitchFamily="34" charset="-122"/>
                <a:cs typeface="Calibri" pitchFamily="34" charset="-120"/>
              </a:rPr>
              <a:t>Can rule-based models (CarenR, RIPPER, M5Rules) outperform a Naive Median baseline in walk-forward prediction of detrended production residuals?</a:t>
            </a:r>
            <a:endParaRPr lang="en-US" sz="1050" dirty="0"/>
          </a:p>
        </p:txBody>
      </p:sp>
      <p:sp>
        <p:nvSpPr>
          <p:cNvPr id="20" name="Text 18"/>
          <p:cNvSpPr/>
          <p:nvPr/>
        </p:nvSpPr>
        <p:spPr>
          <a:xfrm>
            <a:off x="7589520" y="3017520"/>
            <a:ext cx="1005840" cy="402336"/>
          </a:xfrm>
          <a:prstGeom prst="rect">
            <a:avLst/>
          </a:prstGeom>
          <a:noFill/>
          <a:ln/>
        </p:spPr>
        <p:txBody>
          <a:bodyPr wrap="square" lIns="0" tIns="0" rIns="0" bIns="0" rtlCol="0" anchor="ctr"/>
          <a:lstStyle/>
          <a:p>
            <a:pPr algn="r" indent="0" marL="0">
              <a:buNone/>
            </a:pPr>
            <a:r>
              <a:rPr lang="en-US" sz="800" b="1" i="1" dirty="0">
                <a:solidFill>
                  <a:srgbClr val="1B2B45"/>
                </a:solidFill>
                <a:latin typeface="Calibri" pitchFamily="34" charset="0"/>
                <a:ea typeface="Calibri" pitchFamily="34" charset="-122"/>
                <a:cs typeface="Calibri" pitchFamily="34" charset="-120"/>
              </a:rPr>
              <a:t>Goal 2 – Prediction</a:t>
            </a:r>
            <a:endParaRPr lang="en-US" sz="800" dirty="0"/>
          </a:p>
        </p:txBody>
      </p:sp>
      <p:sp>
        <p:nvSpPr>
          <p:cNvPr id="21" name="Shape 19"/>
          <p:cNvSpPr/>
          <p:nvPr/>
        </p:nvSpPr>
        <p:spPr>
          <a:xfrm>
            <a:off x="411480" y="3794760"/>
            <a:ext cx="713232" cy="694944"/>
          </a:xfrm>
          <a:prstGeom prst="rect">
            <a:avLst/>
          </a:prstGeom>
          <a:solidFill>
            <a:srgbClr val="B03A2E"/>
          </a:solidFill>
          <a:ln w="12700">
            <a:solidFill>
              <a:srgbClr val="B03A2E"/>
            </a:solidFill>
            <a:prstDash val="solid"/>
          </a:ln>
        </p:spPr>
      </p:sp>
      <p:sp>
        <p:nvSpPr>
          <p:cNvPr id="22" name="Text 20"/>
          <p:cNvSpPr/>
          <p:nvPr/>
        </p:nvSpPr>
        <p:spPr>
          <a:xfrm>
            <a:off x="411480" y="3794760"/>
            <a:ext cx="713232" cy="6949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RQ4</a:t>
            </a:r>
            <a:endParaRPr lang="en-US" sz="1300" dirty="0"/>
          </a:p>
        </p:txBody>
      </p:sp>
      <p:sp>
        <p:nvSpPr>
          <p:cNvPr id="23" name="Shape 21"/>
          <p:cNvSpPr/>
          <p:nvPr/>
        </p:nvSpPr>
        <p:spPr>
          <a:xfrm>
            <a:off x="1207008" y="3794760"/>
            <a:ext cx="7498080" cy="694944"/>
          </a:xfrm>
          <a:prstGeom prst="rect">
            <a:avLst/>
          </a:prstGeom>
          <a:solidFill>
            <a:srgbClr val="D8E2EE"/>
          </a:solidFill>
          <a:ln w="12700">
            <a:solidFill>
              <a:srgbClr val="D8E2EE"/>
            </a:solidFill>
            <a:prstDash val="solid"/>
          </a:ln>
        </p:spPr>
      </p:sp>
      <p:sp>
        <p:nvSpPr>
          <p:cNvPr id="24" name="Text 22"/>
          <p:cNvSpPr/>
          <p:nvPr/>
        </p:nvSpPr>
        <p:spPr>
          <a:xfrm>
            <a:off x="1335024" y="3822192"/>
            <a:ext cx="6217920" cy="512064"/>
          </a:xfrm>
          <a:prstGeom prst="rect">
            <a:avLst/>
          </a:prstGeom>
          <a:noFill/>
          <a:ln/>
        </p:spPr>
        <p:txBody>
          <a:bodyPr wrap="square" lIns="0" tIns="0" rIns="0" bIns="0" rtlCol="0" anchor="ctr"/>
          <a:lstStyle/>
          <a:p>
            <a:pPr algn="l" indent="0" marL="0">
              <a:buNone/>
            </a:pPr>
            <a:r>
              <a:rPr lang="en-US" sz="1050" dirty="0">
                <a:solidFill>
                  <a:srgbClr val="1A2A3A"/>
                </a:solidFill>
                <a:latin typeface="Calibri" pitchFamily="34" charset="0"/>
                <a:ea typeface="Calibri" pitchFamily="34" charset="-122"/>
                <a:cs typeface="Calibri" pitchFamily="34" charset="-120"/>
              </a:rPr>
              <a:t>What structural conditions (era composition, detrend quality, signal strength) determine when rule-based prediction succeeds or fails?</a:t>
            </a:r>
            <a:endParaRPr lang="en-US" sz="1050" dirty="0"/>
          </a:p>
        </p:txBody>
      </p:sp>
      <p:sp>
        <p:nvSpPr>
          <p:cNvPr id="25" name="Text 23"/>
          <p:cNvSpPr/>
          <p:nvPr/>
        </p:nvSpPr>
        <p:spPr>
          <a:xfrm>
            <a:off x="7589520" y="3931920"/>
            <a:ext cx="1005840" cy="402336"/>
          </a:xfrm>
          <a:prstGeom prst="rect">
            <a:avLst/>
          </a:prstGeom>
          <a:noFill/>
          <a:ln/>
        </p:spPr>
        <p:txBody>
          <a:bodyPr wrap="square" lIns="0" tIns="0" rIns="0" bIns="0" rtlCol="0" anchor="ctr"/>
          <a:lstStyle/>
          <a:p>
            <a:pPr algn="r" indent="0" marL="0">
              <a:buNone/>
            </a:pPr>
            <a:r>
              <a:rPr lang="en-US" sz="800" b="1" i="1" dirty="0">
                <a:solidFill>
                  <a:srgbClr val="B03A2E"/>
                </a:solidFill>
                <a:latin typeface="Calibri" pitchFamily="34" charset="0"/>
                <a:ea typeface="Calibri" pitchFamily="34" charset="-122"/>
                <a:cs typeface="Calibri" pitchFamily="34" charset="-120"/>
              </a:rPr>
              <a:t>Goal 2 – Diagnosis</a:t>
            </a:r>
            <a:endParaRPr lang="en-US" sz="800" dirty="0"/>
          </a:p>
        </p:txBody>
      </p:sp>
      <p:sp>
        <p:nvSpPr>
          <p:cNvPr id="26" name="Shape 24"/>
          <p:cNvSpPr/>
          <p:nvPr/>
        </p:nvSpPr>
        <p:spPr>
          <a:xfrm>
            <a:off x="411480" y="4663440"/>
            <a:ext cx="8321040" cy="347472"/>
          </a:xfrm>
          <a:prstGeom prst="rect">
            <a:avLst/>
          </a:prstGeom>
          <a:solidFill>
            <a:srgbClr val="1B2B45"/>
          </a:solidFill>
          <a:ln w="12700">
            <a:solidFill>
              <a:srgbClr val="1B2B45"/>
            </a:solidFill>
            <a:prstDash val="solid"/>
          </a:ln>
        </p:spPr>
      </p:sp>
      <p:sp>
        <p:nvSpPr>
          <p:cNvPr id="27" name="Text 25"/>
          <p:cNvSpPr/>
          <p:nvPr/>
        </p:nvSpPr>
        <p:spPr>
          <a:xfrm>
            <a:off x="411480" y="4663440"/>
            <a:ext cx="8321040" cy="347472"/>
          </a:xfrm>
          <a:prstGeom prst="rect">
            <a:avLst/>
          </a:prstGeom>
          <a:noFill/>
          <a:ln/>
        </p:spPr>
        <p:txBody>
          <a:bodyPr wrap="square" lIns="0" tIns="0" rIns="0" bIns="0" rtlCol="0" anchor="ctr"/>
          <a:lstStyle/>
          <a:p>
            <a:pPr algn="ctr" indent="0" marL="0">
              <a:buNone/>
            </a:pPr>
            <a:r>
              <a:rPr lang="en-US" sz="950" b="1" dirty="0">
                <a:solidFill>
                  <a:srgbClr val="F5D78A"/>
                </a:solidFill>
                <a:latin typeface="Calibri" pitchFamily="34" charset="0"/>
                <a:ea typeface="Calibri" pitchFamily="34" charset="-122"/>
                <a:cs typeface="Calibri" pitchFamily="34" charset="-120"/>
              </a:rPr>
              <a:t>RQ1 ✓ Achieved   ·   RQ2 ✓ Validated by LOESS   ·   RQ3 ✗ Not achieved in aggregate   ·   RQ4 ✓ Explained by Two-Decision Framework</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53"/>
          </a:solidFill>
          <a:ln w="12700">
            <a:solidFill>
              <a:srgbClr val="D4A853"/>
            </a:solidFill>
            <a:prstDash val="solid"/>
          </a:ln>
        </p:spPr>
      </p:sp>
      <p:sp>
        <p:nvSpPr>
          <p:cNvPr id="3" name="Text 1"/>
          <p:cNvSpPr/>
          <p:nvPr/>
        </p:nvSpPr>
        <p:spPr>
          <a:xfrm>
            <a:off x="457200" y="109728"/>
            <a:ext cx="8229600" cy="50292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Dataset &amp; Feature Engineering</a:t>
            </a:r>
            <a:endParaRPr lang="en-US" sz="2200" dirty="0"/>
          </a:p>
        </p:txBody>
      </p:sp>
      <p:sp>
        <p:nvSpPr>
          <p:cNvPr id="4" name="Text 2"/>
          <p:cNvSpPr/>
          <p:nvPr/>
        </p:nvSpPr>
        <p:spPr>
          <a:xfrm>
            <a:off x="457200" y="612648"/>
            <a:ext cx="8229600" cy="256032"/>
          </a:xfrm>
          <a:prstGeom prst="rect">
            <a:avLst/>
          </a:prstGeom>
          <a:noFill/>
          <a:ln/>
        </p:spPr>
        <p:txBody>
          <a:bodyPr wrap="square" lIns="0" tIns="0" rIns="0" bIns="0" rtlCol="0" anchor="ctr"/>
          <a:lstStyle/>
          <a:p>
            <a:pPr algn="l" indent="0" marL="0">
              <a:buNone/>
            </a:pPr>
            <a:r>
              <a:rPr lang="en-US" sz="1100" i="1" dirty="0">
                <a:solidFill>
                  <a:srgbClr val="D4A853"/>
                </a:solidFill>
                <a:latin typeface="Calibri" pitchFamily="34" charset="0"/>
                <a:ea typeface="Calibri" pitchFamily="34" charset="-122"/>
                <a:cs typeface="Calibri" pitchFamily="34" charset="-120"/>
              </a:rPr>
              <a:t>Two contrasting natural experiments — same pipeline</a:t>
            </a:r>
            <a:endParaRPr lang="en-US" sz="1100" dirty="0"/>
          </a:p>
        </p:txBody>
      </p:sp>
      <p:sp>
        <p:nvSpPr>
          <p:cNvPr id="5" name="Shape 3"/>
          <p:cNvSpPr/>
          <p:nvPr/>
        </p:nvSpPr>
        <p:spPr>
          <a:xfrm>
            <a:off x="457200" y="896112"/>
            <a:ext cx="8229600" cy="18288"/>
          </a:xfrm>
          <a:prstGeom prst="rect">
            <a:avLst/>
          </a:prstGeom>
          <a:solidFill>
            <a:srgbClr val="D8E2EE"/>
          </a:solidFill>
          <a:ln w="12700">
            <a:solidFill>
              <a:srgbClr val="D8E2EE"/>
            </a:solidFill>
            <a:prstDash val="solid"/>
          </a:ln>
        </p:spPr>
      </p:sp>
      <p:sp>
        <p:nvSpPr>
          <p:cNvPr id="6" name="Shape 4"/>
          <p:cNvSpPr/>
          <p:nvPr/>
        </p:nvSpPr>
        <p:spPr>
          <a:xfrm>
            <a:off x="411480" y="1005840"/>
            <a:ext cx="3931920" cy="1874520"/>
          </a:xfrm>
          <a:prstGeom prst="rect">
            <a:avLst/>
          </a:prstGeom>
          <a:solidFill>
            <a:srgbClr val="2E4A7C"/>
          </a:solidFill>
          <a:ln w="12700">
            <a:solidFill>
              <a:srgbClr val="2E4A7C"/>
            </a:solidFill>
            <a:prstDash val="solid"/>
          </a:ln>
          <a:effectLst>
            <a:outerShdw sx="100000" sy="100000" kx="0" ky="0" algn="bl" rotWithShape="0" blurRad="101600" dist="38100" dir="8100000">
              <a:srgbClr val="000000">
                <a:alpha val="18000"/>
              </a:srgbClr>
            </a:outerShdw>
          </a:effectLst>
        </p:spPr>
      </p:sp>
      <p:sp>
        <p:nvSpPr>
          <p:cNvPr id="7" name="Text 5"/>
          <p:cNvSpPr/>
          <p:nvPr/>
        </p:nvSpPr>
        <p:spPr>
          <a:xfrm>
            <a:off x="521208" y="1005840"/>
            <a:ext cx="371246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Douro (RDD)</a:t>
            </a:r>
            <a:endParaRPr lang="en-US" sz="1500" dirty="0"/>
          </a:p>
        </p:txBody>
      </p:sp>
      <p:sp>
        <p:nvSpPr>
          <p:cNvPr id="8" name="Text 6"/>
          <p:cNvSpPr/>
          <p:nvPr/>
        </p:nvSpPr>
        <p:spPr>
          <a:xfrm>
            <a:off x="576072" y="1463040"/>
            <a:ext cx="3611880" cy="256032"/>
          </a:xfrm>
          <a:prstGeom prst="rect">
            <a:avLst/>
          </a:prstGeom>
          <a:noFill/>
          <a:ln/>
        </p:spPr>
        <p:txBody>
          <a:bodyPr wrap="square" lIns="0" tIns="0" rIns="0" bIns="0" rtlCol="0" anchor="ctr"/>
          <a:lstStyle/>
          <a:p>
            <a:pPr algn="l" indent="0" marL="0">
              <a:buNone/>
            </a:pPr>
            <a:r>
              <a:rPr lang="en-US" sz="1000" dirty="0">
                <a:solidFill>
                  <a:srgbClr val="D8E2EE"/>
                </a:solidFill>
                <a:latin typeface="Calibri" pitchFamily="34" charset="0"/>
                <a:ea typeface="Calibri" pitchFamily="34" charset="-122"/>
                <a:cs typeface="Calibri" pitchFamily="34" charset="-120"/>
              </a:rPr>
              <a:t>Period: 1934–2022</a:t>
            </a:r>
            <a:endParaRPr lang="en-US" sz="1000" dirty="0"/>
          </a:p>
        </p:txBody>
      </p:sp>
      <p:sp>
        <p:nvSpPr>
          <p:cNvPr id="9" name="Text 7"/>
          <p:cNvSpPr/>
          <p:nvPr/>
        </p:nvSpPr>
        <p:spPr>
          <a:xfrm>
            <a:off x="576072" y="1737360"/>
            <a:ext cx="3611880" cy="256032"/>
          </a:xfrm>
          <a:prstGeom prst="rect">
            <a:avLst/>
          </a:prstGeom>
          <a:noFill/>
          <a:ln/>
        </p:spPr>
        <p:txBody>
          <a:bodyPr wrap="square" lIns="0" tIns="0" rIns="0" bIns="0" rtlCol="0" anchor="ctr"/>
          <a:lstStyle/>
          <a:p>
            <a:pPr algn="l" indent="0" marL="0">
              <a:buNone/>
            </a:pPr>
            <a:r>
              <a:rPr lang="en-US" sz="1000" dirty="0">
                <a:solidFill>
                  <a:srgbClr val="D8E2EE"/>
                </a:solidFill>
                <a:latin typeface="Calibri" pitchFamily="34" charset="0"/>
                <a:ea typeface="Calibri" pitchFamily="34" charset="-122"/>
                <a:cs typeface="Calibri" pitchFamily="34" charset="-120"/>
              </a:rPr>
              <a:t>Observations: 89 observations</a:t>
            </a:r>
            <a:endParaRPr lang="en-US" sz="1000" dirty="0"/>
          </a:p>
        </p:txBody>
      </p:sp>
      <p:sp>
        <p:nvSpPr>
          <p:cNvPr id="10" name="Text 8"/>
          <p:cNvSpPr/>
          <p:nvPr/>
        </p:nvSpPr>
        <p:spPr>
          <a:xfrm>
            <a:off x="576072" y="2011680"/>
            <a:ext cx="3611880" cy="256032"/>
          </a:xfrm>
          <a:prstGeom prst="rect">
            <a:avLst/>
          </a:prstGeom>
          <a:noFill/>
          <a:ln/>
        </p:spPr>
        <p:txBody>
          <a:bodyPr wrap="square" lIns="0" tIns="0" rIns="0" bIns="0" rtlCol="0" anchor="ctr"/>
          <a:lstStyle/>
          <a:p>
            <a:pPr algn="l" indent="0" marL="0">
              <a:buNone/>
            </a:pPr>
            <a:r>
              <a:rPr lang="en-US" sz="1000" dirty="0">
                <a:solidFill>
                  <a:srgbClr val="D8E2EE"/>
                </a:solidFill>
                <a:latin typeface="Calibri" pitchFamily="34" charset="0"/>
                <a:ea typeface="Calibri" pitchFamily="34" charset="-122"/>
                <a:cs typeface="Calibri" pitchFamily="34" charset="-120"/>
              </a:rPr>
              <a:t>Mean production: 1,116 mhl</a:t>
            </a:r>
            <a:endParaRPr lang="en-US" sz="1000" dirty="0"/>
          </a:p>
        </p:txBody>
      </p:sp>
      <p:sp>
        <p:nvSpPr>
          <p:cNvPr id="11" name="Text 9"/>
          <p:cNvSpPr/>
          <p:nvPr/>
        </p:nvSpPr>
        <p:spPr>
          <a:xfrm>
            <a:off x="576072" y="2286000"/>
            <a:ext cx="3611880" cy="256032"/>
          </a:xfrm>
          <a:prstGeom prst="rect">
            <a:avLst/>
          </a:prstGeom>
          <a:noFill/>
          <a:ln/>
        </p:spPr>
        <p:txBody>
          <a:bodyPr wrap="square" lIns="0" tIns="0" rIns="0" bIns="0" rtlCol="0" anchor="ctr"/>
          <a:lstStyle/>
          <a:p>
            <a:pPr algn="l" indent="0" marL="0">
              <a:buNone/>
            </a:pPr>
            <a:r>
              <a:rPr lang="en-US" sz="1000" dirty="0">
                <a:solidFill>
                  <a:srgbClr val="D8E2EE"/>
                </a:solidFill>
                <a:latin typeface="Calibri" pitchFamily="34" charset="0"/>
                <a:ea typeface="Calibri" pitchFamily="34" charset="-122"/>
                <a:cs typeface="Calibri" pitchFamily="34" charset="-120"/>
              </a:rPr>
              <a:t>Structural trend: ▲ Upward trend</a:t>
            </a:r>
            <a:endParaRPr lang="en-US" sz="1000" dirty="0"/>
          </a:p>
        </p:txBody>
      </p:sp>
      <p:sp>
        <p:nvSpPr>
          <p:cNvPr id="12" name="Text 10"/>
          <p:cNvSpPr/>
          <p:nvPr/>
        </p:nvSpPr>
        <p:spPr>
          <a:xfrm>
            <a:off x="576072" y="2560320"/>
            <a:ext cx="3611880" cy="256032"/>
          </a:xfrm>
          <a:prstGeom prst="rect">
            <a:avLst/>
          </a:prstGeom>
          <a:noFill/>
          <a:ln/>
        </p:spPr>
        <p:txBody>
          <a:bodyPr wrap="square" lIns="0" tIns="0" rIns="0" bIns="0" rtlCol="0" anchor="ctr"/>
          <a:lstStyle/>
          <a:p>
            <a:pPr algn="l" indent="0" marL="0">
              <a:buNone/>
            </a:pPr>
            <a:r>
              <a:rPr lang="en-US" sz="1000" dirty="0">
                <a:solidFill>
                  <a:srgbClr val="D8E2EE"/>
                </a:solidFill>
                <a:latin typeface="Calibri" pitchFamily="34" charset="0"/>
                <a:ea typeface="Calibri" pitchFamily="34" charset="-122"/>
                <a:cs typeface="Calibri" pitchFamily="34" charset="-120"/>
              </a:rPr>
              <a:t>Era break: Regime break ~1990</a:t>
            </a:r>
            <a:endParaRPr lang="en-US" sz="1000" dirty="0"/>
          </a:p>
        </p:txBody>
      </p:sp>
      <p:sp>
        <p:nvSpPr>
          <p:cNvPr id="13" name="Shape 11"/>
          <p:cNvSpPr/>
          <p:nvPr/>
        </p:nvSpPr>
        <p:spPr>
          <a:xfrm>
            <a:off x="4754880" y="1005840"/>
            <a:ext cx="3931920" cy="1874520"/>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8000"/>
              </a:srgbClr>
            </a:outerShdw>
          </a:effectLst>
        </p:spPr>
      </p:sp>
      <p:sp>
        <p:nvSpPr>
          <p:cNvPr id="14" name="Text 12"/>
          <p:cNvSpPr/>
          <p:nvPr/>
        </p:nvSpPr>
        <p:spPr>
          <a:xfrm>
            <a:off x="4864608" y="1005840"/>
            <a:ext cx="371246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Vinho Verde (RVV)</a:t>
            </a:r>
            <a:endParaRPr lang="en-US" sz="1500" dirty="0"/>
          </a:p>
        </p:txBody>
      </p:sp>
      <p:sp>
        <p:nvSpPr>
          <p:cNvPr id="15" name="Text 13"/>
          <p:cNvSpPr/>
          <p:nvPr/>
        </p:nvSpPr>
        <p:spPr>
          <a:xfrm>
            <a:off x="4919472" y="1463040"/>
            <a:ext cx="3611880" cy="256032"/>
          </a:xfrm>
          <a:prstGeom prst="rect">
            <a:avLst/>
          </a:prstGeom>
          <a:noFill/>
          <a:ln/>
        </p:spPr>
        <p:txBody>
          <a:bodyPr wrap="square" lIns="0" tIns="0" rIns="0" bIns="0" rtlCol="0" anchor="ctr"/>
          <a:lstStyle/>
          <a:p>
            <a:pPr algn="l" indent="0" marL="0">
              <a:buNone/>
            </a:pPr>
            <a:r>
              <a:rPr lang="en-US" sz="1000" dirty="0">
                <a:solidFill>
                  <a:srgbClr val="D8E2EE"/>
                </a:solidFill>
                <a:latin typeface="Calibri" pitchFamily="34" charset="0"/>
                <a:ea typeface="Calibri" pitchFamily="34" charset="-122"/>
                <a:cs typeface="Calibri" pitchFamily="34" charset="-120"/>
              </a:rPr>
              <a:t>Period: 1942–2021</a:t>
            </a:r>
            <a:endParaRPr lang="en-US" sz="1000" dirty="0"/>
          </a:p>
        </p:txBody>
      </p:sp>
      <p:sp>
        <p:nvSpPr>
          <p:cNvPr id="16" name="Text 14"/>
          <p:cNvSpPr/>
          <p:nvPr/>
        </p:nvSpPr>
        <p:spPr>
          <a:xfrm>
            <a:off x="4919472" y="1737360"/>
            <a:ext cx="3611880" cy="256032"/>
          </a:xfrm>
          <a:prstGeom prst="rect">
            <a:avLst/>
          </a:prstGeom>
          <a:noFill/>
          <a:ln/>
        </p:spPr>
        <p:txBody>
          <a:bodyPr wrap="square" lIns="0" tIns="0" rIns="0" bIns="0" rtlCol="0" anchor="ctr"/>
          <a:lstStyle/>
          <a:p>
            <a:pPr algn="l" indent="0" marL="0">
              <a:buNone/>
            </a:pPr>
            <a:r>
              <a:rPr lang="en-US" sz="1000" dirty="0">
                <a:solidFill>
                  <a:srgbClr val="D8E2EE"/>
                </a:solidFill>
                <a:latin typeface="Calibri" pitchFamily="34" charset="0"/>
                <a:ea typeface="Calibri" pitchFamily="34" charset="-122"/>
                <a:cs typeface="Calibri" pitchFamily="34" charset="-120"/>
              </a:rPr>
              <a:t>Observations: 80 observations</a:t>
            </a:r>
            <a:endParaRPr lang="en-US" sz="1000" dirty="0"/>
          </a:p>
        </p:txBody>
      </p:sp>
      <p:sp>
        <p:nvSpPr>
          <p:cNvPr id="17" name="Text 15"/>
          <p:cNvSpPr/>
          <p:nvPr/>
        </p:nvSpPr>
        <p:spPr>
          <a:xfrm>
            <a:off x="4919472" y="2011680"/>
            <a:ext cx="3611880" cy="256032"/>
          </a:xfrm>
          <a:prstGeom prst="rect">
            <a:avLst/>
          </a:prstGeom>
          <a:noFill/>
          <a:ln/>
        </p:spPr>
        <p:txBody>
          <a:bodyPr wrap="square" lIns="0" tIns="0" rIns="0" bIns="0" rtlCol="0" anchor="ctr"/>
          <a:lstStyle/>
          <a:p>
            <a:pPr algn="l" indent="0" marL="0">
              <a:buNone/>
            </a:pPr>
            <a:r>
              <a:rPr lang="en-US" sz="1000" dirty="0">
                <a:solidFill>
                  <a:srgbClr val="D8E2EE"/>
                </a:solidFill>
                <a:latin typeface="Calibri" pitchFamily="34" charset="0"/>
                <a:ea typeface="Calibri" pitchFamily="34" charset="-122"/>
                <a:cs typeface="Calibri" pitchFamily="34" charset="-120"/>
              </a:rPr>
              <a:t>Mean production: 1,621 mhl</a:t>
            </a:r>
            <a:endParaRPr lang="en-US" sz="1000" dirty="0"/>
          </a:p>
        </p:txBody>
      </p:sp>
      <p:sp>
        <p:nvSpPr>
          <p:cNvPr id="18" name="Text 16"/>
          <p:cNvSpPr/>
          <p:nvPr/>
        </p:nvSpPr>
        <p:spPr>
          <a:xfrm>
            <a:off x="4919472" y="2286000"/>
            <a:ext cx="3611880" cy="256032"/>
          </a:xfrm>
          <a:prstGeom prst="rect">
            <a:avLst/>
          </a:prstGeom>
          <a:noFill/>
          <a:ln/>
        </p:spPr>
        <p:txBody>
          <a:bodyPr wrap="square" lIns="0" tIns="0" rIns="0" bIns="0" rtlCol="0" anchor="ctr"/>
          <a:lstStyle/>
          <a:p>
            <a:pPr algn="l" indent="0" marL="0">
              <a:buNone/>
            </a:pPr>
            <a:r>
              <a:rPr lang="en-US" sz="1000" dirty="0">
                <a:solidFill>
                  <a:srgbClr val="D8E2EE"/>
                </a:solidFill>
                <a:latin typeface="Calibri" pitchFamily="34" charset="0"/>
                <a:ea typeface="Calibri" pitchFamily="34" charset="-122"/>
                <a:cs typeface="Calibri" pitchFamily="34" charset="-120"/>
              </a:rPr>
              <a:t>Structural trend: ▼ Sharp decline since 1960s</a:t>
            </a:r>
            <a:endParaRPr lang="en-US" sz="1000" dirty="0"/>
          </a:p>
        </p:txBody>
      </p:sp>
      <p:sp>
        <p:nvSpPr>
          <p:cNvPr id="19" name="Text 17"/>
          <p:cNvSpPr/>
          <p:nvPr/>
        </p:nvSpPr>
        <p:spPr>
          <a:xfrm>
            <a:off x="4919472" y="2560320"/>
            <a:ext cx="3611880" cy="256032"/>
          </a:xfrm>
          <a:prstGeom prst="rect">
            <a:avLst/>
          </a:prstGeom>
          <a:noFill/>
          <a:ln/>
        </p:spPr>
        <p:txBody>
          <a:bodyPr wrap="square" lIns="0" tIns="0" rIns="0" bIns="0" rtlCol="0" anchor="ctr"/>
          <a:lstStyle/>
          <a:p>
            <a:pPr algn="l" indent="0" marL="0">
              <a:buNone/>
            </a:pPr>
            <a:r>
              <a:rPr lang="en-US" sz="1000" dirty="0">
                <a:solidFill>
                  <a:srgbClr val="D8E2EE"/>
                </a:solidFill>
                <a:latin typeface="Calibri" pitchFamily="34" charset="0"/>
                <a:ea typeface="Calibri" pitchFamily="34" charset="-122"/>
                <a:cs typeface="Calibri" pitchFamily="34" charset="-120"/>
              </a:rPr>
              <a:t>Era break: Regime break ~1986 (EU)</a:t>
            </a:r>
            <a:endParaRPr lang="en-US" sz="1000" dirty="0"/>
          </a:p>
        </p:txBody>
      </p:sp>
      <p:sp>
        <p:nvSpPr>
          <p:cNvPr id="20" name="Text 18"/>
          <p:cNvSpPr/>
          <p:nvPr/>
        </p:nvSpPr>
        <p:spPr>
          <a:xfrm>
            <a:off x="411480" y="2999232"/>
            <a:ext cx="8321040" cy="310896"/>
          </a:xfrm>
          <a:prstGeom prst="rect">
            <a:avLst/>
          </a:prstGeom>
          <a:noFill/>
          <a:ln/>
        </p:spPr>
        <p:txBody>
          <a:bodyPr wrap="square" lIns="0" tIns="0" rIns="0" bIns="0" rtlCol="0" anchor="ctr"/>
          <a:lstStyle/>
          <a:p>
            <a:pPr algn="l" indent="0" marL="0">
              <a:buNone/>
            </a:pPr>
            <a:r>
              <a:rPr lang="en-US" sz="1300" b="1" dirty="0">
                <a:solidFill>
                  <a:srgbClr val="1A2A3A"/>
                </a:solidFill>
                <a:latin typeface="Calibri" pitchFamily="34" charset="0"/>
                <a:ea typeface="Calibri" pitchFamily="34" charset="-122"/>
                <a:cs typeface="Calibri" pitchFamily="34" charset="-120"/>
              </a:rPr>
              <a:t>Feature Engineering Pipeline  (59 annual features per region)</a:t>
            </a:r>
            <a:endParaRPr lang="en-US" sz="1300" dirty="0"/>
          </a:p>
        </p:txBody>
      </p:sp>
      <p:sp>
        <p:nvSpPr>
          <p:cNvPr id="21" name="Shape 19"/>
          <p:cNvSpPr/>
          <p:nvPr/>
        </p:nvSpPr>
        <p:spPr>
          <a:xfrm>
            <a:off x="365760" y="3401568"/>
            <a:ext cx="1920240" cy="1463040"/>
          </a:xfrm>
          <a:prstGeom prst="rect">
            <a:avLst/>
          </a:prstGeom>
          <a:solidFill>
            <a:srgbClr val="1B2B45"/>
          </a:solidFill>
          <a:ln w="12700">
            <a:solidFill>
              <a:srgbClr val="1B2B45"/>
            </a:solidFill>
            <a:prstDash val="solid"/>
          </a:ln>
        </p:spPr>
      </p:sp>
      <p:sp>
        <p:nvSpPr>
          <p:cNvPr id="22" name="Text 20"/>
          <p:cNvSpPr/>
          <p:nvPr/>
        </p:nvSpPr>
        <p:spPr>
          <a:xfrm>
            <a:off x="438912" y="3447288"/>
            <a:ext cx="1783080" cy="1371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Daily meteorological data</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(Temp, Rainfall, SWA, LAI, ETo)</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~30,000 records/region</a:t>
            </a:r>
            <a:endParaRPr lang="en-US" sz="900" dirty="0"/>
          </a:p>
        </p:txBody>
      </p:sp>
      <p:sp>
        <p:nvSpPr>
          <p:cNvPr id="23" name="Text 21"/>
          <p:cNvSpPr/>
          <p:nvPr/>
        </p:nvSpPr>
        <p:spPr>
          <a:xfrm>
            <a:off x="2286000" y="3950208"/>
            <a:ext cx="228600" cy="457200"/>
          </a:xfrm>
          <a:prstGeom prst="rect">
            <a:avLst/>
          </a:prstGeom>
          <a:noFill/>
          <a:ln/>
        </p:spPr>
        <p:txBody>
          <a:bodyPr wrap="square" lIns="0" tIns="0" rIns="0" bIns="0" rtlCol="0" anchor="ctr"/>
          <a:lstStyle/>
          <a:p>
            <a:pPr algn="ctr" indent="0" marL="0">
              <a:buNone/>
            </a:pPr>
            <a:r>
              <a:rPr lang="en-US" sz="1800" dirty="0">
                <a:solidFill>
                  <a:srgbClr val="D4A853"/>
                </a:solidFill>
              </a:rPr>
              <a:t>→</a:t>
            </a:r>
            <a:endParaRPr lang="en-US" sz="1800" dirty="0"/>
          </a:p>
        </p:txBody>
      </p:sp>
      <p:sp>
        <p:nvSpPr>
          <p:cNvPr id="24" name="Shape 22"/>
          <p:cNvSpPr/>
          <p:nvPr/>
        </p:nvSpPr>
        <p:spPr>
          <a:xfrm>
            <a:off x="2514600" y="3401568"/>
            <a:ext cx="1920240" cy="1463040"/>
          </a:xfrm>
          <a:prstGeom prst="rect">
            <a:avLst/>
          </a:prstGeom>
          <a:solidFill>
            <a:srgbClr val="2E4A7C"/>
          </a:solidFill>
          <a:ln w="12700">
            <a:solidFill>
              <a:srgbClr val="2E4A7C"/>
            </a:solidFill>
            <a:prstDash val="solid"/>
          </a:ln>
        </p:spPr>
      </p:sp>
      <p:sp>
        <p:nvSpPr>
          <p:cNvPr id="25" name="Text 23"/>
          <p:cNvSpPr/>
          <p:nvPr/>
        </p:nvSpPr>
        <p:spPr>
          <a:xfrm>
            <a:off x="2587752" y="3447288"/>
            <a:ext cx="1783080" cy="1371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Phenological anchors</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(Budburst, Flowering,</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Veraison, Harvest)</a:t>
            </a:r>
            <a:endParaRPr lang="en-US" sz="900" dirty="0"/>
          </a:p>
        </p:txBody>
      </p:sp>
      <p:sp>
        <p:nvSpPr>
          <p:cNvPr id="26" name="Text 24"/>
          <p:cNvSpPr/>
          <p:nvPr/>
        </p:nvSpPr>
        <p:spPr>
          <a:xfrm>
            <a:off x="4434840" y="3950208"/>
            <a:ext cx="228600" cy="457200"/>
          </a:xfrm>
          <a:prstGeom prst="rect">
            <a:avLst/>
          </a:prstGeom>
          <a:noFill/>
          <a:ln/>
        </p:spPr>
        <p:txBody>
          <a:bodyPr wrap="square" lIns="0" tIns="0" rIns="0" bIns="0" rtlCol="0" anchor="ctr"/>
          <a:lstStyle/>
          <a:p>
            <a:pPr algn="ctr" indent="0" marL="0">
              <a:buNone/>
            </a:pPr>
            <a:r>
              <a:rPr lang="en-US" sz="1800" dirty="0">
                <a:solidFill>
                  <a:srgbClr val="D4A853"/>
                </a:solidFill>
              </a:rPr>
              <a:t>→</a:t>
            </a:r>
            <a:endParaRPr lang="en-US" sz="1800" dirty="0"/>
          </a:p>
        </p:txBody>
      </p:sp>
      <p:sp>
        <p:nvSpPr>
          <p:cNvPr id="27" name="Shape 25"/>
          <p:cNvSpPr/>
          <p:nvPr/>
        </p:nvSpPr>
        <p:spPr>
          <a:xfrm>
            <a:off x="4663440" y="3401568"/>
            <a:ext cx="1920240" cy="1463040"/>
          </a:xfrm>
          <a:prstGeom prst="rect">
            <a:avLst/>
          </a:prstGeom>
          <a:solidFill>
            <a:srgbClr val="0D7377"/>
          </a:solidFill>
          <a:ln w="12700">
            <a:solidFill>
              <a:srgbClr val="0D7377"/>
            </a:solidFill>
            <a:prstDash val="solid"/>
          </a:ln>
        </p:spPr>
      </p:sp>
      <p:sp>
        <p:nvSpPr>
          <p:cNvPr id="28" name="Text 26"/>
          <p:cNvSpPr/>
          <p:nvPr/>
        </p:nvSpPr>
        <p:spPr>
          <a:xfrm>
            <a:off x="4736592" y="3447288"/>
            <a:ext cx="1783080" cy="1371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Feature engineering</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59 annual features:</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variable × stage × window × year</a:t>
            </a:r>
            <a:endParaRPr lang="en-US" sz="900" dirty="0"/>
          </a:p>
        </p:txBody>
      </p:sp>
      <p:sp>
        <p:nvSpPr>
          <p:cNvPr id="29" name="Text 27"/>
          <p:cNvSpPr/>
          <p:nvPr/>
        </p:nvSpPr>
        <p:spPr>
          <a:xfrm>
            <a:off x="6583680" y="3950208"/>
            <a:ext cx="228600" cy="457200"/>
          </a:xfrm>
          <a:prstGeom prst="rect">
            <a:avLst/>
          </a:prstGeom>
          <a:noFill/>
          <a:ln/>
        </p:spPr>
        <p:txBody>
          <a:bodyPr wrap="square" lIns="0" tIns="0" rIns="0" bIns="0" rtlCol="0" anchor="ctr"/>
          <a:lstStyle/>
          <a:p>
            <a:pPr algn="ctr" indent="0" marL="0">
              <a:buNone/>
            </a:pPr>
            <a:r>
              <a:rPr lang="en-US" sz="1800" dirty="0">
                <a:solidFill>
                  <a:srgbClr val="D4A853"/>
                </a:solidFill>
              </a:rPr>
              <a:t>→</a:t>
            </a:r>
            <a:endParaRPr lang="en-US" sz="1800" dirty="0"/>
          </a:p>
        </p:txBody>
      </p:sp>
      <p:sp>
        <p:nvSpPr>
          <p:cNvPr id="30" name="Shape 28"/>
          <p:cNvSpPr/>
          <p:nvPr/>
        </p:nvSpPr>
        <p:spPr>
          <a:xfrm>
            <a:off x="6812280" y="3401568"/>
            <a:ext cx="1920240" cy="1463040"/>
          </a:xfrm>
          <a:prstGeom prst="rect">
            <a:avLst/>
          </a:prstGeom>
          <a:solidFill>
            <a:srgbClr val="1B2B45"/>
          </a:solidFill>
          <a:ln w="12700">
            <a:solidFill>
              <a:srgbClr val="1B2B45"/>
            </a:solidFill>
            <a:prstDash val="solid"/>
          </a:ln>
        </p:spPr>
      </p:sp>
      <p:sp>
        <p:nvSpPr>
          <p:cNvPr id="31" name="Text 29"/>
          <p:cNvSpPr/>
          <p:nvPr/>
        </p:nvSpPr>
        <p:spPr>
          <a:xfrm>
            <a:off x="6885432" y="3447288"/>
            <a:ext cx="1783080" cy="1371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Naming convention:</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swa_hv_y1_b20</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 harvest soil water, 20d before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53"/>
          </a:solidFill>
          <a:ln w="12700">
            <a:solidFill>
              <a:srgbClr val="D4A853"/>
            </a:solidFill>
            <a:prstDash val="solid"/>
          </a:ln>
        </p:spPr>
      </p:sp>
      <p:sp>
        <p:nvSpPr>
          <p:cNvPr id="3" name="Text 1"/>
          <p:cNvSpPr/>
          <p:nvPr/>
        </p:nvSpPr>
        <p:spPr>
          <a:xfrm>
            <a:off x="457200" y="109728"/>
            <a:ext cx="8229600" cy="50292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Methodological Framework</a:t>
            </a:r>
            <a:endParaRPr lang="en-US" sz="2200" dirty="0"/>
          </a:p>
        </p:txBody>
      </p:sp>
      <p:sp>
        <p:nvSpPr>
          <p:cNvPr id="4" name="Text 2"/>
          <p:cNvSpPr/>
          <p:nvPr/>
        </p:nvSpPr>
        <p:spPr>
          <a:xfrm>
            <a:off x="457200" y="612648"/>
            <a:ext cx="8229600" cy="256032"/>
          </a:xfrm>
          <a:prstGeom prst="rect">
            <a:avLst/>
          </a:prstGeom>
          <a:noFill/>
          <a:ln/>
        </p:spPr>
        <p:txBody>
          <a:bodyPr wrap="square" lIns="0" tIns="0" rIns="0" bIns="0" rtlCol="0" anchor="ctr"/>
          <a:lstStyle/>
          <a:p>
            <a:pPr algn="l" indent="0" marL="0">
              <a:buNone/>
            </a:pPr>
            <a:r>
              <a:rPr lang="en-US" sz="1100" i="1" dirty="0">
                <a:solidFill>
                  <a:srgbClr val="D4A853"/>
                </a:solidFill>
                <a:latin typeface="Calibri" pitchFamily="34" charset="0"/>
                <a:ea typeface="Calibri" pitchFamily="34" charset="-122"/>
                <a:cs typeface="Calibri" pitchFamily="34" charset="-120"/>
              </a:rPr>
              <a:t>Complete pipeline from raw data to scientific findings</a:t>
            </a:r>
            <a:endParaRPr lang="en-US" sz="1100" dirty="0"/>
          </a:p>
        </p:txBody>
      </p:sp>
      <p:sp>
        <p:nvSpPr>
          <p:cNvPr id="5" name="Shape 3"/>
          <p:cNvSpPr/>
          <p:nvPr/>
        </p:nvSpPr>
        <p:spPr>
          <a:xfrm>
            <a:off x="457200" y="896112"/>
            <a:ext cx="8229600" cy="18288"/>
          </a:xfrm>
          <a:prstGeom prst="rect">
            <a:avLst/>
          </a:prstGeom>
          <a:solidFill>
            <a:srgbClr val="D8E2EE"/>
          </a:solidFill>
          <a:ln w="12700">
            <a:solidFill>
              <a:srgbClr val="D8E2EE"/>
            </a:solidFill>
            <a:prstDash val="solid"/>
          </a:ln>
        </p:spPr>
      </p:sp>
      <p:sp>
        <p:nvSpPr>
          <p:cNvPr id="6" name="Shape 4"/>
          <p:cNvSpPr/>
          <p:nvPr/>
        </p:nvSpPr>
        <p:spPr>
          <a:xfrm>
            <a:off x="329184" y="1170432"/>
            <a:ext cx="1261872" cy="1353312"/>
          </a:xfrm>
          <a:prstGeom prst="rect">
            <a:avLst/>
          </a:prstGeom>
          <a:solidFill>
            <a:srgbClr val="1B2B45"/>
          </a:solidFill>
          <a:ln w="12700">
            <a:solidFill>
              <a:srgbClr val="1B2B45"/>
            </a:solidFill>
            <a:prstDash val="solid"/>
          </a:ln>
          <a:effectLst>
            <a:outerShdw sx="100000" sy="100000" kx="0" ky="0" algn="bl" rotWithShape="0" blurRad="101600" dist="38100" dir="8100000">
              <a:srgbClr val="000000">
                <a:alpha val="18000"/>
              </a:srgbClr>
            </a:outerShdw>
          </a:effectLst>
        </p:spPr>
      </p:sp>
      <p:sp>
        <p:nvSpPr>
          <p:cNvPr id="7" name="Text 5"/>
          <p:cNvSpPr/>
          <p:nvPr/>
        </p:nvSpPr>
        <p:spPr>
          <a:xfrm>
            <a:off x="329184" y="1216152"/>
            <a:ext cx="1261872" cy="320040"/>
          </a:xfrm>
          <a:prstGeom prst="rect">
            <a:avLst/>
          </a:prstGeom>
          <a:noFill/>
          <a:ln/>
        </p:spPr>
        <p:txBody>
          <a:bodyPr wrap="square" lIns="0" tIns="0" rIns="0" bIns="0" rtlCol="0" anchor="ctr"/>
          <a:lstStyle/>
          <a:p>
            <a:pPr algn="ctr" indent="0" marL="0">
              <a:buNone/>
            </a:pPr>
            <a:r>
              <a:rPr lang="en-US" sz="1800" b="1" dirty="0">
                <a:solidFill>
                  <a:srgbClr val="D4A853"/>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374904" y="1517904"/>
            <a:ext cx="1170432" cy="93268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Raw Data</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(Daily meteo,</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phenology,</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production)</a:t>
            </a:r>
            <a:endParaRPr lang="en-US" sz="850" dirty="0"/>
          </a:p>
        </p:txBody>
      </p:sp>
      <p:sp>
        <p:nvSpPr>
          <p:cNvPr id="9" name="Text 7"/>
          <p:cNvSpPr/>
          <p:nvPr/>
        </p:nvSpPr>
        <p:spPr>
          <a:xfrm>
            <a:off x="1591056" y="1627632"/>
            <a:ext cx="164592" cy="438912"/>
          </a:xfrm>
          <a:prstGeom prst="rect">
            <a:avLst/>
          </a:prstGeom>
          <a:noFill/>
          <a:ln/>
        </p:spPr>
        <p:txBody>
          <a:bodyPr wrap="square" lIns="0" tIns="0" rIns="0" bIns="0" rtlCol="0" anchor="ctr"/>
          <a:lstStyle/>
          <a:p>
            <a:pPr algn="ctr" indent="0" marL="0">
              <a:buNone/>
            </a:pPr>
            <a:r>
              <a:rPr lang="en-US" sz="1600" dirty="0">
                <a:solidFill>
                  <a:srgbClr val="D4A853"/>
                </a:solidFill>
              </a:rPr>
              <a:t>→</a:t>
            </a:r>
            <a:endParaRPr lang="en-US" sz="1600" dirty="0"/>
          </a:p>
        </p:txBody>
      </p:sp>
      <p:sp>
        <p:nvSpPr>
          <p:cNvPr id="10" name="Shape 8"/>
          <p:cNvSpPr/>
          <p:nvPr/>
        </p:nvSpPr>
        <p:spPr>
          <a:xfrm>
            <a:off x="1755648" y="1170432"/>
            <a:ext cx="1261872" cy="1353312"/>
          </a:xfrm>
          <a:prstGeom prst="rect">
            <a:avLst/>
          </a:prstGeom>
          <a:solidFill>
            <a:srgbClr val="2E4A7C"/>
          </a:solidFill>
          <a:ln w="12700">
            <a:solidFill>
              <a:srgbClr val="2E4A7C"/>
            </a:solidFill>
            <a:prstDash val="solid"/>
          </a:ln>
          <a:effectLst>
            <a:outerShdw sx="100000" sy="100000" kx="0" ky="0" algn="bl" rotWithShape="0" blurRad="101600" dist="38100" dir="8100000">
              <a:srgbClr val="000000">
                <a:alpha val="18000"/>
              </a:srgbClr>
            </a:outerShdw>
          </a:effectLst>
        </p:spPr>
      </p:sp>
      <p:sp>
        <p:nvSpPr>
          <p:cNvPr id="11" name="Text 9"/>
          <p:cNvSpPr/>
          <p:nvPr/>
        </p:nvSpPr>
        <p:spPr>
          <a:xfrm>
            <a:off x="1755648" y="1216152"/>
            <a:ext cx="1261872" cy="320040"/>
          </a:xfrm>
          <a:prstGeom prst="rect">
            <a:avLst/>
          </a:prstGeom>
          <a:noFill/>
          <a:ln/>
        </p:spPr>
        <p:txBody>
          <a:bodyPr wrap="square" lIns="0" tIns="0" rIns="0" bIns="0" rtlCol="0" anchor="ctr"/>
          <a:lstStyle/>
          <a:p>
            <a:pPr algn="ctr" indent="0" marL="0">
              <a:buNone/>
            </a:pPr>
            <a:r>
              <a:rPr lang="en-US" sz="1800" b="1" dirty="0">
                <a:solidFill>
                  <a:srgbClr val="D4A853"/>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801368" y="1517904"/>
            <a:ext cx="1170432" cy="93268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Linear</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Detrending</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(OLS within-fold,</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residuals rt)</a:t>
            </a:r>
            <a:endParaRPr lang="en-US" sz="850" dirty="0"/>
          </a:p>
        </p:txBody>
      </p:sp>
      <p:sp>
        <p:nvSpPr>
          <p:cNvPr id="13" name="Text 11"/>
          <p:cNvSpPr/>
          <p:nvPr/>
        </p:nvSpPr>
        <p:spPr>
          <a:xfrm>
            <a:off x="3017520" y="1627632"/>
            <a:ext cx="164592" cy="438912"/>
          </a:xfrm>
          <a:prstGeom prst="rect">
            <a:avLst/>
          </a:prstGeom>
          <a:noFill/>
          <a:ln/>
        </p:spPr>
        <p:txBody>
          <a:bodyPr wrap="square" lIns="0" tIns="0" rIns="0" bIns="0" rtlCol="0" anchor="ctr"/>
          <a:lstStyle/>
          <a:p>
            <a:pPr algn="ctr" indent="0" marL="0">
              <a:buNone/>
            </a:pPr>
            <a:r>
              <a:rPr lang="en-US" sz="1600" dirty="0">
                <a:solidFill>
                  <a:srgbClr val="D4A853"/>
                </a:solidFill>
              </a:rPr>
              <a:t>→</a:t>
            </a:r>
            <a:endParaRPr lang="en-US" sz="1600" dirty="0"/>
          </a:p>
        </p:txBody>
      </p:sp>
      <p:sp>
        <p:nvSpPr>
          <p:cNvPr id="14" name="Shape 12"/>
          <p:cNvSpPr/>
          <p:nvPr/>
        </p:nvSpPr>
        <p:spPr>
          <a:xfrm>
            <a:off x="3182112" y="1170432"/>
            <a:ext cx="1261872" cy="1353312"/>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8000"/>
              </a:srgbClr>
            </a:outerShdw>
          </a:effectLst>
        </p:spPr>
      </p:sp>
      <p:sp>
        <p:nvSpPr>
          <p:cNvPr id="15" name="Text 13"/>
          <p:cNvSpPr/>
          <p:nvPr/>
        </p:nvSpPr>
        <p:spPr>
          <a:xfrm>
            <a:off x="3182112" y="1216152"/>
            <a:ext cx="1261872" cy="320040"/>
          </a:xfrm>
          <a:prstGeom prst="rect">
            <a:avLst/>
          </a:prstGeom>
          <a:noFill/>
          <a:ln/>
        </p:spPr>
        <p:txBody>
          <a:bodyPr wrap="square" lIns="0" tIns="0" rIns="0" bIns="0" rtlCol="0" anchor="ctr"/>
          <a:lstStyle/>
          <a:p>
            <a:pPr algn="ctr" indent="0" marL="0">
              <a:buNone/>
            </a:pPr>
            <a:r>
              <a:rPr lang="en-US" sz="1800" b="1" dirty="0">
                <a:solidFill>
                  <a:srgbClr val="D4A853"/>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3227832" y="1517904"/>
            <a:ext cx="1170432" cy="93268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Feature</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Engineering</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(59 annual</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features)</a:t>
            </a:r>
            <a:endParaRPr lang="en-US" sz="850" dirty="0"/>
          </a:p>
        </p:txBody>
      </p:sp>
      <p:sp>
        <p:nvSpPr>
          <p:cNvPr id="17" name="Text 15"/>
          <p:cNvSpPr/>
          <p:nvPr/>
        </p:nvSpPr>
        <p:spPr>
          <a:xfrm>
            <a:off x="4443984" y="1627632"/>
            <a:ext cx="164592" cy="438912"/>
          </a:xfrm>
          <a:prstGeom prst="rect">
            <a:avLst/>
          </a:prstGeom>
          <a:noFill/>
          <a:ln/>
        </p:spPr>
        <p:txBody>
          <a:bodyPr wrap="square" lIns="0" tIns="0" rIns="0" bIns="0" rtlCol="0" anchor="ctr"/>
          <a:lstStyle/>
          <a:p>
            <a:pPr algn="ctr" indent="0" marL="0">
              <a:buNone/>
            </a:pPr>
            <a:r>
              <a:rPr lang="en-US" sz="1600" dirty="0">
                <a:solidFill>
                  <a:srgbClr val="D4A853"/>
                </a:solidFill>
              </a:rPr>
              <a:t>→</a:t>
            </a:r>
            <a:endParaRPr lang="en-US" sz="1600" dirty="0"/>
          </a:p>
        </p:txBody>
      </p:sp>
      <p:sp>
        <p:nvSpPr>
          <p:cNvPr id="18" name="Shape 16"/>
          <p:cNvSpPr/>
          <p:nvPr/>
        </p:nvSpPr>
        <p:spPr>
          <a:xfrm>
            <a:off x="4608576" y="1170432"/>
            <a:ext cx="1261872" cy="1353312"/>
          </a:xfrm>
          <a:prstGeom prst="rect">
            <a:avLst/>
          </a:prstGeom>
          <a:solidFill>
            <a:srgbClr val="1B2B45"/>
          </a:solidFill>
          <a:ln w="12700">
            <a:solidFill>
              <a:srgbClr val="1B2B45"/>
            </a:solidFill>
            <a:prstDash val="solid"/>
          </a:ln>
          <a:effectLst>
            <a:outerShdw sx="100000" sy="100000" kx="0" ky="0" algn="bl" rotWithShape="0" blurRad="101600" dist="38100" dir="8100000">
              <a:srgbClr val="000000">
                <a:alpha val="18000"/>
              </a:srgbClr>
            </a:outerShdw>
          </a:effectLst>
        </p:spPr>
      </p:sp>
      <p:sp>
        <p:nvSpPr>
          <p:cNvPr id="19" name="Text 17"/>
          <p:cNvSpPr/>
          <p:nvPr/>
        </p:nvSpPr>
        <p:spPr>
          <a:xfrm>
            <a:off x="4608576" y="1216152"/>
            <a:ext cx="1261872" cy="320040"/>
          </a:xfrm>
          <a:prstGeom prst="rect">
            <a:avLst/>
          </a:prstGeom>
          <a:noFill/>
          <a:ln/>
        </p:spPr>
        <p:txBody>
          <a:bodyPr wrap="square" lIns="0" tIns="0" rIns="0" bIns="0" rtlCol="0" anchor="ctr"/>
          <a:lstStyle/>
          <a:p>
            <a:pPr algn="ctr" indent="0" marL="0">
              <a:buNone/>
            </a:pPr>
            <a:r>
              <a:rPr lang="en-US" sz="1800" b="1" dirty="0">
                <a:solidFill>
                  <a:srgbClr val="D4A853"/>
                </a:solidFill>
                <a:latin typeface="Calibri" pitchFamily="34" charset="0"/>
                <a:ea typeface="Calibri" pitchFamily="34" charset="-122"/>
                <a:cs typeface="Calibri" pitchFamily="34" charset="-120"/>
              </a:rPr>
              <a:t>4</a:t>
            </a:r>
            <a:endParaRPr lang="en-US" sz="1800" dirty="0"/>
          </a:p>
        </p:txBody>
      </p:sp>
      <p:sp>
        <p:nvSpPr>
          <p:cNvPr id="20" name="Text 18"/>
          <p:cNvSpPr/>
          <p:nvPr/>
        </p:nvSpPr>
        <p:spPr>
          <a:xfrm>
            <a:off x="4654296" y="1517904"/>
            <a:ext cx="1170432" cy="93268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Feature</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Selection</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(η², Pearson,</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support filter)</a:t>
            </a:r>
            <a:endParaRPr lang="en-US" sz="850" dirty="0"/>
          </a:p>
        </p:txBody>
      </p:sp>
      <p:sp>
        <p:nvSpPr>
          <p:cNvPr id="21" name="Text 19"/>
          <p:cNvSpPr/>
          <p:nvPr/>
        </p:nvSpPr>
        <p:spPr>
          <a:xfrm>
            <a:off x="5870448" y="1627632"/>
            <a:ext cx="164592" cy="438912"/>
          </a:xfrm>
          <a:prstGeom prst="rect">
            <a:avLst/>
          </a:prstGeom>
          <a:noFill/>
          <a:ln/>
        </p:spPr>
        <p:txBody>
          <a:bodyPr wrap="square" lIns="0" tIns="0" rIns="0" bIns="0" rtlCol="0" anchor="ctr"/>
          <a:lstStyle/>
          <a:p>
            <a:pPr algn="ctr" indent="0" marL="0">
              <a:buNone/>
            </a:pPr>
            <a:r>
              <a:rPr lang="en-US" sz="1600" dirty="0">
                <a:solidFill>
                  <a:srgbClr val="D4A853"/>
                </a:solidFill>
              </a:rPr>
              <a:t>→</a:t>
            </a:r>
            <a:endParaRPr lang="en-US" sz="1600" dirty="0"/>
          </a:p>
        </p:txBody>
      </p:sp>
      <p:sp>
        <p:nvSpPr>
          <p:cNvPr id="22" name="Shape 20"/>
          <p:cNvSpPr/>
          <p:nvPr/>
        </p:nvSpPr>
        <p:spPr>
          <a:xfrm>
            <a:off x="6035040" y="1170432"/>
            <a:ext cx="1261872" cy="1353312"/>
          </a:xfrm>
          <a:prstGeom prst="rect">
            <a:avLst/>
          </a:prstGeom>
          <a:solidFill>
            <a:srgbClr val="2E4A7C"/>
          </a:solidFill>
          <a:ln w="12700">
            <a:solidFill>
              <a:srgbClr val="2E4A7C"/>
            </a:solidFill>
            <a:prstDash val="solid"/>
          </a:ln>
          <a:effectLst>
            <a:outerShdw sx="100000" sy="100000" kx="0" ky="0" algn="bl" rotWithShape="0" blurRad="101600" dist="38100" dir="8100000">
              <a:srgbClr val="000000">
                <a:alpha val="18000"/>
              </a:srgbClr>
            </a:outerShdw>
          </a:effectLst>
        </p:spPr>
      </p:sp>
      <p:sp>
        <p:nvSpPr>
          <p:cNvPr id="23" name="Text 21"/>
          <p:cNvSpPr/>
          <p:nvPr/>
        </p:nvSpPr>
        <p:spPr>
          <a:xfrm>
            <a:off x="6035040" y="1216152"/>
            <a:ext cx="1261872" cy="320040"/>
          </a:xfrm>
          <a:prstGeom prst="rect">
            <a:avLst/>
          </a:prstGeom>
          <a:noFill/>
          <a:ln/>
        </p:spPr>
        <p:txBody>
          <a:bodyPr wrap="square" lIns="0" tIns="0" rIns="0" bIns="0" rtlCol="0" anchor="ctr"/>
          <a:lstStyle/>
          <a:p>
            <a:pPr algn="ctr" indent="0" marL="0">
              <a:buNone/>
            </a:pPr>
            <a:r>
              <a:rPr lang="en-US" sz="1800" b="1" dirty="0">
                <a:solidFill>
                  <a:srgbClr val="D4A853"/>
                </a:solidFill>
                <a:latin typeface="Calibri" pitchFamily="34" charset="0"/>
                <a:ea typeface="Calibri" pitchFamily="34" charset="-122"/>
                <a:cs typeface="Calibri" pitchFamily="34" charset="-120"/>
              </a:rPr>
              <a:t>5</a:t>
            </a:r>
            <a:endParaRPr lang="en-US" sz="1800" dirty="0"/>
          </a:p>
        </p:txBody>
      </p:sp>
      <p:sp>
        <p:nvSpPr>
          <p:cNvPr id="24" name="Text 22"/>
          <p:cNvSpPr/>
          <p:nvPr/>
        </p:nvSpPr>
        <p:spPr>
          <a:xfrm>
            <a:off x="6080760" y="1517904"/>
            <a:ext cx="1170432" cy="93268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Rule Induction</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(CarenR KS-test,</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RIPPER,</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M5Rules)</a:t>
            </a:r>
            <a:endParaRPr lang="en-US" sz="850" dirty="0"/>
          </a:p>
        </p:txBody>
      </p:sp>
      <p:sp>
        <p:nvSpPr>
          <p:cNvPr id="25" name="Text 23"/>
          <p:cNvSpPr/>
          <p:nvPr/>
        </p:nvSpPr>
        <p:spPr>
          <a:xfrm>
            <a:off x="7296912" y="1627632"/>
            <a:ext cx="164592" cy="438912"/>
          </a:xfrm>
          <a:prstGeom prst="rect">
            <a:avLst/>
          </a:prstGeom>
          <a:noFill/>
          <a:ln/>
        </p:spPr>
        <p:txBody>
          <a:bodyPr wrap="square" lIns="0" tIns="0" rIns="0" bIns="0" rtlCol="0" anchor="ctr"/>
          <a:lstStyle/>
          <a:p>
            <a:pPr algn="ctr" indent="0" marL="0">
              <a:buNone/>
            </a:pPr>
            <a:r>
              <a:rPr lang="en-US" sz="1600" dirty="0">
                <a:solidFill>
                  <a:srgbClr val="D4A853"/>
                </a:solidFill>
              </a:rPr>
              <a:t>→</a:t>
            </a:r>
            <a:endParaRPr lang="en-US" sz="1600" dirty="0"/>
          </a:p>
        </p:txBody>
      </p:sp>
      <p:sp>
        <p:nvSpPr>
          <p:cNvPr id="26" name="Shape 24"/>
          <p:cNvSpPr/>
          <p:nvPr/>
        </p:nvSpPr>
        <p:spPr>
          <a:xfrm>
            <a:off x="7461504" y="1170432"/>
            <a:ext cx="1261872" cy="1353312"/>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8000"/>
              </a:srgbClr>
            </a:outerShdw>
          </a:effectLst>
        </p:spPr>
      </p:sp>
      <p:sp>
        <p:nvSpPr>
          <p:cNvPr id="27" name="Text 25"/>
          <p:cNvSpPr/>
          <p:nvPr/>
        </p:nvSpPr>
        <p:spPr>
          <a:xfrm>
            <a:off x="7461504" y="1216152"/>
            <a:ext cx="1261872" cy="320040"/>
          </a:xfrm>
          <a:prstGeom prst="rect">
            <a:avLst/>
          </a:prstGeom>
          <a:noFill/>
          <a:ln/>
        </p:spPr>
        <p:txBody>
          <a:bodyPr wrap="square" lIns="0" tIns="0" rIns="0" bIns="0" rtlCol="0" anchor="ctr"/>
          <a:lstStyle/>
          <a:p>
            <a:pPr algn="ctr" indent="0" marL="0">
              <a:buNone/>
            </a:pPr>
            <a:r>
              <a:rPr lang="en-US" sz="1800" b="1" dirty="0">
                <a:solidFill>
                  <a:srgbClr val="D4A853"/>
                </a:solidFill>
                <a:latin typeface="Calibri" pitchFamily="34" charset="0"/>
                <a:ea typeface="Calibri" pitchFamily="34" charset="-122"/>
                <a:cs typeface="Calibri" pitchFamily="34" charset="-120"/>
              </a:rPr>
              <a:t>6</a:t>
            </a:r>
            <a:endParaRPr lang="en-US" sz="1800" dirty="0"/>
          </a:p>
        </p:txBody>
      </p:sp>
      <p:sp>
        <p:nvSpPr>
          <p:cNvPr id="28" name="Text 26"/>
          <p:cNvSpPr/>
          <p:nvPr/>
        </p:nvSpPr>
        <p:spPr>
          <a:xfrm>
            <a:off x="7507224" y="1517904"/>
            <a:ext cx="1170432" cy="93268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Walk-Forward</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Evaluation</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(18/16 expanding</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window scenarios)</a:t>
            </a:r>
            <a:endParaRPr lang="en-US" sz="850" dirty="0"/>
          </a:p>
        </p:txBody>
      </p:sp>
      <p:sp>
        <p:nvSpPr>
          <p:cNvPr id="29" name="Shape 27"/>
          <p:cNvSpPr/>
          <p:nvPr/>
        </p:nvSpPr>
        <p:spPr>
          <a:xfrm>
            <a:off x="329184" y="2670048"/>
            <a:ext cx="3840480" cy="27432"/>
          </a:xfrm>
          <a:prstGeom prst="rect">
            <a:avLst/>
          </a:prstGeom>
          <a:solidFill>
            <a:srgbClr val="1A7A4A"/>
          </a:solidFill>
          <a:ln w="12700">
            <a:solidFill>
              <a:srgbClr val="1A7A4A"/>
            </a:solidFill>
            <a:prstDash val="solid"/>
          </a:ln>
        </p:spPr>
      </p:sp>
      <p:sp>
        <p:nvSpPr>
          <p:cNvPr id="30" name="Shape 28"/>
          <p:cNvSpPr/>
          <p:nvPr/>
        </p:nvSpPr>
        <p:spPr>
          <a:xfrm>
            <a:off x="4974336" y="2670048"/>
            <a:ext cx="3840480" cy="27432"/>
          </a:xfrm>
          <a:prstGeom prst="rect">
            <a:avLst/>
          </a:prstGeom>
          <a:solidFill>
            <a:srgbClr val="B03A2E"/>
          </a:solidFill>
          <a:ln w="12700">
            <a:solidFill>
              <a:srgbClr val="B03A2E"/>
            </a:solidFill>
            <a:prstDash val="solid"/>
          </a:ln>
        </p:spPr>
      </p:sp>
      <p:sp>
        <p:nvSpPr>
          <p:cNvPr id="31" name="Shape 29"/>
          <p:cNvSpPr/>
          <p:nvPr/>
        </p:nvSpPr>
        <p:spPr>
          <a:xfrm>
            <a:off x="329184" y="2724912"/>
            <a:ext cx="3840480" cy="1417320"/>
          </a:xfrm>
          <a:prstGeom prst="rect">
            <a:avLst/>
          </a:prstGeom>
          <a:solidFill>
            <a:srgbClr val="1A7A4A"/>
          </a:solidFill>
          <a:ln w="12700">
            <a:solidFill>
              <a:srgbClr val="1A7A4A"/>
            </a:solidFill>
            <a:prstDash val="solid"/>
          </a:ln>
        </p:spPr>
      </p:sp>
      <p:sp>
        <p:nvSpPr>
          <p:cNvPr id="32" name="Text 30"/>
          <p:cNvSpPr/>
          <p:nvPr/>
        </p:nvSpPr>
        <p:spPr>
          <a:xfrm>
            <a:off x="420624" y="2743200"/>
            <a:ext cx="3657600"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GOAL 1: Rule Discovery</a:t>
            </a:r>
            <a:endParaRPr lang="en-US" sz="1200" dirty="0"/>
          </a:p>
        </p:txBody>
      </p:sp>
      <p:sp>
        <p:nvSpPr>
          <p:cNvPr id="33" name="Text 31"/>
          <p:cNvSpPr/>
          <p:nvPr/>
        </p:nvSpPr>
        <p:spPr>
          <a:xfrm>
            <a:off x="420624" y="3108960"/>
            <a:ext cx="3657600" cy="987552"/>
          </a:xfrm>
          <a:prstGeom prst="rect">
            <a:avLst/>
          </a:prstGeom>
          <a:noFill/>
          <a:ln/>
        </p:spPr>
        <p:txBody>
          <a:bodyPr wrap="square" lIns="0" tIns="0" rIns="0" bIns="0" rtlCol="0" anchor="t"/>
          <a:lstStyle/>
          <a:p>
            <a:pPr algn="l" indent="0" marL="0">
              <a:buNone/>
            </a:pPr>
            <a:r>
              <a:rPr lang="en-US" sz="950" dirty="0">
                <a:solidFill>
                  <a:srgbClr val="F0F4F8"/>
                </a:solidFill>
                <a:latin typeface="Calibri" pitchFamily="34" charset="0"/>
                <a:ea typeface="Calibri" pitchFamily="34" charset="-122"/>
                <a:cs typeface="Calibri" pitchFamily="34" charset="-120"/>
              </a:rPr>
              <a:t>CarenR on FULL historical dataset</a:t>
            </a:r>
            <a:endParaRPr lang="en-US" sz="950" dirty="0"/>
          </a:p>
          <a:p>
            <a:pPr algn="l" indent="0" marL="0">
              <a:buNone/>
            </a:pPr>
            <a:r>
              <a:rPr lang="en-US" sz="950" dirty="0">
                <a:solidFill>
                  <a:srgbClr val="F0F4F8"/>
                </a:solidFill>
                <a:latin typeface="Calibri" pitchFamily="34" charset="0"/>
                <a:ea typeface="Calibri" pitchFamily="34" charset="-122"/>
                <a:cs typeface="Calibri" pitchFamily="34" charset="-120"/>
              </a:rPr>
              <a:t>48 rules (Douro) · 20 rules (Vinho Verde)</a:t>
            </a:r>
            <a:endParaRPr lang="en-US" sz="950" dirty="0"/>
          </a:p>
          <a:p>
            <a:pPr algn="l" indent="0" marL="0">
              <a:buNone/>
            </a:pPr>
            <a:r>
              <a:rPr lang="en-US" sz="950" dirty="0">
                <a:solidFill>
                  <a:srgbClr val="F0F4F8"/>
                </a:solidFill>
                <a:latin typeface="Calibri" pitchFamily="34" charset="0"/>
                <a:ea typeface="Calibri" pitchFamily="34" charset="-122"/>
                <a:cs typeface="Calibri" pitchFamily="34" charset="-120"/>
              </a:rPr>
              <a:t>Validated by LOESS detrending</a:t>
            </a:r>
            <a:endParaRPr lang="en-US" sz="950" dirty="0"/>
          </a:p>
          <a:p>
            <a:pPr algn="l" indent="0" marL="0">
              <a:buNone/>
            </a:pPr>
            <a:r>
              <a:rPr lang="en-US" sz="950" dirty="0">
                <a:solidFill>
                  <a:srgbClr val="F0F4F8"/>
                </a:solidFill>
                <a:latin typeface="Calibri" pitchFamily="34" charset="0"/>
                <a:ea typeface="Calibri" pitchFamily="34" charset="-122"/>
                <a:cs typeface="Calibri" pitchFamily="34" charset="-120"/>
              </a:rPr>
              <a:t>Cross-algorithm comparison (RIPPER, M5Rules)</a:t>
            </a:r>
            <a:endParaRPr lang="en-US" sz="950" dirty="0"/>
          </a:p>
        </p:txBody>
      </p:sp>
      <p:sp>
        <p:nvSpPr>
          <p:cNvPr id="34" name="Shape 32"/>
          <p:cNvSpPr/>
          <p:nvPr/>
        </p:nvSpPr>
        <p:spPr>
          <a:xfrm>
            <a:off x="4974336" y="2724912"/>
            <a:ext cx="3840480" cy="1417320"/>
          </a:xfrm>
          <a:prstGeom prst="rect">
            <a:avLst/>
          </a:prstGeom>
          <a:solidFill>
            <a:srgbClr val="B03A2E"/>
          </a:solidFill>
          <a:ln w="12700">
            <a:solidFill>
              <a:srgbClr val="B03A2E"/>
            </a:solidFill>
            <a:prstDash val="solid"/>
          </a:ln>
        </p:spPr>
      </p:sp>
      <p:sp>
        <p:nvSpPr>
          <p:cNvPr id="35" name="Text 33"/>
          <p:cNvSpPr/>
          <p:nvPr/>
        </p:nvSpPr>
        <p:spPr>
          <a:xfrm>
            <a:off x="5065776" y="2743200"/>
            <a:ext cx="3657600"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GOAL 2: Predictive Validation</a:t>
            </a:r>
            <a:endParaRPr lang="en-US" sz="1200" dirty="0"/>
          </a:p>
        </p:txBody>
      </p:sp>
      <p:sp>
        <p:nvSpPr>
          <p:cNvPr id="36" name="Text 34"/>
          <p:cNvSpPr/>
          <p:nvPr/>
        </p:nvSpPr>
        <p:spPr>
          <a:xfrm>
            <a:off x="5065776" y="3108960"/>
            <a:ext cx="3657600" cy="987552"/>
          </a:xfrm>
          <a:prstGeom prst="rect">
            <a:avLst/>
          </a:prstGeom>
          <a:noFill/>
          <a:ln/>
        </p:spPr>
        <p:txBody>
          <a:bodyPr wrap="square" lIns="0" tIns="0" rIns="0" bIns="0" rtlCol="0" anchor="t"/>
          <a:lstStyle/>
          <a:p>
            <a:pPr algn="l" indent="0" marL="0">
              <a:buNone/>
            </a:pPr>
            <a:r>
              <a:rPr lang="en-US" sz="950" dirty="0">
                <a:solidFill>
                  <a:srgbClr val="F0F4F8"/>
                </a:solidFill>
                <a:latin typeface="Calibri" pitchFamily="34" charset="0"/>
                <a:ea typeface="Calibri" pitchFamily="34" charset="-122"/>
                <a:cs typeface="Calibri" pitchFamily="34" charset="-120"/>
              </a:rPr>
              <a:t>17 models · Expanding-window walk-forward</a:t>
            </a:r>
            <a:endParaRPr lang="en-US" sz="950" dirty="0"/>
          </a:p>
          <a:p>
            <a:pPr algn="l" indent="0" marL="0">
              <a:buNone/>
            </a:pPr>
            <a:r>
              <a:rPr lang="en-US" sz="950" dirty="0">
                <a:solidFill>
                  <a:srgbClr val="F0F4F8"/>
                </a:solidFill>
                <a:latin typeface="Calibri" pitchFamily="34" charset="0"/>
                <a:ea typeface="Calibri" pitchFamily="34" charset="-122"/>
                <a:cs typeface="Calibri" pitchFamily="34" charset="-120"/>
              </a:rPr>
              <a:t>Weighted MAE vs Naive_Median baseline</a:t>
            </a:r>
            <a:endParaRPr lang="en-US" sz="950" dirty="0"/>
          </a:p>
          <a:p>
            <a:pPr algn="l" indent="0" marL="0">
              <a:buNone/>
            </a:pPr>
            <a:r>
              <a:rPr lang="en-US" sz="950" dirty="0">
                <a:solidFill>
                  <a:srgbClr val="F0F4F8"/>
                </a:solidFill>
                <a:latin typeface="Calibri" pitchFamily="34" charset="0"/>
                <a:ea typeface="Calibri" pitchFamily="34" charset="-122"/>
                <a:cs typeface="Calibri" pitchFamily="34" charset="-120"/>
              </a:rPr>
              <a:t>Statistical tests: Wilcoxon, Binomial</a:t>
            </a:r>
            <a:endParaRPr lang="en-US" sz="950" dirty="0"/>
          </a:p>
          <a:p>
            <a:pPr algn="l" indent="0" marL="0">
              <a:buNone/>
            </a:pPr>
            <a:r>
              <a:rPr lang="en-US" sz="950" dirty="0">
                <a:solidFill>
                  <a:srgbClr val="F0F4F8"/>
                </a:solidFill>
                <a:latin typeface="Calibri" pitchFamily="34" charset="0"/>
                <a:ea typeface="Calibri" pitchFamily="34" charset="-122"/>
                <a:cs typeface="Calibri" pitchFamily="34" charset="-120"/>
              </a:rPr>
              <a:t>Detrend sensitivity (LOESS)</a:t>
            </a:r>
            <a:endParaRPr lang="en-US" sz="950" dirty="0"/>
          </a:p>
        </p:txBody>
      </p:sp>
      <p:sp>
        <p:nvSpPr>
          <p:cNvPr id="37" name="Text 35"/>
          <p:cNvSpPr/>
          <p:nvPr/>
        </p:nvSpPr>
        <p:spPr>
          <a:xfrm>
            <a:off x="329184" y="4251960"/>
            <a:ext cx="8485632" cy="347472"/>
          </a:xfrm>
          <a:prstGeom prst="rect">
            <a:avLst/>
          </a:prstGeom>
          <a:noFill/>
          <a:ln/>
        </p:spPr>
        <p:txBody>
          <a:bodyPr wrap="square" lIns="0" tIns="0" rIns="0" bIns="0" rtlCol="0" anchor="ctr"/>
          <a:lstStyle/>
          <a:p>
            <a:pPr algn="ctr" indent="0" marL="0">
              <a:buNone/>
            </a:pPr>
            <a:r>
              <a:rPr lang="en-US" sz="900" i="1" dirty="0">
                <a:solidFill>
                  <a:srgbClr val="D4A853"/>
                </a:solidFill>
                <a:latin typeface="Calibri" pitchFamily="34" charset="0"/>
                <a:ea typeface="Calibri" pitchFamily="34" charset="-122"/>
                <a:cs typeface="Calibri" pitchFamily="34" charset="-120"/>
              </a:rPr>
              <a:t>⚑  All preprocessing (detrending, discretisation, feature selection) performed within each training fold — no data leakage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53"/>
          </a:solidFill>
          <a:ln w="12700">
            <a:solidFill>
              <a:srgbClr val="D4A853"/>
            </a:solidFill>
            <a:prstDash val="solid"/>
          </a:ln>
        </p:spPr>
      </p:sp>
      <p:sp>
        <p:nvSpPr>
          <p:cNvPr id="3" name="Text 1"/>
          <p:cNvSpPr/>
          <p:nvPr/>
        </p:nvSpPr>
        <p:spPr>
          <a:xfrm>
            <a:off x="457200" y="109728"/>
            <a:ext cx="8229600" cy="50292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Why Rule-Based Machine Learning?</a:t>
            </a:r>
            <a:endParaRPr lang="en-US" sz="2200" dirty="0"/>
          </a:p>
        </p:txBody>
      </p:sp>
      <p:sp>
        <p:nvSpPr>
          <p:cNvPr id="4" name="Text 2"/>
          <p:cNvSpPr/>
          <p:nvPr/>
        </p:nvSpPr>
        <p:spPr>
          <a:xfrm>
            <a:off x="457200" y="612648"/>
            <a:ext cx="8229600" cy="256032"/>
          </a:xfrm>
          <a:prstGeom prst="rect">
            <a:avLst/>
          </a:prstGeom>
          <a:noFill/>
          <a:ln/>
        </p:spPr>
        <p:txBody>
          <a:bodyPr wrap="square" lIns="0" tIns="0" rIns="0" bIns="0" rtlCol="0" anchor="ctr"/>
          <a:lstStyle/>
          <a:p>
            <a:pPr algn="l" indent="0" marL="0">
              <a:buNone/>
            </a:pPr>
            <a:r>
              <a:rPr lang="en-US" sz="1100" i="1" dirty="0">
                <a:solidFill>
                  <a:srgbClr val="D4A853"/>
                </a:solidFill>
                <a:latin typeface="Calibri" pitchFamily="34" charset="0"/>
                <a:ea typeface="Calibri" pitchFamily="34" charset="-122"/>
                <a:cs typeface="Calibri" pitchFamily="34" charset="-120"/>
              </a:rPr>
              <a:t>Interpretability is the objective — CarenR's distributional approach is uniquely appropriate</a:t>
            </a:r>
            <a:endParaRPr lang="en-US" sz="1100" dirty="0"/>
          </a:p>
        </p:txBody>
      </p:sp>
      <p:sp>
        <p:nvSpPr>
          <p:cNvPr id="5" name="Shape 3"/>
          <p:cNvSpPr/>
          <p:nvPr/>
        </p:nvSpPr>
        <p:spPr>
          <a:xfrm>
            <a:off x="457200" y="896112"/>
            <a:ext cx="8229600" cy="18288"/>
          </a:xfrm>
          <a:prstGeom prst="rect">
            <a:avLst/>
          </a:prstGeom>
          <a:solidFill>
            <a:srgbClr val="D8E2EE"/>
          </a:solidFill>
          <a:ln w="12700">
            <a:solidFill>
              <a:srgbClr val="D8E2EE"/>
            </a:solidFill>
            <a:prstDash val="solid"/>
          </a:ln>
        </p:spPr>
      </p:sp>
      <p:sp>
        <p:nvSpPr>
          <p:cNvPr id="6" name="Shape 4"/>
          <p:cNvSpPr/>
          <p:nvPr/>
        </p:nvSpPr>
        <p:spPr>
          <a:xfrm>
            <a:off x="365760" y="1005840"/>
            <a:ext cx="2688336" cy="3822192"/>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8000"/>
              </a:srgbClr>
            </a:outerShdw>
          </a:effectLst>
        </p:spPr>
      </p:sp>
      <p:sp>
        <p:nvSpPr>
          <p:cNvPr id="7" name="Text 5"/>
          <p:cNvSpPr/>
          <p:nvPr/>
        </p:nvSpPr>
        <p:spPr>
          <a:xfrm>
            <a:off x="457200" y="1024128"/>
            <a:ext cx="2505456"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CarenR</a:t>
            </a:r>
            <a:endParaRPr lang="en-US" sz="1800" dirty="0"/>
          </a:p>
        </p:txBody>
      </p:sp>
      <p:sp>
        <p:nvSpPr>
          <p:cNvPr id="8" name="Text 6"/>
          <p:cNvSpPr/>
          <p:nvPr/>
        </p:nvSpPr>
        <p:spPr>
          <a:xfrm>
            <a:off x="457200" y="1426464"/>
            <a:ext cx="2505456" cy="274320"/>
          </a:xfrm>
          <a:prstGeom prst="rect">
            <a:avLst/>
          </a:prstGeom>
          <a:noFill/>
          <a:ln/>
        </p:spPr>
        <p:txBody>
          <a:bodyPr wrap="square" lIns="0" tIns="0" rIns="0" bIns="0" rtlCol="0" anchor="ctr"/>
          <a:lstStyle/>
          <a:p>
            <a:pPr algn="ctr" indent="0" marL="0">
              <a:buNone/>
            </a:pPr>
            <a:r>
              <a:rPr lang="en-US" sz="900" i="1" dirty="0">
                <a:solidFill>
                  <a:srgbClr val="F5D78A"/>
                </a:solidFill>
                <a:latin typeface="Calibri" pitchFamily="34" charset="0"/>
                <a:ea typeface="Calibri" pitchFamily="34" charset="-122"/>
                <a:cs typeface="Calibri" pitchFamily="34" charset="-120"/>
              </a:rPr>
              <a:t>Primary Algorithm</a:t>
            </a:r>
            <a:endParaRPr lang="en-US" sz="900" dirty="0"/>
          </a:p>
        </p:txBody>
      </p:sp>
      <p:sp>
        <p:nvSpPr>
          <p:cNvPr id="9" name="Shape 7"/>
          <p:cNvSpPr/>
          <p:nvPr/>
        </p:nvSpPr>
        <p:spPr>
          <a:xfrm>
            <a:off x="502920" y="1700784"/>
            <a:ext cx="2414016" cy="18288"/>
          </a:xfrm>
          <a:prstGeom prst="rect">
            <a:avLst/>
          </a:prstGeom>
          <a:solidFill>
            <a:srgbClr val="F5D78A"/>
          </a:solidFill>
          <a:ln w="12700">
            <a:solidFill>
              <a:srgbClr val="F5D78A"/>
            </a:solidFill>
            <a:prstDash val="solid"/>
          </a:ln>
        </p:spPr>
      </p:sp>
      <p:sp>
        <p:nvSpPr>
          <p:cNvPr id="10" name="Text 8"/>
          <p:cNvSpPr/>
          <p:nvPr/>
        </p:nvSpPr>
        <p:spPr>
          <a:xfrm>
            <a:off x="475488" y="1764792"/>
            <a:ext cx="658368" cy="219456"/>
          </a:xfrm>
          <a:prstGeom prst="rect">
            <a:avLst/>
          </a:prstGeom>
          <a:noFill/>
          <a:ln/>
        </p:spPr>
        <p:txBody>
          <a:bodyPr wrap="square" lIns="0" tIns="0" rIns="0" bIns="0" rtlCol="0" anchor="t"/>
          <a:lstStyle/>
          <a:p>
            <a:pPr algn="l" indent="0" marL="0">
              <a:buNone/>
            </a:pPr>
            <a:r>
              <a:rPr lang="en-US" sz="850" b="1" dirty="0">
                <a:solidFill>
                  <a:srgbClr val="F5D78A"/>
                </a:solidFill>
                <a:latin typeface="Calibri" pitchFamily="34" charset="0"/>
                <a:ea typeface="Calibri" pitchFamily="34" charset="-122"/>
                <a:cs typeface="Calibri" pitchFamily="34" charset="-120"/>
              </a:rPr>
              <a:t>Question:</a:t>
            </a:r>
            <a:endParaRPr lang="en-US" sz="850" dirty="0"/>
          </a:p>
        </p:txBody>
      </p:sp>
      <p:sp>
        <p:nvSpPr>
          <p:cNvPr id="11" name="Text 9"/>
          <p:cNvSpPr/>
          <p:nvPr/>
        </p:nvSpPr>
        <p:spPr>
          <a:xfrm>
            <a:off x="1170432" y="1764792"/>
            <a:ext cx="1828800" cy="566928"/>
          </a:xfrm>
          <a:prstGeom prst="rect">
            <a:avLst/>
          </a:prstGeom>
          <a:noFill/>
          <a:ln/>
        </p:spPr>
        <p:txBody>
          <a:bodyPr wrap="square" lIns="0" tIns="0" rIns="0" bIns="0" rtlCol="0" anchor="t"/>
          <a:lstStyle/>
          <a:p>
            <a:pPr algn="l" indent="0" marL="0">
              <a:buNone/>
            </a:pPr>
            <a:r>
              <a:rPr lang="en-US" sz="850" dirty="0">
                <a:solidFill>
                  <a:srgbClr val="D8E2EE"/>
                </a:solidFill>
                <a:latin typeface="Calibri" pitchFamily="34" charset="0"/>
                <a:ea typeface="Calibri" pitchFamily="34" charset="-122"/>
                <a:cs typeface="Calibri" pitchFamily="34" charset="-120"/>
              </a:rPr>
              <a:t>When does the shape of the</a:t>
            </a:r>
            <a:endParaRPr lang="en-US" sz="850" dirty="0"/>
          </a:p>
          <a:p>
            <a:pPr algn="l" indent="0" marL="0">
              <a:buNone/>
            </a:pPr>
            <a:r>
              <a:rPr lang="en-US" sz="850" dirty="0">
                <a:solidFill>
                  <a:srgbClr val="D8E2EE"/>
                </a:solidFill>
                <a:latin typeface="Calibri" pitchFamily="34" charset="0"/>
                <a:ea typeface="Calibri" pitchFamily="34" charset="-122"/>
                <a:cs typeface="Calibri" pitchFamily="34" charset="-120"/>
              </a:rPr>
              <a:t>production distribution shift?</a:t>
            </a:r>
            <a:endParaRPr lang="en-US" sz="850" dirty="0"/>
          </a:p>
        </p:txBody>
      </p:sp>
      <p:sp>
        <p:nvSpPr>
          <p:cNvPr id="12" name="Text 10"/>
          <p:cNvSpPr/>
          <p:nvPr/>
        </p:nvSpPr>
        <p:spPr>
          <a:xfrm>
            <a:off x="475488" y="2423160"/>
            <a:ext cx="658368" cy="219456"/>
          </a:xfrm>
          <a:prstGeom prst="rect">
            <a:avLst/>
          </a:prstGeom>
          <a:noFill/>
          <a:ln/>
        </p:spPr>
        <p:txBody>
          <a:bodyPr wrap="square" lIns="0" tIns="0" rIns="0" bIns="0" rtlCol="0" anchor="t"/>
          <a:lstStyle/>
          <a:p>
            <a:pPr algn="l" indent="0" marL="0">
              <a:buNone/>
            </a:pPr>
            <a:r>
              <a:rPr lang="en-US" sz="850" b="1" dirty="0">
                <a:solidFill>
                  <a:srgbClr val="F5D78A"/>
                </a:solidFill>
                <a:latin typeface="Calibri" pitchFamily="34" charset="0"/>
                <a:ea typeface="Calibri" pitchFamily="34" charset="-122"/>
                <a:cs typeface="Calibri" pitchFamily="34" charset="-120"/>
              </a:rPr>
              <a:t>Criterion:</a:t>
            </a:r>
            <a:endParaRPr lang="en-US" sz="850" dirty="0"/>
          </a:p>
        </p:txBody>
      </p:sp>
      <p:sp>
        <p:nvSpPr>
          <p:cNvPr id="13" name="Text 11"/>
          <p:cNvSpPr/>
          <p:nvPr/>
        </p:nvSpPr>
        <p:spPr>
          <a:xfrm>
            <a:off x="1170432" y="2423160"/>
            <a:ext cx="1828800" cy="566928"/>
          </a:xfrm>
          <a:prstGeom prst="rect">
            <a:avLst/>
          </a:prstGeom>
          <a:noFill/>
          <a:ln/>
        </p:spPr>
        <p:txBody>
          <a:bodyPr wrap="square" lIns="0" tIns="0" rIns="0" bIns="0" rtlCol="0" anchor="t"/>
          <a:lstStyle/>
          <a:p>
            <a:pPr algn="l" indent="0" marL="0">
              <a:buNone/>
            </a:pPr>
            <a:r>
              <a:rPr lang="en-US" sz="850" dirty="0">
                <a:solidFill>
                  <a:srgbClr val="D8E2EE"/>
                </a:solidFill>
                <a:latin typeface="Calibri" pitchFamily="34" charset="0"/>
                <a:ea typeface="Calibri" pitchFamily="34" charset="-122"/>
                <a:cs typeface="Calibri" pitchFamily="34" charset="-120"/>
              </a:rPr>
              <a:t>Kolmogorov–Smirnov test</a:t>
            </a:r>
            <a:endParaRPr lang="en-US" sz="850" dirty="0"/>
          </a:p>
          <a:p>
            <a:pPr algn="l" indent="0" marL="0">
              <a:buNone/>
            </a:pPr>
            <a:r>
              <a:rPr lang="en-US" sz="850" dirty="0">
                <a:solidFill>
                  <a:srgbClr val="D8E2EE"/>
                </a:solidFill>
                <a:latin typeface="Calibri" pitchFamily="34" charset="0"/>
                <a:ea typeface="Calibri" pitchFamily="34" charset="-122"/>
                <a:cs typeface="Calibri" pitchFamily="34" charset="-120"/>
              </a:rPr>
              <a:t>(distributional shift)</a:t>
            </a:r>
            <a:endParaRPr lang="en-US" sz="850" dirty="0"/>
          </a:p>
        </p:txBody>
      </p:sp>
      <p:sp>
        <p:nvSpPr>
          <p:cNvPr id="14" name="Text 12"/>
          <p:cNvSpPr/>
          <p:nvPr/>
        </p:nvSpPr>
        <p:spPr>
          <a:xfrm>
            <a:off x="475488" y="3081528"/>
            <a:ext cx="658368" cy="219456"/>
          </a:xfrm>
          <a:prstGeom prst="rect">
            <a:avLst/>
          </a:prstGeom>
          <a:noFill/>
          <a:ln/>
        </p:spPr>
        <p:txBody>
          <a:bodyPr wrap="square" lIns="0" tIns="0" rIns="0" bIns="0" rtlCol="0" anchor="t"/>
          <a:lstStyle/>
          <a:p>
            <a:pPr algn="l" indent="0" marL="0">
              <a:buNone/>
            </a:pPr>
            <a:r>
              <a:rPr lang="en-US" sz="850" b="1" dirty="0">
                <a:solidFill>
                  <a:srgbClr val="F5D78A"/>
                </a:solidFill>
                <a:latin typeface="Calibri" pitchFamily="34" charset="0"/>
                <a:ea typeface="Calibri" pitchFamily="34" charset="-122"/>
                <a:cs typeface="Calibri" pitchFamily="34" charset="-120"/>
              </a:rPr>
              <a:t>Output:</a:t>
            </a:r>
            <a:endParaRPr lang="en-US" sz="850" dirty="0"/>
          </a:p>
        </p:txBody>
      </p:sp>
      <p:sp>
        <p:nvSpPr>
          <p:cNvPr id="15" name="Text 13"/>
          <p:cNvSpPr/>
          <p:nvPr/>
        </p:nvSpPr>
        <p:spPr>
          <a:xfrm>
            <a:off x="1170432" y="3081528"/>
            <a:ext cx="1828800" cy="566928"/>
          </a:xfrm>
          <a:prstGeom prst="rect">
            <a:avLst/>
          </a:prstGeom>
          <a:noFill/>
          <a:ln/>
        </p:spPr>
        <p:txBody>
          <a:bodyPr wrap="square" lIns="0" tIns="0" rIns="0" bIns="0" rtlCol="0" anchor="t"/>
          <a:lstStyle/>
          <a:p>
            <a:pPr algn="l" indent="0" marL="0">
              <a:buNone/>
            </a:pPr>
            <a:r>
              <a:rPr lang="en-US" sz="850" dirty="0">
                <a:solidFill>
                  <a:srgbClr val="D8E2EE"/>
                </a:solidFill>
                <a:latin typeface="Calibri" pitchFamily="34" charset="0"/>
                <a:ea typeface="Calibri" pitchFamily="34" charset="-122"/>
                <a:cs typeface="Calibri" pitchFamily="34" charset="-120"/>
              </a:rPr>
              <a:t>IF conditions THEN</a:t>
            </a:r>
            <a:endParaRPr lang="en-US" sz="850" dirty="0"/>
          </a:p>
          <a:p>
            <a:pPr algn="l" indent="0" marL="0">
              <a:buNone/>
            </a:pPr>
            <a:r>
              <a:rPr lang="en-US" sz="850" dirty="0">
                <a:solidFill>
                  <a:srgbClr val="D8E2EE"/>
                </a:solidFill>
                <a:latin typeface="Calibri" pitchFamily="34" charset="0"/>
                <a:ea typeface="Calibri" pitchFamily="34" charset="-122"/>
                <a:cs typeface="Calibri" pitchFamily="34" charset="-120"/>
              </a:rPr>
              <a:t>distribution shifts ±X mhl</a:t>
            </a:r>
            <a:endParaRPr lang="en-US" sz="850" dirty="0"/>
          </a:p>
        </p:txBody>
      </p:sp>
      <p:sp>
        <p:nvSpPr>
          <p:cNvPr id="16" name="Text 14"/>
          <p:cNvSpPr/>
          <p:nvPr/>
        </p:nvSpPr>
        <p:spPr>
          <a:xfrm>
            <a:off x="475488" y="3739896"/>
            <a:ext cx="658368" cy="219456"/>
          </a:xfrm>
          <a:prstGeom prst="rect">
            <a:avLst/>
          </a:prstGeom>
          <a:noFill/>
          <a:ln/>
        </p:spPr>
        <p:txBody>
          <a:bodyPr wrap="square" lIns="0" tIns="0" rIns="0" bIns="0" rtlCol="0" anchor="t"/>
          <a:lstStyle/>
          <a:p>
            <a:pPr algn="l" indent="0" marL="0">
              <a:buNone/>
            </a:pPr>
            <a:r>
              <a:rPr lang="en-US" sz="850" b="1" dirty="0">
                <a:solidFill>
                  <a:srgbClr val="F5D78A"/>
                </a:solidFill>
                <a:latin typeface="Calibri" pitchFamily="34" charset="0"/>
                <a:ea typeface="Calibri" pitchFamily="34" charset="-122"/>
                <a:cs typeface="Calibri" pitchFamily="34" charset="-120"/>
              </a:rPr>
              <a:t>Note:</a:t>
            </a:r>
            <a:endParaRPr lang="en-US" sz="850" dirty="0"/>
          </a:p>
        </p:txBody>
      </p:sp>
      <p:sp>
        <p:nvSpPr>
          <p:cNvPr id="17" name="Text 15"/>
          <p:cNvSpPr/>
          <p:nvPr/>
        </p:nvSpPr>
        <p:spPr>
          <a:xfrm>
            <a:off x="1170432" y="3739896"/>
            <a:ext cx="1828800" cy="566928"/>
          </a:xfrm>
          <a:prstGeom prst="rect">
            <a:avLst/>
          </a:prstGeom>
          <a:noFill/>
          <a:ln/>
        </p:spPr>
        <p:txBody>
          <a:bodyPr wrap="square" lIns="0" tIns="0" rIns="0" bIns="0" rtlCol="0" anchor="t"/>
          <a:lstStyle/>
          <a:p>
            <a:pPr algn="l" indent="0" marL="0">
              <a:buNone/>
            </a:pPr>
            <a:r>
              <a:rPr lang="en-US" sz="850" dirty="0">
                <a:solidFill>
                  <a:srgbClr val="D8E2EE"/>
                </a:solidFill>
                <a:latin typeface="Calibri" pitchFamily="34" charset="0"/>
                <a:ea typeface="Calibri" pitchFamily="34" charset="-122"/>
                <a:cs typeface="Calibri" pitchFamily="34" charset="-120"/>
              </a:rPr>
              <a:t>Non-parametric; no normality assumption. Detects distributional anomalies. No target pre-discretisation needed.</a:t>
            </a:r>
            <a:endParaRPr lang="en-US" sz="850" dirty="0"/>
          </a:p>
        </p:txBody>
      </p:sp>
      <p:sp>
        <p:nvSpPr>
          <p:cNvPr id="18" name="Shape 16"/>
          <p:cNvSpPr/>
          <p:nvPr/>
        </p:nvSpPr>
        <p:spPr>
          <a:xfrm>
            <a:off x="3236976" y="1005840"/>
            <a:ext cx="2688336" cy="3822192"/>
          </a:xfrm>
          <a:prstGeom prst="rect">
            <a:avLst/>
          </a:prstGeom>
          <a:solidFill>
            <a:srgbClr val="2E4A7C"/>
          </a:solidFill>
          <a:ln w="12700">
            <a:solidFill>
              <a:srgbClr val="2E4A7C"/>
            </a:solidFill>
            <a:prstDash val="solid"/>
          </a:ln>
          <a:effectLst>
            <a:outerShdw sx="100000" sy="100000" kx="0" ky="0" algn="bl" rotWithShape="0" blurRad="101600" dist="38100" dir="8100000">
              <a:srgbClr val="000000">
                <a:alpha val="18000"/>
              </a:srgbClr>
            </a:outerShdw>
          </a:effectLst>
        </p:spPr>
      </p:sp>
      <p:sp>
        <p:nvSpPr>
          <p:cNvPr id="19" name="Text 17"/>
          <p:cNvSpPr/>
          <p:nvPr/>
        </p:nvSpPr>
        <p:spPr>
          <a:xfrm>
            <a:off x="3328416" y="1024128"/>
            <a:ext cx="2505456"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RIPPER</a:t>
            </a:r>
            <a:endParaRPr lang="en-US" sz="1800" dirty="0"/>
          </a:p>
        </p:txBody>
      </p:sp>
      <p:sp>
        <p:nvSpPr>
          <p:cNvPr id="20" name="Text 18"/>
          <p:cNvSpPr/>
          <p:nvPr/>
        </p:nvSpPr>
        <p:spPr>
          <a:xfrm>
            <a:off x="3328416" y="1426464"/>
            <a:ext cx="2505456" cy="274320"/>
          </a:xfrm>
          <a:prstGeom prst="rect">
            <a:avLst/>
          </a:prstGeom>
          <a:noFill/>
          <a:ln/>
        </p:spPr>
        <p:txBody>
          <a:bodyPr wrap="square" lIns="0" tIns="0" rIns="0" bIns="0" rtlCol="0" anchor="ctr"/>
          <a:lstStyle/>
          <a:p>
            <a:pPr algn="ctr" indent="0" marL="0">
              <a:buNone/>
            </a:pPr>
            <a:r>
              <a:rPr lang="en-US" sz="900" i="1" dirty="0">
                <a:solidFill>
                  <a:srgbClr val="F5D78A"/>
                </a:solidFill>
                <a:latin typeface="Calibri" pitchFamily="34" charset="0"/>
                <a:ea typeface="Calibri" pitchFamily="34" charset="-122"/>
                <a:cs typeface="Calibri" pitchFamily="34" charset="-120"/>
              </a:rPr>
              <a:t>Classification Baseline</a:t>
            </a:r>
            <a:endParaRPr lang="en-US" sz="900" dirty="0"/>
          </a:p>
        </p:txBody>
      </p:sp>
      <p:sp>
        <p:nvSpPr>
          <p:cNvPr id="21" name="Shape 19"/>
          <p:cNvSpPr/>
          <p:nvPr/>
        </p:nvSpPr>
        <p:spPr>
          <a:xfrm>
            <a:off x="3374136" y="1700784"/>
            <a:ext cx="2414016" cy="18288"/>
          </a:xfrm>
          <a:prstGeom prst="rect">
            <a:avLst/>
          </a:prstGeom>
          <a:solidFill>
            <a:srgbClr val="F5D78A"/>
          </a:solidFill>
          <a:ln w="12700">
            <a:solidFill>
              <a:srgbClr val="F5D78A"/>
            </a:solidFill>
            <a:prstDash val="solid"/>
          </a:ln>
        </p:spPr>
      </p:sp>
      <p:sp>
        <p:nvSpPr>
          <p:cNvPr id="22" name="Text 20"/>
          <p:cNvSpPr/>
          <p:nvPr/>
        </p:nvSpPr>
        <p:spPr>
          <a:xfrm>
            <a:off x="3346704" y="1764792"/>
            <a:ext cx="658368" cy="219456"/>
          </a:xfrm>
          <a:prstGeom prst="rect">
            <a:avLst/>
          </a:prstGeom>
          <a:noFill/>
          <a:ln/>
        </p:spPr>
        <p:txBody>
          <a:bodyPr wrap="square" lIns="0" tIns="0" rIns="0" bIns="0" rtlCol="0" anchor="t"/>
          <a:lstStyle/>
          <a:p>
            <a:pPr algn="l" indent="0" marL="0">
              <a:buNone/>
            </a:pPr>
            <a:r>
              <a:rPr lang="en-US" sz="850" b="1" dirty="0">
                <a:solidFill>
                  <a:srgbClr val="F5D78A"/>
                </a:solidFill>
                <a:latin typeface="Calibri" pitchFamily="34" charset="0"/>
                <a:ea typeface="Calibri" pitchFamily="34" charset="-122"/>
                <a:cs typeface="Calibri" pitchFamily="34" charset="-120"/>
              </a:rPr>
              <a:t>Question:</a:t>
            </a:r>
            <a:endParaRPr lang="en-US" sz="850" dirty="0"/>
          </a:p>
        </p:txBody>
      </p:sp>
      <p:sp>
        <p:nvSpPr>
          <p:cNvPr id="23" name="Text 21"/>
          <p:cNvSpPr/>
          <p:nvPr/>
        </p:nvSpPr>
        <p:spPr>
          <a:xfrm>
            <a:off x="4041648" y="1764792"/>
            <a:ext cx="1828800" cy="566928"/>
          </a:xfrm>
          <a:prstGeom prst="rect">
            <a:avLst/>
          </a:prstGeom>
          <a:noFill/>
          <a:ln/>
        </p:spPr>
        <p:txBody>
          <a:bodyPr wrap="square" lIns="0" tIns="0" rIns="0" bIns="0" rtlCol="0" anchor="t"/>
          <a:lstStyle/>
          <a:p>
            <a:pPr algn="l" indent="0" marL="0">
              <a:buNone/>
            </a:pPr>
            <a:r>
              <a:rPr lang="en-US" sz="850" dirty="0">
                <a:solidFill>
                  <a:srgbClr val="D8E2EE"/>
                </a:solidFill>
                <a:latin typeface="Calibri" pitchFamily="34" charset="0"/>
                <a:ea typeface="Calibri" pitchFamily="34" charset="-122"/>
                <a:cs typeface="Calibri" pitchFamily="34" charset="-120"/>
              </a:rPr>
              <a:t>Which production class</a:t>
            </a:r>
            <a:endParaRPr lang="en-US" sz="850" dirty="0"/>
          </a:p>
          <a:p>
            <a:pPr algn="l" indent="0" marL="0">
              <a:buNone/>
            </a:pPr>
            <a:r>
              <a:rPr lang="en-US" sz="850" dirty="0">
                <a:solidFill>
                  <a:srgbClr val="D8E2EE"/>
                </a:solidFill>
                <a:latin typeface="Calibri" pitchFamily="34" charset="0"/>
                <a:ea typeface="Calibri" pitchFamily="34" charset="-122"/>
                <a:cs typeface="Calibri" pitchFamily="34" charset="-120"/>
              </a:rPr>
              <a:t>does this year belong to?</a:t>
            </a:r>
            <a:endParaRPr lang="en-US" sz="850" dirty="0"/>
          </a:p>
        </p:txBody>
      </p:sp>
      <p:sp>
        <p:nvSpPr>
          <p:cNvPr id="24" name="Text 22"/>
          <p:cNvSpPr/>
          <p:nvPr/>
        </p:nvSpPr>
        <p:spPr>
          <a:xfrm>
            <a:off x="3346704" y="2423160"/>
            <a:ext cx="658368" cy="219456"/>
          </a:xfrm>
          <a:prstGeom prst="rect">
            <a:avLst/>
          </a:prstGeom>
          <a:noFill/>
          <a:ln/>
        </p:spPr>
        <p:txBody>
          <a:bodyPr wrap="square" lIns="0" tIns="0" rIns="0" bIns="0" rtlCol="0" anchor="t"/>
          <a:lstStyle/>
          <a:p>
            <a:pPr algn="l" indent="0" marL="0">
              <a:buNone/>
            </a:pPr>
            <a:r>
              <a:rPr lang="en-US" sz="850" b="1" dirty="0">
                <a:solidFill>
                  <a:srgbClr val="F5D78A"/>
                </a:solidFill>
                <a:latin typeface="Calibri" pitchFamily="34" charset="0"/>
                <a:ea typeface="Calibri" pitchFamily="34" charset="-122"/>
                <a:cs typeface="Calibri" pitchFamily="34" charset="-120"/>
              </a:rPr>
              <a:t>Criterion:</a:t>
            </a:r>
            <a:endParaRPr lang="en-US" sz="850" dirty="0"/>
          </a:p>
        </p:txBody>
      </p:sp>
      <p:sp>
        <p:nvSpPr>
          <p:cNvPr id="25" name="Text 23"/>
          <p:cNvSpPr/>
          <p:nvPr/>
        </p:nvSpPr>
        <p:spPr>
          <a:xfrm>
            <a:off x="4041648" y="2423160"/>
            <a:ext cx="1828800" cy="566928"/>
          </a:xfrm>
          <a:prstGeom prst="rect">
            <a:avLst/>
          </a:prstGeom>
          <a:noFill/>
          <a:ln/>
        </p:spPr>
        <p:txBody>
          <a:bodyPr wrap="square" lIns="0" tIns="0" rIns="0" bIns="0" rtlCol="0" anchor="t"/>
          <a:lstStyle/>
          <a:p>
            <a:pPr algn="l" indent="0" marL="0">
              <a:buNone/>
            </a:pPr>
            <a:r>
              <a:rPr lang="en-US" sz="850" dirty="0">
                <a:solidFill>
                  <a:srgbClr val="D8E2EE"/>
                </a:solidFill>
                <a:latin typeface="Calibri" pitchFamily="34" charset="0"/>
                <a:ea typeface="Calibri" pitchFamily="34" charset="-122"/>
                <a:cs typeface="Calibri" pitchFamily="34" charset="-120"/>
              </a:rPr>
              <a:t>FOIL gain</a:t>
            </a:r>
            <a:endParaRPr lang="en-US" sz="850" dirty="0"/>
          </a:p>
          <a:p>
            <a:pPr algn="l" indent="0" marL="0">
              <a:buNone/>
            </a:pPr>
            <a:r>
              <a:rPr lang="en-US" sz="850" dirty="0">
                <a:solidFill>
                  <a:srgbClr val="D8E2EE"/>
                </a:solidFill>
                <a:latin typeface="Calibri" pitchFamily="34" charset="0"/>
                <a:ea typeface="Calibri" pitchFamily="34" charset="-122"/>
                <a:cs typeface="Calibri" pitchFamily="34" charset="-120"/>
              </a:rPr>
              <a:t>(information gain)</a:t>
            </a:r>
            <a:endParaRPr lang="en-US" sz="850" dirty="0"/>
          </a:p>
        </p:txBody>
      </p:sp>
      <p:sp>
        <p:nvSpPr>
          <p:cNvPr id="26" name="Text 24"/>
          <p:cNvSpPr/>
          <p:nvPr/>
        </p:nvSpPr>
        <p:spPr>
          <a:xfrm>
            <a:off x="3346704" y="3081528"/>
            <a:ext cx="658368" cy="219456"/>
          </a:xfrm>
          <a:prstGeom prst="rect">
            <a:avLst/>
          </a:prstGeom>
          <a:noFill/>
          <a:ln/>
        </p:spPr>
        <p:txBody>
          <a:bodyPr wrap="square" lIns="0" tIns="0" rIns="0" bIns="0" rtlCol="0" anchor="t"/>
          <a:lstStyle/>
          <a:p>
            <a:pPr algn="l" indent="0" marL="0">
              <a:buNone/>
            </a:pPr>
            <a:r>
              <a:rPr lang="en-US" sz="850" b="1" dirty="0">
                <a:solidFill>
                  <a:srgbClr val="F5D78A"/>
                </a:solidFill>
                <a:latin typeface="Calibri" pitchFamily="34" charset="0"/>
                <a:ea typeface="Calibri" pitchFamily="34" charset="-122"/>
                <a:cs typeface="Calibri" pitchFamily="34" charset="-120"/>
              </a:rPr>
              <a:t>Output:</a:t>
            </a:r>
            <a:endParaRPr lang="en-US" sz="850" dirty="0"/>
          </a:p>
        </p:txBody>
      </p:sp>
      <p:sp>
        <p:nvSpPr>
          <p:cNvPr id="27" name="Text 25"/>
          <p:cNvSpPr/>
          <p:nvPr/>
        </p:nvSpPr>
        <p:spPr>
          <a:xfrm>
            <a:off x="4041648" y="3081528"/>
            <a:ext cx="1828800" cy="566928"/>
          </a:xfrm>
          <a:prstGeom prst="rect">
            <a:avLst/>
          </a:prstGeom>
          <a:noFill/>
          <a:ln/>
        </p:spPr>
        <p:txBody>
          <a:bodyPr wrap="square" lIns="0" tIns="0" rIns="0" bIns="0" rtlCol="0" anchor="t"/>
          <a:lstStyle/>
          <a:p>
            <a:pPr algn="l" indent="0" marL="0">
              <a:buNone/>
            </a:pPr>
            <a:r>
              <a:rPr lang="en-US" sz="850" dirty="0">
                <a:solidFill>
                  <a:srgbClr val="D8E2EE"/>
                </a:solidFill>
                <a:latin typeface="Calibri" pitchFamily="34" charset="0"/>
                <a:ea typeface="Calibri" pitchFamily="34" charset="-122"/>
                <a:cs typeface="Calibri" pitchFamily="34" charset="-120"/>
              </a:rPr>
              <a:t>IF conditions THEN</a:t>
            </a:r>
            <a:endParaRPr lang="en-US" sz="850" dirty="0"/>
          </a:p>
          <a:p>
            <a:pPr algn="l" indent="0" marL="0">
              <a:buNone/>
            </a:pPr>
            <a:r>
              <a:rPr lang="en-US" sz="850" dirty="0">
                <a:solidFill>
                  <a:srgbClr val="D8E2EE"/>
                </a:solidFill>
                <a:latin typeface="Calibri" pitchFamily="34" charset="0"/>
                <a:ea typeface="Calibri" pitchFamily="34" charset="-122"/>
                <a:cs typeface="Calibri" pitchFamily="34" charset="-120"/>
              </a:rPr>
              <a:t>class = Low / Med / High</a:t>
            </a:r>
            <a:endParaRPr lang="en-US" sz="850" dirty="0"/>
          </a:p>
        </p:txBody>
      </p:sp>
      <p:sp>
        <p:nvSpPr>
          <p:cNvPr id="28" name="Text 26"/>
          <p:cNvSpPr/>
          <p:nvPr/>
        </p:nvSpPr>
        <p:spPr>
          <a:xfrm>
            <a:off x="3346704" y="3739896"/>
            <a:ext cx="658368" cy="219456"/>
          </a:xfrm>
          <a:prstGeom prst="rect">
            <a:avLst/>
          </a:prstGeom>
          <a:noFill/>
          <a:ln/>
        </p:spPr>
        <p:txBody>
          <a:bodyPr wrap="square" lIns="0" tIns="0" rIns="0" bIns="0" rtlCol="0" anchor="t"/>
          <a:lstStyle/>
          <a:p>
            <a:pPr algn="l" indent="0" marL="0">
              <a:buNone/>
            </a:pPr>
            <a:r>
              <a:rPr lang="en-US" sz="850" b="1" dirty="0">
                <a:solidFill>
                  <a:srgbClr val="F5D78A"/>
                </a:solidFill>
                <a:latin typeface="Calibri" pitchFamily="34" charset="0"/>
                <a:ea typeface="Calibri" pitchFamily="34" charset="-122"/>
                <a:cs typeface="Calibri" pitchFamily="34" charset="-120"/>
              </a:rPr>
              <a:t>Note:</a:t>
            </a:r>
            <a:endParaRPr lang="en-US" sz="850" dirty="0"/>
          </a:p>
        </p:txBody>
      </p:sp>
      <p:sp>
        <p:nvSpPr>
          <p:cNvPr id="29" name="Text 27"/>
          <p:cNvSpPr/>
          <p:nvPr/>
        </p:nvSpPr>
        <p:spPr>
          <a:xfrm>
            <a:off x="4041648" y="3739896"/>
            <a:ext cx="1828800" cy="566928"/>
          </a:xfrm>
          <a:prstGeom prst="rect">
            <a:avLst/>
          </a:prstGeom>
          <a:noFill/>
          <a:ln/>
        </p:spPr>
        <p:txBody>
          <a:bodyPr wrap="square" lIns="0" tIns="0" rIns="0" bIns="0" rtlCol="0" anchor="t"/>
          <a:lstStyle/>
          <a:p>
            <a:pPr algn="l" indent="0" marL="0">
              <a:buNone/>
            </a:pPr>
            <a:r>
              <a:rPr lang="en-US" sz="850" dirty="0">
                <a:solidFill>
                  <a:srgbClr val="D8E2EE"/>
                </a:solidFill>
                <a:latin typeface="Calibri" pitchFamily="34" charset="0"/>
                <a:ea typeface="Calibri" pitchFamily="34" charset="-122"/>
                <a:cs typeface="Calibri" pitchFamily="34" charset="-120"/>
              </a:rPr>
              <a:t>Well-established interpretable classifier. Requires tertile-discretised target. Always assigns a class.</a:t>
            </a:r>
            <a:endParaRPr lang="en-US" sz="850" dirty="0"/>
          </a:p>
        </p:txBody>
      </p:sp>
      <p:sp>
        <p:nvSpPr>
          <p:cNvPr id="30" name="Shape 28"/>
          <p:cNvSpPr/>
          <p:nvPr/>
        </p:nvSpPr>
        <p:spPr>
          <a:xfrm>
            <a:off x="6108192" y="1005840"/>
            <a:ext cx="2688336" cy="3822192"/>
          </a:xfrm>
          <a:prstGeom prst="rect">
            <a:avLst/>
          </a:prstGeom>
          <a:solidFill>
            <a:srgbClr val="1B2B45"/>
          </a:solidFill>
          <a:ln w="12700">
            <a:solidFill>
              <a:srgbClr val="1B2B45"/>
            </a:solidFill>
            <a:prstDash val="solid"/>
          </a:ln>
          <a:effectLst>
            <a:outerShdw sx="100000" sy="100000" kx="0" ky="0" algn="bl" rotWithShape="0" blurRad="101600" dist="38100" dir="8100000">
              <a:srgbClr val="000000">
                <a:alpha val="18000"/>
              </a:srgbClr>
            </a:outerShdw>
          </a:effectLst>
        </p:spPr>
      </p:sp>
      <p:sp>
        <p:nvSpPr>
          <p:cNvPr id="31" name="Text 29"/>
          <p:cNvSpPr/>
          <p:nvPr/>
        </p:nvSpPr>
        <p:spPr>
          <a:xfrm>
            <a:off x="6199632" y="1024128"/>
            <a:ext cx="2505456"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M5Rules</a:t>
            </a:r>
            <a:endParaRPr lang="en-US" sz="1800" dirty="0"/>
          </a:p>
        </p:txBody>
      </p:sp>
      <p:sp>
        <p:nvSpPr>
          <p:cNvPr id="32" name="Text 30"/>
          <p:cNvSpPr/>
          <p:nvPr/>
        </p:nvSpPr>
        <p:spPr>
          <a:xfrm>
            <a:off x="6199632" y="1426464"/>
            <a:ext cx="2505456" cy="274320"/>
          </a:xfrm>
          <a:prstGeom prst="rect">
            <a:avLst/>
          </a:prstGeom>
          <a:noFill/>
          <a:ln/>
        </p:spPr>
        <p:txBody>
          <a:bodyPr wrap="square" lIns="0" tIns="0" rIns="0" bIns="0" rtlCol="0" anchor="ctr"/>
          <a:lstStyle/>
          <a:p>
            <a:pPr algn="ctr" indent="0" marL="0">
              <a:buNone/>
            </a:pPr>
            <a:r>
              <a:rPr lang="en-US" sz="900" i="1" dirty="0">
                <a:solidFill>
                  <a:srgbClr val="F5D78A"/>
                </a:solidFill>
                <a:latin typeface="Calibri" pitchFamily="34" charset="0"/>
                <a:ea typeface="Calibri" pitchFamily="34" charset="-122"/>
                <a:cs typeface="Calibri" pitchFamily="34" charset="-120"/>
              </a:rPr>
              <a:t>Regression Baseline</a:t>
            </a:r>
            <a:endParaRPr lang="en-US" sz="900" dirty="0"/>
          </a:p>
        </p:txBody>
      </p:sp>
      <p:sp>
        <p:nvSpPr>
          <p:cNvPr id="33" name="Shape 31"/>
          <p:cNvSpPr/>
          <p:nvPr/>
        </p:nvSpPr>
        <p:spPr>
          <a:xfrm>
            <a:off x="6245352" y="1700784"/>
            <a:ext cx="2414016" cy="18288"/>
          </a:xfrm>
          <a:prstGeom prst="rect">
            <a:avLst/>
          </a:prstGeom>
          <a:solidFill>
            <a:srgbClr val="F5D78A"/>
          </a:solidFill>
          <a:ln w="12700">
            <a:solidFill>
              <a:srgbClr val="F5D78A"/>
            </a:solidFill>
            <a:prstDash val="solid"/>
          </a:ln>
        </p:spPr>
      </p:sp>
      <p:sp>
        <p:nvSpPr>
          <p:cNvPr id="34" name="Text 32"/>
          <p:cNvSpPr/>
          <p:nvPr/>
        </p:nvSpPr>
        <p:spPr>
          <a:xfrm>
            <a:off x="6217920" y="1764792"/>
            <a:ext cx="658368" cy="219456"/>
          </a:xfrm>
          <a:prstGeom prst="rect">
            <a:avLst/>
          </a:prstGeom>
          <a:noFill/>
          <a:ln/>
        </p:spPr>
        <p:txBody>
          <a:bodyPr wrap="square" lIns="0" tIns="0" rIns="0" bIns="0" rtlCol="0" anchor="t"/>
          <a:lstStyle/>
          <a:p>
            <a:pPr algn="l" indent="0" marL="0">
              <a:buNone/>
            </a:pPr>
            <a:r>
              <a:rPr lang="en-US" sz="850" b="1" dirty="0">
                <a:solidFill>
                  <a:srgbClr val="F5D78A"/>
                </a:solidFill>
                <a:latin typeface="Calibri" pitchFamily="34" charset="0"/>
                <a:ea typeface="Calibri" pitchFamily="34" charset="-122"/>
                <a:cs typeface="Calibri" pitchFamily="34" charset="-120"/>
              </a:rPr>
              <a:t>Question:</a:t>
            </a:r>
            <a:endParaRPr lang="en-US" sz="850" dirty="0"/>
          </a:p>
        </p:txBody>
      </p:sp>
      <p:sp>
        <p:nvSpPr>
          <p:cNvPr id="35" name="Text 33"/>
          <p:cNvSpPr/>
          <p:nvPr/>
        </p:nvSpPr>
        <p:spPr>
          <a:xfrm>
            <a:off x="6912864" y="1764792"/>
            <a:ext cx="1828800" cy="566928"/>
          </a:xfrm>
          <a:prstGeom prst="rect">
            <a:avLst/>
          </a:prstGeom>
          <a:noFill/>
          <a:ln/>
        </p:spPr>
        <p:txBody>
          <a:bodyPr wrap="square" lIns="0" tIns="0" rIns="0" bIns="0" rtlCol="0" anchor="t"/>
          <a:lstStyle/>
          <a:p>
            <a:pPr algn="l" indent="0" marL="0">
              <a:buNone/>
            </a:pPr>
            <a:r>
              <a:rPr lang="en-US" sz="850" dirty="0">
                <a:solidFill>
                  <a:srgbClr val="D8E2EE"/>
                </a:solidFill>
                <a:latin typeface="Calibri" pitchFamily="34" charset="0"/>
                <a:ea typeface="Calibri" pitchFamily="34" charset="-122"/>
                <a:cs typeface="Calibri" pitchFamily="34" charset="-120"/>
              </a:rPr>
              <a:t>What exact production level</a:t>
            </a:r>
            <a:endParaRPr lang="en-US" sz="850" dirty="0"/>
          </a:p>
          <a:p>
            <a:pPr algn="l" indent="0" marL="0">
              <a:buNone/>
            </a:pPr>
            <a:r>
              <a:rPr lang="en-US" sz="850" dirty="0">
                <a:solidFill>
                  <a:srgbClr val="D8E2EE"/>
                </a:solidFill>
                <a:latin typeface="Calibri" pitchFamily="34" charset="0"/>
                <a:ea typeface="Calibri" pitchFamily="34" charset="-122"/>
                <a:cs typeface="Calibri" pitchFamily="34" charset="-120"/>
              </a:rPr>
              <a:t>does a year have?</a:t>
            </a:r>
            <a:endParaRPr lang="en-US" sz="850" dirty="0"/>
          </a:p>
        </p:txBody>
      </p:sp>
      <p:sp>
        <p:nvSpPr>
          <p:cNvPr id="36" name="Text 34"/>
          <p:cNvSpPr/>
          <p:nvPr/>
        </p:nvSpPr>
        <p:spPr>
          <a:xfrm>
            <a:off x="6217920" y="2423160"/>
            <a:ext cx="658368" cy="219456"/>
          </a:xfrm>
          <a:prstGeom prst="rect">
            <a:avLst/>
          </a:prstGeom>
          <a:noFill/>
          <a:ln/>
        </p:spPr>
        <p:txBody>
          <a:bodyPr wrap="square" lIns="0" tIns="0" rIns="0" bIns="0" rtlCol="0" anchor="t"/>
          <a:lstStyle/>
          <a:p>
            <a:pPr algn="l" indent="0" marL="0">
              <a:buNone/>
            </a:pPr>
            <a:r>
              <a:rPr lang="en-US" sz="850" b="1" dirty="0">
                <a:solidFill>
                  <a:srgbClr val="F5D78A"/>
                </a:solidFill>
                <a:latin typeface="Calibri" pitchFamily="34" charset="0"/>
                <a:ea typeface="Calibri" pitchFamily="34" charset="-122"/>
                <a:cs typeface="Calibri" pitchFamily="34" charset="-120"/>
              </a:rPr>
              <a:t>Criterion:</a:t>
            </a:r>
            <a:endParaRPr lang="en-US" sz="850" dirty="0"/>
          </a:p>
        </p:txBody>
      </p:sp>
      <p:sp>
        <p:nvSpPr>
          <p:cNvPr id="37" name="Text 35"/>
          <p:cNvSpPr/>
          <p:nvPr/>
        </p:nvSpPr>
        <p:spPr>
          <a:xfrm>
            <a:off x="6912864" y="2423160"/>
            <a:ext cx="1828800" cy="566928"/>
          </a:xfrm>
          <a:prstGeom prst="rect">
            <a:avLst/>
          </a:prstGeom>
          <a:noFill/>
          <a:ln/>
        </p:spPr>
        <p:txBody>
          <a:bodyPr wrap="square" lIns="0" tIns="0" rIns="0" bIns="0" rtlCol="0" anchor="t"/>
          <a:lstStyle/>
          <a:p>
            <a:pPr algn="l" indent="0" marL="0">
              <a:buNone/>
            </a:pPr>
            <a:r>
              <a:rPr lang="en-US" sz="850" dirty="0">
                <a:solidFill>
                  <a:srgbClr val="D8E2EE"/>
                </a:solidFill>
                <a:latin typeface="Calibri" pitchFamily="34" charset="0"/>
                <a:ea typeface="Calibri" pitchFamily="34" charset="-122"/>
                <a:cs typeface="Calibri" pitchFamily="34" charset="-120"/>
              </a:rPr>
              <a:t>Standard deviation reduction</a:t>
            </a:r>
            <a:endParaRPr lang="en-US" sz="850" dirty="0"/>
          </a:p>
          <a:p>
            <a:pPr algn="l" indent="0" marL="0">
              <a:buNone/>
            </a:pPr>
            <a:r>
              <a:rPr lang="en-US" sz="850" dirty="0">
                <a:solidFill>
                  <a:srgbClr val="D8E2EE"/>
                </a:solidFill>
                <a:latin typeface="Calibri" pitchFamily="34" charset="0"/>
                <a:ea typeface="Calibri" pitchFamily="34" charset="-122"/>
                <a:cs typeface="Calibri" pitchFamily="34" charset="-120"/>
              </a:rPr>
              <a:t>(MSE minimisation)</a:t>
            </a:r>
            <a:endParaRPr lang="en-US" sz="850" dirty="0"/>
          </a:p>
        </p:txBody>
      </p:sp>
      <p:sp>
        <p:nvSpPr>
          <p:cNvPr id="38" name="Text 36"/>
          <p:cNvSpPr/>
          <p:nvPr/>
        </p:nvSpPr>
        <p:spPr>
          <a:xfrm>
            <a:off x="6217920" y="3081528"/>
            <a:ext cx="658368" cy="219456"/>
          </a:xfrm>
          <a:prstGeom prst="rect">
            <a:avLst/>
          </a:prstGeom>
          <a:noFill/>
          <a:ln/>
        </p:spPr>
        <p:txBody>
          <a:bodyPr wrap="square" lIns="0" tIns="0" rIns="0" bIns="0" rtlCol="0" anchor="t"/>
          <a:lstStyle/>
          <a:p>
            <a:pPr algn="l" indent="0" marL="0">
              <a:buNone/>
            </a:pPr>
            <a:r>
              <a:rPr lang="en-US" sz="850" b="1" dirty="0">
                <a:solidFill>
                  <a:srgbClr val="F5D78A"/>
                </a:solidFill>
                <a:latin typeface="Calibri" pitchFamily="34" charset="0"/>
                <a:ea typeface="Calibri" pitchFamily="34" charset="-122"/>
                <a:cs typeface="Calibri" pitchFamily="34" charset="-120"/>
              </a:rPr>
              <a:t>Output:</a:t>
            </a:r>
            <a:endParaRPr lang="en-US" sz="850" dirty="0"/>
          </a:p>
        </p:txBody>
      </p:sp>
      <p:sp>
        <p:nvSpPr>
          <p:cNvPr id="39" name="Text 37"/>
          <p:cNvSpPr/>
          <p:nvPr/>
        </p:nvSpPr>
        <p:spPr>
          <a:xfrm>
            <a:off x="6912864" y="3081528"/>
            <a:ext cx="1828800" cy="566928"/>
          </a:xfrm>
          <a:prstGeom prst="rect">
            <a:avLst/>
          </a:prstGeom>
          <a:noFill/>
          <a:ln/>
        </p:spPr>
        <p:txBody>
          <a:bodyPr wrap="square" lIns="0" tIns="0" rIns="0" bIns="0" rtlCol="0" anchor="t"/>
          <a:lstStyle/>
          <a:p>
            <a:pPr algn="l" indent="0" marL="0">
              <a:buNone/>
            </a:pPr>
            <a:r>
              <a:rPr lang="en-US" sz="850" dirty="0">
                <a:solidFill>
                  <a:srgbClr val="D8E2EE"/>
                </a:solidFill>
                <a:latin typeface="Calibri" pitchFamily="34" charset="0"/>
                <a:ea typeface="Calibri" pitchFamily="34" charset="-122"/>
                <a:cs typeface="Calibri" pitchFamily="34" charset="-120"/>
              </a:rPr>
              <a:t>IF conditions THEN</a:t>
            </a:r>
            <a:endParaRPr lang="en-US" sz="850" dirty="0"/>
          </a:p>
          <a:p>
            <a:pPr algn="l" indent="0" marL="0">
              <a:buNone/>
            </a:pPr>
            <a:r>
              <a:rPr lang="en-US" sz="850" dirty="0">
                <a:solidFill>
                  <a:srgbClr val="D8E2EE"/>
                </a:solidFill>
                <a:latin typeface="Calibri" pitchFamily="34" charset="0"/>
                <a:ea typeface="Calibri" pitchFamily="34" charset="-122"/>
                <a:cs typeface="Calibri" pitchFamily="34" charset="-120"/>
              </a:rPr>
              <a:t>production = linear model</a:t>
            </a:r>
            <a:endParaRPr lang="en-US" sz="850" dirty="0"/>
          </a:p>
        </p:txBody>
      </p:sp>
      <p:sp>
        <p:nvSpPr>
          <p:cNvPr id="40" name="Text 38"/>
          <p:cNvSpPr/>
          <p:nvPr/>
        </p:nvSpPr>
        <p:spPr>
          <a:xfrm>
            <a:off x="6217920" y="3739896"/>
            <a:ext cx="658368" cy="219456"/>
          </a:xfrm>
          <a:prstGeom prst="rect">
            <a:avLst/>
          </a:prstGeom>
          <a:noFill/>
          <a:ln/>
        </p:spPr>
        <p:txBody>
          <a:bodyPr wrap="square" lIns="0" tIns="0" rIns="0" bIns="0" rtlCol="0" anchor="t"/>
          <a:lstStyle/>
          <a:p>
            <a:pPr algn="l" indent="0" marL="0">
              <a:buNone/>
            </a:pPr>
            <a:r>
              <a:rPr lang="en-US" sz="850" b="1" dirty="0">
                <a:solidFill>
                  <a:srgbClr val="F5D78A"/>
                </a:solidFill>
                <a:latin typeface="Calibri" pitchFamily="34" charset="0"/>
                <a:ea typeface="Calibri" pitchFamily="34" charset="-122"/>
                <a:cs typeface="Calibri" pitchFamily="34" charset="-120"/>
              </a:rPr>
              <a:t>Note:</a:t>
            </a:r>
            <a:endParaRPr lang="en-US" sz="850" dirty="0"/>
          </a:p>
        </p:txBody>
      </p:sp>
      <p:sp>
        <p:nvSpPr>
          <p:cNvPr id="41" name="Text 39"/>
          <p:cNvSpPr/>
          <p:nvPr/>
        </p:nvSpPr>
        <p:spPr>
          <a:xfrm>
            <a:off x="6912864" y="3739896"/>
            <a:ext cx="1828800" cy="566928"/>
          </a:xfrm>
          <a:prstGeom prst="rect">
            <a:avLst/>
          </a:prstGeom>
          <a:noFill/>
          <a:ln/>
        </p:spPr>
        <p:txBody>
          <a:bodyPr wrap="square" lIns="0" tIns="0" rIns="0" bIns="0" rtlCol="0" anchor="t"/>
          <a:lstStyle/>
          <a:p>
            <a:pPr algn="l" indent="0" marL="0">
              <a:buNone/>
            </a:pPr>
            <a:r>
              <a:rPr lang="en-US" sz="850" dirty="0">
                <a:solidFill>
                  <a:srgbClr val="D8E2EE"/>
                </a:solidFill>
                <a:latin typeface="Calibri" pitchFamily="34" charset="0"/>
                <a:ea typeface="Calibri" pitchFamily="34" charset="-122"/>
                <a:cs typeface="Calibri" pitchFamily="34" charset="-120"/>
              </a:rPr>
              <a:t>Piecewise linear regression. Collapses to global model on small datasets (n&lt;89). CV R² = 0.004 to −0.07.</a:t>
            </a:r>
            <a:endParaRPr lang="en-US" sz="850" dirty="0"/>
          </a:p>
        </p:txBody>
      </p:sp>
      <p:sp>
        <p:nvSpPr>
          <p:cNvPr id="42" name="Shape 40"/>
          <p:cNvSpPr/>
          <p:nvPr/>
        </p:nvSpPr>
        <p:spPr>
          <a:xfrm>
            <a:off x="365760" y="4919472"/>
            <a:ext cx="8412480" cy="91440"/>
          </a:xfrm>
          <a:prstGeom prst="rect">
            <a:avLst/>
          </a:prstGeom>
          <a:solidFill>
            <a:srgbClr val="D4A853"/>
          </a:solidFill>
          <a:ln w="12700">
            <a:solidFill>
              <a:srgbClr val="D4A853"/>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53"/>
          </a:solidFill>
          <a:ln w="12700">
            <a:solidFill>
              <a:srgbClr val="D4A853"/>
            </a:solidFill>
            <a:prstDash val="solid"/>
          </a:ln>
        </p:spPr>
      </p:sp>
      <p:sp>
        <p:nvSpPr>
          <p:cNvPr id="3" name="Text 1"/>
          <p:cNvSpPr/>
          <p:nvPr/>
        </p:nvSpPr>
        <p:spPr>
          <a:xfrm>
            <a:off x="457200" y="109728"/>
            <a:ext cx="8229600" cy="50292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Two-Decision Decomposition Framework</a:t>
            </a:r>
            <a:endParaRPr lang="en-US" sz="2200" dirty="0"/>
          </a:p>
        </p:txBody>
      </p:sp>
      <p:sp>
        <p:nvSpPr>
          <p:cNvPr id="4" name="Text 2"/>
          <p:cNvSpPr/>
          <p:nvPr/>
        </p:nvSpPr>
        <p:spPr>
          <a:xfrm>
            <a:off x="457200" y="612648"/>
            <a:ext cx="8229600" cy="256032"/>
          </a:xfrm>
          <a:prstGeom prst="rect">
            <a:avLst/>
          </a:prstGeom>
          <a:noFill/>
          <a:ln/>
        </p:spPr>
        <p:txBody>
          <a:bodyPr wrap="square" lIns="0" tIns="0" rIns="0" bIns="0" rtlCol="0" anchor="ctr"/>
          <a:lstStyle/>
          <a:p>
            <a:pPr algn="l" indent="0" marL="0">
              <a:buNone/>
            </a:pPr>
            <a:r>
              <a:rPr lang="en-US" sz="1100" i="1" dirty="0">
                <a:solidFill>
                  <a:srgbClr val="D4A853"/>
                </a:solidFill>
                <a:latin typeface="Calibri" pitchFamily="34" charset="0"/>
                <a:ea typeface="Calibri" pitchFamily="34" charset="-122"/>
                <a:cs typeface="Calibri" pitchFamily="34" charset="-120"/>
              </a:rPr>
              <a:t>Novel diagnostic framework — separates any prediction error into two interpretable components</a:t>
            </a:r>
            <a:endParaRPr lang="en-US" sz="1100" dirty="0"/>
          </a:p>
        </p:txBody>
      </p:sp>
      <p:sp>
        <p:nvSpPr>
          <p:cNvPr id="5" name="Shape 3"/>
          <p:cNvSpPr/>
          <p:nvPr/>
        </p:nvSpPr>
        <p:spPr>
          <a:xfrm>
            <a:off x="457200" y="896112"/>
            <a:ext cx="8229600" cy="18288"/>
          </a:xfrm>
          <a:prstGeom prst="rect">
            <a:avLst/>
          </a:prstGeom>
          <a:solidFill>
            <a:srgbClr val="253756"/>
          </a:solidFill>
          <a:ln w="12700">
            <a:solidFill>
              <a:srgbClr val="253756"/>
            </a:solidFill>
            <a:prstDash val="solid"/>
          </a:ln>
        </p:spPr>
      </p:sp>
      <p:sp>
        <p:nvSpPr>
          <p:cNvPr id="6" name="Shape 4"/>
          <p:cNvSpPr/>
          <p:nvPr/>
        </p:nvSpPr>
        <p:spPr>
          <a:xfrm>
            <a:off x="411480" y="1005840"/>
            <a:ext cx="8321040" cy="658368"/>
          </a:xfrm>
          <a:prstGeom prst="rect">
            <a:avLst/>
          </a:prstGeom>
          <a:solidFill>
            <a:srgbClr val="253756"/>
          </a:solidFill>
          <a:ln w="12700">
            <a:solidFill>
              <a:srgbClr val="253756"/>
            </a:solidFill>
            <a:prstDash val="solid"/>
          </a:ln>
        </p:spPr>
      </p:sp>
      <p:sp>
        <p:nvSpPr>
          <p:cNvPr id="7" name="Text 5"/>
          <p:cNvSpPr/>
          <p:nvPr/>
        </p:nvSpPr>
        <p:spPr>
          <a:xfrm>
            <a:off x="411480" y="1005840"/>
            <a:ext cx="8321040" cy="658368"/>
          </a:xfrm>
          <a:prstGeom prst="rect">
            <a:avLst/>
          </a:prstGeom>
          <a:noFill/>
          <a:ln/>
        </p:spPr>
        <p:txBody>
          <a:bodyPr wrap="square" lIns="0" tIns="0" rIns="0" bIns="0" rtlCol="0" anchor="ctr"/>
          <a:lstStyle/>
          <a:p>
            <a:pPr algn="ctr" indent="0" marL="0">
              <a:buNone/>
            </a:pPr>
            <a:r>
              <a:rPr lang="en-US" sz="2200" b="1" dirty="0">
                <a:solidFill>
                  <a:srgbClr val="F5D78A"/>
                </a:solidFill>
                <a:latin typeface="Calibri" pitchFamily="34" charset="0"/>
                <a:ea typeface="Calibri" pitchFamily="34" charset="-122"/>
                <a:cs typeface="Calibri" pitchFamily="34" charset="-120"/>
              </a:rPr>
              <a:t>ŷ(t)  =  [α + βt]  +  r̂(t)</a:t>
            </a:r>
            <a:endParaRPr lang="en-US" sz="2200" dirty="0"/>
          </a:p>
        </p:txBody>
      </p:sp>
      <p:sp>
        <p:nvSpPr>
          <p:cNvPr id="8" name="Text 6"/>
          <p:cNvSpPr/>
          <p:nvPr/>
        </p:nvSpPr>
        <p:spPr>
          <a:xfrm>
            <a:off x="411480" y="1664208"/>
            <a:ext cx="8321040" cy="256032"/>
          </a:xfrm>
          <a:prstGeom prst="rect">
            <a:avLst/>
          </a:prstGeom>
          <a:noFill/>
          <a:ln/>
        </p:spPr>
        <p:txBody>
          <a:bodyPr wrap="square" lIns="0" tIns="0" rIns="0" bIns="0" rtlCol="0" anchor="ctr"/>
          <a:lstStyle/>
          <a:p>
            <a:pPr algn="ctr" indent="0" marL="0">
              <a:buNone/>
            </a:pPr>
            <a:r>
              <a:rPr lang="en-US" sz="900" i="1" dirty="0">
                <a:solidFill>
                  <a:srgbClr val="7F8FA6"/>
                </a:solidFill>
                <a:latin typeface="Calibri" pitchFamily="34" charset="0"/>
                <a:ea typeface="Calibri" pitchFamily="34" charset="-122"/>
                <a:cs typeface="Calibri" pitchFamily="34" charset="-120"/>
              </a:rPr>
              <a:t>         Trend projection (Decision 1)                                             Residual prediction (Decision 2)</a:t>
            </a:r>
            <a:endParaRPr lang="en-US" sz="900" dirty="0"/>
          </a:p>
        </p:txBody>
      </p:sp>
      <p:sp>
        <p:nvSpPr>
          <p:cNvPr id="9" name="Shape 7"/>
          <p:cNvSpPr/>
          <p:nvPr/>
        </p:nvSpPr>
        <p:spPr>
          <a:xfrm>
            <a:off x="411480" y="2057400"/>
            <a:ext cx="4023360" cy="2606040"/>
          </a:xfrm>
          <a:prstGeom prst="rect">
            <a:avLst/>
          </a:prstGeom>
          <a:solidFill>
            <a:srgbClr val="2E4A7C"/>
          </a:solidFill>
          <a:ln w="12700">
            <a:solidFill>
              <a:srgbClr val="2E4A7C"/>
            </a:solidFill>
            <a:prstDash val="solid"/>
          </a:ln>
        </p:spPr>
      </p:sp>
      <p:sp>
        <p:nvSpPr>
          <p:cNvPr id="10" name="Text 8"/>
          <p:cNvSpPr/>
          <p:nvPr/>
        </p:nvSpPr>
        <p:spPr>
          <a:xfrm>
            <a:off x="521208" y="2084832"/>
            <a:ext cx="3803904" cy="384048"/>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Decision 1</a:t>
            </a:r>
            <a:endParaRPr lang="en-US" sz="1700" dirty="0"/>
          </a:p>
        </p:txBody>
      </p:sp>
      <p:sp>
        <p:nvSpPr>
          <p:cNvPr id="11" name="Text 9"/>
          <p:cNvSpPr/>
          <p:nvPr/>
        </p:nvSpPr>
        <p:spPr>
          <a:xfrm>
            <a:off x="521208" y="2468880"/>
            <a:ext cx="3803904" cy="329184"/>
          </a:xfrm>
          <a:prstGeom prst="rect">
            <a:avLst/>
          </a:prstGeom>
          <a:noFill/>
          <a:ln/>
        </p:spPr>
        <p:txBody>
          <a:bodyPr wrap="square" lIns="0" tIns="0" rIns="0" bIns="0" rtlCol="0" anchor="ctr"/>
          <a:lstStyle/>
          <a:p>
            <a:pPr algn="l" indent="0" marL="0">
              <a:buNone/>
            </a:pPr>
            <a:r>
              <a:rPr lang="en-US" sz="1200" b="1" dirty="0">
                <a:solidFill>
                  <a:srgbClr val="F5D78A"/>
                </a:solidFill>
                <a:latin typeface="Calibri" pitchFamily="34" charset="0"/>
                <a:ea typeface="Calibri" pitchFamily="34" charset="-122"/>
                <a:cs typeface="Calibri" pitchFamily="34" charset="-120"/>
              </a:rPr>
              <a:t>Trend Modelling</a:t>
            </a:r>
            <a:endParaRPr lang="en-US" sz="1200" dirty="0"/>
          </a:p>
        </p:txBody>
      </p:sp>
      <p:sp>
        <p:nvSpPr>
          <p:cNvPr id="12" name="Text 10"/>
          <p:cNvSpPr/>
          <p:nvPr/>
        </p:nvSpPr>
        <p:spPr>
          <a:xfrm>
            <a:off x="521208" y="2779776"/>
            <a:ext cx="3803904" cy="256032"/>
          </a:xfrm>
          <a:prstGeom prst="rect">
            <a:avLst/>
          </a:prstGeom>
          <a:noFill/>
          <a:ln/>
        </p:spPr>
        <p:txBody>
          <a:bodyPr wrap="square" lIns="0" tIns="0" rIns="0" bIns="0" rtlCol="0" anchor="ctr"/>
          <a:lstStyle/>
          <a:p>
            <a:pPr algn="l" indent="0" marL="0">
              <a:buNone/>
            </a:pPr>
            <a:r>
              <a:rPr lang="en-US" sz="900" i="1" dirty="0">
                <a:solidFill>
                  <a:srgbClr val="D8E2EE"/>
                </a:solidFill>
                <a:latin typeface="Calibri" pitchFamily="34" charset="0"/>
                <a:ea typeface="Calibri" pitchFamily="34" charset="-122"/>
                <a:cs typeface="Calibri" pitchFamily="34" charset="-120"/>
              </a:rPr>
              <a:t>Measured by: Naive_Median MAE</a:t>
            </a:r>
            <a:endParaRPr lang="en-US" sz="900" dirty="0"/>
          </a:p>
        </p:txBody>
      </p:sp>
      <p:sp>
        <p:nvSpPr>
          <p:cNvPr id="13" name="Shape 11"/>
          <p:cNvSpPr/>
          <p:nvPr/>
        </p:nvSpPr>
        <p:spPr>
          <a:xfrm>
            <a:off x="521208" y="3035808"/>
            <a:ext cx="3794760" cy="18288"/>
          </a:xfrm>
          <a:prstGeom prst="rect">
            <a:avLst/>
          </a:prstGeom>
          <a:solidFill>
            <a:srgbClr val="F5D78A"/>
          </a:solidFill>
          <a:ln w="12700">
            <a:solidFill>
              <a:srgbClr val="F5D78A"/>
            </a:solidFill>
            <a:prstDash val="solid"/>
          </a:ln>
        </p:spPr>
      </p:sp>
      <p:sp>
        <p:nvSpPr>
          <p:cNvPr id="14" name="Text 12"/>
          <p:cNvSpPr/>
          <p:nvPr/>
        </p:nvSpPr>
        <p:spPr>
          <a:xfrm>
            <a:off x="521208" y="3090672"/>
            <a:ext cx="3840480" cy="347472"/>
          </a:xfrm>
          <a:prstGeom prst="rect">
            <a:avLst/>
          </a:prstGeom>
          <a:noFill/>
          <a:ln/>
        </p:spPr>
        <p:txBody>
          <a:bodyPr wrap="square" lIns="0" tIns="0" rIns="0" bIns="0" rtlCol="0" anchor="ctr"/>
          <a:lstStyle/>
          <a:p>
            <a:pPr algn="l" indent="0" marL="0">
              <a:buNone/>
            </a:pPr>
            <a:r>
              <a:rPr lang="en-US" sz="900" b="1" dirty="0">
                <a:solidFill>
                  <a:srgbClr val="D4A853"/>
                </a:solidFill>
                <a:latin typeface="Calibri" pitchFamily="34" charset="0"/>
                <a:ea typeface="Calibri" pitchFamily="34" charset="-122"/>
                <a:cs typeface="Calibri" pitchFamily="34" charset="-120"/>
              </a:rPr>
              <a:t>▸ </a:t>
            </a:r>
            <a:pPr algn="l" indent="0" marL="0">
              <a:buNone/>
            </a:pPr>
            <a:r>
              <a:rPr lang="en-US" sz="900" dirty="0">
                <a:solidFill>
                  <a:srgbClr val="F0F4F8"/>
                </a:solidFill>
                <a:latin typeface="Calibri" pitchFamily="34" charset="0"/>
                <a:ea typeface="Calibri" pitchFamily="34" charset="-122"/>
                <a:cs typeface="Calibri" pitchFamily="34" charset="-120"/>
              </a:rPr>
              <a:t>OLS linear trend fitted on training fold only</a:t>
            </a:r>
            <a:endParaRPr lang="en-US" sz="900" dirty="0"/>
          </a:p>
        </p:txBody>
      </p:sp>
      <p:sp>
        <p:nvSpPr>
          <p:cNvPr id="15" name="Text 13"/>
          <p:cNvSpPr/>
          <p:nvPr/>
        </p:nvSpPr>
        <p:spPr>
          <a:xfrm>
            <a:off x="521208" y="3456432"/>
            <a:ext cx="3840480" cy="347472"/>
          </a:xfrm>
          <a:prstGeom prst="rect">
            <a:avLst/>
          </a:prstGeom>
          <a:noFill/>
          <a:ln/>
        </p:spPr>
        <p:txBody>
          <a:bodyPr wrap="square" lIns="0" tIns="0" rIns="0" bIns="0" rtlCol="0" anchor="ctr"/>
          <a:lstStyle/>
          <a:p>
            <a:pPr algn="l" indent="0" marL="0">
              <a:buNone/>
            </a:pPr>
            <a:r>
              <a:rPr lang="en-US" sz="900" b="1" dirty="0">
                <a:solidFill>
                  <a:srgbClr val="D4A853"/>
                </a:solidFill>
                <a:latin typeface="Calibri" pitchFamily="34" charset="0"/>
                <a:ea typeface="Calibri" pitchFamily="34" charset="-122"/>
                <a:cs typeface="Calibri" pitchFamily="34" charset="-120"/>
              </a:rPr>
              <a:t>▸ </a:t>
            </a:r>
            <a:pPr algn="l" indent="0" marL="0">
              <a:buNone/>
            </a:pPr>
            <a:r>
              <a:rPr lang="en-US" sz="900" dirty="0">
                <a:solidFill>
                  <a:srgbClr val="F0F4F8"/>
                </a:solidFill>
                <a:latin typeface="Calibri" pitchFamily="34" charset="0"/>
                <a:ea typeface="Calibri" pitchFamily="34" charset="-122"/>
                <a:cs typeface="Calibri" pitchFamily="34" charset="-120"/>
              </a:rPr>
              <a:t>Projected forward to test period</a:t>
            </a:r>
            <a:endParaRPr lang="en-US" sz="900" dirty="0"/>
          </a:p>
        </p:txBody>
      </p:sp>
      <p:sp>
        <p:nvSpPr>
          <p:cNvPr id="16" name="Text 14"/>
          <p:cNvSpPr/>
          <p:nvPr/>
        </p:nvSpPr>
        <p:spPr>
          <a:xfrm>
            <a:off x="521208" y="3822192"/>
            <a:ext cx="3840480" cy="347472"/>
          </a:xfrm>
          <a:prstGeom prst="rect">
            <a:avLst/>
          </a:prstGeom>
          <a:noFill/>
          <a:ln/>
        </p:spPr>
        <p:txBody>
          <a:bodyPr wrap="square" lIns="0" tIns="0" rIns="0" bIns="0" rtlCol="0" anchor="ctr"/>
          <a:lstStyle/>
          <a:p>
            <a:pPr algn="l" indent="0" marL="0">
              <a:buNone/>
            </a:pPr>
            <a:r>
              <a:rPr lang="en-US" sz="900" b="1" dirty="0">
                <a:solidFill>
                  <a:srgbClr val="D4A853"/>
                </a:solidFill>
                <a:latin typeface="Calibri" pitchFamily="34" charset="0"/>
                <a:ea typeface="Calibri" pitchFamily="34" charset="-122"/>
                <a:cs typeface="Calibri" pitchFamily="34" charset="-120"/>
              </a:rPr>
              <a:t>▸ </a:t>
            </a:r>
            <a:pPr algn="l" indent="0" marL="0">
              <a:buNone/>
            </a:pPr>
            <a:r>
              <a:rPr lang="en-US" sz="900" dirty="0">
                <a:solidFill>
                  <a:srgbClr val="F0F4F8"/>
                </a:solidFill>
                <a:latin typeface="Calibri" pitchFamily="34" charset="0"/>
                <a:ea typeface="Calibri" pitchFamily="34" charset="-122"/>
                <a:cs typeface="Calibri" pitchFamily="34" charset="-120"/>
              </a:rPr>
              <a:t>Naive_Median predicts residual ≈ 0 → 'on trend'</a:t>
            </a:r>
            <a:endParaRPr lang="en-US" sz="900" dirty="0"/>
          </a:p>
        </p:txBody>
      </p:sp>
      <p:sp>
        <p:nvSpPr>
          <p:cNvPr id="17" name="Text 15"/>
          <p:cNvSpPr/>
          <p:nvPr/>
        </p:nvSpPr>
        <p:spPr>
          <a:xfrm>
            <a:off x="521208" y="4187952"/>
            <a:ext cx="3840480" cy="347472"/>
          </a:xfrm>
          <a:prstGeom prst="rect">
            <a:avLst/>
          </a:prstGeom>
          <a:noFill/>
          <a:ln/>
        </p:spPr>
        <p:txBody>
          <a:bodyPr wrap="square" lIns="0" tIns="0" rIns="0" bIns="0" rtlCol="0" anchor="ctr"/>
          <a:lstStyle/>
          <a:p>
            <a:pPr algn="l" indent="0" marL="0">
              <a:buNone/>
            </a:pPr>
            <a:r>
              <a:rPr lang="en-US" sz="900" b="1" dirty="0">
                <a:solidFill>
                  <a:srgbClr val="D4A853"/>
                </a:solidFill>
                <a:latin typeface="Calibri" pitchFamily="34" charset="0"/>
                <a:ea typeface="Calibri" pitchFamily="34" charset="-122"/>
                <a:cs typeface="Calibri" pitchFamily="34" charset="-120"/>
              </a:rPr>
              <a:t>▸ </a:t>
            </a:r>
            <a:pPr algn="l" indent="0" marL="0">
              <a:buNone/>
            </a:pPr>
            <a:r>
              <a:rPr lang="en-US" sz="900" dirty="0">
                <a:solidFill>
                  <a:srgbClr val="F0F4F8"/>
                </a:solidFill>
                <a:latin typeface="Calibri" pitchFamily="34" charset="0"/>
                <a:ea typeface="Calibri" pitchFamily="34" charset="-122"/>
                <a:cs typeface="Calibri" pitchFamily="34" charset="-120"/>
              </a:rPr>
              <a:t>Bottleneck when structural shifts make linear extrapolation unreliable</a:t>
            </a:r>
            <a:endParaRPr lang="en-US" sz="900" dirty="0"/>
          </a:p>
        </p:txBody>
      </p:sp>
      <p:sp>
        <p:nvSpPr>
          <p:cNvPr id="18" name="Shape 16"/>
          <p:cNvSpPr/>
          <p:nvPr/>
        </p:nvSpPr>
        <p:spPr>
          <a:xfrm>
            <a:off x="4782312" y="2057400"/>
            <a:ext cx="4023360" cy="2606040"/>
          </a:xfrm>
          <a:prstGeom prst="rect">
            <a:avLst/>
          </a:prstGeom>
          <a:solidFill>
            <a:srgbClr val="0D7377"/>
          </a:solidFill>
          <a:ln w="12700">
            <a:solidFill>
              <a:srgbClr val="0D7377"/>
            </a:solidFill>
            <a:prstDash val="solid"/>
          </a:ln>
        </p:spPr>
      </p:sp>
      <p:sp>
        <p:nvSpPr>
          <p:cNvPr id="19" name="Text 17"/>
          <p:cNvSpPr/>
          <p:nvPr/>
        </p:nvSpPr>
        <p:spPr>
          <a:xfrm>
            <a:off x="4892040" y="2084832"/>
            <a:ext cx="3803904" cy="384048"/>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Decision 2</a:t>
            </a:r>
            <a:endParaRPr lang="en-US" sz="1700" dirty="0"/>
          </a:p>
        </p:txBody>
      </p:sp>
      <p:sp>
        <p:nvSpPr>
          <p:cNvPr id="20" name="Text 18"/>
          <p:cNvSpPr/>
          <p:nvPr/>
        </p:nvSpPr>
        <p:spPr>
          <a:xfrm>
            <a:off x="4892040" y="2468880"/>
            <a:ext cx="3803904" cy="329184"/>
          </a:xfrm>
          <a:prstGeom prst="rect">
            <a:avLst/>
          </a:prstGeom>
          <a:noFill/>
          <a:ln/>
        </p:spPr>
        <p:txBody>
          <a:bodyPr wrap="square" lIns="0" tIns="0" rIns="0" bIns="0" rtlCol="0" anchor="ctr"/>
          <a:lstStyle/>
          <a:p>
            <a:pPr algn="l" indent="0" marL="0">
              <a:buNone/>
            </a:pPr>
            <a:r>
              <a:rPr lang="en-US" sz="1200" b="1" dirty="0">
                <a:solidFill>
                  <a:srgbClr val="F5D78A"/>
                </a:solidFill>
                <a:latin typeface="Calibri" pitchFamily="34" charset="0"/>
                <a:ea typeface="Calibri" pitchFamily="34" charset="-122"/>
                <a:cs typeface="Calibri" pitchFamily="34" charset="-120"/>
              </a:rPr>
              <a:t>Climate Signal Extraction</a:t>
            </a:r>
            <a:endParaRPr lang="en-US" sz="1200" dirty="0"/>
          </a:p>
        </p:txBody>
      </p:sp>
      <p:sp>
        <p:nvSpPr>
          <p:cNvPr id="21" name="Text 19"/>
          <p:cNvSpPr/>
          <p:nvPr/>
        </p:nvSpPr>
        <p:spPr>
          <a:xfrm>
            <a:off x="4892040" y="2779776"/>
            <a:ext cx="3803904" cy="256032"/>
          </a:xfrm>
          <a:prstGeom prst="rect">
            <a:avLst/>
          </a:prstGeom>
          <a:noFill/>
          <a:ln/>
        </p:spPr>
        <p:txBody>
          <a:bodyPr wrap="square" lIns="0" tIns="0" rIns="0" bIns="0" rtlCol="0" anchor="ctr"/>
          <a:lstStyle/>
          <a:p>
            <a:pPr algn="l" indent="0" marL="0">
              <a:buNone/>
            </a:pPr>
            <a:r>
              <a:rPr lang="en-US" sz="900" i="1" dirty="0">
                <a:solidFill>
                  <a:srgbClr val="D8E2EE"/>
                </a:solidFill>
                <a:latin typeface="Calibri" pitchFamily="34" charset="0"/>
                <a:ea typeface="Calibri" pitchFamily="34" charset="-122"/>
                <a:cs typeface="Calibri" pitchFamily="34" charset="-120"/>
              </a:rPr>
              <a:t>Measured by: Gap = Model MAE − Naive_Median MAE</a:t>
            </a:r>
            <a:endParaRPr lang="en-US" sz="900" dirty="0"/>
          </a:p>
        </p:txBody>
      </p:sp>
      <p:sp>
        <p:nvSpPr>
          <p:cNvPr id="22" name="Shape 20"/>
          <p:cNvSpPr/>
          <p:nvPr/>
        </p:nvSpPr>
        <p:spPr>
          <a:xfrm>
            <a:off x="4892040" y="3035808"/>
            <a:ext cx="3794760" cy="18288"/>
          </a:xfrm>
          <a:prstGeom prst="rect">
            <a:avLst/>
          </a:prstGeom>
          <a:solidFill>
            <a:srgbClr val="F5D78A"/>
          </a:solidFill>
          <a:ln w="12700">
            <a:solidFill>
              <a:srgbClr val="F5D78A"/>
            </a:solidFill>
            <a:prstDash val="solid"/>
          </a:ln>
        </p:spPr>
      </p:sp>
      <p:sp>
        <p:nvSpPr>
          <p:cNvPr id="23" name="Text 21"/>
          <p:cNvSpPr/>
          <p:nvPr/>
        </p:nvSpPr>
        <p:spPr>
          <a:xfrm>
            <a:off x="4892040" y="3090672"/>
            <a:ext cx="3840480" cy="347472"/>
          </a:xfrm>
          <a:prstGeom prst="rect">
            <a:avLst/>
          </a:prstGeom>
          <a:noFill/>
          <a:ln/>
        </p:spPr>
        <p:txBody>
          <a:bodyPr wrap="square" lIns="0" tIns="0" rIns="0" bIns="0" rtlCol="0" anchor="ctr"/>
          <a:lstStyle/>
          <a:p>
            <a:pPr algn="l" indent="0" marL="0">
              <a:buNone/>
            </a:pPr>
            <a:r>
              <a:rPr lang="en-US" sz="900" b="1" dirty="0">
                <a:solidFill>
                  <a:srgbClr val="D4A853"/>
                </a:solidFill>
                <a:latin typeface="Calibri" pitchFamily="34" charset="0"/>
                <a:ea typeface="Calibri" pitchFamily="34" charset="-122"/>
                <a:cs typeface="Calibri" pitchFamily="34" charset="-120"/>
              </a:rPr>
              <a:t>▸ </a:t>
            </a:r>
            <a:pPr algn="l" indent="0" marL="0">
              <a:buNone/>
            </a:pPr>
            <a:r>
              <a:rPr lang="en-US" sz="900" dirty="0">
                <a:solidFill>
                  <a:srgbClr val="F0F4F8"/>
                </a:solidFill>
                <a:latin typeface="Calibri" pitchFamily="34" charset="0"/>
                <a:ea typeface="Calibri" pitchFamily="34" charset="-122"/>
                <a:cs typeface="Calibri" pitchFamily="34" charset="-120"/>
              </a:rPr>
              <a:t>Rules must beat zero-residual prediction</a:t>
            </a:r>
            <a:endParaRPr lang="en-US" sz="900" dirty="0"/>
          </a:p>
        </p:txBody>
      </p:sp>
      <p:sp>
        <p:nvSpPr>
          <p:cNvPr id="24" name="Text 22"/>
          <p:cNvSpPr/>
          <p:nvPr/>
        </p:nvSpPr>
        <p:spPr>
          <a:xfrm>
            <a:off x="4892040" y="3456432"/>
            <a:ext cx="3840480" cy="347472"/>
          </a:xfrm>
          <a:prstGeom prst="rect">
            <a:avLst/>
          </a:prstGeom>
          <a:noFill/>
          <a:ln/>
        </p:spPr>
        <p:txBody>
          <a:bodyPr wrap="square" lIns="0" tIns="0" rIns="0" bIns="0" rtlCol="0" anchor="ctr"/>
          <a:lstStyle/>
          <a:p>
            <a:pPr algn="l" indent="0" marL="0">
              <a:buNone/>
            </a:pPr>
            <a:r>
              <a:rPr lang="en-US" sz="900" b="1" dirty="0">
                <a:solidFill>
                  <a:srgbClr val="D4A853"/>
                </a:solidFill>
                <a:latin typeface="Calibri" pitchFamily="34" charset="0"/>
                <a:ea typeface="Calibri" pitchFamily="34" charset="-122"/>
                <a:cs typeface="Calibri" pitchFamily="34" charset="-120"/>
              </a:rPr>
              <a:t>▸ </a:t>
            </a:r>
            <a:pPr algn="l" indent="0" marL="0">
              <a:buNone/>
            </a:pPr>
            <a:r>
              <a:rPr lang="en-US" sz="900" dirty="0">
                <a:solidFill>
                  <a:srgbClr val="F0F4F8"/>
                </a:solidFill>
                <a:latin typeface="Calibri" pitchFamily="34" charset="0"/>
                <a:ea typeface="Calibri" pitchFamily="34" charset="-122"/>
                <a:cs typeface="Calibri" pitchFamily="34" charset="-120"/>
              </a:rPr>
              <a:t>Negative gap = CarenR wins (signal extracted)</a:t>
            </a:r>
            <a:endParaRPr lang="en-US" sz="900" dirty="0"/>
          </a:p>
        </p:txBody>
      </p:sp>
      <p:sp>
        <p:nvSpPr>
          <p:cNvPr id="25" name="Text 23"/>
          <p:cNvSpPr/>
          <p:nvPr/>
        </p:nvSpPr>
        <p:spPr>
          <a:xfrm>
            <a:off x="4892040" y="3822192"/>
            <a:ext cx="3840480" cy="347472"/>
          </a:xfrm>
          <a:prstGeom prst="rect">
            <a:avLst/>
          </a:prstGeom>
          <a:noFill/>
          <a:ln/>
        </p:spPr>
        <p:txBody>
          <a:bodyPr wrap="square" lIns="0" tIns="0" rIns="0" bIns="0" rtlCol="0" anchor="ctr"/>
          <a:lstStyle/>
          <a:p>
            <a:pPr algn="l" indent="0" marL="0">
              <a:buNone/>
            </a:pPr>
            <a:r>
              <a:rPr lang="en-US" sz="900" b="1" dirty="0">
                <a:solidFill>
                  <a:srgbClr val="D4A853"/>
                </a:solidFill>
                <a:latin typeface="Calibri" pitchFamily="34" charset="0"/>
                <a:ea typeface="Calibri" pitchFamily="34" charset="-122"/>
                <a:cs typeface="Calibri" pitchFamily="34" charset="-120"/>
              </a:rPr>
              <a:t>▸ </a:t>
            </a:r>
            <a:pPr algn="l" indent="0" marL="0">
              <a:buNone/>
            </a:pPr>
            <a:r>
              <a:rPr lang="en-US" sz="900" dirty="0">
                <a:solidFill>
                  <a:srgbClr val="F0F4F8"/>
                </a:solidFill>
                <a:latin typeface="Calibri" pitchFamily="34" charset="0"/>
                <a:ea typeface="Calibri" pitchFamily="34" charset="-122"/>
                <a:cs typeface="Calibri" pitchFamily="34" charset="-120"/>
              </a:rPr>
              <a:t>Positive gap = CarenR worse (noise added)</a:t>
            </a:r>
            <a:endParaRPr lang="en-US" sz="900" dirty="0"/>
          </a:p>
        </p:txBody>
      </p:sp>
      <p:sp>
        <p:nvSpPr>
          <p:cNvPr id="26" name="Text 24"/>
          <p:cNvSpPr/>
          <p:nvPr/>
        </p:nvSpPr>
        <p:spPr>
          <a:xfrm>
            <a:off x="4892040" y="4187952"/>
            <a:ext cx="3840480" cy="347472"/>
          </a:xfrm>
          <a:prstGeom prst="rect">
            <a:avLst/>
          </a:prstGeom>
          <a:noFill/>
          <a:ln/>
        </p:spPr>
        <p:txBody>
          <a:bodyPr wrap="square" lIns="0" tIns="0" rIns="0" bIns="0" rtlCol="0" anchor="ctr"/>
          <a:lstStyle/>
          <a:p>
            <a:pPr algn="l" indent="0" marL="0">
              <a:buNone/>
            </a:pPr>
            <a:r>
              <a:rPr lang="en-US" sz="900" b="1" dirty="0">
                <a:solidFill>
                  <a:srgbClr val="D4A853"/>
                </a:solidFill>
                <a:latin typeface="Calibri" pitchFamily="34" charset="0"/>
                <a:ea typeface="Calibri" pitchFamily="34" charset="-122"/>
                <a:cs typeface="Calibri" pitchFamily="34" charset="-120"/>
              </a:rPr>
              <a:t>▸ </a:t>
            </a:r>
            <a:pPr algn="l" indent="0" marL="0">
              <a:buNone/>
            </a:pPr>
            <a:r>
              <a:rPr lang="en-US" sz="900" dirty="0">
                <a:solidFill>
                  <a:srgbClr val="F0F4F8"/>
                </a:solidFill>
                <a:latin typeface="Calibri" pitchFamily="34" charset="0"/>
                <a:ea typeface="Calibri" pitchFamily="34" charset="-122"/>
                <a:cs typeface="Calibri" pitchFamily="34" charset="-120"/>
              </a:rPr>
              <a:t>Bottleneck when signal too weak or era-contaminated</a:t>
            </a:r>
            <a:endParaRPr lang="en-US" sz="900" dirty="0"/>
          </a:p>
        </p:txBody>
      </p:sp>
      <p:sp>
        <p:nvSpPr>
          <p:cNvPr id="27" name="Shape 25"/>
          <p:cNvSpPr/>
          <p:nvPr/>
        </p:nvSpPr>
        <p:spPr>
          <a:xfrm>
            <a:off x="411480" y="4773168"/>
            <a:ext cx="8321040" cy="265176"/>
          </a:xfrm>
          <a:prstGeom prst="rect">
            <a:avLst/>
          </a:prstGeom>
          <a:solidFill>
            <a:srgbClr val="B03A2E"/>
          </a:solidFill>
          <a:ln w="12700">
            <a:solidFill>
              <a:srgbClr val="B03A2E"/>
            </a:solidFill>
            <a:prstDash val="solid"/>
          </a:ln>
        </p:spPr>
      </p:sp>
      <p:sp>
        <p:nvSpPr>
          <p:cNvPr id="28" name="Text 26"/>
          <p:cNvSpPr/>
          <p:nvPr/>
        </p:nvSpPr>
        <p:spPr>
          <a:xfrm>
            <a:off x="411480" y="4773168"/>
            <a:ext cx="8321040" cy="26517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KEY TENSION: Improving Decision 1 (better detrending) removes the structured residuals that Decision 2 needs. LOESS detrending for RVV: baseline improves 140→90 mhl (−36%) but eliminates ALL CarenR rules.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53"/>
          </a:solidFill>
          <a:ln w="12700">
            <a:solidFill>
              <a:srgbClr val="D4A853"/>
            </a:solidFill>
            <a:prstDash val="solid"/>
          </a:ln>
        </p:spPr>
      </p:sp>
      <p:sp>
        <p:nvSpPr>
          <p:cNvPr id="3" name="Text 1"/>
          <p:cNvSpPr/>
          <p:nvPr/>
        </p:nvSpPr>
        <p:spPr>
          <a:xfrm>
            <a:off x="457200" y="109728"/>
            <a:ext cx="8229600" cy="50292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Goal 1 – Rule Discovery Results</a:t>
            </a:r>
            <a:endParaRPr lang="en-US" sz="2200" dirty="0"/>
          </a:p>
        </p:txBody>
      </p:sp>
      <p:sp>
        <p:nvSpPr>
          <p:cNvPr id="4" name="Text 2"/>
          <p:cNvSpPr/>
          <p:nvPr/>
        </p:nvSpPr>
        <p:spPr>
          <a:xfrm>
            <a:off x="457200" y="612648"/>
            <a:ext cx="8229600" cy="256032"/>
          </a:xfrm>
          <a:prstGeom prst="rect">
            <a:avLst/>
          </a:prstGeom>
          <a:noFill/>
          <a:ln/>
        </p:spPr>
        <p:txBody>
          <a:bodyPr wrap="square" lIns="0" tIns="0" rIns="0" bIns="0" rtlCol="0" anchor="ctr"/>
          <a:lstStyle/>
          <a:p>
            <a:pPr algn="l" indent="0" marL="0">
              <a:buNone/>
            </a:pPr>
            <a:r>
              <a:rPr lang="en-US" sz="1100" i="1" dirty="0">
                <a:solidFill>
                  <a:srgbClr val="D4A853"/>
                </a:solidFill>
                <a:latin typeface="Calibri" pitchFamily="34" charset="0"/>
                <a:ea typeface="Calibri" pitchFamily="34" charset="-122"/>
                <a:cs typeface="Calibri" pitchFamily="34" charset="-120"/>
              </a:rPr>
              <a:t>CarenR successfully extracts statistically validated patterns from 89 and 80 years of data</a:t>
            </a:r>
            <a:endParaRPr lang="en-US" sz="1100" dirty="0"/>
          </a:p>
        </p:txBody>
      </p:sp>
      <p:sp>
        <p:nvSpPr>
          <p:cNvPr id="5" name="Shape 3"/>
          <p:cNvSpPr/>
          <p:nvPr/>
        </p:nvSpPr>
        <p:spPr>
          <a:xfrm>
            <a:off x="457200" y="896112"/>
            <a:ext cx="8229600" cy="18288"/>
          </a:xfrm>
          <a:prstGeom prst="rect">
            <a:avLst/>
          </a:prstGeom>
          <a:solidFill>
            <a:srgbClr val="D8E2EE"/>
          </a:solidFill>
          <a:ln w="12700">
            <a:solidFill>
              <a:srgbClr val="D8E2EE"/>
            </a:solidFill>
            <a:prstDash val="solid"/>
          </a:ln>
        </p:spPr>
      </p:sp>
      <p:sp>
        <p:nvSpPr>
          <p:cNvPr id="6" name="Shape 4"/>
          <p:cNvSpPr/>
          <p:nvPr/>
        </p:nvSpPr>
        <p:spPr>
          <a:xfrm>
            <a:off x="411480" y="1005840"/>
            <a:ext cx="3840480" cy="3246120"/>
          </a:xfrm>
          <a:prstGeom prst="rect">
            <a:avLst/>
          </a:prstGeom>
          <a:solidFill>
            <a:srgbClr val="D8E2EE"/>
          </a:solidFill>
          <a:ln w="12700">
            <a:solidFill>
              <a:srgbClr val="D8E2EE"/>
            </a:solidFill>
            <a:prstDash val="solid"/>
          </a:ln>
        </p:spPr>
      </p:sp>
      <p:sp>
        <p:nvSpPr>
          <p:cNvPr id="7" name="Shape 5"/>
          <p:cNvSpPr/>
          <p:nvPr/>
        </p:nvSpPr>
        <p:spPr>
          <a:xfrm>
            <a:off x="411480" y="1005840"/>
            <a:ext cx="3840480" cy="365760"/>
          </a:xfrm>
          <a:prstGeom prst="rect">
            <a:avLst/>
          </a:prstGeom>
          <a:solidFill>
            <a:srgbClr val="2E4A7C"/>
          </a:solidFill>
          <a:ln w="12700">
            <a:solidFill>
              <a:srgbClr val="2E4A7C"/>
            </a:solidFill>
            <a:prstDash val="solid"/>
          </a:ln>
        </p:spPr>
      </p:sp>
      <p:sp>
        <p:nvSpPr>
          <p:cNvPr id="8" name="Text 6"/>
          <p:cNvSpPr/>
          <p:nvPr/>
        </p:nvSpPr>
        <p:spPr>
          <a:xfrm>
            <a:off x="502920" y="1005840"/>
            <a:ext cx="36576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Douro (RDD)</a:t>
            </a:r>
            <a:endParaRPr lang="en-US" sz="1300" dirty="0"/>
          </a:p>
        </p:txBody>
      </p:sp>
      <p:sp>
        <p:nvSpPr>
          <p:cNvPr id="9" name="Text 7"/>
          <p:cNvSpPr/>
          <p:nvPr/>
        </p:nvSpPr>
        <p:spPr>
          <a:xfrm>
            <a:off x="521208" y="1426464"/>
            <a:ext cx="1234440" cy="347472"/>
          </a:xfrm>
          <a:prstGeom prst="rect">
            <a:avLst/>
          </a:prstGeom>
          <a:noFill/>
          <a:ln/>
        </p:spPr>
        <p:txBody>
          <a:bodyPr wrap="square" lIns="0" tIns="0" rIns="0" bIns="0" rtlCol="0" anchor="t"/>
          <a:lstStyle/>
          <a:p>
            <a:pPr algn="l" indent="0" marL="0">
              <a:buNone/>
            </a:pPr>
            <a:r>
              <a:rPr lang="en-US" sz="850" b="1" dirty="0">
                <a:solidFill>
                  <a:srgbClr val="7F8FA6"/>
                </a:solidFill>
                <a:latin typeface="Calibri" pitchFamily="34" charset="0"/>
                <a:ea typeface="Calibri" pitchFamily="34" charset="-122"/>
                <a:cs typeface="Calibri" pitchFamily="34" charset="-120"/>
              </a:rPr>
              <a:t>Rules discovered:</a:t>
            </a:r>
            <a:endParaRPr lang="en-US" sz="850" dirty="0"/>
          </a:p>
        </p:txBody>
      </p:sp>
      <p:sp>
        <p:nvSpPr>
          <p:cNvPr id="10" name="Text 8"/>
          <p:cNvSpPr/>
          <p:nvPr/>
        </p:nvSpPr>
        <p:spPr>
          <a:xfrm>
            <a:off x="1801368" y="1426464"/>
            <a:ext cx="2377440" cy="475488"/>
          </a:xfrm>
          <a:prstGeom prst="rect">
            <a:avLst/>
          </a:prstGeom>
          <a:noFill/>
          <a:ln/>
        </p:spPr>
        <p:txBody>
          <a:bodyPr wrap="square" lIns="0" tIns="0" rIns="0" bIns="0" rtlCol="0" anchor="t"/>
          <a:lstStyle/>
          <a:p>
            <a:pPr algn="l" indent="0" marL="0">
              <a:buNone/>
            </a:pPr>
            <a:r>
              <a:rPr lang="en-US" sz="950" dirty="0">
                <a:solidFill>
                  <a:srgbClr val="1A2A3A"/>
                </a:solidFill>
                <a:latin typeface="Calibri" pitchFamily="34" charset="0"/>
                <a:ea typeface="Calibri" pitchFamily="34" charset="-122"/>
                <a:cs typeface="Calibri" pitchFamily="34" charset="-120"/>
              </a:rPr>
              <a:t>48 rules found</a:t>
            </a:r>
            <a:endParaRPr lang="en-US" sz="950" dirty="0"/>
          </a:p>
        </p:txBody>
      </p:sp>
      <p:sp>
        <p:nvSpPr>
          <p:cNvPr id="11" name="Text 9"/>
          <p:cNvSpPr/>
          <p:nvPr/>
        </p:nvSpPr>
        <p:spPr>
          <a:xfrm>
            <a:off x="521208" y="1956816"/>
            <a:ext cx="1234440" cy="347472"/>
          </a:xfrm>
          <a:prstGeom prst="rect">
            <a:avLst/>
          </a:prstGeom>
          <a:noFill/>
          <a:ln/>
        </p:spPr>
        <p:txBody>
          <a:bodyPr wrap="square" lIns="0" tIns="0" rIns="0" bIns="0" rtlCol="0" anchor="t"/>
          <a:lstStyle/>
          <a:p>
            <a:pPr algn="l" indent="0" marL="0">
              <a:buNone/>
            </a:pPr>
            <a:r>
              <a:rPr lang="en-US" sz="850" b="1" dirty="0">
                <a:solidFill>
                  <a:srgbClr val="7F8FA6"/>
                </a:solidFill>
                <a:latin typeface="Calibri" pitchFamily="34" charset="0"/>
                <a:ea typeface="Calibri" pitchFamily="34" charset="-122"/>
                <a:cs typeface="Calibri" pitchFamily="34" charset="-120"/>
              </a:rPr>
              <a:t>Dominant features:</a:t>
            </a:r>
            <a:endParaRPr lang="en-US" sz="850" dirty="0"/>
          </a:p>
        </p:txBody>
      </p:sp>
      <p:sp>
        <p:nvSpPr>
          <p:cNvPr id="12" name="Text 10"/>
          <p:cNvSpPr/>
          <p:nvPr/>
        </p:nvSpPr>
        <p:spPr>
          <a:xfrm>
            <a:off x="1801368" y="1956816"/>
            <a:ext cx="2377440" cy="475488"/>
          </a:xfrm>
          <a:prstGeom prst="rect">
            <a:avLst/>
          </a:prstGeom>
          <a:noFill/>
          <a:ln/>
        </p:spPr>
        <p:txBody>
          <a:bodyPr wrap="square" lIns="0" tIns="0" rIns="0" bIns="0" rtlCol="0" anchor="t"/>
          <a:lstStyle/>
          <a:p>
            <a:pPr algn="l" indent="0" marL="0">
              <a:buNone/>
            </a:pPr>
            <a:r>
              <a:rPr lang="en-US" sz="950" dirty="0">
                <a:solidFill>
                  <a:srgbClr val="1A2A3A"/>
                </a:solidFill>
                <a:latin typeface="Calibri" pitchFamily="34" charset="0"/>
                <a:ea typeface="Calibri" pitchFamily="34" charset="-122"/>
                <a:cs typeface="Calibri" pitchFamily="34" charset="-120"/>
              </a:rPr>
              <a:t>Harvest soil water: 54% of rules</a:t>
            </a:r>
            <a:endParaRPr lang="en-US" sz="950" dirty="0"/>
          </a:p>
          <a:p>
            <a:pPr algn="l" indent="0" marL="0">
              <a:buNone/>
            </a:pPr>
            <a:r>
              <a:rPr lang="en-US" sz="950" dirty="0">
                <a:solidFill>
                  <a:srgbClr val="1A2A3A"/>
                </a:solidFill>
                <a:latin typeface="Calibri" pitchFamily="34" charset="0"/>
                <a:ea typeface="Calibri" pitchFamily="34" charset="-122"/>
                <a:cs typeface="Calibri" pitchFamily="34" charset="-120"/>
              </a:rPr>
              <a:t>Post-flowering wet days: 2nd most frequent</a:t>
            </a:r>
            <a:endParaRPr lang="en-US" sz="950" dirty="0"/>
          </a:p>
        </p:txBody>
      </p:sp>
      <p:sp>
        <p:nvSpPr>
          <p:cNvPr id="13" name="Text 11"/>
          <p:cNvSpPr/>
          <p:nvPr/>
        </p:nvSpPr>
        <p:spPr>
          <a:xfrm>
            <a:off x="521208" y="2487168"/>
            <a:ext cx="1234440" cy="347472"/>
          </a:xfrm>
          <a:prstGeom prst="rect">
            <a:avLst/>
          </a:prstGeom>
          <a:noFill/>
          <a:ln/>
        </p:spPr>
        <p:txBody>
          <a:bodyPr wrap="square" lIns="0" tIns="0" rIns="0" bIns="0" rtlCol="0" anchor="t"/>
          <a:lstStyle/>
          <a:p>
            <a:pPr algn="l" indent="0" marL="0">
              <a:buNone/>
            </a:pPr>
            <a:r>
              <a:rPr lang="en-US" sz="850" b="1" dirty="0">
                <a:solidFill>
                  <a:srgbClr val="7F8FA6"/>
                </a:solidFill>
                <a:latin typeface="Calibri" pitchFamily="34" charset="0"/>
                <a:ea typeface="Calibri" pitchFamily="34" charset="-122"/>
                <a:cs typeface="Calibri" pitchFamily="34" charset="-120"/>
              </a:rPr>
              <a:t>Directionality:</a:t>
            </a:r>
            <a:endParaRPr lang="en-US" sz="850" dirty="0"/>
          </a:p>
        </p:txBody>
      </p:sp>
      <p:sp>
        <p:nvSpPr>
          <p:cNvPr id="14" name="Text 12"/>
          <p:cNvSpPr/>
          <p:nvPr/>
        </p:nvSpPr>
        <p:spPr>
          <a:xfrm>
            <a:off x="1801368" y="2487168"/>
            <a:ext cx="2377440" cy="475488"/>
          </a:xfrm>
          <a:prstGeom prst="rect">
            <a:avLst/>
          </a:prstGeom>
          <a:noFill/>
          <a:ln/>
        </p:spPr>
        <p:txBody>
          <a:bodyPr wrap="square" lIns="0" tIns="0" rIns="0" bIns="0" rtlCol="0" anchor="t"/>
          <a:lstStyle/>
          <a:p>
            <a:pPr algn="l" indent="0" marL="0">
              <a:buNone/>
            </a:pPr>
            <a:r>
              <a:rPr lang="en-US" sz="950" dirty="0">
                <a:solidFill>
                  <a:srgbClr val="1A2A3A"/>
                </a:solidFill>
                <a:latin typeface="Calibri" pitchFamily="34" charset="0"/>
                <a:ea typeface="Calibri" pitchFamily="34" charset="-122"/>
                <a:cs typeface="Calibri" pitchFamily="34" charset="-120"/>
              </a:rPr>
              <a:t>31/48 rules → ABOVE-trend (65%)</a:t>
            </a:r>
            <a:endParaRPr lang="en-US" sz="950" dirty="0"/>
          </a:p>
        </p:txBody>
      </p:sp>
      <p:sp>
        <p:nvSpPr>
          <p:cNvPr id="15" name="Text 13"/>
          <p:cNvSpPr/>
          <p:nvPr/>
        </p:nvSpPr>
        <p:spPr>
          <a:xfrm>
            <a:off x="521208" y="3017520"/>
            <a:ext cx="1234440" cy="347472"/>
          </a:xfrm>
          <a:prstGeom prst="rect">
            <a:avLst/>
          </a:prstGeom>
          <a:noFill/>
          <a:ln/>
        </p:spPr>
        <p:txBody>
          <a:bodyPr wrap="square" lIns="0" tIns="0" rIns="0" bIns="0" rtlCol="0" anchor="t"/>
          <a:lstStyle/>
          <a:p>
            <a:pPr algn="l" indent="0" marL="0">
              <a:buNone/>
            </a:pPr>
            <a:r>
              <a:rPr lang="en-US" sz="850" b="1" dirty="0">
                <a:solidFill>
                  <a:srgbClr val="7F8FA6"/>
                </a:solidFill>
                <a:latin typeface="Calibri" pitchFamily="34" charset="0"/>
                <a:ea typeface="Calibri" pitchFamily="34" charset="-122"/>
                <a:cs typeface="Calibri" pitchFamily="34" charset="-120"/>
              </a:rPr>
              <a:t>Statistical strength:</a:t>
            </a:r>
            <a:endParaRPr lang="en-US" sz="850" dirty="0"/>
          </a:p>
        </p:txBody>
      </p:sp>
      <p:sp>
        <p:nvSpPr>
          <p:cNvPr id="16" name="Text 14"/>
          <p:cNvSpPr/>
          <p:nvPr/>
        </p:nvSpPr>
        <p:spPr>
          <a:xfrm>
            <a:off x="1801368" y="3017520"/>
            <a:ext cx="2377440" cy="475488"/>
          </a:xfrm>
          <a:prstGeom prst="rect">
            <a:avLst/>
          </a:prstGeom>
          <a:noFill/>
          <a:ln/>
        </p:spPr>
        <p:txBody>
          <a:bodyPr wrap="square" lIns="0" tIns="0" rIns="0" bIns="0" rtlCol="0" anchor="t"/>
          <a:lstStyle/>
          <a:p>
            <a:pPr algn="l" indent="0" marL="0">
              <a:buNone/>
            </a:pPr>
            <a:r>
              <a:rPr lang="en-US" sz="950" dirty="0">
                <a:solidFill>
                  <a:srgbClr val="1A2A3A"/>
                </a:solidFill>
                <a:latin typeface="Calibri" pitchFamily="34" charset="0"/>
                <a:ea typeface="Calibri" pitchFamily="34" charset="-122"/>
                <a:cs typeface="Calibri" pitchFamily="34" charset="-120"/>
              </a:rPr>
              <a:t>Best rule: p = 0.0043, support 28%</a:t>
            </a:r>
            <a:endParaRPr lang="en-US" sz="950" dirty="0"/>
          </a:p>
        </p:txBody>
      </p:sp>
      <p:sp>
        <p:nvSpPr>
          <p:cNvPr id="17" name="Shape 15"/>
          <p:cNvSpPr/>
          <p:nvPr/>
        </p:nvSpPr>
        <p:spPr>
          <a:xfrm>
            <a:off x="502920" y="2724912"/>
            <a:ext cx="3657600" cy="585216"/>
          </a:xfrm>
          <a:prstGeom prst="rect">
            <a:avLst/>
          </a:prstGeom>
          <a:solidFill>
            <a:srgbClr val="1B2B45"/>
          </a:solidFill>
          <a:ln w="12700">
            <a:solidFill>
              <a:srgbClr val="1B2B45"/>
            </a:solidFill>
            <a:prstDash val="solid"/>
          </a:ln>
        </p:spPr>
      </p:sp>
      <p:sp>
        <p:nvSpPr>
          <p:cNvPr id="18" name="Text 16"/>
          <p:cNvSpPr/>
          <p:nvPr/>
        </p:nvSpPr>
        <p:spPr>
          <a:xfrm>
            <a:off x="548640" y="2743200"/>
            <a:ext cx="3566160" cy="548640"/>
          </a:xfrm>
          <a:prstGeom prst="rect">
            <a:avLst/>
          </a:prstGeom>
          <a:noFill/>
          <a:ln/>
        </p:spPr>
        <p:txBody>
          <a:bodyPr wrap="square" lIns="0" tIns="0" rIns="0" bIns="0" rtlCol="0" anchor="ctr"/>
          <a:lstStyle/>
          <a:p>
            <a:pPr algn="l" indent="0" marL="0">
              <a:buNone/>
            </a:pPr>
            <a:r>
              <a:rPr lang="en-US" sz="800" dirty="0">
                <a:solidFill>
                  <a:srgbClr val="F5D78A"/>
                </a:solidFill>
                <a:latin typeface="Calibri" pitchFamily="34" charset="0"/>
                <a:ea typeface="Calibri" pitchFamily="34" charset="-122"/>
                <a:cs typeface="Calibri" pitchFamily="34" charset="-120"/>
              </a:rPr>
              <a:t>IF wet days post-Flowering ∈ [0–3.3d]</a:t>
            </a:r>
            <a:endParaRPr lang="en-US" sz="800" dirty="0"/>
          </a:p>
          <a:p>
            <a:pPr algn="l" indent="0" marL="0">
              <a:buNone/>
            </a:pPr>
            <a:r>
              <a:rPr lang="en-US" sz="800" dirty="0">
                <a:solidFill>
                  <a:srgbClr val="F5D78A"/>
                </a:solidFill>
                <a:latin typeface="Calibri" pitchFamily="34" charset="0"/>
                <a:ea typeface="Calibri" pitchFamily="34" charset="-122"/>
                <a:cs typeface="Calibri" pitchFamily="34" charset="-120"/>
              </a:rPr>
              <a:t>AND wet days post-Maturity ∈ [0–3.5d]</a:t>
            </a:r>
            <a:endParaRPr lang="en-US" sz="800" dirty="0"/>
          </a:p>
          <a:p>
            <a:pPr algn="l" indent="0" marL="0">
              <a:buNone/>
            </a:pPr>
            <a:r>
              <a:rPr lang="en-US" sz="800" dirty="0">
                <a:solidFill>
                  <a:srgbClr val="F5D78A"/>
                </a:solidFill>
                <a:latin typeface="Calibri" pitchFamily="34" charset="0"/>
                <a:ea typeface="Calibri" pitchFamily="34" charset="-122"/>
                <a:cs typeface="Calibri" pitchFamily="34" charset="-120"/>
              </a:rPr>
              <a:t>THEN production +121 mhl (support 28%, p=0.0043)</a:t>
            </a:r>
            <a:endParaRPr lang="en-US" sz="800" dirty="0"/>
          </a:p>
        </p:txBody>
      </p:sp>
      <p:sp>
        <p:nvSpPr>
          <p:cNvPr id="19" name="Shape 17"/>
          <p:cNvSpPr/>
          <p:nvPr/>
        </p:nvSpPr>
        <p:spPr>
          <a:xfrm>
            <a:off x="4709160" y="1005840"/>
            <a:ext cx="3840480" cy="3246120"/>
          </a:xfrm>
          <a:prstGeom prst="rect">
            <a:avLst/>
          </a:prstGeom>
          <a:solidFill>
            <a:srgbClr val="D8E2EE"/>
          </a:solidFill>
          <a:ln w="12700">
            <a:solidFill>
              <a:srgbClr val="D8E2EE"/>
            </a:solidFill>
            <a:prstDash val="solid"/>
          </a:ln>
        </p:spPr>
      </p:sp>
      <p:sp>
        <p:nvSpPr>
          <p:cNvPr id="20" name="Shape 18"/>
          <p:cNvSpPr/>
          <p:nvPr/>
        </p:nvSpPr>
        <p:spPr>
          <a:xfrm>
            <a:off x="4709160" y="1005840"/>
            <a:ext cx="3840480" cy="365760"/>
          </a:xfrm>
          <a:prstGeom prst="rect">
            <a:avLst/>
          </a:prstGeom>
          <a:solidFill>
            <a:srgbClr val="0D7377"/>
          </a:solidFill>
          <a:ln w="12700">
            <a:solidFill>
              <a:srgbClr val="0D7377"/>
            </a:solidFill>
            <a:prstDash val="solid"/>
          </a:ln>
        </p:spPr>
      </p:sp>
      <p:sp>
        <p:nvSpPr>
          <p:cNvPr id="21" name="Text 19"/>
          <p:cNvSpPr/>
          <p:nvPr/>
        </p:nvSpPr>
        <p:spPr>
          <a:xfrm>
            <a:off x="4800600" y="1005840"/>
            <a:ext cx="36576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Vinho Verde (RVV)</a:t>
            </a:r>
            <a:endParaRPr lang="en-US" sz="1300" dirty="0"/>
          </a:p>
        </p:txBody>
      </p:sp>
      <p:sp>
        <p:nvSpPr>
          <p:cNvPr id="22" name="Text 20"/>
          <p:cNvSpPr/>
          <p:nvPr/>
        </p:nvSpPr>
        <p:spPr>
          <a:xfrm>
            <a:off x="4818888" y="1426464"/>
            <a:ext cx="1234440" cy="347472"/>
          </a:xfrm>
          <a:prstGeom prst="rect">
            <a:avLst/>
          </a:prstGeom>
          <a:noFill/>
          <a:ln/>
        </p:spPr>
        <p:txBody>
          <a:bodyPr wrap="square" lIns="0" tIns="0" rIns="0" bIns="0" rtlCol="0" anchor="t"/>
          <a:lstStyle/>
          <a:p>
            <a:pPr algn="l" indent="0" marL="0">
              <a:buNone/>
            </a:pPr>
            <a:r>
              <a:rPr lang="en-US" sz="850" b="1" dirty="0">
                <a:solidFill>
                  <a:srgbClr val="7F8FA6"/>
                </a:solidFill>
                <a:latin typeface="Calibri" pitchFamily="34" charset="0"/>
                <a:ea typeface="Calibri" pitchFamily="34" charset="-122"/>
                <a:cs typeface="Calibri" pitchFamily="34" charset="-120"/>
              </a:rPr>
              <a:t>Rules discovered:</a:t>
            </a:r>
            <a:endParaRPr lang="en-US" sz="850" dirty="0"/>
          </a:p>
        </p:txBody>
      </p:sp>
      <p:sp>
        <p:nvSpPr>
          <p:cNvPr id="23" name="Text 21"/>
          <p:cNvSpPr/>
          <p:nvPr/>
        </p:nvSpPr>
        <p:spPr>
          <a:xfrm>
            <a:off x="6099048" y="1426464"/>
            <a:ext cx="2377440" cy="475488"/>
          </a:xfrm>
          <a:prstGeom prst="rect">
            <a:avLst/>
          </a:prstGeom>
          <a:noFill/>
          <a:ln/>
        </p:spPr>
        <p:txBody>
          <a:bodyPr wrap="square" lIns="0" tIns="0" rIns="0" bIns="0" rtlCol="0" anchor="t"/>
          <a:lstStyle/>
          <a:p>
            <a:pPr algn="l" indent="0" marL="0">
              <a:buNone/>
            </a:pPr>
            <a:r>
              <a:rPr lang="en-US" sz="950" dirty="0">
                <a:solidFill>
                  <a:srgbClr val="1A2A3A"/>
                </a:solidFill>
                <a:latin typeface="Calibri" pitchFamily="34" charset="0"/>
                <a:ea typeface="Calibri" pitchFamily="34" charset="-122"/>
                <a:cs typeface="Calibri" pitchFamily="34" charset="-120"/>
              </a:rPr>
              <a:t>20 rules found</a:t>
            </a:r>
            <a:endParaRPr lang="en-US" sz="950" dirty="0"/>
          </a:p>
        </p:txBody>
      </p:sp>
      <p:sp>
        <p:nvSpPr>
          <p:cNvPr id="24" name="Text 22"/>
          <p:cNvSpPr/>
          <p:nvPr/>
        </p:nvSpPr>
        <p:spPr>
          <a:xfrm>
            <a:off x="4818888" y="1956816"/>
            <a:ext cx="1234440" cy="347472"/>
          </a:xfrm>
          <a:prstGeom prst="rect">
            <a:avLst/>
          </a:prstGeom>
          <a:noFill/>
          <a:ln/>
        </p:spPr>
        <p:txBody>
          <a:bodyPr wrap="square" lIns="0" tIns="0" rIns="0" bIns="0" rtlCol="0" anchor="t"/>
          <a:lstStyle/>
          <a:p>
            <a:pPr algn="l" indent="0" marL="0">
              <a:buNone/>
            </a:pPr>
            <a:r>
              <a:rPr lang="en-US" sz="850" b="1" dirty="0">
                <a:solidFill>
                  <a:srgbClr val="7F8FA6"/>
                </a:solidFill>
                <a:latin typeface="Calibri" pitchFamily="34" charset="0"/>
                <a:ea typeface="Calibri" pitchFamily="34" charset="-122"/>
                <a:cs typeface="Calibri" pitchFamily="34" charset="-120"/>
              </a:rPr>
              <a:t>Dominant features:</a:t>
            </a:r>
            <a:endParaRPr lang="en-US" sz="850" dirty="0"/>
          </a:p>
        </p:txBody>
      </p:sp>
      <p:sp>
        <p:nvSpPr>
          <p:cNvPr id="25" name="Text 23"/>
          <p:cNvSpPr/>
          <p:nvPr/>
        </p:nvSpPr>
        <p:spPr>
          <a:xfrm>
            <a:off x="6099048" y="1956816"/>
            <a:ext cx="2377440" cy="475488"/>
          </a:xfrm>
          <a:prstGeom prst="rect">
            <a:avLst/>
          </a:prstGeom>
          <a:noFill/>
          <a:ln/>
        </p:spPr>
        <p:txBody>
          <a:bodyPr wrap="square" lIns="0" tIns="0" rIns="0" bIns="0" rtlCol="0" anchor="t"/>
          <a:lstStyle/>
          <a:p>
            <a:pPr algn="l" indent="0" marL="0">
              <a:buNone/>
            </a:pPr>
            <a:r>
              <a:rPr lang="en-US" sz="950" dirty="0">
                <a:solidFill>
                  <a:srgbClr val="1A2A3A"/>
                </a:solidFill>
                <a:latin typeface="Calibri" pitchFamily="34" charset="0"/>
                <a:ea typeface="Calibri" pitchFamily="34" charset="-122"/>
                <a:cs typeface="Calibri" pitchFamily="34" charset="-120"/>
              </a:rPr>
              <a:t>Heat-stress days at maturity: ~50% of rules</a:t>
            </a:r>
            <a:endParaRPr lang="en-US" sz="950" dirty="0"/>
          </a:p>
          <a:p>
            <a:pPr algn="l" indent="0" marL="0">
              <a:buNone/>
            </a:pPr>
            <a:r>
              <a:rPr lang="en-US" sz="950" dirty="0">
                <a:solidFill>
                  <a:srgbClr val="1A2A3A"/>
                </a:solidFill>
                <a:latin typeface="Calibri" pitchFamily="34" charset="0"/>
                <a:ea typeface="Calibri" pitchFamily="34" charset="-122"/>
                <a:cs typeface="Calibri" pitchFamily="34" charset="-120"/>
              </a:rPr>
              <a:t>LAI at harvest: present in all 20 rules</a:t>
            </a:r>
            <a:endParaRPr lang="en-US" sz="950" dirty="0"/>
          </a:p>
        </p:txBody>
      </p:sp>
      <p:sp>
        <p:nvSpPr>
          <p:cNvPr id="26" name="Text 24"/>
          <p:cNvSpPr/>
          <p:nvPr/>
        </p:nvSpPr>
        <p:spPr>
          <a:xfrm>
            <a:off x="4818888" y="2487168"/>
            <a:ext cx="1234440" cy="347472"/>
          </a:xfrm>
          <a:prstGeom prst="rect">
            <a:avLst/>
          </a:prstGeom>
          <a:noFill/>
          <a:ln/>
        </p:spPr>
        <p:txBody>
          <a:bodyPr wrap="square" lIns="0" tIns="0" rIns="0" bIns="0" rtlCol="0" anchor="t"/>
          <a:lstStyle/>
          <a:p>
            <a:pPr algn="l" indent="0" marL="0">
              <a:buNone/>
            </a:pPr>
            <a:r>
              <a:rPr lang="en-US" sz="850" b="1" dirty="0">
                <a:solidFill>
                  <a:srgbClr val="7F8FA6"/>
                </a:solidFill>
                <a:latin typeface="Calibri" pitchFamily="34" charset="0"/>
                <a:ea typeface="Calibri" pitchFamily="34" charset="-122"/>
                <a:cs typeface="Calibri" pitchFamily="34" charset="-120"/>
              </a:rPr>
              <a:t>Directionality:</a:t>
            </a:r>
            <a:endParaRPr lang="en-US" sz="850" dirty="0"/>
          </a:p>
        </p:txBody>
      </p:sp>
      <p:sp>
        <p:nvSpPr>
          <p:cNvPr id="27" name="Text 25"/>
          <p:cNvSpPr/>
          <p:nvPr/>
        </p:nvSpPr>
        <p:spPr>
          <a:xfrm>
            <a:off x="6099048" y="2487168"/>
            <a:ext cx="2377440" cy="475488"/>
          </a:xfrm>
          <a:prstGeom prst="rect">
            <a:avLst/>
          </a:prstGeom>
          <a:noFill/>
          <a:ln/>
        </p:spPr>
        <p:txBody>
          <a:bodyPr wrap="square" lIns="0" tIns="0" rIns="0" bIns="0" rtlCol="0" anchor="t"/>
          <a:lstStyle/>
          <a:p>
            <a:pPr algn="l" indent="0" marL="0">
              <a:buNone/>
            </a:pPr>
            <a:r>
              <a:rPr lang="en-US" sz="950" dirty="0">
                <a:solidFill>
                  <a:srgbClr val="1A2A3A"/>
                </a:solidFill>
                <a:latin typeface="Calibri" pitchFamily="34" charset="0"/>
                <a:ea typeface="Calibri" pitchFamily="34" charset="-122"/>
                <a:cs typeface="Calibri" pitchFamily="34" charset="-120"/>
              </a:rPr>
              <a:t>16/20 rules → BELOW-trend (80%)</a:t>
            </a:r>
            <a:endParaRPr lang="en-US" sz="950" dirty="0"/>
          </a:p>
        </p:txBody>
      </p:sp>
      <p:sp>
        <p:nvSpPr>
          <p:cNvPr id="28" name="Text 26"/>
          <p:cNvSpPr/>
          <p:nvPr/>
        </p:nvSpPr>
        <p:spPr>
          <a:xfrm>
            <a:off x="4818888" y="3017520"/>
            <a:ext cx="1234440" cy="347472"/>
          </a:xfrm>
          <a:prstGeom prst="rect">
            <a:avLst/>
          </a:prstGeom>
          <a:noFill/>
          <a:ln/>
        </p:spPr>
        <p:txBody>
          <a:bodyPr wrap="square" lIns="0" tIns="0" rIns="0" bIns="0" rtlCol="0" anchor="t"/>
          <a:lstStyle/>
          <a:p>
            <a:pPr algn="l" indent="0" marL="0">
              <a:buNone/>
            </a:pPr>
            <a:r>
              <a:rPr lang="en-US" sz="850" b="1" dirty="0">
                <a:solidFill>
                  <a:srgbClr val="7F8FA6"/>
                </a:solidFill>
                <a:latin typeface="Calibri" pitchFamily="34" charset="0"/>
                <a:ea typeface="Calibri" pitchFamily="34" charset="-122"/>
                <a:cs typeface="Calibri" pitchFamily="34" charset="-120"/>
              </a:rPr>
              <a:t>Statistical strength:</a:t>
            </a:r>
            <a:endParaRPr lang="en-US" sz="850" dirty="0"/>
          </a:p>
        </p:txBody>
      </p:sp>
      <p:sp>
        <p:nvSpPr>
          <p:cNvPr id="29" name="Text 27"/>
          <p:cNvSpPr/>
          <p:nvPr/>
        </p:nvSpPr>
        <p:spPr>
          <a:xfrm>
            <a:off x="6099048" y="3017520"/>
            <a:ext cx="2377440" cy="475488"/>
          </a:xfrm>
          <a:prstGeom prst="rect">
            <a:avLst/>
          </a:prstGeom>
          <a:noFill/>
          <a:ln/>
        </p:spPr>
        <p:txBody>
          <a:bodyPr wrap="square" lIns="0" tIns="0" rIns="0" bIns="0" rtlCol="0" anchor="t"/>
          <a:lstStyle/>
          <a:p>
            <a:pPr algn="l" indent="0" marL="0">
              <a:buNone/>
            </a:pPr>
            <a:r>
              <a:rPr lang="en-US" sz="950" dirty="0">
                <a:solidFill>
                  <a:srgbClr val="1A2A3A"/>
                </a:solidFill>
                <a:latin typeface="Calibri" pitchFamily="34" charset="0"/>
                <a:ea typeface="Calibri" pitchFamily="34" charset="-122"/>
                <a:cs typeface="Calibri" pitchFamily="34" charset="-120"/>
              </a:rPr>
              <a:t>Largest shift: −365 mhl (support 28%, p=0.029)</a:t>
            </a:r>
            <a:endParaRPr lang="en-US" sz="950" dirty="0"/>
          </a:p>
        </p:txBody>
      </p:sp>
      <p:sp>
        <p:nvSpPr>
          <p:cNvPr id="30" name="Shape 28"/>
          <p:cNvSpPr/>
          <p:nvPr/>
        </p:nvSpPr>
        <p:spPr>
          <a:xfrm>
            <a:off x="4800600" y="2724912"/>
            <a:ext cx="3657600" cy="585216"/>
          </a:xfrm>
          <a:prstGeom prst="rect">
            <a:avLst/>
          </a:prstGeom>
          <a:solidFill>
            <a:srgbClr val="1B2B45"/>
          </a:solidFill>
          <a:ln w="12700">
            <a:solidFill>
              <a:srgbClr val="1B2B45"/>
            </a:solidFill>
            <a:prstDash val="solid"/>
          </a:ln>
        </p:spPr>
      </p:sp>
      <p:sp>
        <p:nvSpPr>
          <p:cNvPr id="31" name="Text 29"/>
          <p:cNvSpPr/>
          <p:nvPr/>
        </p:nvSpPr>
        <p:spPr>
          <a:xfrm>
            <a:off x="4846320" y="2743200"/>
            <a:ext cx="3566160" cy="548640"/>
          </a:xfrm>
          <a:prstGeom prst="rect">
            <a:avLst/>
          </a:prstGeom>
          <a:noFill/>
          <a:ln/>
        </p:spPr>
        <p:txBody>
          <a:bodyPr wrap="square" lIns="0" tIns="0" rIns="0" bIns="0" rtlCol="0" anchor="ctr"/>
          <a:lstStyle/>
          <a:p>
            <a:pPr algn="l" indent="0" marL="0">
              <a:buNone/>
            </a:pPr>
            <a:r>
              <a:rPr lang="en-US" sz="800" dirty="0">
                <a:solidFill>
                  <a:srgbClr val="F5D78A"/>
                </a:solidFill>
                <a:latin typeface="Calibri" pitchFamily="34" charset="0"/>
                <a:ea typeface="Calibri" pitchFamily="34" charset="-122"/>
                <a:cs typeface="Calibri" pitchFamily="34" charset="-120"/>
              </a:rPr>
              <a:t>IF soil water post-Flowering ∈ [143–234 mm]</a:t>
            </a:r>
            <a:endParaRPr lang="en-US" sz="800" dirty="0"/>
          </a:p>
          <a:p>
            <a:pPr algn="l" indent="0" marL="0">
              <a:buNone/>
            </a:pPr>
            <a:r>
              <a:rPr lang="en-US" sz="800" dirty="0">
                <a:solidFill>
                  <a:srgbClr val="F5D78A"/>
                </a:solidFill>
                <a:latin typeface="Calibri" pitchFamily="34" charset="0"/>
                <a:ea typeface="Calibri" pitchFamily="34" charset="-122"/>
                <a:cs typeface="Calibri" pitchFamily="34" charset="-120"/>
              </a:rPr>
              <a:t>AND heat days post-Maturity ∈ [0–2.4d]</a:t>
            </a:r>
            <a:endParaRPr lang="en-US" sz="800" dirty="0"/>
          </a:p>
          <a:p>
            <a:pPr algn="l" indent="0" marL="0">
              <a:buNone/>
            </a:pPr>
            <a:r>
              <a:rPr lang="en-US" sz="800" dirty="0">
                <a:solidFill>
                  <a:srgbClr val="F5D78A"/>
                </a:solidFill>
                <a:latin typeface="Calibri" pitchFamily="34" charset="0"/>
                <a:ea typeface="Calibri" pitchFamily="34" charset="-122"/>
                <a:cs typeface="Calibri" pitchFamily="34" charset="-120"/>
              </a:rPr>
              <a:t>THEN production −365 mhl (support 28%, p=0.029)</a:t>
            </a:r>
            <a:endParaRPr lang="en-US" sz="800" dirty="0"/>
          </a:p>
        </p:txBody>
      </p:sp>
      <p:sp>
        <p:nvSpPr>
          <p:cNvPr id="32" name="Shape 30"/>
          <p:cNvSpPr/>
          <p:nvPr/>
        </p:nvSpPr>
        <p:spPr>
          <a:xfrm>
            <a:off x="411480" y="4361688"/>
            <a:ext cx="8321040" cy="658368"/>
          </a:xfrm>
          <a:prstGeom prst="rect">
            <a:avLst/>
          </a:prstGeom>
          <a:solidFill>
            <a:srgbClr val="2E4A7C"/>
          </a:solidFill>
          <a:ln w="12700">
            <a:solidFill>
              <a:srgbClr val="2E4A7C"/>
            </a:solidFill>
            <a:prstDash val="solid"/>
          </a:ln>
        </p:spPr>
      </p:sp>
      <p:sp>
        <p:nvSpPr>
          <p:cNvPr id="33" name="Text 31"/>
          <p:cNvSpPr/>
          <p:nvPr/>
        </p:nvSpPr>
        <p:spPr>
          <a:xfrm>
            <a:off x="548640" y="4389120"/>
            <a:ext cx="1920240" cy="594360"/>
          </a:xfrm>
          <a:prstGeom prst="rect">
            <a:avLst/>
          </a:prstGeom>
          <a:noFill/>
          <a:ln/>
        </p:spPr>
        <p:txBody>
          <a:bodyPr wrap="square" lIns="0" tIns="0" rIns="0" bIns="0" rtlCol="0" anchor="ctr"/>
          <a:lstStyle/>
          <a:p>
            <a:pPr algn="l" indent="0" marL="0">
              <a:buNone/>
            </a:pPr>
            <a:r>
              <a:rPr lang="en-US" sz="1100" b="1" dirty="0">
                <a:solidFill>
                  <a:srgbClr val="F5D78A"/>
                </a:solidFill>
                <a:latin typeface="Calibri" pitchFamily="34" charset="0"/>
                <a:ea typeface="Calibri" pitchFamily="34" charset="-122"/>
                <a:cs typeface="Calibri" pitchFamily="34" charset="-120"/>
              </a:rPr>
              <a:t>Cross-Algorithm Convergence:</a:t>
            </a:r>
            <a:endParaRPr lang="en-US" sz="1100" dirty="0"/>
          </a:p>
        </p:txBody>
      </p:sp>
      <p:sp>
        <p:nvSpPr>
          <p:cNvPr id="34" name="Text 32"/>
          <p:cNvSpPr/>
          <p:nvPr/>
        </p:nvSpPr>
        <p:spPr>
          <a:xfrm>
            <a:off x="2505456" y="4389120"/>
            <a:ext cx="6080760" cy="594360"/>
          </a:xfrm>
          <a:prstGeom prst="rect">
            <a:avLst/>
          </a:prstGeom>
          <a:noFill/>
          <a:ln/>
        </p:spPr>
        <p:txBody>
          <a:bodyPr wrap="square" lIns="0" tIns="0" rIns="0" bIns="0" rtlCol="0" anchor="ctr"/>
          <a:lstStyle/>
          <a:p>
            <a:pPr algn="l" indent="0" marL="0">
              <a:buNone/>
            </a:pPr>
            <a:r>
              <a:rPr lang="en-US" sz="950" dirty="0">
                <a:solidFill>
                  <a:srgbClr val="D8E2EE"/>
                </a:solidFill>
                <a:latin typeface="Calibri" pitchFamily="34" charset="0"/>
                <a:ea typeface="Calibri" pitchFamily="34" charset="-122"/>
                <a:cs typeface="Calibri" pitchFamily="34" charset="-120"/>
              </a:rPr>
              <a:t>RIPPER and M5Rules independently select the same feature families through entirely different criteria (FOIL gain vs. MSE reduction vs. KS test). Three algorithms, one answer. This is strong evidence of genuine data structure, not algorithm-specific artefacts.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53"/>
          </a:solidFill>
          <a:ln w="12700">
            <a:solidFill>
              <a:srgbClr val="D4A853"/>
            </a:solidFill>
            <a:prstDash val="solid"/>
          </a:ln>
        </p:spPr>
      </p:sp>
      <p:sp>
        <p:nvSpPr>
          <p:cNvPr id="3" name="Text 1"/>
          <p:cNvSpPr/>
          <p:nvPr/>
        </p:nvSpPr>
        <p:spPr>
          <a:xfrm>
            <a:off x="457200" y="109728"/>
            <a:ext cx="8229600" cy="50292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Validation of Rule Discovery</a:t>
            </a:r>
            <a:endParaRPr lang="en-US" sz="2200" dirty="0"/>
          </a:p>
        </p:txBody>
      </p:sp>
      <p:sp>
        <p:nvSpPr>
          <p:cNvPr id="4" name="Text 2"/>
          <p:cNvSpPr/>
          <p:nvPr/>
        </p:nvSpPr>
        <p:spPr>
          <a:xfrm>
            <a:off x="457200" y="612648"/>
            <a:ext cx="8229600" cy="256032"/>
          </a:xfrm>
          <a:prstGeom prst="rect">
            <a:avLst/>
          </a:prstGeom>
          <a:noFill/>
          <a:ln/>
        </p:spPr>
        <p:txBody>
          <a:bodyPr wrap="square" lIns="0" tIns="0" rIns="0" bIns="0" rtlCol="0" anchor="ctr"/>
          <a:lstStyle/>
          <a:p>
            <a:pPr algn="l" indent="0" marL="0">
              <a:buNone/>
            </a:pPr>
            <a:r>
              <a:rPr lang="en-US" sz="1100" i="1" dirty="0">
                <a:solidFill>
                  <a:srgbClr val="D4A853"/>
                </a:solidFill>
                <a:latin typeface="Calibri" pitchFamily="34" charset="0"/>
                <a:ea typeface="Calibri" pitchFamily="34" charset="-122"/>
                <a:cs typeface="Calibri" pitchFamily="34" charset="-120"/>
              </a:rPr>
              <a:t>LOESS stress test distinguishes genuine climate signal from era-membership artefacts</a:t>
            </a:r>
            <a:endParaRPr lang="en-US" sz="1100" dirty="0"/>
          </a:p>
        </p:txBody>
      </p:sp>
      <p:sp>
        <p:nvSpPr>
          <p:cNvPr id="5" name="Shape 3"/>
          <p:cNvSpPr/>
          <p:nvPr/>
        </p:nvSpPr>
        <p:spPr>
          <a:xfrm>
            <a:off x="457200" y="896112"/>
            <a:ext cx="8229600" cy="18288"/>
          </a:xfrm>
          <a:prstGeom prst="rect">
            <a:avLst/>
          </a:prstGeom>
          <a:solidFill>
            <a:srgbClr val="D8E2EE"/>
          </a:solidFill>
          <a:ln w="12700">
            <a:solidFill>
              <a:srgbClr val="D8E2EE"/>
            </a:solidFill>
            <a:prstDash val="solid"/>
          </a:ln>
        </p:spPr>
      </p:sp>
      <p:sp>
        <p:nvSpPr>
          <p:cNvPr id="6" name="Shape 4"/>
          <p:cNvSpPr/>
          <p:nvPr/>
        </p:nvSpPr>
        <p:spPr>
          <a:xfrm>
            <a:off x="411480" y="1005840"/>
            <a:ext cx="8321040" cy="841248"/>
          </a:xfrm>
          <a:prstGeom prst="rect">
            <a:avLst/>
          </a:prstGeom>
          <a:solidFill>
            <a:srgbClr val="2E4A7C"/>
          </a:solidFill>
          <a:ln w="12700">
            <a:solidFill>
              <a:srgbClr val="2E4A7C"/>
            </a:solidFill>
            <a:prstDash val="solid"/>
          </a:ln>
        </p:spPr>
      </p:sp>
      <p:sp>
        <p:nvSpPr>
          <p:cNvPr id="7" name="Text 5"/>
          <p:cNvSpPr/>
          <p:nvPr/>
        </p:nvSpPr>
        <p:spPr>
          <a:xfrm>
            <a:off x="548640" y="1024128"/>
            <a:ext cx="2743200" cy="347472"/>
          </a:xfrm>
          <a:prstGeom prst="rect">
            <a:avLst/>
          </a:prstGeom>
          <a:noFill/>
          <a:ln/>
        </p:spPr>
        <p:txBody>
          <a:bodyPr wrap="square" lIns="0" tIns="0" rIns="0" bIns="0" rtlCol="0" anchor="ctr"/>
          <a:lstStyle/>
          <a:p>
            <a:pPr algn="l" indent="0" marL="0">
              <a:buNone/>
            </a:pPr>
            <a:r>
              <a:rPr lang="en-US" sz="1200" b="1" dirty="0">
                <a:solidFill>
                  <a:srgbClr val="F5D78A"/>
                </a:solidFill>
                <a:latin typeface="Calibri" pitchFamily="34" charset="0"/>
                <a:ea typeface="Calibri" pitchFamily="34" charset="-122"/>
                <a:cs typeface="Calibri" pitchFamily="34" charset="-120"/>
              </a:rPr>
              <a:t>The Era Confound Problem</a:t>
            </a:r>
            <a:endParaRPr lang="en-US" sz="1200" dirty="0"/>
          </a:p>
        </p:txBody>
      </p:sp>
      <p:sp>
        <p:nvSpPr>
          <p:cNvPr id="8" name="Text 6"/>
          <p:cNvSpPr/>
          <p:nvPr/>
        </p:nvSpPr>
        <p:spPr>
          <a:xfrm>
            <a:off x="548640" y="1371600"/>
            <a:ext cx="8046720" cy="438912"/>
          </a:xfrm>
          <a:prstGeom prst="rect">
            <a:avLst/>
          </a:prstGeom>
          <a:noFill/>
          <a:ln/>
        </p:spPr>
        <p:txBody>
          <a:bodyPr wrap="square" lIns="0" tIns="0" rIns="0" bIns="0" rtlCol="0" anchor="t"/>
          <a:lstStyle/>
          <a:p>
            <a:pPr algn="l" indent="0" marL="0">
              <a:buNone/>
            </a:pPr>
            <a:r>
              <a:rPr lang="en-US" sz="950" dirty="0">
                <a:solidFill>
                  <a:srgbClr val="D8E2EE"/>
                </a:solidFill>
                <a:latin typeface="Calibri" pitchFamily="34" charset="0"/>
                <a:ea typeface="Calibri" pitchFamily="34" charset="-122"/>
                <a:cs typeface="Calibri" pitchFamily="34" charset="-120"/>
              </a:rPr>
              <a:t>If a climate feature co-trends with production over decades (warming + declining production), it appears informative under linear detrending even with no true within-era relationship. Rules become era-membership proxies, not genuine climate signals.</a:t>
            </a:r>
            <a:endParaRPr lang="en-US" sz="950" dirty="0"/>
          </a:p>
        </p:txBody>
      </p:sp>
      <p:sp>
        <p:nvSpPr>
          <p:cNvPr id="9" name="Text 7"/>
          <p:cNvSpPr/>
          <p:nvPr/>
        </p:nvSpPr>
        <p:spPr>
          <a:xfrm>
            <a:off x="411480" y="1938528"/>
            <a:ext cx="8321040" cy="274320"/>
          </a:xfrm>
          <a:prstGeom prst="rect">
            <a:avLst/>
          </a:prstGeom>
          <a:noFill/>
          <a:ln/>
        </p:spPr>
        <p:txBody>
          <a:bodyPr wrap="square" lIns="0" tIns="0" rIns="0" bIns="0" rtlCol="0" anchor="ctr"/>
          <a:lstStyle/>
          <a:p>
            <a:pPr algn="l" indent="0" marL="0">
              <a:buNone/>
            </a:pPr>
            <a:r>
              <a:rPr lang="en-US" sz="1100" b="1" dirty="0">
                <a:solidFill>
                  <a:srgbClr val="1A2A3A"/>
                </a:solidFill>
                <a:latin typeface="Calibri" pitchFamily="34" charset="0"/>
                <a:ea typeface="Calibri" pitchFamily="34" charset="-122"/>
                <a:cs typeface="Calibri" pitchFamily="34" charset="-120"/>
              </a:rPr>
              <a:t>LOESS Detrending Stress Test  (span = 0.40 — removes era-level structural shifts, preserves inter-annual variation)</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2286000"/>
          <a:ext cx="8321040" cy="2029968"/>
        </p:xfrm>
        <a:graphic>
          <a:graphicData uri="http://schemas.openxmlformats.org/drawingml/2006/table">
            <a:tbl>
              <a:tblPr/>
              <a:tblGrid>
                <a:gridCol w="2057400"/>
                <a:gridCol w="594360"/>
                <a:gridCol w="777240"/>
                <a:gridCol w="777240"/>
                <a:gridCol w="868680"/>
                <a:gridCol w="3246120"/>
              </a:tblGrid>
              <a:tr h="289995">
                <a:tc>
                  <a:txBody>
                    <a:bodyPr/>
                    <a:lstStyle/>
                    <a:p>
                      <a:pPr algn="l" indent="0" marL="0">
                        <a:buNone/>
                      </a:pPr>
                      <a:r>
                        <a:rPr lang="en-US" sz="900" b="1" dirty="0">
                          <a:solidFill>
                            <a:srgbClr val="FFFFFF"/>
                          </a:solidFill>
                        </a:rPr>
                        <a:t>Feature</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1B2B45"/>
                    </a:solidFill>
                  </a:tcPr>
                </a:tc>
                <a:tc>
                  <a:txBody>
                    <a:bodyPr/>
                    <a:lstStyle/>
                    <a:p>
                      <a:pPr algn="l" indent="0" marL="0">
                        <a:buNone/>
                      </a:pPr>
                      <a:r>
                        <a:rPr lang="en-US" sz="900" b="1" dirty="0">
                          <a:solidFill>
                            <a:srgbClr val="FFFFFF"/>
                          </a:solidFill>
                        </a:rPr>
                        <a:t>Region</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1B2B45"/>
                    </a:solidFill>
                  </a:tcPr>
                </a:tc>
                <a:tc>
                  <a:txBody>
                    <a:bodyPr/>
                    <a:lstStyle/>
                    <a:p>
                      <a:pPr algn="l" indent="0" marL="0">
                        <a:buNone/>
                      </a:pPr>
                      <a:r>
                        <a:rPr lang="en-US" sz="900" b="1" dirty="0">
                          <a:solidFill>
                            <a:srgbClr val="FFFFFF"/>
                          </a:solidFill>
                        </a:rPr>
                        <a:t>Linear |r|</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1B2B45"/>
                    </a:solidFill>
                  </a:tcPr>
                </a:tc>
                <a:tc>
                  <a:txBody>
                    <a:bodyPr/>
                    <a:lstStyle/>
                    <a:p>
                      <a:pPr algn="l" indent="0" marL="0">
                        <a:buNone/>
                      </a:pPr>
                      <a:r>
                        <a:rPr lang="en-US" sz="900" b="1" dirty="0">
                          <a:solidFill>
                            <a:srgbClr val="FFFFFF"/>
                          </a:solidFill>
                        </a:rPr>
                        <a:t>LOESS |r|</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1B2B45"/>
                    </a:solidFill>
                  </a:tcPr>
                </a:tc>
                <a:tc>
                  <a:txBody>
                    <a:bodyPr/>
                    <a:lstStyle/>
                    <a:p>
                      <a:pPr algn="l" indent="0" marL="0">
                        <a:buNone/>
                      </a:pPr>
                      <a:r>
                        <a:rPr lang="en-US" sz="900" b="1" dirty="0">
                          <a:solidFill>
                            <a:srgbClr val="FFFFFF"/>
                          </a:solidFill>
                        </a:rPr>
                        <a:t>% Retained</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1B2B45"/>
                    </a:solidFill>
                  </a:tcPr>
                </a:tc>
                <a:tc>
                  <a:txBody>
                    <a:bodyPr/>
                    <a:lstStyle/>
                    <a:p>
                      <a:pPr algn="l" indent="0" marL="0">
                        <a:buNone/>
                      </a:pPr>
                      <a:r>
                        <a:rPr lang="en-US" sz="900" b="1" dirty="0">
                          <a:solidFill>
                            <a:srgbClr val="FFFFFF"/>
                          </a:solidFill>
                        </a:rPr>
                        <a:t>Verdict</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1B2B45"/>
                    </a:solidFill>
                  </a:tcPr>
                </a:tc>
              </a:tr>
              <a:tr h="289995">
                <a:tc>
                  <a:txBody>
                    <a:bodyPr/>
                    <a:lstStyle/>
                    <a:p>
                      <a:pPr algn="l" indent="0" marL="0">
                        <a:buNone/>
                      </a:pPr>
                      <a:r>
                        <a:rPr lang="en-US" sz="900" dirty="0">
                          <a:solidFill>
                            <a:srgbClr val="000000"/>
                          </a:solidFill>
                        </a:rPr>
                        <a:t>swa_hv_y1_b20 (harvest soil water)</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RDD</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0.33</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0.41</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125%</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 Genuine within-era signal — increases under LOESS</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r>
              <a:tr h="289995">
                <a:tc>
                  <a:txBody>
                    <a:bodyPr/>
                    <a:lstStyle/>
                    <a:p>
                      <a:pPr algn="l" indent="0" marL="0">
                        <a:buNone/>
                      </a:pPr>
                      <a:r>
                        <a:rPr lang="en-US" sz="900" dirty="0">
                          <a:solidFill>
                            <a:srgbClr val="000000"/>
                          </a:solidFill>
                        </a:rPr>
                        <a:t>wet days post-Flowering</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RDD</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0.28</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0.28</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103%</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 Fully preserved after era removal</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r>
              <a:tr h="289995">
                <a:tc>
                  <a:txBody>
                    <a:bodyPr/>
                    <a:lstStyle/>
                    <a:p>
                      <a:pPr algn="l" indent="0" marL="0">
                        <a:buNone/>
                      </a:pPr>
                      <a:r>
                        <a:rPr lang="en-US" sz="900" dirty="0">
                          <a:solidFill>
                            <a:srgbClr val="000000"/>
                          </a:solidFill>
                        </a:rPr>
                        <a:t>tm_hv_y1_c10 (harvest temperature)</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RDD</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0.17</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0.17</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105%</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 Preserved; within-era signal</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r>
              <a:tr h="289995">
                <a:tc>
                  <a:txBody>
                    <a:bodyPr/>
                    <a:lstStyle/>
                    <a:p>
                      <a:pPr algn="l" indent="0" marL="0">
                        <a:buNone/>
                      </a:pPr>
                      <a:r>
                        <a:rPr lang="en-US" sz="900" dirty="0">
                          <a:solidFill>
                            <a:srgbClr val="000000"/>
                          </a:solidFill>
                        </a:rPr>
                        <a:t>wet days post-Flowering</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RVV</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0.34</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0.32</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94%</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 Genuine; robust to era removal</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r>
              <a:tr h="289995">
                <a:tc>
                  <a:txBody>
                    <a:bodyPr/>
                    <a:lstStyle/>
                    <a:p>
                      <a:pPr algn="l" indent="0" marL="0">
                        <a:buNone/>
                      </a:pPr>
                      <a:r>
                        <a:rPr lang="en-US" sz="900" b="1" dirty="0">
                          <a:solidFill>
                            <a:srgbClr val="000000"/>
                          </a:solidFill>
                        </a:rPr>
                        <a:t>iaf_hv_y1_c10 (LAI at harvest)</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RVV</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0.22</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0.03</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b="1" dirty="0">
                          <a:solidFill>
                            <a:srgbClr val="B03A2E"/>
                          </a:solidFill>
                        </a:rPr>
                        <a:t>16%</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b="1" dirty="0">
                          <a:solidFill>
                            <a:srgbClr val="B03A2E"/>
                          </a:solidFill>
                        </a:rPr>
                        <a:t>✗ Era-driven; collapses under LOESS</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r>
              <a:tr h="289995">
                <a:tc>
                  <a:txBody>
                    <a:bodyPr/>
                    <a:lstStyle/>
                    <a:p>
                      <a:pPr algn="l" indent="0" marL="0">
                        <a:buNone/>
                      </a:pPr>
                      <a:r>
                        <a:rPr lang="en-US" sz="900" b="1" dirty="0">
                          <a:solidFill>
                            <a:srgbClr val="000000"/>
                          </a:solidFill>
                        </a:rPr>
                        <a:t>swa_hv_y1_b20 (harvest soil water)</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RVV</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0.17</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dirty="0">
                          <a:solidFill>
                            <a:srgbClr val="000000"/>
                          </a:solidFill>
                        </a:rPr>
                        <a:t>0.03</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b="1" dirty="0">
                          <a:solidFill>
                            <a:srgbClr val="B03A2E"/>
                          </a:solidFill>
                        </a:rPr>
                        <a:t>15%</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algn="l" indent="0" marL="0">
                        <a:buNone/>
                      </a:pPr>
                      <a:r>
                        <a:rPr lang="en-US" sz="900" b="1" dirty="0">
                          <a:solidFill>
                            <a:srgbClr val="B03A2E"/>
                          </a:solidFill>
                        </a:rPr>
                        <a:t>✗ Era-driven; collapses under LOESS</a:t>
                      </a:r>
                      <a:endParaRPr lang="en-US" sz="900" dirty="0"/>
                    </a:p>
                  </a:txBody>
                  <a:tcPr marL="91440" marR="91440" marT="45720" marB="4572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r>
            </a:tbl>
          </a:graphicData>
        </a:graphic>
      </p:graphicFrame>
      <p:sp>
        <p:nvSpPr>
          <p:cNvPr id="11" name="Text 8"/>
          <p:cNvSpPr/>
          <p:nvPr/>
        </p:nvSpPr>
        <p:spPr>
          <a:xfrm>
            <a:off x="411480" y="4425696"/>
            <a:ext cx="8321040" cy="402336"/>
          </a:xfrm>
          <a:prstGeom prst="rect">
            <a:avLst/>
          </a:prstGeom>
          <a:noFill/>
          <a:ln/>
        </p:spPr>
        <p:txBody>
          <a:bodyPr wrap="square" lIns="0" tIns="0" rIns="0" bIns="0" rtlCol="0" anchor="ctr"/>
          <a:lstStyle/>
          <a:p>
            <a:pPr algn="l" indent="0" marL="0">
              <a:buNone/>
            </a:pPr>
            <a:r>
              <a:rPr lang="en-US" sz="950" i="1" dirty="0">
                <a:solidFill>
                  <a:srgbClr val="D4A853"/>
                </a:solidFill>
                <a:latin typeface="Calibri" pitchFamily="34" charset="0"/>
                <a:ea typeface="Calibri" pitchFamily="34" charset="-122"/>
                <a:cs typeface="Calibri" pitchFamily="34" charset="-120"/>
              </a:rPr>
              <a:t>RDD result: features retain 90–125% correlation → genuine within-era signal confirmed.   RVV dominant features collapse to 15–16% → primarily era artefacts. This explains Goal 2 failure in RVV.</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53"/>
          </a:solidFill>
          <a:ln w="12700">
            <a:solidFill>
              <a:srgbClr val="D4A853"/>
            </a:solidFill>
            <a:prstDash val="solid"/>
          </a:ln>
        </p:spPr>
      </p:sp>
      <p:sp>
        <p:nvSpPr>
          <p:cNvPr id="3" name="Text 1"/>
          <p:cNvSpPr/>
          <p:nvPr/>
        </p:nvSpPr>
        <p:spPr>
          <a:xfrm>
            <a:off x="457200" y="109728"/>
            <a:ext cx="8229600" cy="50292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Goal 2 – Predictive Validation</a:t>
            </a:r>
            <a:endParaRPr lang="en-US" sz="2200" dirty="0"/>
          </a:p>
        </p:txBody>
      </p:sp>
      <p:sp>
        <p:nvSpPr>
          <p:cNvPr id="4" name="Text 2"/>
          <p:cNvSpPr/>
          <p:nvPr/>
        </p:nvSpPr>
        <p:spPr>
          <a:xfrm>
            <a:off x="457200" y="612648"/>
            <a:ext cx="8229600" cy="256032"/>
          </a:xfrm>
          <a:prstGeom prst="rect">
            <a:avLst/>
          </a:prstGeom>
          <a:noFill/>
          <a:ln/>
        </p:spPr>
        <p:txBody>
          <a:bodyPr wrap="square" lIns="0" tIns="0" rIns="0" bIns="0" rtlCol="0" anchor="ctr"/>
          <a:lstStyle/>
          <a:p>
            <a:pPr algn="l" indent="0" marL="0">
              <a:buNone/>
            </a:pPr>
            <a:r>
              <a:rPr lang="en-US" sz="1100" i="1" dirty="0">
                <a:solidFill>
                  <a:srgbClr val="D4A853"/>
                </a:solidFill>
                <a:latin typeface="Calibri" pitchFamily="34" charset="0"/>
                <a:ea typeface="Calibri" pitchFamily="34" charset="-122"/>
                <a:cs typeface="Calibri" pitchFamily="34" charset="-120"/>
              </a:rPr>
              <a:t>Walk-forward results: 17 models, weighted MAE on original scale (mhl)</a:t>
            </a:r>
            <a:endParaRPr lang="en-US" sz="1100" dirty="0"/>
          </a:p>
        </p:txBody>
      </p:sp>
      <p:sp>
        <p:nvSpPr>
          <p:cNvPr id="5" name="Shape 3"/>
          <p:cNvSpPr/>
          <p:nvPr/>
        </p:nvSpPr>
        <p:spPr>
          <a:xfrm>
            <a:off x="457200" y="896112"/>
            <a:ext cx="8229600" cy="18288"/>
          </a:xfrm>
          <a:prstGeom prst="rect">
            <a:avLst/>
          </a:prstGeom>
          <a:solidFill>
            <a:srgbClr val="D8E2EE"/>
          </a:solidFill>
          <a:ln w="12700">
            <a:solidFill>
              <a:srgbClr val="D8E2EE"/>
            </a:solidFill>
            <a:prstDash val="solid"/>
          </a:ln>
        </p:spPr>
      </p:sp>
      <p:sp>
        <p:nvSpPr>
          <p:cNvPr id="6" name="Text 4"/>
          <p:cNvSpPr/>
          <p:nvPr/>
        </p:nvSpPr>
        <p:spPr>
          <a:xfrm>
            <a:off x="365760" y="960120"/>
            <a:ext cx="4206240" cy="27432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Douro (RDD) — 18 scenarios</a:t>
            </a:r>
            <a:endParaRPr lang="en-US" sz="1100" dirty="0"/>
          </a:p>
        </p:txBody>
      </p:sp>
      <p:graphicFrame>
        <p:nvGraphicFramePr>
          <p:cNvPr id="7" name="Chart 0" descr=""/>
          <p:cNvGraphicFramePr/>
          <p:nvPr/>
        </p:nvGraphicFramePr>
        <p:xfrm>
          <a:off x="320040" y="1261872"/>
          <a:ext cx="4251960" cy="2395728"/>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4663440" y="960120"/>
            <a:ext cx="4206240" cy="27432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Vinho Verde (RVV) — 16 scenarios</a:t>
            </a:r>
            <a:endParaRPr lang="en-US" sz="1100" dirty="0"/>
          </a:p>
        </p:txBody>
      </p:sp>
      <p:graphicFrame>
        <p:nvGraphicFramePr>
          <p:cNvPr id="9" name="Chart 1" descr=""/>
          <p:cNvGraphicFramePr/>
          <p:nvPr/>
        </p:nvGraphicFramePr>
        <p:xfrm>
          <a:off x="4617720" y="1261872"/>
          <a:ext cx="4251960" cy="2395728"/>
        </p:xfrm>
        <a:graphic xmlns:a="http://schemas.openxmlformats.org/drawingml/2006/main">
          <a:graphicData uri="http://schemas.openxmlformats.org/drawingml/2006/chart">
            <c:chart xmlns:c="http://schemas.openxmlformats.org/drawingml/2006/chart" r:id="rId2"/>
          </a:graphicData>
        </a:graphic>
      </p:graphicFrame>
      <p:sp>
        <p:nvSpPr>
          <p:cNvPr id="10" name="Text 6"/>
          <p:cNvSpPr/>
          <p:nvPr/>
        </p:nvSpPr>
        <p:spPr>
          <a:xfrm>
            <a:off x="365760" y="3749040"/>
            <a:ext cx="8321040" cy="274320"/>
          </a:xfrm>
          <a:prstGeom prst="rect">
            <a:avLst/>
          </a:prstGeom>
          <a:noFill/>
          <a:ln/>
        </p:spPr>
        <p:txBody>
          <a:bodyPr wrap="square" lIns="0" tIns="0" rIns="0" bIns="0" rtlCol="0" anchor="ctr"/>
          <a:lstStyle/>
          <a:p>
            <a:pPr indent="0" marL="0">
              <a:buNone/>
            </a:pPr>
            <a:r>
              <a:rPr lang="en-US" sz="1100" b="1" dirty="0">
                <a:solidFill>
                  <a:srgbClr val="1A2A3A"/>
                </a:solidFill>
                <a:latin typeface="Calibri" pitchFamily="34" charset="0"/>
                <a:ea typeface="Calibri" pitchFamily="34" charset="-122"/>
                <a:cs typeface="Calibri" pitchFamily="34" charset="-120"/>
              </a:rPr>
              <a:t>Statistical Tests</a:t>
            </a:r>
            <a:endParaRPr lang="en-US" sz="1100" dirty="0"/>
          </a:p>
        </p:txBody>
      </p:sp>
      <p:sp>
        <p:nvSpPr>
          <p:cNvPr id="11" name="Shape 7"/>
          <p:cNvSpPr/>
          <p:nvPr/>
        </p:nvSpPr>
        <p:spPr>
          <a:xfrm>
            <a:off x="365760" y="4069080"/>
            <a:ext cx="8412480" cy="292608"/>
          </a:xfrm>
          <a:prstGeom prst="rect">
            <a:avLst/>
          </a:prstGeom>
          <a:solidFill>
            <a:srgbClr val="1B2B45"/>
          </a:solidFill>
          <a:ln w="12700">
            <a:solidFill>
              <a:srgbClr val="1B2B45"/>
            </a:solidFill>
            <a:prstDash val="solid"/>
          </a:ln>
        </p:spPr>
      </p:sp>
      <p:sp>
        <p:nvSpPr>
          <p:cNvPr id="12" name="Text 8"/>
          <p:cNvSpPr/>
          <p:nvPr/>
        </p:nvSpPr>
        <p:spPr>
          <a:xfrm>
            <a:off x="502920" y="4069080"/>
            <a:ext cx="4206240" cy="292608"/>
          </a:xfrm>
          <a:prstGeom prst="rect">
            <a:avLst/>
          </a:prstGeom>
          <a:noFill/>
          <a:ln/>
        </p:spPr>
        <p:txBody>
          <a:bodyPr wrap="square" lIns="0" tIns="0" rIns="0" bIns="0" rtlCol="0" anchor="ctr"/>
          <a:lstStyle/>
          <a:p>
            <a:pPr algn="l" indent="0" marL="0">
              <a:buNone/>
            </a:pPr>
            <a:r>
              <a:rPr lang="en-US" sz="850" dirty="0">
                <a:solidFill>
                  <a:srgbClr val="FFFFFF"/>
                </a:solidFill>
                <a:latin typeface="Calibri" pitchFamily="34" charset="0"/>
                <a:ea typeface="Calibri" pitchFamily="34" charset="-122"/>
                <a:cs typeface="Calibri" pitchFamily="34" charset="-120"/>
              </a:rPr>
              <a:t>RDD overall — Wilcoxon, 18 scenarios</a:t>
            </a:r>
            <a:endParaRPr lang="en-US" sz="850" dirty="0"/>
          </a:p>
        </p:txBody>
      </p:sp>
      <p:sp>
        <p:nvSpPr>
          <p:cNvPr id="13" name="Text 9"/>
          <p:cNvSpPr/>
          <p:nvPr/>
        </p:nvSpPr>
        <p:spPr>
          <a:xfrm>
            <a:off x="4754880" y="4069080"/>
            <a:ext cx="3886200" cy="292608"/>
          </a:xfrm>
          <a:prstGeom prst="rect">
            <a:avLst/>
          </a:prstGeom>
          <a:noFill/>
          <a:ln/>
        </p:spPr>
        <p:txBody>
          <a:bodyPr wrap="square" lIns="0" tIns="0" rIns="0" bIns="0" rtlCol="0" anchor="ctr"/>
          <a:lstStyle/>
          <a:p>
            <a:pPr algn="r" indent="0" marL="0">
              <a:buNone/>
            </a:pPr>
            <a:r>
              <a:rPr lang="en-US" sz="850" b="1" dirty="0">
                <a:solidFill>
                  <a:srgbClr val="FFFFFF"/>
                </a:solidFill>
                <a:latin typeface="Calibri" pitchFamily="34" charset="0"/>
                <a:ea typeface="Calibri" pitchFamily="34" charset="-122"/>
                <a:cs typeface="Calibri" pitchFamily="34" charset="-120"/>
              </a:rPr>
              <a:t>W=68, p=0.468 — Not significant (confirmatory)</a:t>
            </a:r>
            <a:endParaRPr lang="en-US" sz="850" dirty="0"/>
          </a:p>
        </p:txBody>
      </p:sp>
      <p:sp>
        <p:nvSpPr>
          <p:cNvPr id="14" name="Shape 10"/>
          <p:cNvSpPr/>
          <p:nvPr/>
        </p:nvSpPr>
        <p:spPr>
          <a:xfrm>
            <a:off x="365760" y="4398264"/>
            <a:ext cx="8412480" cy="292608"/>
          </a:xfrm>
          <a:prstGeom prst="rect">
            <a:avLst/>
          </a:prstGeom>
          <a:solidFill>
            <a:srgbClr val="D4A853"/>
          </a:solidFill>
          <a:ln w="12700">
            <a:solidFill>
              <a:srgbClr val="D4A853"/>
            </a:solidFill>
            <a:prstDash val="solid"/>
          </a:ln>
        </p:spPr>
      </p:sp>
      <p:sp>
        <p:nvSpPr>
          <p:cNvPr id="15" name="Text 11"/>
          <p:cNvSpPr/>
          <p:nvPr/>
        </p:nvSpPr>
        <p:spPr>
          <a:xfrm>
            <a:off x="502920" y="4398264"/>
            <a:ext cx="4206240" cy="292608"/>
          </a:xfrm>
          <a:prstGeom prst="rect">
            <a:avLst/>
          </a:prstGeom>
          <a:noFill/>
          <a:ln/>
        </p:spPr>
        <p:txBody>
          <a:bodyPr wrap="square" lIns="0" tIns="0" rIns="0" bIns="0" rtlCol="0" anchor="ctr"/>
          <a:lstStyle/>
          <a:p>
            <a:pPr algn="l" indent="0" marL="0">
              <a:buNone/>
            </a:pPr>
            <a:r>
              <a:rPr lang="en-US" sz="850" dirty="0">
                <a:solidFill>
                  <a:srgbClr val="FFFFFF"/>
                </a:solidFill>
                <a:latin typeface="Calibri" pitchFamily="34" charset="0"/>
                <a:ea typeface="Calibri" pitchFamily="34" charset="-122"/>
                <a:cs typeface="Calibri" pitchFamily="34" charset="-120"/>
              </a:rPr>
              <a:t>RDD era-balanced scen. 10–14 — Binomial, n=5</a:t>
            </a:r>
            <a:endParaRPr lang="en-US" sz="850" dirty="0"/>
          </a:p>
        </p:txBody>
      </p:sp>
      <p:sp>
        <p:nvSpPr>
          <p:cNvPr id="16" name="Text 12"/>
          <p:cNvSpPr/>
          <p:nvPr/>
        </p:nvSpPr>
        <p:spPr>
          <a:xfrm>
            <a:off x="4754880" y="4398264"/>
            <a:ext cx="3886200" cy="292608"/>
          </a:xfrm>
          <a:prstGeom prst="rect">
            <a:avLst/>
          </a:prstGeom>
          <a:noFill/>
          <a:ln/>
        </p:spPr>
        <p:txBody>
          <a:bodyPr wrap="square" lIns="0" tIns="0" rIns="0" bIns="0" rtlCol="0" anchor="ctr"/>
          <a:lstStyle/>
          <a:p>
            <a:pPr algn="r" indent="0" marL="0">
              <a:buNone/>
            </a:pPr>
            <a:r>
              <a:rPr lang="en-US" sz="850" b="1" dirty="0">
                <a:solidFill>
                  <a:srgbClr val="FFFFFF"/>
                </a:solidFill>
                <a:latin typeface="Calibri" pitchFamily="34" charset="0"/>
                <a:ea typeface="Calibri" pitchFamily="34" charset="-122"/>
                <a:cs typeface="Calibri" pitchFamily="34" charset="-120"/>
              </a:rPr>
              <a:t>5/5 wins, p=0.031 — POST-HOC EXPLORATORY ⚑ requires prospective validation</a:t>
            </a:r>
            <a:endParaRPr lang="en-US" sz="850" dirty="0"/>
          </a:p>
        </p:txBody>
      </p:sp>
      <p:sp>
        <p:nvSpPr>
          <p:cNvPr id="17" name="Shape 13"/>
          <p:cNvSpPr/>
          <p:nvPr/>
        </p:nvSpPr>
        <p:spPr>
          <a:xfrm>
            <a:off x="365760" y="4727448"/>
            <a:ext cx="8412480" cy="292608"/>
          </a:xfrm>
          <a:prstGeom prst="rect">
            <a:avLst/>
          </a:prstGeom>
          <a:solidFill>
            <a:srgbClr val="B03A2E"/>
          </a:solidFill>
          <a:ln w="12700">
            <a:solidFill>
              <a:srgbClr val="B03A2E"/>
            </a:solidFill>
            <a:prstDash val="solid"/>
          </a:ln>
        </p:spPr>
      </p:sp>
      <p:sp>
        <p:nvSpPr>
          <p:cNvPr id="18" name="Text 14"/>
          <p:cNvSpPr/>
          <p:nvPr/>
        </p:nvSpPr>
        <p:spPr>
          <a:xfrm>
            <a:off x="502920" y="4727448"/>
            <a:ext cx="4206240" cy="292608"/>
          </a:xfrm>
          <a:prstGeom prst="rect">
            <a:avLst/>
          </a:prstGeom>
          <a:noFill/>
          <a:ln/>
        </p:spPr>
        <p:txBody>
          <a:bodyPr wrap="square" lIns="0" tIns="0" rIns="0" bIns="0" rtlCol="0" anchor="ctr"/>
          <a:lstStyle/>
          <a:p>
            <a:pPr algn="l" indent="0" marL="0">
              <a:buNone/>
            </a:pPr>
            <a:r>
              <a:rPr lang="en-US" sz="850" dirty="0">
                <a:solidFill>
                  <a:srgbClr val="FFFFFF"/>
                </a:solidFill>
                <a:latin typeface="Calibri" pitchFamily="34" charset="0"/>
                <a:ea typeface="Calibri" pitchFamily="34" charset="-122"/>
                <a:cs typeface="Calibri" pitchFamily="34" charset="-120"/>
              </a:rPr>
              <a:t>RVV rule-firing scen. — Wilcoxon, 9 scenarios</a:t>
            </a:r>
            <a:endParaRPr lang="en-US" sz="850" dirty="0"/>
          </a:p>
        </p:txBody>
      </p:sp>
      <p:sp>
        <p:nvSpPr>
          <p:cNvPr id="19" name="Text 15"/>
          <p:cNvSpPr/>
          <p:nvPr/>
        </p:nvSpPr>
        <p:spPr>
          <a:xfrm>
            <a:off x="4754880" y="4727448"/>
            <a:ext cx="3886200" cy="292608"/>
          </a:xfrm>
          <a:prstGeom prst="rect">
            <a:avLst/>
          </a:prstGeom>
          <a:noFill/>
          <a:ln/>
        </p:spPr>
        <p:txBody>
          <a:bodyPr wrap="square" lIns="0" tIns="0" rIns="0" bIns="0" rtlCol="0" anchor="ctr"/>
          <a:lstStyle/>
          <a:p>
            <a:pPr algn="r" indent="0" marL="0">
              <a:buNone/>
            </a:pPr>
            <a:r>
              <a:rPr lang="en-US" sz="850" b="1" dirty="0">
                <a:solidFill>
                  <a:srgbClr val="FFFFFF"/>
                </a:solidFill>
                <a:latin typeface="Calibri" pitchFamily="34" charset="0"/>
                <a:ea typeface="Calibri" pitchFamily="34" charset="-122"/>
                <a:cs typeface="Calibri" pitchFamily="34" charset="-120"/>
              </a:rPr>
              <a:t>W=0, p=0.004 — Rules actively harmful (confirmatory negative)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53"/>
          </a:solidFill>
          <a:ln w="12700">
            <a:solidFill>
              <a:srgbClr val="D4A853"/>
            </a:solidFill>
            <a:prstDash val="solid"/>
          </a:ln>
        </p:spPr>
      </p:sp>
      <p:sp>
        <p:nvSpPr>
          <p:cNvPr id="3" name="Text 1"/>
          <p:cNvSpPr/>
          <p:nvPr/>
        </p:nvSpPr>
        <p:spPr>
          <a:xfrm>
            <a:off x="457200" y="109728"/>
            <a:ext cx="8229600" cy="50292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Why Did Prediction Fail?</a:t>
            </a:r>
            <a:endParaRPr lang="en-US" sz="2200" dirty="0"/>
          </a:p>
        </p:txBody>
      </p:sp>
      <p:sp>
        <p:nvSpPr>
          <p:cNvPr id="4" name="Text 2"/>
          <p:cNvSpPr/>
          <p:nvPr/>
        </p:nvSpPr>
        <p:spPr>
          <a:xfrm>
            <a:off x="457200" y="612648"/>
            <a:ext cx="8229600" cy="256032"/>
          </a:xfrm>
          <a:prstGeom prst="rect">
            <a:avLst/>
          </a:prstGeom>
          <a:noFill/>
          <a:ln/>
        </p:spPr>
        <p:txBody>
          <a:bodyPr wrap="square" lIns="0" tIns="0" rIns="0" bIns="0" rtlCol="0" anchor="ctr"/>
          <a:lstStyle/>
          <a:p>
            <a:pPr algn="l" indent="0" marL="0">
              <a:buNone/>
            </a:pPr>
            <a:r>
              <a:rPr lang="en-US" sz="1100" i="1" dirty="0">
                <a:solidFill>
                  <a:srgbClr val="D4A853"/>
                </a:solidFill>
                <a:latin typeface="Calibri" pitchFamily="34" charset="0"/>
                <a:ea typeface="Calibri" pitchFamily="34" charset="-122"/>
                <a:cs typeface="Calibri" pitchFamily="34" charset="-120"/>
              </a:rPr>
              <a:t>A principled, multi-level explanation — diagnosing failure modes is itself a scientific contribution</a:t>
            </a:r>
            <a:endParaRPr lang="en-US" sz="1100" dirty="0"/>
          </a:p>
        </p:txBody>
      </p:sp>
      <p:sp>
        <p:nvSpPr>
          <p:cNvPr id="5" name="Shape 3"/>
          <p:cNvSpPr/>
          <p:nvPr/>
        </p:nvSpPr>
        <p:spPr>
          <a:xfrm>
            <a:off x="457200" y="896112"/>
            <a:ext cx="8229600" cy="18288"/>
          </a:xfrm>
          <a:prstGeom prst="rect">
            <a:avLst/>
          </a:prstGeom>
          <a:solidFill>
            <a:srgbClr val="253756"/>
          </a:solidFill>
          <a:ln w="12700">
            <a:solidFill>
              <a:srgbClr val="253756"/>
            </a:solidFill>
            <a:prstDash val="solid"/>
          </a:ln>
        </p:spPr>
      </p:sp>
      <p:sp>
        <p:nvSpPr>
          <p:cNvPr id="6" name="Shape 4"/>
          <p:cNvSpPr/>
          <p:nvPr/>
        </p:nvSpPr>
        <p:spPr>
          <a:xfrm>
            <a:off x="411480" y="1005840"/>
            <a:ext cx="4023360" cy="1783080"/>
          </a:xfrm>
          <a:prstGeom prst="rect">
            <a:avLst/>
          </a:prstGeom>
          <a:solidFill>
            <a:srgbClr val="2E4A7C"/>
          </a:solidFill>
          <a:ln w="12700">
            <a:solidFill>
              <a:srgbClr val="2E4A7C"/>
            </a:solidFill>
            <a:prstDash val="solid"/>
          </a:ln>
        </p:spPr>
      </p:sp>
      <p:sp>
        <p:nvSpPr>
          <p:cNvPr id="7" name="Text 5"/>
          <p:cNvSpPr/>
          <p:nvPr/>
        </p:nvSpPr>
        <p:spPr>
          <a:xfrm>
            <a:off x="502920" y="1069848"/>
            <a:ext cx="365760" cy="384048"/>
          </a:xfrm>
          <a:prstGeom prst="rect">
            <a:avLst/>
          </a:prstGeom>
          <a:noFill/>
          <a:ln/>
        </p:spPr>
        <p:txBody>
          <a:bodyPr wrap="square" lIns="0" tIns="0" rIns="0" bIns="0" rtlCol="0" anchor="ctr"/>
          <a:lstStyle/>
          <a:p>
            <a:pPr algn="ctr" indent="0" marL="0">
              <a:buNone/>
            </a:pPr>
            <a:r>
              <a:rPr lang="en-US" sz="2200" b="1" dirty="0">
                <a:solidFill>
                  <a:srgbClr val="D4A853"/>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923544" y="1069848"/>
            <a:ext cx="3438144" cy="384048"/>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Signal Too Weak for Prediction</a:t>
            </a:r>
            <a:endParaRPr lang="en-US" sz="1100" dirty="0"/>
          </a:p>
        </p:txBody>
      </p:sp>
      <p:sp>
        <p:nvSpPr>
          <p:cNvPr id="9" name="Shape 7"/>
          <p:cNvSpPr/>
          <p:nvPr/>
        </p:nvSpPr>
        <p:spPr>
          <a:xfrm>
            <a:off x="502920" y="1463040"/>
            <a:ext cx="3840480" cy="18288"/>
          </a:xfrm>
          <a:prstGeom prst="rect">
            <a:avLst/>
          </a:prstGeom>
          <a:solidFill>
            <a:srgbClr val="F5D78A"/>
          </a:solidFill>
          <a:ln w="12700">
            <a:solidFill>
              <a:srgbClr val="F5D78A"/>
            </a:solidFill>
            <a:prstDash val="solid"/>
          </a:ln>
        </p:spPr>
      </p:sp>
      <p:sp>
        <p:nvSpPr>
          <p:cNvPr id="10" name="Text 8"/>
          <p:cNvSpPr/>
          <p:nvPr/>
        </p:nvSpPr>
        <p:spPr>
          <a:xfrm>
            <a:off x="521208" y="1517904"/>
            <a:ext cx="3840480" cy="1188720"/>
          </a:xfrm>
          <a:prstGeom prst="rect">
            <a:avLst/>
          </a:prstGeom>
          <a:noFill/>
          <a:ln/>
        </p:spPr>
        <p:txBody>
          <a:bodyPr wrap="square" lIns="0" tIns="0" rIns="0" bIns="0" rtlCol="0" anchor="t"/>
          <a:lstStyle/>
          <a:p>
            <a:pPr algn="l" indent="0" marL="0">
              <a:buNone/>
            </a:pPr>
            <a:r>
              <a:rPr lang="en-US" sz="880" dirty="0">
                <a:solidFill>
                  <a:srgbClr val="F0F4F8"/>
                </a:solidFill>
                <a:latin typeface="Calibri" pitchFamily="34" charset="0"/>
                <a:ea typeface="Calibri" pitchFamily="34" charset="-122"/>
                <a:cs typeface="Calibri" pitchFamily="34" charset="-120"/>
              </a:rPr>
              <a:t>Climate features explain ~22% of residual variance (|r|≈0.47, CV=47%). KS test needs only distributional shift to EXIST; prediction requires the shift to dominate over 78% unexplained noise. The association is real — it is just insufficient for reliable out-of-sample performance.</a:t>
            </a:r>
            <a:endParaRPr lang="en-US" sz="880" dirty="0"/>
          </a:p>
        </p:txBody>
      </p:sp>
      <p:sp>
        <p:nvSpPr>
          <p:cNvPr id="11" name="Shape 9"/>
          <p:cNvSpPr/>
          <p:nvPr/>
        </p:nvSpPr>
        <p:spPr>
          <a:xfrm>
            <a:off x="4709160" y="1005840"/>
            <a:ext cx="4023360" cy="1783080"/>
          </a:xfrm>
          <a:prstGeom prst="rect">
            <a:avLst/>
          </a:prstGeom>
          <a:solidFill>
            <a:srgbClr val="0D7377"/>
          </a:solidFill>
          <a:ln w="12700">
            <a:solidFill>
              <a:srgbClr val="0D7377"/>
            </a:solidFill>
            <a:prstDash val="solid"/>
          </a:ln>
        </p:spPr>
      </p:sp>
      <p:sp>
        <p:nvSpPr>
          <p:cNvPr id="12" name="Text 10"/>
          <p:cNvSpPr/>
          <p:nvPr/>
        </p:nvSpPr>
        <p:spPr>
          <a:xfrm>
            <a:off x="4800600" y="1069848"/>
            <a:ext cx="365760" cy="384048"/>
          </a:xfrm>
          <a:prstGeom prst="rect">
            <a:avLst/>
          </a:prstGeom>
          <a:noFill/>
          <a:ln/>
        </p:spPr>
        <p:txBody>
          <a:bodyPr wrap="square" lIns="0" tIns="0" rIns="0" bIns="0" rtlCol="0" anchor="ctr"/>
          <a:lstStyle/>
          <a:p>
            <a:pPr algn="ctr" indent="0" marL="0">
              <a:buNone/>
            </a:pPr>
            <a:r>
              <a:rPr lang="en-US" sz="2200" b="1" dirty="0">
                <a:solidFill>
                  <a:srgbClr val="D4A853"/>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5221224" y="1069848"/>
            <a:ext cx="3438144" cy="384048"/>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Decision 1 / Decision 2 Structural Tension</a:t>
            </a:r>
            <a:endParaRPr lang="en-US" sz="1100" dirty="0"/>
          </a:p>
        </p:txBody>
      </p:sp>
      <p:sp>
        <p:nvSpPr>
          <p:cNvPr id="14" name="Shape 12"/>
          <p:cNvSpPr/>
          <p:nvPr/>
        </p:nvSpPr>
        <p:spPr>
          <a:xfrm>
            <a:off x="4800600" y="1463040"/>
            <a:ext cx="3840480" cy="18288"/>
          </a:xfrm>
          <a:prstGeom prst="rect">
            <a:avLst/>
          </a:prstGeom>
          <a:solidFill>
            <a:srgbClr val="F5D78A"/>
          </a:solidFill>
          <a:ln w="12700">
            <a:solidFill>
              <a:srgbClr val="F5D78A"/>
            </a:solidFill>
            <a:prstDash val="solid"/>
          </a:ln>
        </p:spPr>
      </p:sp>
      <p:sp>
        <p:nvSpPr>
          <p:cNvPr id="15" name="Text 13"/>
          <p:cNvSpPr/>
          <p:nvPr/>
        </p:nvSpPr>
        <p:spPr>
          <a:xfrm>
            <a:off x="4818888" y="1517904"/>
            <a:ext cx="3840480" cy="1188720"/>
          </a:xfrm>
          <a:prstGeom prst="rect">
            <a:avLst/>
          </a:prstGeom>
          <a:noFill/>
          <a:ln/>
        </p:spPr>
        <p:txBody>
          <a:bodyPr wrap="square" lIns="0" tIns="0" rIns="0" bIns="0" rtlCol="0" anchor="t"/>
          <a:lstStyle/>
          <a:p>
            <a:pPr algn="l" indent="0" marL="0">
              <a:buNone/>
            </a:pPr>
            <a:r>
              <a:rPr lang="en-US" sz="880" dirty="0">
                <a:solidFill>
                  <a:srgbClr val="F0F4F8"/>
                </a:solidFill>
                <a:latin typeface="Calibri" pitchFamily="34" charset="0"/>
                <a:ea typeface="Calibri" pitchFamily="34" charset="-122"/>
                <a:cs typeface="Calibri" pitchFamily="34" charset="-120"/>
              </a:rPr>
              <a:t>Better detrending (LOESS) improves Decision 1 for RVV: 140→90 mhl (−36%) but eliminates ALL CarenR rules. The demands of accurate trend extrapolation and sufficient structured residuals for rule induction are in fundamental conflict under a time-only detrending covariate.</a:t>
            </a:r>
            <a:endParaRPr lang="en-US" sz="880" dirty="0"/>
          </a:p>
        </p:txBody>
      </p:sp>
      <p:sp>
        <p:nvSpPr>
          <p:cNvPr id="16" name="Shape 14"/>
          <p:cNvSpPr/>
          <p:nvPr/>
        </p:nvSpPr>
        <p:spPr>
          <a:xfrm>
            <a:off x="411480" y="2926080"/>
            <a:ext cx="4023360" cy="1783080"/>
          </a:xfrm>
          <a:prstGeom prst="rect">
            <a:avLst/>
          </a:prstGeom>
          <a:solidFill>
            <a:srgbClr val="253756"/>
          </a:solidFill>
          <a:ln w="12700">
            <a:solidFill>
              <a:srgbClr val="253756"/>
            </a:solidFill>
            <a:prstDash val="solid"/>
          </a:ln>
        </p:spPr>
      </p:sp>
      <p:sp>
        <p:nvSpPr>
          <p:cNvPr id="17" name="Text 15"/>
          <p:cNvSpPr/>
          <p:nvPr/>
        </p:nvSpPr>
        <p:spPr>
          <a:xfrm>
            <a:off x="502920" y="2990088"/>
            <a:ext cx="365760" cy="384048"/>
          </a:xfrm>
          <a:prstGeom prst="rect">
            <a:avLst/>
          </a:prstGeom>
          <a:noFill/>
          <a:ln/>
        </p:spPr>
        <p:txBody>
          <a:bodyPr wrap="square" lIns="0" tIns="0" rIns="0" bIns="0" rtlCol="0" anchor="ctr"/>
          <a:lstStyle/>
          <a:p>
            <a:pPr algn="ctr" indent="0" marL="0">
              <a:buNone/>
            </a:pPr>
            <a:r>
              <a:rPr lang="en-US" sz="2200" b="1" dirty="0">
                <a:solidFill>
                  <a:srgbClr val="D4A853"/>
                </a:solidFill>
                <a:latin typeface="Calibri" pitchFamily="34" charset="0"/>
                <a:ea typeface="Calibri" pitchFamily="34" charset="-122"/>
                <a:cs typeface="Calibri" pitchFamily="34" charset="-120"/>
              </a:rPr>
              <a:t>3</a:t>
            </a:r>
            <a:endParaRPr lang="en-US" sz="2200" dirty="0"/>
          </a:p>
        </p:txBody>
      </p:sp>
      <p:sp>
        <p:nvSpPr>
          <p:cNvPr id="18" name="Text 16"/>
          <p:cNvSpPr/>
          <p:nvPr/>
        </p:nvSpPr>
        <p:spPr>
          <a:xfrm>
            <a:off x="923544" y="2990088"/>
            <a:ext cx="3438144" cy="384048"/>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Era Contamination of Training Folds</a:t>
            </a:r>
            <a:endParaRPr lang="en-US" sz="1100" dirty="0"/>
          </a:p>
        </p:txBody>
      </p:sp>
      <p:sp>
        <p:nvSpPr>
          <p:cNvPr id="19" name="Shape 17"/>
          <p:cNvSpPr/>
          <p:nvPr/>
        </p:nvSpPr>
        <p:spPr>
          <a:xfrm>
            <a:off x="502920" y="3383280"/>
            <a:ext cx="3840480" cy="18288"/>
          </a:xfrm>
          <a:prstGeom prst="rect">
            <a:avLst/>
          </a:prstGeom>
          <a:solidFill>
            <a:srgbClr val="F5D78A"/>
          </a:solidFill>
          <a:ln w="12700">
            <a:solidFill>
              <a:srgbClr val="F5D78A"/>
            </a:solidFill>
            <a:prstDash val="solid"/>
          </a:ln>
        </p:spPr>
      </p:sp>
      <p:sp>
        <p:nvSpPr>
          <p:cNvPr id="20" name="Text 18"/>
          <p:cNvSpPr/>
          <p:nvPr/>
        </p:nvSpPr>
        <p:spPr>
          <a:xfrm>
            <a:off x="521208" y="3438144"/>
            <a:ext cx="3840480" cy="1188720"/>
          </a:xfrm>
          <a:prstGeom prst="rect">
            <a:avLst/>
          </a:prstGeom>
          <a:noFill/>
          <a:ln/>
        </p:spPr>
        <p:txBody>
          <a:bodyPr wrap="square" lIns="0" tIns="0" rIns="0" bIns="0" rtlCol="0" anchor="t"/>
          <a:lstStyle/>
          <a:p>
            <a:pPr algn="l" indent="0" marL="0">
              <a:buNone/>
            </a:pPr>
            <a:r>
              <a:rPr lang="en-US" sz="880" dirty="0">
                <a:solidFill>
                  <a:srgbClr val="F0F4F8"/>
                </a:solidFill>
                <a:latin typeface="Calibri" pitchFamily="34" charset="0"/>
                <a:ea typeface="Calibri" pitchFamily="34" charset="-122"/>
                <a:cs typeface="Calibri" pitchFamily="34" charset="-120"/>
              </a:rPr>
              <a:t>Training dominated by pre-1990 data produces rules calibrated on a production regime that no longer exists in test years. RVV dominant features retain only 15–16% correlation after era-trend removal. Era-specific rules fire on test years from a different regime and add noise rather than signal.</a:t>
            </a:r>
            <a:endParaRPr lang="en-US" sz="880" dirty="0"/>
          </a:p>
        </p:txBody>
      </p:sp>
      <p:sp>
        <p:nvSpPr>
          <p:cNvPr id="21" name="Shape 19"/>
          <p:cNvSpPr/>
          <p:nvPr/>
        </p:nvSpPr>
        <p:spPr>
          <a:xfrm>
            <a:off x="4709160" y="2926080"/>
            <a:ext cx="4023360" cy="1783080"/>
          </a:xfrm>
          <a:prstGeom prst="rect">
            <a:avLst/>
          </a:prstGeom>
          <a:solidFill>
            <a:srgbClr val="B03A2E"/>
          </a:solidFill>
          <a:ln w="12700">
            <a:solidFill>
              <a:srgbClr val="B03A2E"/>
            </a:solidFill>
            <a:prstDash val="solid"/>
          </a:ln>
        </p:spPr>
      </p:sp>
      <p:sp>
        <p:nvSpPr>
          <p:cNvPr id="22" name="Text 20"/>
          <p:cNvSpPr/>
          <p:nvPr/>
        </p:nvSpPr>
        <p:spPr>
          <a:xfrm>
            <a:off x="4800600" y="2990088"/>
            <a:ext cx="365760" cy="384048"/>
          </a:xfrm>
          <a:prstGeom prst="rect">
            <a:avLst/>
          </a:prstGeom>
          <a:noFill/>
          <a:ln/>
        </p:spPr>
        <p:txBody>
          <a:bodyPr wrap="square" lIns="0" tIns="0" rIns="0" bIns="0" rtlCol="0" anchor="ctr"/>
          <a:lstStyle/>
          <a:p>
            <a:pPr algn="ctr" indent="0" marL="0">
              <a:buNone/>
            </a:pPr>
            <a:r>
              <a:rPr lang="en-US" sz="2200" b="1" dirty="0">
                <a:solidFill>
                  <a:srgbClr val="D4A853"/>
                </a:solidFill>
                <a:latin typeface="Calibri" pitchFamily="34" charset="0"/>
                <a:ea typeface="Calibri" pitchFamily="34" charset="-122"/>
                <a:cs typeface="Calibri" pitchFamily="34" charset="-120"/>
              </a:rPr>
              <a:t>4</a:t>
            </a:r>
            <a:endParaRPr lang="en-US" sz="2200" dirty="0"/>
          </a:p>
        </p:txBody>
      </p:sp>
      <p:sp>
        <p:nvSpPr>
          <p:cNvPr id="23" name="Text 21"/>
          <p:cNvSpPr/>
          <p:nvPr/>
        </p:nvSpPr>
        <p:spPr>
          <a:xfrm>
            <a:off x="5221224" y="2990088"/>
            <a:ext cx="3438144" cy="384048"/>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Missing Structural Covariates</a:t>
            </a:r>
            <a:endParaRPr lang="en-US" sz="1100" dirty="0"/>
          </a:p>
        </p:txBody>
      </p:sp>
      <p:sp>
        <p:nvSpPr>
          <p:cNvPr id="24" name="Shape 22"/>
          <p:cNvSpPr/>
          <p:nvPr/>
        </p:nvSpPr>
        <p:spPr>
          <a:xfrm>
            <a:off x="4800600" y="3383280"/>
            <a:ext cx="3840480" cy="18288"/>
          </a:xfrm>
          <a:prstGeom prst="rect">
            <a:avLst/>
          </a:prstGeom>
          <a:solidFill>
            <a:srgbClr val="F5D78A"/>
          </a:solidFill>
          <a:ln w="12700">
            <a:solidFill>
              <a:srgbClr val="F5D78A"/>
            </a:solidFill>
            <a:prstDash val="solid"/>
          </a:ln>
        </p:spPr>
      </p:sp>
      <p:sp>
        <p:nvSpPr>
          <p:cNvPr id="25" name="Text 23"/>
          <p:cNvSpPr/>
          <p:nvPr/>
        </p:nvSpPr>
        <p:spPr>
          <a:xfrm>
            <a:off x="4818888" y="3438144"/>
            <a:ext cx="3840480" cy="1188720"/>
          </a:xfrm>
          <a:prstGeom prst="rect">
            <a:avLst/>
          </a:prstGeom>
          <a:noFill/>
          <a:ln/>
        </p:spPr>
        <p:txBody>
          <a:bodyPr wrap="square" lIns="0" tIns="0" rIns="0" bIns="0" rtlCol="0" anchor="t"/>
          <a:lstStyle/>
          <a:p>
            <a:pPr algn="l" indent="0" marL="0">
              <a:buNone/>
            </a:pPr>
            <a:r>
              <a:rPr lang="en-US" sz="880" dirty="0">
                <a:solidFill>
                  <a:srgbClr val="F0F4F8"/>
                </a:solidFill>
                <a:latin typeface="Calibri" pitchFamily="34" charset="0"/>
                <a:ea typeface="Calibri" pitchFamily="34" charset="-122"/>
                <a:cs typeface="Calibri" pitchFamily="34" charset="-120"/>
              </a:rPr>
              <a:t>Non-climate factors (planted area, EU quotas, certified producers) drive structural production changes not captured by time-only detrending. These are the missing piece for Decision 1. Incorporating structural covariates into the trend model is the primary recommended future direction.</a:t>
            </a:r>
            <a:endParaRPr lang="en-US" sz="880" dirty="0"/>
          </a:p>
        </p:txBody>
      </p:sp>
      <p:sp>
        <p:nvSpPr>
          <p:cNvPr id="26" name="Shape 24"/>
          <p:cNvSpPr/>
          <p:nvPr/>
        </p:nvSpPr>
        <p:spPr>
          <a:xfrm>
            <a:off x="411480" y="4828032"/>
            <a:ext cx="8321040" cy="228600"/>
          </a:xfrm>
          <a:prstGeom prst="rect">
            <a:avLst/>
          </a:prstGeom>
          <a:solidFill>
            <a:srgbClr val="D4A853"/>
          </a:solidFill>
          <a:ln w="12700">
            <a:solidFill>
              <a:srgbClr val="D4A853"/>
            </a:solidFill>
            <a:prstDash val="solid"/>
          </a:ln>
        </p:spPr>
      </p:sp>
      <p:sp>
        <p:nvSpPr>
          <p:cNvPr id="27" name="Text 25"/>
          <p:cNvSpPr/>
          <p:nvPr/>
        </p:nvSpPr>
        <p:spPr>
          <a:xfrm>
            <a:off x="411480" y="4828032"/>
            <a:ext cx="8321040" cy="228600"/>
          </a:xfrm>
          <a:prstGeom prst="rect">
            <a:avLst/>
          </a:prstGeom>
          <a:noFill/>
          <a:ln/>
        </p:spPr>
        <p:txBody>
          <a:bodyPr wrap="square" lIns="0" tIns="0" rIns="0" bIns="0"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This is NOT a failure of CarenR. It is a property of the problem. Precisely characterising the failure mode is the methodological contribution.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53"/>
          </a:solidFill>
          <a:ln w="12700">
            <a:solidFill>
              <a:srgbClr val="D4A853"/>
            </a:solidFill>
            <a:prstDash val="solid"/>
          </a:ln>
        </p:spPr>
      </p:sp>
      <p:sp>
        <p:nvSpPr>
          <p:cNvPr id="3" name="Text 1"/>
          <p:cNvSpPr/>
          <p:nvPr/>
        </p:nvSpPr>
        <p:spPr>
          <a:xfrm>
            <a:off x="457200" y="109728"/>
            <a:ext cx="8229600" cy="50292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Scientific Contributions</a:t>
            </a:r>
            <a:endParaRPr lang="en-US" sz="2200" dirty="0"/>
          </a:p>
        </p:txBody>
      </p:sp>
      <p:sp>
        <p:nvSpPr>
          <p:cNvPr id="4" name="Text 2"/>
          <p:cNvSpPr/>
          <p:nvPr/>
        </p:nvSpPr>
        <p:spPr>
          <a:xfrm>
            <a:off x="457200" y="612648"/>
            <a:ext cx="8229600" cy="256032"/>
          </a:xfrm>
          <a:prstGeom prst="rect">
            <a:avLst/>
          </a:prstGeom>
          <a:noFill/>
          <a:ln/>
        </p:spPr>
        <p:txBody>
          <a:bodyPr wrap="square" lIns="0" tIns="0" rIns="0" bIns="0" rtlCol="0" anchor="ctr"/>
          <a:lstStyle/>
          <a:p>
            <a:pPr algn="l" indent="0" marL="0">
              <a:buNone/>
            </a:pPr>
            <a:r>
              <a:rPr lang="en-US" sz="1100" i="1" dirty="0">
                <a:solidFill>
                  <a:srgbClr val="D4A853"/>
                </a:solidFill>
                <a:latin typeface="Calibri" pitchFamily="34" charset="0"/>
                <a:ea typeface="Calibri" pitchFamily="34" charset="-122"/>
                <a:cs typeface="Calibri" pitchFamily="34" charset="-120"/>
              </a:rPr>
              <a:t>Methodological advances transferable beyond wine production</a:t>
            </a:r>
            <a:endParaRPr lang="en-US" sz="1100" dirty="0"/>
          </a:p>
        </p:txBody>
      </p:sp>
      <p:sp>
        <p:nvSpPr>
          <p:cNvPr id="5" name="Shape 3"/>
          <p:cNvSpPr/>
          <p:nvPr/>
        </p:nvSpPr>
        <p:spPr>
          <a:xfrm>
            <a:off x="457200" y="896112"/>
            <a:ext cx="8229600" cy="18288"/>
          </a:xfrm>
          <a:prstGeom prst="rect">
            <a:avLst/>
          </a:prstGeom>
          <a:solidFill>
            <a:srgbClr val="D8E2EE"/>
          </a:solidFill>
          <a:ln w="12700">
            <a:solidFill>
              <a:srgbClr val="D8E2EE"/>
            </a:solidFill>
            <a:prstDash val="solid"/>
          </a:ln>
        </p:spPr>
      </p:sp>
      <p:sp>
        <p:nvSpPr>
          <p:cNvPr id="6" name="Shape 4"/>
          <p:cNvSpPr/>
          <p:nvPr/>
        </p:nvSpPr>
        <p:spPr>
          <a:xfrm>
            <a:off x="411480" y="1024128"/>
            <a:ext cx="64008" cy="658368"/>
          </a:xfrm>
          <a:prstGeom prst="rect">
            <a:avLst/>
          </a:prstGeom>
          <a:solidFill>
            <a:srgbClr val="0D7377"/>
          </a:solidFill>
          <a:ln w="12700">
            <a:solidFill>
              <a:srgbClr val="0D7377"/>
            </a:solidFill>
            <a:prstDash val="solid"/>
          </a:ln>
        </p:spPr>
      </p:sp>
      <p:sp>
        <p:nvSpPr>
          <p:cNvPr id="7" name="Shape 5"/>
          <p:cNvSpPr/>
          <p:nvPr/>
        </p:nvSpPr>
        <p:spPr>
          <a:xfrm>
            <a:off x="475488" y="1024128"/>
            <a:ext cx="8247888" cy="658368"/>
          </a:xfrm>
          <a:prstGeom prst="rect">
            <a:avLst/>
          </a:prstGeom>
          <a:solidFill>
            <a:srgbClr val="D8E2EE"/>
          </a:solidFill>
          <a:ln w="12700">
            <a:solidFill>
              <a:srgbClr val="D8E2EE"/>
            </a:solidFill>
            <a:prstDash val="solid"/>
          </a:ln>
        </p:spPr>
      </p:sp>
      <p:sp>
        <p:nvSpPr>
          <p:cNvPr id="8" name="Text 6"/>
          <p:cNvSpPr/>
          <p:nvPr/>
        </p:nvSpPr>
        <p:spPr>
          <a:xfrm>
            <a:off x="594360" y="1060704"/>
            <a:ext cx="5943600" cy="274320"/>
          </a:xfrm>
          <a:prstGeom prst="rect">
            <a:avLst/>
          </a:prstGeom>
          <a:noFill/>
          <a:ln/>
        </p:spPr>
        <p:txBody>
          <a:bodyPr wrap="square" lIns="0" tIns="0" rIns="0" bIns="0" rtlCol="0" anchor="ctr"/>
          <a:lstStyle/>
          <a:p>
            <a:pPr algn="l" indent="0" marL="0">
              <a:buNone/>
            </a:pPr>
            <a:r>
              <a:rPr lang="en-US" sz="1100" b="1" dirty="0">
                <a:solidFill>
                  <a:srgbClr val="0D1B2A"/>
                </a:solidFill>
                <a:latin typeface="Calibri" pitchFamily="34" charset="0"/>
                <a:ea typeface="Calibri" pitchFamily="34" charset="-122"/>
                <a:cs typeface="Calibri" pitchFamily="34" charset="-120"/>
              </a:rPr>
              <a:t>Two-Decision Decomposition Framework</a:t>
            </a:r>
            <a:endParaRPr lang="en-US" sz="1100" dirty="0"/>
          </a:p>
        </p:txBody>
      </p:sp>
      <p:sp>
        <p:nvSpPr>
          <p:cNvPr id="9" name="Text 7"/>
          <p:cNvSpPr/>
          <p:nvPr/>
        </p:nvSpPr>
        <p:spPr>
          <a:xfrm>
            <a:off x="7406640" y="1060704"/>
            <a:ext cx="1234440" cy="274320"/>
          </a:xfrm>
          <a:prstGeom prst="rect">
            <a:avLst/>
          </a:prstGeom>
          <a:noFill/>
          <a:ln/>
        </p:spPr>
        <p:txBody>
          <a:bodyPr wrap="square" lIns="0" tIns="0" rIns="0" bIns="0" rtlCol="0" anchor="ctr"/>
          <a:lstStyle/>
          <a:p>
            <a:pPr algn="r" indent="0" marL="0">
              <a:buNone/>
            </a:pPr>
            <a:r>
              <a:rPr lang="en-US" sz="800" b="1" i="1" dirty="0">
                <a:solidFill>
                  <a:srgbClr val="0D7377"/>
                </a:solidFill>
                <a:latin typeface="Calibri" pitchFamily="34" charset="0"/>
                <a:ea typeface="Calibri" pitchFamily="34" charset="-122"/>
                <a:cs typeface="Calibri" pitchFamily="34" charset="-120"/>
              </a:rPr>
              <a:t>Novel Framework</a:t>
            </a:r>
            <a:endParaRPr lang="en-US" sz="800" dirty="0"/>
          </a:p>
        </p:txBody>
      </p:sp>
      <p:sp>
        <p:nvSpPr>
          <p:cNvPr id="10" name="Text 8"/>
          <p:cNvSpPr/>
          <p:nvPr/>
        </p:nvSpPr>
        <p:spPr>
          <a:xfrm>
            <a:off x="594360" y="1353312"/>
            <a:ext cx="8046720" cy="310896"/>
          </a:xfrm>
          <a:prstGeom prst="rect">
            <a:avLst/>
          </a:prstGeom>
          <a:noFill/>
          <a:ln/>
        </p:spPr>
        <p:txBody>
          <a:bodyPr wrap="square" lIns="0" tIns="0" rIns="0" bIns="0" rtlCol="0" anchor="t"/>
          <a:lstStyle/>
          <a:p>
            <a:pPr algn="l" indent="0" marL="0">
              <a:buNone/>
            </a:pPr>
            <a:r>
              <a:rPr lang="en-US" sz="850" dirty="0">
                <a:solidFill>
                  <a:srgbClr val="7F8FA6"/>
                </a:solidFill>
                <a:latin typeface="Calibri" pitchFamily="34" charset="0"/>
                <a:ea typeface="Calibri" pitchFamily="34" charset="-122"/>
                <a:cs typeface="Calibri" pitchFamily="34" charset="-120"/>
              </a:rPr>
              <a:t>Separates prediction error into trend quality (Decision 1) and residual signal extraction (Decision 2). Transferable diagnostic tool for any agroclimatic forecasting problem with structural non-stationarity and climate signal co-existing.</a:t>
            </a:r>
            <a:endParaRPr lang="en-US" sz="850" dirty="0"/>
          </a:p>
        </p:txBody>
      </p:sp>
      <p:sp>
        <p:nvSpPr>
          <p:cNvPr id="11" name="Shape 9"/>
          <p:cNvSpPr/>
          <p:nvPr/>
        </p:nvSpPr>
        <p:spPr>
          <a:xfrm>
            <a:off x="411480" y="1773936"/>
            <a:ext cx="64008" cy="658368"/>
          </a:xfrm>
          <a:prstGeom prst="rect">
            <a:avLst/>
          </a:prstGeom>
          <a:solidFill>
            <a:srgbClr val="2E4A7C"/>
          </a:solidFill>
          <a:ln w="12700">
            <a:solidFill>
              <a:srgbClr val="2E4A7C"/>
            </a:solidFill>
            <a:prstDash val="solid"/>
          </a:ln>
        </p:spPr>
      </p:sp>
      <p:sp>
        <p:nvSpPr>
          <p:cNvPr id="12" name="Shape 10"/>
          <p:cNvSpPr/>
          <p:nvPr/>
        </p:nvSpPr>
        <p:spPr>
          <a:xfrm>
            <a:off x="475488" y="1773936"/>
            <a:ext cx="8247888" cy="658368"/>
          </a:xfrm>
          <a:prstGeom prst="rect">
            <a:avLst/>
          </a:prstGeom>
          <a:solidFill>
            <a:srgbClr val="D8E2EE"/>
          </a:solidFill>
          <a:ln w="12700">
            <a:solidFill>
              <a:srgbClr val="D8E2EE"/>
            </a:solidFill>
            <a:prstDash val="solid"/>
          </a:ln>
        </p:spPr>
      </p:sp>
      <p:sp>
        <p:nvSpPr>
          <p:cNvPr id="13" name="Text 11"/>
          <p:cNvSpPr/>
          <p:nvPr/>
        </p:nvSpPr>
        <p:spPr>
          <a:xfrm>
            <a:off x="594360" y="1810512"/>
            <a:ext cx="5943600" cy="274320"/>
          </a:xfrm>
          <a:prstGeom prst="rect">
            <a:avLst/>
          </a:prstGeom>
          <a:noFill/>
          <a:ln/>
        </p:spPr>
        <p:txBody>
          <a:bodyPr wrap="square" lIns="0" tIns="0" rIns="0" bIns="0" rtlCol="0" anchor="ctr"/>
          <a:lstStyle/>
          <a:p>
            <a:pPr algn="l" indent="0" marL="0">
              <a:buNone/>
            </a:pPr>
            <a:r>
              <a:rPr lang="en-US" sz="1100" b="1" dirty="0">
                <a:solidFill>
                  <a:srgbClr val="0D1B2A"/>
                </a:solidFill>
                <a:latin typeface="Calibri" pitchFamily="34" charset="0"/>
                <a:ea typeface="Calibri" pitchFamily="34" charset="-122"/>
                <a:cs typeface="Calibri" pitchFamily="34" charset="-120"/>
              </a:rPr>
              <a:t>Systematic 11-Variant CarenR Sensitivity Analysis</a:t>
            </a:r>
            <a:endParaRPr lang="en-US" sz="1100" dirty="0"/>
          </a:p>
        </p:txBody>
      </p:sp>
      <p:sp>
        <p:nvSpPr>
          <p:cNvPr id="14" name="Text 12"/>
          <p:cNvSpPr/>
          <p:nvPr/>
        </p:nvSpPr>
        <p:spPr>
          <a:xfrm>
            <a:off x="7406640" y="1810512"/>
            <a:ext cx="1234440" cy="274320"/>
          </a:xfrm>
          <a:prstGeom prst="rect">
            <a:avLst/>
          </a:prstGeom>
          <a:noFill/>
          <a:ln/>
        </p:spPr>
        <p:txBody>
          <a:bodyPr wrap="square" lIns="0" tIns="0" rIns="0" bIns="0" rtlCol="0" anchor="ctr"/>
          <a:lstStyle/>
          <a:p>
            <a:pPr algn="r" indent="0" marL="0">
              <a:buNone/>
            </a:pPr>
            <a:r>
              <a:rPr lang="en-US" sz="800" b="1" i="1" dirty="0">
                <a:solidFill>
                  <a:srgbClr val="2E4A7C"/>
                </a:solidFill>
                <a:latin typeface="Calibri" pitchFamily="34" charset="0"/>
                <a:ea typeface="Calibri" pitchFamily="34" charset="-122"/>
                <a:cs typeface="Calibri" pitchFamily="34" charset="-120"/>
              </a:rPr>
              <a:t>Algorithm Analysis</a:t>
            </a:r>
            <a:endParaRPr lang="en-US" sz="800" dirty="0"/>
          </a:p>
        </p:txBody>
      </p:sp>
      <p:sp>
        <p:nvSpPr>
          <p:cNvPr id="15" name="Text 13"/>
          <p:cNvSpPr/>
          <p:nvPr/>
        </p:nvSpPr>
        <p:spPr>
          <a:xfrm>
            <a:off x="594360" y="2103120"/>
            <a:ext cx="8046720" cy="310896"/>
          </a:xfrm>
          <a:prstGeom prst="rect">
            <a:avLst/>
          </a:prstGeom>
          <a:noFill/>
          <a:ln/>
        </p:spPr>
        <p:txBody>
          <a:bodyPr wrap="square" lIns="0" tIns="0" rIns="0" bIns="0" rtlCol="0" anchor="t"/>
          <a:lstStyle/>
          <a:p>
            <a:pPr algn="l" indent="0" marL="0">
              <a:buNone/>
            </a:pPr>
            <a:r>
              <a:rPr lang="en-US" sz="850" dirty="0">
                <a:solidFill>
                  <a:srgbClr val="7F8FA6"/>
                </a:solidFill>
                <a:latin typeface="Calibri" pitchFamily="34" charset="0"/>
                <a:ea typeface="Calibri" pitchFamily="34" charset="-122"/>
                <a:cs typeface="Calibri" pitchFamily="34" charset="-120"/>
              </a:rPr>
              <a:t>Structured evaluation shows optimal configuration is problem-specific: η² outperforms under strong signal (Douro); conservative Sup_FS outperforms when fallback-to-median dominates (Vinho Verde). Motivates structured variant evaluation over a priori configuration choice.</a:t>
            </a:r>
            <a:endParaRPr lang="en-US" sz="850" dirty="0"/>
          </a:p>
        </p:txBody>
      </p:sp>
      <p:sp>
        <p:nvSpPr>
          <p:cNvPr id="16" name="Shape 14"/>
          <p:cNvSpPr/>
          <p:nvPr/>
        </p:nvSpPr>
        <p:spPr>
          <a:xfrm>
            <a:off x="411480" y="2523744"/>
            <a:ext cx="64008" cy="658368"/>
          </a:xfrm>
          <a:prstGeom prst="rect">
            <a:avLst/>
          </a:prstGeom>
          <a:solidFill>
            <a:srgbClr val="1B2B45"/>
          </a:solidFill>
          <a:ln w="12700">
            <a:solidFill>
              <a:srgbClr val="1B2B45"/>
            </a:solidFill>
            <a:prstDash val="solid"/>
          </a:ln>
        </p:spPr>
      </p:sp>
      <p:sp>
        <p:nvSpPr>
          <p:cNvPr id="17" name="Shape 15"/>
          <p:cNvSpPr/>
          <p:nvPr/>
        </p:nvSpPr>
        <p:spPr>
          <a:xfrm>
            <a:off x="475488" y="2523744"/>
            <a:ext cx="8247888" cy="658368"/>
          </a:xfrm>
          <a:prstGeom prst="rect">
            <a:avLst/>
          </a:prstGeom>
          <a:solidFill>
            <a:srgbClr val="D8E2EE"/>
          </a:solidFill>
          <a:ln w="12700">
            <a:solidFill>
              <a:srgbClr val="D8E2EE"/>
            </a:solidFill>
            <a:prstDash val="solid"/>
          </a:ln>
        </p:spPr>
      </p:sp>
      <p:sp>
        <p:nvSpPr>
          <p:cNvPr id="18" name="Text 16"/>
          <p:cNvSpPr/>
          <p:nvPr/>
        </p:nvSpPr>
        <p:spPr>
          <a:xfrm>
            <a:off x="594360" y="2560320"/>
            <a:ext cx="5943600" cy="274320"/>
          </a:xfrm>
          <a:prstGeom prst="rect">
            <a:avLst/>
          </a:prstGeom>
          <a:noFill/>
          <a:ln/>
        </p:spPr>
        <p:txBody>
          <a:bodyPr wrap="square" lIns="0" tIns="0" rIns="0" bIns="0" rtlCol="0" anchor="ctr"/>
          <a:lstStyle/>
          <a:p>
            <a:pPr algn="l" indent="0" marL="0">
              <a:buNone/>
            </a:pPr>
            <a:r>
              <a:rPr lang="en-US" sz="1100" b="1" dirty="0">
                <a:solidFill>
                  <a:srgbClr val="0D1B2A"/>
                </a:solidFill>
                <a:latin typeface="Calibri" pitchFamily="34" charset="0"/>
                <a:ea typeface="Calibri" pitchFamily="34" charset="-122"/>
                <a:cs typeface="Calibri" pitchFamily="34" charset="-120"/>
              </a:rPr>
              <a:t>Era-Composition Analysis &amp; Conditional Regime Discovery</a:t>
            </a:r>
            <a:endParaRPr lang="en-US" sz="1100" dirty="0"/>
          </a:p>
        </p:txBody>
      </p:sp>
      <p:sp>
        <p:nvSpPr>
          <p:cNvPr id="19" name="Text 17"/>
          <p:cNvSpPr/>
          <p:nvPr/>
        </p:nvSpPr>
        <p:spPr>
          <a:xfrm>
            <a:off x="7406640" y="2560320"/>
            <a:ext cx="1234440" cy="274320"/>
          </a:xfrm>
          <a:prstGeom prst="rect">
            <a:avLst/>
          </a:prstGeom>
          <a:noFill/>
          <a:ln/>
        </p:spPr>
        <p:txBody>
          <a:bodyPr wrap="square" lIns="0" tIns="0" rIns="0" bIns="0" rtlCol="0" anchor="ctr"/>
          <a:lstStyle/>
          <a:p>
            <a:pPr algn="r" indent="0" marL="0">
              <a:buNone/>
            </a:pPr>
            <a:r>
              <a:rPr lang="en-US" sz="800" b="1" i="1" dirty="0">
                <a:solidFill>
                  <a:srgbClr val="1B2B45"/>
                </a:solidFill>
                <a:latin typeface="Calibri" pitchFamily="34" charset="0"/>
                <a:ea typeface="Calibri" pitchFamily="34" charset="-122"/>
                <a:cs typeface="Calibri" pitchFamily="34" charset="-120"/>
              </a:rPr>
              <a:t>Evaluation Design</a:t>
            </a:r>
            <a:endParaRPr lang="en-US" sz="800" dirty="0"/>
          </a:p>
        </p:txBody>
      </p:sp>
      <p:sp>
        <p:nvSpPr>
          <p:cNvPr id="20" name="Text 18"/>
          <p:cNvSpPr/>
          <p:nvPr/>
        </p:nvSpPr>
        <p:spPr>
          <a:xfrm>
            <a:off x="594360" y="2852928"/>
            <a:ext cx="8046720" cy="310896"/>
          </a:xfrm>
          <a:prstGeom prst="rect">
            <a:avLst/>
          </a:prstGeom>
          <a:noFill/>
          <a:ln/>
        </p:spPr>
        <p:txBody>
          <a:bodyPr wrap="square" lIns="0" tIns="0" rIns="0" bIns="0" rtlCol="0" anchor="t"/>
          <a:lstStyle/>
          <a:p>
            <a:pPr algn="l" indent="0" marL="0">
              <a:buNone/>
            </a:pPr>
            <a:r>
              <a:rPr lang="en-US" sz="850" dirty="0">
                <a:solidFill>
                  <a:srgbClr val="7F8FA6"/>
                </a:solidFill>
                <a:latin typeface="Calibri" pitchFamily="34" charset="0"/>
                <a:ea typeface="Calibri" pitchFamily="34" charset="-122"/>
                <a:cs typeface="Calibri" pitchFamily="34" charset="-120"/>
              </a:rPr>
              <a:t>Walk-forward evaluation reveals a conditional regime in RDD: CarenR consistently outperforms baseline when training reaches ≥29% modern-era representation (5/5 wins, post-hoc exploratory p=0.031). More actionable than binary success/failure.</a:t>
            </a:r>
            <a:endParaRPr lang="en-US" sz="850" dirty="0"/>
          </a:p>
        </p:txBody>
      </p:sp>
      <p:sp>
        <p:nvSpPr>
          <p:cNvPr id="21" name="Shape 19"/>
          <p:cNvSpPr/>
          <p:nvPr/>
        </p:nvSpPr>
        <p:spPr>
          <a:xfrm>
            <a:off x="411480" y="3273552"/>
            <a:ext cx="64008" cy="658368"/>
          </a:xfrm>
          <a:prstGeom prst="rect">
            <a:avLst/>
          </a:prstGeom>
          <a:solidFill>
            <a:srgbClr val="0D7377"/>
          </a:solidFill>
          <a:ln w="12700">
            <a:solidFill>
              <a:srgbClr val="0D7377"/>
            </a:solidFill>
            <a:prstDash val="solid"/>
          </a:ln>
        </p:spPr>
      </p:sp>
      <p:sp>
        <p:nvSpPr>
          <p:cNvPr id="22" name="Shape 20"/>
          <p:cNvSpPr/>
          <p:nvPr/>
        </p:nvSpPr>
        <p:spPr>
          <a:xfrm>
            <a:off x="475488" y="3273552"/>
            <a:ext cx="8247888" cy="658368"/>
          </a:xfrm>
          <a:prstGeom prst="rect">
            <a:avLst/>
          </a:prstGeom>
          <a:solidFill>
            <a:srgbClr val="D8E2EE"/>
          </a:solidFill>
          <a:ln w="12700">
            <a:solidFill>
              <a:srgbClr val="D8E2EE"/>
            </a:solidFill>
            <a:prstDash val="solid"/>
          </a:ln>
        </p:spPr>
      </p:sp>
      <p:sp>
        <p:nvSpPr>
          <p:cNvPr id="23" name="Text 21"/>
          <p:cNvSpPr/>
          <p:nvPr/>
        </p:nvSpPr>
        <p:spPr>
          <a:xfrm>
            <a:off x="594360" y="3310128"/>
            <a:ext cx="5943600" cy="274320"/>
          </a:xfrm>
          <a:prstGeom prst="rect">
            <a:avLst/>
          </a:prstGeom>
          <a:noFill/>
          <a:ln/>
        </p:spPr>
        <p:txBody>
          <a:bodyPr wrap="square" lIns="0" tIns="0" rIns="0" bIns="0" rtlCol="0" anchor="ctr"/>
          <a:lstStyle/>
          <a:p>
            <a:pPr algn="l" indent="0" marL="0">
              <a:buNone/>
            </a:pPr>
            <a:r>
              <a:rPr lang="en-US" sz="1100" b="1" dirty="0">
                <a:solidFill>
                  <a:srgbClr val="0D1B2A"/>
                </a:solidFill>
                <a:latin typeface="Calibri" pitchFamily="34" charset="0"/>
                <a:ea typeface="Calibri" pitchFamily="34" charset="-122"/>
                <a:cs typeface="Calibri" pitchFamily="34" charset="-120"/>
              </a:rPr>
              <a:t>Cross-Algorithm Feature Convergence Validation</a:t>
            </a:r>
            <a:endParaRPr lang="en-US" sz="1100" dirty="0"/>
          </a:p>
        </p:txBody>
      </p:sp>
      <p:sp>
        <p:nvSpPr>
          <p:cNvPr id="24" name="Text 22"/>
          <p:cNvSpPr/>
          <p:nvPr/>
        </p:nvSpPr>
        <p:spPr>
          <a:xfrm>
            <a:off x="7406640" y="3310128"/>
            <a:ext cx="1234440" cy="274320"/>
          </a:xfrm>
          <a:prstGeom prst="rect">
            <a:avLst/>
          </a:prstGeom>
          <a:noFill/>
          <a:ln/>
        </p:spPr>
        <p:txBody>
          <a:bodyPr wrap="square" lIns="0" tIns="0" rIns="0" bIns="0" rtlCol="0" anchor="ctr"/>
          <a:lstStyle/>
          <a:p>
            <a:pPr algn="r" indent="0" marL="0">
              <a:buNone/>
            </a:pPr>
            <a:r>
              <a:rPr lang="en-US" sz="800" b="1" i="1" dirty="0">
                <a:solidFill>
                  <a:srgbClr val="0D7377"/>
                </a:solidFill>
                <a:latin typeface="Calibri" pitchFamily="34" charset="0"/>
                <a:ea typeface="Calibri" pitchFamily="34" charset="-122"/>
                <a:cs typeface="Calibri" pitchFamily="34" charset="-120"/>
              </a:rPr>
              <a:t>Validation Method</a:t>
            </a:r>
            <a:endParaRPr lang="en-US" sz="800" dirty="0"/>
          </a:p>
        </p:txBody>
      </p:sp>
      <p:sp>
        <p:nvSpPr>
          <p:cNvPr id="25" name="Text 23"/>
          <p:cNvSpPr/>
          <p:nvPr/>
        </p:nvSpPr>
        <p:spPr>
          <a:xfrm>
            <a:off x="594360" y="3602736"/>
            <a:ext cx="8046720" cy="310896"/>
          </a:xfrm>
          <a:prstGeom prst="rect">
            <a:avLst/>
          </a:prstGeom>
          <a:noFill/>
          <a:ln/>
        </p:spPr>
        <p:txBody>
          <a:bodyPr wrap="square" lIns="0" tIns="0" rIns="0" bIns="0" rtlCol="0" anchor="t"/>
          <a:lstStyle/>
          <a:p>
            <a:pPr algn="l" indent="0" marL="0">
              <a:buNone/>
            </a:pPr>
            <a:r>
              <a:rPr lang="en-US" sz="850" dirty="0">
                <a:solidFill>
                  <a:srgbClr val="7F8FA6"/>
                </a:solidFill>
                <a:latin typeface="Calibri" pitchFamily="34" charset="0"/>
                <a:ea typeface="Calibri" pitchFamily="34" charset="-122"/>
                <a:cs typeface="Calibri" pitchFamily="34" charset="-120"/>
              </a:rPr>
              <a:t>RIPPER (FOIL gain) and M5Rules (MSE reduction) independently identify the same feature families as CarenR (KS test) across both regions. Three optimisation criteria, one answer — strong multi-angle evidence of genuine data structure.</a:t>
            </a:r>
            <a:endParaRPr lang="en-US" sz="850" dirty="0"/>
          </a:p>
        </p:txBody>
      </p:sp>
      <p:sp>
        <p:nvSpPr>
          <p:cNvPr id="26" name="Shape 24"/>
          <p:cNvSpPr/>
          <p:nvPr/>
        </p:nvSpPr>
        <p:spPr>
          <a:xfrm>
            <a:off x="411480" y="4023360"/>
            <a:ext cx="64008" cy="658368"/>
          </a:xfrm>
          <a:prstGeom prst="rect">
            <a:avLst/>
          </a:prstGeom>
          <a:solidFill>
            <a:srgbClr val="2E4A7C"/>
          </a:solidFill>
          <a:ln w="12700">
            <a:solidFill>
              <a:srgbClr val="2E4A7C"/>
            </a:solidFill>
            <a:prstDash val="solid"/>
          </a:ln>
        </p:spPr>
      </p:sp>
      <p:sp>
        <p:nvSpPr>
          <p:cNvPr id="27" name="Shape 25"/>
          <p:cNvSpPr/>
          <p:nvPr/>
        </p:nvSpPr>
        <p:spPr>
          <a:xfrm>
            <a:off x="475488" y="4023360"/>
            <a:ext cx="8247888" cy="658368"/>
          </a:xfrm>
          <a:prstGeom prst="rect">
            <a:avLst/>
          </a:prstGeom>
          <a:solidFill>
            <a:srgbClr val="D8E2EE"/>
          </a:solidFill>
          <a:ln w="12700">
            <a:solidFill>
              <a:srgbClr val="D8E2EE"/>
            </a:solidFill>
            <a:prstDash val="solid"/>
          </a:ln>
        </p:spPr>
      </p:sp>
      <p:sp>
        <p:nvSpPr>
          <p:cNvPr id="28" name="Text 26"/>
          <p:cNvSpPr/>
          <p:nvPr/>
        </p:nvSpPr>
        <p:spPr>
          <a:xfrm>
            <a:off x="594360" y="4059936"/>
            <a:ext cx="5943600" cy="274320"/>
          </a:xfrm>
          <a:prstGeom prst="rect">
            <a:avLst/>
          </a:prstGeom>
          <a:noFill/>
          <a:ln/>
        </p:spPr>
        <p:txBody>
          <a:bodyPr wrap="square" lIns="0" tIns="0" rIns="0" bIns="0" rtlCol="0" anchor="ctr"/>
          <a:lstStyle/>
          <a:p>
            <a:pPr algn="l" indent="0" marL="0">
              <a:buNone/>
            </a:pPr>
            <a:r>
              <a:rPr lang="en-US" sz="1100" b="1" dirty="0">
                <a:solidFill>
                  <a:srgbClr val="0D1B2A"/>
                </a:solidFill>
                <a:latin typeface="Calibri" pitchFamily="34" charset="0"/>
                <a:ea typeface="Calibri" pitchFamily="34" charset="-122"/>
                <a:cs typeface="Calibri" pitchFamily="34" charset="-120"/>
              </a:rPr>
              <a:t>LOESS Era-Signal Validation Protocol</a:t>
            </a:r>
            <a:endParaRPr lang="en-US" sz="1100" dirty="0"/>
          </a:p>
        </p:txBody>
      </p:sp>
      <p:sp>
        <p:nvSpPr>
          <p:cNvPr id="29" name="Text 27"/>
          <p:cNvSpPr/>
          <p:nvPr/>
        </p:nvSpPr>
        <p:spPr>
          <a:xfrm>
            <a:off x="7406640" y="4059936"/>
            <a:ext cx="1234440" cy="274320"/>
          </a:xfrm>
          <a:prstGeom prst="rect">
            <a:avLst/>
          </a:prstGeom>
          <a:noFill/>
          <a:ln/>
        </p:spPr>
        <p:txBody>
          <a:bodyPr wrap="square" lIns="0" tIns="0" rIns="0" bIns="0" rtlCol="0" anchor="ctr"/>
          <a:lstStyle/>
          <a:p>
            <a:pPr algn="r" indent="0" marL="0">
              <a:buNone/>
            </a:pPr>
            <a:r>
              <a:rPr lang="en-US" sz="800" b="1" i="1" dirty="0">
                <a:solidFill>
                  <a:srgbClr val="2E4A7C"/>
                </a:solidFill>
                <a:latin typeface="Calibri" pitchFamily="34" charset="0"/>
                <a:ea typeface="Calibri" pitchFamily="34" charset="-122"/>
                <a:cs typeface="Calibri" pitchFamily="34" charset="-120"/>
              </a:rPr>
              <a:t>Validation Protocol</a:t>
            </a:r>
            <a:endParaRPr lang="en-US" sz="800" dirty="0"/>
          </a:p>
        </p:txBody>
      </p:sp>
      <p:sp>
        <p:nvSpPr>
          <p:cNvPr id="30" name="Text 28"/>
          <p:cNvSpPr/>
          <p:nvPr/>
        </p:nvSpPr>
        <p:spPr>
          <a:xfrm>
            <a:off x="594360" y="4352544"/>
            <a:ext cx="8046720" cy="310896"/>
          </a:xfrm>
          <a:prstGeom prst="rect">
            <a:avLst/>
          </a:prstGeom>
          <a:noFill/>
          <a:ln/>
        </p:spPr>
        <p:txBody>
          <a:bodyPr wrap="square" lIns="0" tIns="0" rIns="0" bIns="0" rtlCol="0" anchor="t"/>
          <a:lstStyle/>
          <a:p>
            <a:pPr algn="l" indent="0" marL="0">
              <a:buNone/>
            </a:pPr>
            <a:r>
              <a:rPr lang="en-US" sz="850" dirty="0">
                <a:solidFill>
                  <a:srgbClr val="7F8FA6"/>
                </a:solidFill>
                <a:latin typeface="Calibri" pitchFamily="34" charset="0"/>
                <a:ea typeface="Calibri" pitchFamily="34" charset="-122"/>
                <a:cs typeface="Calibri" pitchFamily="34" charset="-120"/>
              </a:rPr>
              <a:t>LOESS detrending as a stress test quantifies what fraction of correlation is genuine within-era signal vs. era co-variation. RDD: 90–125% retention. RVV: 15–16% collapse. Reusable protocol for any non-stationary time series with distributional rule learning.</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53"/>
          </a:solidFill>
          <a:ln w="12700">
            <a:solidFill>
              <a:srgbClr val="D4A853"/>
            </a:solidFill>
            <a:prstDash val="solid"/>
          </a:ln>
        </p:spPr>
      </p:sp>
      <p:sp>
        <p:nvSpPr>
          <p:cNvPr id="3" name="Text 1"/>
          <p:cNvSpPr/>
          <p:nvPr/>
        </p:nvSpPr>
        <p:spPr>
          <a:xfrm>
            <a:off x="457200" y="109728"/>
            <a:ext cx="8229600" cy="502920"/>
          </a:xfrm>
          <a:prstGeom prst="rect">
            <a:avLst/>
          </a:prstGeom>
          <a:noFill/>
          <a:ln/>
        </p:spPr>
        <p:txBody>
          <a:bodyPr wrap="square" lIns="0" tIns="0" rIns="0" bIns="0" rtlCol="0" anchor="ctr"/>
          <a:lstStyle/>
          <a:p>
            <a:pPr algn="l" indent="0" marL="0">
              <a:buNone/>
            </a:pPr>
            <a:r>
              <a:rPr lang="en-US" sz="2200" b="1" dirty="0">
                <a:solidFill>
                  <a:srgbClr val="0D1B2A"/>
                </a:solidFill>
                <a:latin typeface="Calibri" pitchFamily="34" charset="0"/>
                <a:ea typeface="Calibri" pitchFamily="34" charset="-122"/>
                <a:cs typeface="Calibri" pitchFamily="34" charset="-120"/>
              </a:rPr>
              <a:t>Limitations &amp; Future Work</a:t>
            </a:r>
            <a:endParaRPr lang="en-US" sz="2200" dirty="0"/>
          </a:p>
        </p:txBody>
      </p:sp>
      <p:sp>
        <p:nvSpPr>
          <p:cNvPr id="4" name="Text 2"/>
          <p:cNvSpPr/>
          <p:nvPr/>
        </p:nvSpPr>
        <p:spPr>
          <a:xfrm>
            <a:off x="457200" y="612648"/>
            <a:ext cx="8229600" cy="256032"/>
          </a:xfrm>
          <a:prstGeom prst="rect">
            <a:avLst/>
          </a:prstGeom>
          <a:noFill/>
          <a:ln/>
        </p:spPr>
        <p:txBody>
          <a:bodyPr wrap="square" lIns="0" tIns="0" rIns="0" bIns="0" rtlCol="0" anchor="ctr"/>
          <a:lstStyle/>
          <a:p>
            <a:pPr algn="l" indent="0" marL="0">
              <a:buNone/>
            </a:pPr>
            <a:r>
              <a:rPr lang="en-US" sz="1100" i="1" dirty="0">
                <a:solidFill>
                  <a:srgbClr val="D4A853"/>
                </a:solidFill>
                <a:latin typeface="Calibri" pitchFamily="34" charset="0"/>
                <a:ea typeface="Calibri" pitchFamily="34" charset="-122"/>
                <a:cs typeface="Calibri" pitchFamily="34" charset="-120"/>
              </a:rPr>
              <a:t>Where the thesis stops — and the path forward</a:t>
            </a:r>
            <a:endParaRPr lang="en-US" sz="1100" dirty="0"/>
          </a:p>
        </p:txBody>
      </p:sp>
      <p:sp>
        <p:nvSpPr>
          <p:cNvPr id="5" name="Shape 3"/>
          <p:cNvSpPr/>
          <p:nvPr/>
        </p:nvSpPr>
        <p:spPr>
          <a:xfrm>
            <a:off x="457200" y="896112"/>
            <a:ext cx="8229600" cy="18288"/>
          </a:xfrm>
          <a:prstGeom prst="rect">
            <a:avLst/>
          </a:prstGeom>
          <a:solidFill>
            <a:srgbClr val="D8E2EE"/>
          </a:solidFill>
          <a:ln w="12700">
            <a:solidFill>
              <a:srgbClr val="D8E2EE"/>
            </a:solidFill>
            <a:prstDash val="solid"/>
          </a:ln>
        </p:spPr>
      </p:sp>
      <p:sp>
        <p:nvSpPr>
          <p:cNvPr id="6" name="Shape 4"/>
          <p:cNvSpPr/>
          <p:nvPr/>
        </p:nvSpPr>
        <p:spPr>
          <a:xfrm>
            <a:off x="411480" y="1005840"/>
            <a:ext cx="3931920" cy="347472"/>
          </a:xfrm>
          <a:prstGeom prst="rect">
            <a:avLst/>
          </a:prstGeom>
          <a:solidFill>
            <a:srgbClr val="B03A2E"/>
          </a:solidFill>
          <a:ln w="12700">
            <a:solidFill>
              <a:srgbClr val="B03A2E"/>
            </a:solidFill>
            <a:prstDash val="solid"/>
          </a:ln>
        </p:spPr>
      </p:sp>
      <p:sp>
        <p:nvSpPr>
          <p:cNvPr id="7" name="Text 5"/>
          <p:cNvSpPr/>
          <p:nvPr/>
        </p:nvSpPr>
        <p:spPr>
          <a:xfrm>
            <a:off x="411480" y="1005840"/>
            <a:ext cx="393192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Current Limitations</a:t>
            </a:r>
            <a:endParaRPr lang="en-US" sz="1200" dirty="0"/>
          </a:p>
        </p:txBody>
      </p:sp>
      <p:sp>
        <p:nvSpPr>
          <p:cNvPr id="8" name="Shape 6"/>
          <p:cNvSpPr/>
          <p:nvPr/>
        </p:nvSpPr>
        <p:spPr>
          <a:xfrm>
            <a:off x="411480" y="1426464"/>
            <a:ext cx="3931920" cy="640080"/>
          </a:xfrm>
          <a:prstGeom prst="rect">
            <a:avLst/>
          </a:prstGeom>
          <a:solidFill>
            <a:srgbClr val="D8E2EE"/>
          </a:solidFill>
          <a:ln w="12700">
            <a:solidFill>
              <a:srgbClr val="D8E2EE"/>
            </a:solidFill>
            <a:prstDash val="solid"/>
          </a:ln>
        </p:spPr>
      </p:sp>
      <p:sp>
        <p:nvSpPr>
          <p:cNvPr id="9" name="Shape 7"/>
          <p:cNvSpPr/>
          <p:nvPr/>
        </p:nvSpPr>
        <p:spPr>
          <a:xfrm>
            <a:off x="411480" y="1426464"/>
            <a:ext cx="54864" cy="640080"/>
          </a:xfrm>
          <a:prstGeom prst="rect">
            <a:avLst/>
          </a:prstGeom>
          <a:solidFill>
            <a:srgbClr val="B03A2E"/>
          </a:solidFill>
          <a:ln w="12700">
            <a:solidFill>
              <a:srgbClr val="B03A2E"/>
            </a:solidFill>
            <a:prstDash val="solid"/>
          </a:ln>
        </p:spPr>
      </p:sp>
      <p:sp>
        <p:nvSpPr>
          <p:cNvPr id="10" name="Text 8"/>
          <p:cNvSpPr/>
          <p:nvPr/>
        </p:nvSpPr>
        <p:spPr>
          <a:xfrm>
            <a:off x="521208" y="1463040"/>
            <a:ext cx="3776472" cy="585216"/>
          </a:xfrm>
          <a:prstGeom prst="rect">
            <a:avLst/>
          </a:prstGeom>
          <a:noFill/>
          <a:ln/>
        </p:spPr>
        <p:txBody>
          <a:bodyPr wrap="square" lIns="0" tIns="0" rIns="0" bIns="0" rtlCol="0" anchor="t"/>
          <a:lstStyle/>
          <a:p>
            <a:pPr algn="l" indent="0" marL="0">
              <a:buNone/>
            </a:pPr>
            <a:r>
              <a:rPr lang="en-US" sz="850" dirty="0">
                <a:solidFill>
                  <a:srgbClr val="1A2A3A"/>
                </a:solidFill>
                <a:latin typeface="Calibri" pitchFamily="34" charset="0"/>
                <a:ea typeface="Calibri" pitchFamily="34" charset="-122"/>
                <a:cs typeface="Calibri" pitchFamily="34" charset="-120"/>
              </a:rPr>
              <a:t>Time-only detrending: cannot separate structural changes (EU policy, planted area) from climate residuals — root cause of the era confound and Decision 1 limitations</a:t>
            </a:r>
            <a:endParaRPr lang="en-US" sz="850" dirty="0"/>
          </a:p>
        </p:txBody>
      </p:sp>
      <p:sp>
        <p:nvSpPr>
          <p:cNvPr id="11" name="Shape 9"/>
          <p:cNvSpPr/>
          <p:nvPr/>
        </p:nvSpPr>
        <p:spPr>
          <a:xfrm>
            <a:off x="411480" y="2112264"/>
            <a:ext cx="3931920" cy="640080"/>
          </a:xfrm>
          <a:prstGeom prst="rect">
            <a:avLst/>
          </a:prstGeom>
          <a:solidFill>
            <a:srgbClr val="D8E2EE"/>
          </a:solidFill>
          <a:ln w="12700">
            <a:solidFill>
              <a:srgbClr val="D8E2EE"/>
            </a:solidFill>
            <a:prstDash val="solid"/>
          </a:ln>
        </p:spPr>
      </p:sp>
      <p:sp>
        <p:nvSpPr>
          <p:cNvPr id="12" name="Shape 10"/>
          <p:cNvSpPr/>
          <p:nvPr/>
        </p:nvSpPr>
        <p:spPr>
          <a:xfrm>
            <a:off x="411480" y="2112264"/>
            <a:ext cx="54864" cy="640080"/>
          </a:xfrm>
          <a:prstGeom prst="rect">
            <a:avLst/>
          </a:prstGeom>
          <a:solidFill>
            <a:srgbClr val="B03A2E"/>
          </a:solidFill>
          <a:ln w="12700">
            <a:solidFill>
              <a:srgbClr val="B03A2E"/>
            </a:solidFill>
            <a:prstDash val="solid"/>
          </a:ln>
        </p:spPr>
      </p:sp>
      <p:sp>
        <p:nvSpPr>
          <p:cNvPr id="13" name="Text 11"/>
          <p:cNvSpPr/>
          <p:nvPr/>
        </p:nvSpPr>
        <p:spPr>
          <a:xfrm>
            <a:off x="521208" y="2148840"/>
            <a:ext cx="3776472" cy="585216"/>
          </a:xfrm>
          <a:prstGeom prst="rect">
            <a:avLst/>
          </a:prstGeom>
          <a:noFill/>
          <a:ln/>
        </p:spPr>
        <p:txBody>
          <a:bodyPr wrap="square" lIns="0" tIns="0" rIns="0" bIns="0" rtlCol="0" anchor="t"/>
          <a:lstStyle/>
          <a:p>
            <a:pPr algn="l" indent="0" marL="0">
              <a:buNone/>
            </a:pPr>
            <a:r>
              <a:rPr lang="en-US" sz="850" dirty="0">
                <a:solidFill>
                  <a:srgbClr val="1A2A3A"/>
                </a:solidFill>
                <a:latin typeface="Calibri" pitchFamily="34" charset="0"/>
                <a:ea typeface="Calibri" pitchFamily="34" charset="-122"/>
                <a:cs typeface="Calibri" pitchFamily="34" charset="-120"/>
              </a:rPr>
              <a:t>Statistical power: only 18/16 walk-forward scenarios; post-hoc era finding n=5 is insufficient for confirmatory conclusions</a:t>
            </a:r>
            <a:endParaRPr lang="en-US" sz="850" dirty="0"/>
          </a:p>
        </p:txBody>
      </p:sp>
      <p:sp>
        <p:nvSpPr>
          <p:cNvPr id="14" name="Shape 12"/>
          <p:cNvSpPr/>
          <p:nvPr/>
        </p:nvSpPr>
        <p:spPr>
          <a:xfrm>
            <a:off x="411480" y="2798064"/>
            <a:ext cx="3931920" cy="640080"/>
          </a:xfrm>
          <a:prstGeom prst="rect">
            <a:avLst/>
          </a:prstGeom>
          <a:solidFill>
            <a:srgbClr val="D8E2EE"/>
          </a:solidFill>
          <a:ln w="12700">
            <a:solidFill>
              <a:srgbClr val="D8E2EE"/>
            </a:solidFill>
            <a:prstDash val="solid"/>
          </a:ln>
        </p:spPr>
      </p:sp>
      <p:sp>
        <p:nvSpPr>
          <p:cNvPr id="15" name="Shape 13"/>
          <p:cNvSpPr/>
          <p:nvPr/>
        </p:nvSpPr>
        <p:spPr>
          <a:xfrm>
            <a:off x="411480" y="2798064"/>
            <a:ext cx="54864" cy="640080"/>
          </a:xfrm>
          <a:prstGeom prst="rect">
            <a:avLst/>
          </a:prstGeom>
          <a:solidFill>
            <a:srgbClr val="B03A2E"/>
          </a:solidFill>
          <a:ln w="12700">
            <a:solidFill>
              <a:srgbClr val="B03A2E"/>
            </a:solidFill>
            <a:prstDash val="solid"/>
          </a:ln>
        </p:spPr>
      </p:sp>
      <p:sp>
        <p:nvSpPr>
          <p:cNvPr id="16" name="Text 14"/>
          <p:cNvSpPr/>
          <p:nvPr/>
        </p:nvSpPr>
        <p:spPr>
          <a:xfrm>
            <a:off x="521208" y="2834640"/>
            <a:ext cx="3776472" cy="585216"/>
          </a:xfrm>
          <a:prstGeom prst="rect">
            <a:avLst/>
          </a:prstGeom>
          <a:noFill/>
          <a:ln/>
        </p:spPr>
        <p:txBody>
          <a:bodyPr wrap="square" lIns="0" tIns="0" rIns="0" bIns="0" rtlCol="0" anchor="t"/>
          <a:lstStyle/>
          <a:p>
            <a:pPr algn="l" indent="0" marL="0">
              <a:buNone/>
            </a:pPr>
            <a:r>
              <a:rPr lang="en-US" sz="850" dirty="0">
                <a:solidFill>
                  <a:srgbClr val="1A2A3A"/>
                </a:solidFill>
                <a:latin typeface="Calibri" pitchFamily="34" charset="0"/>
                <a:ea typeface="Calibri" pitchFamily="34" charset="-122"/>
                <a:cs typeface="Calibri" pitchFamily="34" charset="-120"/>
              </a:rPr>
              <a:t>Post-hoc era-balanced result (binomial p=0.031, n=5): exploratory hypothesis, requires prospective validation before treating as robust</a:t>
            </a:r>
            <a:endParaRPr lang="en-US" sz="850" dirty="0"/>
          </a:p>
        </p:txBody>
      </p:sp>
      <p:sp>
        <p:nvSpPr>
          <p:cNvPr id="17" name="Shape 15"/>
          <p:cNvSpPr/>
          <p:nvPr/>
        </p:nvSpPr>
        <p:spPr>
          <a:xfrm>
            <a:off x="411480" y="3483864"/>
            <a:ext cx="3931920" cy="640080"/>
          </a:xfrm>
          <a:prstGeom prst="rect">
            <a:avLst/>
          </a:prstGeom>
          <a:solidFill>
            <a:srgbClr val="D8E2EE"/>
          </a:solidFill>
          <a:ln w="12700">
            <a:solidFill>
              <a:srgbClr val="D8E2EE"/>
            </a:solidFill>
            <a:prstDash val="solid"/>
          </a:ln>
        </p:spPr>
      </p:sp>
      <p:sp>
        <p:nvSpPr>
          <p:cNvPr id="18" name="Shape 16"/>
          <p:cNvSpPr/>
          <p:nvPr/>
        </p:nvSpPr>
        <p:spPr>
          <a:xfrm>
            <a:off x="411480" y="3483864"/>
            <a:ext cx="54864" cy="640080"/>
          </a:xfrm>
          <a:prstGeom prst="rect">
            <a:avLst/>
          </a:prstGeom>
          <a:solidFill>
            <a:srgbClr val="B03A2E"/>
          </a:solidFill>
          <a:ln w="12700">
            <a:solidFill>
              <a:srgbClr val="B03A2E"/>
            </a:solidFill>
            <a:prstDash val="solid"/>
          </a:ln>
        </p:spPr>
      </p:sp>
      <p:sp>
        <p:nvSpPr>
          <p:cNvPr id="19" name="Text 17"/>
          <p:cNvSpPr/>
          <p:nvPr/>
        </p:nvSpPr>
        <p:spPr>
          <a:xfrm>
            <a:off x="521208" y="3520440"/>
            <a:ext cx="3776472" cy="585216"/>
          </a:xfrm>
          <a:prstGeom prst="rect">
            <a:avLst/>
          </a:prstGeom>
          <a:noFill/>
          <a:ln/>
        </p:spPr>
        <p:txBody>
          <a:bodyPr wrap="square" lIns="0" tIns="0" rIns="0" bIns="0" rtlCol="0" anchor="t"/>
          <a:lstStyle/>
          <a:p>
            <a:pPr algn="l" indent="0" marL="0">
              <a:buNone/>
            </a:pPr>
            <a:r>
              <a:rPr lang="en-US" sz="850" dirty="0">
                <a:solidFill>
                  <a:srgbClr val="1A2A3A"/>
                </a:solidFill>
                <a:latin typeface="Calibri" pitchFamily="34" charset="0"/>
                <a:ea typeface="Calibri" pitchFamily="34" charset="-122"/>
                <a:cs typeface="Calibri" pitchFamily="34" charset="-120"/>
              </a:rPr>
              <a:t>Single-region annual aggregates: no spatial analysis, no sub-regional variation, no within-season granularity</a:t>
            </a:r>
            <a:endParaRPr lang="en-US" sz="850" dirty="0"/>
          </a:p>
        </p:txBody>
      </p:sp>
      <p:sp>
        <p:nvSpPr>
          <p:cNvPr id="20" name="Shape 18"/>
          <p:cNvSpPr/>
          <p:nvPr/>
        </p:nvSpPr>
        <p:spPr>
          <a:xfrm>
            <a:off x="411480" y="4169664"/>
            <a:ext cx="3931920" cy="640080"/>
          </a:xfrm>
          <a:prstGeom prst="rect">
            <a:avLst/>
          </a:prstGeom>
          <a:solidFill>
            <a:srgbClr val="D8E2EE"/>
          </a:solidFill>
          <a:ln w="12700">
            <a:solidFill>
              <a:srgbClr val="D8E2EE"/>
            </a:solidFill>
            <a:prstDash val="solid"/>
          </a:ln>
        </p:spPr>
      </p:sp>
      <p:sp>
        <p:nvSpPr>
          <p:cNvPr id="21" name="Shape 19"/>
          <p:cNvSpPr/>
          <p:nvPr/>
        </p:nvSpPr>
        <p:spPr>
          <a:xfrm>
            <a:off x="411480" y="4169664"/>
            <a:ext cx="54864" cy="640080"/>
          </a:xfrm>
          <a:prstGeom prst="rect">
            <a:avLst/>
          </a:prstGeom>
          <a:solidFill>
            <a:srgbClr val="B03A2E"/>
          </a:solidFill>
          <a:ln w="12700">
            <a:solidFill>
              <a:srgbClr val="B03A2E"/>
            </a:solidFill>
            <a:prstDash val="solid"/>
          </a:ln>
        </p:spPr>
      </p:sp>
      <p:sp>
        <p:nvSpPr>
          <p:cNvPr id="22" name="Text 20"/>
          <p:cNvSpPr/>
          <p:nvPr/>
        </p:nvSpPr>
        <p:spPr>
          <a:xfrm>
            <a:off x="521208" y="4206240"/>
            <a:ext cx="3776472" cy="585216"/>
          </a:xfrm>
          <a:prstGeom prst="rect">
            <a:avLst/>
          </a:prstGeom>
          <a:noFill/>
          <a:ln/>
        </p:spPr>
        <p:txBody>
          <a:bodyPr wrap="square" lIns="0" tIns="0" rIns="0" bIns="0" rtlCol="0" anchor="t"/>
          <a:lstStyle/>
          <a:p>
            <a:pPr algn="l" indent="0" marL="0">
              <a:buNone/>
            </a:pPr>
            <a:r>
              <a:rPr lang="en-US" sz="850" dirty="0">
                <a:solidFill>
                  <a:srgbClr val="1A2A3A"/>
                </a:solidFill>
                <a:latin typeface="Calibri" pitchFamily="34" charset="0"/>
                <a:ea typeface="Calibri" pitchFamily="34" charset="-122"/>
                <a:cs typeface="Calibri" pitchFamily="34" charset="-120"/>
              </a:rPr>
              <a:t>CarenR_Assoc not implemented: factor-level alignment issues in walk-forward context left as a natural extension</a:t>
            </a:r>
            <a:endParaRPr lang="en-US" sz="850" dirty="0"/>
          </a:p>
        </p:txBody>
      </p:sp>
      <p:sp>
        <p:nvSpPr>
          <p:cNvPr id="23" name="Shape 21"/>
          <p:cNvSpPr/>
          <p:nvPr/>
        </p:nvSpPr>
        <p:spPr>
          <a:xfrm>
            <a:off x="4800600" y="1005840"/>
            <a:ext cx="3931920" cy="347472"/>
          </a:xfrm>
          <a:prstGeom prst="rect">
            <a:avLst/>
          </a:prstGeom>
          <a:solidFill>
            <a:srgbClr val="1A7A4A"/>
          </a:solidFill>
          <a:ln w="12700">
            <a:solidFill>
              <a:srgbClr val="1A7A4A"/>
            </a:solidFill>
            <a:prstDash val="solid"/>
          </a:ln>
        </p:spPr>
      </p:sp>
      <p:sp>
        <p:nvSpPr>
          <p:cNvPr id="24" name="Text 22"/>
          <p:cNvSpPr/>
          <p:nvPr/>
        </p:nvSpPr>
        <p:spPr>
          <a:xfrm>
            <a:off x="4800600" y="1005840"/>
            <a:ext cx="393192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Future Work</a:t>
            </a:r>
            <a:endParaRPr lang="en-US" sz="1200" dirty="0"/>
          </a:p>
        </p:txBody>
      </p:sp>
      <p:sp>
        <p:nvSpPr>
          <p:cNvPr id="25" name="Shape 23"/>
          <p:cNvSpPr/>
          <p:nvPr/>
        </p:nvSpPr>
        <p:spPr>
          <a:xfrm>
            <a:off x="4800600" y="1426464"/>
            <a:ext cx="3931920" cy="640080"/>
          </a:xfrm>
          <a:prstGeom prst="rect">
            <a:avLst/>
          </a:prstGeom>
          <a:solidFill>
            <a:srgbClr val="D8E2EE"/>
          </a:solidFill>
          <a:ln w="12700">
            <a:solidFill>
              <a:srgbClr val="D8E2EE"/>
            </a:solidFill>
            <a:prstDash val="solid"/>
          </a:ln>
        </p:spPr>
      </p:sp>
      <p:sp>
        <p:nvSpPr>
          <p:cNvPr id="26" name="Shape 24"/>
          <p:cNvSpPr/>
          <p:nvPr/>
        </p:nvSpPr>
        <p:spPr>
          <a:xfrm>
            <a:off x="4800600" y="1426464"/>
            <a:ext cx="54864" cy="640080"/>
          </a:xfrm>
          <a:prstGeom prst="rect">
            <a:avLst/>
          </a:prstGeom>
          <a:solidFill>
            <a:srgbClr val="1A7A4A"/>
          </a:solidFill>
          <a:ln w="12700">
            <a:solidFill>
              <a:srgbClr val="1A7A4A"/>
            </a:solidFill>
            <a:prstDash val="solid"/>
          </a:ln>
        </p:spPr>
      </p:sp>
      <p:sp>
        <p:nvSpPr>
          <p:cNvPr id="27" name="Text 25"/>
          <p:cNvSpPr/>
          <p:nvPr/>
        </p:nvSpPr>
        <p:spPr>
          <a:xfrm>
            <a:off x="4910328" y="1463040"/>
            <a:ext cx="3776472" cy="585216"/>
          </a:xfrm>
          <a:prstGeom prst="rect">
            <a:avLst/>
          </a:prstGeom>
          <a:noFill/>
          <a:ln/>
        </p:spPr>
        <p:txBody>
          <a:bodyPr wrap="square" lIns="0" tIns="0" rIns="0" bIns="0" rtlCol="0" anchor="t"/>
          <a:lstStyle/>
          <a:p>
            <a:pPr algn="l" indent="0" marL="0">
              <a:buNone/>
            </a:pPr>
            <a:r>
              <a:rPr lang="en-US" sz="850" dirty="0">
                <a:solidFill>
                  <a:srgbClr val="1A2A3A"/>
                </a:solidFill>
                <a:latin typeface="Calibri" pitchFamily="34" charset="0"/>
                <a:ea typeface="Calibri" pitchFamily="34" charset="-122"/>
                <a:cs typeface="Calibri" pitchFamily="34" charset="-120"/>
              </a:rPr>
              <a:t>Structural detrending [PRIORITY]: add non-climate covariates (planted area, quotas, certified producers) to separate structural shifts from climate residuals — directly resolves Decision 1/2 tension</a:t>
            </a:r>
            <a:endParaRPr lang="en-US" sz="850" dirty="0"/>
          </a:p>
        </p:txBody>
      </p:sp>
      <p:sp>
        <p:nvSpPr>
          <p:cNvPr id="28" name="Shape 26"/>
          <p:cNvSpPr/>
          <p:nvPr/>
        </p:nvSpPr>
        <p:spPr>
          <a:xfrm>
            <a:off x="4800600" y="2112264"/>
            <a:ext cx="3931920" cy="640080"/>
          </a:xfrm>
          <a:prstGeom prst="rect">
            <a:avLst/>
          </a:prstGeom>
          <a:solidFill>
            <a:srgbClr val="D8E2EE"/>
          </a:solidFill>
          <a:ln w="12700">
            <a:solidFill>
              <a:srgbClr val="D8E2EE"/>
            </a:solidFill>
            <a:prstDash val="solid"/>
          </a:ln>
        </p:spPr>
      </p:sp>
      <p:sp>
        <p:nvSpPr>
          <p:cNvPr id="29" name="Shape 27"/>
          <p:cNvSpPr/>
          <p:nvPr/>
        </p:nvSpPr>
        <p:spPr>
          <a:xfrm>
            <a:off x="4800600" y="2112264"/>
            <a:ext cx="54864" cy="640080"/>
          </a:xfrm>
          <a:prstGeom prst="rect">
            <a:avLst/>
          </a:prstGeom>
          <a:solidFill>
            <a:srgbClr val="1A7A4A"/>
          </a:solidFill>
          <a:ln w="12700">
            <a:solidFill>
              <a:srgbClr val="1A7A4A"/>
            </a:solidFill>
            <a:prstDash val="solid"/>
          </a:ln>
        </p:spPr>
      </p:sp>
      <p:sp>
        <p:nvSpPr>
          <p:cNvPr id="30" name="Text 28"/>
          <p:cNvSpPr/>
          <p:nvPr/>
        </p:nvSpPr>
        <p:spPr>
          <a:xfrm>
            <a:off x="4910328" y="2148840"/>
            <a:ext cx="3776472" cy="585216"/>
          </a:xfrm>
          <a:prstGeom prst="rect">
            <a:avLst/>
          </a:prstGeom>
          <a:noFill/>
          <a:ln/>
        </p:spPr>
        <p:txBody>
          <a:bodyPr wrap="square" lIns="0" tIns="0" rIns="0" bIns="0" rtlCol="0" anchor="t"/>
          <a:lstStyle/>
          <a:p>
            <a:pPr algn="l" indent="0" marL="0">
              <a:buNone/>
            </a:pPr>
            <a:r>
              <a:rPr lang="en-US" sz="850" dirty="0">
                <a:solidFill>
                  <a:srgbClr val="1A2A3A"/>
                </a:solidFill>
                <a:latin typeface="Calibri" pitchFamily="34" charset="0"/>
                <a:ea typeface="Calibri" pitchFamily="34" charset="-122"/>
                <a:cs typeface="Calibri" pitchFamily="34" charset="-120"/>
              </a:rPr>
              <a:t>Prospective validation: pre-register the era-composition hypothesis; test on new observations as they become available (2023+ data for RDD)</a:t>
            </a:r>
            <a:endParaRPr lang="en-US" sz="850" dirty="0"/>
          </a:p>
        </p:txBody>
      </p:sp>
      <p:sp>
        <p:nvSpPr>
          <p:cNvPr id="31" name="Shape 29"/>
          <p:cNvSpPr/>
          <p:nvPr/>
        </p:nvSpPr>
        <p:spPr>
          <a:xfrm>
            <a:off x="4800600" y="2798064"/>
            <a:ext cx="3931920" cy="640080"/>
          </a:xfrm>
          <a:prstGeom prst="rect">
            <a:avLst/>
          </a:prstGeom>
          <a:solidFill>
            <a:srgbClr val="D8E2EE"/>
          </a:solidFill>
          <a:ln w="12700">
            <a:solidFill>
              <a:srgbClr val="D8E2EE"/>
            </a:solidFill>
            <a:prstDash val="solid"/>
          </a:ln>
        </p:spPr>
      </p:sp>
      <p:sp>
        <p:nvSpPr>
          <p:cNvPr id="32" name="Shape 30"/>
          <p:cNvSpPr/>
          <p:nvPr/>
        </p:nvSpPr>
        <p:spPr>
          <a:xfrm>
            <a:off x="4800600" y="2798064"/>
            <a:ext cx="54864" cy="640080"/>
          </a:xfrm>
          <a:prstGeom prst="rect">
            <a:avLst/>
          </a:prstGeom>
          <a:solidFill>
            <a:srgbClr val="1A7A4A"/>
          </a:solidFill>
          <a:ln w="12700">
            <a:solidFill>
              <a:srgbClr val="1A7A4A"/>
            </a:solidFill>
            <a:prstDash val="solid"/>
          </a:ln>
        </p:spPr>
      </p:sp>
      <p:sp>
        <p:nvSpPr>
          <p:cNvPr id="33" name="Text 31"/>
          <p:cNvSpPr/>
          <p:nvPr/>
        </p:nvSpPr>
        <p:spPr>
          <a:xfrm>
            <a:off x="4910328" y="2834640"/>
            <a:ext cx="3776472" cy="585216"/>
          </a:xfrm>
          <a:prstGeom prst="rect">
            <a:avLst/>
          </a:prstGeom>
          <a:noFill/>
          <a:ln/>
        </p:spPr>
        <p:txBody>
          <a:bodyPr wrap="square" lIns="0" tIns="0" rIns="0" bIns="0" rtlCol="0" anchor="t"/>
          <a:lstStyle/>
          <a:p>
            <a:pPr algn="l" indent="0" marL="0">
              <a:buNone/>
            </a:pPr>
            <a:r>
              <a:rPr lang="en-US" sz="850" dirty="0">
                <a:solidFill>
                  <a:srgbClr val="1A2A3A"/>
                </a:solidFill>
                <a:latin typeface="Calibri" pitchFamily="34" charset="0"/>
                <a:ea typeface="Calibri" pitchFamily="34" charset="-122"/>
                <a:cs typeface="Calibri" pitchFamily="34" charset="-120"/>
              </a:rPr>
              <a:t>Extended datasets: more regions (Alentejo, Dão), longer series, or sub-regional data would increase statistical power and test generalisability</a:t>
            </a:r>
            <a:endParaRPr lang="en-US" sz="850" dirty="0"/>
          </a:p>
        </p:txBody>
      </p:sp>
      <p:sp>
        <p:nvSpPr>
          <p:cNvPr id="34" name="Shape 32"/>
          <p:cNvSpPr/>
          <p:nvPr/>
        </p:nvSpPr>
        <p:spPr>
          <a:xfrm>
            <a:off x="4800600" y="3483864"/>
            <a:ext cx="3931920" cy="640080"/>
          </a:xfrm>
          <a:prstGeom prst="rect">
            <a:avLst/>
          </a:prstGeom>
          <a:solidFill>
            <a:srgbClr val="D8E2EE"/>
          </a:solidFill>
          <a:ln w="12700">
            <a:solidFill>
              <a:srgbClr val="D8E2EE"/>
            </a:solidFill>
            <a:prstDash val="solid"/>
          </a:ln>
        </p:spPr>
      </p:sp>
      <p:sp>
        <p:nvSpPr>
          <p:cNvPr id="35" name="Shape 33"/>
          <p:cNvSpPr/>
          <p:nvPr/>
        </p:nvSpPr>
        <p:spPr>
          <a:xfrm>
            <a:off x="4800600" y="3483864"/>
            <a:ext cx="54864" cy="640080"/>
          </a:xfrm>
          <a:prstGeom prst="rect">
            <a:avLst/>
          </a:prstGeom>
          <a:solidFill>
            <a:srgbClr val="1A7A4A"/>
          </a:solidFill>
          <a:ln w="12700">
            <a:solidFill>
              <a:srgbClr val="1A7A4A"/>
            </a:solidFill>
            <a:prstDash val="solid"/>
          </a:ln>
        </p:spPr>
      </p:sp>
      <p:sp>
        <p:nvSpPr>
          <p:cNvPr id="36" name="Text 34"/>
          <p:cNvSpPr/>
          <p:nvPr/>
        </p:nvSpPr>
        <p:spPr>
          <a:xfrm>
            <a:off x="4910328" y="3520440"/>
            <a:ext cx="3776472" cy="585216"/>
          </a:xfrm>
          <a:prstGeom prst="rect">
            <a:avLst/>
          </a:prstGeom>
          <a:noFill/>
          <a:ln/>
        </p:spPr>
        <p:txBody>
          <a:bodyPr wrap="square" lIns="0" tIns="0" rIns="0" bIns="0" rtlCol="0" anchor="t"/>
          <a:lstStyle/>
          <a:p>
            <a:pPr algn="l" indent="0" marL="0">
              <a:buNone/>
            </a:pPr>
            <a:r>
              <a:rPr lang="en-US" sz="850" dirty="0">
                <a:solidFill>
                  <a:srgbClr val="1A2A3A"/>
                </a:solidFill>
                <a:latin typeface="Calibri" pitchFamily="34" charset="0"/>
                <a:ea typeface="Calibri" pitchFamily="34" charset="-122"/>
                <a:cs typeface="Calibri" pitchFamily="34" charset="-120"/>
              </a:rPr>
              <a:t>Ensemble or conformal approaches: quantify prediction uncertainty explicitly; conformal prediction would provide coverage guarantees on rare events</a:t>
            </a:r>
            <a:endParaRPr lang="en-US" sz="850" dirty="0"/>
          </a:p>
        </p:txBody>
      </p:sp>
      <p:sp>
        <p:nvSpPr>
          <p:cNvPr id="37" name="Shape 35"/>
          <p:cNvSpPr/>
          <p:nvPr/>
        </p:nvSpPr>
        <p:spPr>
          <a:xfrm>
            <a:off x="4800600" y="4169664"/>
            <a:ext cx="3931920" cy="640080"/>
          </a:xfrm>
          <a:prstGeom prst="rect">
            <a:avLst/>
          </a:prstGeom>
          <a:solidFill>
            <a:srgbClr val="D8E2EE"/>
          </a:solidFill>
          <a:ln w="12700">
            <a:solidFill>
              <a:srgbClr val="D8E2EE"/>
            </a:solidFill>
            <a:prstDash val="solid"/>
          </a:ln>
        </p:spPr>
      </p:sp>
      <p:sp>
        <p:nvSpPr>
          <p:cNvPr id="38" name="Shape 36"/>
          <p:cNvSpPr/>
          <p:nvPr/>
        </p:nvSpPr>
        <p:spPr>
          <a:xfrm>
            <a:off x="4800600" y="4169664"/>
            <a:ext cx="54864" cy="640080"/>
          </a:xfrm>
          <a:prstGeom prst="rect">
            <a:avLst/>
          </a:prstGeom>
          <a:solidFill>
            <a:srgbClr val="1A7A4A"/>
          </a:solidFill>
          <a:ln w="12700">
            <a:solidFill>
              <a:srgbClr val="1A7A4A"/>
            </a:solidFill>
            <a:prstDash val="solid"/>
          </a:ln>
        </p:spPr>
      </p:sp>
      <p:sp>
        <p:nvSpPr>
          <p:cNvPr id="39" name="Text 37"/>
          <p:cNvSpPr/>
          <p:nvPr/>
        </p:nvSpPr>
        <p:spPr>
          <a:xfrm>
            <a:off x="4910328" y="4206240"/>
            <a:ext cx="3776472" cy="585216"/>
          </a:xfrm>
          <a:prstGeom prst="rect">
            <a:avLst/>
          </a:prstGeom>
          <a:noFill/>
          <a:ln/>
        </p:spPr>
        <p:txBody>
          <a:bodyPr wrap="square" lIns="0" tIns="0" rIns="0" bIns="0" rtlCol="0" anchor="t"/>
          <a:lstStyle/>
          <a:p>
            <a:pPr algn="l" indent="0" marL="0">
              <a:buNone/>
            </a:pPr>
            <a:r>
              <a:rPr lang="en-US" sz="850" dirty="0">
                <a:solidFill>
                  <a:srgbClr val="1A2A3A"/>
                </a:solidFill>
                <a:latin typeface="Calibri" pitchFamily="34" charset="0"/>
                <a:ea typeface="Calibri" pitchFamily="34" charset="-122"/>
                <a:cs typeface="Calibri" pitchFamily="34" charset="-120"/>
              </a:rPr>
              <a:t>LOESS protocol generalisation: apply the era-signal validation protocol to other agricultural domains with structural non-stationarity</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53"/>
          </a:solidFill>
          <a:ln w="12700">
            <a:solidFill>
              <a:srgbClr val="D4A853"/>
            </a:solidFill>
            <a:prstDash val="solid"/>
          </a:ln>
        </p:spPr>
      </p:sp>
      <p:sp>
        <p:nvSpPr>
          <p:cNvPr id="3" name="Text 1"/>
          <p:cNvSpPr/>
          <p:nvPr/>
        </p:nvSpPr>
        <p:spPr>
          <a:xfrm>
            <a:off x="457200" y="109728"/>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Conclusions</a:t>
            </a:r>
            <a:endParaRPr lang="en-US" sz="2600" dirty="0"/>
          </a:p>
        </p:txBody>
      </p:sp>
      <p:sp>
        <p:nvSpPr>
          <p:cNvPr id="4" name="Shape 2"/>
          <p:cNvSpPr/>
          <p:nvPr/>
        </p:nvSpPr>
        <p:spPr>
          <a:xfrm>
            <a:off x="457200" y="658368"/>
            <a:ext cx="8229600" cy="18288"/>
          </a:xfrm>
          <a:prstGeom prst="rect">
            <a:avLst/>
          </a:prstGeom>
          <a:solidFill>
            <a:srgbClr val="253756"/>
          </a:solidFill>
          <a:ln w="12700">
            <a:solidFill>
              <a:srgbClr val="253756"/>
            </a:solidFill>
            <a:prstDash val="solid"/>
          </a:ln>
        </p:spPr>
      </p:sp>
      <p:sp>
        <p:nvSpPr>
          <p:cNvPr id="5" name="Shape 3"/>
          <p:cNvSpPr/>
          <p:nvPr/>
        </p:nvSpPr>
        <p:spPr>
          <a:xfrm>
            <a:off x="411480" y="768096"/>
            <a:ext cx="8321040" cy="1261872"/>
          </a:xfrm>
          <a:prstGeom prst="rect">
            <a:avLst/>
          </a:prstGeom>
          <a:solidFill>
            <a:srgbClr val="253756"/>
          </a:solidFill>
          <a:ln w="12700">
            <a:solidFill>
              <a:srgbClr val="253756"/>
            </a:solidFill>
            <a:prstDash val="solid"/>
          </a:ln>
        </p:spPr>
      </p:sp>
      <p:sp>
        <p:nvSpPr>
          <p:cNvPr id="6" name="Shape 4"/>
          <p:cNvSpPr/>
          <p:nvPr/>
        </p:nvSpPr>
        <p:spPr>
          <a:xfrm>
            <a:off x="411480" y="768096"/>
            <a:ext cx="64008" cy="1261872"/>
          </a:xfrm>
          <a:prstGeom prst="rect">
            <a:avLst/>
          </a:prstGeom>
          <a:solidFill>
            <a:srgbClr val="1A7A4A"/>
          </a:solidFill>
          <a:ln w="12700">
            <a:solidFill>
              <a:srgbClr val="1A7A4A"/>
            </a:solidFill>
            <a:prstDash val="solid"/>
          </a:ln>
        </p:spPr>
      </p:sp>
      <p:sp>
        <p:nvSpPr>
          <p:cNvPr id="7" name="Text 5"/>
          <p:cNvSpPr/>
          <p:nvPr/>
        </p:nvSpPr>
        <p:spPr>
          <a:xfrm>
            <a:off x="566928" y="832104"/>
            <a:ext cx="2286000" cy="274320"/>
          </a:xfrm>
          <a:prstGeom prst="rect">
            <a:avLst/>
          </a:prstGeom>
          <a:noFill/>
          <a:ln/>
        </p:spPr>
        <p:txBody>
          <a:bodyPr wrap="square" lIns="0" tIns="0" rIns="0" bIns="0" rtlCol="0" anchor="ctr"/>
          <a:lstStyle/>
          <a:p>
            <a:pPr algn="l" indent="0" marL="0">
              <a:buNone/>
            </a:pPr>
            <a:r>
              <a:rPr lang="en-US" sz="850" b="1" dirty="0">
                <a:solidFill>
                  <a:srgbClr val="1A7A4A"/>
                </a:solidFill>
                <a:latin typeface="Calibri" pitchFamily="34" charset="0"/>
                <a:ea typeface="Calibri" pitchFamily="34" charset="-122"/>
                <a:cs typeface="Calibri" pitchFamily="34" charset="-120"/>
              </a:rPr>
              <a:t>GOAL 1 ✓ ACHIEVED</a:t>
            </a:r>
            <a:endParaRPr lang="en-US" sz="850" dirty="0"/>
          </a:p>
        </p:txBody>
      </p:sp>
      <p:sp>
        <p:nvSpPr>
          <p:cNvPr id="8" name="Text 6"/>
          <p:cNvSpPr/>
          <p:nvPr/>
        </p:nvSpPr>
        <p:spPr>
          <a:xfrm>
            <a:off x="566928" y="1106424"/>
            <a:ext cx="8010144"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Rule Discovery Succeeds</a:t>
            </a:r>
            <a:endParaRPr lang="en-US" sz="1300" dirty="0"/>
          </a:p>
        </p:txBody>
      </p:sp>
      <p:sp>
        <p:nvSpPr>
          <p:cNvPr id="9" name="Text 7"/>
          <p:cNvSpPr/>
          <p:nvPr/>
        </p:nvSpPr>
        <p:spPr>
          <a:xfrm>
            <a:off x="566928" y="1453896"/>
            <a:ext cx="8010144" cy="512064"/>
          </a:xfrm>
          <a:prstGeom prst="rect">
            <a:avLst/>
          </a:prstGeom>
          <a:noFill/>
          <a:ln/>
        </p:spPr>
        <p:txBody>
          <a:bodyPr wrap="square" lIns="0" tIns="0" rIns="0" bIns="0" rtlCol="0" anchor="t"/>
          <a:lstStyle/>
          <a:p>
            <a:pPr algn="l" indent="0" marL="0">
              <a:buNone/>
            </a:pPr>
            <a:r>
              <a:rPr lang="en-US" sz="880" dirty="0">
                <a:solidFill>
                  <a:srgbClr val="D8E2EE"/>
                </a:solidFill>
                <a:latin typeface="Calibri" pitchFamily="34" charset="0"/>
                <a:ea typeface="Calibri" pitchFamily="34" charset="-122"/>
                <a:cs typeface="Calibri" pitchFamily="34" charset="-120"/>
              </a:rPr>
              <a:t>CarenR extracts 48 (RDD) and 20 (RVV) statistically validated distributional rules. Feature frequency analysis converges on harvest-period soil water (Douro) and heat-stress days (Vinho Verde). LOESS validation confirms genuine within-era signal in RDD; exposes era artefacts in RVV. Cross-algorithm agreement with RIPPER and M5Rules confirms genuine data structure.</a:t>
            </a:r>
            <a:endParaRPr lang="en-US" sz="880" dirty="0"/>
          </a:p>
        </p:txBody>
      </p:sp>
      <p:sp>
        <p:nvSpPr>
          <p:cNvPr id="10" name="Shape 8"/>
          <p:cNvSpPr/>
          <p:nvPr/>
        </p:nvSpPr>
        <p:spPr>
          <a:xfrm>
            <a:off x="411480" y="2121408"/>
            <a:ext cx="8321040" cy="1261872"/>
          </a:xfrm>
          <a:prstGeom prst="rect">
            <a:avLst/>
          </a:prstGeom>
          <a:solidFill>
            <a:srgbClr val="253756"/>
          </a:solidFill>
          <a:ln w="12700">
            <a:solidFill>
              <a:srgbClr val="253756"/>
            </a:solidFill>
            <a:prstDash val="solid"/>
          </a:ln>
        </p:spPr>
      </p:sp>
      <p:sp>
        <p:nvSpPr>
          <p:cNvPr id="11" name="Shape 9"/>
          <p:cNvSpPr/>
          <p:nvPr/>
        </p:nvSpPr>
        <p:spPr>
          <a:xfrm>
            <a:off x="411480" y="2121408"/>
            <a:ext cx="64008" cy="1261872"/>
          </a:xfrm>
          <a:prstGeom prst="rect">
            <a:avLst/>
          </a:prstGeom>
          <a:solidFill>
            <a:srgbClr val="B03A2E"/>
          </a:solidFill>
          <a:ln w="12700">
            <a:solidFill>
              <a:srgbClr val="B03A2E"/>
            </a:solidFill>
            <a:prstDash val="solid"/>
          </a:ln>
        </p:spPr>
      </p:sp>
      <p:sp>
        <p:nvSpPr>
          <p:cNvPr id="12" name="Text 10"/>
          <p:cNvSpPr/>
          <p:nvPr/>
        </p:nvSpPr>
        <p:spPr>
          <a:xfrm>
            <a:off x="566928" y="2185416"/>
            <a:ext cx="2286000" cy="274320"/>
          </a:xfrm>
          <a:prstGeom prst="rect">
            <a:avLst/>
          </a:prstGeom>
          <a:noFill/>
          <a:ln/>
        </p:spPr>
        <p:txBody>
          <a:bodyPr wrap="square" lIns="0" tIns="0" rIns="0" bIns="0" rtlCol="0" anchor="ctr"/>
          <a:lstStyle/>
          <a:p>
            <a:pPr algn="l" indent="0" marL="0">
              <a:buNone/>
            </a:pPr>
            <a:r>
              <a:rPr lang="en-US" sz="850" b="1" dirty="0">
                <a:solidFill>
                  <a:srgbClr val="B03A2E"/>
                </a:solidFill>
                <a:latin typeface="Calibri" pitchFamily="34" charset="0"/>
                <a:ea typeface="Calibri" pitchFamily="34" charset="-122"/>
                <a:cs typeface="Calibri" pitchFamily="34" charset="-120"/>
              </a:rPr>
              <a:t>GOAL 2 ✗ NOT ACHIEVED</a:t>
            </a:r>
            <a:endParaRPr lang="en-US" sz="850" dirty="0"/>
          </a:p>
        </p:txBody>
      </p:sp>
      <p:sp>
        <p:nvSpPr>
          <p:cNvPr id="13" name="Text 11"/>
          <p:cNvSpPr/>
          <p:nvPr/>
        </p:nvSpPr>
        <p:spPr>
          <a:xfrm>
            <a:off x="566928" y="2459736"/>
            <a:ext cx="8010144"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Prediction Fails in Aggregate — Structurally Explained</a:t>
            </a:r>
            <a:endParaRPr lang="en-US" sz="1300" dirty="0"/>
          </a:p>
        </p:txBody>
      </p:sp>
      <p:sp>
        <p:nvSpPr>
          <p:cNvPr id="14" name="Text 12"/>
          <p:cNvSpPr/>
          <p:nvPr/>
        </p:nvSpPr>
        <p:spPr>
          <a:xfrm>
            <a:off x="566928" y="2807208"/>
            <a:ext cx="8010144" cy="512064"/>
          </a:xfrm>
          <a:prstGeom prst="rect">
            <a:avLst/>
          </a:prstGeom>
          <a:noFill/>
          <a:ln/>
        </p:spPr>
        <p:txBody>
          <a:bodyPr wrap="square" lIns="0" tIns="0" rIns="0" bIns="0" rtlCol="0" anchor="t"/>
          <a:lstStyle/>
          <a:p>
            <a:pPr algn="l" indent="0" marL="0">
              <a:buNone/>
            </a:pPr>
            <a:r>
              <a:rPr lang="en-US" sz="880" dirty="0">
                <a:solidFill>
                  <a:srgbClr val="D8E2EE"/>
                </a:solidFill>
                <a:latin typeface="Calibri" pitchFamily="34" charset="0"/>
                <a:ea typeface="Calibri" pitchFamily="34" charset="-122"/>
                <a:cs typeface="Calibri" pitchFamily="34" charset="-120"/>
              </a:rPr>
              <a:t>No rule-based model consistently beats Naive_Median. RDD best: 189 vs 184 mhl (Wilcoxon p=0.468, not significant). RVV: 172 vs 140 mhl; rules actively harmful when fired (p=0.004, confirmatory negative). Post-hoc exploratory finding: CarenR competitive when training ≥29% post-1990 (5/5 wins, p=0.031; requires prospective validation). Two-decision framework explains the failure structurally.</a:t>
            </a:r>
            <a:endParaRPr lang="en-US" sz="880" dirty="0"/>
          </a:p>
        </p:txBody>
      </p:sp>
      <p:sp>
        <p:nvSpPr>
          <p:cNvPr id="15" name="Shape 13"/>
          <p:cNvSpPr/>
          <p:nvPr/>
        </p:nvSpPr>
        <p:spPr>
          <a:xfrm>
            <a:off x="411480" y="3474720"/>
            <a:ext cx="8321040" cy="1261872"/>
          </a:xfrm>
          <a:prstGeom prst="rect">
            <a:avLst/>
          </a:prstGeom>
          <a:solidFill>
            <a:srgbClr val="253756"/>
          </a:solidFill>
          <a:ln w="12700">
            <a:solidFill>
              <a:srgbClr val="253756"/>
            </a:solidFill>
            <a:prstDash val="solid"/>
          </a:ln>
        </p:spPr>
      </p:sp>
      <p:sp>
        <p:nvSpPr>
          <p:cNvPr id="16" name="Shape 14"/>
          <p:cNvSpPr/>
          <p:nvPr/>
        </p:nvSpPr>
        <p:spPr>
          <a:xfrm>
            <a:off x="411480" y="3474720"/>
            <a:ext cx="64008" cy="1261872"/>
          </a:xfrm>
          <a:prstGeom prst="rect">
            <a:avLst/>
          </a:prstGeom>
          <a:solidFill>
            <a:srgbClr val="D4A853"/>
          </a:solidFill>
          <a:ln w="12700">
            <a:solidFill>
              <a:srgbClr val="D4A853"/>
            </a:solidFill>
            <a:prstDash val="solid"/>
          </a:ln>
        </p:spPr>
      </p:sp>
      <p:sp>
        <p:nvSpPr>
          <p:cNvPr id="17" name="Text 15"/>
          <p:cNvSpPr/>
          <p:nvPr/>
        </p:nvSpPr>
        <p:spPr>
          <a:xfrm>
            <a:off x="566928" y="3538728"/>
            <a:ext cx="2286000" cy="274320"/>
          </a:xfrm>
          <a:prstGeom prst="rect">
            <a:avLst/>
          </a:prstGeom>
          <a:noFill/>
          <a:ln/>
        </p:spPr>
        <p:txBody>
          <a:bodyPr wrap="square" lIns="0" tIns="0" rIns="0" bIns="0" rtlCol="0" anchor="ctr"/>
          <a:lstStyle/>
          <a:p>
            <a:pPr algn="l" indent="0" marL="0">
              <a:buNone/>
            </a:pPr>
            <a:r>
              <a:rPr lang="en-US" sz="850" b="1" dirty="0">
                <a:solidFill>
                  <a:srgbClr val="D4A853"/>
                </a:solidFill>
                <a:latin typeface="Calibri" pitchFamily="34" charset="0"/>
                <a:ea typeface="Calibri" pitchFamily="34" charset="-122"/>
                <a:cs typeface="Calibri" pitchFamily="34" charset="-120"/>
              </a:rPr>
              <a:t>CORE INSIGHT</a:t>
            </a:r>
            <a:endParaRPr lang="en-US" sz="850" dirty="0"/>
          </a:p>
        </p:txBody>
      </p:sp>
      <p:sp>
        <p:nvSpPr>
          <p:cNvPr id="18" name="Text 16"/>
          <p:cNvSpPr/>
          <p:nvPr/>
        </p:nvSpPr>
        <p:spPr>
          <a:xfrm>
            <a:off x="566928" y="3813048"/>
            <a:ext cx="8010144"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Explanation ≠ Prediction — and the Path Forward</a:t>
            </a:r>
            <a:endParaRPr lang="en-US" sz="1300" dirty="0"/>
          </a:p>
        </p:txBody>
      </p:sp>
      <p:sp>
        <p:nvSpPr>
          <p:cNvPr id="19" name="Text 17"/>
          <p:cNvSpPr/>
          <p:nvPr/>
        </p:nvSpPr>
        <p:spPr>
          <a:xfrm>
            <a:off x="566928" y="4160520"/>
            <a:ext cx="8010144" cy="512064"/>
          </a:xfrm>
          <a:prstGeom prst="rect">
            <a:avLst/>
          </a:prstGeom>
          <a:noFill/>
          <a:ln/>
        </p:spPr>
        <p:txBody>
          <a:bodyPr wrap="square" lIns="0" tIns="0" rIns="0" bIns="0" rtlCol="0" anchor="t"/>
          <a:lstStyle/>
          <a:p>
            <a:pPr algn="l" indent="0" marL="0">
              <a:buNone/>
            </a:pPr>
            <a:r>
              <a:rPr lang="en-US" sz="880" dirty="0">
                <a:solidFill>
                  <a:srgbClr val="D8E2EE"/>
                </a:solidFill>
                <a:latin typeface="Calibri" pitchFamily="34" charset="0"/>
                <a:ea typeface="Calibri" pitchFamily="34" charset="-122"/>
                <a:cs typeface="Calibri" pitchFamily="34" charset="-120"/>
              </a:rPr>
              <a:t>The same features that explain historical production cannot reliably predict future years. The association is real (|r|≈0.47) but 78% of residual variance is unexplained noise. Distributional discovery needs only a shift to EXIST; prediction needs the shift to DOMINATE. The path forward: structural detrending with non-climate covariates resolves the Decision 1/2 tension.</a:t>
            </a:r>
            <a:endParaRPr lang="en-US" sz="880" dirty="0"/>
          </a:p>
        </p:txBody>
      </p:sp>
      <p:sp>
        <p:nvSpPr>
          <p:cNvPr id="20" name="Shape 18"/>
          <p:cNvSpPr/>
          <p:nvPr/>
        </p:nvSpPr>
        <p:spPr>
          <a:xfrm>
            <a:off x="411480" y="4828032"/>
            <a:ext cx="8321040" cy="219456"/>
          </a:xfrm>
          <a:prstGeom prst="rect">
            <a:avLst/>
          </a:prstGeom>
          <a:solidFill>
            <a:srgbClr val="D4A853"/>
          </a:solidFill>
          <a:ln w="12700">
            <a:solidFill>
              <a:srgbClr val="D4A853"/>
            </a:solidFill>
            <a:prstDash val="solid"/>
          </a:ln>
        </p:spPr>
      </p:sp>
      <p:sp>
        <p:nvSpPr>
          <p:cNvPr id="21" name="Text 19"/>
          <p:cNvSpPr/>
          <p:nvPr/>
        </p:nvSpPr>
        <p:spPr>
          <a:xfrm>
            <a:off x="411480" y="4828032"/>
            <a:ext cx="8321040" cy="219456"/>
          </a:xfrm>
          <a:prstGeom prst="rect">
            <a:avLst/>
          </a:prstGeom>
          <a:noFill/>
          <a:ln/>
        </p:spPr>
        <p:txBody>
          <a:bodyPr wrap="square" lIns="0" tIns="0" rIns="0" bIns="0" rtlCol="0" anchor="ctr"/>
          <a:lstStyle/>
          <a:p>
            <a:pPr algn="ctr" indent="0" marL="0">
              <a:buNone/>
            </a:pPr>
            <a:r>
              <a:rPr lang="en-US" sz="900" b="1" dirty="0">
                <a:solidFill>
                  <a:srgbClr val="0D1B2A"/>
                </a:solidFill>
                <a:latin typeface="Calibri" pitchFamily="34" charset="0"/>
                <a:ea typeface="Calibri" pitchFamily="34" charset="-122"/>
                <a:cs typeface="Calibri" pitchFamily="34" charset="-120"/>
              </a:rPr>
              <a:t>Thank you. Questions?  ·  The Two-Decision Framework, LOESS validation protocol, and era-composition analysis are transferable to any non-stationary agricultural time series.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Wine Production Forecasting – Defense Presentation</dc:title>
  <dc:subject>PptxGenJS Presentation</dc:subject>
  <dc:creator>Hugo Nogueira</dc:creator>
  <cp:lastModifiedBy>Hugo Nogueira</cp:lastModifiedBy>
  <cp:revision>1</cp:revision>
  <dcterms:created xsi:type="dcterms:W3CDTF">2026-06-15T13:59:04Z</dcterms:created>
  <dcterms:modified xsi:type="dcterms:W3CDTF">2026-06-15T13:59:04Z</dcterms:modified>
</cp:coreProperties>
</file>