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MAE (mhl)</c:v>
                </c:pt>
              </c:strCache>
            </c:strRef>
          </c:tx>
          <c:spPr>
            <a:solidFill>
              <a:srgbClr val="6B27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27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Naive_Median</c:v>
                  </c:pt>
                  <c:pt idx="1">
                    <c:v>CarenR_Eta2</c:v>
                  </c:pt>
                  <c:pt idx="2">
                    <c:v>CarenR_FS</c:v>
                  </c:pt>
                  <c:pt idx="3">
                    <c:v>Naive_MA</c:v>
                  </c:pt>
                  <c:pt idx="4">
                    <c:v>M5Rules</c:v>
                  </c:pt>
                  <c:pt idx="5">
                    <c:v>Decision Tree</c:v>
                  </c:pt>
                  <c:pt idx="6">
                    <c:v>RIPPER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184</c:v>
                </c:pt>
                <c:pt idx="1">
                  <c:v>189.2</c:v>
                </c:pt>
                <c:pt idx="2">
                  <c:v>193.5</c:v>
                </c:pt>
                <c:pt idx="3">
                  <c:v>194.6</c:v>
                </c:pt>
                <c:pt idx="4">
                  <c:v>200</c:v>
                </c:pt>
                <c:pt idx="5">
                  <c:v>249.7</c:v>
                </c:pt>
                <c:pt idx="6">
                  <c:v>279.4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60"/>
        </c:scaling>
        <c:delete val="0"/>
        <c:axPos val="b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Weighted MAE (mhl)</c:v>
                </c:pt>
              </c:strCache>
            </c:strRef>
          </c:tx>
          <c:spPr>
            <a:solidFill>
              <a:srgbClr val="2A7F7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C121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F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8E8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74A4A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Naive_Median</c:v>
                  </c:pt>
                  <c:pt idx="1">
                    <c:v>Naive</c:v>
                  </c:pt>
                  <c:pt idx="2">
                    <c:v>Naive_MA</c:v>
                  </c:pt>
                  <c:pt idx="3">
                    <c:v>CarenR_Sup_FS</c:v>
                  </c:pt>
                  <c:pt idx="4">
                    <c:v>M5Rules</c:v>
                  </c:pt>
                  <c:pt idx="5">
                    <c:v>Decision Tree</c:v>
                  </c:pt>
                  <c:pt idx="6">
                    <c:v>RIPPER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140.4</c:v>
                </c:pt>
                <c:pt idx="1">
                  <c:v>143.8</c:v>
                </c:pt>
                <c:pt idx="2">
                  <c:v>170.5</c:v>
                </c:pt>
                <c:pt idx="3">
                  <c:v>171.6</c:v>
                </c:pt>
                <c:pt idx="4">
                  <c:v>267.5</c:v>
                </c:pt>
                <c:pt idx="5">
                  <c:v>479.3</c:v>
                </c:pt>
                <c:pt idx="6">
                  <c:v>508.2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C121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100"/>
        </c:scaling>
        <c:delete val="0"/>
        <c:axPos val="b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Naive_Median</c:v>
                </c:pt>
              </c:strCache>
            </c:strRef>
          </c:tx>
          <c:spPr>
            <a:solidFill>
              <a:srgbClr val="6B2737"/>
            </a:solidFill>
            <a:ln w="25400" cap="flat">
              <a:solidFill>
                <a:srgbClr val="6B27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2737"/>
              </a:solidFill>
              <a:ln w="9525" cap="flat">
                <a:solidFill>
                  <a:srgbClr val="6B27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183.5</c:v>
                </c:pt>
                <c:pt idx="1">
                  <c:v>199.7</c:v>
                </c:pt>
                <c:pt idx="2">
                  <c:v>223.3</c:v>
                </c:pt>
                <c:pt idx="3">
                  <c:v>203.9</c:v>
                </c:pt>
                <c:pt idx="4">
                  <c:v>184.3</c:v>
                </c:pt>
                <c:pt idx="5">
                  <c:v>174.4</c:v>
                </c:pt>
                <c:pt idx="6">
                  <c:v>186.5</c:v>
                </c:pt>
                <c:pt idx="7">
                  <c:v>174.9</c:v>
                </c:pt>
                <c:pt idx="8">
                  <c:v>164</c:v>
                </c:pt>
                <c:pt idx="9">
                  <c:v>170.5</c:v>
                </c:pt>
                <c:pt idx="10">
                  <c:v>165.4</c:v>
                </c:pt>
                <c:pt idx="11">
                  <c:v>186.7</c:v>
                </c:pt>
                <c:pt idx="12">
                  <c:v>170.1</c:v>
                </c:pt>
                <c:pt idx="13">
                  <c:v>176.3</c:v>
                </c:pt>
                <c:pt idx="14">
                  <c:v>157.6</c:v>
                </c:pt>
                <c:pt idx="15">
                  <c:v>158.1</c:v>
                </c:pt>
                <c:pt idx="16">
                  <c:v>86.7</c:v>
                </c:pt>
                <c:pt idx="17">
                  <c:v>143.9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CarenR_Eta2</c:v>
                </c:pt>
              </c:strCache>
            </c:strRef>
          </c:tx>
          <c:spPr>
            <a:solidFill>
              <a:srgbClr val="C4964A"/>
            </a:solidFill>
            <a:ln w="25400" cap="flat">
              <a:solidFill>
                <a:srgbClr val="C496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964A"/>
              </a:solidFill>
              <a:ln w="9525" cap="flat">
                <a:solidFill>
                  <a:srgbClr val="C496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</c:lvl>
              </c:multiLvlStrCache>
            </c:multiLvl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199.5</c:v>
                </c:pt>
                <c:pt idx="1">
                  <c:v>204.8</c:v>
                </c:pt>
                <c:pt idx="2">
                  <c:v>216</c:v>
                </c:pt>
                <c:pt idx="3">
                  <c:v>203.7</c:v>
                </c:pt>
                <c:pt idx="4">
                  <c:v>209.5</c:v>
                </c:pt>
                <c:pt idx="5">
                  <c:v>201.4</c:v>
                </c:pt>
                <c:pt idx="6">
                  <c:v>214.4</c:v>
                </c:pt>
                <c:pt idx="7">
                  <c:v>190.5</c:v>
                </c:pt>
                <c:pt idx="8">
                  <c:v>172.7</c:v>
                </c:pt>
                <c:pt idx="9">
                  <c:v>140.5</c:v>
                </c:pt>
                <c:pt idx="10">
                  <c:v>148.3</c:v>
                </c:pt>
                <c:pt idx="11">
                  <c:v>158.9</c:v>
                </c:pt>
                <c:pt idx="12">
                  <c:v>138.6</c:v>
                </c:pt>
                <c:pt idx="13">
                  <c:v>145</c:v>
                </c:pt>
                <c:pt idx="14">
                  <c:v>177</c:v>
                </c:pt>
                <c:pt idx="15">
                  <c:v>180.1</c:v>
                </c:pt>
                <c:pt idx="16">
                  <c:v>120.2</c:v>
                </c:pt>
                <c:pt idx="17">
                  <c:v>208.7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C121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4CAC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04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8F2E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6949440" y="-822960"/>
            <a:ext cx="3474720" cy="3474720"/>
          </a:xfrm>
          <a:prstGeom prst="ellipse">
            <a:avLst/>
          </a:prstGeom>
          <a:solidFill>
            <a:srgbClr val="C4964A">
              <a:alpha val="15000"/>
            </a:srgbClr>
          </a:solidFill>
          <a:ln w="12700">
            <a:solidFill>
              <a:srgbClr val="C4964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548640" y="3108960"/>
            <a:ext cx="2560320" cy="2560320"/>
          </a:xfrm>
          <a:prstGeom prst="ellipse">
            <a:avLst/>
          </a:prstGeom>
          <a:solidFill>
            <a:srgbClr val="C4964A">
              <a:alpha val="10000"/>
            </a:srgbClr>
          </a:solidFill>
          <a:ln w="12700">
            <a:solidFill>
              <a:srgbClr val="C4964A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Wine Production Forecasting</a:t>
            </a:r>
            <a:endParaRPr lang="en-US" sz="3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Rule-Based Machine Learning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5029200" cy="27432"/>
          </a:xfrm>
          <a:prstGeom prst="rect">
            <a:avLst/>
          </a:prstGeom>
          <a:solidFill>
            <a:srgbClr val="C4964A">
              <a:alpha val="60000"/>
            </a:srgbClr>
          </a:solidFill>
          <a:ln w="12700">
            <a:solidFill>
              <a:srgbClr val="C4964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40864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Distributional Subgroup Discovery Approach for Portuguese Wine Regions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Filipe Queiróz Nogueira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MECD, FEUP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Supervisors: </a:t>
            </a:r>
            <a:pPr algn="l"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João Paulo Moreira (FEUP)  ·  Prof. Mário Campos Cunha (FCUP)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100584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005840"/>
            <a:ext cx="54864" cy="1005840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06070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+80%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37960" y="149961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Douro (RDD)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17099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increase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0" y="219456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0" y="2194560"/>
            <a:ext cx="54864" cy="1005840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4942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−65%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537960" y="268833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Verde (RVV)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37960" y="28986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decline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2377440" cy="1005840"/>
          </a:xfrm>
          <a:prstGeom prst="rect">
            <a:avLst/>
          </a:prstGeom>
          <a:solidFill>
            <a:srgbClr val="1C1416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0" y="3383280"/>
            <a:ext cx="54864" cy="1005840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343814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 yrs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537960" y="387705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period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40873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1934–2022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interpretable rules — not black-box models — matter here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114800" cy="137160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137160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042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1316736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ML (RF, LSTM) predicts wine yield well — but cannot explain it. Agronomists, cooperatives, and policy bodies need readable, auditable rules.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514600"/>
            <a:ext cx="4114800" cy="233172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2578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work combines all five properties: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852928"/>
          <a:ext cx="3840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85800"/>
                <a:gridCol w="68580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Research stream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Interpretable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Long-term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6B2737"/>
                          </a:solidFill>
                        </a:rPr>
                        <a:t>Predictive val.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Statistical regression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Limited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Modern ML (RF/LSTM)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Partial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Subgroup discovery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✗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This thesis (CarenR)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54880" y="1005840"/>
            <a:ext cx="3977640" cy="1691640"/>
          </a:xfrm>
          <a:prstGeom prst="rect">
            <a:avLst/>
          </a:prstGeom>
          <a:solidFill>
            <a:srgbClr val="F2EBE9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005840"/>
            <a:ext cx="54864" cy="1691640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19472" y="1051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rule looks like: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19472" y="1335024"/>
            <a:ext cx="36576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soil water at harvest ∈ [74–101 mm]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wet days post-flowering ≤ 3.3 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production is +192 mhl above trend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(support 21%, p = 0.010)"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2834640"/>
            <a:ext cx="3977640" cy="192024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2834640"/>
            <a:ext cx="54864" cy="1920240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interpretability matters: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919472" y="3163824"/>
            <a:ext cx="36576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by agronomists without ML knowledge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rule carries explicit support &amp; p-value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challenged and domain-validated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actionable for harvest planning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work has applied interpretable distributional rule discovery to multi-decade regional wine production records (cf. Table 2.1).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Goals, Four Research Questions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114800" cy="1920240"/>
          </a:xfrm>
          <a:prstGeom prst="rect">
            <a:avLst/>
          </a:prstGeom>
          <a:solidFill>
            <a:srgbClr val="E8F4ED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005840"/>
            <a:ext cx="54864" cy="1920240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051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GOAL 1 — Rule Discovery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interpretable agroclimatic rules explaining above / below-trend production years in each region.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2084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 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23408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rules (RDD) · 20 rules (RVV)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1005840"/>
            <a:ext cx="4114800" cy="1920240"/>
          </a:xfrm>
          <a:prstGeom prst="rect">
            <a:avLst/>
          </a:prstGeom>
          <a:solidFill>
            <a:srgbClr val="F9ECEC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17720" y="1005840"/>
            <a:ext cx="54864" cy="1920240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05156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✗  GOAL 2 — Predictive Validation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73168" y="138988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whether discovered rules beat a naive baseline in rigorous walk-forward (expanding window) validation.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2084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ACHIEVED in aggregate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340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finding in Douro (exploratory)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063240"/>
            <a:ext cx="8321040" cy="178308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312724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  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climate variables most consistently distinguish above/below-trend years?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" y="3895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  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3895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identified variables genuine within-era signals or era-membership artefacts?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3456432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RQ3  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345643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three independent algorithms converge on the same features?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3440" y="3895344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RQ4  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20640" y="38953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discovered rules improve out-of-sample forecasts in walk-forward validation?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scientifically interesting finding was not that prediction failed — it was why it failed.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Experimental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· same algorithms · two structurally contrasting regions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4572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Characteristic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Douro (RDD)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Vinho Verde (RVV)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Period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1934–2022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1942–2021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Observations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89 years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80 years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Climate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Continental / semi-arid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Temperate Atlantic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Production trend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+80% increase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−65% decline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5A4042"/>
                          </a:solidFill>
                        </a:rPr>
                        <a:t>Walk-forward scenarios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C1214"/>
                          </a:solidFill>
                        </a:rPr>
                        <a:t>16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166360" y="1005840"/>
            <a:ext cx="3566160" cy="12618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166360" y="1005840"/>
            <a:ext cx="54864" cy="12618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agroclimatic features / region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49240" y="1335024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Rainfall · Soil water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· Heat/frost days · Prior-year lags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vine phenological dates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16636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166360" y="2395728"/>
            <a:ext cx="54864" cy="89611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437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29437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Distributional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(KS test)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35508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355080" y="2395728"/>
            <a:ext cx="54864" cy="896112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8309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8309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rules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(FOIL gain)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7543800" y="2395728"/>
            <a:ext cx="1115568" cy="89611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543800" y="2395728"/>
            <a:ext cx="54864" cy="896112"/>
          </a:xfrm>
          <a:prstGeom prst="rect">
            <a:avLst/>
          </a:prstGeom>
          <a:solidFill>
            <a:srgbClr val="5A4042"/>
          </a:solidFill>
          <a:ln w="12700">
            <a:solidFill>
              <a:srgbClr val="5A404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71816" y="24414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M5Rules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67181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 regression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(MSE min.)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1480" y="3310128"/>
            <a:ext cx="8321040" cy="1508760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594360" y="33649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expanding-window validation  —  all preprocessing inside each training fold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" y="3703320"/>
            <a:ext cx="731520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3749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1344168" y="3703320"/>
            <a:ext cx="502920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344168" y="37490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9436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1828800" y="3703320"/>
            <a:ext cx="850392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828800" y="374904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697480" y="3703320"/>
            <a:ext cx="438912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3749040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182880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Sc.4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063240" y="3703320"/>
            <a:ext cx="969264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063240" y="3749040"/>
            <a:ext cx="969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050792" y="3703320"/>
            <a:ext cx="374904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50792" y="3749040"/>
            <a:ext cx="374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306324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Sc.8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4297680" y="3703320"/>
            <a:ext cx="1088136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297680" y="3749040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5404104" y="3703320"/>
            <a:ext cx="310896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404104" y="3749040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429768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Sc.12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5532120" y="3703320"/>
            <a:ext cx="1207008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532120" y="374904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6757416" y="3703320"/>
            <a:ext cx="246888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757416" y="3749040"/>
            <a:ext cx="246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553212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Sc.16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6766560" y="3703320"/>
            <a:ext cx="1325880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766560" y="3749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8110728" y="3703320"/>
            <a:ext cx="182880" cy="3474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766560" y="409651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Sc.18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411480" y="484632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 baseline: predicts training median residual — minimises MAE among all constant predictors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Two-Decision Framework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conceptual contribution of this thesis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3200400" cy="2377440"/>
          </a:xfrm>
          <a:prstGeom prst="rect">
            <a:avLst/>
          </a:prstGeom>
          <a:solidFill>
            <a:srgbClr val="1C1216"/>
          </a:solidFill>
          <a:ln w="25400">
            <a:solidFill>
              <a:srgbClr val="2A7F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Trend Quality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does the training trend extrapolate to test years?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22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 MAE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floor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999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Naive_Median = better trend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30752" y="2212848"/>
            <a:ext cx="1691640" cy="0"/>
          </a:xfrm>
          <a:prstGeom prst="line">
            <a:avLst/>
          </a:prstGeom>
          <a:noFill/>
          <a:ln w="31750">
            <a:solidFill>
              <a:srgbClr val="C4964A"/>
            </a:solidFill>
            <a:prstDash val="sysDot"/>
          </a:ln>
        </p:spPr>
      </p:sp>
      <p:sp>
        <p:nvSpPr>
          <p:cNvPr id="15" name="Text 13"/>
          <p:cNvSpPr/>
          <p:nvPr/>
        </p:nvSpPr>
        <p:spPr>
          <a:xfrm>
            <a:off x="4160520" y="18288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114800" y="21945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05072" y="2450592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flexible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 =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D1 error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less signal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486400" y="1024128"/>
            <a:ext cx="3200400" cy="2377440"/>
          </a:xfrm>
          <a:prstGeom prst="rect">
            <a:avLst/>
          </a:prstGeom>
          <a:solidFill>
            <a:srgbClr val="1C1216"/>
          </a:solidFill>
          <a:ln w="25400">
            <a:solidFill>
              <a:srgbClr val="C496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0789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Signal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577840" y="1755648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rule-based model predict detrended residuals better than zero?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3225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250545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MAE − Naive_Median MAE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77977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= model wins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77840" y="2999232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structured residuals to exploit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566160"/>
            <a:ext cx="8229600" cy="1261872"/>
          </a:xfrm>
          <a:prstGeom prst="rect">
            <a:avLst/>
          </a:prstGeom>
          <a:solidFill>
            <a:srgbClr val="140E10"/>
          </a:solidFill>
          <a:ln w="19050">
            <a:solidFill>
              <a:srgbClr val="6B27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1188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example: LOESS detrending in Vinho Verde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389534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 vs. linear:  </a:t>
            </a:r>
            <a:pPr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 improves  </a:t>
            </a:r>
            <a:pPr indent="0" marL="0">
              <a:buNone/>
            </a:pPr>
            <a:r>
              <a:rPr lang="en-US" sz="1200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Naive_Median: 140 → 90 mhl  (−36%)</a:t>
            </a:r>
            <a:pPr indent="0" marL="0">
              <a:buNone/>
            </a:pPr>
            <a:r>
              <a:rPr lang="en-US" sz="12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BUT   </a:t>
            </a:r>
            <a:pPr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 collapses  </a:t>
            </a:r>
            <a:pPr indent="0" marL="0">
              <a:buNone/>
            </a:pPr>
            <a:r>
              <a:rPr lang="en-US" sz="120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rules fire in all 16 scenarios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0080" y="42428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the trend removes the very signal that rule induction depends 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Discovery Results (Goal 1)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— 48 rules for Douro · 20 rules for Vinho Verde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Douro (RDD) — top rules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416052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298448"/>
            <a:ext cx="54864" cy="749808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335024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days post-Flowering ≤ 3.3 d  AND  Wet days post-Maturity ≤ 3.5 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58768" y="1335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+121 mhl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177393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· p=0.004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416052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121408"/>
            <a:ext cx="54864" cy="749808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157984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 pre-Harvest [74–101 mm]  AND  Wet days post-Harvest prev.yr ≤ 2.3 d  AND  Wet days post-Maturity ≤ 3.5 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58768" y="2157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+192 mhl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259689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· p=0.010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944368"/>
            <a:ext cx="416052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2944368"/>
            <a:ext cx="54864" cy="749808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2980944"/>
            <a:ext cx="3456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at Flowering [0.74–0.88 m²/m²]  AND  Soil water post-Flowering [390–404 mm]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58768" y="2980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−131 mhl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" y="3419856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· p=0.008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3440" y="96926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Vinho Verde (RVV) — top rules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298448"/>
            <a:ext cx="406908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1298448"/>
            <a:ext cx="54864" cy="749808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133502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 pre-Harvest [61–97 mm]  AND  Heat days pre-Maturity ≤ 1.9 d  AND  Heat days post-Maturity ≤ 2.4 d  AND  Heat days post-Flowering ≤ 1.1 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019288" y="1335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−338 mhl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8888" y="177393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 · p=0.020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121408"/>
            <a:ext cx="406908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2121408"/>
            <a:ext cx="54864" cy="749808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215798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post-Budburst prev.yr [11.2–13.5°C]  AND  Cold days at Flowering ≤ 3.4 d  AND  Heat days post-Flowering ≤ 1.1 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19288" y="21579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+311 mhl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18888" y="259689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· p=0.030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944368"/>
            <a:ext cx="4069080" cy="74980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2944368"/>
            <a:ext cx="54864" cy="749808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2980944"/>
            <a:ext cx="33649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water post-Flowering [143–234 mm]  AND  Heat days post-Maturity ≤ 2.4 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019288" y="298094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−365 mhl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818888" y="3419856"/>
            <a:ext cx="3364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· p=0.029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3858768"/>
            <a:ext cx="8321040" cy="914400"/>
          </a:xfrm>
          <a:prstGeom prst="rect">
            <a:avLst/>
          </a:prstGeom>
          <a:solidFill>
            <a:srgbClr val="FBF5E8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11480" y="3858768"/>
            <a:ext cx="54864" cy="914400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38953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LOESS Validation (era-artefact check)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94360" y="41696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 top features retain 90–125% of correlation after aggressive era-trend removal → genuine within-era signal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" y="44074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RVV: LAI at harvest retains only 15% → era-driven artefact. Harvest soil water: 16% → era-driven.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4 RVV (+311 mhl) is the largest absolute deviation in either region.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Cross-Algorithm Validation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optimisation criteria — same feature families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18745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0584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987552"/>
            <a:ext cx="201168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005840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(KS test)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987552"/>
            <a:ext cx="16459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0058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 (FOIL gain)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0" y="987552"/>
            <a:ext cx="16459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005840"/>
            <a:ext cx="15544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M5Rules (MSE min.)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589520" y="987552"/>
            <a:ext cx="1417320" cy="320040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35240" y="1005840"/>
            <a:ext cx="1325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1353312"/>
            <a:ext cx="18745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353312"/>
            <a:ext cx="54864" cy="8046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" y="1408176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 soil water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(swa_hv_y1_b20)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0" y="1353312"/>
            <a:ext cx="201168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1408176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54% of RDD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25% of RVV rules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1353312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1408176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 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353312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98464" y="1408176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−2.3/mm RDD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−8.1/mm RVV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589520" y="1353312"/>
            <a:ext cx="14173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44384" y="1408176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universal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2212848"/>
            <a:ext cx="1874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212848"/>
            <a:ext cx="54864" cy="804672"/>
          </a:xfrm>
          <a:prstGeom prst="rect">
            <a:avLst/>
          </a:prstGeom>
          <a:solidFill>
            <a:srgbClr val="2A7F7F"/>
          </a:solidFill>
          <a:ln w="12700">
            <a:solidFill>
              <a:srgbClr val="2A7F7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" y="2267712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 family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(iaf_hv, iaf_fl)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2212848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40864" y="2267712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20 RVV rules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Minor RDD signal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297680" y="2212848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52544" y="226771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Rules 1–2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43600" y="2212848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98464" y="2267712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−2064/unit RVV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589520" y="2212848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44384" y="2267712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universal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1480" y="3072384"/>
            <a:ext cx="18745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072384"/>
            <a:ext cx="54864" cy="804672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9496" y="3127248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Prev-yr summer temp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(tm_sm_y0_a20)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286000" y="3072384"/>
            <a:ext cx="201168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40864" y="3127248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carry-over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297680" y="3072384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52544" y="3127248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RVV Rule 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943600" y="3072384"/>
            <a:ext cx="16459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98464" y="3127248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+17.2/°C RVV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589520" y="3072384"/>
            <a:ext cx="1417320" cy="804672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44384" y="3127248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RVV focus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11480" y="3931920"/>
            <a:ext cx="18745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1480" y="3931920"/>
            <a:ext cx="54864" cy="804672"/>
          </a:xfrm>
          <a:prstGeom prst="rect">
            <a:avLst/>
          </a:prstGeom>
          <a:solidFill>
            <a:srgbClr val="5A4042"/>
          </a:solidFill>
          <a:ln w="12700">
            <a:solidFill>
              <a:srgbClr val="5A404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" y="3986784"/>
            <a:ext cx="1691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 days post-flowering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(days.rf_fl)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0" y="3931920"/>
            <a:ext cx="20116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340864" y="3986784"/>
            <a:ext cx="19019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21% of RDD rules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297680" y="3931920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3986784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selected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43600" y="3931920"/>
            <a:ext cx="16459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98464" y="3986784"/>
            <a:ext cx="15361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Not selected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7589520" y="3931920"/>
            <a:ext cx="141732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4CA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44384" y="3986784"/>
            <a:ext cx="13075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CarenR-specific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11480" y="4773168"/>
            <a:ext cx="8321040" cy="310896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94360" y="481888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across 3 independent algorithms = strongest available evidence that these features reflect genuine data structure, not algorithmic noise.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Validation Results (Goal 2)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· 17 models · 18 RDD scenarios · 16 RVV scenarios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Douro (RDD) — Weighted MAE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261872"/>
          <a:ext cx="416052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969264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F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Vinho Verde (RVV) — Weighted MAE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663440" y="1261872"/>
          <a:ext cx="4069080" cy="3364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4709160"/>
            <a:ext cx="8321040" cy="384048"/>
          </a:xfrm>
          <a:prstGeom prst="rect">
            <a:avLst/>
          </a:prstGeom>
          <a:solidFill>
            <a:srgbClr val="EDE5DA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94360" y="4745736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RDD: </a:t>
            </a:r>
            <a:pPr indent="0" marL="0">
              <a:buNone/>
            </a:pPr>
            <a:r>
              <a:rPr lang="en-US" sz="100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CarenR 189 vs Naive 184 mhl  (+3%)  Wilcoxon p = 0.468  (not significant)       </a:t>
            </a:r>
            <a:pPr indent="0" marL="0">
              <a:buNone/>
            </a:pPr>
            <a:r>
              <a:rPr lang="en-US" sz="1000" b="1" dirty="0">
                <a:solidFill>
                  <a:srgbClr val="2A7F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RVV: </a:t>
            </a:r>
            <a:pPr indent="0" marL="0">
              <a:buNone/>
            </a:pPr>
            <a:r>
              <a:rPr lang="en-US" sz="1000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CarenR 172 vs Naive 140 mhl  (+22%)  Rules actively harm prediction  p = 0.004 ✗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Prediction Failed: Era Composition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informative finding — and a path forward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Douro (RDD) — Per-scenario MAE: CarenR_Eta2 vs Naive_Median</a:t>
            </a:r>
            <a:endParaRPr lang="en-US" sz="11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11480" y="1261872"/>
          <a:ext cx="530352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5897880" y="969264"/>
            <a:ext cx="2834640" cy="713232"/>
          </a:xfrm>
          <a:prstGeom prst="rect">
            <a:avLst/>
          </a:prstGeom>
          <a:solidFill>
            <a:srgbClr val="F7E0E0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897880" y="969264"/>
            <a:ext cx="54864" cy="713232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62472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1–9: ERA-CONFOUNDED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62472" y="12801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Post-1990 share &lt; 29%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loses in 7/9 scenarios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897880" y="1792224"/>
            <a:ext cx="2834640" cy="804672"/>
          </a:xfrm>
          <a:prstGeom prst="rect">
            <a:avLst/>
          </a:prstGeom>
          <a:solidFill>
            <a:srgbClr val="E3F2E8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897880" y="1792224"/>
            <a:ext cx="54864" cy="804672"/>
          </a:xfrm>
          <a:prstGeom prst="rect">
            <a:avLst/>
          </a:prstGeom>
          <a:solidFill>
            <a:srgbClr val="3A7A50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62472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10-14: ERA-BALANCED [*]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62472" y="2103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Post-1990 share ≈ 29%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CarenR wins ALL 5 scenarios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Margins: 17–32 mhl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Binomial p = 0.031 (exploratory)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897880" y="2706624"/>
            <a:ext cx="2834640" cy="640080"/>
          </a:xfrm>
          <a:prstGeom prst="rect">
            <a:avLst/>
          </a:prstGeom>
          <a:solidFill>
            <a:srgbClr val="F2EFEE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897880" y="2706624"/>
            <a:ext cx="54864" cy="640080"/>
          </a:xfrm>
          <a:prstGeom prst="rect">
            <a:avLst/>
          </a:prstGeom>
          <a:solidFill>
            <a:srgbClr val="9A8E8B"/>
          </a:solidFill>
          <a:ln w="12700">
            <a:solidFill>
              <a:srgbClr val="9A8E8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62472" y="27432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15–18: SMALL TEST SETS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62472" y="29992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1–4 test years only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unreliable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897880" y="3456432"/>
            <a:ext cx="2834640" cy="841248"/>
          </a:xfrm>
          <a:prstGeom prst="rect">
            <a:avLst/>
          </a:prstGeom>
          <a:solidFill>
            <a:srgbClr val="F9ECEC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97880" y="3456432"/>
            <a:ext cx="54864" cy="841248"/>
          </a:xfrm>
          <a:prstGeom prst="rect">
            <a:avLst/>
          </a:prstGeom>
          <a:solidFill>
            <a:srgbClr val="B74A4A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62472" y="34930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7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 Verde: 0/16 wins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62472" y="3749040"/>
            <a:ext cx="2560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modern-era data makes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C1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worse, not better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p=0.031 is a post-hoc exploratory finding — 5 scenarios identified after observing the pattern. Requires prospective validation.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6B27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Two Regions Diverge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A4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designed comparative experiment, not an inconvenient inconsistency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877824"/>
            <a:ext cx="8321040" cy="0"/>
          </a:xfrm>
          <a:prstGeom prst="line">
            <a:avLst/>
          </a:prstGeom>
          <a:noFill/>
          <a:ln w="12700">
            <a:solidFill>
              <a:srgbClr val="D4CAC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987552"/>
          <a:ext cx="8321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210312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Douro (RDD)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Vinho Verde (RVV)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273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Production trend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+80%  (gradual)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−65%  (structural break)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confound is stronger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Era confound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Severe (EU policy 1986)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Rules more era-contaminated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Climate signal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after LOESS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Retained (90–125%)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Collapsed (15–16%)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signal is era-driven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Linear detrend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stationarity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Fully stationary 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C1214"/>
                          </a:solidFill>
                        </a:rPr>
                        <a:t>Partial only (ADF fails)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RVV residuals still contain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structural drift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5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C1214"/>
                          </a:solidFill>
                        </a:rPr>
                        <a:t>CarenR performance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7A50"/>
                          </a:solidFill>
                        </a:rPr>
                        <a:t>3% gap  ·  5/18 wins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A7A50"/>
                          </a:solidFill>
                        </a:rPr>
                        <a:t>(era-balanced window)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74A4A"/>
                          </a:solidFill>
                        </a:rPr>
                        <a:t>22% gap  ·  0/16 wins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B74A4A"/>
                          </a:solidFill>
                        </a:rPr>
                        <a:t>Rules harmful (p=0.004)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Structural noise eliminates</a:t>
                      </a:r>
                      <a:endParaRPr lang="en-US" sz="1000" dirty="0"/>
                    </a:p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5A4042"/>
                          </a:solidFill>
                        </a:rPr>
                        <a:t>climate advantage in RVV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CA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11480" y="4718304"/>
            <a:ext cx="8321040" cy="347472"/>
          </a:xfrm>
          <a:prstGeom prst="rect">
            <a:avLst/>
          </a:prstGeom>
          <a:solidFill>
            <a:srgbClr val="F2EBE9"/>
          </a:solidFill>
          <a:ln w="6350">
            <a:solidFill>
              <a:srgbClr val="D4CACA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" y="4718304"/>
            <a:ext cx="54864" cy="347472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640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7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algorithm produces qualitatively different outcomes depending entirely on the structural history of the production series.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Contributions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contributions to data science methodology and agroclimatic forecasting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00584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41832" y="10607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Two-Decision Decomposition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41832" y="138988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prediction error into trend quality (Decision 1) and climate signal extraction (Decision 2). Transferable diagnostic for any agroclimatic problem with structural non-stationarity.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224028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4028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877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41832" y="22951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Systematic Walk-Forward Evaluation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" y="262432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models · 18/16 scenarios · all preprocessing inside each fold · confirmatory vs. exploratory findings explicitly classified.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74720"/>
            <a:ext cx="4206240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47472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2219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41832" y="352958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11-Variant Sensitivity Analysis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41832" y="3858768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feature selection is problem-specific: η² (ANOVA effect size) for Douro; conservative Sup_FS for Vinho Verde. Motivates structured evaluation rather than a priori configuration.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28032" y="1005840"/>
            <a:ext cx="3904488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28032" y="100584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35331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358384" y="106070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Era-Composition Analysis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58384" y="138988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Characterises not just whether rule-based prediction works, but under what data conditions — 29% modern-era threshold in RDD (post-hoc exploratory, p=0.031).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28032" y="2240280"/>
            <a:ext cx="3904488" cy="1115568"/>
          </a:xfrm>
          <a:prstGeom prst="rect">
            <a:avLst/>
          </a:prstGeom>
          <a:solidFill>
            <a:srgbClr val="1C1216"/>
          </a:solidFill>
          <a:ln w="6350">
            <a:solidFill>
              <a:srgbClr val="C496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2240280"/>
            <a:ext cx="438912" cy="1115568"/>
          </a:xfrm>
          <a:prstGeom prst="rect">
            <a:avLst/>
          </a:prstGeom>
          <a:solidFill>
            <a:srgbClr val="6B2737"/>
          </a:solidFill>
          <a:ln w="12700">
            <a:solidFill>
              <a:srgbClr val="6B27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587752"/>
            <a:ext cx="4389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358384" y="2295144"/>
            <a:ext cx="3264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Cross-Algorithm Validation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58384" y="2624328"/>
            <a:ext cx="32644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RIPPER and M5Rules independently confirm CarenR's feature selections. Three-algorithm agreement provides strong evidence of genuine data structure.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6B27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C4964A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Limitations, Future Work &amp; Closing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768096"/>
            <a:ext cx="4160520" cy="1920240"/>
          </a:xfrm>
          <a:prstGeom prst="rect">
            <a:avLst/>
          </a:prstGeom>
          <a:solidFill>
            <a:srgbClr val="1C1216"/>
          </a:solidFill>
          <a:ln w="12700">
            <a:solidFill>
              <a:srgbClr val="B74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4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33856"/>
            <a:ext cx="393192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Detrending uses time as sole covariate — conflates climate with structural industry changes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 (18/16 scenarios); post-hoc finding (n=5) underpowered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annual aggregates — no sub-regional or spatial analysis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768096"/>
            <a:ext cx="4069080" cy="1920240"/>
          </a:xfrm>
          <a:prstGeom prst="rect">
            <a:avLst/>
          </a:prstGeom>
          <a:solidFill>
            <a:srgbClr val="1C1216"/>
          </a:solidFill>
          <a:ln w="12700">
            <a:solidFill>
              <a:srgbClr val="3A7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22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133856"/>
            <a:ext cx="3840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detrending: add planted area, Port quota, no. of certified producers as explicit detrending covariates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 &amp; prospectively validate the 29% era-balanced threshold (RDD)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Model Mining (EMM): detect subgroups where the climate–production regression relationship is exceptional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34640"/>
            <a:ext cx="8321040" cy="1481328"/>
          </a:xfrm>
          <a:prstGeom prst="rect">
            <a:avLst/>
          </a:prstGeom>
          <a:solidFill>
            <a:srgbClr val="6B2737"/>
          </a:solidFill>
          <a:ln w="12700">
            <a:solidFill>
              <a:srgbClr val="C496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machine learning cannot yet forecast Portuguese wine production reliably.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25526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6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it can explain it 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35661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4C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validated, auditable, agronomically meaningful rules that three independent algorithms agree 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93192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9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forecasting fails has proven as scientifically valuable as forecasting itself would have been.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439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Hugo Nogueira  ·  MECD, FEUP  ·  June 2026  ·  Supervisors: Prof. J.P. Moreira &amp; Prof. M.C. Cunha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Production Forecasting Using Rule-Based Machine Learning</dc:title>
  <dc:subject>PptxGenJS Presentation</dc:subject>
  <dc:creator>Hugo Filipe Queiróz Nogueira</dc:creator>
  <cp:lastModifiedBy>Hugo Filipe Queiróz Nogueira</cp:lastModifiedBy>
  <cp:revision>1</cp:revision>
  <dcterms:created xsi:type="dcterms:W3CDTF">2026-06-15T13:28:15Z</dcterms:created>
  <dcterms:modified xsi:type="dcterms:W3CDTF">2026-06-15T13:28:15Z</dcterms:modified>
</cp:coreProperties>
</file>