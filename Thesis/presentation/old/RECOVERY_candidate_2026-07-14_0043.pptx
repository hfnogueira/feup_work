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d21de02187a483e" Type="http://schemas.openxmlformats.org/officeDocument/2006/relationships/extended-properties" Target="docProps/app.xml"/><Relationship Id="R94e61bebde294e10" Type="http://schemas.openxmlformats.org/officeDocument/2006/relationships/officeDocument" Target="ppt/presentation.xml"/><Relationship Id="Rc041d84a094f409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74ab1defd573450b"/>
  </p:sldMasterIdLst>
  <p:notesMasterIdLst>
    <p:notesMasterId xmlns:r="http://schemas.openxmlformats.org/officeDocument/2006/relationships" r:id="R2afe9dc9f7094f7f"/>
  </p:notesMasterIdLst>
  <p:sldIdLst>
    <p:sldId xmlns:r="http://schemas.openxmlformats.org/officeDocument/2006/relationships" id="256" r:id="Reb24aa33b6954c60"/>
    <p:sldId xmlns:r="http://schemas.openxmlformats.org/officeDocument/2006/relationships" id="257" r:id="Rf2848c8238f64b41"/>
    <p:sldId xmlns:r="http://schemas.openxmlformats.org/officeDocument/2006/relationships" id="258" r:id="R9f27f019b7bb4f8a"/>
    <p:sldId xmlns:r="http://schemas.openxmlformats.org/officeDocument/2006/relationships" id="259" r:id="R5bed4cefe9b84477"/>
    <p:sldId xmlns:r="http://schemas.openxmlformats.org/officeDocument/2006/relationships" id="260" r:id="Re64b85d18a4e4265"/>
    <p:sldId xmlns:r="http://schemas.openxmlformats.org/officeDocument/2006/relationships" id="261" r:id="R00a29fe987fb4b81"/>
    <p:sldId xmlns:r="http://schemas.openxmlformats.org/officeDocument/2006/relationships" id="262" r:id="R4ce6c4d1a185486e"/>
    <p:sldId xmlns:r="http://schemas.openxmlformats.org/officeDocument/2006/relationships" id="263" r:id="R7f6c976613b74ef2"/>
    <p:sldId xmlns:r="http://schemas.openxmlformats.org/officeDocument/2006/relationships" id="264" r:id="R14e62a0de2ef4cf0"/>
    <p:sldId xmlns:r="http://schemas.openxmlformats.org/officeDocument/2006/relationships" id="265" r:id="R9d72ffdc6e564203"/>
    <p:sldId xmlns:r="http://schemas.openxmlformats.org/officeDocument/2006/relationships" id="266" r:id="R6937a88f2590425a"/>
    <p:sldId xmlns:r="http://schemas.openxmlformats.org/officeDocument/2006/relationships" id="267" r:id="Rbcc2b97e3124450a"/>
    <p:sldId xmlns:r="http://schemas.openxmlformats.org/officeDocument/2006/relationships" id="268" r:id="R42ed9e1d8b444b49"/>
    <p:sldId xmlns:r="http://schemas.openxmlformats.org/officeDocument/2006/relationships" id="269" r:id="R03a82bb7188c41a5"/>
    <p:sldId xmlns:r="http://schemas.openxmlformats.org/officeDocument/2006/relationships" id="270" r:id="R2775f84f109640d0"/>
    <p:sldId xmlns:r="http://schemas.openxmlformats.org/officeDocument/2006/relationships" id="271" r:id="R0be0f34766a945a1"/>
    <p:sldId xmlns:r="http://schemas.openxmlformats.org/officeDocument/2006/relationships" id="272" r:id="R99760d355b8b4bc4"/>
    <p:sldId xmlns:r="http://schemas.openxmlformats.org/officeDocument/2006/relationships" id="273" r:id="Re1ec058e81e44f58"/>
    <p:sldId xmlns:r="http://schemas.openxmlformats.org/officeDocument/2006/relationships" id="274" r:id="Rfcef5ba425ef41f6"/>
    <p:sldId xmlns:r="http://schemas.openxmlformats.org/officeDocument/2006/relationships" id="275" r:id="R6ce056266e484385"/>
    <p:sldId xmlns:r="http://schemas.openxmlformats.org/officeDocument/2006/relationships" id="276" r:id="R1f05133d6e4c4015"/>
    <p:sldId xmlns:r="http://schemas.openxmlformats.org/officeDocument/2006/relationships" id="277" r:id="R3bd2bc23164848ea"/>
    <p:sldId xmlns:r="http://schemas.openxmlformats.org/officeDocument/2006/relationships" id="278" r:id="R7c11fa364803437d"/>
    <p:sldId xmlns:r="http://schemas.openxmlformats.org/officeDocument/2006/relationships" id="279" r:id="R29a1186b3e2048cb"/>
    <p:sldId xmlns:r="http://schemas.openxmlformats.org/officeDocument/2006/relationships" id="280" r:id="R1e716bd868504178"/>
    <p:sldId xmlns:r="http://schemas.openxmlformats.org/officeDocument/2006/relationships" id="281" r:id="Rb05adc054cec4bd9"/>
    <p:sldId xmlns:r="http://schemas.openxmlformats.org/officeDocument/2006/relationships" id="282" r:id="R0aff108678df4488"/>
    <p:sldId xmlns:r="http://schemas.openxmlformats.org/officeDocument/2006/relationships" id="283" r:id="R629d002e66444fb1"/>
    <p:sldId xmlns:r="http://schemas.openxmlformats.org/officeDocument/2006/relationships" id="284" r:id="Rba83eaba88c546f3"/>
    <p:sldId xmlns:r="http://schemas.openxmlformats.org/officeDocument/2006/relationships" id="285" r:id="R30eea70e03ab43d1"/>
    <p:sldId xmlns:r="http://schemas.openxmlformats.org/officeDocument/2006/relationships" id="286" r:id="R238621f1b89f4ead"/>
    <p:sldId xmlns:r="http://schemas.openxmlformats.org/officeDocument/2006/relationships" id="287" r:id="R0a43b5846ae14fb6"/>
    <p:sldId xmlns:r="http://schemas.openxmlformats.org/officeDocument/2006/relationships" id="288" r:id="Rf568ef340fb74c02"/>
    <p:sldId xmlns:r="http://schemas.openxmlformats.org/officeDocument/2006/relationships" id="289" r:id="Re79df07a9d1845a6"/>
    <p:sldId xmlns:r="http://schemas.openxmlformats.org/officeDocument/2006/relationships" id="290" r:id="Rde39dc1059fe417a"/>
    <p:sldId xmlns:r="http://schemas.openxmlformats.org/officeDocument/2006/relationships" id="291" r:id="Re96debd5a8bd4392"/>
    <p:sldId xmlns:r="http://schemas.openxmlformats.org/officeDocument/2006/relationships" id="292" r:id="R6ebb70a0a8d045aa"/>
    <p:sldId xmlns:r="http://schemas.openxmlformats.org/officeDocument/2006/relationships" id="293" r:id="R2809ec0eb41842b0"/>
    <p:sldId xmlns:r="http://schemas.openxmlformats.org/officeDocument/2006/relationships" id="294" r:id="R823bb776f034478b"/>
    <p:sldId xmlns:r="http://schemas.openxmlformats.org/officeDocument/2006/relationships" id="295" r:id="R0fa23d94d7d14279"/>
    <p:sldId xmlns:r="http://schemas.openxmlformats.org/officeDocument/2006/relationships" id="296" r:id="Rb42def6d2a74464b"/>
    <p:sldId xmlns:r="http://schemas.openxmlformats.org/officeDocument/2006/relationships" id="297" r:id="R121d6480314b44cc"/>
    <p:sldId xmlns:r="http://schemas.openxmlformats.org/officeDocument/2006/relationships" id="298" r:id="R880bb6352432405e"/>
    <p:sldId xmlns:r="http://schemas.openxmlformats.org/officeDocument/2006/relationships" id="299" r:id="R0dc40e8f307f4865"/>
    <p:sldId xmlns:r="http://schemas.openxmlformats.org/officeDocument/2006/relationships" id="300" r:id="Ree0e054f2f834088"/>
    <p:sldId xmlns:r="http://schemas.openxmlformats.org/officeDocument/2006/relationships" id="301" r:id="R223d7e76fadc471a"/>
    <p:sldId xmlns:r="http://schemas.openxmlformats.org/officeDocument/2006/relationships" id="302" r:id="R0c1fc87390e842ab"/>
    <p:sldId xmlns:r="http://schemas.openxmlformats.org/officeDocument/2006/relationships" id="303" r:id="R89bf81fbd0824282"/>
    <p:sldId xmlns:r="http://schemas.openxmlformats.org/officeDocument/2006/relationships" id="304" r:id="Rfc8e8eb497ee47bc"/>
    <p:sldId xmlns:r="http://schemas.openxmlformats.org/officeDocument/2006/relationships" id="305" r:id="Re86b6cc59f734f76"/>
    <p:sldId xmlns:r="http://schemas.openxmlformats.org/officeDocument/2006/relationships" id="306" r:id="R490163d0fa3f481b"/>
    <p:sldId xmlns:r="http://schemas.openxmlformats.org/officeDocument/2006/relationships" id="307" r:id="Rfba02ff474d84535"/>
  </p:sldIdLst>
  <p:sldSz cx="15582122" cy="10248122"/>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0a29fe987fb4b81" Type="http://schemas.openxmlformats.org/officeDocument/2006/relationships/slide" Target="slides/slide6.xml"/><Relationship Id="R03a82bb7188c41a5" Type="http://schemas.openxmlformats.org/officeDocument/2006/relationships/slide" Target="slides/slide14.xml"/><Relationship Id="R0a43b5846ae14fb6" Type="http://schemas.openxmlformats.org/officeDocument/2006/relationships/slide" Target="slides/slide32.xml"/><Relationship Id="R0aff108678df4488" Type="http://schemas.openxmlformats.org/officeDocument/2006/relationships/slide" Target="slides/slide27.xml"/><Relationship Id="R0be0f34766a945a1" Type="http://schemas.openxmlformats.org/officeDocument/2006/relationships/slide" Target="slides/slide16.xml"/><Relationship Id="R0c1fc87390e842ab" Type="http://schemas.openxmlformats.org/officeDocument/2006/relationships/slide" Target="slides/slide47.xml"/><Relationship Id="R0dc40e8f307f4865" Type="http://schemas.openxmlformats.org/officeDocument/2006/relationships/slide" Target="slides/slide44.xml"/><Relationship Id="R0fa23d94d7d14279" Type="http://schemas.openxmlformats.org/officeDocument/2006/relationships/slide" Target="slides/slide40.xml"/><Relationship Id="R121d6480314b44cc" Type="http://schemas.openxmlformats.org/officeDocument/2006/relationships/slide" Target="slides/slide42.xml"/><Relationship Id="R14e62a0de2ef4cf0" Type="http://schemas.openxmlformats.org/officeDocument/2006/relationships/slide" Target="slides/slide9.xml"/><Relationship Id="R1e716bd868504178" Type="http://schemas.openxmlformats.org/officeDocument/2006/relationships/slide" Target="slides/slide25.xml"/><Relationship Id="R1f05133d6e4c4015" Type="http://schemas.openxmlformats.org/officeDocument/2006/relationships/slide" Target="slides/slide21.xml"/><Relationship Id="R223d7e76fadc471a" Type="http://schemas.openxmlformats.org/officeDocument/2006/relationships/slide" Target="slides/slide46.xml"/><Relationship Id="R238621f1b89f4ead" Type="http://schemas.openxmlformats.org/officeDocument/2006/relationships/slide" Target="slides/slide31.xml"/><Relationship Id="R2775f84f109640d0" Type="http://schemas.openxmlformats.org/officeDocument/2006/relationships/slide" Target="slides/slide15.xml"/><Relationship Id="R2809ec0eb41842b0" Type="http://schemas.openxmlformats.org/officeDocument/2006/relationships/slide" Target="slides/slide38.xml"/><Relationship Id="R29a1186b3e2048cb" Type="http://schemas.openxmlformats.org/officeDocument/2006/relationships/slide" Target="slides/slide24.xml"/><Relationship Id="R2afe9dc9f7094f7f" Type="http://schemas.openxmlformats.org/officeDocument/2006/relationships/notesMaster" Target="notesMasters/notesMaster1.xml"/><Relationship Id="R30eea70e03ab43d1" Type="http://schemas.openxmlformats.org/officeDocument/2006/relationships/slide" Target="slides/slide30.xml"/><Relationship Id="R3bd2bc23164848ea" Type="http://schemas.openxmlformats.org/officeDocument/2006/relationships/slide" Target="slides/slide22.xml"/><Relationship Id="R42ed9e1d8b444b49" Type="http://schemas.openxmlformats.org/officeDocument/2006/relationships/slide" Target="slides/slide13.xml"/><Relationship Id="R490163d0fa3f481b" Type="http://schemas.openxmlformats.org/officeDocument/2006/relationships/slide" Target="slides/slide51.xml"/><Relationship Id="R4ce6c4d1a185486e" Type="http://schemas.openxmlformats.org/officeDocument/2006/relationships/slide" Target="slides/slide7.xml"/><Relationship Id="R5bed4cefe9b84477" Type="http://schemas.openxmlformats.org/officeDocument/2006/relationships/slide" Target="slides/slide4.xml"/><Relationship Id="R629d002e66444fb1" Type="http://schemas.openxmlformats.org/officeDocument/2006/relationships/slide" Target="slides/slide28.xml"/><Relationship Id="R6937a88f2590425a" Type="http://schemas.openxmlformats.org/officeDocument/2006/relationships/slide" Target="slides/slide11.xml"/><Relationship Id="R6ce056266e484385" Type="http://schemas.openxmlformats.org/officeDocument/2006/relationships/slide" Target="slides/slide20.xml"/><Relationship Id="R6ebb70a0a8d045aa" Type="http://schemas.openxmlformats.org/officeDocument/2006/relationships/slide" Target="slides/slide37.xml"/><Relationship Id="R74ab1defd573450b" Type="http://schemas.openxmlformats.org/officeDocument/2006/relationships/slideMaster" Target="slideMasters/slideMaster1.xml"/><Relationship Id="R7c11fa364803437d" Type="http://schemas.openxmlformats.org/officeDocument/2006/relationships/slide" Target="slides/slide23.xml"/><Relationship Id="R7cb90e120e294612" Type="http://schemas.openxmlformats.org/officeDocument/2006/relationships/presProps" Target="presProps.xml"/><Relationship Id="R7f6c976613b74ef2" Type="http://schemas.openxmlformats.org/officeDocument/2006/relationships/slide" Target="slides/slide8.xml"/><Relationship Id="R823bb776f034478b" Type="http://schemas.openxmlformats.org/officeDocument/2006/relationships/slide" Target="slides/slide39.xml"/><Relationship Id="R880bb6352432405e" Type="http://schemas.openxmlformats.org/officeDocument/2006/relationships/slide" Target="slides/slide43.xml"/><Relationship Id="R89bf81fbd0824282" Type="http://schemas.openxmlformats.org/officeDocument/2006/relationships/slide" Target="slides/slide48.xml"/><Relationship Id="R99760d355b8b4bc4" Type="http://schemas.openxmlformats.org/officeDocument/2006/relationships/slide" Target="slides/slide17.xml"/><Relationship Id="R9d3ca8214c184d8e" Type="http://schemas.openxmlformats.org/officeDocument/2006/relationships/theme" Target="theme/theme1.xml"/><Relationship Id="R9d72ffdc6e564203" Type="http://schemas.openxmlformats.org/officeDocument/2006/relationships/slide" Target="slides/slide10.xml"/><Relationship Id="R9f27f019b7bb4f8a" Type="http://schemas.openxmlformats.org/officeDocument/2006/relationships/slide" Target="slides/slide3.xml"/><Relationship Id="Ra91f1f8cf612442a" Type="http://schemas.openxmlformats.org/officeDocument/2006/relationships/viewProps" Target="viewProps.xml"/><Relationship Id="Rb05adc054cec4bd9" Type="http://schemas.openxmlformats.org/officeDocument/2006/relationships/slide" Target="slides/slide26.xml"/><Relationship Id="Rb42def6d2a74464b" Type="http://schemas.openxmlformats.org/officeDocument/2006/relationships/slide" Target="slides/slide41.xml"/><Relationship Id="Rba83eaba88c546f3" Type="http://schemas.openxmlformats.org/officeDocument/2006/relationships/slide" Target="slides/slide29.xml"/><Relationship Id="Rbcc2b97e3124450a" Type="http://schemas.openxmlformats.org/officeDocument/2006/relationships/slide" Target="slides/slide12.xml"/><Relationship Id="Rce5679096781465d" Type="http://schemas.openxmlformats.org/officeDocument/2006/relationships/tableStyles" Target="tableStyles.xml"/><Relationship Id="Rde39dc1059fe417a" Type="http://schemas.openxmlformats.org/officeDocument/2006/relationships/slide" Target="slides/slide35.xml"/><Relationship Id="Re1ec058e81e44f58" Type="http://schemas.openxmlformats.org/officeDocument/2006/relationships/slide" Target="slides/slide18.xml"/><Relationship Id="Re64b85d18a4e4265" Type="http://schemas.openxmlformats.org/officeDocument/2006/relationships/slide" Target="slides/slide5.xml"/><Relationship Id="Re79df07a9d1845a6" Type="http://schemas.openxmlformats.org/officeDocument/2006/relationships/slide" Target="slides/slide34.xml"/><Relationship Id="Re86b6cc59f734f76" Type="http://schemas.openxmlformats.org/officeDocument/2006/relationships/slide" Target="slides/slide50.xml"/><Relationship Id="Re96debd5a8bd4392" Type="http://schemas.openxmlformats.org/officeDocument/2006/relationships/slide" Target="slides/slide36.xml"/><Relationship Id="Reb24aa33b6954c60" Type="http://schemas.openxmlformats.org/officeDocument/2006/relationships/slide" Target="slides/slide1.xml"/><Relationship Id="Ree0e054f2f834088" Type="http://schemas.openxmlformats.org/officeDocument/2006/relationships/slide" Target="slides/slide45.xml"/><Relationship Id="Rf2848c8238f64b41" Type="http://schemas.openxmlformats.org/officeDocument/2006/relationships/slide" Target="slides/slide2.xml"/><Relationship Id="Rf568ef340fb74c02" Type="http://schemas.openxmlformats.org/officeDocument/2006/relationships/slide" Target="slides/slide33.xml"/><Relationship Id="Rfba02ff474d84535" Type="http://schemas.openxmlformats.org/officeDocument/2006/relationships/slide" Target="slides/slide52.xml"/><Relationship Id="Rfc8e8eb497ee47bc" Type="http://schemas.openxmlformats.org/officeDocument/2006/relationships/slide" Target="slides/slide49.xml"/><Relationship Id="Rfcef5ba425ef41f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9e64e825f0ca44b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b98192951c5466c" Type="http://schemas.openxmlformats.org/officeDocument/2006/relationships/notesMaster" Target="../notesMasters/notesMaster1.xml"/><Relationship Id="Rd4990e3d1ee841d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0809722743d4c94" Type="http://schemas.openxmlformats.org/officeDocument/2006/relationships/slide" Target="../slides/slide2.xml"/><Relationship Id="R955e77b63bb34d0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4f50504be194e14" Type="http://schemas.openxmlformats.org/officeDocument/2006/relationships/notesMaster" Target="../notesMasters/notesMaster1.xml"/><Relationship Id="R8b997de1e5af489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fc9e64050e34852" Type="http://schemas.openxmlformats.org/officeDocument/2006/relationships/notesMaster" Target="../notesMasters/notesMaster1.xml"/><Relationship Id="Ra093acfeee974e8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40f7e795122642e0" Type="http://schemas.openxmlformats.org/officeDocument/2006/relationships/notesMaster" Target="../notesMasters/notesMaster1.xml"/><Relationship Id="Rb14287bad61c4db5"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7a918fc3c0b44d99" Type="http://schemas.openxmlformats.org/officeDocument/2006/relationships/slide" Target="../slides/slide6.xml"/><Relationship Id="R87c49350d2e64dda"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8fb361d4ea64e96" Type="http://schemas.openxmlformats.org/officeDocument/2006/relationships/slide" Target="../slides/slide7.xml"/><Relationship Id="Rd136269595cc42c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4292a5e55f0e4ce3" Type="http://schemas.openxmlformats.org/officeDocument/2006/relationships/slide" Target="../slides/slide8.xml"/><Relationship Id="Rcbd00242adfa472a"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3f09d0a39b942b1" Type="http://schemas.openxmlformats.org/officeDocument/2006/relationships/notesMaster" Target="../notesMasters/notesMaster1.xml"/><Relationship Id="Rc7ae4ce7e7e1436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9329ebcc97aa47c2" Type="http://schemas.openxmlformats.org/officeDocument/2006/relationships/slide" Target="../slides/slide10.xml"/><Relationship Id="Rffb6620d09de4638"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be5dc381e1c4f69" Type="http://schemas.openxmlformats.org/officeDocument/2006/relationships/notesMaster" Target="../notesMasters/notesMaster1.xml"/><Relationship Id="Rb305993d0132491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b199ab417cf4302" Type="http://schemas.openxmlformats.org/officeDocument/2006/relationships/notesMaster" Target="../notesMasters/notesMaster1.xml"/><Relationship Id="R857423f2c6114c07"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8d80f6845004456" Type="http://schemas.openxmlformats.org/officeDocument/2006/relationships/slide" Target="../slides/slide13.xml"/><Relationship Id="R9025355c73714f0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e9bf537aaef4377" Type="http://schemas.openxmlformats.org/officeDocument/2006/relationships/slide" Target="../slides/slide14.xml"/><Relationship Id="R9a50fa33ceda42c5"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54ce6952e0f41bc" Type="http://schemas.openxmlformats.org/officeDocument/2006/relationships/notesMaster" Target="../notesMasters/notesMaster1.xml"/><Relationship Id="Rd5f29cc8123c45de"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7a54825063af4010" Type="http://schemas.openxmlformats.org/officeDocument/2006/relationships/notesMaster" Target="../notesMasters/notesMaster1.xml"/><Relationship Id="R97c038a9bd8a411e"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8a6718449064ae6" Type="http://schemas.openxmlformats.org/officeDocument/2006/relationships/slide" Target="../slides/slide17.xml"/><Relationship Id="Rf29f7757ea0b4aea"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95670ad56ae8492f" Type="http://schemas.openxmlformats.org/officeDocument/2006/relationships/slide" Target="../slides/slide18.xml"/><Relationship Id="Rf2c0155bcbfd4ac0"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4f718d951c44ba7" Type="http://schemas.openxmlformats.org/officeDocument/2006/relationships/slide" Target="../slides/slide19.xml"/><Relationship Id="R9ebba620bd7846b8"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5cf4c31acb71485f" Type="http://schemas.openxmlformats.org/officeDocument/2006/relationships/notesMaster" Target="../notesMasters/notesMaster1.xml"/><Relationship Id="R848b4673421149e5"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1b5f60a8b594f27" Type="http://schemas.openxmlformats.org/officeDocument/2006/relationships/notesMaster" Target="../notesMasters/notesMaster1.xml"/><Relationship Id="R7061ed4c972742bb"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9cf679cf10554fba" Type="http://schemas.openxmlformats.org/officeDocument/2006/relationships/notesMaster" Target="../notesMasters/notesMaster1.xml"/><Relationship Id="Re0d46046deec4a89"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22609ac7ec064dc0" Type="http://schemas.openxmlformats.org/officeDocument/2006/relationships/notesMaster" Target="../notesMasters/notesMaster1.xml"/><Relationship Id="R560c74c10a08458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1577f9d887f948f6" Type="http://schemas.openxmlformats.org/officeDocument/2006/relationships/slide" Target="../slides/slide24.xml"/><Relationship Id="Ra0d9074ede9d4713"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41a1ab8cb01f493e" Type="http://schemas.openxmlformats.org/officeDocument/2006/relationships/notesMaster" Target="../notesMasters/notesMaster1.xml"/><Relationship Id="Rfd527b9eb6134fc9"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10520b1d0d794f34" Type="http://schemas.openxmlformats.org/officeDocument/2006/relationships/notesMaster" Target="../notesMasters/notesMaster1.xml"/><Relationship Id="Raa578761a3414a54"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56c0f2cb80014a4d" Type="http://schemas.openxmlformats.org/officeDocument/2006/relationships/slide" Target="../slides/slide27.xml"/><Relationship Id="Rdf32531831b34ae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b3290c23adfe48d5" Type="http://schemas.openxmlformats.org/officeDocument/2006/relationships/notesMaster" Target="../notesMasters/notesMaster1.xml"/><Relationship Id="Rd38ec5ec0439433a"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0af13d22f5364f5f" Type="http://schemas.openxmlformats.org/officeDocument/2006/relationships/notesMaster" Target="../notesMasters/notesMaster1.xml"/><Relationship Id="Rb8ebccd576f748e0"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ff7ec61fb7a4d48" Type="http://schemas.openxmlformats.org/officeDocument/2006/relationships/slide" Target="../slides/slide30.xml"/><Relationship Id="R8c19a77f315747eb"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39c4a4c29f03402a" Type="http://schemas.openxmlformats.org/officeDocument/2006/relationships/notesMaster" Target="../notesMasters/notesMaster1.xml"/><Relationship Id="R3c11fab8d9d249d7"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227b32c037f14a4a" Type="http://schemas.openxmlformats.org/officeDocument/2006/relationships/slide" Target="../slides/slide32.xml"/><Relationship Id="R2acec499b1214d38"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61c513ae696a48b3" Type="http://schemas.openxmlformats.org/officeDocument/2006/relationships/notesMaster" Target="../notesMasters/notesMaster1.xml"/><Relationship Id="R84a2311463c345bc"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952b2ccc09024aa7" Type="http://schemas.openxmlformats.org/officeDocument/2006/relationships/slide" Target="../slides/slide34.xml"/><Relationship Id="Ra026ac8a1c424a74"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8287f907b21742eb" Type="http://schemas.openxmlformats.org/officeDocument/2006/relationships/notesMaster" Target="../notesMasters/notesMaster1.xml"/><Relationship Id="R8dc7bca544274570"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773ca78e253940c4" Type="http://schemas.openxmlformats.org/officeDocument/2006/relationships/slide" Target="../slides/slide36.xml"/><Relationship Id="Rcf6fd29e0273452b"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02b9b1d9beef428a" Type="http://schemas.openxmlformats.org/officeDocument/2006/relationships/slide" Target="../slides/slide37.xml"/><Relationship Id="Rcd9177287df94fc9"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a60b11d8c5104525" Type="http://schemas.openxmlformats.org/officeDocument/2006/relationships/slide" Target="../slides/slide38.xml"/><Relationship Id="Rcdeff331e86f4cf0"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66ab4396d7e94623" Type="http://schemas.openxmlformats.org/officeDocument/2006/relationships/notesMaster" Target="../notesMasters/notesMaster1.xml"/><Relationship Id="Rd43bde8c6e7a407b"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6b266f59322e41c9" Type="http://schemas.openxmlformats.org/officeDocument/2006/relationships/slide" Target="../slides/slide40.xml"/><Relationship Id="Rf1e07a2903ce4f86"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395bbd933a3a4d6e" Type="http://schemas.openxmlformats.org/officeDocument/2006/relationships/notesMaster" Target="../notesMasters/notesMaster1.xml"/><Relationship Id="R4af36d4919694165"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d7f2a7f9aca0481a" Type="http://schemas.openxmlformats.org/officeDocument/2006/relationships/notesMaster" Target="../notesMasters/notesMaster1.xml"/><Relationship Id="Rf1cb9c2abb34449f"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cb5d39b6a5084a85" Type="http://schemas.openxmlformats.org/officeDocument/2006/relationships/notesMaster" Target="../notesMasters/notesMaster1.xml"/><Relationship Id="Ree518d502ee043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4d25249f9313419c" Type="http://schemas.openxmlformats.org/officeDocument/2006/relationships/slide" Target="../slides/slide44.xml"/><Relationship Id="R9bb3f93361464a78"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10971851e5814e46" Type="http://schemas.openxmlformats.org/officeDocument/2006/relationships/slide" Target="../slides/slide45.xml"/><Relationship Id="R30f6c78859df4475"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36ee79fe15344b66" Type="http://schemas.openxmlformats.org/officeDocument/2006/relationships/slide" Target="../slides/slide46.xml"/><Relationship Id="R57c3f93a606e44d0"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242e37116d8d40b6" Type="http://schemas.openxmlformats.org/officeDocument/2006/relationships/slide" Target="../slides/slide47.xml"/><Relationship Id="Rf9281e142806422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b7a63893f7a643c2" Type="http://schemas.openxmlformats.org/officeDocument/2006/relationships/slide" Target="../slides/slide48.xml"/><Relationship Id="Rc3d37d1cd9ad4373"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846054d810544fff" Type="http://schemas.openxmlformats.org/officeDocument/2006/relationships/notesMaster" Target="../notesMasters/notesMaster1.xml"/><Relationship Id="Rc9cd1a65e7044f45"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c2e6f71549154c20" Type="http://schemas.openxmlformats.org/officeDocument/2006/relationships/notesMaster" Target="../notesMasters/notesMaster1.xml"/><Relationship Id="Rd3c27aee56664b49"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6862840198b74456" Type="http://schemas.openxmlformats.org/officeDocument/2006/relationships/slide" Target="../slides/slide51.xml"/><Relationship Id="Rc09a4e9ed6854086"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5691a277069e4df0" Type="http://schemas.openxmlformats.org/officeDocument/2006/relationships/notesMaster" Target="../notesMasters/notesMaster1.xml"/><Relationship Id="Raad52639d9004701" Type="http://schemas.openxmlformats.org/officeDocument/2006/relationships/slide" Target="../slides/slide5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35 seconds.</a:t>
            </a:r>
          </a:p>
          <a:p xmlns:a="http://schemas.openxmlformats.org/drawingml/2006/main"/>
          <a:p xmlns:a="http://schemas.openxmlformats.org/drawingml/2006/main">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xmlns:a="http://schemas.openxmlformats.org/drawingml/2006/main"/>
          <a:p xmlns:a="http://schemas.openxmlformats.org/drawingml/2006/main">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Start from the operational context. Regional wine production matters for cooperatives, supply planning, policy, and market expectations, but it is affected by many drivers at once: climate, management, planted area, regulation, and long-term structural change.</a:t>
            </a:r>
          </a:p>
          <a:p xmlns:a="http://schemas.openxmlformats.org/drawingml/2006/main"/>
          <a:p xmlns:a="http://schemas.openxmlformats.org/drawingml/2006/main">
            <a:r>
              <a:t>The important point is that a model that gives only a number is not enough. If the forecast is wrong, or if the region is changing structurally, stakeholders need to know whether the model found a plausible climate signal or only followed historical drift.</a:t>
            </a:r>
          </a:p>
          <a:p xmlns:a="http://schemas.openxmlformats.org/drawingml/2006/main"/>
          <a:p xmlns:a="http://schemas.openxmlformats.org/drawingml/2006/main">
            <a:r>
              <a:t>Transition: this leads to the research gap - forecasting has to be interpretable and auditable, not only predictive.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xmlns:a="http://schemas.openxmlformats.org/drawingml/2006/main"/>
          <a:p xmlns:a="http://schemas.openxmlformats.org/drawingml/2006/main">
            <a:r>
              <a:t>CarenR is positioned in the middle: it searches for rule-defined subgroups where the production distribution differs meaningfully from the baseline. The value is that every rule has conditions, support, and a statistical test.</a:t>
            </a:r>
          </a:p>
          <a:p xmlns:a="http://schemas.openxmlformats.org/drawingml/2006/main"/>
          <a:p xmlns:a="http://schemas.openxmlformats.org/drawingml/2006/main">
            <a:r>
              <a:t>Point to the rule example: this is the kind of output the thesis aims for - not just "wetness matters", but a concrete combination of phenological windows and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This slide explains why the target is difficult. Climate does not act in isolation. The production series includes biological carry-over, annual variability, industry structure, policy changes, and region-specific histories.</a:t>
            </a:r>
          </a:p>
          <a:p xmlns:a="http://schemas.openxmlformats.org/drawingml/2006/main"/>
          <a:p xmlns:a="http://schemas.openxmlformats.org/drawingml/2006/main">
            <a:r>
              <a:t>Stress that this makes the signal-to-noise problem severe. Even if temperature, rainfall, soil water, or LAI genuinely affect yield, their effect can be hidden by stronger structural movements in production.</a:t>
            </a:r>
          </a:p>
          <a:p xmlns:a="http://schemas.openxmlformats.org/drawingml/2006/main"/>
          <a:p xmlns:a="http://schemas.openxmlformats.org/drawingml/2006/main">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Frame Douro and Vinho Verde as a deliberate comparison, not just two case studies. The same pipeline is applied to two regions with different historical structures.</a:t>
            </a:r>
          </a:p>
          <a:p xmlns:a="http://schemas.openxmlformats.org/drawingml/2006/main"/>
          <a:p xmlns:a="http://schemas.openxmlformats.org/drawingml/2006/main">
            <a:r>
              <a:t>Douro has a long record and a production series with a gradual positive trend. Vinho Verde has a strong structural decline, linked to broader regional and policy changes. This contrast is useful because it tests whether the same rule-based method behaves consistently under different data histories.</a:t>
            </a:r>
          </a:p>
          <a:p xmlns:a="http://schemas.openxmlformats.org/drawingml/2006/main"/>
          <a:p xmlns:a="http://schemas.openxmlformats.org/drawingml/2006/main">
            <a:r>
              <a:t>Transition: before modelling, the feature design has to respect the vine's biological calendar, because climate timing matters as much as climate 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Use this as a bridge from domain knowledge to machine learning. The vine response is seasonal and delayed. Conditions around flowering, maturation, harvest, and even the previous year can affect the current harvest.</a:t>
            </a:r>
          </a:p>
          <a:p xmlns:a="http://schemas.openxmlformats.org/drawingml/2006/main"/>
          <a:p xmlns:a="http://schemas.openxmlformats.org/drawingml/2006/main">
            <a:r>
              <a:t>Mention the carry-over mechanism: climate in one season may influence bud formation or canopy development that only affects production later. This is why the features are not generic annual averages.</a:t>
            </a:r>
          </a:p>
          <a:p xmlns:a="http://schemas.openxmlformats.org/drawingml/2006/main"/>
          <a:p xmlns:a="http://schemas.openxmlformats.org/drawingml/2006/main">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Explain the feature engineering in plain terms. Daily weather and agrometeorological data are transformed into 59 features per region: temperature, rainfall, soil water, LAI, heat days, frost days, and previous-year lags.</a:t>
            </a:r>
          </a:p>
          <a:p xmlns:a="http://schemas.openxmlformats.org/drawingml/2006/main"/>
          <a:p xmlns:a="http://schemas.openxmlformats.org/drawingml/2006/main">
            <a:r>
              <a:t>The important design choice is comparability. The same feature families are created for both regions, so differences in results are less likely to come from different preprocessing choices.</a:t>
            </a:r>
          </a:p>
          <a:p xmlns:a="http://schemas.openxmlformats.org/drawingml/2006/main"/>
          <a:p xmlns:a="http://schemas.openxmlformats.org/drawingml/2006/main">
            <a:r>
              <a:t>Also note that preprocessing is done inside each training fold later. This avoids leaking information from the test period into the model, which is especially important in time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55 seconds.</a:t>
            </a:r>
          </a:p>
          <a:p xmlns:a="http://schemas.openxmlformats.org/drawingml/2006/main"/>
          <a:p xmlns:a="http://schemas.openxmlformats.org/drawingml/2006/main">
            <a:r>
              <a:t>Make the two goals explicit. Goal 1 is discovery: can interpretable rules identify meaningful production deviations and recurring feature families? Goal 2 is forecasting: do those rules improve out-of-sample prediction relative to a simple median baseline?</a:t>
            </a:r>
          </a:p>
          <a:p xmlns:a="http://schemas.openxmlformats.org/drawingml/2006/main"/>
          <a:p xmlns:a="http://schemas.openxmlformats.org/drawingml/2006/main">
            <a:r>
              <a:t>These goals are related but not identical. A rule can be scientifically informative even if it is not yet strong enough to beat the baseline in a forecasting contest.</a:t>
            </a:r>
          </a:p>
          <a:p xmlns:a="http://schemas.openxmlformats.org/drawingml/2006/main"/>
          <a:p xmlns:a="http://schemas.openxmlformats.org/drawingml/2006/main">
            <a:r>
              <a:t>This distinction is central to the defence: the thesis does not hide the negative forecasting result. It uses it to understand the boundary between explanation and reliable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This is the methodological control slide. The same pipeline is applied to Douro and Vinho Verde: same feature construction, same families of algorithms, and walk-forward expanding-window validation.</a:t>
            </a:r>
          </a:p>
          <a:p xmlns:a="http://schemas.openxmlformats.org/drawingml/2006/main"/>
          <a:p xmlns:a="http://schemas.openxmlformats.org/drawingml/2006/main">
            <a:r>
              <a:t>Point to the time-series validation. Each scenario trains on the past and tests on the future. All preprocessing is inside the training fold, so the test years remain genuinely unseen.</a:t>
            </a:r>
          </a:p>
          <a:p xmlns:a="http://schemas.openxmlformats.org/drawingml/2006/main"/>
          <a:p xmlns:a="http://schemas.openxmlformats.org/drawingml/2006/main">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Introduce the model family, then focus on CarenR. CarenR is the primary method and links the two parts of the thesis: it discovers interpretable distributional rules and its variants are also tested in prediction.</a:t>
            </a:r>
          </a:p>
          <a:p xmlns:a="http://schemas.openxmlformats.org/drawingml/2006/main"/>
          <a:p xmlns:a="http://schemas.openxmlformats.org/drawingml/2006/main">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xmlns:a="http://schemas.openxmlformats.org/drawingml/2006/main"/>
          <a:p xmlns:a="http://schemas.openxmlformats.org/drawingml/2006/main">
            <a:r>
              <a:t>The key defence point is that the algorithms are not all doing the same job. Some support interpretability, some support forecasting comparison, and CarenR connects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CarenR conceptually rather than technically. It starts with </a:t>
            </a:r>
            <a:r>
              <a:t>discretised</a:t>
            </a:r>
            <a:r>
              <a:t> feature intervals, combines them into readable rule conditions, and asks whether observations inside the rule have a different production-residual distribution from all observations.</a:t>
            </a:r>
          </a:p>
          <a:p xmlns:a="http://schemas.openxmlformats.org/drawingml/2006/main"/>
          <a:p xmlns:a="http://schemas.openxmlformats.org/drawingml/2006/main">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xmlns:a="http://schemas.openxmlformats.org/drawingml/2006/main"/>
          <a:p xmlns:a="http://schemas.openxmlformats.org/drawingml/2006/main">
            <a:r>
              <a:t>The small rule card is what makes the result auditable. A domain expert can challenge the conditions, check the support, and inspect the p-value. That is the interpretability advantage over a black-box forecast explanation.</a:t>
            </a:r>
          </a:p>
          <a:p xmlns:a="http://schemas.openxmlformats.org/drawingml/2006/main"/>
          <a:p xmlns:a="http://schemas.openxmlformats.org/drawingml/2006/main">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CarenR conceptually rather than technically. It starts with discretised feature intervals, combines them into readable rule conditions, and asks whether observations inside the rule have a different production-residual distribution from all observations.</a:t>
            </a:r>
          </a:p>
          <a:p xmlns:a="http://schemas.openxmlformats.org/drawingml/2006/main"/>
          <a:p xmlns:a="http://schemas.openxmlformats.org/drawingml/2006/main">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xmlns:a="http://schemas.openxmlformats.org/drawingml/2006/main"/>
          <a:p xmlns:a="http://schemas.openxmlformats.org/drawingml/2006/main">
            <a:r>
              <a:t>The small rule card is what makes the result auditable. A domain expert can challenge the conditions, check the support, and inspect the p-value. That is the interpretability advantage over a black-box forecast explanation.</a:t>
            </a:r>
          </a:p>
          <a:p xmlns:a="http://schemas.openxmlformats.org/drawingml/2006/main"/>
          <a:p xmlns:a="http://schemas.openxmlformats.org/drawingml/2006/main">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Use this slide to strengthen the credibility of the rule findings. CarenR, RIPPER, and M5Rules optimise different objectives, so agreement across them is meaningful.</a:t>
            </a:r>
          </a:p>
          <a:p xmlns:a="http://schemas.openxmlformats.org/drawingml/2006/main"/>
          <a:p xmlns:a="http://schemas.openxmlformats.org/drawingml/2006/main">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xmlns:a="http://schemas.openxmlformats.org/drawingml/2006/main"/>
          <a:p xmlns:a="http://schemas.openxmlformats.org/drawingml/2006/main">
            <a:r>
              <a:t>Be careful with wording: this is not causal proof. It is convergent evidence that these feature families capture real structure in the data rather than only algorithm-specific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State the forecasting result directly. No rule-based model beats the median baseline overall. In Douro, the best CarenR variant is close to the baseline - about 3 percent worse and not statistically significant. In Vinho Verde, performance is clearly worse.</a:t>
            </a:r>
          </a:p>
          <a:p xmlns:a="http://schemas.openxmlformats.org/drawingml/2006/main"/>
          <a:p xmlns:a="http://schemas.openxmlformats.org/drawingml/2006/main">
            <a:r>
              <a:t>This is an important negative result, and it should be presented confidently. The models discover interpretable associations, but those associations do not yet translate into reliable out-of-sample forecasts.</a:t>
            </a:r>
          </a:p>
          <a:p xmlns:a="http://schemas.openxmlformats.org/drawingml/2006/main"/>
          <a:p xmlns:a="http://schemas.openxmlformats.org/drawingml/2006/main">
            <a:r>
              <a:t>The strongest explanation is data structure: limited observations, noisy annual aggregates, and especially the structural history of Vinho Verde make forecasting harder than rule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50 seconds.</a:t>
            </a:r>
          </a:p>
          <a:p xmlns:a="http://schemas.openxmlformats.org/drawingml/2006/main"/>
          <a:p xmlns:a="http://schemas.openxmlformats.org/drawingml/2006/main">
            <a:r>
              <a:t>This slide separates two ideas that are easy to confuse. Discovery is about identifying patterns that are plausible, interpretable, and statistically supported. Prediction is about using those patterns to improve future numerical forecasts.</a:t>
            </a:r>
          </a:p>
          <a:p xmlns:a="http://schemas.openxmlformats.org/drawingml/2006/main"/>
          <a:p xmlns:a="http://schemas.openxmlformats.org/drawingml/2006/main">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xmlns:a="http://schemas.openxmlformats.org/drawingml/2006/main"/>
          <a:p xmlns:a="http://schemas.openxmlformats.org/drawingml/2006/main">
            <a:r>
              <a:t>Transition: the next slide formalises this diagnosis as a two-decision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Explain the two-decision framework as one of the methodological contributions. Decision 1 is how to remove or represent the long-term production trend. Decision 2 is how to extract the climate signal from the remaining residuals.</a:t>
            </a:r>
          </a:p>
          <a:p xmlns:a="http://schemas.openxmlformats.org/drawingml/2006/main"/>
          <a:p xmlns:a="http://schemas.openxmlformats.org/drawingml/2006/main">
            <a:r>
              <a:t>These decisions interact. If detrending is too weak, the climate model may learn structural drift. If detrending is too aggressive, it can remove genuine climate-related variation.</a:t>
            </a:r>
          </a:p>
          <a:p xmlns:a="http://schemas.openxmlformats.org/drawingml/2006/main"/>
          <a:p xmlns:a="http://schemas.openxmlformats.org/drawingml/2006/main">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xmlns:a="http://schemas.openxmlformats.org/drawingml/2006/main"/>
          <a:p xmlns:a="http://schemas.openxmlformats.org/drawingml/2006/main">
            <a:r>
              <a:t>The important sentence to say aloud is the one at the bottom: the same algorithm produces qualitatively different outcomes depending on the structural history of the production series.</a:t>
            </a:r>
          </a:p>
          <a:p xmlns:a="http://schemas.openxmlformats.org/drawingml/2006/main"/>
          <a:p xmlns:a="http://schemas.openxmlformats.org/drawingml/2006/main">
            <a:r>
              <a:t>This justifies the limitations and future work: better structural covariates and additional regions are not optional improvements; they are required for stronger forecasting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xmlns:a="http://schemas.openxmlformats.org/drawingml/2006/main"/>
          <a:p xmlns:a="http://schemas.openxmlformats.org/drawingml/2006/main">
            <a:r>
              <a:t>Third, it compares sensitivity variants rather than assuming one configuration is universal. Fourth, it introduces era-composition analysis to diagnose when apparent skill depends on the historical composition of the training and test periods.</a:t>
            </a:r>
          </a:p>
          <a:p xmlns:a="http://schemas.openxmlformats.org/drawingml/2006/main"/>
          <a:p xmlns:a="http://schemas.openxmlformats.org/drawingml/2006/main">
            <a:r>
              <a:t>Finally, it uses cross-algorithm validation to show that key feature families - especially soil water and LAI - are not only CarenR artefacts.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p xmlns:a="http://schemas.openxmlformats.org/drawingml/2006/main">
            <a:r>
              <a:t>Be transparent here. The main limitations are the use of time as the main detrending covariate, small test sets, and annual regional aggregates. These choices make the problem realistic but also underpowered.</a:t>
            </a:r>
          </a:p>
          <a:p xmlns:a="http://schemas.openxmlformats.org/drawingml/2006/main"/>
          <a:p xmlns:a="http://schemas.openxmlformats.org/drawingml/2006/main">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xmlns:a="http://schemas.openxmlformats.org/drawingml/2006/main"/>
          <a:p xmlns:a="http://schemas.openxmlformats.org/drawingml/2006/main">
            <a:r>
              <a:t>The closing point is that the thesis identifies what must be fixed before these rules can become reliable operational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45 seconds.</a:t>
            </a:r>
          </a:p>
          <a:p xmlns:a="http://schemas.openxmlformats.org/drawingml/2006/main"/>
          <a:p xmlns:a="http://schemas.openxmlformats.org/drawingml/2006/main">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xmlns:a="http://schemas.openxmlformats.org/drawingml/2006/main"/>
          <a:p xmlns:a="http://schemas.openxmlformats.org/drawingml/2006/main">
            <a:r>
              <a:t>Summarise the next steps as a research path: add structural covariates, test more regions and less trend-dominated series, validate prospectively, and use subgroup methods such as EMM to understand when climate-production relationships are exceptional.</a:t>
            </a:r>
          </a:p>
          <a:p xmlns:a="http://schemas.openxmlformats.org/drawingml/2006/main"/>
          <a:p xmlns:a="http://schemas.openxmlformats.org/drawingml/2006/main">
            <a:r>
              <a:t>End with the main defence sentence: understanding why forecasting fails is itself a scientific contribution, because it tells us what evidence is missing for reliable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makes this precise. The gap is interpretability: even when production can be predicted, it can't be explained.</a:t>
            </a:r>
          </a:p>
          <a:p xmlns:a="http://schemas.openxmlformats.org/drawingml/2006/main"/>
          <a:p xmlns:a="http://schemas.openxmlformats.org/drawingml/2006/main">
            <a:r>
              <a:t>The example rule on the right is what CarenR produces. It tells you: in years where soil water at harvest was between 74 and 101 mm AND wet days after flowering were 3.3 or fewer, production was 192 mhl above trend — in 21% of years, with a KS p-value of 0.010.</a:t>
            </a:r>
          </a:p>
          <a:p xmlns:a="http://schemas.openxmlformats.org/drawingml/2006/main"/>
          <a:p xmlns:a="http://schemas.openxmlformats.org/drawingml/2006/main">
            <a:r>
              <a:t>An agronomist can read that, challenge it, and decide whether it matches their knowledge of vine physiology. No prior work has applied this kind of distributional rule induction to multi-decade regional production records.</a:t>
            </a:r>
          </a:p>
          <a:p xmlns:a="http://schemas.openxmlformats.org/drawingml/2006/main"/>
          <a:p xmlns:a="http://schemas.openxmlformats.org/drawingml/2006/main">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has two goals.</a:t>
            </a:r>
          </a:p>
          <a:p xmlns:a="http://schemas.openxmlformats.org/drawingml/2006/main"/>
          <a:p xmlns:a="http://schemas.openxmlformats.org/drawingml/2006/main">
            <a:r>
              <a:t>Goal 1 — rule discovery — was achieved. CarenR found 48 rules for Douro and 20 for Vinho Verde, answering RQ1 and RQ2: which climate variables matter, and are they genuine signals or artefacts of era-level structural change?</a:t>
            </a:r>
          </a:p>
          <a:p xmlns:a="http://schemas.openxmlformats.org/drawingml/2006/main"/>
          <a:p xmlns:a="http://schemas.openxmlformats.org/drawingml/2006/main">
            <a:r>
              <a:t>Goal 2 — predictive validation — was not achieved in aggregate. Across all walk-forward scenarios, no model reliably beats the naive baseline. But — and this is the key point — there is a conditional finding in Douro that I'll explain in slides 11 and 12.</a:t>
            </a:r>
          </a:p>
          <a:p xmlns:a="http://schemas.openxmlformats.org/drawingml/2006/main"/>
          <a:p xmlns:a="http://schemas.openxmlformats.org/drawingml/2006/main">
            <a:r>
              <a:t>RQ3 asks whether three independent algorithms converge on the same features. They do, and that convergence is the strongest evidence that the discovered patterns are real. RQ4 asks whether prediction improves — the answer is nuanced.</a:t>
            </a:r>
          </a:p>
          <a:p xmlns:a="http://schemas.openxmlformats.org/drawingml/2006/main"/>
          <a:p xmlns:a="http://schemas.openxmlformats.org/drawingml/2006/main">
            <a:r>
              <a:t>I want to flag now that the most scientifically interesting finding was not that prediction failed. It was why it failed — and that diagnosis has clear implications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has two goals.</a:t>
            </a:r>
          </a:p>
          <a:p xmlns:a="http://schemas.openxmlformats.org/drawingml/2006/main"/>
          <a:p xmlns:a="http://schemas.openxmlformats.org/drawingml/2006/main">
            <a:r>
              <a:t>Goal 1 — rule discovery — was achieved. CarenR found 48 rules for Douro and 20 for Vinho Verde, answering RQ1 and RQ2: which climate variables matter, and are they genuine signals or artefacts of era-level structural change?</a:t>
            </a:r>
          </a:p>
          <a:p xmlns:a="http://schemas.openxmlformats.org/drawingml/2006/main"/>
          <a:p xmlns:a="http://schemas.openxmlformats.org/drawingml/2006/main">
            <a:r>
              <a:t>Goal 2 — predictive validation — was not achieved in aggregate. Across all walk-forward scenarios, no model reliably beats the naive baseline. But — and this is the key point — there is a conditional finding in Douro that I'll explain in slides 11 and 12.</a:t>
            </a:r>
          </a:p>
          <a:p xmlns:a="http://schemas.openxmlformats.org/drawingml/2006/main"/>
          <a:p xmlns:a="http://schemas.openxmlformats.org/drawingml/2006/main">
            <a:r>
              <a:t>RQ3 asks whether three independent algorithms converge on the same features. They do, and that convergence is the strongest evidence that the discovered patterns are real. RQ4 asks whether prediction improves — the answer is nuanced.</a:t>
            </a:r>
          </a:p>
          <a:p xmlns:a="http://schemas.openxmlformats.org/drawingml/2006/main"/>
          <a:p xmlns:a="http://schemas.openxmlformats.org/drawingml/2006/main">
            <a:r>
              <a:t>I want to flag now that the most scientifically interesting finding was not that prediction failed. It was why it failed — and that diagnosis has clear implications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algorithms address structurally different questions.</a:t>
            </a:r>
          </a:p>
          <a:p xmlns:a="http://schemas.openxmlformats.org/drawingml/2006/main"/>
          <a:p xmlns:a="http://schemas.openxmlformats.org/drawingml/2006/main">
            <a:r>
              <a:t>CarenR asks: when does the shape of the production distribution shift? It uses the Kolmogorov–Smirnov two-sample test, which is non-parametric — no normality assumption, no need to discretise the target. Output is a rule with a distributional shift in mhl.</a:t>
            </a:r>
          </a:p>
          <a:p xmlns:a="http://schemas.openxmlformats.org/drawingml/2006/main"/>
          <a:p xmlns:a="http://schemas.openxmlformats.org/drawingml/2006/main">
            <a:r>
              <a:t>RIPPER asks: which production class does a year belong to? It requires discretising the target into tertiles — Low, Medium, High — and uses FOIL information gain. Well-established baseline, but the discretisation loses information.</a:t>
            </a:r>
          </a:p>
          <a:p xmlns:a="http://schemas.openxmlformats.org/drawingml/2006/main"/>
          <a:p xmlns:a="http://schemas.openxmlformats.org/drawingml/2006/main">
            <a:r>
              <a:t>M5Rules asks: what's the exact production level? It minimises MSE to build piecewise linear regression rules. The problem is that on datasets smaller than 89 observations, it collapses to a single global model with no meaningful splits.</a:t>
            </a:r>
          </a:p>
          <a:p xmlns:a="http://schemas.openxmlformats.org/drawingml/2006/main"/>
          <a:p xmlns:a="http://schemas.openxmlformats.org/drawingml/2006/main">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strongest slides in the thesis.</a:t>
            </a:r>
          </a:p>
          <a:p xmlns:a="http://schemas.openxmlformats.org/drawingml/2006/main"/>
          <a:p xmlns:a="http://schemas.openxmlformats.org/drawingml/2006/main">
            <a:r>
              <a:t>Three algorithms with completely different optimisation criteria — KS test, FOIL gain, MSE minimisation — independently select the same feature families.</a:t>
            </a:r>
          </a:p>
          <a:p xmlns:a="http://schemas.openxmlformats.org/drawingml/2006/main"/>
          <a:p xmlns:a="http://schemas.openxmlformats.org/drawingml/2006/main">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xmlns:a="http://schemas.openxmlformats.org/drawingml/2006/main"/>
          <a:p xmlns:a="http://schemas.openxmlformats.org/drawingml/2006/main">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xmlns:a="http://schemas.openxmlformats.org/drawingml/2006/main"/>
          <a:p xmlns:a="http://schemas.openxmlformats.org/drawingml/2006/main">
            <a:r>
              <a:t>This convergence is not a statistical artefact. Three independent optimisation criteria would only agree if the features are genuinely load-bearing in the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shows the headline numbers — and they're honest.</a:t>
            </a:r>
          </a:p>
          <a:p xmlns:a="http://schemas.openxmlformats.org/drawingml/2006/main"/>
          <a:p xmlns:a="http://schemas.openxmlformats.org/drawingml/2006/main">
            <a:r>
              <a:t>In Douro: the best CarenR variant achieves a weighted MAE of 189 mhl versus Naive_Median's 184 mhl. That's a 3% degradation. Wilcoxon p = 0.468 — not significant. In aggregate, CarenR does not beat the naive baseline in Douro.</a:t>
            </a:r>
          </a:p>
          <a:p xmlns:a="http://schemas.openxmlformats.org/drawingml/2006/main"/>
          <a:p xmlns:a="http://schemas.openxmlformats.org/drawingml/2006/main">
            <a:r>
              <a:t>In Vinho Verde: Best CarenR at 172 mhl versus Naive at 140 mhl. That's a 22% degradation, with p = 0.004 — the rules actively harm prediction.</a:t>
            </a:r>
          </a:p>
          <a:p xmlns:a="http://schemas.openxmlformats.org/drawingml/2006/main"/>
          <a:p xmlns:a="http://schemas.openxmlformats.org/drawingml/2006/main">
            <a:r>
              <a:t>These are uncomfortable numbers but they're the right numbers. The question is: why? And the answer is on the next two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contrast between Douro and Vinho Verde was by design, not by accident.</a:t>
            </a:r>
          </a:p>
          <a:p xmlns:a="http://schemas.openxmlformats.org/drawingml/2006/main"/>
          <a:p xmlns:a="http://schemas.openxmlformats.org/drawingml/2006/main">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xmlns:a="http://schemas.openxmlformats.org/drawingml/2006/main"/>
          <a:p xmlns:a="http://schemas.openxmlformats.org/drawingml/2006/main">
            <a:r>
              <a:t>In Douro: genuine within-era signal survives LOESS detrending, three algorithms converge, and era-balanced scenarios show conditional improvement.</a:t>
            </a:r>
          </a:p>
          <a:p xmlns:a="http://schemas.openxmlformats.org/drawingml/2006/main"/>
          <a:p xmlns:a="http://schemas.openxmlformats.org/drawingml/2006/main">
            <a:r>
              <a:t>In Vinho Verde: features are largely era-membership proxies, LOESS detrending removes all signal, and rules cannot generalise across the 1986 structural break.</a:t>
            </a:r>
          </a:p>
          <a:p xmlns:a="http://schemas.openxmlformats.org/drawingml/2006/main"/>
          <a:p xmlns:a="http://schemas.openxmlformats.org/drawingml/2006/main">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c7e249144c84b54" Type="http://schemas.openxmlformats.org/officeDocument/2006/relationships/image" Target="../media/image.png"/><Relationship Id="Rc7480ac1a8fb4e2f"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e471d5f7d0af4ea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c7e249144c84b54"/>
          <a:srcRect xmlns:a="http://schemas.openxmlformats.org/drawingml/2006/main" l="18097" t="34404" r="17656" b="35003"/>
          <a:stretch xmlns:a="http://schemas.openxmlformats.org/drawingml/2006/main">
            <a:fillRect l="0" t="0" r="0" b="0"/>
          </a:stretch>
        </p:blipFill>
        <p:spPr>
          <a:xfrm xmlns:a="http://schemas.openxmlformats.org/drawingml/2006/main">
            <a:off x="11342158" y="42144"/>
            <a:ext cx="804333" cy="319806"/>
          </a:xfrm>
          <a:prstGeom xmlns:a="http://schemas.openxmlformats.org/drawingml/2006/main" prst="rect">
            <a:avLst/>
          </a:prstGeom>
        </p:spPr>
      </p:pic>
    </p:spTree>
  </p:cSld>
</p:sldLayout>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1e5f7a901274088" Type="http://schemas.openxmlformats.org/officeDocument/2006/relationships/theme" Target="theme/theme2.xml"/><Relationship Id="R758c8b4a621e4cc6" Type="http://schemas.openxmlformats.org/officeDocument/2006/relationships/slideLayout" Target="../slideLayouts/slideLayout1.xml"/><Relationship Id="Ra960f2743b274024"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8c8b4a621e4cc6"/>
    <p:sldLayoutId xmlns:r="http://schemas.openxmlformats.org/officeDocument/2006/relationships" id="2147483650" r:id="Ra960f2743b2740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e79d88767dd478c" Type="http://schemas.openxmlformats.org/officeDocument/2006/relationships/image" Target="../media/image2.png"/><Relationship Id="R56acdf76311742e0" Type="http://schemas.openxmlformats.org/officeDocument/2006/relationships/notesSlide" Target="../notesSlides/notesSlide1.xml"/><Relationship Id="Rd9d6f1f478994a0b"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51d8d59c0efc4dbb" Type="http://schemas.openxmlformats.org/officeDocument/2006/relationships/slideLayout" Target="../slideLayouts/slideLayout1.xml"/><Relationship Id="R6b5e4af8fc9c467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88ac2ac80c4741d8" Type="http://schemas.openxmlformats.org/officeDocument/2006/relationships/slideLayout" Target="../slideLayouts/slideLayout1.xml"/><Relationship Id="Rb66735eab0a247e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527fbc1a8748454a" Type="http://schemas.openxmlformats.org/officeDocument/2006/relationships/notesSlide" Target="../notesSlides/notesSlide4.xml"/><Relationship Id="Rc98074e65dcf4f17"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39b2f2e6d0f8493a" Type="http://schemas.openxmlformats.org/officeDocument/2006/relationships/image" Target="../media/image4.png"/><Relationship Id="R3e9b889205c04dc9" Type="http://schemas.openxmlformats.org/officeDocument/2006/relationships/notesSlide" Target="../notesSlides/notesSlide5.xml"/><Relationship Id="Rc3af0e0062344e3f" Type="http://schemas.openxmlformats.org/officeDocument/2006/relationships/image" Target="../media/image3.png"/><Relationship Id="Rf9200dbd23ad4d67"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5f9855625d8d460f" Type="http://schemas.openxmlformats.org/officeDocument/2006/relationships/slideLayout" Target="../slideLayouts/slideLayout1.xml"/><Relationship Id="R6e385500b15c469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c7fd559d90d841ee" Type="http://schemas.openxmlformats.org/officeDocument/2006/relationships/slideLayout" Target="../slideLayouts/slideLayout1.xml"/><Relationship Id="Rde3d55bd95b748b6" Type="http://schemas.openxmlformats.org/officeDocument/2006/relationships/image" Target="../media/image5.png"/><Relationship Id="Rfe5159de24674ce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89363b9119ce4bf9" Type="http://schemas.openxmlformats.org/officeDocument/2006/relationships/notesSlide" Target="../notesSlides/notesSlide8.xml"/><Relationship Id="Rdbd9cc0b1d4849b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7f5c674b8a9f47b3" Type="http://schemas.openxmlformats.org/officeDocument/2006/relationships/notesSlide" Target="../notesSlides/notesSlide9.xml"/><Relationship Id="Rc4aa243bb4b84508"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27a0d263f47a4bc9" Type="http://schemas.openxmlformats.org/officeDocument/2006/relationships/notesSlide" Target="../notesSlides/notesSlide10.xml"/><Relationship Id="Rbf73156565474950"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402bebb2f39d4b0e" Type="http://schemas.openxmlformats.org/officeDocument/2006/relationships/notesSlide" Target="../notesSlides/notesSlide11.xml"/><Relationship Id="R8b8fe6c2b39c4b25"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2c791af2b75b41ef" Type="http://schemas.openxmlformats.org/officeDocument/2006/relationships/slideLayout" Target="../slideLayouts/slideLayout1.xml"/><Relationship Id="Rb384352c4e334f4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17fb1829f2eb4611" Type="http://schemas.openxmlformats.org/officeDocument/2006/relationships/slideLayout" Target="../slideLayouts/slideLayout1.xml"/><Relationship Id="R9148b6ca54c4478c" Type="http://schemas.openxmlformats.org/officeDocument/2006/relationships/image" Target="../media/image6.png"/><Relationship Id="Rf2039c4bf4954c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ef73bd04fc346a1" Type="http://schemas.openxmlformats.org/officeDocument/2006/relationships/slideLayout" Target="../slideLayouts/slideLayout1.xml"/><Relationship Id="R3a834845164246cf" Type="http://schemas.openxmlformats.org/officeDocument/2006/relationships/image" Target="../media/image7.png"/><Relationship Id="R4db052af3f184719" Type="http://schemas.openxmlformats.org/officeDocument/2006/relationships/image" Target="../media/image6.png"/><Relationship Id="R966a988a0ded448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7101a7facd524f6e" Type="http://schemas.openxmlformats.org/officeDocument/2006/relationships/notesSlide" Target="../notesSlides/notesSlide15.xml"/><Relationship Id="Rac02e1b7304b4738"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1aa180b61e147ae" Type="http://schemas.openxmlformats.org/officeDocument/2006/relationships/slideLayout" Target="../slideLayouts/slideLayout1.xml"/><Relationship Id="R62d7b8d1392743ec"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cffa22137d54e20" Type="http://schemas.openxmlformats.org/officeDocument/2006/relationships/notesSlide" Target="../notesSlides/notesSlide17.xml"/><Relationship Id="Rca64c099df7f49d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737770933e54cd6" Type="http://schemas.openxmlformats.org/officeDocument/2006/relationships/slideLayout" Target="../slideLayouts/slideLayout1.xml"/><Relationship Id="R8a360d23d63840a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3fa79e251e204cb7" Type="http://schemas.openxmlformats.org/officeDocument/2006/relationships/image" Target="../media/image8.png"/><Relationship Id="R6b69be388a914997" Type="http://schemas.openxmlformats.org/officeDocument/2006/relationships/slideLayout" Target="../slideLayouts/slideLayout1.xml"/><Relationship Id="Rd261151203474efd"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21138801563245fb" Type="http://schemas.openxmlformats.org/officeDocument/2006/relationships/image" Target="../media/image10.png"/><Relationship Id="Rb7a4e8a190b84564" Type="http://schemas.openxmlformats.org/officeDocument/2006/relationships/notesSlide" Target="../notesSlides/notesSlide20.xml"/><Relationship Id="Rd831f3e7061f49d4" Type="http://schemas.openxmlformats.org/officeDocument/2006/relationships/image" Target="../media/image9.png"/><Relationship Id="Ree03ddc8e88b4d2d"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9b16f0d343840b9" Type="http://schemas.openxmlformats.org/officeDocument/2006/relationships/notesSlide" Target="../notesSlides/notesSlide21.xml"/><Relationship Id="R59d6182e6d88435b"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0609badc7af1436e" Type="http://schemas.openxmlformats.org/officeDocument/2006/relationships/notesSlide" Target="../notesSlides/notesSlide22.xml"/><Relationship Id="R5677222d5557435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9fc31e46bc374b9d" Type="http://schemas.openxmlformats.org/officeDocument/2006/relationships/notesSlide" Target="../notesSlides/notesSlide23.xml"/><Relationship Id="Rf3c844bcdba34d8d"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365308aa99774be5" Type="http://schemas.openxmlformats.org/officeDocument/2006/relationships/notesSlide" Target="../notesSlides/notesSlide24.xml"/><Relationship Id="Rcb3e2a7317494040"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02fae64adc5148b2" Type="http://schemas.openxmlformats.org/officeDocument/2006/relationships/slideLayout" Target="../slideLayouts/slideLayout1.xml"/><Relationship Id="R0f47f050e489446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8863f259fb04ddf" Type="http://schemas.openxmlformats.org/officeDocument/2006/relationships/notesSlide" Target="../notesSlides/notesSlide26.xml"/><Relationship Id="Rc713608d673d416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0263d40e529a48ce" Type="http://schemas.openxmlformats.org/officeDocument/2006/relationships/image" Target="../media/image12.png"/><Relationship Id="R35c895c2d8f54455" Type="http://schemas.openxmlformats.org/officeDocument/2006/relationships/image" Target="../media/image11.png"/><Relationship Id="R4b70e31dd21a4c37" Type="http://schemas.openxmlformats.org/officeDocument/2006/relationships/notesSlide" Target="../notesSlides/notesSlide27.xml"/><Relationship Id="R4e47be63044c408f"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472953a418d3412a" Type="http://schemas.openxmlformats.org/officeDocument/2006/relationships/image" Target="../media/image13.png"/><Relationship Id="R4ebe7207803240b7" Type="http://schemas.openxmlformats.org/officeDocument/2006/relationships/notesSlide" Target="../notesSlides/notesSlide28.xml"/><Relationship Id="R720bb89a34164a63"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741594e65f794a15" Type="http://schemas.openxmlformats.org/officeDocument/2006/relationships/slideLayout" Target="../slideLayouts/slideLayout2.xml"/><Relationship Id="R94bb51bc98724ba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64c4caceef96440d" Type="http://schemas.openxmlformats.org/officeDocument/2006/relationships/notesSlide" Target="../notesSlides/notesSlide30.xml"/><Relationship Id="Rb85fc731031543cb" Type="http://schemas.openxmlformats.org/officeDocument/2006/relationships/image" Target="../media/image14.png"/><Relationship Id="Rf3eaa88d41394aec"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3540a44c1a7e404a" Type="http://schemas.openxmlformats.org/officeDocument/2006/relationships/slideLayout" Target="../slideLayouts/slideLayout2.xml"/><Relationship Id="Rbc0c24d6caaf45af" Type="http://schemas.openxmlformats.org/officeDocument/2006/relationships/image" Target="../media/image15.png"/><Relationship Id="Re30e43c1f82f413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365114dde9b64397" Type="http://schemas.openxmlformats.org/officeDocument/2006/relationships/notesSlide" Target="../notesSlides/notesSlide32.xml"/><Relationship Id="Rb86160376b864835"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02b3a08989d64ef4" Type="http://schemas.openxmlformats.org/officeDocument/2006/relationships/notesSlide" Target="../notesSlides/notesSlide33.xml"/><Relationship Id="R78db95d068964966" Type="http://schemas.openxmlformats.org/officeDocument/2006/relationships/image" Target="../media/image16.png"/><Relationship Id="Rbfb675ef86d04c0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271ec0c2d5f1420c" Type="http://schemas.openxmlformats.org/officeDocument/2006/relationships/notesSlide" Target="../notesSlides/notesSlide34.xml"/><Relationship Id="R71da9695de874989" Type="http://schemas.openxmlformats.org/officeDocument/2006/relationships/slideLayout" Target="../slideLayouts/slideLayout2.xml"/><Relationship Id="Rc077274f36ff4b7a" Type="http://schemas.openxmlformats.org/officeDocument/2006/relationships/image" Target="../media/image17.png"/></Relationships>
</file>

<file path=ppt/slides/_rels/slide35.xml.rels><?xml version='1.0' encoding='UTF-8' standalone='yes'?>
<Relationships xmlns="http://schemas.openxmlformats.org/package/2006/relationships"><Relationship Id="R836acc5eaa1f4f71" Type="http://schemas.openxmlformats.org/officeDocument/2006/relationships/notesSlide" Target="../notesSlides/notesSlide35.xml"/><Relationship Id="Re86a49f8bbcd427d"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3f2742ae474d4a1b" Type="http://schemas.openxmlformats.org/officeDocument/2006/relationships/slideLayout" Target="../slideLayouts/slideLayout2.xml"/><Relationship Id="R6b90d07716564dfb"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2c4c8cc9b0764569" Type="http://schemas.openxmlformats.org/officeDocument/2006/relationships/slideLayout" Target="../slideLayouts/slideLayout2.xml"/><Relationship Id="Rba017b059d0f45b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38894443c38462e" Type="http://schemas.openxmlformats.org/officeDocument/2006/relationships/notesSlide" Target="../notesSlides/notesSlide38.xml"/><Relationship Id="R6ad100d0d2a34698"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c49d2e3823974507" Type="http://schemas.openxmlformats.org/officeDocument/2006/relationships/slideLayout" Target="../slideLayouts/slideLayout2.xml"/><Relationship Id="Re6e75690c7dd4b6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7cac3d9f6f1340ea" Type="http://schemas.openxmlformats.org/officeDocument/2006/relationships/slideLayout" Target="../slideLayouts/slideLayout2.xml"/><Relationship Id="Re16e703726fd4241"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a3ce876e2ab44825" Type="http://schemas.openxmlformats.org/officeDocument/2006/relationships/chart" Target="charts/chart1.xml"/><Relationship Id="Ra5242736065c4d02" Type="http://schemas.openxmlformats.org/officeDocument/2006/relationships/notesSlide" Target="../notesSlides/notesSlide41.xml"/><Relationship Id="Rba1a6c9ec1a14df3" Type="http://schemas.openxmlformats.org/officeDocument/2006/relationships/chart" Target="charts/chart2.xml"/><Relationship Id="Rbc58fd45ab274a49"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1be8b91914194d1b" Type="http://schemas.openxmlformats.org/officeDocument/2006/relationships/slideLayout" Target="../slideLayouts/slideLayout2.xml"/><Relationship Id="R2e2794eb945847a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a78369dd64004bcd" Type="http://schemas.openxmlformats.org/officeDocument/2006/relationships/notesSlide" Target="../notesSlides/notesSlide43.xml"/><Relationship Id="Reb9f35eb7a9b4272"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1045cdfd36734f84" Type="http://schemas.openxmlformats.org/officeDocument/2006/relationships/notesSlide" Target="../notesSlides/notesSlide44.xml"/><Relationship Id="R4756652ffcf94f4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18012be80b404ef9" Type="http://schemas.openxmlformats.org/officeDocument/2006/relationships/slideLayout" Target="../slideLayouts/slideLayout2.xml"/><Relationship Id="R604b72762a3f45ac"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04b216a3ee394ad5" Type="http://schemas.openxmlformats.org/officeDocument/2006/relationships/slideLayout" Target="../slideLayouts/slideLayout2.xml"/><Relationship Id="Rd31a02a93c76480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9ec99fec33ca4581" Type="http://schemas.openxmlformats.org/officeDocument/2006/relationships/notesSlide" Target="../notesSlides/notesSlide47.xml"/><Relationship Id="Rd271e03d68784e5d"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d4acb578ac9b44a6" Type="http://schemas.openxmlformats.org/officeDocument/2006/relationships/slideLayout" Target="../slideLayouts/slideLayout2.xml"/><Relationship Id="Re43772f2ea6244ab"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0f7c15dfc3c649f0" Type="http://schemas.openxmlformats.org/officeDocument/2006/relationships/slideLayout" Target="../slideLayouts/slideLayout2.xml"/><Relationship Id="R2fb54f8f3d824b1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1045f046114741f0" Type="http://schemas.openxmlformats.org/officeDocument/2006/relationships/notesSlide" Target="../notesSlides/notesSlide50.xml"/><Relationship Id="Rdf83a2223c2b4f89"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0a52545ca0884c1e" Type="http://schemas.openxmlformats.org/officeDocument/2006/relationships/chart" Target="charts/chart4.xml"/><Relationship Id="Rc100b9e1993d442d" Type="http://schemas.openxmlformats.org/officeDocument/2006/relationships/chart" Target="charts/chart3.xml"/><Relationship Id="Rda23a399db254025" Type="http://schemas.openxmlformats.org/officeDocument/2006/relationships/slideLayout" Target="../slideLayouts/slideLayout2.xml"/><Relationship Id="Re36f7db2c9d245a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ccc0da5f6d1b4185" Type="http://schemas.openxmlformats.org/officeDocument/2006/relationships/notesSlide" Target="../notesSlides/notesSlide52.xml"/><Relationship Id="Rebd1108b2f144df3" Type="http://schemas.openxmlformats.org/officeDocument/2006/relationships/slideLayout" Target="../slideLayouts/slideLayout2.xml"/></Relationships>
</file>

<file path=ppt/slides/charts/chart1.xml><?xml version="1.0" encoding="utf-8"?>
<c:chartSpace xmlns:c="http://schemas.openxmlformats.org/drawingml/2006/chart">
  <c:lang val="en-US"/>
  <c:roundedCorners val="0"/>
  <c:style val="2"/>
  <c:chart>
    <c:autoTitleDeleted val="1"/>
    <c:plotArea>
      <c:barChart>
        <c:barDir val="col"/>
        <c:grouping val="clustered"/>
        <c:varyColors val="0"/>
        <c:ser>
          <c:idx val="0"/>
          <c:order val="0"/>
          <c:tx>
            <c:strRef>
              <c:f>Sheet1!$B$1</c:f>
              <c:strCache>
                <c:ptCount val="1"/>
                <c:pt idx="0">
                  <c:v>Wtd MAE</c:v>
                </c:pt>
              </c:strCache>
            </c:strRef>
          </c:tx>
          <c:spPr>
            <a:solidFill xmlns:a="http://schemas.openxmlformats.org/drawingml/2006/main">
              <a:srgbClr val="D4A853"/>
            </a:solidFill>
          </c:spPr>
          <c:dPt>
            <c:idx val="1"/>
            <c:spPr>
              <a:solidFill xmlns:a="http://schemas.openxmlformats.org/drawingml/2006/main">
                <a:srgbClr val="0D7377"/>
              </a:solidFill>
            </c:spPr>
          </c:dPt>
          <c:dPt>
            <c:idx val="2"/>
            <c:spPr>
              <a:solidFill xmlns:a="http://schemas.openxmlformats.org/drawingml/2006/main">
                <a:srgbClr val="8AAAB5"/>
              </a:solidFill>
            </c:spPr>
          </c:dPt>
          <c:dPt>
            <c:idx val="3"/>
            <c:spPr>
              <a:solidFill xmlns:a="http://schemas.openxmlformats.org/drawingml/2006/main">
                <a:srgbClr val="8AAAB5"/>
              </a:solidFill>
            </c:spPr>
          </c:dPt>
          <c:dPt>
            <c:idx val="4"/>
            <c:spPr>
              <a:solidFill xmlns:a="http://schemas.openxmlformats.org/drawingml/2006/main">
                <a:srgbClr val="B03A2E"/>
              </a:solidFill>
            </c:spPr>
          </c:dPt>
          <c:dPt>
            <c:idx val="5"/>
            <c:spPr>
              <a:solidFill xmlns:a="http://schemas.openxmlformats.org/drawingml/2006/main">
                <a:srgbClr val="8B2222"/>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800" b="0" i="0" u="non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2"/>
        <c:crosses val="autoZero"/>
        <c:lblAlgn val="ctr"/>
        <c:lblOffset val="100"/>
        <c:noMultiLvlLbl val="0"/>
      </c:catAx>
      <c:valAx>
        <c:axId val="2094734552"/>
        <c:scaling>
          <c:orientation val="minMax"/>
          <c:max val="310"/>
          <c:min val="15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AFE"/>
    </a:solidFill>
    <a:ln xmlns:a="http://schemas.openxmlformats.org/drawingml/2006/main">
      <a:noFill/>
    </a:ln>
  </c:spPr>
</c:chartSpace>
</file>

<file path=ppt/slides/charts/chart2.xml><?xml version="1.0" encoding="utf-8"?>
<c:chartSpace xmlns:c="http://schemas.openxmlformats.org/drawingml/2006/chart">
  <c:lang val="en-US"/>
  <c:roundedCorners val="0"/>
  <c:style val="2"/>
  <c:chart>
    <c:autoTitleDeleted val="1"/>
    <c:plotArea>
      <c:barChart>
        <c:barDir val="col"/>
        <c:grouping val="clustered"/>
        <c:varyColors val="0"/>
        <c:ser>
          <c:idx val="0"/>
          <c:order val="0"/>
          <c:tx>
            <c:strRef>
              <c:f>Sheet1!$B$1</c:f>
              <c:strCache>
                <c:ptCount val="1"/>
                <c:pt idx="0">
                  <c:v>Wtd MAE</c:v>
                </c:pt>
              </c:strCache>
            </c:strRef>
          </c:tx>
          <c:spPr>
            <a:solidFill xmlns:a="http://schemas.openxmlformats.org/drawingml/2006/main">
              <a:srgbClr val="D4A853"/>
            </a:solidFill>
          </c:spPr>
          <c:dPt>
            <c:idx val="1"/>
            <c:spPr>
              <a:solidFill xmlns:a="http://schemas.openxmlformats.org/drawingml/2006/main">
                <a:srgbClr val="0D7377"/>
              </a:solidFill>
            </c:spPr>
          </c:dPt>
          <c:dPt>
            <c:idx val="2"/>
            <c:spPr>
              <a:solidFill xmlns:a="http://schemas.openxmlformats.org/drawingml/2006/main">
                <a:srgbClr val="8AAAB5"/>
              </a:solidFill>
            </c:spPr>
          </c:dPt>
          <c:dPt>
            <c:idx val="3"/>
            <c:spPr>
              <a:solidFill xmlns:a="http://schemas.openxmlformats.org/drawingml/2006/main">
                <a:srgbClr val="8AAAB5"/>
              </a:solidFill>
            </c:spPr>
          </c:dPt>
          <c:dPt>
            <c:idx val="4"/>
            <c:spPr>
              <a:solidFill xmlns:a="http://schemas.openxmlformats.org/drawingml/2006/main">
                <a:srgbClr val="B03A2E"/>
              </a:solidFill>
            </c:spPr>
          </c:dPt>
          <c:dPt>
            <c:idx val="5"/>
            <c:spPr>
              <a:solidFill xmlns:a="http://schemas.openxmlformats.org/drawingml/2006/main">
                <a:srgbClr val="8B2222"/>
              </a:solidFill>
            </c:spPr>
          </c:dPt>
          <c:dPt>
            <c:idx val="6"/>
            <c:spPr>
              <a:solidFill xmlns:a="http://schemas.openxmlformats.org/drawingml/2006/main">
                <a:srgbClr val="8B2222"/>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800" b="0" i="0" u="none">
                    <a:solidFill>
                      <a:srgbClr val="000000"/>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2"/>
        <c:crosses val="autoZero"/>
        <c:lblAlgn val="ctr"/>
        <c:lblOffset val="100"/>
        <c:noMultiLvlLbl val="0"/>
      </c:catAx>
      <c:valAx>
        <c:axId val="2094734552"/>
        <c:scaling>
          <c:orientation val="minMax"/>
          <c:max val="560"/>
          <c:min val="100"/>
        </c:scaling>
        <c:delete val="0"/>
        <c:axPos val="l"/>
        <c:majorGridlines>
          <c:spPr>
            <a:ln xmlns:a="http://schemas.openxmlformats.org/drawingml/2006/main" w="6350">
              <a:solidFill>
                <a:srgbClr val="E2E8F0"/>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64748B"/>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AFE"/>
    </a:solidFill>
    <a:ln xmlns:a="http://schemas.openxmlformats.org/drawingml/2006/main">
      <a:noFill/>
    </a:ln>
  </c:spPr>
</c:chartSpace>
</file>

<file path=ppt/slides/charts/chart3.xml><?xml version="1.0" encoding="utf-8"?>
<c:chartSpace xmlns:c="http://schemas.openxmlformats.org/drawingml/2006/chart">
  <c:lang val="en-US"/>
  <c:roundedCorners val="1"/>
  <c:style val="2"/>
  <c:chart>
    <c:autoTitleDeleted val="1"/>
    <c:plotArea>
      <c:barChart>
        <c:barDir val="bar"/>
        <c:grouping val="clustered"/>
        <c:varyColors val="0"/>
        <c:ser>
          <c:idx val="0"/>
          <c:order val="0"/>
          <c:tx>
            <c:strRef>
              <c:f>Sheet1!$B$1</c:f>
              <c:strCache>
                <c:ptCount val="1"/>
                <c:pt idx="0">
                  <c:v>Weighted MAE (mhl)</c:v>
                </c:pt>
              </c:strCache>
            </c:strRef>
          </c:tx>
          <c:spPr>
            <a:solidFill xmlns:a="http://schemas.openxmlformats.org/drawingml/2006/main">
              <a:srgbClr val="6B2737"/>
            </a:solidFill>
          </c:spPr>
          <c:dPt>
            <c:idx val="1"/>
            <c:spPr>
              <a:solidFill xmlns:a="http://schemas.openxmlformats.org/drawingml/2006/main">
                <a:srgbClr val="9A8E8B"/>
              </a:solidFill>
            </c:spPr>
          </c:dPt>
          <c:dPt>
            <c:idx val="2"/>
            <c:spPr>
              <a:solidFill xmlns:a="http://schemas.openxmlformats.org/drawingml/2006/main">
                <a:srgbClr val="9A8E8B"/>
              </a:solidFill>
            </c:spPr>
          </c:dPt>
          <c:dPt>
            <c:idx val="3"/>
            <c:spPr>
              <a:solidFill xmlns:a="http://schemas.openxmlformats.org/drawingml/2006/main">
                <a:srgbClr val="9A8E8B"/>
              </a:solidFill>
            </c:spPr>
          </c:dPt>
          <c:dPt>
            <c:idx val="4"/>
            <c:spPr>
              <a:solidFill xmlns:a="http://schemas.openxmlformats.org/drawingml/2006/main">
                <a:srgbClr val="9A8E8B"/>
              </a:solidFill>
            </c:spPr>
          </c:dPt>
          <c:dPt>
            <c:idx val="5"/>
            <c:spPr>
              <a:solidFill xmlns:a="http://schemas.openxmlformats.org/drawingml/2006/main">
                <a:srgbClr val="B74A4A"/>
              </a:solidFill>
            </c:spPr>
          </c:dPt>
          <c:dPt>
            <c:idx val="6"/>
            <c:spPr>
              <a:solidFill xmlns:a="http://schemas.openxmlformats.org/drawingml/2006/main">
                <a:srgbClr val="B74A4A"/>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279.4</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crossAx val="2094734552"/>
        <c:crosses val="autoZero"/>
        <c:lblAlgn val="ctr"/>
        <c:lblOffset val="100"/>
        <c:noMultiLvlLbl val="0"/>
      </c:catAx>
      <c:valAx>
        <c:axId val="2094734552"/>
        <c:scaling>
          <c:orientation val="minMax"/>
          <c:min val="160"/>
        </c:scaling>
        <c:delete val="0"/>
        <c:axPos val="b"/>
        <c:majorGridlines>
          <c:spPr>
            <a:ln xmlns:a="http://schemas.openxmlformats.org/drawingml/2006/main" w="6350">
              <a:solidFill>
                <a:srgbClr val="D4CACA"/>
              </a:solidFill>
              <a:prstDash val="solid"/>
            </a:ln>
          </c:spPr>
        </c:majorGridlines>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4042"/>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2EA"/>
    </a:solidFill>
    <a:ln xmlns:a="http://schemas.openxmlformats.org/drawingml/2006/main">
      <a:noFill/>
    </a:ln>
  </c:spPr>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strRef>
              <c:f>Sheet1!$B$1</c:f>
              <c:strCache>
                <c:ptCount val="1"/>
                <c:pt idx="0">
                  <c:v>Weighted MAE (mhl)</c:v>
                </c:pt>
              </c:strCache>
            </c:strRef>
          </c:tx>
          <c:spPr>
            <a:solidFill xmlns:a="http://schemas.openxmlformats.org/drawingml/2006/main">
              <a:srgbClr val="2A7F7F"/>
            </a:solidFill>
          </c:spPr>
          <c:dPt>
            <c:idx val="1"/>
            <c:spPr>
              <a:solidFill xmlns:a="http://schemas.openxmlformats.org/drawingml/2006/main">
                <a:srgbClr val="9A8E8B"/>
              </a:solidFill>
            </c:spPr>
          </c:dPt>
          <c:dPt>
            <c:idx val="2"/>
            <c:spPr>
              <a:solidFill xmlns:a="http://schemas.openxmlformats.org/drawingml/2006/main">
                <a:srgbClr val="9A8E8B"/>
              </a:solidFill>
            </c:spPr>
          </c:dPt>
          <c:dPt>
            <c:idx val="3"/>
            <c:spPr>
              <a:solidFill xmlns:a="http://schemas.openxmlformats.org/drawingml/2006/main">
                <a:srgbClr val="9A8E8B"/>
              </a:solidFill>
            </c:spPr>
          </c:dPt>
          <c:dPt>
            <c:idx val="4"/>
            <c:spPr>
              <a:solidFill xmlns:a="http://schemas.openxmlformats.org/drawingml/2006/main">
                <a:srgbClr val="9A8E8B"/>
              </a:solidFill>
            </c:spPr>
          </c:dPt>
          <c:dPt>
            <c:idx val="5"/>
            <c:spPr>
              <a:solidFill xmlns:a="http://schemas.openxmlformats.org/drawingml/2006/main">
                <a:srgbClr val="B74A4A"/>
              </a:solidFill>
            </c:spPr>
          </c:dPt>
          <c:dPt>
            <c:idx val="6"/>
            <c:spPr>
              <a:solidFill xmlns:a="http://schemas.openxmlformats.org/drawingml/2006/main">
                <a:srgbClr val="B74A4A"/>
              </a:solidFill>
            </c:spPr>
          </c:dPt>
          <c:dLbls>
            <c:numFmt formatCode="#,##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c:v>
                </c:pt>
                <c:pt idx="2">
                  <c:v>170.5</c:v>
                </c:pt>
                <c:pt idx="3">
                  <c:v>171.6</c:v>
                </c:pt>
                <c:pt idx="4">
                  <c:v>267.5</c:v>
                </c:pt>
                <c:pt idx="5">
                  <c:v>479.3</c:v>
                </c:pt>
                <c:pt idx="6">
                  <c:v>508.2</c:v>
                </c:pt>
              </c:numCache>
            </c:numRef>
          </c:val>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1C1214"/>
                </a:solidFill>
                <a:latin typeface="Arial"/>
                <a:ea typeface="Arial"/>
                <a:cs typeface="Arial"/>
              </a:defRPr>
            </a:pPr>
          </a:p>
        </c:txPr>
        <c:crossAx val="2094734552"/>
        <c:crosses val="autoZero"/>
        <c:lblAlgn val="ctr"/>
        <c:lblOffset val="100"/>
        <c:noMultiLvlLbl val="0"/>
      </c:catAx>
      <c:valAx>
        <c:axId val="2094734552"/>
        <c:scaling>
          <c:orientation val="minMax"/>
          <c:min val="100"/>
        </c:scaling>
        <c:delete val="0"/>
        <c:axPos val="b"/>
        <c:majorGridlines>
          <c:spPr>
            <a:ln xmlns:a="http://schemas.openxmlformats.org/drawingml/2006/main" w="6350">
              <a:solidFill>
                <a:srgbClr val="D4CACA"/>
              </a:solidFill>
              <a:prstDash val="solid"/>
            </a:ln>
          </c:spPr>
        </c:majorGridlines>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4042"/>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solidFill xmlns:a="http://schemas.openxmlformats.org/drawingml/2006/main">
      <a:srgbClr val="F8F2EA"/>
    </a:solidFill>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2" name="Rectangle 151"/>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1" name="Rectangle 150"/>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0" name="Rectangle 149"/>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9" name="Rectangle 148"/>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8" name="Rectangle 147"/>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7" name="Rectangle 146"/>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6" name="Rectangle 145"/>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5" name="Rectangle 144"/>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2095111" y="2057011"/>
            <a:ext cx="723900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MASTER'S DISSERTATION · FEUP · 2026</a:t>
            </a:r>
          </a:p>
        </p:txBody>
      </p:sp>
      <p:sp>
        <p:nvSpPr>
          <p:cNvPr id="2" name="Rectangle 1">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2095112" y="2684708"/>
            <a:ext cx="5695950" cy="2706053"/>
          </a:xfrm>
          <a:prstGeom xmlns:a="http://schemas.openxmlformats.org/drawingml/2006/main" prst="rect">
            <a:avLst/>
          </a:prstGeom>
        </p:spPr>
        <p:txBody>
          <a:bodyPr xmlns:a="http://schemas.openxmlformats.org/drawingml/2006/main" lIns="0" tIns="0" rIns="0" bIns="0" anchor="b">
            <a:normAutofit fontScale="92500"/>
          </a:bodyPr>
          <a:lstStyle xmlns:a="http://schemas.openxmlformats.org/drawingml/2006/main"/>
          <a:p xmlns:a="http://schemas.openxmlformats.org/drawingml/2006/main">
            <a:pPr algn="l">
              <a:buNone/>
              <a:defRPr sz="5400" b="1">
                <a:solidFill>
                  <a:srgbClr val="151515"/>
                </a:solidFill>
                <a:latin typeface="Arial"/>
                <a:ea typeface="Arial"/>
                <a:cs typeface="Arial"/>
              </a:defRPr>
            </a:pPr>
            <a:r>
              <a:t>Wine production forecasting with interpretable rules</a:t>
            </a:r>
          </a:p>
        </p:txBody>
      </p:sp>
      <p:sp>
        <p:nvSpPr>
          <p:cNvPr id="3" name="Rectangle 2">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2095111" y="5790811"/>
            <a:ext cx="8096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0">
                <a:solidFill>
                  <a:srgbClr val="60656C"/>
                </a:solidFill>
                <a:latin typeface="Arial"/>
                <a:ea typeface="Arial"/>
                <a:cs typeface="Arial"/>
              </a:defRPr>
            </a:pPr>
            <a:r>
              <a:t>What can climate explain — and what can it reliably predict?</a:t>
            </a:r>
          </a:p>
        </p:txBody>
      </p:sp>
      <p:cxnSp>
        <p:nvCxnSpPr>
          <p:cNvPr id="140" name="Straight Arrow Connector 134"/>
          <p:cNvCxnSpPr/>
          <p:nvPr/>
        </p:nvCxnSpPr>
        <p:spPr>
          <a:xfrm xmlns:a="http://schemas.openxmlformats.org/drawingml/2006/main">
            <a:off x="2095111" y="6743311"/>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Rectangle 4">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2095111" y="7048111"/>
            <a:ext cx="495300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Hugo Filipe Queiróz Nogueira</a:t>
            </a:r>
          </a:p>
        </p:txBody>
      </p:sp>
      <p:sp>
        <p:nvSpPr>
          <p:cNvPr id="6" name="Rectangle 5">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2095111" y="7448161"/>
            <a:ext cx="7429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0">
                <a:solidFill>
                  <a:srgbClr val="60656C"/>
                </a:solidFill>
                <a:latin typeface="Arial"/>
                <a:ea typeface="Arial"/>
                <a:cs typeface="Arial"/>
              </a:defRPr>
            </a:pPr>
            <a:r>
              <a:t>Supervisors: João Mendes Moreira · Mário Campos Cunha</a:t>
            </a:r>
          </a:p>
        </p:txBody>
      </p:sp>
      <p:sp>
        <p:nvSpPr>
          <p:cNvPr id="7" name="Rectangle 6">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01</a:t>
            </a:r>
          </a:p>
        </p:txBody>
      </p:sp>
      <p:pic>
        <p:nvPicPr>
          <p:cNvPr id="144" name="Picture 10"/>
          <p:cNvPicPr>
            <a:picLocks xmlns:a="http://schemas.openxmlformats.org/drawingml/2006/main" noChangeAspect="1"/>
          </p:cNvPicPr>
          <p:nvPr/>
        </p:nvPicPr>
        <p:blipFill>
          <a:blip xmlns:r="http://schemas.openxmlformats.org/officeDocument/2006/relationships" xmlns:a="http://schemas.openxmlformats.org/drawingml/2006/main" r:embed="R0e79d88767dd478c"/>
          <a:stretch xmlns:a="http://schemas.openxmlformats.org/drawingml/2006/main">
            <a:fillRect l="0" t="0" r="0" b="0"/>
          </a:stretch>
        </p:blipFill>
        <p:spPr>
          <a:xfrm xmlns:a="http://schemas.openxmlformats.org/drawingml/2006/main">
            <a:off x="10283848" y="2684708"/>
            <a:ext cx="3036604" cy="3496420"/>
          </a:xfrm>
          <a:prstGeom xmlns:a="http://schemas.openxmlformats.org/drawingml/2006/main" prst="roundRect">
            <a:avLst>
              <a:gd name="adj" fmla="val 4167"/>
            </a:avLst>
          </a:prstGeom>
          <a:ln xmlns:a="http://schemas.openxmlformats.org/drawingml/2006/main" w="76200" cap="sq">
            <a:solidFill>
              <a:srgbClr val="292929"/>
            </a:solidFill>
            <a:miter/>
          </a:ln>
          <a:effectLst xmlns:a="http://schemas.openxmlformats.org/drawingml/2006/main">
            <a:reflection blurRad="12700" stA="28000" endPos="28000" dist="5000" dir="5400000" sy="-100000" algn="bl" rotWithShape="0"/>
          </a:effectLst>
        </p:spPr>
      </p:pic>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85" name="Rectangle 28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4" name="Rectangle 28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3" name="Rectangle 28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2" name="Rectangle 28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1" name="Rectangle 28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0" name="Rectangle 27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9" name="Rectangle 27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8" name="Rectangle 27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CONTEXT</a:t>
            </a:r>
          </a:p>
        </p:txBody>
      </p:sp>
      <p:sp>
        <p:nvSpPr>
          <p:cNvPr id="2" name="Rectangle 1">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business question is a decision question</a:t>
            </a:r>
          </a:p>
        </p:txBody>
      </p:sp>
      <p:sp>
        <p:nvSpPr>
          <p:cNvPr id="3" name="Rectangle 2">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02</a:t>
            </a:r>
          </a:p>
        </p:txBody>
      </p:sp>
      <p:sp>
        <p:nvSpPr>
          <p:cNvPr id="4" name="Rectangle 3">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2095111" y="3314311"/>
            <a:ext cx="7143750" cy="1809750"/>
          </a:xfrm>
          <a:prstGeom xmlns:a="http://schemas.openxmlformats.org/drawingml/2006/main" prst="rect">
            <a:avLst/>
          </a:prstGeom>
        </p:spPr>
        <p:txBody>
          <a:bodyPr xmlns:a="http://schemas.openxmlformats.org/drawingml/2006/main" lIns="0" tIns="0" rIns="0" bIns="0" anchor="t">
            <a:normAutofit fontScale="94246" lnSpcReduction="1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9791311" y="3266686"/>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10124686" y="3552436"/>
            <a:ext cx="2667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7B1E3A"/>
                </a:solidFill>
                <a:latin typeface="Arial"/>
                <a:ea typeface="Arial"/>
                <a:cs typeface="Arial"/>
              </a:defRPr>
            </a:pPr>
            <a:r>
              <a:t>Who uses the answer</a:t>
            </a:r>
          </a:p>
        </p:txBody>
      </p:sp>
      <p:sp>
        <p:nvSpPr>
          <p:cNvPr id="7" name="Rectangle 6">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10124686" y="4076311"/>
            <a:ext cx="2667000" cy="1190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Producers and cooperatives
Regulatory bodies
Supply-chain planners</a:t>
            </a:r>
          </a:p>
        </p:txBody>
      </p:sp>
      <p:cxnSp>
        <p:nvCxnSpPr>
          <p:cNvPr id="277" name="Straight Arrow Connector 268"/>
          <p:cNvCxnSpPr/>
          <p:nvPr/>
        </p:nvCxnSpPr>
        <p:spPr>
          <a:xfrm xmlns:a="http://schemas.openxmlformats.org/drawingml/2006/main">
            <a:off x="10124686" y="5476486"/>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10124686" y="5743186"/>
            <a:ext cx="2667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7B1E3A"/>
                </a:solidFill>
                <a:latin typeface="Arial"/>
                <a:ea typeface="Arial"/>
                <a:cs typeface="Arial"/>
              </a:defRPr>
            </a:pPr>
            <a:r>
              <a:t>Decisions affected</a:t>
            </a:r>
          </a:p>
        </p:txBody>
      </p:sp>
      <p:sp>
        <p:nvSpPr>
          <p:cNvPr id="10" name="Rectangle 9">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10124686" y="6267061"/>
            <a:ext cx="2667000" cy="1190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Harvest planning
Storage and capacity
Risk assessment</a:t>
            </a:r>
          </a:p>
        </p:txBody>
      </p:sp>
      <p:sp>
        <p:nvSpPr>
          <p:cNvPr id="11" name="Rectangle 10">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2095111" y="6505186"/>
            <a:ext cx="6858000" cy="514350"/>
          </a:xfrm>
          <a:prstGeom xmlns:a="http://schemas.openxmlformats.org/drawingml/2006/main" prst="rect">
            <a:avLst/>
          </a:prstGeom>
        </p:spPr>
        <p:txBody>
          <a:bodyPr xmlns:a="http://schemas.openxmlformats.org/drawingml/2006/main" lIns="0" tIns="0" rIns="0" bIns="0" anchor="t">
            <a:normAutofit fontScale="85625"/>
          </a:bodyPr>
          <a:lstStyle xmlns:a="http://schemas.openxmlformats.org/drawingml/2006/main"/>
          <a:p xmlns:a="http://schemas.openxmlformats.org/drawingml/2006/main">
            <a:pPr algn="l">
              <a:buNone/>
              <a:defRPr sz="2250" b="1">
                <a:solidFill>
                  <a:srgbClr val="7B1E3A"/>
                </a:solidFill>
                <a:latin typeface="Arial"/>
                <a:ea typeface="Arial"/>
                <a:cs typeface="Arial"/>
              </a:defRPr>
            </a:pPr>
            <a:r>
              <a:t>A useful model must add accuracy and preserve trust.</a:t>
            </a:r>
          </a:p>
        </p:txBody>
      </p:sp>
      <p:sp>
        <p:nvSpPr>
          <p:cNvPr id="12" name="Rectangle 11">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2095111" y="7171936"/>
            <a:ext cx="666750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6" name="Rectangle 4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white-background">
            <a:extLst xmlns:a="http://schemas.openxmlformats.org/drawingml/2006/main">
              <a:ext uri="{FF2B5EF4-FFF2-40B4-BE49-F238E27FC236}">
                <a16:creationId xmlns:a16="http://schemas.microsoft.com/office/drawing/2014/main" id="{8191A2E2-1C5F-4E23-9595-BFFBB831DFD7}"/>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4A4BD214-BDF3-4D1A-ACEE-97713EE1D52D}"/>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xmlns:a="http://schemas.openxmlformats.org/drawingml/2006/main">
              <a:ext uri="{FF2B5EF4-FFF2-40B4-BE49-F238E27FC236}">
                <a16:creationId xmlns:a16="http://schemas.microsoft.com/office/drawing/2014/main" id="{36FB7E76-8173-490E-8DC3-AA953BB870B2}"/>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xmlns:a="http://schemas.openxmlformats.org/drawingml/2006/main">
              <a:ext uri="{FF2B5EF4-FFF2-40B4-BE49-F238E27FC236}">
                <a16:creationId xmlns:a16="http://schemas.microsoft.com/office/drawing/2014/main" id="{D77A0810-E48F-4C7F-951D-98AB1B9564E7}"/>
              </a:ext>
            </a:extLst>
          </p:cNvPr>
          <p:cNvSpPr>
            <a:spLocks xmlns:a="http://schemas.openxmlformats.org/drawingml/2006/main" noGrp="1"/>
          </p:cNvSpPr>
          <p:nvPr/>
        </p:nvSpPr>
        <p:spPr>
          <a:xfrm xmlns:a="http://schemas.openxmlformats.org/drawingml/2006/main">
            <a:off x="2095111" y="3266686"/>
            <a:ext cx="5286375" cy="1619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gap-stripe">
            <a:extLst xmlns:a="http://schemas.openxmlformats.org/drawingml/2006/main">
              <a:ext uri="{FF2B5EF4-FFF2-40B4-BE49-F238E27FC236}">
                <a16:creationId xmlns:a16="http://schemas.microsoft.com/office/drawing/2014/main" id="{790A3E25-2C06-46A5-811C-4128039E70E0}"/>
              </a:ext>
            </a:extLst>
          </p:cNvPr>
          <p:cNvSpPr>
            <a:spLocks xmlns:a="http://schemas.openxmlformats.org/drawingml/2006/main" noGrp="1"/>
          </p:cNvSpPr>
          <p:nvPr/>
        </p:nvSpPr>
        <p:spPr>
          <a:xfrm xmlns:a="http://schemas.openxmlformats.org/drawingml/2006/main">
            <a:off x="2095111" y="3266686"/>
            <a:ext cx="76200" cy="1619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gap-title">
            <a:extLst xmlns:a="http://schemas.openxmlformats.org/drawingml/2006/main">
              <a:ext uri="{FF2B5EF4-FFF2-40B4-BE49-F238E27FC236}">
                <a16:creationId xmlns:a16="http://schemas.microsoft.com/office/drawing/2014/main" id="{CEC84097-32CE-4459-A681-5DA46251C78D}"/>
              </a:ext>
            </a:extLst>
          </p:cNvPr>
          <p:cNvSpPr>
            <a:spLocks xmlns:a="http://schemas.openxmlformats.org/drawingml/2006/main" noGrp="1"/>
          </p:cNvSpPr>
          <p:nvPr/>
        </p:nvSpPr>
        <p:spPr>
          <a:xfrm xmlns:a="http://schemas.openxmlformats.org/drawingml/2006/main">
            <a:off x="2361811" y="3485761"/>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xmlns:a="http://schemas.openxmlformats.org/drawingml/2006/main">
              <a:ext uri="{FF2B5EF4-FFF2-40B4-BE49-F238E27FC236}">
                <a16:creationId xmlns:a16="http://schemas.microsoft.com/office/drawing/2014/main" id="{31D6C479-90F0-4AE9-9C92-942A7BF4D96C}"/>
              </a:ext>
            </a:extLst>
          </p:cNvPr>
          <p:cNvSpPr>
            <a:spLocks xmlns:a="http://schemas.openxmlformats.org/drawingml/2006/main" noGrp="1"/>
          </p:cNvSpPr>
          <p:nvPr/>
        </p:nvSpPr>
        <p:spPr>
          <a:xfrm xmlns:a="http://schemas.openxmlformats.org/drawingml/2006/main">
            <a:off x="2361811" y="3981061"/>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xmlns:a="http://schemas.openxmlformats.org/drawingml/2006/main">
              <a:ext uri="{FF2B5EF4-FFF2-40B4-BE49-F238E27FC236}">
                <a16:creationId xmlns:a16="http://schemas.microsoft.com/office/drawing/2014/main" id="{3A28869A-E8C4-488B-B71B-0D3CDF960E51}"/>
              </a:ext>
            </a:extLst>
          </p:cNvPr>
          <p:cNvSpPr>
            <a:spLocks xmlns:a="http://schemas.openxmlformats.org/drawingml/2006/main" noGrp="1"/>
          </p:cNvSpPr>
          <p:nvPr/>
        </p:nvSpPr>
        <p:spPr>
          <a:xfrm xmlns:a="http://schemas.openxmlformats.org/drawingml/2006/main">
            <a:off x="7810111" y="3266686"/>
            <a:ext cx="5667375" cy="16192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ule-stripe">
            <a:extLst xmlns:a="http://schemas.openxmlformats.org/drawingml/2006/main">
              <a:ext uri="{FF2B5EF4-FFF2-40B4-BE49-F238E27FC236}">
                <a16:creationId xmlns:a16="http://schemas.microsoft.com/office/drawing/2014/main" id="{D0F61BE2-DEE5-4F30-9CEC-81DBA6836FDD}"/>
              </a:ext>
            </a:extLst>
          </p:cNvPr>
          <p:cNvSpPr>
            <a:spLocks xmlns:a="http://schemas.openxmlformats.org/drawingml/2006/main" noGrp="1"/>
          </p:cNvSpPr>
          <p:nvPr/>
        </p:nvSpPr>
        <p:spPr>
          <a:xfrm xmlns:a="http://schemas.openxmlformats.org/drawingml/2006/main">
            <a:off x="7810111" y="3266686"/>
            <a:ext cx="76200" cy="16192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ule-title">
            <a:extLst xmlns:a="http://schemas.openxmlformats.org/drawingml/2006/main">
              <a:ext uri="{FF2B5EF4-FFF2-40B4-BE49-F238E27FC236}">
                <a16:creationId xmlns:a16="http://schemas.microsoft.com/office/drawing/2014/main" id="{DB90714C-C28C-4644-BEF2-BAB5C9E5A66E}"/>
              </a:ext>
            </a:extLst>
          </p:cNvPr>
          <p:cNvSpPr>
            <a:spLocks xmlns:a="http://schemas.openxmlformats.org/drawingml/2006/main" noGrp="1"/>
          </p:cNvSpPr>
          <p:nvPr/>
        </p:nvSpPr>
        <p:spPr>
          <a:xfrm xmlns:a="http://schemas.openxmlformats.org/drawingml/2006/main">
            <a:off x="8076811" y="3485761"/>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xmlns:a="http://schemas.openxmlformats.org/drawingml/2006/main">
              <a:ext uri="{FF2B5EF4-FFF2-40B4-BE49-F238E27FC236}">
                <a16:creationId xmlns:a16="http://schemas.microsoft.com/office/drawing/2014/main" id="{32801C43-2240-4ACD-93BA-16FF531F3AB9}"/>
              </a:ext>
            </a:extLst>
          </p:cNvPr>
          <p:cNvSpPr>
            <a:spLocks xmlns:a="http://schemas.openxmlformats.org/drawingml/2006/main" noGrp="1"/>
          </p:cNvSpPr>
          <p:nvPr/>
        </p:nvSpPr>
        <p:spPr>
          <a:xfrm xmlns:a="http://schemas.openxmlformats.org/drawingml/2006/main">
            <a:off x="8076811" y="3885811"/>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xmlns:a="http://schemas.openxmlformats.org/drawingml/2006/main">
              <a:ext uri="{FF2B5EF4-FFF2-40B4-BE49-F238E27FC236}">
                <a16:creationId xmlns:a16="http://schemas.microsoft.com/office/drawing/2014/main" id="{A962D9F2-EE8C-4A0F-B89A-EB27119CE4F5}"/>
              </a:ext>
            </a:extLst>
          </p:cNvPr>
          <p:cNvSpPr>
            <a:spLocks xmlns:a="http://schemas.openxmlformats.org/drawingml/2006/main" noGrp="1"/>
          </p:cNvSpPr>
          <p:nvPr/>
        </p:nvSpPr>
        <p:spPr>
          <a:xfrm xmlns:a="http://schemas.openxmlformats.org/drawingml/2006/main">
            <a:off x="2095111" y="5266936"/>
            <a:ext cx="5286375" cy="20002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properties-stripe">
            <a:extLst xmlns:a="http://schemas.openxmlformats.org/drawingml/2006/main">
              <a:ext uri="{FF2B5EF4-FFF2-40B4-BE49-F238E27FC236}">
                <a16:creationId xmlns:a16="http://schemas.microsoft.com/office/drawing/2014/main" id="{77E43754-E203-491D-921A-6B9BF8ABDFD1}"/>
              </a:ext>
            </a:extLst>
          </p:cNvPr>
          <p:cNvSpPr>
            <a:spLocks xmlns:a="http://schemas.openxmlformats.org/drawingml/2006/main" noGrp="1"/>
          </p:cNvSpPr>
          <p:nvPr/>
        </p:nvSpPr>
        <p:spPr>
          <a:xfrm xmlns:a="http://schemas.openxmlformats.org/drawingml/2006/main">
            <a:off x="2095111" y="5266936"/>
            <a:ext cx="76200" cy="2000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properties-title">
            <a:extLst xmlns:a="http://schemas.openxmlformats.org/drawingml/2006/main">
              <a:ext uri="{FF2B5EF4-FFF2-40B4-BE49-F238E27FC236}">
                <a16:creationId xmlns:a16="http://schemas.microsoft.com/office/drawing/2014/main" id="{4FC8F8CC-39AE-4591-92E1-D2CB07FAE1CF}"/>
              </a:ext>
            </a:extLst>
          </p:cNvPr>
          <p:cNvSpPr>
            <a:spLocks xmlns:a="http://schemas.openxmlformats.org/drawingml/2006/main" noGrp="1"/>
          </p:cNvSpPr>
          <p:nvPr/>
        </p:nvSpPr>
        <p:spPr>
          <a:xfrm xmlns:a="http://schemas.openxmlformats.org/drawingml/2006/main">
            <a:off x="2361811" y="5486011"/>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xmlns:a="http://schemas.openxmlformats.org/drawingml/2006/main">
              <a:ext uri="{FF2B5EF4-FFF2-40B4-BE49-F238E27FC236}">
                <a16:creationId xmlns:a16="http://schemas.microsoft.com/office/drawing/2014/main" id="{8A5DBD53-D4C9-4EB0-AC3D-A071893A0DE6}"/>
              </a:ext>
            </a:extLst>
          </p:cNvPr>
          <p:cNvSpPr>
            <a:spLocks xmlns:a="http://schemas.openxmlformats.org/drawingml/2006/main" noGrp="1"/>
          </p:cNvSpPr>
          <p:nvPr/>
        </p:nvSpPr>
        <p:spPr>
          <a:xfrm xmlns:a="http://schemas.openxmlformats.org/drawingml/2006/main">
            <a:off x="2361811" y="5867011"/>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xmlns:a="http://schemas.openxmlformats.org/drawingml/2006/main">
              <a:ext uri="{FF2B5EF4-FFF2-40B4-BE49-F238E27FC236}">
                <a16:creationId xmlns:a16="http://schemas.microsoft.com/office/drawing/2014/main" id="{605E9160-13F2-40B1-B96F-21DEDFF435D9}"/>
              </a:ext>
            </a:extLst>
          </p:cNvPr>
          <p:cNvSpPr>
            <a:spLocks xmlns:a="http://schemas.openxmlformats.org/drawingml/2006/main" noGrp="1"/>
          </p:cNvSpPr>
          <p:nvPr/>
        </p:nvSpPr>
        <p:spPr>
          <a:xfrm xmlns:a="http://schemas.openxmlformats.org/drawingml/2006/main">
            <a:off x="4266811" y="5867011"/>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xmlns:a="http://schemas.openxmlformats.org/drawingml/2006/main">
              <a:ext uri="{FF2B5EF4-FFF2-40B4-BE49-F238E27FC236}">
                <a16:creationId xmlns:a16="http://schemas.microsoft.com/office/drawing/2014/main" id="{A22FAC11-43E8-4CEC-8C8E-E9B63F35AE3E}"/>
              </a:ext>
            </a:extLst>
          </p:cNvPr>
          <p:cNvSpPr>
            <a:spLocks xmlns:a="http://schemas.openxmlformats.org/drawingml/2006/main" noGrp="1"/>
          </p:cNvSpPr>
          <p:nvPr/>
        </p:nvSpPr>
        <p:spPr>
          <a:xfrm xmlns:a="http://schemas.openxmlformats.org/drawingml/2006/main">
            <a:off x="5409811" y="5867011"/>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xmlns:a="http://schemas.openxmlformats.org/drawingml/2006/main">
              <a:ext uri="{FF2B5EF4-FFF2-40B4-BE49-F238E27FC236}">
                <a16:creationId xmlns:a16="http://schemas.microsoft.com/office/drawing/2014/main" id="{7C4A4A25-D213-45F9-B4D7-1F9776BB1967}"/>
              </a:ext>
            </a:extLst>
          </p:cNvPr>
          <p:cNvSpPr>
            <a:spLocks xmlns:a="http://schemas.openxmlformats.org/drawingml/2006/main" noGrp="1"/>
          </p:cNvSpPr>
          <p:nvPr/>
        </p:nvSpPr>
        <p:spPr>
          <a:xfrm xmlns:a="http://schemas.openxmlformats.org/drawingml/2006/main">
            <a:off x="6505186" y="5867011"/>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xmlns:a="http://schemas.openxmlformats.org/drawingml/2006/main">
              <a:ext uri="{FF2B5EF4-FFF2-40B4-BE49-F238E27FC236}">
                <a16:creationId xmlns:a16="http://schemas.microsoft.com/office/drawing/2014/main" id="{DBB12BD9-97DA-49B9-B235-E2C3B6789004}"/>
              </a:ext>
            </a:extLst>
          </p:cNvPr>
          <p:cNvSpPr>
            <a:spLocks xmlns:a="http://schemas.openxmlformats.org/drawingml/2006/main" noGrp="1"/>
          </p:cNvSpPr>
          <p:nvPr/>
        </p:nvSpPr>
        <p:spPr>
          <a:xfrm xmlns:a="http://schemas.openxmlformats.org/drawingml/2006/main">
            <a:off x="2361811" y="6181336"/>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xmlns:a="http://schemas.openxmlformats.org/drawingml/2006/main">
              <a:ext uri="{FF2B5EF4-FFF2-40B4-BE49-F238E27FC236}">
                <a16:creationId xmlns:a16="http://schemas.microsoft.com/office/drawing/2014/main" id="{FC2430EE-90C2-45B4-A8FE-5A20FFBC59DE}"/>
              </a:ext>
            </a:extLst>
          </p:cNvPr>
          <p:cNvSpPr>
            <a:spLocks xmlns:a="http://schemas.openxmlformats.org/drawingml/2006/main" noGrp="1"/>
          </p:cNvSpPr>
          <p:nvPr/>
        </p:nvSpPr>
        <p:spPr>
          <a:xfrm xmlns:a="http://schemas.openxmlformats.org/drawingml/2006/main">
            <a:off x="4266811" y="6181336"/>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xmlns:a="http://schemas.openxmlformats.org/drawingml/2006/main">
              <a:ext uri="{FF2B5EF4-FFF2-40B4-BE49-F238E27FC236}">
                <a16:creationId xmlns:a16="http://schemas.microsoft.com/office/drawing/2014/main" id="{FB6C4CD0-9D23-4B7B-A202-CF54C3F011C0}"/>
              </a:ext>
            </a:extLst>
          </p:cNvPr>
          <p:cNvSpPr>
            <a:spLocks xmlns:a="http://schemas.openxmlformats.org/drawingml/2006/main" noGrp="1"/>
          </p:cNvSpPr>
          <p:nvPr/>
        </p:nvSpPr>
        <p:spPr>
          <a:xfrm xmlns:a="http://schemas.openxmlformats.org/drawingml/2006/main">
            <a:off x="5409811" y="6181336"/>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xmlns:a="http://schemas.openxmlformats.org/drawingml/2006/main">
              <a:ext uri="{FF2B5EF4-FFF2-40B4-BE49-F238E27FC236}">
                <a16:creationId xmlns:a16="http://schemas.microsoft.com/office/drawing/2014/main" id="{FD02C65A-9A3A-4F65-89EE-DF1FC53EFE68}"/>
              </a:ext>
            </a:extLst>
          </p:cNvPr>
          <p:cNvSpPr>
            <a:spLocks xmlns:a="http://schemas.openxmlformats.org/drawingml/2006/main" noGrp="1"/>
          </p:cNvSpPr>
          <p:nvPr/>
        </p:nvSpPr>
        <p:spPr>
          <a:xfrm xmlns:a="http://schemas.openxmlformats.org/drawingml/2006/main">
            <a:off x="6505186" y="6181336"/>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xmlns:a="http://schemas.openxmlformats.org/drawingml/2006/main">
              <a:ext uri="{FF2B5EF4-FFF2-40B4-BE49-F238E27FC236}">
                <a16:creationId xmlns:a16="http://schemas.microsoft.com/office/drawing/2014/main" id="{FBF2D9BE-5EDF-42AE-8093-D23D43750D6F}"/>
              </a:ext>
            </a:extLst>
          </p:cNvPr>
          <p:cNvSpPr>
            <a:spLocks xmlns:a="http://schemas.openxmlformats.org/drawingml/2006/main" noGrp="1"/>
          </p:cNvSpPr>
          <p:nvPr/>
        </p:nvSpPr>
        <p:spPr>
          <a:xfrm xmlns:a="http://schemas.openxmlformats.org/drawingml/2006/main">
            <a:off x="2361811" y="6495661"/>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xmlns:a="http://schemas.openxmlformats.org/drawingml/2006/main">
              <a:ext uri="{FF2B5EF4-FFF2-40B4-BE49-F238E27FC236}">
                <a16:creationId xmlns:a16="http://schemas.microsoft.com/office/drawing/2014/main" id="{F7772FCB-8E3C-4D9F-8469-468747E63FBE}"/>
              </a:ext>
            </a:extLst>
          </p:cNvPr>
          <p:cNvSpPr>
            <a:spLocks xmlns:a="http://schemas.openxmlformats.org/drawingml/2006/main" noGrp="1"/>
          </p:cNvSpPr>
          <p:nvPr/>
        </p:nvSpPr>
        <p:spPr>
          <a:xfrm xmlns:a="http://schemas.openxmlformats.org/drawingml/2006/main">
            <a:off x="4266811" y="6495661"/>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xmlns:a="http://schemas.openxmlformats.org/drawingml/2006/main">
              <a:ext uri="{FF2B5EF4-FFF2-40B4-BE49-F238E27FC236}">
                <a16:creationId xmlns:a16="http://schemas.microsoft.com/office/drawing/2014/main" id="{02E28D6E-D69E-42CD-AB93-B3BBDB9A28EE}"/>
              </a:ext>
            </a:extLst>
          </p:cNvPr>
          <p:cNvSpPr>
            <a:spLocks xmlns:a="http://schemas.openxmlformats.org/drawingml/2006/main" noGrp="1"/>
          </p:cNvSpPr>
          <p:nvPr/>
        </p:nvSpPr>
        <p:spPr>
          <a:xfrm xmlns:a="http://schemas.openxmlformats.org/drawingml/2006/main">
            <a:off x="5409811" y="6495661"/>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xmlns:a="http://schemas.openxmlformats.org/drawingml/2006/main">
              <a:ext uri="{FF2B5EF4-FFF2-40B4-BE49-F238E27FC236}">
                <a16:creationId xmlns:a16="http://schemas.microsoft.com/office/drawing/2014/main" id="{95BCAA5C-8534-4E6A-9860-8FE327BBF1C4}"/>
              </a:ext>
            </a:extLst>
          </p:cNvPr>
          <p:cNvSpPr>
            <a:spLocks xmlns:a="http://schemas.openxmlformats.org/drawingml/2006/main" noGrp="1"/>
          </p:cNvSpPr>
          <p:nvPr/>
        </p:nvSpPr>
        <p:spPr>
          <a:xfrm xmlns:a="http://schemas.openxmlformats.org/drawingml/2006/main">
            <a:off x="6505186" y="6495661"/>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xmlns:a="http://schemas.openxmlformats.org/drawingml/2006/main">
              <a:ext uri="{FF2B5EF4-FFF2-40B4-BE49-F238E27FC236}">
                <a16:creationId xmlns:a16="http://schemas.microsoft.com/office/drawing/2014/main" id="{B446589B-F740-4A12-8D43-3882BA561987}"/>
              </a:ext>
            </a:extLst>
          </p:cNvPr>
          <p:cNvSpPr>
            <a:spLocks xmlns:a="http://schemas.openxmlformats.org/drawingml/2006/main" noGrp="1"/>
          </p:cNvSpPr>
          <p:nvPr/>
        </p:nvSpPr>
        <p:spPr>
          <a:xfrm xmlns:a="http://schemas.openxmlformats.org/drawingml/2006/main">
            <a:off x="2361811" y="6809986"/>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xmlns:a="http://schemas.openxmlformats.org/drawingml/2006/main">
              <a:ext uri="{FF2B5EF4-FFF2-40B4-BE49-F238E27FC236}">
                <a16:creationId xmlns:a16="http://schemas.microsoft.com/office/drawing/2014/main" id="{F459A0AB-C00F-4FD4-B01B-B0B13102B0CA}"/>
              </a:ext>
            </a:extLst>
          </p:cNvPr>
          <p:cNvSpPr>
            <a:spLocks xmlns:a="http://schemas.openxmlformats.org/drawingml/2006/main" noGrp="1"/>
          </p:cNvSpPr>
          <p:nvPr/>
        </p:nvSpPr>
        <p:spPr>
          <a:xfrm xmlns:a="http://schemas.openxmlformats.org/drawingml/2006/main">
            <a:off x="4266811" y="6809986"/>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xmlns:a="http://schemas.openxmlformats.org/drawingml/2006/main">
              <a:ext uri="{FF2B5EF4-FFF2-40B4-BE49-F238E27FC236}">
                <a16:creationId xmlns:a16="http://schemas.microsoft.com/office/drawing/2014/main" id="{E1CEA3EE-F592-4EED-BBB6-8B8D988B4932}"/>
              </a:ext>
            </a:extLst>
          </p:cNvPr>
          <p:cNvSpPr>
            <a:spLocks xmlns:a="http://schemas.openxmlformats.org/drawingml/2006/main" noGrp="1"/>
          </p:cNvSpPr>
          <p:nvPr/>
        </p:nvSpPr>
        <p:spPr>
          <a:xfrm xmlns:a="http://schemas.openxmlformats.org/drawingml/2006/main">
            <a:off x="5409811" y="6809986"/>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xmlns:a="http://schemas.openxmlformats.org/drawingml/2006/main">
              <a:ext uri="{FF2B5EF4-FFF2-40B4-BE49-F238E27FC236}">
                <a16:creationId xmlns:a16="http://schemas.microsoft.com/office/drawing/2014/main" id="{2AC03407-D545-4B55-A11C-D71F1BA09A80}"/>
              </a:ext>
            </a:extLst>
          </p:cNvPr>
          <p:cNvSpPr>
            <a:spLocks xmlns:a="http://schemas.openxmlformats.org/drawingml/2006/main" noGrp="1"/>
          </p:cNvSpPr>
          <p:nvPr/>
        </p:nvSpPr>
        <p:spPr>
          <a:xfrm xmlns:a="http://schemas.openxmlformats.org/drawingml/2006/main">
            <a:off x="6505186" y="6809986"/>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xmlns:a="http://schemas.openxmlformats.org/drawingml/2006/main">
              <a:ext uri="{FF2B5EF4-FFF2-40B4-BE49-F238E27FC236}">
                <a16:creationId xmlns:a16="http://schemas.microsoft.com/office/drawing/2014/main" id="{6102CF9C-5841-4F16-B22B-C0C972AB318A}"/>
              </a:ext>
            </a:extLst>
          </p:cNvPr>
          <p:cNvSpPr>
            <a:spLocks xmlns:a="http://schemas.openxmlformats.org/drawingml/2006/main" noGrp="1"/>
          </p:cNvSpPr>
          <p:nvPr/>
        </p:nvSpPr>
        <p:spPr>
          <a:xfrm xmlns:a="http://schemas.openxmlformats.org/drawingml/2006/main">
            <a:off x="7810111" y="5266936"/>
            <a:ext cx="5667375" cy="2000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why-stripe">
            <a:extLst xmlns:a="http://schemas.openxmlformats.org/drawingml/2006/main">
              <a:ext uri="{FF2B5EF4-FFF2-40B4-BE49-F238E27FC236}">
                <a16:creationId xmlns:a16="http://schemas.microsoft.com/office/drawing/2014/main" id="{447D9D22-5352-4F51-ADFA-1E12F42E3B2F}"/>
              </a:ext>
            </a:extLst>
          </p:cNvPr>
          <p:cNvSpPr>
            <a:spLocks xmlns:a="http://schemas.openxmlformats.org/drawingml/2006/main" noGrp="1"/>
          </p:cNvSpPr>
          <p:nvPr/>
        </p:nvSpPr>
        <p:spPr>
          <a:xfrm xmlns:a="http://schemas.openxmlformats.org/drawingml/2006/main">
            <a:off x="7810111" y="5266936"/>
            <a:ext cx="76200" cy="2000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why-title">
            <a:extLst xmlns:a="http://schemas.openxmlformats.org/drawingml/2006/main">
              <a:ext uri="{FF2B5EF4-FFF2-40B4-BE49-F238E27FC236}">
                <a16:creationId xmlns:a16="http://schemas.microsoft.com/office/drawing/2014/main" id="{EF1593B0-19F6-465F-BA55-7C9E6BC893EB}"/>
              </a:ext>
            </a:extLst>
          </p:cNvPr>
          <p:cNvSpPr>
            <a:spLocks xmlns:a="http://schemas.openxmlformats.org/drawingml/2006/main" noGrp="1"/>
          </p:cNvSpPr>
          <p:nvPr/>
        </p:nvSpPr>
        <p:spPr>
          <a:xfrm xmlns:a="http://schemas.openxmlformats.org/drawingml/2006/main">
            <a:off x="8076811" y="5486011"/>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xmlns:a="http://schemas.openxmlformats.org/drawingml/2006/main">
              <a:ext uri="{FF2B5EF4-FFF2-40B4-BE49-F238E27FC236}">
                <a16:creationId xmlns:a16="http://schemas.microsoft.com/office/drawing/2014/main" id="{A279BAF8-C4CF-4C0A-A723-62959C4F3CCD}"/>
              </a:ext>
            </a:extLst>
          </p:cNvPr>
          <p:cNvSpPr>
            <a:spLocks xmlns:a="http://schemas.openxmlformats.org/drawingml/2006/main" noGrp="1"/>
          </p:cNvSpPr>
          <p:nvPr/>
        </p:nvSpPr>
        <p:spPr>
          <a:xfrm xmlns:a="http://schemas.openxmlformats.org/drawingml/2006/main">
            <a:off x="8267311" y="6028936"/>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xmlns:a="http://schemas.openxmlformats.org/drawingml/2006/main">
              <a:ext uri="{FF2B5EF4-FFF2-40B4-BE49-F238E27FC236}">
                <a16:creationId xmlns:a16="http://schemas.microsoft.com/office/drawing/2014/main" id="{4D52E4B0-8C58-48A2-8164-DFE0BDB9B4F1}"/>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7" name="slide-number-03">
            <a:extLst xmlns:a="http://schemas.openxmlformats.org/drawingml/2006/main">
              <a:ext uri="{FF2B5EF4-FFF2-40B4-BE49-F238E27FC236}">
                <a16:creationId xmlns:a16="http://schemas.microsoft.com/office/drawing/2014/main" id="{C18A7B2B-F2A8-47B0-B405-4CD7822C71EB}"/>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0" name="Rectangle 29"/>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PROBLEM</a:t>
            </a:r>
          </a:p>
        </p:txBody>
      </p:sp>
      <p:sp>
        <p:nvSpPr>
          <p:cNvPr id="2" name="Rectangle 1">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buNone/>
              <a:defRPr sz="3600" b="1">
                <a:solidFill>
                  <a:srgbClr val="151515"/>
                </a:solidFill>
                <a:latin typeface="Arial"/>
                <a:ea typeface="Arial"/>
                <a:cs typeface="Arial"/>
              </a:defRPr>
            </a:pPr>
            <a:r>
              <a:t>Why this is hard: the climate signal is real, but diluted</a:t>
            </a:r>
          </a:p>
        </p:txBody>
      </p:sp>
      <p:sp>
        <p:nvSpPr>
          <p:cNvPr id="3" name="Rectangle 2">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04</a:t>
            </a:r>
          </a:p>
        </p:txBody>
      </p:sp>
      <p:sp>
        <p:nvSpPr>
          <p:cNvPr id="4" name="Rectangle 3">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2095111" y="3057136"/>
            <a:ext cx="10668000" cy="666750"/>
          </a:xfrm>
          <a:prstGeom xmlns:a="http://schemas.openxmlformats.org/drawingml/2006/main" prst="rect">
            <a:avLst/>
          </a:prstGeom>
        </p:spPr>
        <p:txBody>
          <a:bodyPr xmlns:a="http://schemas.openxmlformats.org/drawingml/2006/main" lIns="0" tIns="0" rIns="0" bIns="0" anchor="t">
            <a:normAutofit fontScale="97222" lnSpcReduction="10000"/>
          </a:bodyPr>
          <a:lstStyle xmlns:a="http://schemas.openxmlformats.org/drawingml/2006/main"/>
          <a:p xmlns:a="http://schemas.openxmlformats.org/drawingml/2006/main">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2095111" y="4171561"/>
            <a:ext cx="2495550" cy="2857500"/>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2285611" y="4409686"/>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Rectangle 6">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2285611" y="4914511"/>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t>Biology spans years</a:t>
            </a:r>
          </a:p>
        </p:txBody>
      </p:sp>
      <p:sp>
        <p:nvSpPr>
          <p:cNvPr id="8" name="Rectangle 7">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2285611" y="5790811"/>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5000236" y="4171561"/>
            <a:ext cx="2495550" cy="2857500"/>
          </a:xfrm>
          <a:prstGeom xmlns:a="http://schemas.openxmlformats.org/drawingml/2006/main" prst="rect">
            <a:avLst/>
          </a:prstGeom>
          <a:solidFill xmlns:a="http://schemas.openxmlformats.org/drawingml/2006/main">
            <a:schemeClr val="tx1">
              <a:lumMod val="75000"/>
              <a:lumOff val="2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5190736" y="4409686"/>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02</a:t>
            </a:r>
          </a:p>
        </p:txBody>
      </p:sp>
      <p:sp>
        <p:nvSpPr>
          <p:cNvPr id="11" name="Rectangle 10">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5190736" y="4914511"/>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5190736" y="5790811"/>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7905361" y="4171561"/>
            <a:ext cx="2495550" cy="2857500"/>
          </a:xfrm>
          <a:prstGeom xmlns:a="http://schemas.openxmlformats.org/drawingml/2006/main" prst="rect">
            <a:avLst/>
          </a:prstGeom>
          <a:solidFill xmlns:a="http://schemas.openxmlformats.org/drawingml/2006/main">
            <a:schemeClr val="accent2">
              <a:lumMod val="40000"/>
              <a:lumOff val="6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Rectangle 13">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8095861" y="4409686"/>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03</a:t>
            </a:r>
          </a:p>
        </p:txBody>
      </p:sp>
      <p:sp>
        <p:nvSpPr>
          <p:cNvPr id="15" name="Rectangle 14">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8095861" y="4914511"/>
            <a:ext cx="2114550" cy="666750"/>
          </a:xfrm>
          <a:prstGeom xmlns:a="http://schemas.openxmlformats.org/drawingml/2006/main" prst="rect">
            <a:avLst/>
          </a:prstGeom>
        </p:spPr>
        <p:txBody>
          <a:bodyPr xmlns:a="http://schemas.openxmlformats.org/drawingml/2006/main" lIns="0" tIns="0" rIns="0" bIns="0" anchor="t">
            <a:normAutofit fontScale="897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Structure changes over time</a:t>
            </a:r>
          </a:p>
        </p:txBody>
      </p:sp>
      <p:sp>
        <p:nvSpPr>
          <p:cNvPr id="16" name="Rectangle 15">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8095861" y="5790811"/>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10810486" y="4171561"/>
            <a:ext cx="2495550" cy="2857500"/>
          </a:xfrm>
          <a:prstGeom xmlns:a="http://schemas.openxmlformats.org/drawingml/2006/main" prst="rect">
            <a:avLst/>
          </a:prstGeom>
          <a:solidFill xmlns:a="http://schemas.openxmlformats.org/drawingml/2006/main">
            <a:schemeClr val="accent2">
              <a:lumMod val="75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ectangle 17">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11000986" y="4409686"/>
            <a:ext cx="4762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rPr>
                <a:solidFill>
                  <a:schemeClr val="bg1"/>
                </a:solidFill>
              </a:rPr>
              <a:t>04</a:t>
            </a:r>
          </a:p>
        </p:txBody>
      </p:sp>
      <p:sp>
        <p:nvSpPr>
          <p:cNvPr id="19" name="Rectangle 18">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11000986" y="4914511"/>
            <a:ext cx="21145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11000986" y="5790811"/>
            <a:ext cx="2114550" cy="952500"/>
          </a:xfrm>
          <a:prstGeom xmlns:a="http://schemas.openxmlformats.org/drawingml/2006/main" prst="rect">
            <a:avLst/>
          </a:prstGeom>
        </p:spPr>
        <p:txBody>
          <a:bodyPr xmlns:a="http://schemas.openxmlformats.org/drawingml/2006/main" lIns="0" tIns="0" rIns="0" bIns="0" anchor="t">
            <a:normAutofit fontScale="99206" lnSpcReduction="1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6" name="Rectangle 2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NATURAL EXPERIMENT</a:t>
            </a:r>
          </a:p>
        </p:txBody>
      </p:sp>
      <p:sp>
        <p:nvSpPr>
          <p:cNvPr id="2" name="Rectangle 1">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same pipeline meets two different histories</a:t>
            </a:r>
          </a:p>
        </p:txBody>
      </p:sp>
      <p:sp>
        <p:nvSpPr>
          <p:cNvPr id="3" name="Rectangle 2">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05</a:t>
            </a:r>
          </a:p>
        </p:txBody>
      </p:sp>
      <p:pic>
        <p:nvPicPr>
          <p:cNvPr id="17" name="Picture 17"/>
          <p:cNvPicPr>
            <a:picLocks xmlns:a="http://schemas.openxmlformats.org/drawingml/2006/main" noChangeAspect="1"/>
          </p:cNvPicPr>
          <p:nvPr/>
        </p:nvPicPr>
        <p:blipFill>
          <a:blip xmlns:r="http://schemas.openxmlformats.org/officeDocument/2006/relationships" xmlns:a="http://schemas.openxmlformats.org/drawingml/2006/main" r:embed="Rc3af0e0062344e3f"/>
          <a:stretch xmlns:a="http://schemas.openxmlformats.org/drawingml/2006/main"/>
        </p:blipFill>
        <p:spPr>
          <a:xfrm xmlns:a="http://schemas.openxmlformats.org/drawingml/2006/main">
            <a:off x="2095111" y="3625858"/>
            <a:ext cx="5476875" cy="2282031"/>
          </a:xfrm>
          <a:prstGeom xmlns:a="http://schemas.openxmlformats.org/drawingml/2006/main" prst="rect">
            <a:avLst/>
          </a:prstGeom>
        </p:spPr>
      </p:pic>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39b2f2e6d0f8493a"/>
          <a:stretch xmlns:a="http://schemas.openxmlformats.org/drawingml/2006/main"/>
        </p:blipFill>
        <p:spPr>
          <a:xfrm xmlns:a="http://schemas.openxmlformats.org/drawingml/2006/main">
            <a:off x="8000611" y="3625858"/>
            <a:ext cx="5476875" cy="2282031"/>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2095111" y="6648061"/>
            <a:ext cx="5476875" cy="1000125"/>
          </a:xfrm>
          <a:prstGeom xmlns:a="http://schemas.openxmlformats.org/drawingml/2006/main" prst="rect">
            <a:avLst/>
          </a:prstGeom>
          <a:solidFill xmlns:a="http://schemas.openxmlformats.org/drawingml/2006/main">
            <a:schemeClr val="bg2">
              <a:lumMod val="9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8000611" y="6648061"/>
            <a:ext cx="5476875" cy="1000125"/>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2304661" y="6857611"/>
            <a:ext cx="2190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2563A6"/>
                </a:solidFill>
                <a:latin typeface="Arial"/>
                <a:ea typeface="Arial"/>
                <a:cs typeface="Arial"/>
              </a:defRPr>
            </a:pPr>
            <a:r>
              <a:t>DOURO · 89 years</a:t>
            </a:r>
          </a:p>
        </p:txBody>
      </p:sp>
      <p:sp>
        <p:nvSpPr>
          <p:cNvPr id="9" name="Rectangle 8">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2304661" y="7190986"/>
            <a:ext cx="4762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151515"/>
                </a:solidFill>
                <a:latin typeface="Arial"/>
                <a:ea typeface="Arial"/>
                <a:cs typeface="Arial"/>
              </a:defRPr>
            </a:pPr>
            <a:r>
              <a:t>Gradual +80% structural rise; CV 27%</a:t>
            </a:r>
          </a:p>
        </p:txBody>
      </p:sp>
      <p:sp>
        <p:nvSpPr>
          <p:cNvPr id="10" name="Rectangle 9">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8210161" y="6857611"/>
            <a:ext cx="2857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VINHO VERDE · 80 years</a:t>
            </a:r>
          </a:p>
        </p:txBody>
      </p:sp>
      <p:sp>
        <p:nvSpPr>
          <p:cNvPr id="11" name="Rectangle 10">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8210161" y="7190986"/>
            <a:ext cx="4762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151515"/>
                </a:solidFill>
                <a:latin typeface="Arial"/>
                <a:ea typeface="Arial"/>
                <a:cs typeface="Arial"/>
              </a:defRPr>
            </a:pPr>
            <a:r>
              <a:t>Sharp structural decline; CV 47%</a:t>
            </a:r>
          </a:p>
        </p:txBody>
      </p:sp>
    </p:spTree>
    <p:extLst>
      <p:ext uri="{BB962C8B-B14F-4D97-AF65-F5344CB8AC3E}">
        <p14:creationId xmlns:p14="http://schemas.microsoft.com/office/powerpoint/2010/main" val="15527709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8" name="Rectangle 227"/>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7" name="Rectangle 226"/>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6" name="Rectangle 225"/>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5" name="Rectangle 224"/>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4" name="Rectangle 223"/>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3" name="Rectangle 222"/>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2" name="Rectangle 221"/>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1" name="Rectangle 220"/>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GRAPEVINE CYCLE</a:t>
            </a:r>
          </a:p>
        </p:txBody>
      </p:sp>
      <p:sp>
        <p:nvSpPr>
          <p:cNvPr id="2" name="Rectangle 1">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Current production begins in the previous growing season</a:t>
            </a:r>
          </a:p>
        </p:txBody>
      </p:sp>
      <p:sp>
        <p:nvSpPr>
          <p:cNvPr id="3" name="Rectangle 2">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06</a:t>
            </a:r>
          </a:p>
        </p:txBody>
      </p:sp>
      <p:sp>
        <p:nvSpPr>
          <p:cNvPr id="4" name="Rectangle 3">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2095111" y="3219061"/>
            <a:ext cx="2857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y0 · POTENTIAL</a:t>
            </a:r>
          </a:p>
        </p:txBody>
      </p:sp>
      <p:sp>
        <p:nvSpPr>
          <p:cNvPr id="5" name="Rectangle 4">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8076811" y="3219061"/>
            <a:ext cx="3333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y1 · REALISATION</a:t>
            </a:r>
          </a:p>
        </p:txBody>
      </p:sp>
      <p:cxnSp>
        <p:nvCxnSpPr>
          <p:cNvPr id="220" name="Straight Arrow Connector 213"/>
          <p:cNvCxnSpPr/>
          <p:nvPr/>
        </p:nvCxnSpPr>
        <p:spPr>
          <a:xfrm xmlns:a="http://schemas.openxmlformats.org/drawingml/2006/main">
            <a:off x="2361811" y="4838311"/>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Oval 6">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2742811" y="4743061"/>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8" name="Oval 7">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5409811" y="4743061"/>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9" name="Oval 8">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8410186" y="4743061"/>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0" name="Oval 9">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10553311" y="4743061"/>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1" name="Oval 10">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2744061" y="4743061"/>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2457061" y="4028686"/>
            <a:ext cx="15240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Primordia
formation</a:t>
            </a:r>
          </a:p>
        </p:txBody>
      </p:sp>
      <p:sp>
        <p:nvSpPr>
          <p:cNvPr id="13" name="Rectangle 12">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5028811" y="5171686"/>
            <a:ext cx="13335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Reserve
building</a:t>
            </a:r>
          </a:p>
        </p:txBody>
      </p:sp>
      <p:sp>
        <p:nvSpPr>
          <p:cNvPr id="14" name="Rectangle 13">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7981561" y="4028686"/>
            <a:ext cx="11430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Bud break</a:t>
            </a:r>
          </a:p>
        </p:txBody>
      </p:sp>
      <p:sp>
        <p:nvSpPr>
          <p:cNvPr id="15" name="Rectangle 14">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9981811" y="5171686"/>
            <a:ext cx="142875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Flowering &amp;
fruit set</a:t>
            </a:r>
          </a:p>
        </p:txBody>
      </p:sp>
      <p:sp>
        <p:nvSpPr>
          <p:cNvPr id="16" name="Rectangle 15">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2172561" y="4028686"/>
            <a:ext cx="142875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Veraison to
harvest</a:t>
            </a:r>
          </a:p>
        </p:txBody>
      </p:sp>
      <p:sp>
        <p:nvSpPr>
          <p:cNvPr id="17" name="Rectangle 16">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2218936" y="6171811"/>
            <a:ext cx="3905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2218936" y="6886186"/>
            <a:ext cx="39052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8076811" y="6171811"/>
            <a:ext cx="4953000" cy="952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6648061" y="3742936"/>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1" name="Rectangle 20">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6743311" y="4647811"/>
            <a:ext cx="714375"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 name="Rectangle 21"/>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FEATURE ENGINEERING</a:t>
            </a:r>
          </a:p>
        </p:txBody>
      </p:sp>
      <p:sp>
        <p:nvSpPr>
          <p:cNvPr id="2" name="Rectangle 1">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Features follow the biology, not the calendar</a:t>
            </a:r>
          </a:p>
        </p:txBody>
      </p:sp>
      <p:sp>
        <p:nvSpPr>
          <p:cNvPr id="3" name="Rectangle 2">
            <a:extLst xmlns:a="http://schemas.openxmlformats.org/drawingml/2006/main">
              <a:ext uri="{FF2B5EF4-FFF2-40B4-BE49-F238E27FC236}">
                <a16:creationId xmlns:a16="http://schemas.microsoft.com/office/drawing/2014/main" id="{95485F35-0C03-4366-B921-C9448A0510F0}"/>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07</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de3d55bd95b748b6"/>
          <a:stretch xmlns:a="http://schemas.openxmlformats.org/drawingml/2006/main"/>
        </p:blipFill>
        <p:spPr>
          <a:xfrm xmlns:a="http://schemas.openxmlformats.org/drawingml/2006/main">
            <a:off x="3578450" y="2961886"/>
            <a:ext cx="8425222" cy="46863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2095111" y="7648186"/>
            <a:ext cx="11391900"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2266561" y="7724386"/>
            <a:ext cx="257175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32,842 / 29,902 daily records</a:t>
            </a:r>
          </a:p>
        </p:txBody>
      </p:sp>
      <p:sp>
        <p:nvSpPr>
          <p:cNvPr id="7" name="Rectangle 6">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5247886" y="7724386"/>
            <a:ext cx="2143125"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7B1E3A"/>
                </a:solidFill>
                <a:latin typeface="Arial"/>
                <a:ea typeface="Arial"/>
                <a:cs typeface="Arial"/>
              </a:defRPr>
            </a:pPr>
            <a:r>
              <a:t>→ 59 annual predictors</a:t>
            </a:r>
          </a:p>
        </p:txBody>
      </p:sp>
      <p:sp>
        <p:nvSpPr>
          <p:cNvPr id="8" name="Rectangle 7">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7791061" y="7724386"/>
            <a:ext cx="22860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4 phenological anchors</a:t>
            </a:r>
          </a:p>
        </p:txBody>
      </p:sp>
      <p:sp>
        <p:nvSpPr>
          <p:cNvPr id="9" name="Rectangle 8">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10553311" y="7724386"/>
            <a:ext cx="257175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current + previous year</a:t>
            </a:r>
          </a:p>
        </p:txBody>
      </p:sp>
    </p:spTree>
    <p:extLst>
      <p:ext uri="{BB962C8B-B14F-4D97-AF65-F5344CB8AC3E}">
        <p14:creationId xmlns:p14="http://schemas.microsoft.com/office/powerpoint/2010/main" val="6449021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2" name="Rectangle 21"/>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POSITIONING</a:t>
            </a:r>
          </a:p>
        </p:txBody>
      </p:sp>
      <p:sp>
        <p:nvSpPr>
          <p:cNvPr id="2" name="Rectangle 1">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82897" lnSpcReduction="1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research gap sits between explanation and prediction</a:t>
            </a:r>
          </a:p>
        </p:txBody>
      </p:sp>
      <p:sp>
        <p:nvSpPr>
          <p:cNvPr id="3" name="Rectangle 2">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Rectangle 3">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2095111" y="3504811"/>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8534011" y="3504811"/>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2409436" y="3838186"/>
            <a:ext cx="4000500"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Modern machine learning</a:t>
            </a:r>
          </a:p>
        </p:txBody>
      </p:sp>
      <p:sp>
        <p:nvSpPr>
          <p:cNvPr id="7" name="Rectangle 6">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2409436" y="4552561"/>
            <a:ext cx="4000500" cy="1428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8838811" y="3838186"/>
            <a:ext cx="4000500"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7B1E3A"/>
                </a:solidFill>
                <a:latin typeface="Arial"/>
                <a:ea typeface="Arial"/>
                <a:cs typeface="Arial"/>
              </a:defRPr>
            </a:pPr>
            <a:r>
              <a:t>Rule-based discovery</a:t>
            </a:r>
          </a:p>
        </p:txBody>
      </p:sp>
      <p:sp>
        <p:nvSpPr>
          <p:cNvPr id="9" name="Rectangle 8">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8838811" y="4552561"/>
            <a:ext cx="4000500" cy="1428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7000486" y="4362061"/>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7171936" y="4762111"/>
            <a:ext cx="1238250" cy="952500"/>
          </a:xfrm>
          <a:prstGeom xmlns:a="http://schemas.openxmlformats.org/drawingml/2006/main" prst="rect">
            <a:avLst/>
          </a:prstGeom>
        </p:spPr>
        <p:txBody>
          <a:bodyPr xmlns:a="http://schemas.openxmlformats.org/drawingml/2006/main" lIns="0" tIns="0" rIns="0" bIns="0" anchor="t">
            <a:normAutofit fontScale="95785" lnSpcReduction="10000"/>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t>Can we
have
both?</a:t>
            </a:r>
          </a:p>
        </p:txBody>
      </p:sp>
      <p:sp>
        <p:nvSpPr>
          <p:cNvPr id="12" name="Rectangle 11">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2980936" y="7314811"/>
            <a:ext cx="9620250" cy="457200"/>
          </a:xfrm>
          <a:prstGeom xmlns:a="http://schemas.openxmlformats.org/drawingml/2006/main" prst="rect">
            <a:avLst/>
          </a:prstGeom>
        </p:spPr>
        <p:txBody>
          <a:bodyPr xmlns:a="http://schemas.openxmlformats.org/drawingml/2006/main" lIns="0" tIns="0" rIns="0" bIns="0" anchor="t">
            <a:normAutofit fontScale="87500" lnSpcReduction="10000"/>
          </a:bodyPr>
          <a:lstStyle xmlns:a="http://schemas.openxmlformats.org/drawingml/2006/main"/>
          <a:p xmlns:a="http://schemas.openxmlformats.org/drawingml/2006/main">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4" name="Rectangle 23"/>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RESEARCH DESIGN</a:t>
            </a:r>
          </a:p>
        </p:txBody>
      </p:sp>
      <p:sp>
        <p:nvSpPr>
          <p:cNvPr id="2" name="Rectangle 1">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goals separate historical insight from future utility</a:t>
            </a:r>
          </a:p>
        </p:txBody>
      </p:sp>
      <p:sp>
        <p:nvSpPr>
          <p:cNvPr id="3" name="Rectangle 2">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Rectangle 3">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2095111" y="3266686"/>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8000611" y="3266686"/>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2409436" y="3600061"/>
            <a:ext cx="16192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GOAL 1</a:t>
            </a:r>
          </a:p>
        </p:txBody>
      </p:sp>
      <p:sp>
        <p:nvSpPr>
          <p:cNvPr id="7" name="Rectangle 6">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2409436" y="4076311"/>
            <a:ext cx="4286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Discover</a:t>
            </a:r>
          </a:p>
        </p:txBody>
      </p:sp>
      <p:sp>
        <p:nvSpPr>
          <p:cNvPr id="8" name="Rectangle 7">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2409436" y="4790686"/>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2409436" y="6028936"/>
            <a:ext cx="457200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8314936" y="3600061"/>
            <a:ext cx="16192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GOAL 2</a:t>
            </a:r>
          </a:p>
        </p:txBody>
      </p:sp>
      <p:sp>
        <p:nvSpPr>
          <p:cNvPr id="11" name="Rectangle 10">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8314936" y="4076311"/>
            <a:ext cx="4286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Validate</a:t>
            </a:r>
          </a:p>
        </p:txBody>
      </p:sp>
      <p:sp>
        <p:nvSpPr>
          <p:cNvPr id="12" name="Rectangle 11">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8314936" y="4790686"/>
            <a:ext cx="4572000" cy="857250"/>
          </a:xfrm>
          <a:prstGeom xmlns:a="http://schemas.openxmlformats.org/drawingml/2006/main" prst="rect">
            <a:avLst/>
          </a:prstGeom>
        </p:spPr>
        <p:txBody>
          <a:bodyPr xmlns:a="http://schemas.openxmlformats.org/drawingml/2006/main" lIns="0" tIns="0" rIns="0" bIns="0" anchor="t">
            <a:normAutofit fontScale="96354" lnSpcReduction="1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8314936" y="6028936"/>
            <a:ext cx="457200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RQ3 · out-of-sample improvement
RQ4 · conditions for success or failure</a:t>
            </a:r>
          </a:p>
        </p:txBody>
      </p:sp>
      <p:sp>
        <p:nvSpPr>
          <p:cNvPr id="14" name="Rectangle 13">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2095111" y="7410061"/>
            <a:ext cx="11382375" cy="400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100" b="1">
                <a:solidFill>
                  <a:srgbClr val="7B1E3A"/>
                </a:solidFill>
                <a:latin typeface="Arial"/>
                <a:ea typeface="Arial"/>
                <a:cs typeface="Arial"/>
              </a:defRPr>
            </a:pPr>
            <a:r>
              <a:t>Same data and rule family — different standard of evidence.</a:t>
            </a:r>
          </a:p>
        </p:txBody>
      </p:sp>
    </p:spTree>
    <p:extLst>
      <p:ext uri="{BB962C8B-B14F-4D97-AF65-F5344CB8AC3E}">
        <p14:creationId xmlns:p14="http://schemas.microsoft.com/office/powerpoint/2010/main" val="12385730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55" name="Rectangle 15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4" name="Rectangle 15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3" name="Rectangle 15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2" name="Rectangle 15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1" name="Rectangle 15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0" name="Rectangle 14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9" name="Rectangle 14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8" name="Rectangle 14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STUDY DESIGN</a:t>
            </a:r>
          </a:p>
        </p:txBody>
      </p:sp>
      <p:sp>
        <p:nvSpPr>
          <p:cNvPr id="2" name="Rectangle 1">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Rectangle 3">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2095111" y="3314311"/>
            <a:ext cx="17145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SAME</a:t>
            </a:r>
          </a:p>
        </p:txBody>
      </p:sp>
      <p:sp>
        <p:nvSpPr>
          <p:cNvPr id="5" name="Rectangle 4">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2095111" y="3885811"/>
            <a:ext cx="2952750" cy="1809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6171811" y="3314311"/>
            <a:ext cx="19050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DIFFERENT</a:t>
            </a:r>
          </a:p>
        </p:txBody>
      </p:sp>
      <p:sp>
        <p:nvSpPr>
          <p:cNvPr id="7" name="Rectangle 6">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6171811" y="3885811"/>
            <a:ext cx="2952750" cy="1809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9791311" y="3219061"/>
            <a:ext cx="3333750" cy="371475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10124686" y="3552436"/>
            <a:ext cx="257175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5250" b="1">
                <a:solidFill>
                  <a:srgbClr val="FFFFFF"/>
                </a:solidFill>
                <a:latin typeface="Arial"/>
                <a:ea typeface="Arial"/>
                <a:cs typeface="Arial"/>
              </a:defRPr>
            </a:pPr>
            <a:r>
              <a:t>2</a:t>
            </a:r>
          </a:p>
        </p:txBody>
      </p:sp>
      <p:sp>
        <p:nvSpPr>
          <p:cNvPr id="10" name="Rectangle 9">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10124686" y="4343011"/>
            <a:ext cx="2571750" cy="3810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100" b="1">
                <a:solidFill>
                  <a:srgbClr val="FFFFFF"/>
                </a:solidFill>
                <a:latin typeface="Arial"/>
                <a:ea typeface="Arial"/>
                <a:cs typeface="Arial"/>
              </a:defRPr>
            </a:pPr>
            <a:r>
              <a:t>regions</a:t>
            </a:r>
          </a:p>
        </p:txBody>
      </p:sp>
      <p:cxnSp>
        <p:nvCxnSpPr>
          <p:cNvPr id="147" name="Straight Arrow Connector 135"/>
          <p:cNvCxnSpPr/>
          <p:nvPr/>
        </p:nvCxnSpPr>
        <p:spPr>
          <a:xfrm xmlns:a="http://schemas.openxmlformats.org/drawingml/2006/main">
            <a:off x="10124686" y="4952611"/>
            <a:ext cx="2524125" cy="953"/>
          </a:xfrm>
          <a:prstGeom xmlns:a="http://schemas.openxmlformats.org/drawingml/2006/main" prst="straightConnector1">
            <a:avLst/>
          </a:prstGeom>
          <a:ln xmlns:a="http://schemas.openxmlformats.org/drawingml/2006/main" w="38100">
            <a:solidFill>
              <a:srgbClr val="7B1E3A"/>
            </a:solidFill>
            <a:prstDash val="solid"/>
          </a:ln>
        </p:spPr>
      </p:cxnSp>
      <p:sp>
        <p:nvSpPr>
          <p:cNvPr id="12" name="Rectangle 11">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10124686" y="5266936"/>
            <a:ext cx="2571750" cy="5905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t>89 + 80</a:t>
            </a:r>
          </a:p>
        </p:txBody>
      </p:sp>
      <p:sp>
        <p:nvSpPr>
          <p:cNvPr id="13" name="Rectangle 12">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10124686" y="5933686"/>
            <a:ext cx="257175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FFFFFF"/>
                </a:solidFill>
                <a:latin typeface="Arial"/>
                <a:ea typeface="Arial"/>
                <a:cs typeface="Arial"/>
              </a:defRPr>
            </a:pPr>
            <a:r>
              <a:t>annual observations</a:t>
            </a:r>
          </a:p>
        </p:txBody>
      </p:sp>
      <p:sp>
        <p:nvSpPr>
          <p:cNvPr id="14" name="Rectangle 13">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2095111" y="6838561"/>
            <a:ext cx="6858000" cy="666750"/>
          </a:xfrm>
          <a:prstGeom xmlns:a="http://schemas.openxmlformats.org/drawingml/2006/main" prst="rect">
            <a:avLst/>
          </a:prstGeom>
        </p:spPr>
        <p:txBody>
          <a:bodyPr xmlns:a="http://schemas.openxmlformats.org/drawingml/2006/main" lIns="0" tIns="0" rIns="0" bIns="0" anchor="t">
            <a:normAutofit fontScale="91146" lnSpcReduction="1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The contrast turns two case studies into a natural experiment.</a:t>
            </a:r>
          </a:p>
        </p:txBody>
      </p:sp>
    </p:spTree>
    <p:extLst>
      <p:ext uri="{BB962C8B-B14F-4D97-AF65-F5344CB8AC3E}">
        <p14:creationId xmlns:p14="http://schemas.microsoft.com/office/powerpoint/2010/main" val="129642321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57" name="Rectangle 56"/>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Rectangle 53"/>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ectangle 49"/>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white-background">
            <a:extLst xmlns:a="http://schemas.openxmlformats.org/drawingml/2006/main">
              <a:ext uri="{FF2B5EF4-FFF2-40B4-BE49-F238E27FC236}">
                <a16:creationId xmlns:a16="http://schemas.microsoft.com/office/drawing/2014/main" id="{8C9BCDD3-A7DC-4633-BD84-30CBE382DA4F}"/>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D228F560-AD04-4FB8-803B-A64A916B83A2}"/>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xmlns:a="http://schemas.openxmlformats.org/drawingml/2006/main">
              <a:ext uri="{FF2B5EF4-FFF2-40B4-BE49-F238E27FC236}">
                <a16:creationId xmlns:a16="http://schemas.microsoft.com/office/drawing/2014/main" id="{D57B864B-4338-4362-A0E5-14C39CE708AE}"/>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xmlns:a="http://schemas.openxmlformats.org/drawingml/2006/main">
              <a:ext uri="{FF2B5EF4-FFF2-40B4-BE49-F238E27FC236}">
                <a16:creationId xmlns:a16="http://schemas.microsoft.com/office/drawing/2014/main" id="{81F17B66-5EDD-4A4B-8116-D6E1A016BBEF}"/>
              </a:ext>
            </a:extLst>
          </p:cNvPr>
          <p:cNvSpPr>
            <a:spLocks xmlns:a="http://schemas.openxmlformats.org/drawingml/2006/main" noGrp="1"/>
          </p:cNvSpPr>
          <p:nvPr/>
        </p:nvSpPr>
        <p:spPr>
          <a:xfrm xmlns:a="http://schemas.openxmlformats.org/drawingml/2006/main">
            <a:off x="2095111" y="3200011"/>
            <a:ext cx="54768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6D0CB"/>
            </a:solidFill>
            <a:prstDash val="solid"/>
          </a:ln>
        </p:spPr>
        <p:txBody>
          <a:bodyPr xmlns:a="http://schemas.openxmlformats.org/drawingml/2006/main"/>
          <a:lstStyle xmlns:a="http://schemas.openxmlformats.org/drawingml/2006/main"/>
          <a:p xmlns:a="http://schemas.openxmlformats.org/drawingml/2006/main"/>
        </p:txBody>
      </p:sp>
      <p:sp>
        <p:nvSpPr>
          <p:cNvPr id="5" name="table-head">
            <a:extLst xmlns:a="http://schemas.openxmlformats.org/drawingml/2006/main">
              <a:ext uri="{FF2B5EF4-FFF2-40B4-BE49-F238E27FC236}">
                <a16:creationId xmlns:a16="http://schemas.microsoft.com/office/drawing/2014/main" id="{0A2B8045-7B78-4111-AF30-091C04EF6179}"/>
              </a:ext>
            </a:extLst>
          </p:cNvPr>
          <p:cNvSpPr>
            <a:spLocks xmlns:a="http://schemas.openxmlformats.org/drawingml/2006/main" noGrp="1"/>
          </p:cNvSpPr>
          <p:nvPr/>
        </p:nvSpPr>
        <p:spPr>
          <a:xfrm xmlns:a="http://schemas.openxmlformats.org/drawingml/2006/main">
            <a:off x="2095111" y="3200011"/>
            <a:ext cx="5476875" cy="5334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h1">
            <a:extLst xmlns:a="http://schemas.openxmlformats.org/drawingml/2006/main">
              <a:ext uri="{FF2B5EF4-FFF2-40B4-BE49-F238E27FC236}">
                <a16:creationId xmlns:a16="http://schemas.microsoft.com/office/drawing/2014/main" id="{E808ACAB-8B84-417E-A047-57069314D11E}"/>
              </a:ext>
            </a:extLst>
          </p:cNvPr>
          <p:cNvSpPr>
            <a:spLocks xmlns:a="http://schemas.openxmlformats.org/drawingml/2006/main" noGrp="1"/>
          </p:cNvSpPr>
          <p:nvPr/>
        </p:nvSpPr>
        <p:spPr>
          <a:xfrm xmlns:a="http://schemas.openxmlformats.org/drawingml/2006/main">
            <a:off x="2285611" y="3371461"/>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xmlns:a="http://schemas.openxmlformats.org/drawingml/2006/main">
              <a:ext uri="{FF2B5EF4-FFF2-40B4-BE49-F238E27FC236}">
                <a16:creationId xmlns:a16="http://schemas.microsoft.com/office/drawing/2014/main" id="{8E10EB11-3A19-412E-80A7-5EF61C7816AA}"/>
              </a:ext>
            </a:extLst>
          </p:cNvPr>
          <p:cNvSpPr>
            <a:spLocks xmlns:a="http://schemas.openxmlformats.org/drawingml/2006/main" noGrp="1"/>
          </p:cNvSpPr>
          <p:nvPr/>
        </p:nvSpPr>
        <p:spPr>
          <a:xfrm xmlns:a="http://schemas.openxmlformats.org/drawingml/2006/main">
            <a:off x="4552561" y="3371461"/>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xmlns:a="http://schemas.openxmlformats.org/drawingml/2006/main">
              <a:ext uri="{FF2B5EF4-FFF2-40B4-BE49-F238E27FC236}">
                <a16:creationId xmlns:a16="http://schemas.microsoft.com/office/drawing/2014/main" id="{518E3B22-2D16-435C-BB74-64DE95395398}"/>
              </a:ext>
            </a:extLst>
          </p:cNvPr>
          <p:cNvSpPr>
            <a:spLocks xmlns:a="http://schemas.openxmlformats.org/drawingml/2006/main" noGrp="1"/>
          </p:cNvSpPr>
          <p:nvPr/>
        </p:nvSpPr>
        <p:spPr>
          <a:xfrm xmlns:a="http://schemas.openxmlformats.org/drawingml/2006/main">
            <a:off x="6095611" y="3371461"/>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xmlns:a="http://schemas.openxmlformats.org/drawingml/2006/main">
              <a:ext uri="{FF2B5EF4-FFF2-40B4-BE49-F238E27FC236}">
                <a16:creationId xmlns:a16="http://schemas.microsoft.com/office/drawing/2014/main" id="{177B6536-D334-4103-ABFD-07301725BD96}"/>
              </a:ext>
            </a:extLst>
          </p:cNvPr>
          <p:cNvSpPr>
            <a:spLocks xmlns:a="http://schemas.openxmlformats.org/drawingml/2006/main" noGrp="1"/>
          </p:cNvSpPr>
          <p:nvPr/>
        </p:nvSpPr>
        <p:spPr>
          <a:xfrm xmlns:a="http://schemas.openxmlformats.org/drawingml/2006/main">
            <a:off x="2285611" y="3828661"/>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xmlns:a="http://schemas.openxmlformats.org/drawingml/2006/main">
              <a:ext uri="{FF2B5EF4-FFF2-40B4-BE49-F238E27FC236}">
                <a16:creationId xmlns:a16="http://schemas.microsoft.com/office/drawing/2014/main" id="{2DFA51DC-57BD-4E46-96DF-DCBB18B87057}"/>
              </a:ext>
            </a:extLst>
          </p:cNvPr>
          <p:cNvSpPr>
            <a:spLocks xmlns:a="http://schemas.openxmlformats.org/drawingml/2006/main" noGrp="1"/>
          </p:cNvSpPr>
          <p:nvPr/>
        </p:nvSpPr>
        <p:spPr>
          <a:xfrm xmlns:a="http://schemas.openxmlformats.org/drawingml/2006/main">
            <a:off x="4552561" y="3828661"/>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xmlns:a="http://schemas.openxmlformats.org/drawingml/2006/main">
              <a:ext uri="{FF2B5EF4-FFF2-40B4-BE49-F238E27FC236}">
                <a16:creationId xmlns:a16="http://schemas.microsoft.com/office/drawing/2014/main" id="{92002C57-F7AD-409F-B064-98DB4B3204FE}"/>
              </a:ext>
            </a:extLst>
          </p:cNvPr>
          <p:cNvSpPr>
            <a:spLocks xmlns:a="http://schemas.openxmlformats.org/drawingml/2006/main" noGrp="1"/>
          </p:cNvSpPr>
          <p:nvPr/>
        </p:nvSpPr>
        <p:spPr>
          <a:xfrm xmlns:a="http://schemas.openxmlformats.org/drawingml/2006/main">
            <a:off x="6095611" y="3828661"/>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xmlns:a="http://schemas.openxmlformats.org/drawingml/2006/main">
              <a:ext uri="{FF2B5EF4-FFF2-40B4-BE49-F238E27FC236}">
                <a16:creationId xmlns:a16="http://schemas.microsoft.com/office/drawing/2014/main" id="{B95781D4-A81B-4527-8246-D1D3822D79EB}"/>
              </a:ext>
            </a:extLst>
          </p:cNvPr>
          <p:cNvSpPr>
            <a:spLocks xmlns:a="http://schemas.openxmlformats.org/drawingml/2006/main" noGrp="1"/>
          </p:cNvSpPr>
          <p:nvPr/>
        </p:nvSpPr>
        <p:spPr>
          <a:xfrm xmlns:a="http://schemas.openxmlformats.org/drawingml/2006/main">
            <a:off x="2095111" y="4228711"/>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1c0">
            <a:extLst xmlns:a="http://schemas.openxmlformats.org/drawingml/2006/main">
              <a:ext uri="{FF2B5EF4-FFF2-40B4-BE49-F238E27FC236}">
                <a16:creationId xmlns:a16="http://schemas.microsoft.com/office/drawing/2014/main" id="{1E50B542-FFEB-4FDD-8CF8-E58C428C17A3}"/>
              </a:ext>
            </a:extLst>
          </p:cNvPr>
          <p:cNvSpPr>
            <a:spLocks xmlns:a="http://schemas.openxmlformats.org/drawingml/2006/main" noGrp="1"/>
          </p:cNvSpPr>
          <p:nvPr/>
        </p:nvSpPr>
        <p:spPr>
          <a:xfrm xmlns:a="http://schemas.openxmlformats.org/drawingml/2006/main">
            <a:off x="2285611" y="4266811"/>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xmlns:a="http://schemas.openxmlformats.org/drawingml/2006/main">
              <a:ext uri="{FF2B5EF4-FFF2-40B4-BE49-F238E27FC236}">
                <a16:creationId xmlns:a16="http://schemas.microsoft.com/office/drawing/2014/main" id="{44E13370-C42C-4ABB-AD39-44375914DE47}"/>
              </a:ext>
            </a:extLst>
          </p:cNvPr>
          <p:cNvSpPr>
            <a:spLocks xmlns:a="http://schemas.openxmlformats.org/drawingml/2006/main" noGrp="1"/>
          </p:cNvSpPr>
          <p:nvPr/>
        </p:nvSpPr>
        <p:spPr>
          <a:xfrm xmlns:a="http://schemas.openxmlformats.org/drawingml/2006/main">
            <a:off x="4552561" y="4266811"/>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xmlns:a="http://schemas.openxmlformats.org/drawingml/2006/main">
              <a:ext uri="{FF2B5EF4-FFF2-40B4-BE49-F238E27FC236}">
                <a16:creationId xmlns:a16="http://schemas.microsoft.com/office/drawing/2014/main" id="{96335220-FDFE-44C6-B73F-48AE7350B2FA}"/>
              </a:ext>
            </a:extLst>
          </p:cNvPr>
          <p:cNvSpPr>
            <a:spLocks xmlns:a="http://schemas.openxmlformats.org/drawingml/2006/main" noGrp="1"/>
          </p:cNvSpPr>
          <p:nvPr/>
        </p:nvSpPr>
        <p:spPr>
          <a:xfrm xmlns:a="http://schemas.openxmlformats.org/drawingml/2006/main">
            <a:off x="6095611" y="4266811"/>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xmlns:a="http://schemas.openxmlformats.org/drawingml/2006/main">
              <a:ext uri="{FF2B5EF4-FFF2-40B4-BE49-F238E27FC236}">
                <a16:creationId xmlns:a16="http://schemas.microsoft.com/office/drawing/2014/main" id="{027D89FC-AB28-4C8D-9757-336439C692ED}"/>
              </a:ext>
            </a:extLst>
          </p:cNvPr>
          <p:cNvSpPr>
            <a:spLocks xmlns:a="http://schemas.openxmlformats.org/drawingml/2006/main" noGrp="1"/>
          </p:cNvSpPr>
          <p:nvPr/>
        </p:nvSpPr>
        <p:spPr>
          <a:xfrm xmlns:a="http://schemas.openxmlformats.org/drawingml/2006/main">
            <a:off x="2285611" y="4704961"/>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xmlns:a="http://schemas.openxmlformats.org/drawingml/2006/main">
              <a:ext uri="{FF2B5EF4-FFF2-40B4-BE49-F238E27FC236}">
                <a16:creationId xmlns:a16="http://schemas.microsoft.com/office/drawing/2014/main" id="{6CEE5324-01F0-45FB-83B0-40F39D3E3CE7}"/>
              </a:ext>
            </a:extLst>
          </p:cNvPr>
          <p:cNvSpPr>
            <a:spLocks xmlns:a="http://schemas.openxmlformats.org/drawingml/2006/main" noGrp="1"/>
          </p:cNvSpPr>
          <p:nvPr/>
        </p:nvSpPr>
        <p:spPr>
          <a:xfrm xmlns:a="http://schemas.openxmlformats.org/drawingml/2006/main">
            <a:off x="4552561" y="4704961"/>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xmlns:a="http://schemas.openxmlformats.org/drawingml/2006/main">
              <a:ext uri="{FF2B5EF4-FFF2-40B4-BE49-F238E27FC236}">
                <a16:creationId xmlns:a16="http://schemas.microsoft.com/office/drawing/2014/main" id="{0EF2059F-E6A1-48C4-82B5-734B6617D594}"/>
              </a:ext>
            </a:extLst>
          </p:cNvPr>
          <p:cNvSpPr>
            <a:spLocks xmlns:a="http://schemas.openxmlformats.org/drawingml/2006/main" noGrp="1"/>
          </p:cNvSpPr>
          <p:nvPr/>
        </p:nvSpPr>
        <p:spPr>
          <a:xfrm xmlns:a="http://schemas.openxmlformats.org/drawingml/2006/main">
            <a:off x="6095611" y="4704961"/>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xmlns:a="http://schemas.openxmlformats.org/drawingml/2006/main">
              <a:ext uri="{FF2B5EF4-FFF2-40B4-BE49-F238E27FC236}">
                <a16:creationId xmlns:a16="http://schemas.microsoft.com/office/drawing/2014/main" id="{CA5EDB08-6E0E-43F2-AE82-01D7480CE191}"/>
              </a:ext>
            </a:extLst>
          </p:cNvPr>
          <p:cNvSpPr>
            <a:spLocks xmlns:a="http://schemas.openxmlformats.org/drawingml/2006/main" noGrp="1"/>
          </p:cNvSpPr>
          <p:nvPr/>
        </p:nvSpPr>
        <p:spPr>
          <a:xfrm xmlns:a="http://schemas.openxmlformats.org/drawingml/2006/main">
            <a:off x="2095111" y="5105011"/>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0" name="r3c0">
            <a:extLst xmlns:a="http://schemas.openxmlformats.org/drawingml/2006/main">
              <a:ext uri="{FF2B5EF4-FFF2-40B4-BE49-F238E27FC236}">
                <a16:creationId xmlns:a16="http://schemas.microsoft.com/office/drawing/2014/main" id="{BD9F7688-9DDA-4297-99C0-DFF4175D6106}"/>
              </a:ext>
            </a:extLst>
          </p:cNvPr>
          <p:cNvSpPr>
            <a:spLocks xmlns:a="http://schemas.openxmlformats.org/drawingml/2006/main" noGrp="1"/>
          </p:cNvSpPr>
          <p:nvPr/>
        </p:nvSpPr>
        <p:spPr>
          <a:xfrm xmlns:a="http://schemas.openxmlformats.org/drawingml/2006/main">
            <a:off x="2285611" y="5143111"/>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xmlns:a="http://schemas.openxmlformats.org/drawingml/2006/main">
              <a:ext uri="{FF2B5EF4-FFF2-40B4-BE49-F238E27FC236}">
                <a16:creationId xmlns:a16="http://schemas.microsoft.com/office/drawing/2014/main" id="{C133C7B0-35BE-4AF9-99A3-C28559E402E0}"/>
              </a:ext>
            </a:extLst>
          </p:cNvPr>
          <p:cNvSpPr>
            <a:spLocks xmlns:a="http://schemas.openxmlformats.org/drawingml/2006/main" noGrp="1"/>
          </p:cNvSpPr>
          <p:nvPr/>
        </p:nvSpPr>
        <p:spPr>
          <a:xfrm xmlns:a="http://schemas.openxmlformats.org/drawingml/2006/main">
            <a:off x="4552561" y="5143111"/>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xmlns:a="http://schemas.openxmlformats.org/drawingml/2006/main">
              <a:ext uri="{FF2B5EF4-FFF2-40B4-BE49-F238E27FC236}">
                <a16:creationId xmlns:a16="http://schemas.microsoft.com/office/drawing/2014/main" id="{93A27768-8C1B-4744-B326-91CFCDDBB314}"/>
              </a:ext>
            </a:extLst>
          </p:cNvPr>
          <p:cNvSpPr>
            <a:spLocks xmlns:a="http://schemas.openxmlformats.org/drawingml/2006/main" noGrp="1"/>
          </p:cNvSpPr>
          <p:nvPr/>
        </p:nvSpPr>
        <p:spPr>
          <a:xfrm xmlns:a="http://schemas.openxmlformats.org/drawingml/2006/main">
            <a:off x="6095611" y="5143111"/>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xmlns:a="http://schemas.openxmlformats.org/drawingml/2006/main">
              <a:ext uri="{FF2B5EF4-FFF2-40B4-BE49-F238E27FC236}">
                <a16:creationId xmlns:a16="http://schemas.microsoft.com/office/drawing/2014/main" id="{EB7CB1F5-1801-4AF9-8EED-46479601A0D3}"/>
              </a:ext>
            </a:extLst>
          </p:cNvPr>
          <p:cNvSpPr>
            <a:spLocks xmlns:a="http://schemas.openxmlformats.org/drawingml/2006/main" noGrp="1"/>
          </p:cNvSpPr>
          <p:nvPr/>
        </p:nvSpPr>
        <p:spPr>
          <a:xfrm xmlns:a="http://schemas.openxmlformats.org/drawingml/2006/main">
            <a:off x="2285611" y="5581261"/>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xmlns:a="http://schemas.openxmlformats.org/drawingml/2006/main">
              <a:ext uri="{FF2B5EF4-FFF2-40B4-BE49-F238E27FC236}">
                <a16:creationId xmlns:a16="http://schemas.microsoft.com/office/drawing/2014/main" id="{4AF64445-B578-4C7A-B3E3-421E98335E78}"/>
              </a:ext>
            </a:extLst>
          </p:cNvPr>
          <p:cNvSpPr>
            <a:spLocks xmlns:a="http://schemas.openxmlformats.org/drawingml/2006/main" noGrp="1"/>
          </p:cNvSpPr>
          <p:nvPr/>
        </p:nvSpPr>
        <p:spPr>
          <a:xfrm xmlns:a="http://schemas.openxmlformats.org/drawingml/2006/main">
            <a:off x="4552561" y="5581261"/>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xmlns:a="http://schemas.openxmlformats.org/drawingml/2006/main">
              <a:ext uri="{FF2B5EF4-FFF2-40B4-BE49-F238E27FC236}">
                <a16:creationId xmlns:a16="http://schemas.microsoft.com/office/drawing/2014/main" id="{948CFE70-F26B-44C7-A63E-48701774D477}"/>
              </a:ext>
            </a:extLst>
          </p:cNvPr>
          <p:cNvSpPr>
            <a:spLocks xmlns:a="http://schemas.openxmlformats.org/drawingml/2006/main" noGrp="1"/>
          </p:cNvSpPr>
          <p:nvPr/>
        </p:nvSpPr>
        <p:spPr>
          <a:xfrm xmlns:a="http://schemas.openxmlformats.org/drawingml/2006/main">
            <a:off x="6095611" y="5581261"/>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xmlns:a="http://schemas.openxmlformats.org/drawingml/2006/main">
              <a:ext uri="{FF2B5EF4-FFF2-40B4-BE49-F238E27FC236}">
                <a16:creationId xmlns:a16="http://schemas.microsoft.com/office/drawing/2014/main" id="{95D017DF-C509-4284-B600-E86885EA47D9}"/>
              </a:ext>
            </a:extLst>
          </p:cNvPr>
          <p:cNvSpPr>
            <a:spLocks xmlns:a="http://schemas.openxmlformats.org/drawingml/2006/main" noGrp="1"/>
          </p:cNvSpPr>
          <p:nvPr/>
        </p:nvSpPr>
        <p:spPr>
          <a:xfrm xmlns:a="http://schemas.openxmlformats.org/drawingml/2006/main">
            <a:off x="8000611" y="3200011"/>
            <a:ext cx="5476875" cy="1143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features-stripe">
            <a:extLst xmlns:a="http://schemas.openxmlformats.org/drawingml/2006/main">
              <a:ext uri="{FF2B5EF4-FFF2-40B4-BE49-F238E27FC236}">
                <a16:creationId xmlns:a16="http://schemas.microsoft.com/office/drawing/2014/main" id="{67909127-005D-4EFE-B40B-9E661BEE2946}"/>
              </a:ext>
            </a:extLst>
          </p:cNvPr>
          <p:cNvSpPr>
            <a:spLocks xmlns:a="http://schemas.openxmlformats.org/drawingml/2006/main" noGrp="1"/>
          </p:cNvSpPr>
          <p:nvPr/>
        </p:nvSpPr>
        <p:spPr>
          <a:xfrm xmlns:a="http://schemas.openxmlformats.org/drawingml/2006/main">
            <a:off x="8000611" y="3200011"/>
            <a:ext cx="76200" cy="1143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8" name="features-title">
            <a:extLst xmlns:a="http://schemas.openxmlformats.org/drawingml/2006/main">
              <a:ext uri="{FF2B5EF4-FFF2-40B4-BE49-F238E27FC236}">
                <a16:creationId xmlns:a16="http://schemas.microsoft.com/office/drawing/2014/main" id="{AD42C4DA-F5F3-4E4D-8BF0-62DD926CB7C4}"/>
              </a:ext>
            </a:extLst>
          </p:cNvPr>
          <p:cNvSpPr>
            <a:spLocks xmlns:a="http://schemas.openxmlformats.org/drawingml/2006/main" noGrp="1"/>
          </p:cNvSpPr>
          <p:nvPr/>
        </p:nvSpPr>
        <p:spPr>
          <a:xfrm xmlns:a="http://schemas.openxmlformats.org/drawingml/2006/main">
            <a:off x="8267311" y="3409561"/>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xmlns:a="http://schemas.openxmlformats.org/drawingml/2006/main">
              <a:ext uri="{FF2B5EF4-FFF2-40B4-BE49-F238E27FC236}">
                <a16:creationId xmlns:a16="http://schemas.microsoft.com/office/drawing/2014/main" id="{C6E79B50-497E-4A4C-93A6-67386CBAE586}"/>
              </a:ext>
            </a:extLst>
          </p:cNvPr>
          <p:cNvSpPr>
            <a:spLocks xmlns:a="http://schemas.openxmlformats.org/drawingml/2006/main" noGrp="1"/>
          </p:cNvSpPr>
          <p:nvPr/>
        </p:nvSpPr>
        <p:spPr>
          <a:xfrm xmlns:a="http://schemas.openxmlformats.org/drawingml/2006/main">
            <a:off x="8267311" y="3809611"/>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xmlns:a="http://schemas.openxmlformats.org/drawingml/2006/main">
              <a:ext uri="{FF2B5EF4-FFF2-40B4-BE49-F238E27FC236}">
                <a16:creationId xmlns:a16="http://schemas.microsoft.com/office/drawing/2014/main" id="{CC84F10B-95C6-4903-8F7E-DE253B70ED51}"/>
              </a:ext>
            </a:extLst>
          </p:cNvPr>
          <p:cNvSpPr>
            <a:spLocks xmlns:a="http://schemas.openxmlformats.org/drawingml/2006/main" noGrp="1"/>
          </p:cNvSpPr>
          <p:nvPr/>
        </p:nvSpPr>
        <p:spPr>
          <a:xfrm xmlns:a="http://schemas.openxmlformats.org/drawingml/2006/main">
            <a:off x="8000611" y="4647811"/>
            <a:ext cx="1743075" cy="1190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1" name="alg-CarenR-stripe">
            <a:extLst xmlns:a="http://schemas.openxmlformats.org/drawingml/2006/main">
              <a:ext uri="{FF2B5EF4-FFF2-40B4-BE49-F238E27FC236}">
                <a16:creationId xmlns:a16="http://schemas.microsoft.com/office/drawing/2014/main" id="{744B36E5-7ED6-4563-8682-FDFAB2B7E05E}"/>
              </a:ext>
            </a:extLst>
          </p:cNvPr>
          <p:cNvSpPr>
            <a:spLocks xmlns:a="http://schemas.openxmlformats.org/drawingml/2006/main" noGrp="1"/>
          </p:cNvSpPr>
          <p:nvPr/>
        </p:nvSpPr>
        <p:spPr>
          <a:xfrm xmlns:a="http://schemas.openxmlformats.org/drawingml/2006/main">
            <a:off x="8000611" y="4647811"/>
            <a:ext cx="76200" cy="119062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alg-title-CarenR">
            <a:extLst xmlns:a="http://schemas.openxmlformats.org/drawingml/2006/main">
              <a:ext uri="{FF2B5EF4-FFF2-40B4-BE49-F238E27FC236}">
                <a16:creationId xmlns:a16="http://schemas.microsoft.com/office/drawing/2014/main" id="{C5DB6868-6C86-441E-A257-4EAE29173502}"/>
              </a:ext>
            </a:extLst>
          </p:cNvPr>
          <p:cNvSpPr>
            <a:spLocks xmlns:a="http://schemas.openxmlformats.org/drawingml/2006/main" noGrp="1"/>
          </p:cNvSpPr>
          <p:nvPr/>
        </p:nvSpPr>
        <p:spPr>
          <a:xfrm xmlns:a="http://schemas.openxmlformats.org/drawingml/2006/main">
            <a:off x="8191111" y="4838311"/>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xmlns:a="http://schemas.openxmlformats.org/drawingml/2006/main">
              <a:ext uri="{FF2B5EF4-FFF2-40B4-BE49-F238E27FC236}">
                <a16:creationId xmlns:a16="http://schemas.microsoft.com/office/drawing/2014/main" id="{B301D34E-F183-4F58-95F5-F9DA9D7C668F}"/>
              </a:ext>
            </a:extLst>
          </p:cNvPr>
          <p:cNvSpPr>
            <a:spLocks xmlns:a="http://schemas.openxmlformats.org/drawingml/2006/main" noGrp="1"/>
          </p:cNvSpPr>
          <p:nvPr/>
        </p:nvSpPr>
        <p:spPr>
          <a:xfrm xmlns:a="http://schemas.openxmlformats.org/drawingml/2006/main">
            <a:off x="8191111" y="5219311"/>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xmlns:a="http://schemas.openxmlformats.org/drawingml/2006/main">
              <a:ext uri="{FF2B5EF4-FFF2-40B4-BE49-F238E27FC236}">
                <a16:creationId xmlns:a16="http://schemas.microsoft.com/office/drawing/2014/main" id="{BDC95BAA-7740-40D3-A37B-3E3D273E919F}"/>
              </a:ext>
            </a:extLst>
          </p:cNvPr>
          <p:cNvSpPr>
            <a:spLocks xmlns:a="http://schemas.openxmlformats.org/drawingml/2006/main" noGrp="1"/>
          </p:cNvSpPr>
          <p:nvPr/>
        </p:nvSpPr>
        <p:spPr>
          <a:xfrm xmlns:a="http://schemas.openxmlformats.org/drawingml/2006/main">
            <a:off x="9867511" y="4647811"/>
            <a:ext cx="1743075" cy="1190625"/>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5" name="alg-RIPPER-stripe">
            <a:extLst xmlns:a="http://schemas.openxmlformats.org/drawingml/2006/main">
              <a:ext uri="{FF2B5EF4-FFF2-40B4-BE49-F238E27FC236}">
                <a16:creationId xmlns:a16="http://schemas.microsoft.com/office/drawing/2014/main" id="{6F556A2F-ADB5-442B-839F-119900136BCA}"/>
              </a:ext>
            </a:extLst>
          </p:cNvPr>
          <p:cNvSpPr>
            <a:spLocks xmlns:a="http://schemas.openxmlformats.org/drawingml/2006/main" noGrp="1"/>
          </p:cNvSpPr>
          <p:nvPr/>
        </p:nvSpPr>
        <p:spPr>
          <a:xfrm xmlns:a="http://schemas.openxmlformats.org/drawingml/2006/main">
            <a:off x="9867511" y="4647811"/>
            <a:ext cx="76200" cy="1190625"/>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alg-title-RIPPER">
            <a:extLst xmlns:a="http://schemas.openxmlformats.org/drawingml/2006/main">
              <a:ext uri="{FF2B5EF4-FFF2-40B4-BE49-F238E27FC236}">
                <a16:creationId xmlns:a16="http://schemas.microsoft.com/office/drawing/2014/main" id="{28738C0C-5F98-4BAE-86D0-8989FD4F0688}"/>
              </a:ext>
            </a:extLst>
          </p:cNvPr>
          <p:cNvSpPr>
            <a:spLocks xmlns:a="http://schemas.openxmlformats.org/drawingml/2006/main" noGrp="1"/>
          </p:cNvSpPr>
          <p:nvPr/>
        </p:nvSpPr>
        <p:spPr>
          <a:xfrm xmlns:a="http://schemas.openxmlformats.org/drawingml/2006/main">
            <a:off x="10058011" y="4838311"/>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xmlns:a="http://schemas.openxmlformats.org/drawingml/2006/main">
              <a:ext uri="{FF2B5EF4-FFF2-40B4-BE49-F238E27FC236}">
                <a16:creationId xmlns:a16="http://schemas.microsoft.com/office/drawing/2014/main" id="{094AF391-4ED3-4B2A-AE89-0D63937C9DC3}"/>
              </a:ext>
            </a:extLst>
          </p:cNvPr>
          <p:cNvSpPr>
            <a:spLocks xmlns:a="http://schemas.openxmlformats.org/drawingml/2006/main" noGrp="1"/>
          </p:cNvSpPr>
          <p:nvPr/>
        </p:nvSpPr>
        <p:spPr>
          <a:xfrm xmlns:a="http://schemas.openxmlformats.org/drawingml/2006/main">
            <a:off x="10058011" y="5219311"/>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xmlns:a="http://schemas.openxmlformats.org/drawingml/2006/main">
              <a:ext uri="{FF2B5EF4-FFF2-40B4-BE49-F238E27FC236}">
                <a16:creationId xmlns:a16="http://schemas.microsoft.com/office/drawing/2014/main" id="{709F2445-AB6B-4A46-B346-C590B49CD2C3}"/>
              </a:ext>
            </a:extLst>
          </p:cNvPr>
          <p:cNvSpPr>
            <a:spLocks xmlns:a="http://schemas.openxmlformats.org/drawingml/2006/main" noGrp="1"/>
          </p:cNvSpPr>
          <p:nvPr/>
        </p:nvSpPr>
        <p:spPr>
          <a:xfrm xmlns:a="http://schemas.openxmlformats.org/drawingml/2006/main">
            <a:off x="11734411" y="4647811"/>
            <a:ext cx="1743075" cy="1190625"/>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9" name="alg-M5Rules-stripe">
            <a:extLst xmlns:a="http://schemas.openxmlformats.org/drawingml/2006/main">
              <a:ext uri="{FF2B5EF4-FFF2-40B4-BE49-F238E27FC236}">
                <a16:creationId xmlns:a16="http://schemas.microsoft.com/office/drawing/2014/main" id="{6CD92377-4CF4-45A0-8C9D-314D64BCF1D0}"/>
              </a:ext>
            </a:extLst>
          </p:cNvPr>
          <p:cNvSpPr>
            <a:spLocks xmlns:a="http://schemas.openxmlformats.org/drawingml/2006/main" noGrp="1"/>
          </p:cNvSpPr>
          <p:nvPr/>
        </p:nvSpPr>
        <p:spPr>
          <a:xfrm xmlns:a="http://schemas.openxmlformats.org/drawingml/2006/main">
            <a:off x="11734411" y="4647811"/>
            <a:ext cx="76200" cy="1190625"/>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0" name="alg-title-M5Rules">
            <a:extLst xmlns:a="http://schemas.openxmlformats.org/drawingml/2006/main">
              <a:ext uri="{FF2B5EF4-FFF2-40B4-BE49-F238E27FC236}">
                <a16:creationId xmlns:a16="http://schemas.microsoft.com/office/drawing/2014/main" id="{A14DD236-475A-480D-B44E-A1AA2AB40014}"/>
              </a:ext>
            </a:extLst>
          </p:cNvPr>
          <p:cNvSpPr>
            <a:spLocks xmlns:a="http://schemas.openxmlformats.org/drawingml/2006/main" noGrp="1"/>
          </p:cNvSpPr>
          <p:nvPr/>
        </p:nvSpPr>
        <p:spPr>
          <a:xfrm xmlns:a="http://schemas.openxmlformats.org/drawingml/2006/main">
            <a:off x="11924911" y="4838311"/>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xmlns:a="http://schemas.openxmlformats.org/drawingml/2006/main">
              <a:ext uri="{FF2B5EF4-FFF2-40B4-BE49-F238E27FC236}">
                <a16:creationId xmlns:a16="http://schemas.microsoft.com/office/drawing/2014/main" id="{FAF0C1A9-3BBE-4778-904C-9F6FC1C44D25}"/>
              </a:ext>
            </a:extLst>
          </p:cNvPr>
          <p:cNvSpPr>
            <a:spLocks xmlns:a="http://schemas.openxmlformats.org/drawingml/2006/main" noGrp="1"/>
          </p:cNvSpPr>
          <p:nvPr/>
        </p:nvSpPr>
        <p:spPr>
          <a:xfrm xmlns:a="http://schemas.openxmlformats.org/drawingml/2006/main">
            <a:off x="11924911" y="5219311"/>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xmlns:a="http://schemas.openxmlformats.org/drawingml/2006/main">
              <a:ext uri="{FF2B5EF4-FFF2-40B4-BE49-F238E27FC236}">
                <a16:creationId xmlns:a16="http://schemas.microsoft.com/office/drawing/2014/main" id="{60D82F10-0FAA-41EC-B789-E72B789FDAC7}"/>
              </a:ext>
            </a:extLst>
          </p:cNvPr>
          <p:cNvSpPr>
            <a:spLocks xmlns:a="http://schemas.openxmlformats.org/drawingml/2006/main" noGrp="1"/>
          </p:cNvSpPr>
          <p:nvPr/>
        </p:nvSpPr>
        <p:spPr>
          <a:xfrm xmlns:a="http://schemas.openxmlformats.org/drawingml/2006/main">
            <a:off x="2095111" y="6409936"/>
            <a:ext cx="11382375" cy="952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3" name="validation-stripe">
            <a:extLst xmlns:a="http://schemas.openxmlformats.org/drawingml/2006/main">
              <a:ext uri="{FF2B5EF4-FFF2-40B4-BE49-F238E27FC236}">
                <a16:creationId xmlns:a16="http://schemas.microsoft.com/office/drawing/2014/main" id="{F31E0CDD-4BC4-4042-AB4B-2F0342D246D1}"/>
              </a:ext>
            </a:extLst>
          </p:cNvPr>
          <p:cNvSpPr>
            <a:spLocks xmlns:a="http://schemas.openxmlformats.org/drawingml/2006/main" noGrp="1"/>
          </p:cNvSpPr>
          <p:nvPr/>
        </p:nvSpPr>
        <p:spPr>
          <a:xfrm xmlns:a="http://schemas.openxmlformats.org/drawingml/2006/main">
            <a:off x="2095111" y="6409936"/>
            <a:ext cx="76200" cy="9525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4" name="validation-main">
            <a:extLst xmlns:a="http://schemas.openxmlformats.org/drawingml/2006/main">
              <a:ext uri="{FF2B5EF4-FFF2-40B4-BE49-F238E27FC236}">
                <a16:creationId xmlns:a16="http://schemas.microsoft.com/office/drawing/2014/main" id="{8490D7AA-05E8-4552-ADAB-857B58D23C55}"/>
              </a:ext>
            </a:extLst>
          </p:cNvPr>
          <p:cNvSpPr>
            <a:spLocks xmlns:a="http://schemas.openxmlformats.org/drawingml/2006/main" noGrp="1"/>
          </p:cNvSpPr>
          <p:nvPr/>
        </p:nvSpPr>
        <p:spPr>
          <a:xfrm xmlns:a="http://schemas.openxmlformats.org/drawingml/2006/main">
            <a:off x="2647561" y="6629011"/>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xmlns:a="http://schemas.openxmlformats.org/drawingml/2006/main">
              <a:ext uri="{FF2B5EF4-FFF2-40B4-BE49-F238E27FC236}">
                <a16:creationId xmlns:a16="http://schemas.microsoft.com/office/drawing/2014/main" id="{C4FDF98B-F1AE-49F9-8E4E-43FA64005276}"/>
              </a:ext>
            </a:extLst>
          </p:cNvPr>
          <p:cNvSpPr>
            <a:spLocks xmlns:a="http://schemas.openxmlformats.org/drawingml/2006/main" noGrp="1"/>
          </p:cNvSpPr>
          <p:nvPr/>
        </p:nvSpPr>
        <p:spPr>
          <a:xfrm xmlns:a="http://schemas.openxmlformats.org/drawingml/2006/main">
            <a:off x="2647561" y="7010011"/>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xmlns:a="http://schemas.openxmlformats.org/drawingml/2006/main">
              <a:ext uri="{FF2B5EF4-FFF2-40B4-BE49-F238E27FC236}">
                <a16:creationId xmlns:a16="http://schemas.microsoft.com/office/drawing/2014/main" id="{CCEE83D0-8A64-4C04-B88B-D2FD29F60A89}"/>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8" name="slide-number-11">
            <a:extLst xmlns:a="http://schemas.openxmlformats.org/drawingml/2006/main">
              <a:ext uri="{FF2B5EF4-FFF2-40B4-BE49-F238E27FC236}">
                <a16:creationId xmlns:a16="http://schemas.microsoft.com/office/drawing/2014/main" id="{26613B52-979B-4481-B51E-EBC786171242}"/>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19356966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690" name="Rectangle 689"/>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9" name="Rectangle 688"/>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8" name="Rectangle 687"/>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7" name="Rectangle 686"/>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6" name="Rectangle 685"/>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5" name="Rectangle 684"/>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4" name="Rectangle 683"/>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3" name="Rectangle 682"/>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ALGORITHMS</a:t>
            </a:r>
          </a:p>
        </p:txBody>
      </p:sp>
      <p:sp>
        <p:nvSpPr>
          <p:cNvPr id="2" name="Rectangle 1">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CarenR is the primary lens among five model families</a:t>
            </a:r>
          </a:p>
        </p:txBody>
      </p:sp>
      <p:sp>
        <p:nvSpPr>
          <p:cNvPr id="3" name="Rectangle 2">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Rectangle 3">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2095111" y="3171436"/>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2380861" y="3428611"/>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2563A6"/>
                </a:solidFill>
                <a:latin typeface="Arial"/>
                <a:ea typeface="Arial"/>
                <a:cs typeface="Arial"/>
              </a:defRPr>
            </a:pPr>
            <a:r>
              <a:t>PRIMARY METHOD</a:t>
            </a:r>
          </a:p>
        </p:txBody>
      </p:sp>
      <p:sp>
        <p:nvSpPr>
          <p:cNvPr id="6" name="Rectangle 5">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2380861" y="3790561"/>
            <a:ext cx="2381250" cy="5238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CarenR</a:t>
            </a:r>
          </a:p>
        </p:txBody>
      </p:sp>
      <p:sp>
        <p:nvSpPr>
          <p:cNvPr id="7" name="Rectangle 6">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4838311" y="3933436"/>
            <a:ext cx="3667125" cy="323850"/>
          </a:xfrm>
          <a:prstGeom xmlns:a="http://schemas.openxmlformats.org/drawingml/2006/main" prst="rect">
            <a:avLst/>
          </a:prstGeom>
        </p:spPr>
        <p:txBody>
          <a:bodyPr xmlns:a="http://schemas.openxmlformats.org/drawingml/2006/main" lIns="0" tIns="0" rIns="0" bIns="0" anchor="t">
            <a:normAutofit fontScale="91161"/>
          </a:bodyPr>
          <a:lstStyle xmlns:a="http://schemas.openxmlformats.org/drawingml/2006/main"/>
          <a:p xmlns:a="http://schemas.openxmlformats.org/drawingml/2006/main">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2409436" y="4695436"/>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1</a:t>
            </a:r>
          </a:p>
        </p:txBody>
      </p:sp>
      <p:sp>
        <p:nvSpPr>
          <p:cNvPr id="9" name="Rectangle 8">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2761861" y="4695436"/>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Discretise</a:t>
            </a:r>
          </a:p>
        </p:txBody>
      </p:sp>
      <p:sp>
        <p:nvSpPr>
          <p:cNvPr id="10" name="Rectangle 9">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4076311" y="4695436"/>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Climate features become equal-frequency bins.</a:t>
            </a:r>
          </a:p>
        </p:txBody>
      </p:sp>
      <p:cxnSp>
        <p:nvCxnSpPr>
          <p:cNvPr id="674" name="Straight Arrow Connector 654"/>
          <p:cNvCxnSpPr/>
          <p:nvPr/>
        </p:nvCxnSpPr>
        <p:spPr>
          <a:xfrm xmlns:a="http://schemas.openxmlformats.org/drawingml/2006/main">
            <a:off x="2533261" y="5047861"/>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Rectangle 11">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2409436" y="5409811"/>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2</a:t>
            </a:r>
          </a:p>
        </p:txBody>
      </p:sp>
      <p:sp>
        <p:nvSpPr>
          <p:cNvPr id="13" name="Rectangle 12">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2761861" y="5409811"/>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Search</a:t>
            </a:r>
          </a:p>
        </p:txBody>
      </p:sp>
      <p:sp>
        <p:nvSpPr>
          <p:cNvPr id="14" name="Rectangle 13">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4076311" y="5409811"/>
            <a:ext cx="4333875" cy="304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rPr sz="1500"/>
              <a:t>Level-wise search (</a:t>
            </a:r>
            <a:r>
              <a:rPr sz="1500"/>
              <a:t>Apriori</a:t>
            </a:r>
            <a:r>
              <a:rPr sz="1500"/>
              <a:t>-style) combines feature-bin conditions.</a:t>
            </a:r>
          </a:p>
        </p:txBody>
      </p:sp>
      <p:cxnSp>
        <p:nvCxnSpPr>
          <p:cNvPr id="678" name="Straight Arrow Connector 658"/>
          <p:cNvCxnSpPr/>
          <p:nvPr/>
        </p:nvCxnSpPr>
        <p:spPr>
          <a:xfrm xmlns:a="http://schemas.openxmlformats.org/drawingml/2006/main">
            <a:off x="2533261" y="5762236"/>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Rectangle 15">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2409436" y="6124186"/>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3</a:t>
            </a:r>
          </a:p>
        </p:txBody>
      </p:sp>
      <p:sp>
        <p:nvSpPr>
          <p:cNvPr id="17" name="Rectangle 16">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2761861" y="6124186"/>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Compare</a:t>
            </a:r>
          </a:p>
        </p:txBody>
      </p:sp>
      <p:sp>
        <p:nvSpPr>
          <p:cNvPr id="18" name="Rectangle 17">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4076311" y="6124186"/>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KS test: subgroup residuals vs global residuals.</a:t>
            </a:r>
          </a:p>
        </p:txBody>
      </p:sp>
      <p:cxnSp>
        <p:nvCxnSpPr>
          <p:cNvPr id="682" name="Straight Arrow Connector 662"/>
          <p:cNvCxnSpPr/>
          <p:nvPr/>
        </p:nvCxnSpPr>
        <p:spPr>
          <a:xfrm xmlns:a="http://schemas.openxmlformats.org/drawingml/2006/main">
            <a:off x="2533261" y="6476611"/>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Rectangle 19">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2409436" y="6838561"/>
            <a:ext cx="28575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1">
                <a:solidFill>
                  <a:srgbClr val="2563A6"/>
                </a:solidFill>
                <a:latin typeface="Arial"/>
                <a:ea typeface="Arial"/>
                <a:cs typeface="Arial"/>
              </a:defRPr>
            </a:pPr>
            <a:r>
              <a:t>4</a:t>
            </a:r>
          </a:p>
        </p:txBody>
      </p:sp>
      <p:sp>
        <p:nvSpPr>
          <p:cNvPr id="21" name="Rectangle 20">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2761861" y="6838561"/>
            <a:ext cx="1285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51515"/>
                </a:solidFill>
                <a:latin typeface="Arial"/>
                <a:ea typeface="Arial"/>
                <a:cs typeface="Arial"/>
              </a:defRPr>
            </a:pPr>
            <a:r>
              <a:t>Retain</a:t>
            </a:r>
          </a:p>
        </p:txBody>
      </p:sp>
      <p:sp>
        <p:nvSpPr>
          <p:cNvPr id="22" name="Rectangle 21">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4076311" y="6838561"/>
            <a:ext cx="4333875"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Keep significant rules with sufficient support.</a:t>
            </a:r>
          </a:p>
        </p:txBody>
      </p:sp>
      <p:sp>
        <p:nvSpPr>
          <p:cNvPr id="23" name="Rectangle 22">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2380861" y="7267186"/>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4" name="Rectangle 23">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2533261" y="7324336"/>
            <a:ext cx="57150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9505561" y="3266686"/>
            <a:ext cx="17145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75" b="1">
                <a:solidFill>
                  <a:srgbClr val="7B1E3A"/>
                </a:solidFill>
                <a:latin typeface="Arial"/>
                <a:ea typeface="Arial"/>
                <a:cs typeface="Arial"/>
              </a:defRPr>
            </a:pPr>
            <a:r>
              <a:t>COMPARATORS</a:t>
            </a:r>
          </a:p>
        </p:txBody>
      </p:sp>
      <p:sp>
        <p:nvSpPr>
          <p:cNvPr id="26" name="Rectangle 25">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9410311" y="3647686"/>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7" name="Rectangle 26">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9648436" y="3891054"/>
            <a:ext cx="1095375"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1">
                <a:solidFill>
                  <a:srgbClr val="151515"/>
                </a:solidFill>
                <a:latin typeface="Arial"/>
                <a:ea typeface="Arial"/>
                <a:cs typeface="Arial"/>
              </a:defRPr>
            </a:pPr>
            <a:r>
              <a:t>RIPPER</a:t>
            </a:r>
          </a:p>
        </p:txBody>
      </p:sp>
      <p:sp>
        <p:nvSpPr>
          <p:cNvPr id="28" name="Rectangle 27">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10934311" y="3833904"/>
            <a:ext cx="2266950"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9410311" y="4571611"/>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0" name="Rectangle 29">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9648436" y="4814979"/>
            <a:ext cx="114300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75" b="1">
                <a:solidFill>
                  <a:srgbClr val="151515"/>
                </a:solidFill>
                <a:latin typeface="Arial"/>
                <a:ea typeface="Arial"/>
                <a:cs typeface="Arial"/>
              </a:defRPr>
            </a:pPr>
            <a:r>
              <a:t>M5Rules</a:t>
            </a:r>
          </a:p>
        </p:txBody>
      </p:sp>
      <p:sp>
        <p:nvSpPr>
          <p:cNvPr id="31" name="Rectangle 30">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10934311" y="4814979"/>
            <a:ext cx="22669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9410311" y="5495536"/>
            <a:ext cx="4076700" cy="781050"/>
          </a:xfrm>
          <a:prstGeom xmlns:a="http://schemas.openxmlformats.org/drawingml/2006/main" prst="rect">
            <a:avLst/>
          </a:prstGeom>
          <a:solidFill xmlns:a="http://schemas.openxmlformats.org/drawingml/2006/main">
            <a:srgbClr val="F5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Rectangle 32">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9648436" y="5749178"/>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buNone/>
              <a:defRPr sz="1575" b="1">
                <a:solidFill>
                  <a:srgbClr val="151515"/>
                </a:solidFill>
                <a:latin typeface="Arial"/>
                <a:ea typeface="Arial"/>
                <a:cs typeface="Arial"/>
              </a:defRPr>
            </a:pPr>
            <a:r>
              <a:t>Decision Tree</a:t>
            </a:r>
          </a:p>
        </p:txBody>
      </p:sp>
      <p:sp>
        <p:nvSpPr>
          <p:cNvPr id="34" name="Rectangle 33">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11124811" y="5692028"/>
            <a:ext cx="2076450"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9410311" y="6419461"/>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6" name="Rectangle 35">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9648436" y="6590911"/>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buNone/>
              <a:defRPr sz="1575" b="1">
                <a:solidFill>
                  <a:srgbClr val="7B1E3A"/>
                </a:solidFill>
                <a:latin typeface="Arial"/>
                <a:ea typeface="Arial"/>
                <a:cs typeface="Arial"/>
              </a:defRPr>
            </a:pPr>
            <a:r>
              <a:t>Naive baselines</a:t>
            </a:r>
          </a:p>
        </p:txBody>
      </p:sp>
      <p:sp>
        <p:nvSpPr>
          <p:cNvPr id="37" name="Rectangle 36">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11172436" y="6590911"/>
            <a:ext cx="2028825" cy="4953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9410311" y="7295761"/>
            <a:ext cx="4048125" cy="514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050" b="1">
                <a:solidFill>
                  <a:srgbClr val="76283E"/>
                </a:solidFill>
                <a:latin typeface="Arial"/>
                <a:ea typeface="Arial"/>
                <a:cs typeface="Arial"/>
              </a:defRPr>
            </a:pPr>
            <a:r>
              <a:rPr sz="1050" b="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89" name="Rectangle 88"/>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8" name="Rectangle 87"/>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7" name="Rectangle 86"/>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6" name="Rectangle 85"/>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5" name="Rectangle 84"/>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4" name="Rectangle 83"/>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3" name="Rectangle 82"/>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2" name="Rectangle 81"/>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2222384" y="3566724"/>
            <a:ext cx="11137353" cy="685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rPr sz="1600"/>
              <a:t>Do years matching these climate conditions have a production-residual distribution that differs from all years?</a:t>
            </a:r>
          </a:p>
        </p:txBody>
      </p:sp>
      <p:sp>
        <p:nvSpPr>
          <p:cNvPr id="2" name="Rectangle 1">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26" name="Rectangle 25">
            <a:extLst xmlns:a="http://schemas.openxmlformats.org/drawingml/2006/main">
              <a:ext uri="{FF2B5EF4-FFF2-40B4-BE49-F238E27FC236}">
                <a16:creationId xmlns:a16="http://schemas.microsoft.com/office/drawing/2014/main" id="{C969EE1D-F9C9-4065-B305-D5B3E0176E48}"/>
              </a:ext>
            </a:extLst>
          </p:cNvPr>
          <p:cNvSpPr>
            <a:spLocks xmlns:a="http://schemas.openxmlformats.org/drawingml/2006/main" noGrp="1"/>
          </p:cNvSpPr>
          <p:nvPr/>
        </p:nvSpPr>
        <p:spPr>
          <a:xfrm xmlns:a="http://schemas.openxmlformats.org/drawingml/2006/main">
            <a:off x="2525053" y="6895711"/>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F7D4D"/>
                </a:solidFill>
              </a:defRPr>
            </a:pPr>
            <a:r>
              <a:rPr sz="1125" b="1">
                <a:solidFill>
                  <a:srgbClr val="2F7D4D"/>
                </a:solidFill>
              </a:rPr>
              <a:t>Auditable: subgroup support + p-value; falsifiable by agronomic review</a:t>
            </a:r>
          </a:p>
        </p:txBody>
      </p:sp>
      <p:sp>
        <p:nvSpPr>
          <p:cNvPr id="50" name="Rectangle 49">
            <a:extLst xmlns:a="http://schemas.openxmlformats.org/drawingml/2006/main">
              <a:ext uri="{FF2B5EF4-FFF2-40B4-BE49-F238E27FC236}">
                <a16:creationId xmlns:a16="http://schemas.microsoft.com/office/drawing/2014/main" id="{7E919E56-1B09-43AB-B090-8C74572E91FF}"/>
              </a:ext>
            </a:extLst>
          </p:cNvPr>
          <p:cNvSpPr>
            <a:spLocks xmlns:a="http://schemas.openxmlformats.org/drawingml/2006/main" noGrp="1"/>
          </p:cNvSpPr>
          <p:nvPr/>
        </p:nvSpPr>
        <p:spPr>
          <a:xfrm xmlns:a="http://schemas.openxmlformats.org/drawingml/2006/main">
            <a:off x="2506003" y="6848086"/>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Auditable: support + p-value; falsifiable by agronomic review</a:t>
            </a:r>
          </a:p>
        </p:txBody>
      </p:sp>
      <p:sp>
        <p:nvSpPr>
          <p:cNvPr id="54" name="Rectangle 53">
            <a:extLst xmlns:a="http://schemas.openxmlformats.org/drawingml/2006/main">
              <a:ext uri="{FF2B5EF4-FFF2-40B4-BE49-F238E27FC236}">
                <a16:creationId xmlns:a16="http://schemas.microsoft.com/office/drawing/2014/main" id="{82D63C2D-66B3-4D31-BDD7-B7A0525E0B80}"/>
              </a:ext>
            </a:extLst>
          </p:cNvPr>
          <p:cNvSpPr>
            <a:spLocks xmlns:a="http://schemas.openxmlformats.org/drawingml/2006/main" noGrp="1"/>
          </p:cNvSpPr>
          <p:nvPr/>
        </p:nvSpPr>
        <p:spPr>
          <a:xfrm xmlns:a="http://schemas.openxmlformats.org/drawingml/2006/main">
            <a:off x="2506003" y="6867136"/>
            <a:ext cx="445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38" b="1">
                <a:solidFill>
                  <a:srgbClr val="2F7D4D"/>
                </a:solidFill>
              </a:defRPr>
            </a:pPr>
            <a:r>
              <a:rPr sz="938" b="1">
                <a:solidFill>
                  <a:srgbClr val="2F7D4D"/>
                </a:solidFill>
              </a:rPr>
              <a:t>Auditable: support + p-value; domain experts can challenge the rule</a:t>
            </a:r>
          </a:p>
        </p:txBody>
      </p:sp>
      <p:sp>
        <p:nvSpPr>
          <p:cNvPr id="56" name="slide11-audit-footer-final">
            <a:extLst xmlns:a="http://schemas.openxmlformats.org/drawingml/2006/main">
              <a:ext uri="{FF2B5EF4-FFF2-40B4-BE49-F238E27FC236}">
                <a16:creationId xmlns:a16="http://schemas.microsoft.com/office/drawing/2014/main" id="{82411CFD-2036-4B81-8167-BAE881F60CB0}"/>
              </a:ext>
            </a:extLst>
          </p:cNvPr>
          <p:cNvSpPr>
            <a:spLocks xmlns:a="http://schemas.openxmlformats.org/drawingml/2006/main" noGrp="1"/>
          </p:cNvSpPr>
          <p:nvPr/>
        </p:nvSpPr>
        <p:spPr>
          <a:xfrm xmlns:a="http://schemas.openxmlformats.org/drawingml/2006/main">
            <a:off x="2334553" y="6809986"/>
            <a:ext cx="4838700" cy="285750"/>
          </a:xfrm>
          <a:prstGeom xmlns:a="http://schemas.openxmlformats.org/drawingml/2006/main" prst="rect">
            <a:avLst/>
          </a:prstGeom>
          <a:solidFill xmlns:a="http://schemas.openxmlformats.org/drawingml/2006/main">
            <a:srgbClr val="EEF7F0"/>
          </a:solidFill>
          <a:ln xmlns:a="http://schemas.openxmlformats.org/drawingml/2006/main" w="9525">
            <a:solidFill>
              <a:srgbClr val="DDEBDF"/>
            </a:solidFill>
            <a:prstDash val="solid"/>
          </a:ln>
        </p:spPr>
        <p:txBody>
          <a:bodyPr xmlns:a="http://schemas.openxmlformats.org/drawingml/2006/main"/>
          <a:lstStyle xmlns:a="http://schemas.openxmlformats.org/drawingml/2006/main"/>
          <a:p xmlns:a="http://schemas.openxmlformats.org/drawingml/2006/main"/>
        </p:txBody>
      </p:sp>
      <p:sp>
        <p:nvSpPr>
          <p:cNvPr id="57" name="slide11-audit-footer-final-stripe">
            <a:extLst xmlns:a="http://schemas.openxmlformats.org/drawingml/2006/main">
              <a:ext uri="{FF2B5EF4-FFF2-40B4-BE49-F238E27FC236}">
                <a16:creationId xmlns:a16="http://schemas.microsoft.com/office/drawing/2014/main" id="{17FED8BD-9208-4F12-821C-4B2D0D8133AD}"/>
              </a:ext>
            </a:extLst>
          </p:cNvPr>
          <p:cNvSpPr>
            <a:spLocks xmlns:a="http://schemas.openxmlformats.org/drawingml/2006/main" noGrp="1"/>
          </p:cNvSpPr>
          <p:nvPr/>
        </p:nvSpPr>
        <p:spPr>
          <a:xfrm xmlns:a="http://schemas.openxmlformats.org/drawingml/2006/main">
            <a:off x="2334553" y="6809986"/>
            <a:ext cx="57150" cy="285750"/>
          </a:xfrm>
          <a:prstGeom xmlns:a="http://schemas.openxmlformats.org/drawingml/2006/main" prst="rect">
            <a:avLst/>
          </a:prstGeom>
          <a:solidFill xmlns:a="http://schemas.openxmlformats.org/drawingml/2006/main">
            <a:srgbClr val="2F7D4D"/>
          </a:solidFill>
          <a:ln xmlns:a="http://schemas.openxmlformats.org/drawingml/2006/main" w="0">
            <a:solidFill>
              <a:srgbClr val="2F7D4D"/>
            </a:solidFill>
            <a:prstDash val="solid"/>
          </a:ln>
        </p:spPr>
        <p:txBody>
          <a:bodyPr xmlns:a="http://schemas.openxmlformats.org/drawingml/2006/main"/>
          <a:lstStyle xmlns:a="http://schemas.openxmlformats.org/drawingml/2006/main"/>
          <a:p xmlns:a="http://schemas.openxmlformats.org/drawingml/2006/main"/>
        </p:txBody>
      </p:sp>
      <p:sp>
        <p:nvSpPr>
          <p:cNvPr id="58" name="Rectangle 57">
            <a:extLst xmlns:a="http://schemas.openxmlformats.org/drawingml/2006/main">
              <a:ext uri="{FF2B5EF4-FFF2-40B4-BE49-F238E27FC236}">
                <a16:creationId xmlns:a16="http://schemas.microsoft.com/office/drawing/2014/main" id="{A25FC0C4-CBB8-4599-81CD-54755FED4127}"/>
              </a:ext>
            </a:extLst>
          </p:cNvPr>
          <p:cNvSpPr>
            <a:spLocks xmlns:a="http://schemas.openxmlformats.org/drawingml/2006/main" noGrp="1"/>
          </p:cNvSpPr>
          <p:nvPr/>
        </p:nvSpPr>
        <p:spPr>
          <a:xfrm xmlns:a="http://schemas.openxmlformats.org/drawingml/2006/main">
            <a:off x="2525053" y="6886186"/>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b="1">
                <a:solidFill>
                  <a:srgbClr val="2F7D4D"/>
                </a:solidFill>
              </a:defRPr>
            </a:pPr>
            <a:r>
              <a:rPr sz="863" b="1">
                <a:solidFill>
                  <a:srgbClr val="2F7D4D"/>
                </a:solidFill>
              </a:rPr>
              <a:t>Auditable: support + p-value; domain experts can challenge it</a:t>
            </a:r>
          </a:p>
        </p:txBody>
      </p:sp>
      <p:sp>
        <p:nvSpPr>
          <p:cNvPr id="60" name="slide11-stray-text-cover">
            <a:extLst xmlns:a="http://schemas.openxmlformats.org/drawingml/2006/main">
              <a:ext uri="{FF2B5EF4-FFF2-40B4-BE49-F238E27FC236}">
                <a16:creationId xmlns:a16="http://schemas.microsoft.com/office/drawing/2014/main" id="{49FBF974-8943-4348-B3EA-528B119FDF90}"/>
              </a:ext>
            </a:extLst>
          </p:cNvPr>
          <p:cNvSpPr>
            <a:spLocks xmlns:a="http://schemas.openxmlformats.org/drawingml/2006/main" noGrp="1"/>
          </p:cNvSpPr>
          <p:nvPr/>
        </p:nvSpPr>
        <p:spPr>
          <a:xfrm xmlns:a="http://schemas.openxmlformats.org/drawingml/2006/main">
            <a:off x="8578190" y="6762361"/>
            <a:ext cx="5191125" cy="3619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2" name="Rectangle 61">
            <a:extLst xmlns:a="http://schemas.openxmlformats.org/drawingml/2006/main">
              <a:ext uri="{FF2B5EF4-FFF2-40B4-BE49-F238E27FC236}">
                <a16:creationId xmlns:a16="http://schemas.microsoft.com/office/drawing/2014/main" id="{F3EF441E-874F-4289-B98A-608D18361D79}"/>
              </a:ext>
            </a:extLst>
          </p:cNvPr>
          <p:cNvSpPr>
            <a:spLocks xmlns:a="http://schemas.openxmlformats.org/drawingml/2006/main" noGrp="1"/>
          </p:cNvSpPr>
          <p:nvPr/>
        </p:nvSpPr>
        <p:spPr>
          <a:xfrm xmlns:a="http://schemas.openxmlformats.org/drawingml/2006/main">
            <a:off x="2334553" y="4762111"/>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6283E"/>
                </a:solidFill>
              </a:defRPr>
            </a:pPr>
            <a:r>
              <a:rPr sz="1350" b="1">
                <a:solidFill>
                  <a:srgbClr val="76283E"/>
                </a:solidFill>
              </a:rPr>
              <a:t>What the KS test sees</a:t>
            </a:r>
          </a:p>
        </p:txBody>
      </p:sp>
      <p:pic>
        <p:nvPicPr>
          <p:cNvPr id="81" name="Picture 83"/>
          <p:cNvPicPr>
            <a:picLocks xmlns:a="http://schemas.openxmlformats.org/drawingml/2006/main" noChangeAspect="1"/>
          </p:cNvPicPr>
          <p:nvPr/>
        </p:nvPicPr>
        <p:blipFill>
          <a:blip xmlns:r="http://schemas.openxmlformats.org/officeDocument/2006/relationships" xmlns:a="http://schemas.openxmlformats.org/drawingml/2006/main" r:embed="R9148b6ca54c4478c"/>
          <a:stretch xmlns:a="http://schemas.openxmlformats.org/drawingml/2006/main"/>
        </p:blipFill>
        <p:spPr>
          <a:xfrm xmlns:a="http://schemas.openxmlformats.org/drawingml/2006/main">
            <a:off x="2334553" y="5030315"/>
            <a:ext cx="2857500" cy="1654342"/>
          </a:xfrm>
          <a:prstGeom xmlns:a="http://schemas.openxmlformats.org/drawingml/2006/main" prst="rect">
            <a:avLst/>
          </a:prstGeom>
        </p:spPr>
      </p:pic>
      <p:sp>
        <p:nvSpPr>
          <p:cNvPr id="65" name="slide11-clean-audit-card">
            <a:extLst xmlns:a="http://schemas.openxmlformats.org/drawingml/2006/main">
              <a:ext uri="{FF2B5EF4-FFF2-40B4-BE49-F238E27FC236}">
                <a16:creationId xmlns:a16="http://schemas.microsoft.com/office/drawing/2014/main" id="{C8B5CCD5-ACF4-41BA-AAB1-C35C67B28D34}"/>
              </a:ext>
            </a:extLst>
          </p:cNvPr>
          <p:cNvSpPr>
            <a:spLocks xmlns:a="http://schemas.openxmlformats.org/drawingml/2006/main" noGrp="1"/>
          </p:cNvSpPr>
          <p:nvPr/>
        </p:nvSpPr>
        <p:spPr>
          <a:xfrm xmlns:a="http://schemas.openxmlformats.org/drawingml/2006/main">
            <a:off x="5363503" y="5009761"/>
            <a:ext cx="1809750" cy="1447800"/>
          </a:xfrm>
          <a:prstGeom xmlns:a="http://schemas.openxmlformats.org/drawingml/2006/main" prst="roundRect">
            <a:avLst>
              <a:gd name="adj" fmla="val 3947"/>
            </a:avLst>
          </a:prstGeom>
          <a:solidFill xmlns:a="http://schemas.openxmlformats.org/drawingml/2006/main">
            <a:srgbClr val="F6F0E8"/>
          </a:solidFill>
          <a:ln xmlns:a="http://schemas.openxmlformats.org/drawingml/2006/main" w="11430">
            <a:solidFill>
              <a:srgbClr val="C99A3E"/>
            </a:solidFill>
            <a:prstDash val="solid"/>
          </a:ln>
        </p:spPr>
        <p:txBody>
          <a:bodyPr xmlns:a="http://schemas.openxmlformats.org/drawingml/2006/main"/>
          <a:lstStyle xmlns:a="http://schemas.openxmlformats.org/drawingml/2006/main"/>
          <a:p xmlns:a="http://schemas.openxmlformats.org/drawingml/2006/main"/>
        </p:txBody>
      </p:sp>
      <p:sp>
        <p:nvSpPr>
          <p:cNvPr id="66" name="Rectangle 65">
            <a:extLst xmlns:a="http://schemas.openxmlformats.org/drawingml/2006/main">
              <a:ext uri="{FF2B5EF4-FFF2-40B4-BE49-F238E27FC236}">
                <a16:creationId xmlns:a16="http://schemas.microsoft.com/office/drawing/2014/main" id="{696A13C2-82FD-4BE3-B3A7-CAC763BA7FC3}"/>
              </a:ext>
            </a:extLst>
          </p:cNvPr>
          <p:cNvSpPr>
            <a:spLocks xmlns:a="http://schemas.openxmlformats.org/drawingml/2006/main" noGrp="1"/>
          </p:cNvSpPr>
          <p:nvPr/>
        </p:nvSpPr>
        <p:spPr>
          <a:xfrm xmlns:a="http://schemas.openxmlformats.org/drawingml/2006/main">
            <a:off x="5496853" y="5143111"/>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C99A3E"/>
                </a:solidFill>
              </a:defRPr>
            </a:pPr>
            <a:r>
              <a:rPr sz="825" b="1">
                <a:solidFill>
                  <a:srgbClr val="C99A3E"/>
                </a:solidFill>
              </a:rPr>
              <a:t>A RULE YOU CAN AUDIT</a:t>
            </a:r>
          </a:p>
        </p:txBody>
      </p:sp>
      <p:sp>
        <p:nvSpPr>
          <p:cNvPr id="67" name="Rectangle 66">
            <a:extLst xmlns:a="http://schemas.openxmlformats.org/drawingml/2006/main">
              <a:ext uri="{FF2B5EF4-FFF2-40B4-BE49-F238E27FC236}">
                <a16:creationId xmlns:a16="http://schemas.microsoft.com/office/drawing/2014/main" id="{52C196E9-289E-42D7-B941-70F9D0E60781}"/>
              </a:ext>
            </a:extLst>
          </p:cNvPr>
          <p:cNvSpPr>
            <a:spLocks xmlns:a="http://schemas.openxmlformats.org/drawingml/2006/main" noGrp="1"/>
          </p:cNvSpPr>
          <p:nvPr/>
        </p:nvSpPr>
        <p:spPr>
          <a:xfrm xmlns:a="http://schemas.openxmlformats.org/drawingml/2006/main">
            <a:off x="5496853" y="5409811"/>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171313"/>
                </a:solidFill>
              </a:defRPr>
            </a:pPr>
            <a:r>
              <a:rPr sz="975">
                <a:solidFill>
                  <a:srgbClr val="171313"/>
                </a:solidFill>
              </a:rPr>
              <a:t>IF dry post-flowering</a:t>
            </a:r>
          </a:p>
          <a:p xmlns:a="http://schemas.openxmlformats.org/drawingml/2006/main">
            <a:pPr>
              <a:buNone/>
              <a:defRPr sz="975">
                <a:solidFill>
                  <a:srgbClr val="171313"/>
                </a:solidFill>
              </a:defRPr>
            </a:pPr>
            <a:r>
              <a:rPr sz="975">
                <a:solidFill>
                  <a:srgbClr val="171313"/>
                </a:solidFill>
              </a:rPr>
              <a:t>AND moderate harvest soil water</a:t>
            </a:r>
          </a:p>
        </p:txBody>
      </p:sp>
      <p:sp>
        <p:nvSpPr>
          <p:cNvPr id="68" name="Rectangle 67">
            <a:extLst xmlns:a="http://schemas.openxmlformats.org/drawingml/2006/main">
              <a:ext uri="{FF2B5EF4-FFF2-40B4-BE49-F238E27FC236}">
                <a16:creationId xmlns:a16="http://schemas.microsoft.com/office/drawing/2014/main" id="{99C3ACF3-58DC-41AD-AEA7-835146124EF4}"/>
              </a:ext>
            </a:extLst>
          </p:cNvPr>
          <p:cNvSpPr>
            <a:spLocks xmlns:a="http://schemas.openxmlformats.org/drawingml/2006/main" noGrp="1"/>
          </p:cNvSpPr>
          <p:nvPr/>
        </p:nvSpPr>
        <p:spPr>
          <a:xfrm xmlns:a="http://schemas.openxmlformats.org/drawingml/2006/main">
            <a:off x="5496853" y="5924161"/>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THEN +121 mhl</a:t>
            </a:r>
          </a:p>
          <a:p xmlns:a="http://schemas.openxmlformats.org/drawingml/2006/main">
            <a:pPr>
              <a:buNone/>
              <a:defRPr sz="1050" b="1">
                <a:solidFill>
                  <a:srgbClr val="2F7D4D"/>
                </a:solidFill>
              </a:defRPr>
            </a:pPr>
            <a:r>
              <a:rPr sz="1050" b="1">
                <a:solidFill>
                  <a:srgbClr val="2F7D4D"/>
                </a:solidFill>
              </a:rPr>
              <a:t>above trend</a:t>
            </a:r>
          </a:p>
        </p:txBody>
      </p:sp>
      <p:sp>
        <p:nvSpPr>
          <p:cNvPr id="69" name="Rectangle 68">
            <a:extLst xmlns:a="http://schemas.openxmlformats.org/drawingml/2006/main">
              <a:ext uri="{FF2B5EF4-FFF2-40B4-BE49-F238E27FC236}">
                <a16:creationId xmlns:a16="http://schemas.microsoft.com/office/drawing/2014/main" id="{8304F2A1-B38D-4F3B-BC02-B8AA7A947CA4}"/>
              </a:ext>
            </a:extLst>
          </p:cNvPr>
          <p:cNvSpPr>
            <a:spLocks xmlns:a="http://schemas.openxmlformats.org/drawingml/2006/main" noGrp="1"/>
          </p:cNvSpPr>
          <p:nvPr/>
        </p:nvSpPr>
        <p:spPr>
          <a:xfrm xmlns:a="http://schemas.openxmlformats.org/drawingml/2006/main">
            <a:off x="5496853" y="6286111"/>
            <a:ext cx="152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i="1">
                <a:solidFill>
                  <a:srgbClr val="6F6761"/>
                </a:solidFill>
              </a:defRPr>
            </a:pPr>
            <a:r>
              <a:rPr sz="863" i="1">
                <a:solidFill>
                  <a:srgbClr val="6F6761"/>
                </a:solidFill>
              </a:rPr>
              <a:t>support 28% · p = 0.004</a:t>
            </a:r>
          </a:p>
        </p:txBody>
      </p:sp>
      <p:sp>
        <p:nvSpPr>
          <p:cNvPr id="7" name="Rectangle 6">
            <a:extLst xmlns:a="http://schemas.openxmlformats.org/drawingml/2006/main">
              <a:ext uri="{FF2B5EF4-FFF2-40B4-BE49-F238E27FC236}">
                <a16:creationId xmlns:a16="http://schemas.microsoft.com/office/drawing/2014/main" id="{71D2983F-3FEE-1911-F758-9330D9AB2DC1}"/>
              </a:ext>
            </a:extLst>
          </p:cNvPr>
          <p:cNvSpPr>
            <a:spLocks xmlns:a="http://schemas.openxmlformats.org/drawingml/2006/main" noGrp="1"/>
          </p:cNvSpPr>
          <p:nvPr/>
        </p:nvSpPr>
        <p:spPr>
          <a:xfrm xmlns:a="http://schemas.openxmlformats.org/drawingml/2006/main">
            <a:off x="2144758" y="2904736"/>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9" name="Rectangle 8">
            <a:extLst xmlns:a="http://schemas.openxmlformats.org/drawingml/2006/main">
              <a:ext uri="{FF2B5EF4-FFF2-40B4-BE49-F238E27FC236}">
                <a16:creationId xmlns:a16="http://schemas.microsoft.com/office/drawing/2014/main" id="{56C14212-9F1D-A1BD-9772-E229DD0E9FC1}"/>
              </a:ext>
            </a:extLst>
          </p:cNvPr>
          <p:cNvSpPr>
            <a:spLocks xmlns:a="http://schemas.openxmlformats.org/drawingml/2006/main" noGrp="1"/>
          </p:cNvSpPr>
          <p:nvPr/>
        </p:nvSpPr>
        <p:spPr>
          <a:xfrm xmlns:a="http://schemas.openxmlformats.org/drawingml/2006/main">
            <a:off x="8521040" y="4571611"/>
            <a:ext cx="4476750" cy="10477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7545B42A-963F-70A1-795A-A18D1FF4AD37}"/>
              </a:ext>
            </a:extLst>
          </p:cNvPr>
          <p:cNvSpPr>
            <a:spLocks xmlns:a="http://schemas.openxmlformats.org/drawingml/2006/main" noGrp="1"/>
          </p:cNvSpPr>
          <p:nvPr/>
        </p:nvSpPr>
        <p:spPr>
          <a:xfrm xmlns:a="http://schemas.openxmlformats.org/drawingml/2006/main">
            <a:off x="8759165" y="4819261"/>
            <a:ext cx="428625"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2563A6"/>
                </a:solidFill>
                <a:latin typeface="Arial"/>
                <a:ea typeface="Arial"/>
                <a:cs typeface="Arial"/>
              </a:defRPr>
            </a:pPr>
            <a:r>
              <a:t>IF</a:t>
            </a:r>
          </a:p>
        </p:txBody>
      </p:sp>
      <p:sp>
        <p:nvSpPr>
          <p:cNvPr id="11" name="Rectangle 10">
            <a:extLst xmlns:a="http://schemas.openxmlformats.org/drawingml/2006/main">
              <a:ext uri="{FF2B5EF4-FFF2-40B4-BE49-F238E27FC236}">
                <a16:creationId xmlns:a16="http://schemas.microsoft.com/office/drawing/2014/main" id="{7E9E6738-2659-FCE5-CF35-02F624BEE7B6}"/>
              </a:ext>
            </a:extLst>
          </p:cNvPr>
          <p:cNvSpPr>
            <a:spLocks xmlns:a="http://schemas.openxmlformats.org/drawingml/2006/main" noGrp="1"/>
          </p:cNvSpPr>
          <p:nvPr/>
        </p:nvSpPr>
        <p:spPr>
          <a:xfrm xmlns:a="http://schemas.openxmlformats.org/drawingml/2006/main">
            <a:off x="9283040" y="4762111"/>
            <a:ext cx="3429000" cy="571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151515"/>
                </a:solidFill>
                <a:latin typeface="Arial"/>
                <a:ea typeface="Arial"/>
                <a:cs typeface="Arial"/>
              </a:defRPr>
            </a:pPr>
            <a:r>
              <a:t>wet days after flowering are low
AND post-maturity wet days are low</a:t>
            </a:r>
          </a:p>
        </p:txBody>
      </p:sp>
      <p:sp>
        <p:nvSpPr>
          <p:cNvPr id="12" name="Rectangle 11">
            <a:extLst xmlns:a="http://schemas.openxmlformats.org/drawingml/2006/main">
              <a:ext uri="{FF2B5EF4-FFF2-40B4-BE49-F238E27FC236}">
                <a16:creationId xmlns:a16="http://schemas.microsoft.com/office/drawing/2014/main" id="{5106FB8A-0C6A-8FEA-48BB-F4ABEE809954}"/>
              </a:ext>
            </a:extLst>
          </p:cNvPr>
          <p:cNvSpPr>
            <a:spLocks xmlns:a="http://schemas.openxmlformats.org/drawingml/2006/main" noGrp="1"/>
          </p:cNvSpPr>
          <p:nvPr/>
        </p:nvSpPr>
        <p:spPr>
          <a:xfrm xmlns:a="http://schemas.openxmlformats.org/drawingml/2006/main">
            <a:off x="8521040" y="5762236"/>
            <a:ext cx="4476750" cy="809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FABB34F0-6491-5040-064F-C045F6F46173}"/>
              </a:ext>
            </a:extLst>
          </p:cNvPr>
          <p:cNvSpPr>
            <a:spLocks xmlns:a="http://schemas.openxmlformats.org/drawingml/2006/main" noGrp="1"/>
          </p:cNvSpPr>
          <p:nvPr/>
        </p:nvSpPr>
        <p:spPr>
          <a:xfrm xmlns:a="http://schemas.openxmlformats.org/drawingml/2006/main">
            <a:off x="8759165" y="6000361"/>
            <a:ext cx="666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166534"/>
                </a:solidFill>
                <a:latin typeface="Arial"/>
                <a:ea typeface="Arial"/>
                <a:cs typeface="Arial"/>
              </a:defRPr>
            </a:pPr>
            <a:r>
              <a:t>THEN</a:t>
            </a:r>
          </a:p>
        </p:txBody>
      </p:sp>
      <p:sp>
        <p:nvSpPr>
          <p:cNvPr id="14" name="Rectangle 13">
            <a:extLst xmlns:a="http://schemas.openxmlformats.org/drawingml/2006/main">
              <a:ext uri="{FF2B5EF4-FFF2-40B4-BE49-F238E27FC236}">
                <a16:creationId xmlns:a16="http://schemas.microsoft.com/office/drawing/2014/main" id="{DAE7C95E-F5AC-7A00-9900-EA29F06A0DEA}"/>
              </a:ext>
            </a:extLst>
          </p:cNvPr>
          <p:cNvSpPr>
            <a:spLocks xmlns:a="http://schemas.openxmlformats.org/drawingml/2006/main" noGrp="1"/>
          </p:cNvSpPr>
          <p:nvPr/>
        </p:nvSpPr>
        <p:spPr>
          <a:xfrm xmlns:a="http://schemas.openxmlformats.org/drawingml/2006/main">
            <a:off x="9616415" y="5952736"/>
            <a:ext cx="304800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151515"/>
                </a:solidFill>
                <a:latin typeface="Arial"/>
                <a:ea typeface="Arial"/>
                <a:cs typeface="Arial"/>
              </a:defRPr>
            </a:pPr>
            <a:r>
              <a:t>the residual distribution shifts</a:t>
            </a:r>
          </a:p>
        </p:txBody>
      </p:sp>
      <p:sp>
        <p:nvSpPr>
          <p:cNvPr id="15" name="Rectangle 14">
            <a:extLst xmlns:a="http://schemas.openxmlformats.org/drawingml/2006/main">
              <a:ext uri="{FF2B5EF4-FFF2-40B4-BE49-F238E27FC236}">
                <a16:creationId xmlns:a16="http://schemas.microsoft.com/office/drawing/2014/main" id="{8D6C739E-C8DC-4EA1-F121-DEA5F9661DB8}"/>
              </a:ext>
            </a:extLst>
          </p:cNvPr>
          <p:cNvSpPr>
            <a:spLocks xmlns:a="http://schemas.openxmlformats.org/drawingml/2006/main" noGrp="1"/>
          </p:cNvSpPr>
          <p:nvPr/>
        </p:nvSpPr>
        <p:spPr>
          <a:xfrm xmlns:a="http://schemas.openxmlformats.org/drawingml/2006/main">
            <a:off x="8521040" y="6762361"/>
            <a:ext cx="44767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60656C"/>
                </a:solidFill>
                <a:latin typeface="Arial"/>
                <a:ea typeface="Arial"/>
                <a:cs typeface="Arial"/>
              </a:defRPr>
            </a:pPr>
            <a:r>
              <a:t>KS p ≤ 0.10 · support ≥ 20% for discovery</a:t>
            </a:r>
          </a:p>
        </p:txBody>
      </p:sp>
    </p:spTree>
    <p:extLst>
      <p:ext uri="{BB962C8B-B14F-4D97-AF65-F5344CB8AC3E}">
        <p14:creationId xmlns:p14="http://schemas.microsoft.com/office/powerpoint/2010/main" val="195006293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94" name="Rectangle 93"/>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3" name="Rectangle 92"/>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2" name="Rectangle 91"/>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1" name="Rectangle 90"/>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0" name="Rectangle 89"/>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9" name="Rectangle 88"/>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8" name="Rectangle 87"/>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7" name="Rectangle 86"/>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57C4C588-CA82-6451-E565-896C7C6A67A2}"/>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DISCOVERY</a:t>
            </a:r>
          </a:p>
        </p:txBody>
      </p:sp>
      <p:sp>
        <p:nvSpPr>
          <p:cNvPr id="2" name="Rectangle 1">
            <a:extLst xmlns:a="http://schemas.openxmlformats.org/drawingml/2006/main">
              <a:ext uri="{FF2B5EF4-FFF2-40B4-BE49-F238E27FC236}">
                <a16:creationId xmlns:a16="http://schemas.microsoft.com/office/drawing/2014/main" id="{AA93BFFF-2833-8342-AF31-6A2E523E6C89}"/>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3" name="Rectangle 2">
            <a:extLst xmlns:a="http://schemas.openxmlformats.org/drawingml/2006/main">
              <a:ext uri="{FF2B5EF4-FFF2-40B4-BE49-F238E27FC236}">
                <a16:creationId xmlns:a16="http://schemas.microsoft.com/office/drawing/2014/main" id="{AD8DD96C-7B43-0B20-E36E-7F581C68C5DF}"/>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11</a:t>
            </a:r>
          </a:p>
        </p:txBody>
      </p:sp>
      <p:pic>
        <p:nvPicPr>
          <p:cNvPr id="75" name="Picture 72"/>
          <p:cNvPicPr>
            <a:picLocks xmlns:a="http://schemas.openxmlformats.org/drawingml/2006/main" noChangeAspect="1"/>
          </p:cNvPicPr>
          <p:nvPr/>
        </p:nvPicPr>
        <p:blipFill>
          <a:blip xmlns:r="http://schemas.openxmlformats.org/officeDocument/2006/relationships" xmlns:a="http://schemas.openxmlformats.org/drawingml/2006/main" r:embed="R3a834845164246cf"/>
          <a:stretch xmlns:a="http://schemas.openxmlformats.org/drawingml/2006/main"/>
        </p:blipFill>
        <p:spPr>
          <a:xfrm xmlns:a="http://schemas.openxmlformats.org/drawingml/2006/main">
            <a:off x="2636615" y="3047611"/>
            <a:ext cx="4631992" cy="47625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C843E701-CE20-1CE3-DBEE-7228611D61D6}"/>
              </a:ext>
            </a:extLst>
          </p:cNvPr>
          <p:cNvSpPr>
            <a:spLocks xmlns:a="http://schemas.openxmlformats.org/drawingml/2006/main" noGrp="1"/>
          </p:cNvSpPr>
          <p:nvPr/>
        </p:nvSpPr>
        <p:spPr>
          <a:xfrm xmlns:a="http://schemas.openxmlformats.org/drawingml/2006/main">
            <a:off x="8362561" y="3314311"/>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6" name="Rectangle 5">
            <a:extLst xmlns:a="http://schemas.openxmlformats.org/drawingml/2006/main">
              <a:ext uri="{FF2B5EF4-FFF2-40B4-BE49-F238E27FC236}">
                <a16:creationId xmlns:a16="http://schemas.microsoft.com/office/drawing/2014/main" id="{FCC234B7-FC90-A6A2-0C19-1306F7DA9603}"/>
              </a:ext>
            </a:extLst>
          </p:cNvPr>
          <p:cNvSpPr>
            <a:spLocks xmlns:a="http://schemas.openxmlformats.org/drawingml/2006/main" noGrp="1"/>
          </p:cNvSpPr>
          <p:nvPr/>
        </p:nvSpPr>
        <p:spPr>
          <a:xfrm xmlns:a="http://schemas.openxmlformats.org/drawingml/2006/main">
            <a:off x="8362561" y="4028686"/>
            <a:ext cx="4476750" cy="952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Do years matching these climate conditions have a production-residual distribution that differs from all years?</a:t>
            </a:r>
          </a:p>
        </p:txBody>
      </p:sp>
      <p:sp>
        <p:nvSpPr>
          <p:cNvPr id="26" name="Rectangle 25">
            <a:extLst xmlns:a="http://schemas.openxmlformats.org/drawingml/2006/main">
              <a:ext uri="{FF2B5EF4-FFF2-40B4-BE49-F238E27FC236}">
                <a16:creationId xmlns:a16="http://schemas.microsoft.com/office/drawing/2014/main" id="{85B84768-C0CB-23F2-F1CE-0909B0638B86}"/>
              </a:ext>
            </a:extLst>
          </p:cNvPr>
          <p:cNvSpPr>
            <a:spLocks xmlns:a="http://schemas.openxmlformats.org/drawingml/2006/main" noGrp="1"/>
          </p:cNvSpPr>
          <p:nvPr/>
        </p:nvSpPr>
        <p:spPr>
          <a:xfrm xmlns:a="http://schemas.openxmlformats.org/drawingml/2006/main">
            <a:off x="8553061" y="7352911"/>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F7D4D"/>
                </a:solidFill>
              </a:defRPr>
            </a:pPr>
            <a:r>
              <a:rPr sz="1125" b="1">
                <a:solidFill>
                  <a:srgbClr val="2F7D4D"/>
                </a:solidFill>
              </a:rPr>
              <a:t>Auditable: subgroup support + p-value; falsifiable by agronomic review</a:t>
            </a:r>
          </a:p>
        </p:txBody>
      </p:sp>
      <p:sp>
        <p:nvSpPr>
          <p:cNvPr id="50" name="Rectangle 49">
            <a:extLst xmlns:a="http://schemas.openxmlformats.org/drawingml/2006/main">
              <a:ext uri="{FF2B5EF4-FFF2-40B4-BE49-F238E27FC236}">
                <a16:creationId xmlns:a16="http://schemas.microsoft.com/office/drawing/2014/main" id="{FDB39F88-C326-0E25-2709-9A963EA08C0C}"/>
              </a:ext>
            </a:extLst>
          </p:cNvPr>
          <p:cNvSpPr>
            <a:spLocks xmlns:a="http://schemas.openxmlformats.org/drawingml/2006/main" noGrp="1"/>
          </p:cNvSpPr>
          <p:nvPr/>
        </p:nvSpPr>
        <p:spPr>
          <a:xfrm xmlns:a="http://schemas.openxmlformats.org/drawingml/2006/main">
            <a:off x="8534011" y="7305286"/>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Auditable: support + p-value; falsifiable by agronomic review</a:t>
            </a:r>
          </a:p>
        </p:txBody>
      </p:sp>
      <p:sp>
        <p:nvSpPr>
          <p:cNvPr id="54" name="Rectangle 53">
            <a:extLst xmlns:a="http://schemas.openxmlformats.org/drawingml/2006/main">
              <a:ext uri="{FF2B5EF4-FFF2-40B4-BE49-F238E27FC236}">
                <a16:creationId xmlns:a16="http://schemas.microsoft.com/office/drawing/2014/main" id="{04A153EE-464A-6BB2-8D22-B2B69C02EEE0}"/>
              </a:ext>
            </a:extLst>
          </p:cNvPr>
          <p:cNvSpPr>
            <a:spLocks xmlns:a="http://schemas.openxmlformats.org/drawingml/2006/main" noGrp="1"/>
          </p:cNvSpPr>
          <p:nvPr/>
        </p:nvSpPr>
        <p:spPr>
          <a:xfrm xmlns:a="http://schemas.openxmlformats.org/drawingml/2006/main">
            <a:off x="8534011" y="7324336"/>
            <a:ext cx="445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38" b="1">
                <a:solidFill>
                  <a:srgbClr val="2F7D4D"/>
                </a:solidFill>
              </a:defRPr>
            </a:pPr>
            <a:r>
              <a:rPr sz="938" b="1">
                <a:solidFill>
                  <a:srgbClr val="2F7D4D"/>
                </a:solidFill>
              </a:rPr>
              <a:t>Auditable: support + p-value; domain experts can challenge the rule</a:t>
            </a:r>
          </a:p>
        </p:txBody>
      </p:sp>
      <p:sp>
        <p:nvSpPr>
          <p:cNvPr id="56" name="slide11-audit-footer-final">
            <a:extLst xmlns:a="http://schemas.openxmlformats.org/drawingml/2006/main">
              <a:ext uri="{FF2B5EF4-FFF2-40B4-BE49-F238E27FC236}">
                <a16:creationId xmlns:a16="http://schemas.microsoft.com/office/drawing/2014/main" id="{17564AAC-92AE-4AC7-B6A9-BA6C291AE250}"/>
              </a:ext>
            </a:extLst>
          </p:cNvPr>
          <p:cNvSpPr>
            <a:spLocks xmlns:a="http://schemas.openxmlformats.org/drawingml/2006/main" noGrp="1"/>
          </p:cNvSpPr>
          <p:nvPr/>
        </p:nvSpPr>
        <p:spPr>
          <a:xfrm xmlns:a="http://schemas.openxmlformats.org/drawingml/2006/main">
            <a:off x="8362561" y="7267186"/>
            <a:ext cx="4838700" cy="285750"/>
          </a:xfrm>
          <a:prstGeom xmlns:a="http://schemas.openxmlformats.org/drawingml/2006/main" prst="rect">
            <a:avLst/>
          </a:prstGeom>
          <a:solidFill xmlns:a="http://schemas.openxmlformats.org/drawingml/2006/main">
            <a:srgbClr val="EEF7F0"/>
          </a:solidFill>
          <a:ln xmlns:a="http://schemas.openxmlformats.org/drawingml/2006/main" w="9525">
            <a:solidFill>
              <a:srgbClr val="DDEBDF"/>
            </a:solidFill>
            <a:prstDash val="solid"/>
          </a:ln>
        </p:spPr>
        <p:txBody>
          <a:bodyPr xmlns:a="http://schemas.openxmlformats.org/drawingml/2006/main"/>
          <a:lstStyle xmlns:a="http://schemas.openxmlformats.org/drawingml/2006/main"/>
          <a:p xmlns:a="http://schemas.openxmlformats.org/drawingml/2006/main"/>
        </p:txBody>
      </p:sp>
      <p:sp>
        <p:nvSpPr>
          <p:cNvPr id="57" name="slide11-audit-footer-final-stripe">
            <a:extLst xmlns:a="http://schemas.openxmlformats.org/drawingml/2006/main">
              <a:ext uri="{FF2B5EF4-FFF2-40B4-BE49-F238E27FC236}">
                <a16:creationId xmlns:a16="http://schemas.microsoft.com/office/drawing/2014/main" id="{E4D1B82E-9138-1295-9878-CC793C420C6E}"/>
              </a:ext>
            </a:extLst>
          </p:cNvPr>
          <p:cNvSpPr>
            <a:spLocks xmlns:a="http://schemas.openxmlformats.org/drawingml/2006/main" noGrp="1"/>
          </p:cNvSpPr>
          <p:nvPr/>
        </p:nvSpPr>
        <p:spPr>
          <a:xfrm xmlns:a="http://schemas.openxmlformats.org/drawingml/2006/main">
            <a:off x="8362561" y="7267186"/>
            <a:ext cx="57150" cy="285750"/>
          </a:xfrm>
          <a:prstGeom xmlns:a="http://schemas.openxmlformats.org/drawingml/2006/main" prst="rect">
            <a:avLst/>
          </a:prstGeom>
          <a:solidFill xmlns:a="http://schemas.openxmlformats.org/drawingml/2006/main">
            <a:srgbClr val="2F7D4D"/>
          </a:solidFill>
          <a:ln xmlns:a="http://schemas.openxmlformats.org/drawingml/2006/main" w="0">
            <a:solidFill>
              <a:srgbClr val="2F7D4D"/>
            </a:solidFill>
            <a:prstDash val="solid"/>
          </a:ln>
        </p:spPr>
        <p:txBody>
          <a:bodyPr xmlns:a="http://schemas.openxmlformats.org/drawingml/2006/main"/>
          <a:lstStyle xmlns:a="http://schemas.openxmlformats.org/drawingml/2006/main"/>
          <a:p xmlns:a="http://schemas.openxmlformats.org/drawingml/2006/main"/>
        </p:txBody>
      </p:sp>
      <p:sp>
        <p:nvSpPr>
          <p:cNvPr id="58" name="Rectangle 57">
            <a:extLst xmlns:a="http://schemas.openxmlformats.org/drawingml/2006/main">
              <a:ext uri="{FF2B5EF4-FFF2-40B4-BE49-F238E27FC236}">
                <a16:creationId xmlns:a16="http://schemas.microsoft.com/office/drawing/2014/main" id="{58C06E4D-CDA3-E00B-A19B-140237817A89}"/>
              </a:ext>
            </a:extLst>
          </p:cNvPr>
          <p:cNvSpPr>
            <a:spLocks xmlns:a="http://schemas.openxmlformats.org/drawingml/2006/main" noGrp="1"/>
          </p:cNvSpPr>
          <p:nvPr/>
        </p:nvSpPr>
        <p:spPr>
          <a:xfrm xmlns:a="http://schemas.openxmlformats.org/drawingml/2006/main">
            <a:off x="8553061" y="7343386"/>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b="1">
                <a:solidFill>
                  <a:srgbClr val="2F7D4D"/>
                </a:solidFill>
              </a:defRPr>
            </a:pPr>
            <a:r>
              <a:rPr sz="863" b="1">
                <a:solidFill>
                  <a:srgbClr val="2F7D4D"/>
                </a:solidFill>
              </a:rPr>
              <a:t>Auditable: support + p-value; domain experts can challenge it</a:t>
            </a:r>
          </a:p>
        </p:txBody>
      </p:sp>
      <p:sp>
        <p:nvSpPr>
          <p:cNvPr id="60" name="slide11-stray-text-cover">
            <a:extLst xmlns:a="http://schemas.openxmlformats.org/drawingml/2006/main">
              <a:ext uri="{FF2B5EF4-FFF2-40B4-BE49-F238E27FC236}">
                <a16:creationId xmlns:a16="http://schemas.microsoft.com/office/drawing/2014/main" id="{D29B9E20-1F00-278C-8308-2D79BEED2A38}"/>
              </a:ext>
            </a:extLst>
          </p:cNvPr>
          <p:cNvSpPr>
            <a:spLocks xmlns:a="http://schemas.openxmlformats.org/drawingml/2006/main" noGrp="1"/>
          </p:cNvSpPr>
          <p:nvPr/>
        </p:nvSpPr>
        <p:spPr>
          <a:xfrm xmlns:a="http://schemas.openxmlformats.org/drawingml/2006/main">
            <a:off x="8267311" y="7552936"/>
            <a:ext cx="5191125" cy="3619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2" name="Rectangle 61">
            <a:extLst xmlns:a="http://schemas.openxmlformats.org/drawingml/2006/main">
              <a:ext uri="{FF2B5EF4-FFF2-40B4-BE49-F238E27FC236}">
                <a16:creationId xmlns:a16="http://schemas.microsoft.com/office/drawing/2014/main" id="{14982D2A-5B34-FCB1-A360-AE31692E7006}"/>
              </a:ext>
            </a:extLst>
          </p:cNvPr>
          <p:cNvSpPr>
            <a:spLocks xmlns:a="http://schemas.openxmlformats.org/drawingml/2006/main" noGrp="1"/>
          </p:cNvSpPr>
          <p:nvPr/>
        </p:nvSpPr>
        <p:spPr>
          <a:xfrm xmlns:a="http://schemas.openxmlformats.org/drawingml/2006/main">
            <a:off x="8362561" y="5219311"/>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6283E"/>
                </a:solidFill>
              </a:defRPr>
            </a:pPr>
            <a:r>
              <a:rPr sz="1350" b="1">
                <a:solidFill>
                  <a:srgbClr val="76283E"/>
                </a:solidFill>
              </a:rPr>
              <a:t>What the KS test sees</a:t>
            </a:r>
          </a:p>
        </p:txBody>
      </p:sp>
      <p:pic>
        <p:nvPicPr>
          <p:cNvPr id="86" name="Picture 83"/>
          <p:cNvPicPr>
            <a:picLocks xmlns:a="http://schemas.openxmlformats.org/drawingml/2006/main" noChangeAspect="1"/>
          </p:cNvPicPr>
          <p:nvPr/>
        </p:nvPicPr>
        <p:blipFill>
          <a:blip xmlns:r="http://schemas.openxmlformats.org/officeDocument/2006/relationships" xmlns:a="http://schemas.openxmlformats.org/drawingml/2006/main" r:embed="R4db052af3f184719"/>
          <a:stretch xmlns:a="http://schemas.openxmlformats.org/drawingml/2006/main"/>
        </p:blipFill>
        <p:spPr>
          <a:xfrm xmlns:a="http://schemas.openxmlformats.org/drawingml/2006/main">
            <a:off x="8362561" y="5487515"/>
            <a:ext cx="2857500" cy="1654342"/>
          </a:xfrm>
          <a:prstGeom xmlns:a="http://schemas.openxmlformats.org/drawingml/2006/main" prst="rect">
            <a:avLst/>
          </a:prstGeom>
        </p:spPr>
      </p:pic>
      <p:sp>
        <p:nvSpPr>
          <p:cNvPr id="65" name="slide11-clean-audit-card">
            <a:extLst xmlns:a="http://schemas.openxmlformats.org/drawingml/2006/main">
              <a:ext uri="{FF2B5EF4-FFF2-40B4-BE49-F238E27FC236}">
                <a16:creationId xmlns:a16="http://schemas.microsoft.com/office/drawing/2014/main" id="{5CF52DFF-237C-702C-AF71-6A9B71A1D954}"/>
              </a:ext>
            </a:extLst>
          </p:cNvPr>
          <p:cNvSpPr>
            <a:spLocks xmlns:a="http://schemas.openxmlformats.org/drawingml/2006/main" noGrp="1"/>
          </p:cNvSpPr>
          <p:nvPr/>
        </p:nvSpPr>
        <p:spPr>
          <a:xfrm xmlns:a="http://schemas.openxmlformats.org/drawingml/2006/main">
            <a:off x="11391511" y="5466961"/>
            <a:ext cx="1809750" cy="1447800"/>
          </a:xfrm>
          <a:prstGeom xmlns:a="http://schemas.openxmlformats.org/drawingml/2006/main" prst="roundRect">
            <a:avLst>
              <a:gd name="adj" fmla="val 3947"/>
            </a:avLst>
          </a:prstGeom>
          <a:solidFill xmlns:a="http://schemas.openxmlformats.org/drawingml/2006/main">
            <a:srgbClr val="F6F0E8"/>
          </a:solidFill>
          <a:ln xmlns:a="http://schemas.openxmlformats.org/drawingml/2006/main" w="11430">
            <a:solidFill>
              <a:srgbClr val="C99A3E"/>
            </a:solidFill>
            <a:prstDash val="solid"/>
          </a:ln>
        </p:spPr>
        <p:txBody>
          <a:bodyPr xmlns:a="http://schemas.openxmlformats.org/drawingml/2006/main"/>
          <a:lstStyle xmlns:a="http://schemas.openxmlformats.org/drawingml/2006/main"/>
          <a:p xmlns:a="http://schemas.openxmlformats.org/drawingml/2006/main"/>
        </p:txBody>
      </p:sp>
      <p:sp>
        <p:nvSpPr>
          <p:cNvPr id="66" name="Rectangle 65">
            <a:extLst xmlns:a="http://schemas.openxmlformats.org/drawingml/2006/main">
              <a:ext uri="{FF2B5EF4-FFF2-40B4-BE49-F238E27FC236}">
                <a16:creationId xmlns:a16="http://schemas.microsoft.com/office/drawing/2014/main" id="{A31B6720-1174-EB99-1424-BEB91FAC042D}"/>
              </a:ext>
            </a:extLst>
          </p:cNvPr>
          <p:cNvSpPr>
            <a:spLocks xmlns:a="http://schemas.openxmlformats.org/drawingml/2006/main" noGrp="1"/>
          </p:cNvSpPr>
          <p:nvPr/>
        </p:nvSpPr>
        <p:spPr>
          <a:xfrm xmlns:a="http://schemas.openxmlformats.org/drawingml/2006/main">
            <a:off x="11524861" y="5600311"/>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C99A3E"/>
                </a:solidFill>
              </a:defRPr>
            </a:pPr>
            <a:r>
              <a:rPr sz="825" b="1">
                <a:solidFill>
                  <a:srgbClr val="C99A3E"/>
                </a:solidFill>
              </a:rPr>
              <a:t>A RULE YOU CAN AUDIT</a:t>
            </a:r>
          </a:p>
        </p:txBody>
      </p:sp>
      <p:sp>
        <p:nvSpPr>
          <p:cNvPr id="67" name="Rectangle 66">
            <a:extLst xmlns:a="http://schemas.openxmlformats.org/drawingml/2006/main">
              <a:ext uri="{FF2B5EF4-FFF2-40B4-BE49-F238E27FC236}">
                <a16:creationId xmlns:a16="http://schemas.microsoft.com/office/drawing/2014/main" id="{E3A63EE2-AD9F-CB56-E6C1-61E89878DE37}"/>
              </a:ext>
            </a:extLst>
          </p:cNvPr>
          <p:cNvSpPr>
            <a:spLocks xmlns:a="http://schemas.openxmlformats.org/drawingml/2006/main" noGrp="1"/>
          </p:cNvSpPr>
          <p:nvPr/>
        </p:nvSpPr>
        <p:spPr>
          <a:xfrm xmlns:a="http://schemas.openxmlformats.org/drawingml/2006/main">
            <a:off x="11524861" y="5867011"/>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a:solidFill>
                  <a:srgbClr val="171313"/>
                </a:solidFill>
              </a:defRPr>
            </a:pPr>
            <a:r>
              <a:rPr sz="975">
                <a:solidFill>
                  <a:srgbClr val="171313"/>
                </a:solidFill>
              </a:rPr>
              <a:t>IF dry post-flowering</a:t>
            </a:r>
          </a:p>
          <a:p xmlns:a="http://schemas.openxmlformats.org/drawingml/2006/main">
            <a:pPr>
              <a:buNone/>
              <a:defRPr sz="975">
                <a:solidFill>
                  <a:srgbClr val="171313"/>
                </a:solidFill>
              </a:defRPr>
            </a:pPr>
            <a:r>
              <a:rPr sz="975">
                <a:solidFill>
                  <a:srgbClr val="171313"/>
                </a:solidFill>
              </a:rPr>
              <a:t>AND moderate harvest soil water</a:t>
            </a:r>
          </a:p>
        </p:txBody>
      </p:sp>
      <p:sp>
        <p:nvSpPr>
          <p:cNvPr id="68" name="Rectangle 67">
            <a:extLst xmlns:a="http://schemas.openxmlformats.org/drawingml/2006/main">
              <a:ext uri="{FF2B5EF4-FFF2-40B4-BE49-F238E27FC236}">
                <a16:creationId xmlns:a16="http://schemas.microsoft.com/office/drawing/2014/main" id="{00FEF5CB-8F6F-2006-CF02-C28B9FE67BA3}"/>
              </a:ext>
            </a:extLst>
          </p:cNvPr>
          <p:cNvSpPr>
            <a:spLocks xmlns:a="http://schemas.openxmlformats.org/drawingml/2006/main" noGrp="1"/>
          </p:cNvSpPr>
          <p:nvPr/>
        </p:nvSpPr>
        <p:spPr>
          <a:xfrm xmlns:a="http://schemas.openxmlformats.org/drawingml/2006/main">
            <a:off x="11524861" y="6381361"/>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2F7D4D"/>
                </a:solidFill>
              </a:defRPr>
            </a:pPr>
            <a:r>
              <a:rPr sz="1050" b="1">
                <a:solidFill>
                  <a:srgbClr val="2F7D4D"/>
                </a:solidFill>
              </a:rPr>
              <a:t>THEN +121 mhl</a:t>
            </a:r>
          </a:p>
          <a:p xmlns:a="http://schemas.openxmlformats.org/drawingml/2006/main">
            <a:pPr>
              <a:buNone/>
              <a:defRPr sz="1050" b="1">
                <a:solidFill>
                  <a:srgbClr val="2F7D4D"/>
                </a:solidFill>
              </a:defRPr>
            </a:pPr>
            <a:r>
              <a:rPr sz="1050" b="1">
                <a:solidFill>
                  <a:srgbClr val="2F7D4D"/>
                </a:solidFill>
              </a:rPr>
              <a:t>above trend</a:t>
            </a:r>
          </a:p>
        </p:txBody>
      </p:sp>
      <p:sp>
        <p:nvSpPr>
          <p:cNvPr id="69" name="Rectangle 68">
            <a:extLst xmlns:a="http://schemas.openxmlformats.org/drawingml/2006/main">
              <a:ext uri="{FF2B5EF4-FFF2-40B4-BE49-F238E27FC236}">
                <a16:creationId xmlns:a16="http://schemas.microsoft.com/office/drawing/2014/main" id="{049848FF-23B9-9DE7-C864-C7667B23DFCB}"/>
              </a:ext>
            </a:extLst>
          </p:cNvPr>
          <p:cNvSpPr>
            <a:spLocks xmlns:a="http://schemas.openxmlformats.org/drawingml/2006/main" noGrp="1"/>
          </p:cNvSpPr>
          <p:nvPr/>
        </p:nvSpPr>
        <p:spPr>
          <a:xfrm xmlns:a="http://schemas.openxmlformats.org/drawingml/2006/main">
            <a:off x="11524861" y="6743311"/>
            <a:ext cx="152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63" i="1">
                <a:solidFill>
                  <a:srgbClr val="6F6761"/>
                </a:solidFill>
              </a:defRPr>
            </a:pPr>
            <a:r>
              <a:rPr sz="863" i="1">
                <a:solidFill>
                  <a:srgbClr val="6F6761"/>
                </a:solidFill>
              </a:rPr>
              <a:t>support 28% · p = 0.004</a:t>
            </a:r>
          </a:p>
        </p:txBody>
      </p:sp>
    </p:spTree>
    <p:extLst>
      <p:ext uri="{BB962C8B-B14F-4D97-AF65-F5344CB8AC3E}">
        <p14:creationId xmlns:p14="http://schemas.microsoft.com/office/powerpoint/2010/main" val="21680661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6" name="Rectangle 2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DISCOVERY</a:t>
            </a:r>
          </a:p>
        </p:txBody>
      </p:sp>
      <p:sp>
        <p:nvSpPr>
          <p:cNvPr id="2" name="Rectangle 1">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succeeded: compact rules reveal regional drivers</a:t>
            </a:r>
          </a:p>
        </p:txBody>
      </p:sp>
      <p:sp>
        <p:nvSpPr>
          <p:cNvPr id="3" name="Rectangle 2">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4" name="Rectangle 3">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2095111" y="3266686"/>
            <a:ext cx="5429250" cy="4191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8048236" y="3266686"/>
            <a:ext cx="5429250" cy="4191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2409436" y="3552436"/>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DOURO</a:t>
            </a:r>
          </a:p>
        </p:txBody>
      </p:sp>
      <p:sp>
        <p:nvSpPr>
          <p:cNvPr id="7" name="Rectangle 6">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2409436" y="3933436"/>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48</a:t>
            </a:r>
          </a:p>
        </p:txBody>
      </p:sp>
      <p:sp>
        <p:nvSpPr>
          <p:cNvPr id="8" name="Rectangle 7">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4076311" y="4219186"/>
            <a:ext cx="14287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9" name="Rectangle 8">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2409436" y="4981186"/>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Harvest soil water appears in 54% of rules.</a:t>
            </a:r>
          </a:p>
        </p:txBody>
      </p:sp>
      <p:sp>
        <p:nvSpPr>
          <p:cNvPr id="10" name="Rectangle 9">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2409436" y="5790811"/>
            <a:ext cx="4333875"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8362561" y="3552436"/>
            <a:ext cx="2095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VINHO VERDE</a:t>
            </a:r>
          </a:p>
        </p:txBody>
      </p:sp>
      <p:sp>
        <p:nvSpPr>
          <p:cNvPr id="12" name="Rectangle 11">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8362561" y="3933436"/>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20</a:t>
            </a:r>
          </a:p>
        </p:txBody>
      </p:sp>
      <p:sp>
        <p:nvSpPr>
          <p:cNvPr id="13" name="Rectangle 12">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10029436" y="4219186"/>
            <a:ext cx="1428750" cy="3238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14" name="Rectangle 13">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8362561" y="4981186"/>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LAI at harvest appears in all 20 rules.</a:t>
            </a:r>
          </a:p>
        </p:txBody>
      </p:sp>
      <p:sp>
        <p:nvSpPr>
          <p:cNvPr id="15" name="Rectangle 14">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8362561" y="5790811"/>
            <a:ext cx="4333875"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Rectangle 15">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2695186" y="7648186"/>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buNone/>
              <a:defRPr sz="1725" b="1">
                <a:solidFill>
                  <a:srgbClr val="7B1E3A"/>
                </a:solidFill>
                <a:latin typeface="Arial"/>
                <a:ea typeface="Arial"/>
                <a:cs typeface="Arial"/>
              </a:defRPr>
            </a:pPr>
            <a:r>
              <a:t>The same variable can have a different direction across regions — interpretation must remain context-specific.</a:t>
            </a:r>
          </a:p>
        </p:txBody>
      </p:sp>
      <p:sp>
        <p:nvSpPr>
          <p:cNvPr id="17" name="Rectangle 16">
            <a:extLst xmlns:a="http://schemas.openxmlformats.org/drawingml/2006/main">
              <a:ext uri="{FF2B5EF4-FFF2-40B4-BE49-F238E27FC236}">
                <a16:creationId xmlns:a16="http://schemas.microsoft.com/office/drawing/2014/main" id="{341DC3A6-E512-4E2F-8788-6D0C8F786C66}"/>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4</a:t>
            </a:r>
          </a:p>
        </p:txBody>
      </p:sp>
    </p:spTree>
    <p:extLst>
      <p:ext uri="{BB962C8B-B14F-4D97-AF65-F5344CB8AC3E}">
        <p14:creationId xmlns:p14="http://schemas.microsoft.com/office/powerpoint/2010/main" val="63293658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39" name="Rectangle 138"/>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8" name="Rectangle 137"/>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7" name="Rectangle 136"/>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6" name="Rectangle 135"/>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5" name="Rectangle 134"/>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4" name="Rectangle 133"/>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3" name="Rectangle 132"/>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2" name="Rectangle 131"/>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white-background">
            <a:extLst xmlns:a="http://schemas.openxmlformats.org/drawingml/2006/main">
              <a:ext uri="{FF2B5EF4-FFF2-40B4-BE49-F238E27FC236}">
                <a16:creationId xmlns:a16="http://schemas.microsoft.com/office/drawing/2014/main" id="{A61AC48A-4009-4360-A58A-CB33345CB8D4}"/>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AA3E5C72-18C4-4820-A946-3AFADD1B9D87}"/>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xmlns:a="http://schemas.openxmlformats.org/drawingml/2006/main">
              <a:ext uri="{FF2B5EF4-FFF2-40B4-BE49-F238E27FC236}">
                <a16:creationId xmlns:a16="http://schemas.microsoft.com/office/drawing/2014/main" id="{A235780E-12D0-4C1A-A029-A99CA3019A2C}"/>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xmlns:a="http://schemas.openxmlformats.org/drawingml/2006/main">
              <a:ext uri="{FF2B5EF4-FFF2-40B4-BE49-F238E27FC236}">
                <a16:creationId xmlns:a16="http://schemas.microsoft.com/office/drawing/2014/main" id="{DB3A9BFA-81C6-4691-9368-F9F7C131BC49}"/>
              </a:ext>
            </a:extLst>
          </p:cNvPr>
          <p:cNvSpPr>
            <a:spLocks xmlns:a="http://schemas.openxmlformats.org/drawingml/2006/main" noGrp="1"/>
          </p:cNvSpPr>
          <p:nvPr/>
        </p:nvSpPr>
        <p:spPr>
          <a:xfrm xmlns:a="http://schemas.openxmlformats.org/drawingml/2006/main">
            <a:off x="2095111" y="3171436"/>
            <a:ext cx="5476875" cy="3476625"/>
          </a:xfrm>
          <a:prstGeom xmlns:a="http://schemas.openxmlformats.org/drawingml/2006/main" prst="rect">
            <a:avLst/>
          </a:prstGeom>
          <a:solidFill xmlns:a="http://schemas.openxmlformats.org/drawingml/2006/main">
            <a:srgbClr val="EAF4F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vv-panel">
            <a:extLst xmlns:a="http://schemas.openxmlformats.org/drawingml/2006/main">
              <a:ext uri="{FF2B5EF4-FFF2-40B4-BE49-F238E27FC236}">
                <a16:creationId xmlns:a16="http://schemas.microsoft.com/office/drawing/2014/main" id="{5F21EEA4-8328-44C4-BCCB-EDEE6BE775BF}"/>
              </a:ext>
            </a:extLst>
          </p:cNvPr>
          <p:cNvSpPr>
            <a:spLocks xmlns:a="http://schemas.openxmlformats.org/drawingml/2006/main" noGrp="1"/>
          </p:cNvSpPr>
          <p:nvPr/>
        </p:nvSpPr>
        <p:spPr>
          <a:xfrm xmlns:a="http://schemas.openxmlformats.org/drawingml/2006/main">
            <a:off x="8000611" y="3171436"/>
            <a:ext cx="5476875" cy="3476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douro-label">
            <a:extLst xmlns:a="http://schemas.openxmlformats.org/drawingml/2006/main">
              <a:ext uri="{FF2B5EF4-FFF2-40B4-BE49-F238E27FC236}">
                <a16:creationId xmlns:a16="http://schemas.microsoft.com/office/drawing/2014/main" id="{25377249-CE38-488A-B5C9-0BA00F376236}"/>
              </a:ext>
            </a:extLst>
          </p:cNvPr>
          <p:cNvSpPr>
            <a:spLocks xmlns:a="http://schemas.openxmlformats.org/drawingml/2006/main" noGrp="1"/>
          </p:cNvSpPr>
          <p:nvPr/>
        </p:nvSpPr>
        <p:spPr>
          <a:xfrm xmlns:a="http://schemas.openxmlformats.org/drawingml/2006/main">
            <a:off x="2409436" y="3447661"/>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xmlns:a="http://schemas.openxmlformats.org/drawingml/2006/main">
              <a:ext uri="{FF2B5EF4-FFF2-40B4-BE49-F238E27FC236}">
                <a16:creationId xmlns:a16="http://schemas.microsoft.com/office/drawing/2014/main" id="{B0EE3D9C-DDB3-406D-9D3B-939E14A1EB8A}"/>
              </a:ext>
            </a:extLst>
          </p:cNvPr>
          <p:cNvSpPr>
            <a:spLocks xmlns:a="http://schemas.openxmlformats.org/drawingml/2006/main" noGrp="1"/>
          </p:cNvSpPr>
          <p:nvPr/>
        </p:nvSpPr>
        <p:spPr>
          <a:xfrm xmlns:a="http://schemas.openxmlformats.org/drawingml/2006/main">
            <a:off x="2409436" y="3733411"/>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xmlns:a="http://schemas.openxmlformats.org/drawingml/2006/main">
              <a:ext uri="{FF2B5EF4-FFF2-40B4-BE49-F238E27FC236}">
                <a16:creationId xmlns:a16="http://schemas.microsoft.com/office/drawing/2014/main" id="{112D12CD-BA90-42C9-88B7-1E895D2F2C81}"/>
              </a:ext>
            </a:extLst>
          </p:cNvPr>
          <p:cNvSpPr>
            <a:spLocks xmlns:a="http://schemas.openxmlformats.org/drawingml/2006/main" noGrp="1"/>
          </p:cNvSpPr>
          <p:nvPr/>
        </p:nvSpPr>
        <p:spPr>
          <a:xfrm xmlns:a="http://schemas.openxmlformats.org/drawingml/2006/main">
            <a:off x="2409436" y="43049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xmlns:a="http://schemas.openxmlformats.org/drawingml/2006/main">
              <a:ext uri="{FF2B5EF4-FFF2-40B4-BE49-F238E27FC236}">
                <a16:creationId xmlns:a16="http://schemas.microsoft.com/office/drawing/2014/main" id="{55214A11-6F83-415F-8DA9-B3080B6E33DA}"/>
              </a:ext>
            </a:extLst>
          </p:cNvPr>
          <p:cNvSpPr>
            <a:spLocks xmlns:a="http://schemas.openxmlformats.org/drawingml/2006/main" noGrp="1"/>
          </p:cNvSpPr>
          <p:nvPr/>
        </p:nvSpPr>
        <p:spPr>
          <a:xfrm xmlns:a="http://schemas.openxmlformats.org/drawingml/2006/main">
            <a:off x="2771386" y="42668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xmlns:a="http://schemas.openxmlformats.org/drawingml/2006/main">
              <a:ext uri="{FF2B5EF4-FFF2-40B4-BE49-F238E27FC236}">
                <a16:creationId xmlns:a16="http://schemas.microsoft.com/office/drawing/2014/main" id="{DFDE73BD-FA63-4BAF-B9DC-3411C9E99A24}"/>
              </a:ext>
            </a:extLst>
          </p:cNvPr>
          <p:cNvSpPr>
            <a:spLocks xmlns:a="http://schemas.openxmlformats.org/drawingml/2006/main" noGrp="1"/>
          </p:cNvSpPr>
          <p:nvPr/>
        </p:nvSpPr>
        <p:spPr>
          <a:xfrm xmlns:a="http://schemas.openxmlformats.org/drawingml/2006/main">
            <a:off x="6009886" y="42763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xmlns:a="http://schemas.openxmlformats.org/drawingml/2006/main">
              <a:ext uri="{FF2B5EF4-FFF2-40B4-BE49-F238E27FC236}">
                <a16:creationId xmlns:a16="http://schemas.microsoft.com/office/drawing/2014/main" id="{196B7EFD-1B7D-43F6-A653-19032DEE096D}"/>
              </a:ext>
            </a:extLst>
          </p:cNvPr>
          <p:cNvSpPr>
            <a:spLocks xmlns:a="http://schemas.openxmlformats.org/drawingml/2006/main" noGrp="1"/>
          </p:cNvSpPr>
          <p:nvPr/>
        </p:nvSpPr>
        <p:spPr>
          <a:xfrm xmlns:a="http://schemas.openxmlformats.org/drawingml/2006/main">
            <a:off x="2771386" y="44954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xmlns:a="http://schemas.openxmlformats.org/drawingml/2006/main">
              <a:ext uri="{FF2B5EF4-FFF2-40B4-BE49-F238E27FC236}">
                <a16:creationId xmlns:a16="http://schemas.microsoft.com/office/drawing/2014/main" id="{4A24E729-C905-4488-911C-CF23826CA50C}"/>
              </a:ext>
            </a:extLst>
          </p:cNvPr>
          <p:cNvSpPr>
            <a:spLocks xmlns:a="http://schemas.openxmlformats.org/drawingml/2006/main" noGrp="1"/>
          </p:cNvSpPr>
          <p:nvPr/>
        </p:nvSpPr>
        <p:spPr>
          <a:xfrm xmlns:a="http://schemas.openxmlformats.org/drawingml/2006/main">
            <a:off x="2409436" y="47240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xmlns:a="http://schemas.openxmlformats.org/drawingml/2006/main">
              <a:ext uri="{FF2B5EF4-FFF2-40B4-BE49-F238E27FC236}">
                <a16:creationId xmlns:a16="http://schemas.microsoft.com/office/drawing/2014/main" id="{1AB09955-D902-451F-8068-D37DC71E7A90}"/>
              </a:ext>
            </a:extLst>
          </p:cNvPr>
          <p:cNvSpPr>
            <a:spLocks xmlns:a="http://schemas.openxmlformats.org/drawingml/2006/main" noGrp="1"/>
          </p:cNvSpPr>
          <p:nvPr/>
        </p:nvSpPr>
        <p:spPr>
          <a:xfrm xmlns:a="http://schemas.openxmlformats.org/drawingml/2006/main">
            <a:off x="2771386" y="46859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xmlns:a="http://schemas.openxmlformats.org/drawingml/2006/main">
              <a:ext uri="{FF2B5EF4-FFF2-40B4-BE49-F238E27FC236}">
                <a16:creationId xmlns:a16="http://schemas.microsoft.com/office/drawing/2014/main" id="{6E7B2FF2-119F-4F33-BFA5-AE072BABE6E6}"/>
              </a:ext>
            </a:extLst>
          </p:cNvPr>
          <p:cNvSpPr>
            <a:spLocks xmlns:a="http://schemas.openxmlformats.org/drawingml/2006/main" noGrp="1"/>
          </p:cNvSpPr>
          <p:nvPr/>
        </p:nvSpPr>
        <p:spPr>
          <a:xfrm xmlns:a="http://schemas.openxmlformats.org/drawingml/2006/main">
            <a:off x="6009886" y="46954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xmlns:a="http://schemas.openxmlformats.org/drawingml/2006/main">
              <a:ext uri="{FF2B5EF4-FFF2-40B4-BE49-F238E27FC236}">
                <a16:creationId xmlns:a16="http://schemas.microsoft.com/office/drawing/2014/main" id="{0B1B3A52-047D-4C39-A204-8601FE2E4945}"/>
              </a:ext>
            </a:extLst>
          </p:cNvPr>
          <p:cNvSpPr>
            <a:spLocks xmlns:a="http://schemas.openxmlformats.org/drawingml/2006/main" noGrp="1"/>
          </p:cNvSpPr>
          <p:nvPr/>
        </p:nvSpPr>
        <p:spPr>
          <a:xfrm xmlns:a="http://schemas.openxmlformats.org/drawingml/2006/main">
            <a:off x="2771386" y="49145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xmlns:a="http://schemas.openxmlformats.org/drawingml/2006/main">
              <a:ext uri="{FF2B5EF4-FFF2-40B4-BE49-F238E27FC236}">
                <a16:creationId xmlns:a16="http://schemas.microsoft.com/office/drawing/2014/main" id="{5019C0E2-BF17-4050-A65B-77E6958920F4}"/>
              </a:ext>
            </a:extLst>
          </p:cNvPr>
          <p:cNvSpPr>
            <a:spLocks xmlns:a="http://schemas.openxmlformats.org/drawingml/2006/main" noGrp="1"/>
          </p:cNvSpPr>
          <p:nvPr/>
        </p:nvSpPr>
        <p:spPr>
          <a:xfrm xmlns:a="http://schemas.openxmlformats.org/drawingml/2006/main">
            <a:off x="2409436" y="51431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xmlns:a="http://schemas.openxmlformats.org/drawingml/2006/main">
              <a:ext uri="{FF2B5EF4-FFF2-40B4-BE49-F238E27FC236}">
                <a16:creationId xmlns:a16="http://schemas.microsoft.com/office/drawing/2014/main" id="{09468597-E04A-42DB-9B94-D08BFF973430}"/>
              </a:ext>
            </a:extLst>
          </p:cNvPr>
          <p:cNvSpPr>
            <a:spLocks xmlns:a="http://schemas.openxmlformats.org/drawingml/2006/main" noGrp="1"/>
          </p:cNvSpPr>
          <p:nvPr/>
        </p:nvSpPr>
        <p:spPr>
          <a:xfrm xmlns:a="http://schemas.openxmlformats.org/drawingml/2006/main">
            <a:off x="2771386" y="51050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xmlns:a="http://schemas.openxmlformats.org/drawingml/2006/main">
              <a:ext uri="{FF2B5EF4-FFF2-40B4-BE49-F238E27FC236}">
                <a16:creationId xmlns:a16="http://schemas.microsoft.com/office/drawing/2014/main" id="{4D2781A6-FD45-4BDD-96F8-F874F0309752}"/>
              </a:ext>
            </a:extLst>
          </p:cNvPr>
          <p:cNvSpPr>
            <a:spLocks xmlns:a="http://schemas.openxmlformats.org/drawingml/2006/main" noGrp="1"/>
          </p:cNvSpPr>
          <p:nvPr/>
        </p:nvSpPr>
        <p:spPr>
          <a:xfrm xmlns:a="http://schemas.openxmlformats.org/drawingml/2006/main">
            <a:off x="6009886" y="51145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xmlns:a="http://schemas.openxmlformats.org/drawingml/2006/main">
              <a:ext uri="{FF2B5EF4-FFF2-40B4-BE49-F238E27FC236}">
                <a16:creationId xmlns:a16="http://schemas.microsoft.com/office/drawing/2014/main" id="{52EB5F2F-8DDE-41DA-8315-A078CEE0AA96}"/>
              </a:ext>
            </a:extLst>
          </p:cNvPr>
          <p:cNvSpPr>
            <a:spLocks xmlns:a="http://schemas.openxmlformats.org/drawingml/2006/main" noGrp="1"/>
          </p:cNvSpPr>
          <p:nvPr/>
        </p:nvSpPr>
        <p:spPr>
          <a:xfrm xmlns:a="http://schemas.openxmlformats.org/drawingml/2006/main">
            <a:off x="2771386" y="53336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xmlns:a="http://schemas.openxmlformats.org/drawingml/2006/main">
              <a:ext uri="{FF2B5EF4-FFF2-40B4-BE49-F238E27FC236}">
                <a16:creationId xmlns:a16="http://schemas.microsoft.com/office/drawing/2014/main" id="{DE76DB4C-BA55-4BB0-9737-CAA4D7BA2841}"/>
              </a:ext>
            </a:extLst>
          </p:cNvPr>
          <p:cNvSpPr>
            <a:spLocks xmlns:a="http://schemas.openxmlformats.org/drawingml/2006/main" noGrp="1"/>
          </p:cNvSpPr>
          <p:nvPr/>
        </p:nvSpPr>
        <p:spPr>
          <a:xfrm xmlns:a="http://schemas.openxmlformats.org/drawingml/2006/main">
            <a:off x="2409436" y="55622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xmlns:a="http://schemas.openxmlformats.org/drawingml/2006/main">
              <a:ext uri="{FF2B5EF4-FFF2-40B4-BE49-F238E27FC236}">
                <a16:creationId xmlns:a16="http://schemas.microsoft.com/office/drawing/2014/main" id="{C449AB7D-C8C5-40C8-83FF-33A99F574C14}"/>
              </a:ext>
            </a:extLst>
          </p:cNvPr>
          <p:cNvSpPr>
            <a:spLocks xmlns:a="http://schemas.openxmlformats.org/drawingml/2006/main" noGrp="1"/>
          </p:cNvSpPr>
          <p:nvPr/>
        </p:nvSpPr>
        <p:spPr>
          <a:xfrm xmlns:a="http://schemas.openxmlformats.org/drawingml/2006/main">
            <a:off x="2771386" y="55241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xmlns:a="http://schemas.openxmlformats.org/drawingml/2006/main">
              <a:ext uri="{FF2B5EF4-FFF2-40B4-BE49-F238E27FC236}">
                <a16:creationId xmlns:a16="http://schemas.microsoft.com/office/drawing/2014/main" id="{F9C4DCB7-D20F-4830-8BB0-2A0415B56461}"/>
              </a:ext>
            </a:extLst>
          </p:cNvPr>
          <p:cNvSpPr>
            <a:spLocks xmlns:a="http://schemas.openxmlformats.org/drawingml/2006/main" noGrp="1"/>
          </p:cNvSpPr>
          <p:nvPr/>
        </p:nvSpPr>
        <p:spPr>
          <a:xfrm xmlns:a="http://schemas.openxmlformats.org/drawingml/2006/main">
            <a:off x="6009886" y="55336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xmlns:a="http://schemas.openxmlformats.org/drawingml/2006/main">
              <a:ext uri="{FF2B5EF4-FFF2-40B4-BE49-F238E27FC236}">
                <a16:creationId xmlns:a16="http://schemas.microsoft.com/office/drawing/2014/main" id="{C121A40C-07E9-462B-B526-F3EDEBD3F21B}"/>
              </a:ext>
            </a:extLst>
          </p:cNvPr>
          <p:cNvSpPr>
            <a:spLocks xmlns:a="http://schemas.openxmlformats.org/drawingml/2006/main" noGrp="1"/>
          </p:cNvSpPr>
          <p:nvPr/>
        </p:nvSpPr>
        <p:spPr>
          <a:xfrm xmlns:a="http://schemas.openxmlformats.org/drawingml/2006/main">
            <a:off x="2771386" y="57527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xmlns:a="http://schemas.openxmlformats.org/drawingml/2006/main">
              <a:ext uri="{FF2B5EF4-FFF2-40B4-BE49-F238E27FC236}">
                <a16:creationId xmlns:a16="http://schemas.microsoft.com/office/drawing/2014/main" id="{49D74733-37B0-420C-8729-01C160AAC178}"/>
              </a:ext>
            </a:extLst>
          </p:cNvPr>
          <p:cNvSpPr>
            <a:spLocks xmlns:a="http://schemas.openxmlformats.org/drawingml/2006/main" noGrp="1"/>
          </p:cNvSpPr>
          <p:nvPr/>
        </p:nvSpPr>
        <p:spPr>
          <a:xfrm xmlns:a="http://schemas.openxmlformats.org/drawingml/2006/main">
            <a:off x="2409436" y="59813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xmlns:a="http://schemas.openxmlformats.org/drawingml/2006/main">
              <a:ext uri="{FF2B5EF4-FFF2-40B4-BE49-F238E27FC236}">
                <a16:creationId xmlns:a16="http://schemas.microsoft.com/office/drawing/2014/main" id="{C8E3B63F-C73E-4788-929A-032DCC57F794}"/>
              </a:ext>
            </a:extLst>
          </p:cNvPr>
          <p:cNvSpPr>
            <a:spLocks xmlns:a="http://schemas.openxmlformats.org/drawingml/2006/main" noGrp="1"/>
          </p:cNvSpPr>
          <p:nvPr/>
        </p:nvSpPr>
        <p:spPr>
          <a:xfrm xmlns:a="http://schemas.openxmlformats.org/drawingml/2006/main">
            <a:off x="2771386" y="59432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xmlns:a="http://schemas.openxmlformats.org/drawingml/2006/main">
              <a:ext uri="{FF2B5EF4-FFF2-40B4-BE49-F238E27FC236}">
                <a16:creationId xmlns:a16="http://schemas.microsoft.com/office/drawing/2014/main" id="{42274413-F26D-4849-976D-26C270D2A655}"/>
              </a:ext>
            </a:extLst>
          </p:cNvPr>
          <p:cNvSpPr>
            <a:spLocks xmlns:a="http://schemas.openxmlformats.org/drawingml/2006/main" noGrp="1"/>
          </p:cNvSpPr>
          <p:nvPr/>
        </p:nvSpPr>
        <p:spPr>
          <a:xfrm xmlns:a="http://schemas.openxmlformats.org/drawingml/2006/main">
            <a:off x="6009886" y="59527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xmlns:a="http://schemas.openxmlformats.org/drawingml/2006/main">
              <a:ext uri="{FF2B5EF4-FFF2-40B4-BE49-F238E27FC236}">
                <a16:creationId xmlns:a16="http://schemas.microsoft.com/office/drawing/2014/main" id="{71C78432-7F79-4E12-BE6A-133365A5EE81}"/>
              </a:ext>
            </a:extLst>
          </p:cNvPr>
          <p:cNvSpPr>
            <a:spLocks xmlns:a="http://schemas.openxmlformats.org/drawingml/2006/main" noGrp="1"/>
          </p:cNvSpPr>
          <p:nvPr/>
        </p:nvSpPr>
        <p:spPr>
          <a:xfrm xmlns:a="http://schemas.openxmlformats.org/drawingml/2006/main">
            <a:off x="2771386" y="61718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xmlns:a="http://schemas.openxmlformats.org/drawingml/2006/main">
              <a:ext uri="{FF2B5EF4-FFF2-40B4-BE49-F238E27FC236}">
                <a16:creationId xmlns:a16="http://schemas.microsoft.com/office/drawing/2014/main" id="{2F1552A8-347D-481A-B089-9A9E082A767C}"/>
              </a:ext>
            </a:extLst>
          </p:cNvPr>
          <p:cNvSpPr>
            <a:spLocks xmlns:a="http://schemas.openxmlformats.org/drawingml/2006/main" noGrp="1"/>
          </p:cNvSpPr>
          <p:nvPr/>
        </p:nvSpPr>
        <p:spPr>
          <a:xfrm xmlns:a="http://schemas.openxmlformats.org/drawingml/2006/main">
            <a:off x="8314936" y="3447661"/>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xmlns:a="http://schemas.openxmlformats.org/drawingml/2006/main">
              <a:ext uri="{FF2B5EF4-FFF2-40B4-BE49-F238E27FC236}">
                <a16:creationId xmlns:a16="http://schemas.microsoft.com/office/drawing/2014/main" id="{82782C39-0358-4435-8058-3C41B3311F09}"/>
              </a:ext>
            </a:extLst>
          </p:cNvPr>
          <p:cNvSpPr>
            <a:spLocks xmlns:a="http://schemas.openxmlformats.org/drawingml/2006/main" noGrp="1"/>
          </p:cNvSpPr>
          <p:nvPr/>
        </p:nvSpPr>
        <p:spPr>
          <a:xfrm xmlns:a="http://schemas.openxmlformats.org/drawingml/2006/main">
            <a:off x="8314936" y="3733411"/>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xmlns:a="http://schemas.openxmlformats.org/drawingml/2006/main">
              <a:ext uri="{FF2B5EF4-FFF2-40B4-BE49-F238E27FC236}">
                <a16:creationId xmlns:a16="http://schemas.microsoft.com/office/drawing/2014/main" id="{3BCE3140-0718-44A2-9391-55465FD76E5A}"/>
              </a:ext>
            </a:extLst>
          </p:cNvPr>
          <p:cNvSpPr>
            <a:spLocks xmlns:a="http://schemas.openxmlformats.org/drawingml/2006/main" noGrp="1"/>
          </p:cNvSpPr>
          <p:nvPr/>
        </p:nvSpPr>
        <p:spPr>
          <a:xfrm xmlns:a="http://schemas.openxmlformats.org/drawingml/2006/main">
            <a:off x="8314936" y="43049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xmlns:a="http://schemas.openxmlformats.org/drawingml/2006/main">
              <a:ext uri="{FF2B5EF4-FFF2-40B4-BE49-F238E27FC236}">
                <a16:creationId xmlns:a16="http://schemas.microsoft.com/office/drawing/2014/main" id="{AC8B2939-682F-4026-8C9A-F568819FE41A}"/>
              </a:ext>
            </a:extLst>
          </p:cNvPr>
          <p:cNvSpPr>
            <a:spLocks xmlns:a="http://schemas.openxmlformats.org/drawingml/2006/main" noGrp="1"/>
          </p:cNvSpPr>
          <p:nvPr/>
        </p:nvSpPr>
        <p:spPr>
          <a:xfrm xmlns:a="http://schemas.openxmlformats.org/drawingml/2006/main">
            <a:off x="8676886" y="42668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xmlns:a="http://schemas.openxmlformats.org/drawingml/2006/main">
              <a:ext uri="{FF2B5EF4-FFF2-40B4-BE49-F238E27FC236}">
                <a16:creationId xmlns:a16="http://schemas.microsoft.com/office/drawing/2014/main" id="{AECDF222-280F-462E-AE28-34B618414F5A}"/>
              </a:ext>
            </a:extLst>
          </p:cNvPr>
          <p:cNvSpPr>
            <a:spLocks xmlns:a="http://schemas.openxmlformats.org/drawingml/2006/main" noGrp="1"/>
          </p:cNvSpPr>
          <p:nvPr/>
        </p:nvSpPr>
        <p:spPr>
          <a:xfrm xmlns:a="http://schemas.openxmlformats.org/drawingml/2006/main">
            <a:off x="11915386" y="42763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xmlns:a="http://schemas.openxmlformats.org/drawingml/2006/main">
              <a:ext uri="{FF2B5EF4-FFF2-40B4-BE49-F238E27FC236}">
                <a16:creationId xmlns:a16="http://schemas.microsoft.com/office/drawing/2014/main" id="{6AA05EBD-8F11-4265-AEC8-64E1622BDE37}"/>
              </a:ext>
            </a:extLst>
          </p:cNvPr>
          <p:cNvSpPr>
            <a:spLocks xmlns:a="http://schemas.openxmlformats.org/drawingml/2006/main" noGrp="1"/>
          </p:cNvSpPr>
          <p:nvPr/>
        </p:nvSpPr>
        <p:spPr>
          <a:xfrm xmlns:a="http://schemas.openxmlformats.org/drawingml/2006/main">
            <a:off x="8676886" y="44954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xmlns:a="http://schemas.openxmlformats.org/drawingml/2006/main">
              <a:ext uri="{FF2B5EF4-FFF2-40B4-BE49-F238E27FC236}">
                <a16:creationId xmlns:a16="http://schemas.microsoft.com/office/drawing/2014/main" id="{738E64DC-DFC6-4CB7-85B8-1C02D584C72F}"/>
              </a:ext>
            </a:extLst>
          </p:cNvPr>
          <p:cNvSpPr>
            <a:spLocks xmlns:a="http://schemas.openxmlformats.org/drawingml/2006/main" noGrp="1"/>
          </p:cNvSpPr>
          <p:nvPr/>
        </p:nvSpPr>
        <p:spPr>
          <a:xfrm xmlns:a="http://schemas.openxmlformats.org/drawingml/2006/main">
            <a:off x="8314936" y="47240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xmlns:a="http://schemas.openxmlformats.org/drawingml/2006/main">
              <a:ext uri="{FF2B5EF4-FFF2-40B4-BE49-F238E27FC236}">
                <a16:creationId xmlns:a16="http://schemas.microsoft.com/office/drawing/2014/main" id="{8444DC70-ED85-455B-813A-27A64FF0D9FB}"/>
              </a:ext>
            </a:extLst>
          </p:cNvPr>
          <p:cNvSpPr>
            <a:spLocks xmlns:a="http://schemas.openxmlformats.org/drawingml/2006/main" noGrp="1"/>
          </p:cNvSpPr>
          <p:nvPr/>
        </p:nvSpPr>
        <p:spPr>
          <a:xfrm xmlns:a="http://schemas.openxmlformats.org/drawingml/2006/main">
            <a:off x="8676886" y="46859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xmlns:a="http://schemas.openxmlformats.org/drawingml/2006/main">
              <a:ext uri="{FF2B5EF4-FFF2-40B4-BE49-F238E27FC236}">
                <a16:creationId xmlns:a16="http://schemas.microsoft.com/office/drawing/2014/main" id="{76A3BD4A-EA20-42AE-8A16-A83432A04D26}"/>
              </a:ext>
            </a:extLst>
          </p:cNvPr>
          <p:cNvSpPr>
            <a:spLocks xmlns:a="http://schemas.openxmlformats.org/drawingml/2006/main" noGrp="1"/>
          </p:cNvSpPr>
          <p:nvPr/>
        </p:nvSpPr>
        <p:spPr>
          <a:xfrm xmlns:a="http://schemas.openxmlformats.org/drawingml/2006/main">
            <a:off x="11915386" y="46954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xmlns:a="http://schemas.openxmlformats.org/drawingml/2006/main">
              <a:ext uri="{FF2B5EF4-FFF2-40B4-BE49-F238E27FC236}">
                <a16:creationId xmlns:a16="http://schemas.microsoft.com/office/drawing/2014/main" id="{1839A862-962D-43A2-AB77-AFC2EF3B472A}"/>
              </a:ext>
            </a:extLst>
          </p:cNvPr>
          <p:cNvSpPr>
            <a:spLocks xmlns:a="http://schemas.openxmlformats.org/drawingml/2006/main" noGrp="1"/>
          </p:cNvSpPr>
          <p:nvPr/>
        </p:nvSpPr>
        <p:spPr>
          <a:xfrm xmlns:a="http://schemas.openxmlformats.org/drawingml/2006/main">
            <a:off x="8676886" y="49145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xmlns:a="http://schemas.openxmlformats.org/drawingml/2006/main">
              <a:ext uri="{FF2B5EF4-FFF2-40B4-BE49-F238E27FC236}">
                <a16:creationId xmlns:a16="http://schemas.microsoft.com/office/drawing/2014/main" id="{BC23706C-D096-49B9-BF6E-2D667716A79D}"/>
              </a:ext>
            </a:extLst>
          </p:cNvPr>
          <p:cNvSpPr>
            <a:spLocks xmlns:a="http://schemas.openxmlformats.org/drawingml/2006/main" noGrp="1"/>
          </p:cNvSpPr>
          <p:nvPr/>
        </p:nvSpPr>
        <p:spPr>
          <a:xfrm xmlns:a="http://schemas.openxmlformats.org/drawingml/2006/main">
            <a:off x="8314936" y="51431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xmlns:a="http://schemas.openxmlformats.org/drawingml/2006/main">
              <a:ext uri="{FF2B5EF4-FFF2-40B4-BE49-F238E27FC236}">
                <a16:creationId xmlns:a16="http://schemas.microsoft.com/office/drawing/2014/main" id="{03703D47-8B79-4A74-A005-5D985A06D48C}"/>
              </a:ext>
            </a:extLst>
          </p:cNvPr>
          <p:cNvSpPr>
            <a:spLocks xmlns:a="http://schemas.openxmlformats.org/drawingml/2006/main" noGrp="1"/>
          </p:cNvSpPr>
          <p:nvPr/>
        </p:nvSpPr>
        <p:spPr>
          <a:xfrm xmlns:a="http://schemas.openxmlformats.org/drawingml/2006/main">
            <a:off x="8676886" y="51050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xmlns:a="http://schemas.openxmlformats.org/drawingml/2006/main">
              <a:ext uri="{FF2B5EF4-FFF2-40B4-BE49-F238E27FC236}">
                <a16:creationId xmlns:a16="http://schemas.microsoft.com/office/drawing/2014/main" id="{9E81AC55-F369-464A-B839-6D05261A07F8}"/>
              </a:ext>
            </a:extLst>
          </p:cNvPr>
          <p:cNvSpPr>
            <a:spLocks xmlns:a="http://schemas.openxmlformats.org/drawingml/2006/main" noGrp="1"/>
          </p:cNvSpPr>
          <p:nvPr/>
        </p:nvSpPr>
        <p:spPr>
          <a:xfrm xmlns:a="http://schemas.openxmlformats.org/drawingml/2006/main">
            <a:off x="11915386" y="51145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xmlns:a="http://schemas.openxmlformats.org/drawingml/2006/main">
              <a:ext uri="{FF2B5EF4-FFF2-40B4-BE49-F238E27FC236}">
                <a16:creationId xmlns:a16="http://schemas.microsoft.com/office/drawing/2014/main" id="{43ABB15C-4475-4CB9-AC06-320D871F3853}"/>
              </a:ext>
            </a:extLst>
          </p:cNvPr>
          <p:cNvSpPr>
            <a:spLocks xmlns:a="http://schemas.openxmlformats.org/drawingml/2006/main" noGrp="1"/>
          </p:cNvSpPr>
          <p:nvPr/>
        </p:nvSpPr>
        <p:spPr>
          <a:xfrm xmlns:a="http://schemas.openxmlformats.org/drawingml/2006/main">
            <a:off x="8676886" y="53336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xmlns:a="http://schemas.openxmlformats.org/drawingml/2006/main">
              <a:ext uri="{FF2B5EF4-FFF2-40B4-BE49-F238E27FC236}">
                <a16:creationId xmlns:a16="http://schemas.microsoft.com/office/drawing/2014/main" id="{7375654A-DC75-4FD7-8413-22DDF5606C78}"/>
              </a:ext>
            </a:extLst>
          </p:cNvPr>
          <p:cNvSpPr>
            <a:spLocks xmlns:a="http://schemas.openxmlformats.org/drawingml/2006/main" noGrp="1"/>
          </p:cNvSpPr>
          <p:nvPr/>
        </p:nvSpPr>
        <p:spPr>
          <a:xfrm xmlns:a="http://schemas.openxmlformats.org/drawingml/2006/main">
            <a:off x="8314936" y="55622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xmlns:a="http://schemas.openxmlformats.org/drawingml/2006/main">
              <a:ext uri="{FF2B5EF4-FFF2-40B4-BE49-F238E27FC236}">
                <a16:creationId xmlns:a16="http://schemas.microsoft.com/office/drawing/2014/main" id="{F0703326-34FD-4E0C-945A-3E0C98EC6E20}"/>
              </a:ext>
            </a:extLst>
          </p:cNvPr>
          <p:cNvSpPr>
            <a:spLocks xmlns:a="http://schemas.openxmlformats.org/drawingml/2006/main" noGrp="1"/>
          </p:cNvSpPr>
          <p:nvPr/>
        </p:nvSpPr>
        <p:spPr>
          <a:xfrm xmlns:a="http://schemas.openxmlformats.org/drawingml/2006/main">
            <a:off x="8676886" y="55241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xmlns:a="http://schemas.openxmlformats.org/drawingml/2006/main">
              <a:ext uri="{FF2B5EF4-FFF2-40B4-BE49-F238E27FC236}">
                <a16:creationId xmlns:a16="http://schemas.microsoft.com/office/drawing/2014/main" id="{7FBDE785-9B3A-4AF6-8BB7-62F653682300}"/>
              </a:ext>
            </a:extLst>
          </p:cNvPr>
          <p:cNvSpPr>
            <a:spLocks xmlns:a="http://schemas.openxmlformats.org/drawingml/2006/main" noGrp="1"/>
          </p:cNvSpPr>
          <p:nvPr/>
        </p:nvSpPr>
        <p:spPr>
          <a:xfrm xmlns:a="http://schemas.openxmlformats.org/drawingml/2006/main">
            <a:off x="11915386" y="55336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xmlns:a="http://schemas.openxmlformats.org/drawingml/2006/main">
              <a:ext uri="{FF2B5EF4-FFF2-40B4-BE49-F238E27FC236}">
                <a16:creationId xmlns:a16="http://schemas.microsoft.com/office/drawing/2014/main" id="{B8374B38-8FDB-4D74-86FF-CCA1FA2DAEFF}"/>
              </a:ext>
            </a:extLst>
          </p:cNvPr>
          <p:cNvSpPr>
            <a:spLocks xmlns:a="http://schemas.openxmlformats.org/drawingml/2006/main" noGrp="1"/>
          </p:cNvSpPr>
          <p:nvPr/>
        </p:nvSpPr>
        <p:spPr>
          <a:xfrm xmlns:a="http://schemas.openxmlformats.org/drawingml/2006/main">
            <a:off x="8676886" y="57527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xmlns:a="http://schemas.openxmlformats.org/drawingml/2006/main">
              <a:ext uri="{FF2B5EF4-FFF2-40B4-BE49-F238E27FC236}">
                <a16:creationId xmlns:a16="http://schemas.microsoft.com/office/drawing/2014/main" id="{254E947A-560F-4CF9-A71D-7350BAE8F025}"/>
              </a:ext>
            </a:extLst>
          </p:cNvPr>
          <p:cNvSpPr>
            <a:spLocks xmlns:a="http://schemas.openxmlformats.org/drawingml/2006/main" noGrp="1"/>
          </p:cNvSpPr>
          <p:nvPr/>
        </p:nvSpPr>
        <p:spPr>
          <a:xfrm xmlns:a="http://schemas.openxmlformats.org/drawingml/2006/main">
            <a:off x="8314936" y="5981311"/>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xmlns:a="http://schemas.openxmlformats.org/drawingml/2006/main">
              <a:ext uri="{FF2B5EF4-FFF2-40B4-BE49-F238E27FC236}">
                <a16:creationId xmlns:a16="http://schemas.microsoft.com/office/drawing/2014/main" id="{E448A1AD-71F7-4D75-8D6D-6ADBACFDC21F}"/>
              </a:ext>
            </a:extLst>
          </p:cNvPr>
          <p:cNvSpPr>
            <a:spLocks xmlns:a="http://schemas.openxmlformats.org/drawingml/2006/main" noGrp="1"/>
          </p:cNvSpPr>
          <p:nvPr/>
        </p:nvSpPr>
        <p:spPr>
          <a:xfrm xmlns:a="http://schemas.openxmlformats.org/drawingml/2006/main">
            <a:off x="8676886" y="5943211"/>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xmlns:a="http://schemas.openxmlformats.org/drawingml/2006/main">
              <a:ext uri="{FF2B5EF4-FFF2-40B4-BE49-F238E27FC236}">
                <a16:creationId xmlns:a16="http://schemas.microsoft.com/office/drawing/2014/main" id="{E15D61DB-9A5A-4AA1-ADD4-7483AE220458}"/>
              </a:ext>
            </a:extLst>
          </p:cNvPr>
          <p:cNvSpPr>
            <a:spLocks xmlns:a="http://schemas.openxmlformats.org/drawingml/2006/main" noGrp="1"/>
          </p:cNvSpPr>
          <p:nvPr/>
        </p:nvSpPr>
        <p:spPr>
          <a:xfrm xmlns:a="http://schemas.openxmlformats.org/drawingml/2006/main">
            <a:off x="11915386" y="5952736"/>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xmlns:a="http://schemas.openxmlformats.org/drawingml/2006/main">
              <a:ext uri="{FF2B5EF4-FFF2-40B4-BE49-F238E27FC236}">
                <a16:creationId xmlns:a16="http://schemas.microsoft.com/office/drawing/2014/main" id="{4C8426F4-53AD-4FFF-9552-78ABA5ADDFEC}"/>
              </a:ext>
            </a:extLst>
          </p:cNvPr>
          <p:cNvSpPr>
            <a:spLocks xmlns:a="http://schemas.openxmlformats.org/drawingml/2006/main" noGrp="1"/>
          </p:cNvSpPr>
          <p:nvPr/>
        </p:nvSpPr>
        <p:spPr>
          <a:xfrm xmlns:a="http://schemas.openxmlformats.org/drawingml/2006/main">
            <a:off x="8676886" y="6171811"/>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xmlns:a="http://schemas.openxmlformats.org/drawingml/2006/main">
              <a:ext uri="{FF2B5EF4-FFF2-40B4-BE49-F238E27FC236}">
                <a16:creationId xmlns:a16="http://schemas.microsoft.com/office/drawing/2014/main" id="{1C3A083A-E546-4493-B335-10679EDF5198}"/>
              </a:ext>
            </a:extLst>
          </p:cNvPr>
          <p:cNvSpPr>
            <a:spLocks xmlns:a="http://schemas.openxmlformats.org/drawingml/2006/main" noGrp="1"/>
          </p:cNvSpPr>
          <p:nvPr/>
        </p:nvSpPr>
        <p:spPr>
          <a:xfrm xmlns:a="http://schemas.openxmlformats.org/drawingml/2006/main">
            <a:off x="2095111" y="6914761"/>
            <a:ext cx="11382375" cy="83820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1" name="finding-label">
            <a:extLst xmlns:a="http://schemas.openxmlformats.org/drawingml/2006/main">
              <a:ext uri="{FF2B5EF4-FFF2-40B4-BE49-F238E27FC236}">
                <a16:creationId xmlns:a16="http://schemas.microsoft.com/office/drawing/2014/main" id="{D9F203B8-1FF5-4513-B24D-F012E26663F0}"/>
              </a:ext>
            </a:extLst>
          </p:cNvPr>
          <p:cNvSpPr>
            <a:spLocks xmlns:a="http://schemas.openxmlformats.org/drawingml/2006/main" noGrp="1"/>
          </p:cNvSpPr>
          <p:nvPr/>
        </p:nvSpPr>
        <p:spPr>
          <a:xfrm xmlns:a="http://schemas.openxmlformats.org/drawingml/2006/main">
            <a:off x="2361811" y="7105261"/>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xmlns:a="http://schemas.openxmlformats.org/drawingml/2006/main">
              <a:ext uri="{FF2B5EF4-FFF2-40B4-BE49-F238E27FC236}">
                <a16:creationId xmlns:a16="http://schemas.microsoft.com/office/drawing/2014/main" id="{35900B4E-D9F9-4FB9-A88C-0B4F32F146D5}"/>
              </a:ext>
            </a:extLst>
          </p:cNvPr>
          <p:cNvSpPr>
            <a:spLocks xmlns:a="http://schemas.openxmlformats.org/drawingml/2006/main" noGrp="1"/>
          </p:cNvSpPr>
          <p:nvPr/>
        </p:nvSpPr>
        <p:spPr>
          <a:xfrm xmlns:a="http://schemas.openxmlformats.org/drawingml/2006/main">
            <a:off x="4647811" y="7076686"/>
            <a:ext cx="814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xmlns:a="http://schemas.openxmlformats.org/drawingml/2006/main">
              <a:ext uri="{FF2B5EF4-FFF2-40B4-BE49-F238E27FC236}">
                <a16:creationId xmlns:a16="http://schemas.microsoft.com/office/drawing/2014/main" id="{AD1D53EE-DDC3-4E95-8F09-D56532736205}"/>
              </a:ext>
            </a:extLst>
          </p:cNvPr>
          <p:cNvSpPr>
            <a:spLocks xmlns:a="http://schemas.openxmlformats.org/drawingml/2006/main" noGrp="1"/>
          </p:cNvSpPr>
          <p:nvPr/>
        </p:nvSpPr>
        <p:spPr>
          <a:xfrm xmlns:a="http://schemas.openxmlformats.org/drawingml/2006/main">
            <a:off x="3314311" y="7505311"/>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xmlns:a="http://schemas.openxmlformats.org/drawingml/2006/main">
              <a:ext uri="{FF2B5EF4-FFF2-40B4-BE49-F238E27FC236}">
                <a16:creationId xmlns:a16="http://schemas.microsoft.com/office/drawing/2014/main" id="{1603C280-F355-46FB-A1B0-69AD0ABC7977}"/>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xmlns:a="http://schemas.openxmlformats.org/drawingml/2006/main">
              <a:ext uri="{FF2B5EF4-FFF2-40B4-BE49-F238E27FC236}">
                <a16:creationId xmlns:a16="http://schemas.microsoft.com/office/drawing/2014/main" id="{3EAB9F83-A019-4CC3-B7E0-33987C3A751C}"/>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xmlns:a="http://schemas.openxmlformats.org/drawingml/2006/main">
              <a:ext uri="{FF2B5EF4-FFF2-40B4-BE49-F238E27FC236}">
                <a16:creationId xmlns:a16="http://schemas.microsoft.com/office/drawing/2014/main" id="{A480573E-B841-4873-9728-D5491786324E}"/>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8" name="exact-section-label">
            <a:extLst xmlns:a="http://schemas.openxmlformats.org/drawingml/2006/main">
              <a:ext uri="{FF2B5EF4-FFF2-40B4-BE49-F238E27FC236}">
                <a16:creationId xmlns:a16="http://schemas.microsoft.com/office/drawing/2014/main" id="{BE0BF05B-C3B6-466C-8528-69B5ADCA2E06}"/>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xmlns:a="http://schemas.openxmlformats.org/drawingml/2006/main">
              <a:ext uri="{FF2B5EF4-FFF2-40B4-BE49-F238E27FC236}">
                <a16:creationId xmlns:a16="http://schemas.microsoft.com/office/drawing/2014/main" id="{3BAFDCF3-4C41-451A-BC46-FFC1121DB351}"/>
              </a:ext>
            </a:extLst>
          </p:cNvPr>
          <p:cNvSpPr>
            <a:spLocks xmlns:a="http://schemas.openxmlformats.org/drawingml/2006/main" noGrp="1"/>
          </p:cNvSpPr>
          <p:nvPr/>
        </p:nvSpPr>
        <p:spPr>
          <a:xfrm xmlns:a="http://schemas.openxmlformats.org/drawingml/2006/main">
            <a:off x="2095111" y="2247511"/>
            <a:ext cx="995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xmlns:a="http://schemas.openxmlformats.org/drawingml/2006/main">
              <a:ext uri="{FF2B5EF4-FFF2-40B4-BE49-F238E27FC236}">
                <a16:creationId xmlns:a16="http://schemas.microsoft.com/office/drawing/2014/main" id="{178CD848-CA37-4AC5-B49D-517C5D6EFF33}"/>
              </a:ext>
            </a:extLst>
          </p:cNvPr>
          <p:cNvSpPr>
            <a:spLocks xmlns:a="http://schemas.openxmlformats.org/drawingml/2006/main" noGrp="1"/>
          </p:cNvSpPr>
          <p:nvPr/>
        </p:nvSpPr>
        <p:spPr>
          <a:xfrm xmlns:a="http://schemas.openxmlformats.org/drawingml/2006/main">
            <a:off x="2095111" y="2761861"/>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xmlns:a="http://schemas.openxmlformats.org/drawingml/2006/main">
              <a:ext uri="{FF2B5EF4-FFF2-40B4-BE49-F238E27FC236}">
                <a16:creationId xmlns:a16="http://schemas.microsoft.com/office/drawing/2014/main" id="{D8EA5858-5C67-48F3-9058-BA494E57D01B}"/>
              </a:ext>
            </a:extLst>
          </p:cNvPr>
          <p:cNvSpPr>
            <a:spLocks xmlns:a="http://schemas.openxmlformats.org/drawingml/2006/main" noGrp="1"/>
          </p:cNvSpPr>
          <p:nvPr/>
        </p:nvSpPr>
        <p:spPr>
          <a:xfrm xmlns:a="http://schemas.openxmlformats.org/drawingml/2006/main">
            <a:off x="2095111" y="3142861"/>
            <a:ext cx="5476875" cy="3952875"/>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sp>
        <p:nvSpPr>
          <p:cNvPr id="62" name="DOURO (RDD) · top 5 exact rules-title">
            <a:extLst xmlns:a="http://schemas.openxmlformats.org/drawingml/2006/main">
              <a:ext uri="{FF2B5EF4-FFF2-40B4-BE49-F238E27FC236}">
                <a16:creationId xmlns:a16="http://schemas.microsoft.com/office/drawing/2014/main" id="{CC3BEF31-F023-4685-A7F5-96F9C5B51CB0}"/>
              </a:ext>
            </a:extLst>
          </p:cNvPr>
          <p:cNvSpPr>
            <a:spLocks xmlns:a="http://schemas.openxmlformats.org/drawingml/2006/main" noGrp="1"/>
          </p:cNvSpPr>
          <p:nvPr/>
        </p:nvSpPr>
        <p:spPr>
          <a:xfrm xmlns:a="http://schemas.openxmlformats.org/drawingml/2006/main">
            <a:off x="2323711" y="3352411"/>
            <a:ext cx="5019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xmlns:a="http://schemas.openxmlformats.org/drawingml/2006/main">
              <a:ext uri="{FF2B5EF4-FFF2-40B4-BE49-F238E27FC236}">
                <a16:creationId xmlns:a16="http://schemas.microsoft.com/office/drawing/2014/main" id="{E4194728-3401-4413-8808-4DD6EAF12DD2}"/>
              </a:ext>
            </a:extLst>
          </p:cNvPr>
          <p:cNvSpPr>
            <a:spLocks xmlns:a="http://schemas.openxmlformats.org/drawingml/2006/main" noGrp="1"/>
          </p:cNvSpPr>
          <p:nvPr/>
        </p:nvSpPr>
        <p:spPr>
          <a:xfrm xmlns:a="http://schemas.openxmlformats.org/drawingml/2006/main">
            <a:off x="2323711" y="3600061"/>
            <a:ext cx="5019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xmlns:a="http://schemas.openxmlformats.org/drawingml/2006/main">
              <a:ext uri="{FF2B5EF4-FFF2-40B4-BE49-F238E27FC236}">
                <a16:creationId xmlns:a16="http://schemas.microsoft.com/office/drawing/2014/main" id="{B6F6ECC0-2208-4D1E-A93D-CA2EE861AC74}"/>
              </a:ext>
            </a:extLst>
          </p:cNvPr>
          <p:cNvSpPr>
            <a:spLocks xmlns:a="http://schemas.openxmlformats.org/drawingml/2006/main" noGrp="1"/>
          </p:cNvSpPr>
          <p:nvPr/>
        </p:nvSpPr>
        <p:spPr>
          <a:xfrm xmlns:a="http://schemas.openxmlformats.org/drawingml/2006/main">
            <a:off x="2266561" y="4028686"/>
            <a:ext cx="51339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65" name="DOURO (RDD) · top 5 exact rules-h1">
            <a:extLst xmlns:a="http://schemas.openxmlformats.org/drawingml/2006/main">
              <a:ext uri="{FF2B5EF4-FFF2-40B4-BE49-F238E27FC236}">
                <a16:creationId xmlns:a16="http://schemas.microsoft.com/office/drawing/2014/main" id="{51B7EED1-975E-4FB4-9DC5-9CEA58FFA31E}"/>
              </a:ext>
            </a:extLst>
          </p:cNvPr>
          <p:cNvSpPr>
            <a:spLocks xmlns:a="http://schemas.openxmlformats.org/drawingml/2006/main" noGrp="1"/>
          </p:cNvSpPr>
          <p:nvPr/>
        </p:nvSpPr>
        <p:spPr>
          <a:xfrm xmlns:a="http://schemas.openxmlformats.org/drawingml/2006/main">
            <a:off x="2323711" y="4076311"/>
            <a:ext cx="247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xmlns:a="http://schemas.openxmlformats.org/drawingml/2006/main">
              <a:ext uri="{FF2B5EF4-FFF2-40B4-BE49-F238E27FC236}">
                <a16:creationId xmlns:a16="http://schemas.microsoft.com/office/drawing/2014/main" id="{7A72DB73-F4F2-48FE-A952-BD1BE402DC03}"/>
              </a:ext>
            </a:extLst>
          </p:cNvPr>
          <p:cNvSpPr>
            <a:spLocks xmlns:a="http://schemas.openxmlformats.org/drawingml/2006/main" noGrp="1"/>
          </p:cNvSpPr>
          <p:nvPr/>
        </p:nvSpPr>
        <p:spPr>
          <a:xfrm xmlns:a="http://schemas.openxmlformats.org/drawingml/2006/main">
            <a:off x="2647561" y="4076311"/>
            <a:ext cx="3524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xmlns:a="http://schemas.openxmlformats.org/drawingml/2006/main">
              <a:ext uri="{FF2B5EF4-FFF2-40B4-BE49-F238E27FC236}">
                <a16:creationId xmlns:a16="http://schemas.microsoft.com/office/drawing/2014/main" id="{C2B61C94-65FF-4D8B-925E-3FC1EDBB223E}"/>
              </a:ext>
            </a:extLst>
          </p:cNvPr>
          <p:cNvSpPr>
            <a:spLocks xmlns:a="http://schemas.openxmlformats.org/drawingml/2006/main" noGrp="1"/>
          </p:cNvSpPr>
          <p:nvPr/>
        </p:nvSpPr>
        <p:spPr>
          <a:xfrm xmlns:a="http://schemas.openxmlformats.org/drawingml/2006/main">
            <a:off x="6190861" y="4076311"/>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xmlns:a="http://schemas.openxmlformats.org/drawingml/2006/main">
              <a:ext uri="{FF2B5EF4-FFF2-40B4-BE49-F238E27FC236}">
                <a16:creationId xmlns:a16="http://schemas.microsoft.com/office/drawing/2014/main" id="{42BE151A-E0FF-46F6-B487-43D947B9BCCB}"/>
              </a:ext>
            </a:extLst>
          </p:cNvPr>
          <p:cNvSpPr>
            <a:spLocks xmlns:a="http://schemas.openxmlformats.org/drawingml/2006/main" noGrp="1"/>
          </p:cNvSpPr>
          <p:nvPr/>
        </p:nvSpPr>
        <p:spPr>
          <a:xfrm xmlns:a="http://schemas.openxmlformats.org/drawingml/2006/main">
            <a:off x="6905236" y="4076311"/>
            <a:ext cx="42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xmlns:a="http://schemas.openxmlformats.org/drawingml/2006/main">
              <a:ext uri="{FF2B5EF4-FFF2-40B4-BE49-F238E27FC236}">
                <a16:creationId xmlns:a16="http://schemas.microsoft.com/office/drawing/2014/main" id="{4E2E76A7-D4EB-4FFB-BD56-AF9BF9BCC8A4}"/>
              </a:ext>
            </a:extLst>
          </p:cNvPr>
          <p:cNvSpPr>
            <a:spLocks xmlns:a="http://schemas.openxmlformats.org/drawingml/2006/main" noGrp="1"/>
          </p:cNvSpPr>
          <p:nvPr/>
        </p:nvSpPr>
        <p:spPr>
          <a:xfrm xmlns:a="http://schemas.openxmlformats.org/drawingml/2006/main">
            <a:off x="2266561" y="4276336"/>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70" name="DOURO (RDD) · top 5 exact rules-rank-1">
            <a:extLst xmlns:a="http://schemas.openxmlformats.org/drawingml/2006/main">
              <a:ext uri="{FF2B5EF4-FFF2-40B4-BE49-F238E27FC236}">
                <a16:creationId xmlns:a16="http://schemas.microsoft.com/office/drawing/2014/main" id="{1CFC4AF2-4349-4453-8504-0B83A595E410}"/>
              </a:ext>
            </a:extLst>
          </p:cNvPr>
          <p:cNvSpPr>
            <a:spLocks xmlns:a="http://schemas.openxmlformats.org/drawingml/2006/main" noGrp="1"/>
          </p:cNvSpPr>
          <p:nvPr/>
        </p:nvSpPr>
        <p:spPr>
          <a:xfrm xmlns:a="http://schemas.openxmlformats.org/drawingml/2006/main">
            <a:off x="2323711" y="4352536"/>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xmlns:a="http://schemas.openxmlformats.org/drawingml/2006/main">
              <a:ext uri="{FF2B5EF4-FFF2-40B4-BE49-F238E27FC236}">
                <a16:creationId xmlns:a16="http://schemas.microsoft.com/office/drawing/2014/main" id="{0E923B29-4C53-40D9-8E56-732DF19350F0}"/>
              </a:ext>
            </a:extLst>
          </p:cNvPr>
          <p:cNvSpPr>
            <a:spLocks xmlns:a="http://schemas.openxmlformats.org/drawingml/2006/main" noGrp="1"/>
          </p:cNvSpPr>
          <p:nvPr/>
        </p:nvSpPr>
        <p:spPr>
          <a:xfrm xmlns:a="http://schemas.openxmlformats.org/drawingml/2006/main">
            <a:off x="2647561" y="4343011"/>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xmlns:a="http://schemas.openxmlformats.org/drawingml/2006/main">
              <a:ext uri="{FF2B5EF4-FFF2-40B4-BE49-F238E27FC236}">
                <a16:creationId xmlns:a16="http://schemas.microsoft.com/office/drawing/2014/main" id="{EE8940D4-E953-4845-9B07-36A11A95249C}"/>
              </a:ext>
            </a:extLst>
          </p:cNvPr>
          <p:cNvSpPr>
            <a:spLocks xmlns:a="http://schemas.openxmlformats.org/drawingml/2006/main" noGrp="1"/>
          </p:cNvSpPr>
          <p:nvPr/>
        </p:nvSpPr>
        <p:spPr>
          <a:xfrm xmlns:a="http://schemas.openxmlformats.org/drawingml/2006/main">
            <a:off x="6190861" y="4381111"/>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28.1%</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~25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xmlns:a="http://schemas.openxmlformats.org/drawingml/2006/main">
              <a:ext uri="{FF2B5EF4-FFF2-40B4-BE49-F238E27FC236}">
                <a16:creationId xmlns:a16="http://schemas.microsoft.com/office/drawing/2014/main" id="{10912703-5FC6-4071-B1FA-A564DDCFE0E6}"/>
              </a:ext>
            </a:extLst>
          </p:cNvPr>
          <p:cNvSpPr>
            <a:spLocks xmlns:a="http://schemas.openxmlformats.org/drawingml/2006/main" noGrp="1"/>
          </p:cNvSpPr>
          <p:nvPr/>
        </p:nvSpPr>
        <p:spPr>
          <a:xfrm xmlns:a="http://schemas.openxmlformats.org/drawingml/2006/main">
            <a:off x="6867136" y="4419211"/>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xmlns:a="http://schemas.openxmlformats.org/drawingml/2006/main">
              <a:ext uri="{FF2B5EF4-FFF2-40B4-BE49-F238E27FC236}">
                <a16:creationId xmlns:a16="http://schemas.microsoft.com/office/drawing/2014/main" id="{BD39772D-3005-462B-8951-2EE50CA47571}"/>
              </a:ext>
            </a:extLst>
          </p:cNvPr>
          <p:cNvSpPr>
            <a:spLocks xmlns:a="http://schemas.openxmlformats.org/drawingml/2006/main" noGrp="1"/>
          </p:cNvSpPr>
          <p:nvPr/>
        </p:nvSpPr>
        <p:spPr>
          <a:xfrm xmlns:a="http://schemas.openxmlformats.org/drawingml/2006/main">
            <a:off x="2266561" y="4838311"/>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75" name="DOURO (RDD) · top 5 exact rules-rank-2">
            <a:extLst xmlns:a="http://schemas.openxmlformats.org/drawingml/2006/main">
              <a:ext uri="{FF2B5EF4-FFF2-40B4-BE49-F238E27FC236}">
                <a16:creationId xmlns:a16="http://schemas.microsoft.com/office/drawing/2014/main" id="{53170275-C534-44ED-A92D-7E1B14F00601}"/>
              </a:ext>
            </a:extLst>
          </p:cNvPr>
          <p:cNvSpPr>
            <a:spLocks xmlns:a="http://schemas.openxmlformats.org/drawingml/2006/main" noGrp="1"/>
          </p:cNvSpPr>
          <p:nvPr/>
        </p:nvSpPr>
        <p:spPr>
          <a:xfrm xmlns:a="http://schemas.openxmlformats.org/drawingml/2006/main">
            <a:off x="2323711" y="4914511"/>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xmlns:a="http://schemas.openxmlformats.org/drawingml/2006/main">
              <a:ext uri="{FF2B5EF4-FFF2-40B4-BE49-F238E27FC236}">
                <a16:creationId xmlns:a16="http://schemas.microsoft.com/office/drawing/2014/main" id="{043A64A2-F0E4-423C-81D1-8BF762BA1806}"/>
              </a:ext>
            </a:extLst>
          </p:cNvPr>
          <p:cNvSpPr>
            <a:spLocks xmlns:a="http://schemas.openxmlformats.org/drawingml/2006/main" noGrp="1"/>
          </p:cNvSpPr>
          <p:nvPr/>
        </p:nvSpPr>
        <p:spPr>
          <a:xfrm xmlns:a="http://schemas.openxmlformats.org/drawingml/2006/main">
            <a:off x="2647561" y="4904986"/>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xmlns:a="http://schemas.openxmlformats.org/drawingml/2006/main">
              <a:ext uri="{FF2B5EF4-FFF2-40B4-BE49-F238E27FC236}">
                <a16:creationId xmlns:a16="http://schemas.microsoft.com/office/drawing/2014/main" id="{2F79A2C9-C627-4CAB-A66C-BF944A16D82D}"/>
              </a:ext>
            </a:extLst>
          </p:cNvPr>
          <p:cNvSpPr>
            <a:spLocks xmlns:a="http://schemas.openxmlformats.org/drawingml/2006/main" noGrp="1"/>
          </p:cNvSpPr>
          <p:nvPr/>
        </p:nvSpPr>
        <p:spPr>
          <a:xfrm xmlns:a="http://schemas.openxmlformats.org/drawingml/2006/main">
            <a:off x="6190861" y="4943086"/>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20.2%</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~18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xmlns:a="http://schemas.openxmlformats.org/drawingml/2006/main">
              <a:ext uri="{FF2B5EF4-FFF2-40B4-BE49-F238E27FC236}">
                <a16:creationId xmlns:a16="http://schemas.microsoft.com/office/drawing/2014/main" id="{1184537D-7225-47C3-831C-7B9ADD431764}"/>
              </a:ext>
            </a:extLst>
          </p:cNvPr>
          <p:cNvSpPr>
            <a:spLocks xmlns:a="http://schemas.openxmlformats.org/drawingml/2006/main" noGrp="1"/>
          </p:cNvSpPr>
          <p:nvPr/>
        </p:nvSpPr>
        <p:spPr>
          <a:xfrm xmlns:a="http://schemas.openxmlformats.org/drawingml/2006/main">
            <a:off x="6867136" y="4981186"/>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xmlns:a="http://schemas.openxmlformats.org/drawingml/2006/main">
              <a:ext uri="{FF2B5EF4-FFF2-40B4-BE49-F238E27FC236}">
                <a16:creationId xmlns:a16="http://schemas.microsoft.com/office/drawing/2014/main" id="{8D457A99-4D0B-456A-BB60-5BE581348E91}"/>
              </a:ext>
            </a:extLst>
          </p:cNvPr>
          <p:cNvSpPr>
            <a:spLocks xmlns:a="http://schemas.openxmlformats.org/drawingml/2006/main" noGrp="1"/>
          </p:cNvSpPr>
          <p:nvPr/>
        </p:nvSpPr>
        <p:spPr>
          <a:xfrm xmlns:a="http://schemas.openxmlformats.org/drawingml/2006/main">
            <a:off x="2266561" y="5400286"/>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80" name="DOURO (RDD) · top 5 exact rules-rank-3">
            <a:extLst xmlns:a="http://schemas.openxmlformats.org/drawingml/2006/main">
              <a:ext uri="{FF2B5EF4-FFF2-40B4-BE49-F238E27FC236}">
                <a16:creationId xmlns:a16="http://schemas.microsoft.com/office/drawing/2014/main" id="{43FE6023-56D1-4C4A-9E9F-20D395EFAC9A}"/>
              </a:ext>
            </a:extLst>
          </p:cNvPr>
          <p:cNvSpPr>
            <a:spLocks xmlns:a="http://schemas.openxmlformats.org/drawingml/2006/main" noGrp="1"/>
          </p:cNvSpPr>
          <p:nvPr/>
        </p:nvSpPr>
        <p:spPr>
          <a:xfrm xmlns:a="http://schemas.openxmlformats.org/drawingml/2006/main">
            <a:off x="2323711" y="5476486"/>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xmlns:a="http://schemas.openxmlformats.org/drawingml/2006/main">
              <a:ext uri="{FF2B5EF4-FFF2-40B4-BE49-F238E27FC236}">
                <a16:creationId xmlns:a16="http://schemas.microsoft.com/office/drawing/2014/main" id="{DDEA01A3-D640-450A-A8A7-08DBCCAFDC8F}"/>
              </a:ext>
            </a:extLst>
          </p:cNvPr>
          <p:cNvSpPr>
            <a:spLocks xmlns:a="http://schemas.openxmlformats.org/drawingml/2006/main" noGrp="1"/>
          </p:cNvSpPr>
          <p:nvPr/>
        </p:nvSpPr>
        <p:spPr>
          <a:xfrm xmlns:a="http://schemas.openxmlformats.org/drawingml/2006/main">
            <a:off x="2647561" y="5466961"/>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xmlns:a="http://schemas.openxmlformats.org/drawingml/2006/main">
              <a:ext uri="{FF2B5EF4-FFF2-40B4-BE49-F238E27FC236}">
                <a16:creationId xmlns:a16="http://schemas.microsoft.com/office/drawing/2014/main" id="{5C0CE2EA-8D1E-40C4-A4AC-1767436D33C5}"/>
              </a:ext>
            </a:extLst>
          </p:cNvPr>
          <p:cNvSpPr>
            <a:spLocks xmlns:a="http://schemas.openxmlformats.org/drawingml/2006/main" noGrp="1"/>
          </p:cNvSpPr>
          <p:nvPr/>
        </p:nvSpPr>
        <p:spPr>
          <a:xfrm xmlns:a="http://schemas.openxmlformats.org/drawingml/2006/main">
            <a:off x="6190861" y="5505061"/>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25.8%</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~23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xmlns:a="http://schemas.openxmlformats.org/drawingml/2006/main">
              <a:ext uri="{FF2B5EF4-FFF2-40B4-BE49-F238E27FC236}">
                <a16:creationId xmlns:a16="http://schemas.microsoft.com/office/drawing/2014/main" id="{D7059098-9CD0-4937-9AA0-90D4B7C992A6}"/>
              </a:ext>
            </a:extLst>
          </p:cNvPr>
          <p:cNvSpPr>
            <a:spLocks xmlns:a="http://schemas.openxmlformats.org/drawingml/2006/main" noGrp="1"/>
          </p:cNvSpPr>
          <p:nvPr/>
        </p:nvSpPr>
        <p:spPr>
          <a:xfrm xmlns:a="http://schemas.openxmlformats.org/drawingml/2006/main">
            <a:off x="6867136" y="5543161"/>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xmlns:a="http://schemas.openxmlformats.org/drawingml/2006/main">
              <a:ext uri="{FF2B5EF4-FFF2-40B4-BE49-F238E27FC236}">
                <a16:creationId xmlns:a16="http://schemas.microsoft.com/office/drawing/2014/main" id="{4038F29B-8BEB-4A64-8919-29DCF1AC505F}"/>
              </a:ext>
            </a:extLst>
          </p:cNvPr>
          <p:cNvSpPr>
            <a:spLocks xmlns:a="http://schemas.openxmlformats.org/drawingml/2006/main" noGrp="1"/>
          </p:cNvSpPr>
          <p:nvPr/>
        </p:nvSpPr>
        <p:spPr>
          <a:xfrm xmlns:a="http://schemas.openxmlformats.org/drawingml/2006/main">
            <a:off x="2266561" y="5962261"/>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85" name="DOURO (RDD) · top 5 exact rules-rank-4">
            <a:extLst xmlns:a="http://schemas.openxmlformats.org/drawingml/2006/main">
              <a:ext uri="{FF2B5EF4-FFF2-40B4-BE49-F238E27FC236}">
                <a16:creationId xmlns:a16="http://schemas.microsoft.com/office/drawing/2014/main" id="{AE05A6E4-CEAD-4993-AF63-90EB2DDE4CAF}"/>
              </a:ext>
            </a:extLst>
          </p:cNvPr>
          <p:cNvSpPr>
            <a:spLocks xmlns:a="http://schemas.openxmlformats.org/drawingml/2006/main" noGrp="1"/>
          </p:cNvSpPr>
          <p:nvPr/>
        </p:nvSpPr>
        <p:spPr>
          <a:xfrm xmlns:a="http://schemas.openxmlformats.org/drawingml/2006/main">
            <a:off x="2323711" y="6038461"/>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xmlns:a="http://schemas.openxmlformats.org/drawingml/2006/main">
              <a:ext uri="{FF2B5EF4-FFF2-40B4-BE49-F238E27FC236}">
                <a16:creationId xmlns:a16="http://schemas.microsoft.com/office/drawing/2014/main" id="{3551F421-82DA-4337-A14C-B9FDFFB2064F}"/>
              </a:ext>
            </a:extLst>
          </p:cNvPr>
          <p:cNvSpPr>
            <a:spLocks xmlns:a="http://schemas.openxmlformats.org/drawingml/2006/main" noGrp="1"/>
          </p:cNvSpPr>
          <p:nvPr/>
        </p:nvSpPr>
        <p:spPr>
          <a:xfrm xmlns:a="http://schemas.openxmlformats.org/drawingml/2006/main">
            <a:off x="2647561" y="6028936"/>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xmlns:a="http://schemas.openxmlformats.org/drawingml/2006/main">
              <a:ext uri="{FF2B5EF4-FFF2-40B4-BE49-F238E27FC236}">
                <a16:creationId xmlns:a16="http://schemas.microsoft.com/office/drawing/2014/main" id="{BF7170E4-1E2E-4BC6-88D7-FD1B3ACE6800}"/>
              </a:ext>
            </a:extLst>
          </p:cNvPr>
          <p:cNvSpPr>
            <a:spLocks xmlns:a="http://schemas.openxmlformats.org/drawingml/2006/main" noGrp="1"/>
          </p:cNvSpPr>
          <p:nvPr/>
        </p:nvSpPr>
        <p:spPr>
          <a:xfrm xmlns:a="http://schemas.openxmlformats.org/drawingml/2006/main">
            <a:off x="6190861" y="6067036"/>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21.3%</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~19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xmlns:a="http://schemas.openxmlformats.org/drawingml/2006/main">
              <a:ext uri="{FF2B5EF4-FFF2-40B4-BE49-F238E27FC236}">
                <a16:creationId xmlns:a16="http://schemas.microsoft.com/office/drawing/2014/main" id="{A769B487-565A-4CA7-A36F-B35031BC1005}"/>
              </a:ext>
            </a:extLst>
          </p:cNvPr>
          <p:cNvSpPr>
            <a:spLocks xmlns:a="http://schemas.openxmlformats.org/drawingml/2006/main" noGrp="1"/>
          </p:cNvSpPr>
          <p:nvPr/>
        </p:nvSpPr>
        <p:spPr>
          <a:xfrm xmlns:a="http://schemas.openxmlformats.org/drawingml/2006/main">
            <a:off x="6867136" y="6105136"/>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xmlns:a="http://schemas.openxmlformats.org/drawingml/2006/main">
              <a:ext uri="{FF2B5EF4-FFF2-40B4-BE49-F238E27FC236}">
                <a16:creationId xmlns:a16="http://schemas.microsoft.com/office/drawing/2014/main" id="{B60DCC57-2871-4489-9260-23A6714D105E}"/>
              </a:ext>
            </a:extLst>
          </p:cNvPr>
          <p:cNvSpPr>
            <a:spLocks xmlns:a="http://schemas.openxmlformats.org/drawingml/2006/main" noGrp="1"/>
          </p:cNvSpPr>
          <p:nvPr/>
        </p:nvSpPr>
        <p:spPr>
          <a:xfrm xmlns:a="http://schemas.openxmlformats.org/drawingml/2006/main">
            <a:off x="2266561" y="6524236"/>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90" name="DOURO (RDD) · top 5 exact rules-rank-5">
            <a:extLst xmlns:a="http://schemas.openxmlformats.org/drawingml/2006/main">
              <a:ext uri="{FF2B5EF4-FFF2-40B4-BE49-F238E27FC236}">
                <a16:creationId xmlns:a16="http://schemas.microsoft.com/office/drawing/2014/main" id="{6CFB75AF-055F-4945-9B14-2B789E41883C}"/>
              </a:ext>
            </a:extLst>
          </p:cNvPr>
          <p:cNvSpPr>
            <a:spLocks xmlns:a="http://schemas.openxmlformats.org/drawingml/2006/main" noGrp="1"/>
          </p:cNvSpPr>
          <p:nvPr/>
        </p:nvSpPr>
        <p:spPr>
          <a:xfrm xmlns:a="http://schemas.openxmlformats.org/drawingml/2006/main">
            <a:off x="2323711" y="6600436"/>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xmlns:a="http://schemas.openxmlformats.org/drawingml/2006/main">
              <a:ext uri="{FF2B5EF4-FFF2-40B4-BE49-F238E27FC236}">
                <a16:creationId xmlns:a16="http://schemas.microsoft.com/office/drawing/2014/main" id="{8A3DC211-FD85-416B-B943-6F80A95EB3C3}"/>
              </a:ext>
            </a:extLst>
          </p:cNvPr>
          <p:cNvSpPr>
            <a:spLocks xmlns:a="http://schemas.openxmlformats.org/drawingml/2006/main" noGrp="1"/>
          </p:cNvSpPr>
          <p:nvPr/>
        </p:nvSpPr>
        <p:spPr>
          <a:xfrm xmlns:a="http://schemas.openxmlformats.org/drawingml/2006/main">
            <a:off x="2647561" y="6590911"/>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xmlns:a="http://schemas.openxmlformats.org/drawingml/2006/main">
              <a:ext uri="{FF2B5EF4-FFF2-40B4-BE49-F238E27FC236}">
                <a16:creationId xmlns:a16="http://schemas.microsoft.com/office/drawing/2014/main" id="{25DEE235-4A2F-428D-9ED7-6A29E6AEF646}"/>
              </a:ext>
            </a:extLst>
          </p:cNvPr>
          <p:cNvSpPr>
            <a:spLocks xmlns:a="http://schemas.openxmlformats.org/drawingml/2006/main" noGrp="1"/>
          </p:cNvSpPr>
          <p:nvPr/>
        </p:nvSpPr>
        <p:spPr>
          <a:xfrm xmlns:a="http://schemas.openxmlformats.org/drawingml/2006/main">
            <a:off x="6190861" y="6629011"/>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24.7%</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~22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xmlns:a="http://schemas.openxmlformats.org/drawingml/2006/main">
              <a:ext uri="{FF2B5EF4-FFF2-40B4-BE49-F238E27FC236}">
                <a16:creationId xmlns:a16="http://schemas.microsoft.com/office/drawing/2014/main" id="{2941ED15-9628-4E2E-9D47-E881274DF602}"/>
              </a:ext>
            </a:extLst>
          </p:cNvPr>
          <p:cNvSpPr>
            <a:spLocks xmlns:a="http://schemas.openxmlformats.org/drawingml/2006/main" noGrp="1"/>
          </p:cNvSpPr>
          <p:nvPr/>
        </p:nvSpPr>
        <p:spPr>
          <a:xfrm xmlns:a="http://schemas.openxmlformats.org/drawingml/2006/main">
            <a:off x="6867136" y="6667111"/>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xmlns:a="http://schemas.openxmlformats.org/drawingml/2006/main">
              <a:ext uri="{FF2B5EF4-FFF2-40B4-BE49-F238E27FC236}">
                <a16:creationId xmlns:a16="http://schemas.microsoft.com/office/drawing/2014/main" id="{422777D9-8FF7-4D20-B720-3B1471F631D1}"/>
              </a:ext>
            </a:extLst>
          </p:cNvPr>
          <p:cNvSpPr>
            <a:spLocks xmlns:a="http://schemas.openxmlformats.org/drawingml/2006/main" noGrp="1"/>
          </p:cNvSpPr>
          <p:nvPr/>
        </p:nvSpPr>
        <p:spPr>
          <a:xfrm xmlns:a="http://schemas.openxmlformats.org/drawingml/2006/main">
            <a:off x="8000611" y="3142861"/>
            <a:ext cx="5476875" cy="3952875"/>
          </a:xfrm>
          <a:prstGeom xmlns:a="http://schemas.openxmlformats.org/drawingml/2006/main" prst="rect">
            <a:avLst/>
          </a:prstGeom>
          <a:solidFill xmlns:a="http://schemas.openxmlformats.org/drawingml/2006/main">
            <a:srgbClr val="F8E1D3"/>
          </a:solidFill>
          <a:ln xmlns:a="http://schemas.openxmlformats.org/drawingml/2006/main" w="0">
            <a:noFill/>
            <a:prstDash val="solid"/>
          </a:ln>
        </p:spPr>
      </p:sp>
      <p:sp>
        <p:nvSpPr>
          <p:cNvPr id="95" name="VINHO VERDE (RVV) · top 5 exact rules-title">
            <a:extLst xmlns:a="http://schemas.openxmlformats.org/drawingml/2006/main">
              <a:ext uri="{FF2B5EF4-FFF2-40B4-BE49-F238E27FC236}">
                <a16:creationId xmlns:a16="http://schemas.microsoft.com/office/drawing/2014/main" id="{E4FF130D-2F13-40CC-8ABD-8D9C5062902F}"/>
              </a:ext>
            </a:extLst>
          </p:cNvPr>
          <p:cNvSpPr>
            <a:spLocks xmlns:a="http://schemas.openxmlformats.org/drawingml/2006/main" noGrp="1"/>
          </p:cNvSpPr>
          <p:nvPr/>
        </p:nvSpPr>
        <p:spPr>
          <a:xfrm xmlns:a="http://schemas.openxmlformats.org/drawingml/2006/main">
            <a:off x="8229211" y="3352411"/>
            <a:ext cx="5019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xmlns:a="http://schemas.openxmlformats.org/drawingml/2006/main">
              <a:ext uri="{FF2B5EF4-FFF2-40B4-BE49-F238E27FC236}">
                <a16:creationId xmlns:a16="http://schemas.microsoft.com/office/drawing/2014/main" id="{DB15BD91-EC28-4996-86DC-2E9BB6B7CBFD}"/>
              </a:ext>
            </a:extLst>
          </p:cNvPr>
          <p:cNvSpPr>
            <a:spLocks xmlns:a="http://schemas.openxmlformats.org/drawingml/2006/main" noGrp="1"/>
          </p:cNvSpPr>
          <p:nvPr/>
        </p:nvSpPr>
        <p:spPr>
          <a:xfrm xmlns:a="http://schemas.openxmlformats.org/drawingml/2006/main">
            <a:off x="8229211" y="3600061"/>
            <a:ext cx="5019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xmlns:a="http://schemas.openxmlformats.org/drawingml/2006/main">
              <a:ext uri="{FF2B5EF4-FFF2-40B4-BE49-F238E27FC236}">
                <a16:creationId xmlns:a16="http://schemas.microsoft.com/office/drawing/2014/main" id="{F6527898-9793-4117-A67F-64E97FD453CA}"/>
              </a:ext>
            </a:extLst>
          </p:cNvPr>
          <p:cNvSpPr>
            <a:spLocks xmlns:a="http://schemas.openxmlformats.org/drawingml/2006/main" noGrp="1"/>
          </p:cNvSpPr>
          <p:nvPr/>
        </p:nvSpPr>
        <p:spPr>
          <a:xfrm xmlns:a="http://schemas.openxmlformats.org/drawingml/2006/main">
            <a:off x="8172061" y="4028686"/>
            <a:ext cx="51339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98" name="VINHO VERDE (RVV) · top 5 exact rules-h1">
            <a:extLst xmlns:a="http://schemas.openxmlformats.org/drawingml/2006/main">
              <a:ext uri="{FF2B5EF4-FFF2-40B4-BE49-F238E27FC236}">
                <a16:creationId xmlns:a16="http://schemas.microsoft.com/office/drawing/2014/main" id="{32E01AC8-7921-467D-B0F8-AB21A99C1F50}"/>
              </a:ext>
            </a:extLst>
          </p:cNvPr>
          <p:cNvSpPr>
            <a:spLocks xmlns:a="http://schemas.openxmlformats.org/drawingml/2006/main" noGrp="1"/>
          </p:cNvSpPr>
          <p:nvPr/>
        </p:nvSpPr>
        <p:spPr>
          <a:xfrm xmlns:a="http://schemas.openxmlformats.org/drawingml/2006/main">
            <a:off x="8229211" y="4076311"/>
            <a:ext cx="247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xmlns:a="http://schemas.openxmlformats.org/drawingml/2006/main">
              <a:ext uri="{FF2B5EF4-FFF2-40B4-BE49-F238E27FC236}">
                <a16:creationId xmlns:a16="http://schemas.microsoft.com/office/drawing/2014/main" id="{38ACC8F6-530C-4811-B6E3-D6BC9F4C966A}"/>
              </a:ext>
            </a:extLst>
          </p:cNvPr>
          <p:cNvSpPr>
            <a:spLocks xmlns:a="http://schemas.openxmlformats.org/drawingml/2006/main" noGrp="1"/>
          </p:cNvSpPr>
          <p:nvPr/>
        </p:nvSpPr>
        <p:spPr>
          <a:xfrm xmlns:a="http://schemas.openxmlformats.org/drawingml/2006/main">
            <a:off x="8553061" y="4076311"/>
            <a:ext cx="3524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xmlns:a="http://schemas.openxmlformats.org/drawingml/2006/main">
              <a:ext uri="{FF2B5EF4-FFF2-40B4-BE49-F238E27FC236}">
                <a16:creationId xmlns:a16="http://schemas.microsoft.com/office/drawing/2014/main" id="{55B8D43B-E474-4BCA-A049-74EA1BED8912}"/>
              </a:ext>
            </a:extLst>
          </p:cNvPr>
          <p:cNvSpPr>
            <a:spLocks xmlns:a="http://schemas.openxmlformats.org/drawingml/2006/main" noGrp="1"/>
          </p:cNvSpPr>
          <p:nvPr/>
        </p:nvSpPr>
        <p:spPr>
          <a:xfrm xmlns:a="http://schemas.openxmlformats.org/drawingml/2006/main">
            <a:off x="12096361" y="4076311"/>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xmlns:a="http://schemas.openxmlformats.org/drawingml/2006/main">
              <a:ext uri="{FF2B5EF4-FFF2-40B4-BE49-F238E27FC236}">
                <a16:creationId xmlns:a16="http://schemas.microsoft.com/office/drawing/2014/main" id="{34B9BCE8-05ED-442D-B9B8-A2164DA4E2DF}"/>
              </a:ext>
            </a:extLst>
          </p:cNvPr>
          <p:cNvSpPr>
            <a:spLocks xmlns:a="http://schemas.openxmlformats.org/drawingml/2006/main" noGrp="1"/>
          </p:cNvSpPr>
          <p:nvPr/>
        </p:nvSpPr>
        <p:spPr>
          <a:xfrm xmlns:a="http://schemas.openxmlformats.org/drawingml/2006/main">
            <a:off x="12810736" y="4076311"/>
            <a:ext cx="428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xmlns:a="http://schemas.openxmlformats.org/drawingml/2006/main">
              <a:ext uri="{FF2B5EF4-FFF2-40B4-BE49-F238E27FC236}">
                <a16:creationId xmlns:a16="http://schemas.microsoft.com/office/drawing/2014/main" id="{D7BD76E6-6821-43A6-8AE1-E20D277E1525}"/>
              </a:ext>
            </a:extLst>
          </p:cNvPr>
          <p:cNvSpPr>
            <a:spLocks xmlns:a="http://schemas.openxmlformats.org/drawingml/2006/main" noGrp="1"/>
          </p:cNvSpPr>
          <p:nvPr/>
        </p:nvSpPr>
        <p:spPr>
          <a:xfrm xmlns:a="http://schemas.openxmlformats.org/drawingml/2006/main">
            <a:off x="8172061" y="4276336"/>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103" name="VINHO VERDE (RVV) · top 5 exact rules-rank-1">
            <a:extLst xmlns:a="http://schemas.openxmlformats.org/drawingml/2006/main">
              <a:ext uri="{FF2B5EF4-FFF2-40B4-BE49-F238E27FC236}">
                <a16:creationId xmlns:a16="http://schemas.microsoft.com/office/drawing/2014/main" id="{3FEF6280-78A9-4E7E-A57F-A8E8EA6F0A3F}"/>
              </a:ext>
            </a:extLst>
          </p:cNvPr>
          <p:cNvSpPr>
            <a:spLocks xmlns:a="http://schemas.openxmlformats.org/drawingml/2006/main" noGrp="1"/>
          </p:cNvSpPr>
          <p:nvPr/>
        </p:nvSpPr>
        <p:spPr>
          <a:xfrm xmlns:a="http://schemas.openxmlformats.org/drawingml/2006/main">
            <a:off x="8229211" y="4352536"/>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xmlns:a="http://schemas.openxmlformats.org/drawingml/2006/main">
              <a:ext uri="{FF2B5EF4-FFF2-40B4-BE49-F238E27FC236}">
                <a16:creationId xmlns:a16="http://schemas.microsoft.com/office/drawing/2014/main" id="{B9A8FD12-2CAE-4D4A-849A-41358D68AB93}"/>
              </a:ext>
            </a:extLst>
          </p:cNvPr>
          <p:cNvSpPr>
            <a:spLocks xmlns:a="http://schemas.openxmlformats.org/drawingml/2006/main" noGrp="1"/>
          </p:cNvSpPr>
          <p:nvPr/>
        </p:nvSpPr>
        <p:spPr>
          <a:xfrm xmlns:a="http://schemas.openxmlformats.org/drawingml/2006/main">
            <a:off x="8553061" y="4343011"/>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xmlns:a="http://schemas.openxmlformats.org/drawingml/2006/main">
              <a:ext uri="{FF2B5EF4-FFF2-40B4-BE49-F238E27FC236}">
                <a16:creationId xmlns:a16="http://schemas.microsoft.com/office/drawing/2014/main" id="{7F3E0124-A510-48D2-95CF-82530F0D6AE3}"/>
              </a:ext>
            </a:extLst>
          </p:cNvPr>
          <p:cNvSpPr>
            <a:spLocks xmlns:a="http://schemas.openxmlformats.org/drawingml/2006/main" noGrp="1"/>
          </p:cNvSpPr>
          <p:nvPr/>
        </p:nvSpPr>
        <p:spPr>
          <a:xfrm xmlns:a="http://schemas.openxmlformats.org/drawingml/2006/main">
            <a:off x="12096361" y="4381111"/>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21.2%</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~17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xmlns:a="http://schemas.openxmlformats.org/drawingml/2006/main">
              <a:ext uri="{FF2B5EF4-FFF2-40B4-BE49-F238E27FC236}">
                <a16:creationId xmlns:a16="http://schemas.microsoft.com/office/drawing/2014/main" id="{AF9FE562-0DCD-44DE-A1DF-EAA7C0609DE9}"/>
              </a:ext>
            </a:extLst>
          </p:cNvPr>
          <p:cNvSpPr>
            <a:spLocks xmlns:a="http://schemas.openxmlformats.org/drawingml/2006/main" noGrp="1"/>
          </p:cNvSpPr>
          <p:nvPr/>
        </p:nvSpPr>
        <p:spPr>
          <a:xfrm xmlns:a="http://schemas.openxmlformats.org/drawingml/2006/main">
            <a:off x="12772636" y="4419211"/>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xmlns:a="http://schemas.openxmlformats.org/drawingml/2006/main">
              <a:ext uri="{FF2B5EF4-FFF2-40B4-BE49-F238E27FC236}">
                <a16:creationId xmlns:a16="http://schemas.microsoft.com/office/drawing/2014/main" id="{373D1EC2-BBAB-46B0-854D-EA275A5D83A5}"/>
              </a:ext>
            </a:extLst>
          </p:cNvPr>
          <p:cNvSpPr>
            <a:spLocks xmlns:a="http://schemas.openxmlformats.org/drawingml/2006/main" noGrp="1"/>
          </p:cNvSpPr>
          <p:nvPr/>
        </p:nvSpPr>
        <p:spPr>
          <a:xfrm xmlns:a="http://schemas.openxmlformats.org/drawingml/2006/main">
            <a:off x="8172061" y="4838311"/>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108" name="VINHO VERDE (RVV) · top 5 exact rules-rank-2">
            <a:extLst xmlns:a="http://schemas.openxmlformats.org/drawingml/2006/main">
              <a:ext uri="{FF2B5EF4-FFF2-40B4-BE49-F238E27FC236}">
                <a16:creationId xmlns:a16="http://schemas.microsoft.com/office/drawing/2014/main" id="{A4E68810-86DA-43E2-9F8A-A0A4961C36A6}"/>
              </a:ext>
            </a:extLst>
          </p:cNvPr>
          <p:cNvSpPr>
            <a:spLocks xmlns:a="http://schemas.openxmlformats.org/drawingml/2006/main" noGrp="1"/>
          </p:cNvSpPr>
          <p:nvPr/>
        </p:nvSpPr>
        <p:spPr>
          <a:xfrm xmlns:a="http://schemas.openxmlformats.org/drawingml/2006/main">
            <a:off x="8229211" y="4914511"/>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xmlns:a="http://schemas.openxmlformats.org/drawingml/2006/main">
              <a:ext uri="{FF2B5EF4-FFF2-40B4-BE49-F238E27FC236}">
                <a16:creationId xmlns:a16="http://schemas.microsoft.com/office/drawing/2014/main" id="{6FF208B0-12A0-4F78-B688-A2C32692E926}"/>
              </a:ext>
            </a:extLst>
          </p:cNvPr>
          <p:cNvSpPr>
            <a:spLocks xmlns:a="http://schemas.openxmlformats.org/drawingml/2006/main" noGrp="1"/>
          </p:cNvSpPr>
          <p:nvPr/>
        </p:nvSpPr>
        <p:spPr>
          <a:xfrm xmlns:a="http://schemas.openxmlformats.org/drawingml/2006/main">
            <a:off x="8553061" y="4904986"/>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xmlns:a="http://schemas.openxmlformats.org/drawingml/2006/main">
              <a:ext uri="{FF2B5EF4-FFF2-40B4-BE49-F238E27FC236}">
                <a16:creationId xmlns:a16="http://schemas.microsoft.com/office/drawing/2014/main" id="{A00D6CA8-3B4D-4693-92FC-25EE8654DD1C}"/>
              </a:ext>
            </a:extLst>
          </p:cNvPr>
          <p:cNvSpPr>
            <a:spLocks xmlns:a="http://schemas.openxmlformats.org/drawingml/2006/main" noGrp="1"/>
          </p:cNvSpPr>
          <p:nvPr/>
        </p:nvSpPr>
        <p:spPr>
          <a:xfrm xmlns:a="http://schemas.openxmlformats.org/drawingml/2006/main">
            <a:off x="12096361" y="4943086"/>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21.2%</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~17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xmlns:a="http://schemas.openxmlformats.org/drawingml/2006/main">
              <a:ext uri="{FF2B5EF4-FFF2-40B4-BE49-F238E27FC236}">
                <a16:creationId xmlns:a16="http://schemas.microsoft.com/office/drawing/2014/main" id="{941CB26F-CCE5-40EE-A42B-C13290AFA9E7}"/>
              </a:ext>
            </a:extLst>
          </p:cNvPr>
          <p:cNvSpPr>
            <a:spLocks xmlns:a="http://schemas.openxmlformats.org/drawingml/2006/main" noGrp="1"/>
          </p:cNvSpPr>
          <p:nvPr/>
        </p:nvSpPr>
        <p:spPr>
          <a:xfrm xmlns:a="http://schemas.openxmlformats.org/drawingml/2006/main">
            <a:off x="12772636" y="4981186"/>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xmlns:a="http://schemas.openxmlformats.org/drawingml/2006/main">
              <a:ext uri="{FF2B5EF4-FFF2-40B4-BE49-F238E27FC236}">
                <a16:creationId xmlns:a16="http://schemas.microsoft.com/office/drawing/2014/main" id="{C0D271DF-9622-40DD-AEFD-79DD728EFAE6}"/>
              </a:ext>
            </a:extLst>
          </p:cNvPr>
          <p:cNvSpPr>
            <a:spLocks xmlns:a="http://schemas.openxmlformats.org/drawingml/2006/main" noGrp="1"/>
          </p:cNvSpPr>
          <p:nvPr/>
        </p:nvSpPr>
        <p:spPr>
          <a:xfrm xmlns:a="http://schemas.openxmlformats.org/drawingml/2006/main">
            <a:off x="8172061" y="5400286"/>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113" name="VINHO VERDE (RVV) · top 5 exact rules-rank-3">
            <a:extLst xmlns:a="http://schemas.openxmlformats.org/drawingml/2006/main">
              <a:ext uri="{FF2B5EF4-FFF2-40B4-BE49-F238E27FC236}">
                <a16:creationId xmlns:a16="http://schemas.microsoft.com/office/drawing/2014/main" id="{2AF7C3BD-C819-4FE0-BA17-582FBCE8C350}"/>
              </a:ext>
            </a:extLst>
          </p:cNvPr>
          <p:cNvSpPr>
            <a:spLocks xmlns:a="http://schemas.openxmlformats.org/drawingml/2006/main" noGrp="1"/>
          </p:cNvSpPr>
          <p:nvPr/>
        </p:nvSpPr>
        <p:spPr>
          <a:xfrm xmlns:a="http://schemas.openxmlformats.org/drawingml/2006/main">
            <a:off x="8229211" y="5476486"/>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xmlns:a="http://schemas.openxmlformats.org/drawingml/2006/main">
              <a:ext uri="{FF2B5EF4-FFF2-40B4-BE49-F238E27FC236}">
                <a16:creationId xmlns:a16="http://schemas.microsoft.com/office/drawing/2014/main" id="{428B43F6-F93F-4B8C-88E1-D615DF4D7676}"/>
              </a:ext>
            </a:extLst>
          </p:cNvPr>
          <p:cNvSpPr>
            <a:spLocks xmlns:a="http://schemas.openxmlformats.org/drawingml/2006/main" noGrp="1"/>
          </p:cNvSpPr>
          <p:nvPr/>
        </p:nvSpPr>
        <p:spPr>
          <a:xfrm xmlns:a="http://schemas.openxmlformats.org/drawingml/2006/main">
            <a:off x="8553061" y="5466961"/>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xmlns:a="http://schemas.openxmlformats.org/drawingml/2006/main">
            <a:pPr>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xmlns:a="http://schemas.openxmlformats.org/drawingml/2006/main">
              <a:ext uri="{FF2B5EF4-FFF2-40B4-BE49-F238E27FC236}">
                <a16:creationId xmlns:a16="http://schemas.microsoft.com/office/drawing/2014/main" id="{1F4B5520-16D5-4437-ABB5-D4BCB81A75C1}"/>
              </a:ext>
            </a:extLst>
          </p:cNvPr>
          <p:cNvSpPr>
            <a:spLocks xmlns:a="http://schemas.openxmlformats.org/drawingml/2006/main" noGrp="1"/>
          </p:cNvSpPr>
          <p:nvPr/>
        </p:nvSpPr>
        <p:spPr>
          <a:xfrm xmlns:a="http://schemas.openxmlformats.org/drawingml/2006/main">
            <a:off x="12096361" y="5505061"/>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27.5%</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~22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xmlns:a="http://schemas.openxmlformats.org/drawingml/2006/main">
              <a:ext uri="{FF2B5EF4-FFF2-40B4-BE49-F238E27FC236}">
                <a16:creationId xmlns:a16="http://schemas.microsoft.com/office/drawing/2014/main" id="{10845E78-9200-4353-9A9A-EA2F0AA445A4}"/>
              </a:ext>
            </a:extLst>
          </p:cNvPr>
          <p:cNvSpPr>
            <a:spLocks xmlns:a="http://schemas.openxmlformats.org/drawingml/2006/main" noGrp="1"/>
          </p:cNvSpPr>
          <p:nvPr/>
        </p:nvSpPr>
        <p:spPr>
          <a:xfrm xmlns:a="http://schemas.openxmlformats.org/drawingml/2006/main">
            <a:off x="12772636" y="5543161"/>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xmlns:a="http://schemas.openxmlformats.org/drawingml/2006/main">
              <a:ext uri="{FF2B5EF4-FFF2-40B4-BE49-F238E27FC236}">
                <a16:creationId xmlns:a16="http://schemas.microsoft.com/office/drawing/2014/main" id="{075D8346-807F-4E72-837A-F3385F79D05F}"/>
              </a:ext>
            </a:extLst>
          </p:cNvPr>
          <p:cNvSpPr>
            <a:spLocks xmlns:a="http://schemas.openxmlformats.org/drawingml/2006/main" noGrp="1"/>
          </p:cNvSpPr>
          <p:nvPr/>
        </p:nvSpPr>
        <p:spPr>
          <a:xfrm xmlns:a="http://schemas.openxmlformats.org/drawingml/2006/main">
            <a:off x="8172061" y="5962261"/>
            <a:ext cx="5133975" cy="542925"/>
          </a:xfrm>
          <a:prstGeom xmlns:a="http://schemas.openxmlformats.org/drawingml/2006/main" prst="rect">
            <a:avLst/>
          </a:prstGeom>
          <a:solidFill xmlns:a="http://schemas.openxmlformats.org/drawingml/2006/main">
            <a:srgbClr val="FAFAFA"/>
          </a:solidFill>
          <a:ln xmlns:a="http://schemas.openxmlformats.org/drawingml/2006/main" w="9525">
            <a:solidFill>
              <a:srgbClr val="D6D1CB"/>
            </a:solidFill>
            <a:prstDash val="solid"/>
          </a:ln>
        </p:spPr>
      </p:sp>
      <p:sp>
        <p:nvSpPr>
          <p:cNvPr id="118" name="VINHO VERDE (RVV) · top 5 exact rules-rank-4">
            <a:extLst xmlns:a="http://schemas.openxmlformats.org/drawingml/2006/main">
              <a:ext uri="{FF2B5EF4-FFF2-40B4-BE49-F238E27FC236}">
                <a16:creationId xmlns:a16="http://schemas.microsoft.com/office/drawing/2014/main" id="{EFC3FE7D-F18B-45E5-8B09-5F83FD43BAB2}"/>
              </a:ext>
            </a:extLst>
          </p:cNvPr>
          <p:cNvSpPr>
            <a:spLocks xmlns:a="http://schemas.openxmlformats.org/drawingml/2006/main" noGrp="1"/>
          </p:cNvSpPr>
          <p:nvPr/>
        </p:nvSpPr>
        <p:spPr>
          <a:xfrm xmlns:a="http://schemas.openxmlformats.org/drawingml/2006/main">
            <a:off x="8229211" y="6038461"/>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xmlns:a="http://schemas.openxmlformats.org/drawingml/2006/main">
              <a:ext uri="{FF2B5EF4-FFF2-40B4-BE49-F238E27FC236}">
                <a16:creationId xmlns:a16="http://schemas.microsoft.com/office/drawing/2014/main" id="{D47BE7F3-B4B5-411B-9414-C2751495F078}"/>
              </a:ext>
            </a:extLst>
          </p:cNvPr>
          <p:cNvSpPr>
            <a:spLocks xmlns:a="http://schemas.openxmlformats.org/drawingml/2006/main" noGrp="1"/>
          </p:cNvSpPr>
          <p:nvPr/>
        </p:nvSpPr>
        <p:spPr>
          <a:xfrm xmlns:a="http://schemas.openxmlformats.org/drawingml/2006/main">
            <a:off x="8553061" y="6028936"/>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xmlns:a="http://schemas.openxmlformats.org/drawingml/2006/main">
              <a:ext uri="{FF2B5EF4-FFF2-40B4-BE49-F238E27FC236}">
                <a16:creationId xmlns:a16="http://schemas.microsoft.com/office/drawing/2014/main" id="{2508B91C-B98B-4574-B6A5-4C8959FBAE7A}"/>
              </a:ext>
            </a:extLst>
          </p:cNvPr>
          <p:cNvSpPr>
            <a:spLocks xmlns:a="http://schemas.openxmlformats.org/drawingml/2006/main" noGrp="1"/>
          </p:cNvSpPr>
          <p:nvPr/>
        </p:nvSpPr>
        <p:spPr>
          <a:xfrm xmlns:a="http://schemas.openxmlformats.org/drawingml/2006/main">
            <a:off x="12096361" y="6067036"/>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25.0%</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~20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xmlns:a="http://schemas.openxmlformats.org/drawingml/2006/main">
              <a:ext uri="{FF2B5EF4-FFF2-40B4-BE49-F238E27FC236}">
                <a16:creationId xmlns:a16="http://schemas.microsoft.com/office/drawing/2014/main" id="{A63417C1-8376-4A5A-96C8-8CCF9FD81DF7}"/>
              </a:ext>
            </a:extLst>
          </p:cNvPr>
          <p:cNvSpPr>
            <a:spLocks xmlns:a="http://schemas.openxmlformats.org/drawingml/2006/main" noGrp="1"/>
          </p:cNvSpPr>
          <p:nvPr/>
        </p:nvSpPr>
        <p:spPr>
          <a:xfrm xmlns:a="http://schemas.openxmlformats.org/drawingml/2006/main">
            <a:off x="12772636" y="6105136"/>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xmlns:a="http://schemas.openxmlformats.org/drawingml/2006/main">
              <a:ext uri="{FF2B5EF4-FFF2-40B4-BE49-F238E27FC236}">
                <a16:creationId xmlns:a16="http://schemas.microsoft.com/office/drawing/2014/main" id="{BA18AF68-02F7-4E70-AC08-9AB15AA1948A}"/>
              </a:ext>
            </a:extLst>
          </p:cNvPr>
          <p:cNvSpPr>
            <a:spLocks xmlns:a="http://schemas.openxmlformats.org/drawingml/2006/main" noGrp="1"/>
          </p:cNvSpPr>
          <p:nvPr/>
        </p:nvSpPr>
        <p:spPr>
          <a:xfrm xmlns:a="http://schemas.openxmlformats.org/drawingml/2006/main">
            <a:off x="8172061" y="6524236"/>
            <a:ext cx="5133975"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D6D1CB"/>
            </a:solidFill>
            <a:prstDash val="solid"/>
          </a:ln>
        </p:spPr>
      </p:sp>
      <p:sp>
        <p:nvSpPr>
          <p:cNvPr id="123" name="VINHO VERDE (RVV) · top 5 exact rules-rank-5">
            <a:extLst xmlns:a="http://schemas.openxmlformats.org/drawingml/2006/main">
              <a:ext uri="{FF2B5EF4-FFF2-40B4-BE49-F238E27FC236}">
                <a16:creationId xmlns:a16="http://schemas.microsoft.com/office/drawing/2014/main" id="{8B7A3652-A3A9-4FBE-934D-F3A4FDCC9B94}"/>
              </a:ext>
            </a:extLst>
          </p:cNvPr>
          <p:cNvSpPr>
            <a:spLocks xmlns:a="http://schemas.openxmlformats.org/drawingml/2006/main" noGrp="1"/>
          </p:cNvSpPr>
          <p:nvPr/>
        </p:nvSpPr>
        <p:spPr>
          <a:xfrm xmlns:a="http://schemas.openxmlformats.org/drawingml/2006/main">
            <a:off x="8229211" y="6600436"/>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xmlns:a="http://schemas.openxmlformats.org/drawingml/2006/main">
              <a:ext uri="{FF2B5EF4-FFF2-40B4-BE49-F238E27FC236}">
                <a16:creationId xmlns:a16="http://schemas.microsoft.com/office/drawing/2014/main" id="{00434A10-8EDF-4885-977A-A726DE335AD7}"/>
              </a:ext>
            </a:extLst>
          </p:cNvPr>
          <p:cNvSpPr>
            <a:spLocks xmlns:a="http://schemas.openxmlformats.org/drawingml/2006/main" noGrp="1"/>
          </p:cNvSpPr>
          <p:nvPr/>
        </p:nvSpPr>
        <p:spPr>
          <a:xfrm xmlns:a="http://schemas.openxmlformats.org/drawingml/2006/main">
            <a:off x="8553061" y="6590911"/>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xmlns:a="http://schemas.openxmlformats.org/drawingml/2006/main">
            <a:pPr>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xmlns:a="http://schemas.openxmlformats.org/drawingml/2006/main">
              <a:ext uri="{FF2B5EF4-FFF2-40B4-BE49-F238E27FC236}">
                <a16:creationId xmlns:a16="http://schemas.microsoft.com/office/drawing/2014/main" id="{52C52760-C72D-481A-8220-72974FD1C32D}"/>
              </a:ext>
            </a:extLst>
          </p:cNvPr>
          <p:cNvSpPr>
            <a:spLocks xmlns:a="http://schemas.openxmlformats.org/drawingml/2006/main" noGrp="1"/>
          </p:cNvSpPr>
          <p:nvPr/>
        </p:nvSpPr>
        <p:spPr>
          <a:xfrm xmlns:a="http://schemas.openxmlformats.org/drawingml/2006/main">
            <a:off x="12096361" y="6629011"/>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23.8%</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~19 yr</a:t>
            </a:r>
          </a:p>
          <a:p xmlns:a="http://schemas.openxmlformats.org/drawingml/2006/main">
            <a:pPr algn="ctr">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xmlns:a="http://schemas.openxmlformats.org/drawingml/2006/main">
              <a:ext uri="{FF2B5EF4-FFF2-40B4-BE49-F238E27FC236}">
                <a16:creationId xmlns:a16="http://schemas.microsoft.com/office/drawing/2014/main" id="{2909253D-BEB3-4131-B532-E8036CCA2001}"/>
              </a:ext>
            </a:extLst>
          </p:cNvPr>
          <p:cNvSpPr>
            <a:spLocks xmlns:a="http://schemas.openxmlformats.org/drawingml/2006/main" noGrp="1"/>
          </p:cNvSpPr>
          <p:nvPr/>
        </p:nvSpPr>
        <p:spPr>
          <a:xfrm xmlns:a="http://schemas.openxmlformats.org/drawingml/2006/main">
            <a:off x="12772636" y="6667111"/>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xmlns:a="http://schemas.openxmlformats.org/drawingml/2006/main">
              <a:ext uri="{FF2B5EF4-FFF2-40B4-BE49-F238E27FC236}">
                <a16:creationId xmlns:a16="http://schemas.microsoft.com/office/drawing/2014/main" id="{9488725A-99EC-4950-93BC-E208804B1375}"/>
              </a:ext>
            </a:extLst>
          </p:cNvPr>
          <p:cNvSpPr>
            <a:spLocks xmlns:a="http://schemas.openxmlformats.org/drawingml/2006/main" noGrp="1"/>
          </p:cNvSpPr>
          <p:nvPr/>
        </p:nvSpPr>
        <p:spPr>
          <a:xfrm xmlns:a="http://schemas.openxmlformats.org/drawingml/2006/main">
            <a:off x="2095111" y="7314811"/>
            <a:ext cx="11382375" cy="514350"/>
          </a:xfrm>
          <a:prstGeom xmlns:a="http://schemas.openxmlformats.org/drawingml/2006/main" prst="rect">
            <a:avLst/>
          </a:prstGeom>
          <a:solidFill xmlns:a="http://schemas.openxmlformats.org/drawingml/2006/main">
            <a:srgbClr val="E8ECE8"/>
          </a:solidFill>
          <a:ln xmlns:a="http://schemas.openxmlformats.org/drawingml/2006/main" w="0">
            <a:noFill/>
            <a:prstDash val="solid"/>
          </a:ln>
        </p:spPr>
      </p:sp>
      <p:sp>
        <p:nvSpPr>
          <p:cNvPr id="128" name="exact-reading-label">
            <a:extLst xmlns:a="http://schemas.openxmlformats.org/drawingml/2006/main">
              <a:ext uri="{FF2B5EF4-FFF2-40B4-BE49-F238E27FC236}">
                <a16:creationId xmlns:a16="http://schemas.microsoft.com/office/drawing/2014/main" id="{B7419DBB-3FC5-412A-904D-228AC62E1C34}"/>
              </a:ext>
            </a:extLst>
          </p:cNvPr>
          <p:cNvSpPr>
            <a:spLocks xmlns:a="http://schemas.openxmlformats.org/drawingml/2006/main" noGrp="1"/>
          </p:cNvSpPr>
          <p:nvPr/>
        </p:nvSpPr>
        <p:spPr>
          <a:xfrm xmlns:a="http://schemas.openxmlformats.org/drawingml/2006/main">
            <a:off x="2361811" y="7467211"/>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xmlns:a="http://schemas.openxmlformats.org/drawingml/2006/main">
              <a:ext uri="{FF2B5EF4-FFF2-40B4-BE49-F238E27FC236}">
                <a16:creationId xmlns:a16="http://schemas.microsoft.com/office/drawing/2014/main" id="{98556951-FCAE-4FC6-8D13-B394939FE914}"/>
              </a:ext>
            </a:extLst>
          </p:cNvPr>
          <p:cNvSpPr>
            <a:spLocks xmlns:a="http://schemas.openxmlformats.org/drawingml/2006/main" noGrp="1"/>
          </p:cNvSpPr>
          <p:nvPr/>
        </p:nvSpPr>
        <p:spPr>
          <a:xfrm xmlns:a="http://schemas.openxmlformats.org/drawingml/2006/main">
            <a:off x="3742936" y="7448161"/>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
        <p:nvSpPr>
          <p:cNvPr id="130" name="exact-source">
            <a:extLst xmlns:a="http://schemas.openxmlformats.org/drawingml/2006/main">
              <a:ext uri="{FF2B5EF4-FFF2-40B4-BE49-F238E27FC236}">
                <a16:creationId xmlns:a16="http://schemas.microsoft.com/office/drawing/2014/main" id="{2626852C-D3AF-49D3-9E49-BF6A44675CB6}"/>
              </a:ext>
            </a:extLst>
          </p:cNvPr>
          <p:cNvSpPr>
            <a:spLocks xmlns:a="http://schemas.openxmlformats.org/drawingml/2006/main" noGrp="1"/>
          </p:cNvSpPr>
          <p:nvPr/>
        </p:nvSpPr>
        <p:spPr>
          <a:xfrm xmlns:a="http://schemas.openxmlformats.org/drawingml/2006/main">
            <a:off x="2095111" y="8095861"/>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9636E"/>
                </a:solidFill>
                <a:latin typeface="Arial"/>
                <a:ea typeface="Arial"/>
                <a:cs typeface="Arial"/>
              </a:defRPr>
            </a:pPr>
            <a:r>
              <a:rPr sz="675">
                <a:solidFill>
                  <a:srgbClr val="59636E"/>
                </a:solidFill>
                <a:latin typeface="Arial"/>
                <a:ea typeface="Arial"/>
                <a:cs typeface="Arial"/>
              </a:rPr>
              <a:t>Source: Thesis Tables 4.1-4.2 and Appendix A. Delta in mhl relative to linear trend.</a:t>
            </a:r>
          </a:p>
        </p:txBody>
      </p:sp>
      <p:sp>
        <p:nvSpPr>
          <p:cNvPr id="131" name="exact-slide-number">
            <a:extLst xmlns:a="http://schemas.openxmlformats.org/drawingml/2006/main">
              <a:ext uri="{FF2B5EF4-FFF2-40B4-BE49-F238E27FC236}">
                <a16:creationId xmlns:a16="http://schemas.microsoft.com/office/drawing/2014/main" id="{CDB7386A-1F99-4B63-8678-F5EB6E946642}"/>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59636E"/>
                </a:solidFill>
                <a:latin typeface="Arial"/>
                <a:ea typeface="Arial"/>
                <a:cs typeface="Arial"/>
              </a:defRPr>
            </a:pPr>
            <a:r>
              <a:rPr sz="750">
                <a:solidFill>
                  <a:srgbClr val="59636E"/>
                </a:solidFill>
                <a:latin typeface="Arial"/>
                <a:ea typeface="Arial"/>
                <a:cs typeface="Arial"/>
              </a:rPr>
              <a:t>12</a:t>
            </a:r>
          </a:p>
        </p:txBody>
      </p:sp>
    </p:spTree>
    <p:extLst>
      <p:ext uri="{BB962C8B-B14F-4D97-AF65-F5344CB8AC3E}">
        <p14:creationId xmlns:p14="http://schemas.microsoft.com/office/powerpoint/2010/main" val="79580354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52" name="Rectangle 51"/>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ectangle 49"/>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white-background">
            <a:extLst xmlns:a="http://schemas.openxmlformats.org/drawingml/2006/main">
              <a:ext uri="{FF2B5EF4-FFF2-40B4-BE49-F238E27FC236}">
                <a16:creationId xmlns:a16="http://schemas.microsoft.com/office/drawing/2014/main" id="{B516CC70-A1CF-4436-8E14-B3ECE8C12560}"/>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B4A5072B-BA12-434A-B2E7-F18E8ED57BDF}"/>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xmlns:a="http://schemas.openxmlformats.org/drawingml/2006/main">
              <a:ext uri="{FF2B5EF4-FFF2-40B4-BE49-F238E27FC236}">
                <a16:creationId xmlns:a16="http://schemas.microsoft.com/office/drawing/2014/main" id="{51F264F9-E6AB-45DA-AB03-06AFAE1D6A29}"/>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xmlns:a="http://schemas.openxmlformats.org/drawingml/2006/main">
              <a:ext uri="{FF2B5EF4-FFF2-40B4-BE49-F238E27FC236}">
                <a16:creationId xmlns:a16="http://schemas.microsoft.com/office/drawing/2014/main" id="{28004806-4E78-4306-98C7-16C76F2412D4}"/>
              </a:ext>
            </a:extLst>
          </p:cNvPr>
          <p:cNvSpPr>
            <a:spLocks xmlns:a="http://schemas.openxmlformats.org/drawingml/2006/main" noGrp="1"/>
          </p:cNvSpPr>
          <p:nvPr/>
        </p:nvSpPr>
        <p:spPr>
          <a:xfrm xmlns:a="http://schemas.openxmlformats.org/drawingml/2006/main">
            <a:off x="2095111" y="3123811"/>
            <a:ext cx="11382375" cy="476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head-0">
            <a:extLst xmlns:a="http://schemas.openxmlformats.org/drawingml/2006/main">
              <a:ext uri="{FF2B5EF4-FFF2-40B4-BE49-F238E27FC236}">
                <a16:creationId xmlns:a16="http://schemas.microsoft.com/office/drawing/2014/main" id="{240AE2D6-0698-4772-B9CD-DE99E2226137}"/>
              </a:ext>
            </a:extLst>
          </p:cNvPr>
          <p:cNvSpPr>
            <a:spLocks xmlns:a="http://schemas.openxmlformats.org/drawingml/2006/main" noGrp="1"/>
          </p:cNvSpPr>
          <p:nvPr/>
        </p:nvSpPr>
        <p:spPr>
          <a:xfrm xmlns:a="http://schemas.openxmlformats.org/drawingml/2006/main">
            <a:off x="2190361" y="3276211"/>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xmlns:a="http://schemas.openxmlformats.org/drawingml/2006/main">
              <a:ext uri="{FF2B5EF4-FFF2-40B4-BE49-F238E27FC236}">
                <a16:creationId xmlns:a16="http://schemas.microsoft.com/office/drawing/2014/main" id="{ECD317BD-7E1A-45FC-92F8-56AFA066E63C}"/>
              </a:ext>
            </a:extLst>
          </p:cNvPr>
          <p:cNvSpPr>
            <a:spLocks xmlns:a="http://schemas.openxmlformats.org/drawingml/2006/main" noGrp="1"/>
          </p:cNvSpPr>
          <p:nvPr/>
        </p:nvSpPr>
        <p:spPr>
          <a:xfrm xmlns:a="http://schemas.openxmlformats.org/drawingml/2006/main">
            <a:off x="4457311" y="3276211"/>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xmlns:a="http://schemas.openxmlformats.org/drawingml/2006/main">
              <a:ext uri="{FF2B5EF4-FFF2-40B4-BE49-F238E27FC236}">
                <a16:creationId xmlns:a16="http://schemas.microsoft.com/office/drawing/2014/main" id="{90CD6E49-F296-4D45-A364-D242FA0FE3A1}"/>
              </a:ext>
            </a:extLst>
          </p:cNvPr>
          <p:cNvSpPr>
            <a:spLocks xmlns:a="http://schemas.openxmlformats.org/drawingml/2006/main" noGrp="1"/>
          </p:cNvSpPr>
          <p:nvPr/>
        </p:nvSpPr>
        <p:spPr>
          <a:xfrm xmlns:a="http://schemas.openxmlformats.org/drawingml/2006/main">
            <a:off x="6743311" y="3276211"/>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xmlns:a="http://schemas.openxmlformats.org/drawingml/2006/main">
              <a:ext uri="{FF2B5EF4-FFF2-40B4-BE49-F238E27FC236}">
                <a16:creationId xmlns:a16="http://schemas.microsoft.com/office/drawing/2014/main" id="{0EC2B971-7971-4EE0-A0EA-A56FCF57593C}"/>
              </a:ext>
            </a:extLst>
          </p:cNvPr>
          <p:cNvSpPr>
            <a:spLocks xmlns:a="http://schemas.openxmlformats.org/drawingml/2006/main" noGrp="1"/>
          </p:cNvSpPr>
          <p:nvPr/>
        </p:nvSpPr>
        <p:spPr>
          <a:xfrm xmlns:a="http://schemas.openxmlformats.org/drawingml/2006/main">
            <a:off x="9029311" y="3276211"/>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xmlns:a="http://schemas.openxmlformats.org/drawingml/2006/main">
              <a:ext uri="{FF2B5EF4-FFF2-40B4-BE49-F238E27FC236}">
                <a16:creationId xmlns:a16="http://schemas.microsoft.com/office/drawing/2014/main" id="{B77E9BD3-1DD0-428B-A11B-E0AB12968431}"/>
              </a:ext>
            </a:extLst>
          </p:cNvPr>
          <p:cNvSpPr>
            <a:spLocks xmlns:a="http://schemas.openxmlformats.org/drawingml/2006/main" noGrp="1"/>
          </p:cNvSpPr>
          <p:nvPr/>
        </p:nvSpPr>
        <p:spPr>
          <a:xfrm xmlns:a="http://schemas.openxmlformats.org/drawingml/2006/main">
            <a:off x="11220061" y="3276211"/>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xmlns:a="http://schemas.openxmlformats.org/drawingml/2006/main">
              <a:ext uri="{FF2B5EF4-FFF2-40B4-BE49-F238E27FC236}">
                <a16:creationId xmlns:a16="http://schemas.microsoft.com/office/drawing/2014/main" id="{3BF20E06-64D0-44E4-A5F0-36ECB195CBFF}"/>
              </a:ext>
            </a:extLst>
          </p:cNvPr>
          <p:cNvSpPr>
            <a:spLocks xmlns:a="http://schemas.openxmlformats.org/drawingml/2006/main" noGrp="1"/>
          </p:cNvSpPr>
          <p:nvPr/>
        </p:nvSpPr>
        <p:spPr>
          <a:xfrm xmlns:a="http://schemas.openxmlformats.org/drawingml/2006/main">
            <a:off x="2095111" y="3695311"/>
            <a:ext cx="11382375" cy="7810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ow-stripe-0">
            <a:extLst xmlns:a="http://schemas.openxmlformats.org/drawingml/2006/main">
              <a:ext uri="{FF2B5EF4-FFF2-40B4-BE49-F238E27FC236}">
                <a16:creationId xmlns:a16="http://schemas.microsoft.com/office/drawing/2014/main" id="{97066061-65EF-4749-90EC-18E090FD6823}"/>
              </a:ext>
            </a:extLst>
          </p:cNvPr>
          <p:cNvSpPr>
            <a:spLocks xmlns:a="http://schemas.openxmlformats.org/drawingml/2006/main" noGrp="1"/>
          </p:cNvSpPr>
          <p:nvPr/>
        </p:nvSpPr>
        <p:spPr>
          <a:xfrm xmlns:a="http://schemas.openxmlformats.org/drawingml/2006/main">
            <a:off x="2095111" y="3695311"/>
            <a:ext cx="76200" cy="7810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row-0-0">
            <a:extLst xmlns:a="http://schemas.openxmlformats.org/drawingml/2006/main">
              <a:ext uri="{FF2B5EF4-FFF2-40B4-BE49-F238E27FC236}">
                <a16:creationId xmlns:a16="http://schemas.microsoft.com/office/drawing/2014/main" id="{AFD69B4A-BDEA-4746-954D-8A951C5FA76A}"/>
              </a:ext>
            </a:extLst>
          </p:cNvPr>
          <p:cNvSpPr>
            <a:spLocks xmlns:a="http://schemas.openxmlformats.org/drawingml/2006/main" noGrp="1"/>
          </p:cNvSpPr>
          <p:nvPr/>
        </p:nvSpPr>
        <p:spPr>
          <a:xfrm xmlns:a="http://schemas.openxmlformats.org/drawingml/2006/main">
            <a:off x="2209411" y="38858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xmlns:a="http://schemas.openxmlformats.org/drawingml/2006/main">
              <a:ext uri="{FF2B5EF4-FFF2-40B4-BE49-F238E27FC236}">
                <a16:creationId xmlns:a16="http://schemas.microsoft.com/office/drawing/2014/main" id="{5983EA86-C875-438D-A7E0-A3B40416D5B2}"/>
              </a:ext>
            </a:extLst>
          </p:cNvPr>
          <p:cNvSpPr>
            <a:spLocks xmlns:a="http://schemas.openxmlformats.org/drawingml/2006/main" noGrp="1"/>
          </p:cNvSpPr>
          <p:nvPr/>
        </p:nvSpPr>
        <p:spPr>
          <a:xfrm xmlns:a="http://schemas.openxmlformats.org/drawingml/2006/main">
            <a:off x="4476361" y="38858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xmlns:a="http://schemas.openxmlformats.org/drawingml/2006/main">
              <a:ext uri="{FF2B5EF4-FFF2-40B4-BE49-F238E27FC236}">
                <a16:creationId xmlns:a16="http://schemas.microsoft.com/office/drawing/2014/main" id="{ED728A9F-94B2-478C-A0AC-4D37875D9033}"/>
              </a:ext>
            </a:extLst>
          </p:cNvPr>
          <p:cNvSpPr>
            <a:spLocks xmlns:a="http://schemas.openxmlformats.org/drawingml/2006/main" noGrp="1"/>
          </p:cNvSpPr>
          <p:nvPr/>
        </p:nvSpPr>
        <p:spPr>
          <a:xfrm xmlns:a="http://schemas.openxmlformats.org/drawingml/2006/main">
            <a:off x="6762361" y="38858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xmlns:a="http://schemas.openxmlformats.org/drawingml/2006/main">
              <a:ext uri="{FF2B5EF4-FFF2-40B4-BE49-F238E27FC236}">
                <a16:creationId xmlns:a16="http://schemas.microsoft.com/office/drawing/2014/main" id="{3876A42C-1A63-441E-8CBE-9469A3C3BE45}"/>
              </a:ext>
            </a:extLst>
          </p:cNvPr>
          <p:cNvSpPr>
            <a:spLocks xmlns:a="http://schemas.openxmlformats.org/drawingml/2006/main" noGrp="1"/>
          </p:cNvSpPr>
          <p:nvPr/>
        </p:nvSpPr>
        <p:spPr>
          <a:xfrm xmlns:a="http://schemas.openxmlformats.org/drawingml/2006/main">
            <a:off x="9048361" y="3885811"/>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xmlns:a="http://schemas.openxmlformats.org/drawingml/2006/main">
              <a:ext uri="{FF2B5EF4-FFF2-40B4-BE49-F238E27FC236}">
                <a16:creationId xmlns:a16="http://schemas.microsoft.com/office/drawing/2014/main" id="{CA77C176-376C-47DA-8128-292B2EE3CBA8}"/>
              </a:ext>
            </a:extLst>
          </p:cNvPr>
          <p:cNvSpPr>
            <a:spLocks xmlns:a="http://schemas.openxmlformats.org/drawingml/2006/main" noGrp="1"/>
          </p:cNvSpPr>
          <p:nvPr/>
        </p:nvSpPr>
        <p:spPr>
          <a:xfrm xmlns:a="http://schemas.openxmlformats.org/drawingml/2006/main">
            <a:off x="11239111" y="38858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xmlns:a="http://schemas.openxmlformats.org/drawingml/2006/main">
              <a:ext uri="{FF2B5EF4-FFF2-40B4-BE49-F238E27FC236}">
                <a16:creationId xmlns:a16="http://schemas.microsoft.com/office/drawing/2014/main" id="{9237A73F-35C1-4401-936C-C56A3468E4F7}"/>
              </a:ext>
            </a:extLst>
          </p:cNvPr>
          <p:cNvSpPr>
            <a:spLocks xmlns:a="http://schemas.openxmlformats.org/drawingml/2006/main" noGrp="1"/>
          </p:cNvSpPr>
          <p:nvPr/>
        </p:nvSpPr>
        <p:spPr>
          <a:xfrm xmlns:a="http://schemas.openxmlformats.org/drawingml/2006/main">
            <a:off x="2095111" y="4571611"/>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ow-stripe-1">
            <a:extLst xmlns:a="http://schemas.openxmlformats.org/drawingml/2006/main">
              <a:ext uri="{FF2B5EF4-FFF2-40B4-BE49-F238E27FC236}">
                <a16:creationId xmlns:a16="http://schemas.microsoft.com/office/drawing/2014/main" id="{D46B007F-3CF0-45B9-981E-E1E07D31E43D}"/>
              </a:ext>
            </a:extLst>
          </p:cNvPr>
          <p:cNvSpPr>
            <a:spLocks xmlns:a="http://schemas.openxmlformats.org/drawingml/2006/main" noGrp="1"/>
          </p:cNvSpPr>
          <p:nvPr/>
        </p:nvSpPr>
        <p:spPr>
          <a:xfrm xmlns:a="http://schemas.openxmlformats.org/drawingml/2006/main">
            <a:off x="2095111" y="4571611"/>
            <a:ext cx="76200" cy="7810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9" name="row-1-0">
            <a:extLst xmlns:a="http://schemas.openxmlformats.org/drawingml/2006/main">
              <a:ext uri="{FF2B5EF4-FFF2-40B4-BE49-F238E27FC236}">
                <a16:creationId xmlns:a16="http://schemas.microsoft.com/office/drawing/2014/main" id="{FE0181AA-C614-4683-874C-6F120FA0F0B6}"/>
              </a:ext>
            </a:extLst>
          </p:cNvPr>
          <p:cNvSpPr>
            <a:spLocks xmlns:a="http://schemas.openxmlformats.org/drawingml/2006/main" noGrp="1"/>
          </p:cNvSpPr>
          <p:nvPr/>
        </p:nvSpPr>
        <p:spPr>
          <a:xfrm xmlns:a="http://schemas.openxmlformats.org/drawingml/2006/main">
            <a:off x="2209411" y="47621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xmlns:a="http://schemas.openxmlformats.org/drawingml/2006/main">
              <a:ext uri="{FF2B5EF4-FFF2-40B4-BE49-F238E27FC236}">
                <a16:creationId xmlns:a16="http://schemas.microsoft.com/office/drawing/2014/main" id="{4F54F749-F3E4-4106-9727-F344D6FACE27}"/>
              </a:ext>
            </a:extLst>
          </p:cNvPr>
          <p:cNvSpPr>
            <a:spLocks xmlns:a="http://schemas.openxmlformats.org/drawingml/2006/main" noGrp="1"/>
          </p:cNvSpPr>
          <p:nvPr/>
        </p:nvSpPr>
        <p:spPr>
          <a:xfrm xmlns:a="http://schemas.openxmlformats.org/drawingml/2006/main">
            <a:off x="4476361" y="47621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xmlns:a="http://schemas.openxmlformats.org/drawingml/2006/main">
              <a:ext uri="{FF2B5EF4-FFF2-40B4-BE49-F238E27FC236}">
                <a16:creationId xmlns:a16="http://schemas.microsoft.com/office/drawing/2014/main" id="{0A881306-6D0F-4BFF-87DC-85958CE1BD9B}"/>
              </a:ext>
            </a:extLst>
          </p:cNvPr>
          <p:cNvSpPr>
            <a:spLocks xmlns:a="http://schemas.openxmlformats.org/drawingml/2006/main" noGrp="1"/>
          </p:cNvSpPr>
          <p:nvPr/>
        </p:nvSpPr>
        <p:spPr>
          <a:xfrm xmlns:a="http://schemas.openxmlformats.org/drawingml/2006/main">
            <a:off x="6762361" y="47621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xmlns:a="http://schemas.openxmlformats.org/drawingml/2006/main">
              <a:ext uri="{FF2B5EF4-FFF2-40B4-BE49-F238E27FC236}">
                <a16:creationId xmlns:a16="http://schemas.microsoft.com/office/drawing/2014/main" id="{CD471D5F-AD30-4BF7-85AF-F48754C71FC4}"/>
              </a:ext>
            </a:extLst>
          </p:cNvPr>
          <p:cNvSpPr>
            <a:spLocks xmlns:a="http://schemas.openxmlformats.org/drawingml/2006/main" noGrp="1"/>
          </p:cNvSpPr>
          <p:nvPr/>
        </p:nvSpPr>
        <p:spPr>
          <a:xfrm xmlns:a="http://schemas.openxmlformats.org/drawingml/2006/main">
            <a:off x="9048361" y="4762111"/>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xmlns:a="http://schemas.openxmlformats.org/drawingml/2006/main">
              <a:ext uri="{FF2B5EF4-FFF2-40B4-BE49-F238E27FC236}">
                <a16:creationId xmlns:a16="http://schemas.microsoft.com/office/drawing/2014/main" id="{700F1BB6-3257-4BBB-9F08-B392C62F9890}"/>
              </a:ext>
            </a:extLst>
          </p:cNvPr>
          <p:cNvSpPr>
            <a:spLocks xmlns:a="http://schemas.openxmlformats.org/drawingml/2006/main" noGrp="1"/>
          </p:cNvSpPr>
          <p:nvPr/>
        </p:nvSpPr>
        <p:spPr>
          <a:xfrm xmlns:a="http://schemas.openxmlformats.org/drawingml/2006/main">
            <a:off x="11239111" y="47621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xmlns:a="http://schemas.openxmlformats.org/drawingml/2006/main">
              <a:ext uri="{FF2B5EF4-FFF2-40B4-BE49-F238E27FC236}">
                <a16:creationId xmlns:a16="http://schemas.microsoft.com/office/drawing/2014/main" id="{0AE1EFCF-7CCF-46E6-BFA1-4DCA2C293028}"/>
              </a:ext>
            </a:extLst>
          </p:cNvPr>
          <p:cNvSpPr>
            <a:spLocks xmlns:a="http://schemas.openxmlformats.org/drawingml/2006/main" noGrp="1"/>
          </p:cNvSpPr>
          <p:nvPr/>
        </p:nvSpPr>
        <p:spPr>
          <a:xfrm xmlns:a="http://schemas.openxmlformats.org/drawingml/2006/main">
            <a:off x="2095111" y="5447911"/>
            <a:ext cx="11382375" cy="7810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5" name="row-stripe-2">
            <a:extLst xmlns:a="http://schemas.openxmlformats.org/drawingml/2006/main">
              <a:ext uri="{FF2B5EF4-FFF2-40B4-BE49-F238E27FC236}">
                <a16:creationId xmlns:a16="http://schemas.microsoft.com/office/drawing/2014/main" id="{FF693BBF-D29D-4FDE-95AB-F2021E0069E5}"/>
              </a:ext>
            </a:extLst>
          </p:cNvPr>
          <p:cNvSpPr>
            <a:spLocks xmlns:a="http://schemas.openxmlformats.org/drawingml/2006/main" noGrp="1"/>
          </p:cNvSpPr>
          <p:nvPr/>
        </p:nvSpPr>
        <p:spPr>
          <a:xfrm xmlns:a="http://schemas.openxmlformats.org/drawingml/2006/main">
            <a:off x="2095111" y="5447911"/>
            <a:ext cx="76200" cy="7810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6" name="row-2-0">
            <a:extLst xmlns:a="http://schemas.openxmlformats.org/drawingml/2006/main">
              <a:ext uri="{FF2B5EF4-FFF2-40B4-BE49-F238E27FC236}">
                <a16:creationId xmlns:a16="http://schemas.microsoft.com/office/drawing/2014/main" id="{7D4C0145-8EAD-4464-AC0B-2D6F0FB58694}"/>
              </a:ext>
            </a:extLst>
          </p:cNvPr>
          <p:cNvSpPr>
            <a:spLocks xmlns:a="http://schemas.openxmlformats.org/drawingml/2006/main" noGrp="1"/>
          </p:cNvSpPr>
          <p:nvPr/>
        </p:nvSpPr>
        <p:spPr>
          <a:xfrm xmlns:a="http://schemas.openxmlformats.org/drawingml/2006/main">
            <a:off x="2209411" y="56384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xmlns:a="http://schemas.openxmlformats.org/drawingml/2006/main">
              <a:ext uri="{FF2B5EF4-FFF2-40B4-BE49-F238E27FC236}">
                <a16:creationId xmlns:a16="http://schemas.microsoft.com/office/drawing/2014/main" id="{7665B875-F9D1-4FB5-8DB5-0A8D5D0D008F}"/>
              </a:ext>
            </a:extLst>
          </p:cNvPr>
          <p:cNvSpPr>
            <a:spLocks xmlns:a="http://schemas.openxmlformats.org/drawingml/2006/main" noGrp="1"/>
          </p:cNvSpPr>
          <p:nvPr/>
        </p:nvSpPr>
        <p:spPr>
          <a:xfrm xmlns:a="http://schemas.openxmlformats.org/drawingml/2006/main">
            <a:off x="4476361" y="56384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xmlns:a="http://schemas.openxmlformats.org/drawingml/2006/main">
              <a:ext uri="{FF2B5EF4-FFF2-40B4-BE49-F238E27FC236}">
                <a16:creationId xmlns:a16="http://schemas.microsoft.com/office/drawing/2014/main" id="{268EF026-D849-4583-BA3D-2B457FF0E364}"/>
              </a:ext>
            </a:extLst>
          </p:cNvPr>
          <p:cNvSpPr>
            <a:spLocks xmlns:a="http://schemas.openxmlformats.org/drawingml/2006/main" noGrp="1"/>
          </p:cNvSpPr>
          <p:nvPr/>
        </p:nvSpPr>
        <p:spPr>
          <a:xfrm xmlns:a="http://schemas.openxmlformats.org/drawingml/2006/main">
            <a:off x="6762361" y="56384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xmlns:a="http://schemas.openxmlformats.org/drawingml/2006/main">
              <a:ext uri="{FF2B5EF4-FFF2-40B4-BE49-F238E27FC236}">
                <a16:creationId xmlns:a16="http://schemas.microsoft.com/office/drawing/2014/main" id="{778F269B-027C-47CF-AB1F-6542C63BEE1D}"/>
              </a:ext>
            </a:extLst>
          </p:cNvPr>
          <p:cNvSpPr>
            <a:spLocks xmlns:a="http://schemas.openxmlformats.org/drawingml/2006/main" noGrp="1"/>
          </p:cNvSpPr>
          <p:nvPr/>
        </p:nvSpPr>
        <p:spPr>
          <a:xfrm xmlns:a="http://schemas.openxmlformats.org/drawingml/2006/main">
            <a:off x="9048361" y="5638411"/>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xmlns:a="http://schemas.openxmlformats.org/drawingml/2006/main">
              <a:ext uri="{FF2B5EF4-FFF2-40B4-BE49-F238E27FC236}">
                <a16:creationId xmlns:a16="http://schemas.microsoft.com/office/drawing/2014/main" id="{786350BB-9810-468D-ACF9-D7BAE586E6DB}"/>
              </a:ext>
            </a:extLst>
          </p:cNvPr>
          <p:cNvSpPr>
            <a:spLocks xmlns:a="http://schemas.openxmlformats.org/drawingml/2006/main" noGrp="1"/>
          </p:cNvSpPr>
          <p:nvPr/>
        </p:nvSpPr>
        <p:spPr>
          <a:xfrm xmlns:a="http://schemas.openxmlformats.org/drawingml/2006/main">
            <a:off x="11239111" y="56384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xmlns:a="http://schemas.openxmlformats.org/drawingml/2006/main">
              <a:ext uri="{FF2B5EF4-FFF2-40B4-BE49-F238E27FC236}">
                <a16:creationId xmlns:a16="http://schemas.microsoft.com/office/drawing/2014/main" id="{4B8BFF02-34BB-4A01-B8D4-B498C4C78FF0}"/>
              </a:ext>
            </a:extLst>
          </p:cNvPr>
          <p:cNvSpPr>
            <a:spLocks xmlns:a="http://schemas.openxmlformats.org/drawingml/2006/main" noGrp="1"/>
          </p:cNvSpPr>
          <p:nvPr/>
        </p:nvSpPr>
        <p:spPr>
          <a:xfrm xmlns:a="http://schemas.openxmlformats.org/drawingml/2006/main">
            <a:off x="2095111" y="6324211"/>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2" name="row-stripe-3">
            <a:extLst xmlns:a="http://schemas.openxmlformats.org/drawingml/2006/main">
              <a:ext uri="{FF2B5EF4-FFF2-40B4-BE49-F238E27FC236}">
                <a16:creationId xmlns:a16="http://schemas.microsoft.com/office/drawing/2014/main" id="{E84A46B4-8578-47C4-9B49-EC9BB6B3396D}"/>
              </a:ext>
            </a:extLst>
          </p:cNvPr>
          <p:cNvSpPr>
            <a:spLocks xmlns:a="http://schemas.openxmlformats.org/drawingml/2006/main" noGrp="1"/>
          </p:cNvSpPr>
          <p:nvPr/>
        </p:nvSpPr>
        <p:spPr>
          <a:xfrm xmlns:a="http://schemas.openxmlformats.org/drawingml/2006/main">
            <a:off x="2095111" y="6324211"/>
            <a:ext cx="76200" cy="781050"/>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3" name="row-3-0">
            <a:extLst xmlns:a="http://schemas.openxmlformats.org/drawingml/2006/main">
              <a:ext uri="{FF2B5EF4-FFF2-40B4-BE49-F238E27FC236}">
                <a16:creationId xmlns:a16="http://schemas.microsoft.com/office/drawing/2014/main" id="{AE7ABD1F-D258-4210-8C3A-FA1645505525}"/>
              </a:ext>
            </a:extLst>
          </p:cNvPr>
          <p:cNvSpPr>
            <a:spLocks xmlns:a="http://schemas.openxmlformats.org/drawingml/2006/main" noGrp="1"/>
          </p:cNvSpPr>
          <p:nvPr/>
        </p:nvSpPr>
        <p:spPr>
          <a:xfrm xmlns:a="http://schemas.openxmlformats.org/drawingml/2006/main">
            <a:off x="2209411" y="65147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xmlns:a="http://schemas.openxmlformats.org/drawingml/2006/main">
              <a:ext uri="{FF2B5EF4-FFF2-40B4-BE49-F238E27FC236}">
                <a16:creationId xmlns:a16="http://schemas.microsoft.com/office/drawing/2014/main" id="{3DE46D45-4A28-48D5-8C76-8AC9DE51FB62}"/>
              </a:ext>
            </a:extLst>
          </p:cNvPr>
          <p:cNvSpPr>
            <a:spLocks xmlns:a="http://schemas.openxmlformats.org/drawingml/2006/main" noGrp="1"/>
          </p:cNvSpPr>
          <p:nvPr/>
        </p:nvSpPr>
        <p:spPr>
          <a:xfrm xmlns:a="http://schemas.openxmlformats.org/drawingml/2006/main">
            <a:off x="4476361" y="65147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xmlns:a="http://schemas.openxmlformats.org/drawingml/2006/main">
              <a:ext uri="{FF2B5EF4-FFF2-40B4-BE49-F238E27FC236}">
                <a16:creationId xmlns:a16="http://schemas.microsoft.com/office/drawing/2014/main" id="{E5399C0F-F883-4011-8C65-931B275145E7}"/>
              </a:ext>
            </a:extLst>
          </p:cNvPr>
          <p:cNvSpPr>
            <a:spLocks xmlns:a="http://schemas.openxmlformats.org/drawingml/2006/main" noGrp="1"/>
          </p:cNvSpPr>
          <p:nvPr/>
        </p:nvSpPr>
        <p:spPr>
          <a:xfrm xmlns:a="http://schemas.openxmlformats.org/drawingml/2006/main">
            <a:off x="6762361" y="65147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not selected</a:t>
            </a:r>
          </a:p>
        </p:txBody>
      </p:sp>
      <p:sp>
        <p:nvSpPr>
          <p:cNvPr id="36" name="row-3-3">
            <a:extLst xmlns:a="http://schemas.openxmlformats.org/drawingml/2006/main">
              <a:ext uri="{FF2B5EF4-FFF2-40B4-BE49-F238E27FC236}">
                <a16:creationId xmlns:a16="http://schemas.microsoft.com/office/drawing/2014/main" id="{E9F969D3-742F-4BC0-B12F-3F7075610ECC}"/>
              </a:ext>
            </a:extLst>
          </p:cNvPr>
          <p:cNvSpPr>
            <a:spLocks xmlns:a="http://schemas.openxmlformats.org/drawingml/2006/main" noGrp="1"/>
          </p:cNvSpPr>
          <p:nvPr/>
        </p:nvSpPr>
        <p:spPr>
          <a:xfrm xmlns:a="http://schemas.openxmlformats.org/drawingml/2006/main">
            <a:off x="9048361" y="6514711"/>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not selected</a:t>
            </a:r>
          </a:p>
        </p:txBody>
      </p:sp>
      <p:sp>
        <p:nvSpPr>
          <p:cNvPr id="37" name="row-3-4">
            <a:extLst xmlns:a="http://schemas.openxmlformats.org/drawingml/2006/main">
              <a:ext uri="{FF2B5EF4-FFF2-40B4-BE49-F238E27FC236}">
                <a16:creationId xmlns:a16="http://schemas.microsoft.com/office/drawing/2014/main" id="{8D20C81B-C994-4B52-9CBE-C2CE856C6901}"/>
              </a:ext>
            </a:extLst>
          </p:cNvPr>
          <p:cNvSpPr>
            <a:spLocks xmlns:a="http://schemas.openxmlformats.org/drawingml/2006/main" noGrp="1"/>
          </p:cNvSpPr>
          <p:nvPr/>
        </p:nvSpPr>
        <p:spPr>
          <a:xfrm xmlns:a="http://schemas.openxmlformats.org/drawingml/2006/main">
            <a:off x="11239111" y="6514711"/>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38" name="takeaway-panel">
            <a:extLst xmlns:a="http://schemas.openxmlformats.org/drawingml/2006/main">
              <a:ext uri="{FF2B5EF4-FFF2-40B4-BE49-F238E27FC236}">
                <a16:creationId xmlns:a16="http://schemas.microsoft.com/office/drawing/2014/main" id="{024A45A6-1F9B-43DA-A1BB-C990A43863EA}"/>
              </a:ext>
            </a:extLst>
          </p:cNvPr>
          <p:cNvSpPr>
            <a:spLocks xmlns:a="http://schemas.openxmlformats.org/drawingml/2006/main" noGrp="1"/>
          </p:cNvSpPr>
          <p:nvPr/>
        </p:nvSpPr>
        <p:spPr>
          <a:xfrm xmlns:a="http://schemas.openxmlformats.org/drawingml/2006/main">
            <a:off x="2095111" y="7410061"/>
            <a:ext cx="11382375" cy="476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9" name="takeaway-stripe">
            <a:extLst xmlns:a="http://schemas.openxmlformats.org/drawingml/2006/main">
              <a:ext uri="{FF2B5EF4-FFF2-40B4-BE49-F238E27FC236}">
                <a16:creationId xmlns:a16="http://schemas.microsoft.com/office/drawing/2014/main" id="{681FD474-79B4-4BC9-AD35-8D74BDDA3BE9}"/>
              </a:ext>
            </a:extLst>
          </p:cNvPr>
          <p:cNvSpPr>
            <a:spLocks xmlns:a="http://schemas.openxmlformats.org/drawingml/2006/main" noGrp="1"/>
          </p:cNvSpPr>
          <p:nvPr/>
        </p:nvSpPr>
        <p:spPr>
          <a:xfrm xmlns:a="http://schemas.openxmlformats.org/drawingml/2006/main">
            <a:off x="2095111" y="7410061"/>
            <a:ext cx="76200" cy="476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0" name="takeaway-text">
            <a:extLst xmlns:a="http://schemas.openxmlformats.org/drawingml/2006/main">
              <a:ext uri="{FF2B5EF4-FFF2-40B4-BE49-F238E27FC236}">
                <a16:creationId xmlns:a16="http://schemas.microsoft.com/office/drawing/2014/main" id="{6FD1F178-A44F-45E9-8AB7-038F799C304B}"/>
              </a:ext>
            </a:extLst>
          </p:cNvPr>
          <p:cNvSpPr>
            <a:spLocks xmlns:a="http://schemas.openxmlformats.org/drawingml/2006/main" noGrp="1"/>
          </p:cNvSpPr>
          <p:nvPr/>
        </p:nvSpPr>
        <p:spPr>
          <a:xfrm xmlns:a="http://schemas.openxmlformats.org/drawingml/2006/main">
            <a:off x="2409436" y="7543411"/>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7B1E3A"/>
                </a:solidFill>
                <a:latin typeface="Arial"/>
                <a:ea typeface="Arial"/>
                <a:cs typeface="Arial"/>
              </a:defRPr>
            </a:pPr>
            <a:r>
              <a:rPr sz="1350" b="1">
                <a:solidFill>
                  <a:srgbClr val="7B1E3A"/>
                </a:solidFill>
                <a:latin typeface="Arial"/>
                <a:ea typeface="Arial"/>
                <a:cs typeface="Arial"/>
              </a:rPr>
              <a:t>Agreement across three independent methods is the strongest evidence that the rule features reflect real data structure, not algorithmic noise.</a:t>
            </a:r>
          </a:p>
        </p:txBody>
      </p:sp>
      <p:sp>
        <p:nvSpPr>
          <p:cNvPr id="41" name="source">
            <a:extLst xmlns:a="http://schemas.openxmlformats.org/drawingml/2006/main">
              <a:ext uri="{FF2B5EF4-FFF2-40B4-BE49-F238E27FC236}">
                <a16:creationId xmlns:a16="http://schemas.microsoft.com/office/drawing/2014/main" id="{10EA9CFF-B353-4D4A-8286-F4270EB32C8D}"/>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 4.9 and Section 4.5</a:t>
            </a:r>
          </a:p>
        </p:txBody>
      </p:sp>
      <p:sp>
        <p:nvSpPr>
          <p:cNvPr id="42" name="slide-number">
            <a:extLst xmlns:a="http://schemas.openxmlformats.org/drawingml/2006/main">
              <a:ext uri="{FF2B5EF4-FFF2-40B4-BE49-F238E27FC236}">
                <a16:creationId xmlns:a16="http://schemas.microsoft.com/office/drawing/2014/main" id="{EBDE243A-B4DD-443E-ACD1-156DBD25910E}"/>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43" name="slide-number-16">
            <a:extLst xmlns:a="http://schemas.openxmlformats.org/drawingml/2006/main">
              <a:ext uri="{FF2B5EF4-FFF2-40B4-BE49-F238E27FC236}">
                <a16:creationId xmlns:a16="http://schemas.microsoft.com/office/drawing/2014/main" id="{D05D24C2-036E-4C3A-BCB5-5FDF161A8CCB}"/>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13</a:t>
            </a:r>
          </a:p>
        </p:txBody>
      </p:sp>
    </p:spTree>
    <p:extLst>
      <p:ext uri="{BB962C8B-B14F-4D97-AF65-F5344CB8AC3E}">
        <p14:creationId xmlns:p14="http://schemas.microsoft.com/office/powerpoint/2010/main" val="153138022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4" name="Rectangle 23"/>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VALIDATION</a:t>
            </a:r>
          </a:p>
        </p:txBody>
      </p:sp>
      <p:sp>
        <p:nvSpPr>
          <p:cNvPr id="2" name="Rectangle 1">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checks confirm the discovered signal</a:t>
            </a:r>
          </a:p>
        </p:txBody>
      </p:sp>
      <p:sp>
        <p:nvSpPr>
          <p:cNvPr id="3" name="Rectangle 2">
            <a:extLst xmlns:a="http://schemas.openxmlformats.org/drawingml/2006/main">
              <a:ext uri="{FF2B5EF4-FFF2-40B4-BE49-F238E27FC236}">
                <a16:creationId xmlns:a16="http://schemas.microsoft.com/office/drawing/2014/main" id="{6F5056B4-F517-46A2-9EE6-136F3D09B700}"/>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17</a:t>
            </a:r>
          </a:p>
        </p:txBody>
      </p:sp>
      <p:sp>
        <p:nvSpPr>
          <p:cNvPr id="4" name="Rectangle 3">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2095111" y="3409561"/>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8153011" y="3409561"/>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2409436" y="3742936"/>
            <a:ext cx="523875"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Rectangle 6">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2409436" y="4266811"/>
            <a:ext cx="42862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Aggressive detrending</a:t>
            </a:r>
          </a:p>
        </p:txBody>
      </p:sp>
      <p:sp>
        <p:nvSpPr>
          <p:cNvPr id="8" name="Rectangle 7">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2409436" y="4933561"/>
            <a:ext cx="4286250" cy="1095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RDD signals persist after LOESS; in RVV, wet-days persist while LAI and soil water are era-linked.</a:t>
            </a:r>
          </a:p>
        </p:txBody>
      </p:sp>
      <p:sp>
        <p:nvSpPr>
          <p:cNvPr id="9" name="Rectangle 8">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2409436" y="6219436"/>
            <a:ext cx="4286250" cy="333375"/>
          </a:xfrm>
          <a:prstGeom xmlns:a="http://schemas.openxmlformats.org/drawingml/2006/main" prst="rect">
            <a:avLst/>
          </a:prstGeom>
        </p:spPr>
        <p:txBody>
          <a:bodyPr xmlns:a="http://schemas.openxmlformats.org/drawingml/2006/main" lIns="0" tIns="0" rIns="0" bIns="0" anchor="t">
            <a:normAutofit fontScale="77646" lnSpcReduction="20000"/>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real, but not equally stable across regions.</a:t>
            </a:r>
          </a:p>
        </p:txBody>
      </p:sp>
      <p:sp>
        <p:nvSpPr>
          <p:cNvPr id="10" name="Rectangle 9">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8457811" y="3742936"/>
            <a:ext cx="523875"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Rectangle 10">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8457811" y="4266811"/>
            <a:ext cx="4286250" cy="4286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325" b="1">
                <a:solidFill>
                  <a:srgbClr val="151515"/>
                </a:solidFill>
                <a:latin typeface="Arial"/>
                <a:ea typeface="Arial"/>
                <a:cs typeface="Arial"/>
              </a:defRPr>
            </a:pPr>
            <a:r>
              <a:t>Independent algorithms</a:t>
            </a:r>
          </a:p>
        </p:txBody>
      </p:sp>
      <p:sp>
        <p:nvSpPr>
          <p:cNvPr id="12" name="Rectangle 11">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8457811" y="4933561"/>
            <a:ext cx="4286250" cy="1095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RIPPER and M5Rules converge on harvest soil water, LAI and previous-year temperature.</a:t>
            </a:r>
          </a:p>
        </p:txBody>
      </p:sp>
      <p:sp>
        <p:nvSpPr>
          <p:cNvPr id="13" name="Rectangle 12">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8457811" y="6219436"/>
            <a:ext cx="428625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not CarenR-specific.</a:t>
            </a:r>
          </a:p>
        </p:txBody>
      </p:sp>
      <p:sp>
        <p:nvSpPr>
          <p:cNvPr id="14" name="Rectangle 13">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2095111" y="7314811"/>
            <a:ext cx="11382375" cy="4572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250" b="1">
                <a:solidFill>
                  <a:srgbClr val="7B1E3A"/>
                </a:solidFill>
                <a:latin typeface="Arial"/>
                <a:ea typeface="Arial"/>
                <a:cs typeface="Arial"/>
              </a:defRPr>
            </a:pPr>
            <a:r>
              <a:t>Discovery is credible — but credibility is not yet predictive utility.</a:t>
            </a:r>
          </a:p>
        </p:txBody>
      </p:sp>
      <p:sp>
        <p:nvSpPr>
          <p:cNvPr id="15" name="Rectangle 14">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15" name="Rectangle 11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4" name="Rectangle 11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3" name="Rectangle 11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2" name="Rectangle 11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1" name="Rectangle 11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0" name="Rectangle 10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9" name="Rectangle 10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8" name="Rectangle 10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379056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PREDICTION</a:t>
            </a:r>
          </a:p>
        </p:txBody>
      </p:sp>
      <p:sp>
        <p:nvSpPr>
          <p:cNvPr id="2" name="Rectangle 1">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3790561" y="2247511"/>
            <a:ext cx="969645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300" b="1">
                <a:solidFill>
                  <a:srgbClr val="151515"/>
                </a:solidFill>
                <a:latin typeface="Arial"/>
                <a:ea typeface="Arial"/>
                <a:cs typeface="Arial"/>
              </a:defRPr>
            </a:pPr>
            <a:r>
              <a:t>Goal 2 recreates prediction-time information</a:t>
            </a:r>
          </a:p>
        </p:txBody>
      </p:sp>
      <p:sp>
        <p:nvSpPr>
          <p:cNvPr id="3" name="Rectangle 2">
            <a:extLst xmlns:a="http://schemas.openxmlformats.org/drawingml/2006/main">
              <a:ext uri="{FF2B5EF4-FFF2-40B4-BE49-F238E27FC236}">
                <a16:creationId xmlns:a16="http://schemas.microsoft.com/office/drawing/2014/main" id="{AF223435-2EF5-4A28-809F-91B71DC560A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pic>
        <p:nvPicPr>
          <p:cNvPr id="104" name="Picture 95"/>
          <p:cNvPicPr>
            <a:picLocks xmlns:a="http://schemas.openxmlformats.org/drawingml/2006/main" noChangeAspect="1"/>
          </p:cNvPicPr>
          <p:nvPr/>
        </p:nvPicPr>
        <p:blipFill>
          <a:blip xmlns:r="http://schemas.openxmlformats.org/officeDocument/2006/relationships" xmlns:a="http://schemas.openxmlformats.org/drawingml/2006/main" r:embed="R3fa79e251e204cb7"/>
          <a:stretch xmlns:a="http://schemas.openxmlformats.org/drawingml/2006/main"/>
        </p:blipFill>
        <p:spPr>
          <a:xfrm xmlns:a="http://schemas.openxmlformats.org/drawingml/2006/main">
            <a:off x="3388460" y="3076186"/>
            <a:ext cx="3604552" cy="476250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8791186" y="3314311"/>
            <a:ext cx="4095750" cy="3810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250" b="1">
                <a:solidFill>
                  <a:srgbClr val="151515"/>
                </a:solidFill>
                <a:latin typeface="Arial"/>
                <a:ea typeface="Arial"/>
                <a:cs typeface="Arial"/>
              </a:defRPr>
            </a:pPr>
            <a:r>
              <a:t>Expanding-window validation</a:t>
            </a:r>
          </a:p>
        </p:txBody>
      </p:sp>
      <p:sp>
        <p:nvSpPr>
          <p:cNvPr id="6" name="Rectangle 5">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8791186" y="3885811"/>
            <a:ext cx="4095750" cy="714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18 scenarios · Douro
16 scenarios · Vinho Verde</a:t>
            </a:r>
          </a:p>
        </p:txBody>
      </p:sp>
      <p:cxnSp>
        <p:nvCxnSpPr>
          <p:cNvPr id="107" name="Straight Arrow Connector 98"/>
          <p:cNvCxnSpPr/>
          <p:nvPr/>
        </p:nvCxnSpPr>
        <p:spPr>
          <a:xfrm xmlns:a="http://schemas.openxmlformats.org/drawingml/2006/main">
            <a:off x="8791186" y="4838311"/>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8791186" y="5124061"/>
            <a:ext cx="4095750"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1">
                <a:solidFill>
                  <a:srgbClr val="151515"/>
                </a:solidFill>
                <a:latin typeface="Arial"/>
                <a:ea typeface="Arial"/>
                <a:cs typeface="Arial"/>
              </a:defRPr>
            </a:pPr>
            <a:r>
              <a:t>All preprocessing stays inside each training fold:</a:t>
            </a:r>
          </a:p>
        </p:txBody>
      </p:sp>
      <p:sp>
        <p:nvSpPr>
          <p:cNvPr id="9" name="Rectangle 8">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8981686" y="5790811"/>
            <a:ext cx="3619500" cy="1381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8791186" y="7314811"/>
            <a:ext cx="4095750" cy="4762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8981686" y="7438636"/>
            <a:ext cx="3762375"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425" b="1">
                <a:solidFill>
                  <a:srgbClr val="7B1E3A"/>
                </a:solidFill>
                <a:latin typeface="Arial"/>
                <a:ea typeface="Arial"/>
                <a:cs typeface="Arial"/>
              </a:defRPr>
            </a:pPr>
            <a:r>
              <a:t>17 models · weighted MAE · lower is better</a:t>
            </a:r>
          </a:p>
        </p:txBody>
      </p:sp>
      <p:sp>
        <p:nvSpPr>
          <p:cNvPr id="12" name="Rectangle 11">
            <a:extLst xmlns:a="http://schemas.openxmlformats.org/drawingml/2006/main">
              <a:ext uri="{FF2B5EF4-FFF2-40B4-BE49-F238E27FC236}">
                <a16:creationId xmlns:a16="http://schemas.microsoft.com/office/drawing/2014/main" id="{0D5C45D3-BDE4-4FC3-BF7E-704A85CA4709}"/>
              </a:ext>
            </a:extLst>
          </p:cNvPr>
          <p:cNvSpPr>
            <a:spLocks xmlns:a="http://schemas.openxmlformats.org/drawingml/2006/main" noGrp="1"/>
          </p:cNvSpPr>
          <p:nvPr/>
        </p:nvSpPr>
        <p:spPr>
          <a:xfrm xmlns:a="http://schemas.openxmlformats.org/drawingml/2006/main">
            <a:off x="8791186" y="8133961"/>
            <a:ext cx="409575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3.4 and Sections 3.5–3.7</a:t>
            </a:r>
          </a:p>
        </p:txBody>
      </p:sp>
    </p:spTree>
    <p:extLst>
      <p:ext uri="{BB962C8B-B14F-4D97-AF65-F5344CB8AC3E}">
        <p14:creationId xmlns:p14="http://schemas.microsoft.com/office/powerpoint/2010/main" val="65321672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6" name="Rectangle 3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PREDICTION</a:t>
            </a:r>
          </a:p>
        </p:txBody>
      </p:sp>
      <p:sp>
        <p:nvSpPr>
          <p:cNvPr id="2" name="Rectangle 1">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No rule-based model beats the median overall</a:t>
            </a:r>
          </a:p>
        </p:txBody>
      </p:sp>
      <p:sp>
        <p:nvSpPr>
          <p:cNvPr id="3" name="Rectangle 2">
            <a:extLst xmlns:a="http://schemas.openxmlformats.org/drawingml/2006/main">
              <a:ext uri="{FF2B5EF4-FFF2-40B4-BE49-F238E27FC236}">
                <a16:creationId xmlns:a16="http://schemas.microsoft.com/office/drawing/2014/main" id="{762B2E13-1AFD-4F3F-B290-711AE0EBBAE3}"/>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6" name="Rectangle 5">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2095111" y="7029061"/>
            <a:ext cx="5476875" cy="7429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8000611" y="7029061"/>
            <a:ext cx="5476875" cy="7429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EC29F3CB-1785-43A5-94C5-E09D1FE14EA1}"/>
              </a:ext>
            </a:extLst>
          </p:cNvPr>
          <p:cNvSpPr>
            <a:spLocks xmlns:a="http://schemas.openxmlformats.org/drawingml/2006/main" noGrp="1"/>
          </p:cNvSpPr>
          <p:nvPr/>
        </p:nvSpPr>
        <p:spPr>
          <a:xfrm xmlns:a="http://schemas.openxmlformats.org/drawingml/2006/main">
            <a:off x="2285611" y="7190986"/>
            <a:ext cx="2952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2B6F9A"/>
                </a:solidFill>
                <a:latin typeface="Arial"/>
                <a:ea typeface="Arial"/>
                <a:cs typeface="Arial"/>
              </a:defRPr>
            </a:pPr>
            <a:r>
              <a:rPr sz="1125" b="1">
                <a:solidFill>
                  <a:srgbClr val="2B6F9A"/>
                </a:solidFill>
                <a:latin typeface="Arial"/>
                <a:ea typeface="Arial"/>
                <a:cs typeface="Arial"/>
              </a:rPr>
              <a:t>RDD · 189 vs 184 mhl</a:t>
            </a:r>
          </a:p>
        </p:txBody>
      </p:sp>
      <p:sp>
        <p:nvSpPr>
          <p:cNvPr id="9" name="Rectangle 8">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5333611" y="7219561"/>
            <a:ext cx="20002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60656C"/>
                </a:solidFill>
                <a:latin typeface="Arial"/>
                <a:ea typeface="Arial"/>
                <a:cs typeface="Arial"/>
              </a:defRPr>
            </a:pPr>
            <a:r>
              <a:t>3% worse · p = 0.468</a:t>
            </a:r>
          </a:p>
        </p:txBody>
      </p:sp>
      <p:sp>
        <p:nvSpPr>
          <p:cNvPr id="10" name="Rectangle 9">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8191111" y="7190986"/>
            <a:ext cx="295275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1">
                <a:solidFill>
                  <a:srgbClr val="7B1E3A"/>
                </a:solidFill>
                <a:latin typeface="Arial"/>
                <a:ea typeface="Arial"/>
                <a:cs typeface="Arial"/>
              </a:defRPr>
            </a:pPr>
            <a:r>
              <a:t>RVV · 172 vs 140 mhl</a:t>
            </a:r>
          </a:p>
        </p:txBody>
      </p:sp>
      <p:sp>
        <p:nvSpPr>
          <p:cNvPr id="11" name="Rectangle 10">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11239111" y="7219561"/>
            <a:ext cx="2000250" cy="2476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0">
                <a:solidFill>
                  <a:srgbClr val="60656C"/>
                </a:solidFill>
                <a:latin typeface="Arial"/>
                <a:ea typeface="Arial"/>
                <a:cs typeface="Arial"/>
              </a:defRPr>
            </a:pPr>
            <a:r>
              <a:t>22% worse · p = 0.004*</a:t>
            </a:r>
          </a:p>
        </p:txBody>
      </p:sp>
      <p:sp>
        <p:nvSpPr>
          <p:cNvPr id="12" name="Rectangle 11">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8267311" y="7810111"/>
            <a:ext cx="4953000" cy="209550"/>
          </a:xfrm>
          <a:prstGeom xmlns:a="http://schemas.openxmlformats.org/drawingml/2006/main" prst="rect">
            <a:avLst/>
          </a:prstGeom>
        </p:spPr>
        <p:txBody>
          <a:bodyPr xmlns:a="http://schemas.openxmlformats.org/drawingml/2006/main" lIns="0" tIns="0" rIns="0" bIns="0" anchor="t">
            <a:normAutofit fontScale="92500"/>
          </a:bodyPr>
          <a:lstStyle xmlns:a="http://schemas.openxmlformats.org/drawingml/2006/main"/>
          <a:p xmlns:a="http://schemas.openxmlformats.org/drawingml/2006/main">
            <a:pPr algn="l">
              <a:buNone/>
              <a:defRPr sz="1050" b="0">
                <a:solidFill>
                  <a:srgbClr val="60656C"/>
                </a:solidFill>
                <a:latin typeface="Arial"/>
                <a:ea typeface="Arial"/>
                <a:cs typeface="Arial"/>
              </a:defRPr>
            </a:pPr>
            <a:r>
              <a:t>*Among the 9 scenarios where RVV rules fired, they significantly harmed prediction.</a:t>
            </a:r>
          </a:p>
        </p:txBody>
      </p:sp>
      <p:sp>
        <p:nvSpPr>
          <p:cNvPr id="13" name="Rectangle 12">
            <a:extLst xmlns:a="http://schemas.openxmlformats.org/drawingml/2006/main">
              <a:ext uri="{FF2B5EF4-FFF2-40B4-BE49-F238E27FC236}">
                <a16:creationId xmlns:a16="http://schemas.microsoft.com/office/drawing/2014/main" id="{4A405EFF-371B-4276-9C23-79FB14606311}"/>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5.1–5.2 and Table 5.6</a:t>
            </a:r>
          </a:p>
        </p:txBody>
      </p:sp>
      <p:pic>
        <p:nvPicPr>
          <p:cNvPr id="27" name="Picture 26"/>
          <p:cNvPicPr>
            <a:picLocks xmlns:a="http://schemas.openxmlformats.org/drawingml/2006/main" noChangeAspect="1"/>
          </p:cNvPicPr>
          <p:nvPr/>
        </p:nvPicPr>
        <p:blipFill>
          <a:blip xmlns:r="http://schemas.openxmlformats.org/officeDocument/2006/relationships" xmlns:a="http://schemas.openxmlformats.org/drawingml/2006/main" r:embed="Rd831f3e7061f49d4"/>
          <a:srcRect xmlns:a="http://schemas.openxmlformats.org/drawingml/2006/main" l="0" t="0" r="0" b="0"/>
          <a:stretch xmlns:a="http://schemas.openxmlformats.org/drawingml/2006/main">
            <a:fillRect l="0" t="0" r="0" b="0"/>
          </a:stretch>
        </p:blipFill>
        <p:spPr>
          <a:xfrm xmlns:a="http://schemas.openxmlformats.org/drawingml/2006/main">
            <a:off x="2095111" y="3361936"/>
            <a:ext cx="5476875" cy="3286125"/>
          </a:xfrm>
          <a:prstGeom xmlns:a="http://schemas.openxmlformats.org/drawingml/2006/main" prst="rect">
            <a:avLst/>
          </a:prstGeom>
        </p:spPr>
      </p:pic>
      <p:pic>
        <p:nvPicPr>
          <p:cNvPr id="28" name="Picture 27"/>
          <p:cNvPicPr>
            <a:picLocks xmlns:a="http://schemas.openxmlformats.org/drawingml/2006/main" noChangeAspect="1"/>
          </p:cNvPicPr>
          <p:nvPr/>
        </p:nvPicPr>
        <p:blipFill>
          <a:blip xmlns:r="http://schemas.openxmlformats.org/officeDocument/2006/relationships" xmlns:a="http://schemas.openxmlformats.org/drawingml/2006/main" r:embed="R21138801563245fb"/>
          <a:srcRect xmlns:a="http://schemas.openxmlformats.org/drawingml/2006/main" l="0" t="0" r="0" b="0"/>
          <a:stretch xmlns:a="http://schemas.openxmlformats.org/drawingml/2006/main">
            <a:fillRect l="0" t="0" r="0" b="0"/>
          </a:stretch>
        </p:blipFill>
        <p:spPr>
          <a:xfrm xmlns:a="http://schemas.openxmlformats.org/drawingml/2006/main">
            <a:off x="8000611" y="3361936"/>
            <a:ext cx="5476875" cy="3286125"/>
          </a:xfrm>
          <a:prstGeom xmlns:a="http://schemas.openxmlformats.org/drawingml/2006/main" prst="rect">
            <a:avLst/>
          </a:prstGeom>
        </p:spPr>
      </p:pic>
    </p:spTree>
    <p:extLst>
      <p:ext uri="{BB962C8B-B14F-4D97-AF65-F5344CB8AC3E}">
        <p14:creationId xmlns:p14="http://schemas.microsoft.com/office/powerpoint/2010/main" val="146628996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3" name="Rectangle 22"/>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INTERPRETATION</a:t>
            </a:r>
          </a:p>
        </p:txBody>
      </p:sp>
      <p:sp>
        <p:nvSpPr>
          <p:cNvPr id="2" name="Rectangle 1">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real association can still be too weak to forecast</a:t>
            </a:r>
          </a:p>
        </p:txBody>
      </p:sp>
      <p:sp>
        <p:nvSpPr>
          <p:cNvPr id="3" name="Rectangle 2">
            <a:extLst xmlns:a="http://schemas.openxmlformats.org/drawingml/2006/main">
              <a:ext uri="{FF2B5EF4-FFF2-40B4-BE49-F238E27FC236}">
                <a16:creationId xmlns:a16="http://schemas.microsoft.com/office/drawing/2014/main" id="{CFCF46B5-0A4C-4FD9-865B-509E82D7B73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15</a:t>
            </a:r>
          </a:p>
        </p:txBody>
      </p:sp>
      <p:sp>
        <p:nvSpPr>
          <p:cNvPr id="4" name="Rectangle 3">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2095111" y="3361936"/>
            <a:ext cx="4953000" cy="371475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8534011" y="3361936"/>
            <a:ext cx="4953000" cy="37147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2409436" y="3695311"/>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DISCOVERY</a:t>
            </a:r>
          </a:p>
        </p:txBody>
      </p:sp>
      <p:sp>
        <p:nvSpPr>
          <p:cNvPr id="7" name="Rectangle 6">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2409436" y="4219186"/>
            <a:ext cx="400050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t>Is the subgroup distribution different?</a:t>
            </a:r>
          </a:p>
        </p:txBody>
      </p:sp>
      <p:sp>
        <p:nvSpPr>
          <p:cNvPr id="8" name="Rectangle 7">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2409436" y="5362186"/>
            <a:ext cx="400050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With |r| ≈ 0.47, the association is detectable across 80–89 historical years.</a:t>
            </a:r>
          </a:p>
        </p:txBody>
      </p:sp>
      <p:sp>
        <p:nvSpPr>
          <p:cNvPr id="9" name="Rectangle 8">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8838811" y="3695311"/>
            <a:ext cx="19050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7B1E3A"/>
                </a:solidFill>
                <a:latin typeface="Arial"/>
                <a:ea typeface="Arial"/>
                <a:cs typeface="Arial"/>
              </a:defRPr>
            </a:pPr>
            <a:r>
              <a:t>PREDICTION</a:t>
            </a:r>
          </a:p>
        </p:txBody>
      </p:sp>
      <p:sp>
        <p:nvSpPr>
          <p:cNvPr id="10" name="Rectangle 9">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8838811" y="4219186"/>
            <a:ext cx="400050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t>Does the rule reduce future error?</a:t>
            </a:r>
          </a:p>
        </p:txBody>
      </p:sp>
      <p:sp>
        <p:nvSpPr>
          <p:cNvPr id="11" name="Rectangle 10">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8838811" y="5362186"/>
            <a:ext cx="400050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7362436" y="4647811"/>
            <a:ext cx="857250" cy="8572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4650" b="1">
                <a:solidFill>
                  <a:srgbClr val="7B1E3A"/>
                </a:solidFill>
                <a:latin typeface="Arial"/>
                <a:ea typeface="Arial"/>
                <a:cs typeface="Arial"/>
              </a:defRPr>
            </a:pPr>
            <a:r>
              <a:t>≠</a:t>
            </a:r>
          </a:p>
        </p:txBody>
      </p:sp>
      <p:sp>
        <p:nvSpPr>
          <p:cNvPr id="13" name="Rectangle 12">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2095111" y="7362436"/>
            <a:ext cx="11382375" cy="4191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250" b="1">
                <a:solidFill>
                  <a:srgbClr val="151515"/>
                </a:solidFill>
                <a:latin typeface="Arial"/>
                <a:ea typeface="Arial"/>
                <a:cs typeface="Arial"/>
              </a:defRPr>
            </a:pPr>
            <a:r>
              <a:t>Pattern discovery and forecasting answer different questions.</a:t>
            </a:r>
          </a:p>
        </p:txBody>
      </p:sp>
      <p:sp>
        <p:nvSpPr>
          <p:cNvPr id="14" name="Rectangle 13">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20" name="Rectangle 419"/>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9" name="Rectangle 418"/>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8" name="Rectangle 417"/>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7" name="Rectangle 416"/>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6" name="Rectangle 415"/>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5" name="Rectangle 414"/>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4" name="Rectangle 413"/>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3" name="Rectangle 412"/>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TWO-DECISION FRAMEWORK</a:t>
            </a:r>
          </a:p>
        </p:txBody>
      </p:sp>
      <p:sp>
        <p:nvSpPr>
          <p:cNvPr id="2" name="Rectangle 1">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Better detrending can remove the signal rules need</a:t>
            </a:r>
          </a:p>
        </p:txBody>
      </p:sp>
      <p:sp>
        <p:nvSpPr>
          <p:cNvPr id="3" name="Rectangle 2">
            <a:extLst xmlns:a="http://schemas.openxmlformats.org/drawingml/2006/main">
              <a:ext uri="{FF2B5EF4-FFF2-40B4-BE49-F238E27FC236}">
                <a16:creationId xmlns:a16="http://schemas.microsoft.com/office/drawing/2014/main" id="{2ED82AF7-6AA3-482D-95DC-8364A610DE8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16</a:t>
            </a:r>
          </a:p>
        </p:txBody>
      </p:sp>
      <p:sp>
        <p:nvSpPr>
          <p:cNvPr id="4" name="Rectangle 3">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2095111" y="3361936"/>
            <a:ext cx="4762500" cy="3429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8724511" y="3361936"/>
            <a:ext cx="4762500" cy="34290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2409436" y="3695311"/>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DECISION 1</a:t>
            </a:r>
          </a:p>
        </p:txBody>
      </p:sp>
      <p:sp>
        <p:nvSpPr>
          <p:cNvPr id="7" name="Rectangle 6">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2409436" y="4171561"/>
            <a:ext cx="3714750" cy="685800"/>
          </a:xfrm>
          <a:prstGeom xmlns:a="http://schemas.openxmlformats.org/drawingml/2006/main" prst="rect">
            <a:avLst/>
          </a:prstGeom>
        </p:spPr>
        <p:txBody>
          <a:bodyPr xmlns:a="http://schemas.openxmlformats.org/drawingml/2006/main" lIns="0" tIns="0" rIns="0" bIns="0" anchor="t">
            <a:normAutofit fontScale="98830" lnSpcReduction="1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Model the structural trend</a:t>
            </a:r>
          </a:p>
        </p:txBody>
      </p:sp>
      <p:sp>
        <p:nvSpPr>
          <p:cNvPr id="8" name="Rectangle 7">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2409436" y="5124061"/>
            <a:ext cx="371475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A better trend leaves smaller test residuals and lowers the naive error floor.</a:t>
            </a:r>
          </a:p>
        </p:txBody>
      </p:sp>
      <p:sp>
        <p:nvSpPr>
          <p:cNvPr id="9" name="Rectangle 8">
            <a:extLst xmlns:a="http://schemas.openxmlformats.org/drawingml/2006/main">
              <a:ext uri="{FF2B5EF4-FFF2-40B4-BE49-F238E27FC236}">
                <a16:creationId xmlns:a16="http://schemas.microsoft.com/office/drawing/2014/main" id="{3A299B93-7944-4C4C-B32B-21C95F25E543}"/>
              </a:ext>
            </a:extLst>
          </p:cNvPr>
          <p:cNvSpPr>
            <a:spLocks xmlns:a="http://schemas.openxmlformats.org/drawingml/2006/main" noGrp="1"/>
          </p:cNvSpPr>
          <p:nvPr/>
        </p:nvSpPr>
        <p:spPr>
          <a:xfrm xmlns:a="http://schemas.openxmlformats.org/drawingml/2006/main">
            <a:off x="9029311" y="3695311"/>
            <a:ext cx="180975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DECISION 2</a:t>
            </a:r>
          </a:p>
        </p:txBody>
      </p:sp>
      <p:sp>
        <p:nvSpPr>
          <p:cNvPr id="10" name="Rectangle 9">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9029311" y="4171561"/>
            <a:ext cx="3714750" cy="685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2400" b="1">
                <a:solidFill>
                  <a:srgbClr val="151515"/>
                </a:solidFill>
                <a:latin typeface="Arial"/>
                <a:ea typeface="Arial"/>
                <a:cs typeface="Arial"/>
              </a:defRPr>
            </a:pPr>
            <a:r>
              <a:t>Extract climate signal</a:t>
            </a:r>
          </a:p>
        </p:txBody>
      </p:sp>
      <p:sp>
        <p:nvSpPr>
          <p:cNvPr id="11" name="Rectangle 10">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9029311" y="5124061"/>
            <a:ext cx="3714750" cy="1000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12" name="Straight Arrow Connector 399"/>
          <p:cNvCxnSpPr/>
          <p:nvPr/>
        </p:nvCxnSpPr>
        <p:spPr>
          <a:xfrm xmlns:a="http://schemas.openxmlformats.org/drawingml/2006/main">
            <a:off x="6857611" y="5076436"/>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Rectangle 12">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7124311" y="4552561"/>
            <a:ext cx="1333500" cy="33337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TENSION</a:t>
            </a:r>
          </a:p>
        </p:txBody>
      </p:sp>
      <p:sp>
        <p:nvSpPr>
          <p:cNvPr id="14" name="Rectangle 13">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2914261" y="7171936"/>
            <a:ext cx="9753600" cy="4191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2025" b="1">
                <a:solidFill>
                  <a:srgbClr val="7B1E3A"/>
                </a:solidFill>
                <a:latin typeface="Arial"/>
                <a:ea typeface="Arial"/>
                <a:cs typeface="Arial"/>
              </a:defRPr>
            </a:pPr>
            <a:r>
              <a:t>RVV LOESS: baseline improves 140 → 90 mhl, but rule induction falls to zero.</a:t>
            </a:r>
          </a:p>
        </p:txBody>
      </p:sp>
      <p:sp>
        <p:nvSpPr>
          <p:cNvPr id="15" name="Rectangle 14">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3314311" y="7695811"/>
            <a:ext cx="8953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3.3, 5.5 and 6.2</a:t>
            </a:r>
          </a:p>
        </p:txBody>
      </p:sp>
    </p:spTree>
    <p:extLst>
      <p:ext uri="{BB962C8B-B14F-4D97-AF65-F5344CB8AC3E}">
        <p14:creationId xmlns:p14="http://schemas.microsoft.com/office/powerpoint/2010/main" val="29444304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3" name="Rectangle 42"/>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hite-background">
            <a:extLst xmlns:a="http://schemas.openxmlformats.org/drawingml/2006/main">
              <a:ext uri="{FF2B5EF4-FFF2-40B4-BE49-F238E27FC236}">
                <a16:creationId xmlns:a16="http://schemas.microsoft.com/office/drawing/2014/main" id="{B87B81F9-9FD8-4931-830E-C08D25772F91}"/>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09B41DE6-F4EA-4F7A-A672-1BC4E05A2330}"/>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xmlns:a="http://schemas.openxmlformats.org/drawingml/2006/main">
              <a:ext uri="{FF2B5EF4-FFF2-40B4-BE49-F238E27FC236}">
                <a16:creationId xmlns:a16="http://schemas.microsoft.com/office/drawing/2014/main" id="{9456B7F1-A897-4D99-A4B1-24728639BEEE}"/>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xmlns:a="http://schemas.openxmlformats.org/drawingml/2006/main">
              <a:ext uri="{FF2B5EF4-FFF2-40B4-BE49-F238E27FC236}">
                <a16:creationId xmlns:a16="http://schemas.microsoft.com/office/drawing/2014/main" id="{D7626CBA-B59C-4198-BEFD-CD2995C13E9C}"/>
              </a:ext>
            </a:extLst>
          </p:cNvPr>
          <p:cNvSpPr>
            <a:spLocks xmlns:a="http://schemas.openxmlformats.org/drawingml/2006/main" noGrp="1"/>
          </p:cNvSpPr>
          <p:nvPr/>
        </p:nvSpPr>
        <p:spPr>
          <a:xfrm xmlns:a="http://schemas.openxmlformats.org/drawingml/2006/main">
            <a:off x="2095111" y="3123811"/>
            <a:ext cx="11382375" cy="4953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h-0">
            <a:extLst xmlns:a="http://schemas.openxmlformats.org/drawingml/2006/main">
              <a:ext uri="{FF2B5EF4-FFF2-40B4-BE49-F238E27FC236}">
                <a16:creationId xmlns:a16="http://schemas.microsoft.com/office/drawing/2014/main" id="{7A839C4E-9C4D-4214-B1F0-7F1F10E5737F}"/>
              </a:ext>
            </a:extLst>
          </p:cNvPr>
          <p:cNvSpPr>
            <a:spLocks xmlns:a="http://schemas.openxmlformats.org/drawingml/2006/main" noGrp="1"/>
          </p:cNvSpPr>
          <p:nvPr/>
        </p:nvSpPr>
        <p:spPr>
          <a:xfrm xmlns:a="http://schemas.openxmlformats.org/drawingml/2006/main">
            <a:off x="2209411" y="3295261"/>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xmlns:a="http://schemas.openxmlformats.org/drawingml/2006/main">
              <a:ext uri="{FF2B5EF4-FFF2-40B4-BE49-F238E27FC236}">
                <a16:creationId xmlns:a16="http://schemas.microsoft.com/office/drawing/2014/main" id="{00E77390-AA9C-4035-90D0-559493FCD80A}"/>
              </a:ext>
            </a:extLst>
          </p:cNvPr>
          <p:cNvSpPr>
            <a:spLocks xmlns:a="http://schemas.openxmlformats.org/drawingml/2006/main" noGrp="1"/>
          </p:cNvSpPr>
          <p:nvPr/>
        </p:nvSpPr>
        <p:spPr>
          <a:xfrm xmlns:a="http://schemas.openxmlformats.org/drawingml/2006/main">
            <a:off x="4952611" y="3295261"/>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xmlns:a="http://schemas.openxmlformats.org/drawingml/2006/main">
              <a:ext uri="{FF2B5EF4-FFF2-40B4-BE49-F238E27FC236}">
                <a16:creationId xmlns:a16="http://schemas.microsoft.com/office/drawing/2014/main" id="{AEC030CB-041E-48C0-8AE8-96DF201E8E75}"/>
              </a:ext>
            </a:extLst>
          </p:cNvPr>
          <p:cNvSpPr>
            <a:spLocks xmlns:a="http://schemas.openxmlformats.org/drawingml/2006/main" noGrp="1"/>
          </p:cNvSpPr>
          <p:nvPr/>
        </p:nvSpPr>
        <p:spPr>
          <a:xfrm xmlns:a="http://schemas.openxmlformats.org/drawingml/2006/main">
            <a:off x="7619611" y="3295261"/>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xmlns:a="http://schemas.openxmlformats.org/drawingml/2006/main">
              <a:ext uri="{FF2B5EF4-FFF2-40B4-BE49-F238E27FC236}">
                <a16:creationId xmlns:a16="http://schemas.microsoft.com/office/drawing/2014/main" id="{36FCC4BC-9FDF-460D-940C-EF0B9A9850A9}"/>
              </a:ext>
            </a:extLst>
          </p:cNvPr>
          <p:cNvSpPr>
            <a:spLocks xmlns:a="http://schemas.openxmlformats.org/drawingml/2006/main" noGrp="1"/>
          </p:cNvSpPr>
          <p:nvPr/>
        </p:nvSpPr>
        <p:spPr>
          <a:xfrm xmlns:a="http://schemas.openxmlformats.org/drawingml/2006/main">
            <a:off x="10286611" y="3295261"/>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xmlns:a="http://schemas.openxmlformats.org/drawingml/2006/main">
              <a:ext uri="{FF2B5EF4-FFF2-40B4-BE49-F238E27FC236}">
                <a16:creationId xmlns:a16="http://schemas.microsoft.com/office/drawing/2014/main" id="{231E375B-4068-4D0C-8A8F-0A9E9A1AD936}"/>
              </a:ext>
            </a:extLst>
          </p:cNvPr>
          <p:cNvSpPr>
            <a:spLocks xmlns:a="http://schemas.openxmlformats.org/drawingml/2006/main" noGrp="1"/>
          </p:cNvSpPr>
          <p:nvPr/>
        </p:nvSpPr>
        <p:spPr>
          <a:xfrm xmlns:a="http://schemas.openxmlformats.org/drawingml/2006/main">
            <a:off x="2095111" y="3714361"/>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0-0">
            <a:extLst xmlns:a="http://schemas.openxmlformats.org/drawingml/2006/main">
              <a:ext uri="{FF2B5EF4-FFF2-40B4-BE49-F238E27FC236}">
                <a16:creationId xmlns:a16="http://schemas.microsoft.com/office/drawing/2014/main" id="{F140FD44-7550-44BB-A100-631B9C1A7995}"/>
              </a:ext>
            </a:extLst>
          </p:cNvPr>
          <p:cNvSpPr>
            <a:spLocks xmlns:a="http://schemas.openxmlformats.org/drawingml/2006/main" noGrp="1"/>
          </p:cNvSpPr>
          <p:nvPr/>
        </p:nvSpPr>
        <p:spPr>
          <a:xfrm xmlns:a="http://schemas.openxmlformats.org/drawingml/2006/main">
            <a:off x="2209411" y="3885811"/>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xmlns:a="http://schemas.openxmlformats.org/drawingml/2006/main">
              <a:ext uri="{FF2B5EF4-FFF2-40B4-BE49-F238E27FC236}">
                <a16:creationId xmlns:a16="http://schemas.microsoft.com/office/drawing/2014/main" id="{69947E62-609A-4C56-AB12-57136D84ADAB}"/>
              </a:ext>
            </a:extLst>
          </p:cNvPr>
          <p:cNvSpPr>
            <a:spLocks xmlns:a="http://schemas.openxmlformats.org/drawingml/2006/main" noGrp="1"/>
          </p:cNvSpPr>
          <p:nvPr/>
        </p:nvSpPr>
        <p:spPr>
          <a:xfrm xmlns:a="http://schemas.openxmlformats.org/drawingml/2006/main">
            <a:off x="4952611" y="388581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xmlns:a="http://schemas.openxmlformats.org/drawingml/2006/main">
              <a:ext uri="{FF2B5EF4-FFF2-40B4-BE49-F238E27FC236}">
                <a16:creationId xmlns:a16="http://schemas.microsoft.com/office/drawing/2014/main" id="{F968D94E-CE6F-41E4-A4FE-80F9A7F95F3F}"/>
              </a:ext>
            </a:extLst>
          </p:cNvPr>
          <p:cNvSpPr>
            <a:spLocks xmlns:a="http://schemas.openxmlformats.org/drawingml/2006/main" noGrp="1"/>
          </p:cNvSpPr>
          <p:nvPr/>
        </p:nvSpPr>
        <p:spPr>
          <a:xfrm xmlns:a="http://schemas.openxmlformats.org/drawingml/2006/main">
            <a:off x="7619611" y="388581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xmlns:a="http://schemas.openxmlformats.org/drawingml/2006/main">
              <a:ext uri="{FF2B5EF4-FFF2-40B4-BE49-F238E27FC236}">
                <a16:creationId xmlns:a16="http://schemas.microsoft.com/office/drawing/2014/main" id="{92C753DD-7DDF-459D-8CE1-F818369A1C92}"/>
              </a:ext>
            </a:extLst>
          </p:cNvPr>
          <p:cNvSpPr>
            <a:spLocks xmlns:a="http://schemas.openxmlformats.org/drawingml/2006/main" noGrp="1"/>
          </p:cNvSpPr>
          <p:nvPr/>
        </p:nvSpPr>
        <p:spPr>
          <a:xfrm xmlns:a="http://schemas.openxmlformats.org/drawingml/2006/main">
            <a:off x="10286611" y="3885811"/>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xmlns:a="http://schemas.openxmlformats.org/drawingml/2006/main">
              <a:ext uri="{FF2B5EF4-FFF2-40B4-BE49-F238E27FC236}">
                <a16:creationId xmlns:a16="http://schemas.microsoft.com/office/drawing/2014/main" id="{AD90B26E-51DD-405B-9E82-885E2BF55853}"/>
              </a:ext>
            </a:extLst>
          </p:cNvPr>
          <p:cNvSpPr>
            <a:spLocks xmlns:a="http://schemas.openxmlformats.org/drawingml/2006/main" noGrp="1"/>
          </p:cNvSpPr>
          <p:nvPr/>
        </p:nvSpPr>
        <p:spPr>
          <a:xfrm xmlns:a="http://schemas.openxmlformats.org/drawingml/2006/main">
            <a:off x="2095111" y="4495411"/>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r-1-0">
            <a:extLst xmlns:a="http://schemas.openxmlformats.org/drawingml/2006/main">
              <a:ext uri="{FF2B5EF4-FFF2-40B4-BE49-F238E27FC236}">
                <a16:creationId xmlns:a16="http://schemas.microsoft.com/office/drawing/2014/main" id="{B79D96E7-EAE8-4C61-B574-4D6B7BEFF2CD}"/>
              </a:ext>
            </a:extLst>
          </p:cNvPr>
          <p:cNvSpPr>
            <a:spLocks xmlns:a="http://schemas.openxmlformats.org/drawingml/2006/main" noGrp="1"/>
          </p:cNvSpPr>
          <p:nvPr/>
        </p:nvSpPr>
        <p:spPr>
          <a:xfrm xmlns:a="http://schemas.openxmlformats.org/drawingml/2006/main">
            <a:off x="2209411" y="4666861"/>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xmlns:a="http://schemas.openxmlformats.org/drawingml/2006/main">
              <a:ext uri="{FF2B5EF4-FFF2-40B4-BE49-F238E27FC236}">
                <a16:creationId xmlns:a16="http://schemas.microsoft.com/office/drawing/2014/main" id="{2070CE7B-A0B8-4638-B5AB-5F5A33F980BE}"/>
              </a:ext>
            </a:extLst>
          </p:cNvPr>
          <p:cNvSpPr>
            <a:spLocks xmlns:a="http://schemas.openxmlformats.org/drawingml/2006/main" noGrp="1"/>
          </p:cNvSpPr>
          <p:nvPr/>
        </p:nvSpPr>
        <p:spPr>
          <a:xfrm xmlns:a="http://schemas.openxmlformats.org/drawingml/2006/main">
            <a:off x="4952611" y="466686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xmlns:a="http://schemas.openxmlformats.org/drawingml/2006/main">
              <a:ext uri="{FF2B5EF4-FFF2-40B4-BE49-F238E27FC236}">
                <a16:creationId xmlns:a16="http://schemas.microsoft.com/office/drawing/2014/main" id="{A0151F20-0BC1-4E87-B266-9F314DFF8407}"/>
              </a:ext>
            </a:extLst>
          </p:cNvPr>
          <p:cNvSpPr>
            <a:spLocks xmlns:a="http://schemas.openxmlformats.org/drawingml/2006/main" noGrp="1"/>
          </p:cNvSpPr>
          <p:nvPr/>
        </p:nvSpPr>
        <p:spPr>
          <a:xfrm xmlns:a="http://schemas.openxmlformats.org/drawingml/2006/main">
            <a:off x="7619611" y="466686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xmlns:a="http://schemas.openxmlformats.org/drawingml/2006/main">
              <a:ext uri="{FF2B5EF4-FFF2-40B4-BE49-F238E27FC236}">
                <a16:creationId xmlns:a16="http://schemas.microsoft.com/office/drawing/2014/main" id="{4361DE3A-FD66-4F40-BB59-75F92A75D394}"/>
              </a:ext>
            </a:extLst>
          </p:cNvPr>
          <p:cNvSpPr>
            <a:spLocks xmlns:a="http://schemas.openxmlformats.org/drawingml/2006/main" noGrp="1"/>
          </p:cNvSpPr>
          <p:nvPr/>
        </p:nvSpPr>
        <p:spPr>
          <a:xfrm xmlns:a="http://schemas.openxmlformats.org/drawingml/2006/main">
            <a:off x="10286611" y="4666861"/>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xmlns:a="http://schemas.openxmlformats.org/drawingml/2006/main">
              <a:ext uri="{FF2B5EF4-FFF2-40B4-BE49-F238E27FC236}">
                <a16:creationId xmlns:a16="http://schemas.microsoft.com/office/drawing/2014/main" id="{B9EEFB78-A0BF-4DFC-9935-F13B62DAA08D}"/>
              </a:ext>
            </a:extLst>
          </p:cNvPr>
          <p:cNvSpPr>
            <a:spLocks xmlns:a="http://schemas.openxmlformats.org/drawingml/2006/main" noGrp="1"/>
          </p:cNvSpPr>
          <p:nvPr/>
        </p:nvSpPr>
        <p:spPr>
          <a:xfrm xmlns:a="http://schemas.openxmlformats.org/drawingml/2006/main">
            <a:off x="2095111" y="5276461"/>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0" name="r-2-0">
            <a:extLst xmlns:a="http://schemas.openxmlformats.org/drawingml/2006/main">
              <a:ext uri="{FF2B5EF4-FFF2-40B4-BE49-F238E27FC236}">
                <a16:creationId xmlns:a16="http://schemas.microsoft.com/office/drawing/2014/main" id="{CBA4918F-4962-461D-990C-7374EC20F5DE}"/>
              </a:ext>
            </a:extLst>
          </p:cNvPr>
          <p:cNvSpPr>
            <a:spLocks xmlns:a="http://schemas.openxmlformats.org/drawingml/2006/main" noGrp="1"/>
          </p:cNvSpPr>
          <p:nvPr/>
        </p:nvSpPr>
        <p:spPr>
          <a:xfrm xmlns:a="http://schemas.openxmlformats.org/drawingml/2006/main">
            <a:off x="2209411" y="5447911"/>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xmlns:a="http://schemas.openxmlformats.org/drawingml/2006/main">
              <a:ext uri="{FF2B5EF4-FFF2-40B4-BE49-F238E27FC236}">
                <a16:creationId xmlns:a16="http://schemas.microsoft.com/office/drawing/2014/main" id="{CFE244B9-5EC2-43EB-8315-DAC438E2A6ED}"/>
              </a:ext>
            </a:extLst>
          </p:cNvPr>
          <p:cNvSpPr>
            <a:spLocks xmlns:a="http://schemas.openxmlformats.org/drawingml/2006/main" noGrp="1"/>
          </p:cNvSpPr>
          <p:nvPr/>
        </p:nvSpPr>
        <p:spPr>
          <a:xfrm xmlns:a="http://schemas.openxmlformats.org/drawingml/2006/main">
            <a:off x="4952611" y="544791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xmlns:a="http://schemas.openxmlformats.org/drawingml/2006/main">
              <a:ext uri="{FF2B5EF4-FFF2-40B4-BE49-F238E27FC236}">
                <a16:creationId xmlns:a16="http://schemas.microsoft.com/office/drawing/2014/main" id="{2A65E781-8DE2-42DC-AC16-847FB2D6B878}"/>
              </a:ext>
            </a:extLst>
          </p:cNvPr>
          <p:cNvSpPr>
            <a:spLocks xmlns:a="http://schemas.openxmlformats.org/drawingml/2006/main" noGrp="1"/>
          </p:cNvSpPr>
          <p:nvPr/>
        </p:nvSpPr>
        <p:spPr>
          <a:xfrm xmlns:a="http://schemas.openxmlformats.org/drawingml/2006/main">
            <a:off x="7619611" y="544791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xmlns:a="http://schemas.openxmlformats.org/drawingml/2006/main">
              <a:ext uri="{FF2B5EF4-FFF2-40B4-BE49-F238E27FC236}">
                <a16:creationId xmlns:a16="http://schemas.microsoft.com/office/drawing/2014/main" id="{C17336C7-4C93-4710-BECD-FAAD99398765}"/>
              </a:ext>
            </a:extLst>
          </p:cNvPr>
          <p:cNvSpPr>
            <a:spLocks xmlns:a="http://schemas.openxmlformats.org/drawingml/2006/main" noGrp="1"/>
          </p:cNvSpPr>
          <p:nvPr/>
        </p:nvSpPr>
        <p:spPr>
          <a:xfrm xmlns:a="http://schemas.openxmlformats.org/drawingml/2006/main">
            <a:off x="10286611" y="5447911"/>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xmlns:a="http://schemas.openxmlformats.org/drawingml/2006/main">
              <a:ext uri="{FF2B5EF4-FFF2-40B4-BE49-F238E27FC236}">
                <a16:creationId xmlns:a16="http://schemas.microsoft.com/office/drawing/2014/main" id="{149B31CF-71A2-4FF8-AB78-B5D6A360AEFE}"/>
              </a:ext>
            </a:extLst>
          </p:cNvPr>
          <p:cNvSpPr>
            <a:spLocks xmlns:a="http://schemas.openxmlformats.org/drawingml/2006/main" noGrp="1"/>
          </p:cNvSpPr>
          <p:nvPr/>
        </p:nvSpPr>
        <p:spPr>
          <a:xfrm xmlns:a="http://schemas.openxmlformats.org/drawingml/2006/main">
            <a:off x="2095111" y="6057511"/>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5" name="r-3-0">
            <a:extLst xmlns:a="http://schemas.openxmlformats.org/drawingml/2006/main">
              <a:ext uri="{FF2B5EF4-FFF2-40B4-BE49-F238E27FC236}">
                <a16:creationId xmlns:a16="http://schemas.microsoft.com/office/drawing/2014/main" id="{1850F043-1703-4EEE-9597-C37E806A93BE}"/>
              </a:ext>
            </a:extLst>
          </p:cNvPr>
          <p:cNvSpPr>
            <a:spLocks xmlns:a="http://schemas.openxmlformats.org/drawingml/2006/main" noGrp="1"/>
          </p:cNvSpPr>
          <p:nvPr/>
        </p:nvSpPr>
        <p:spPr>
          <a:xfrm xmlns:a="http://schemas.openxmlformats.org/drawingml/2006/main">
            <a:off x="2209411" y="6228961"/>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xmlns:a="http://schemas.openxmlformats.org/drawingml/2006/main">
              <a:ext uri="{FF2B5EF4-FFF2-40B4-BE49-F238E27FC236}">
                <a16:creationId xmlns:a16="http://schemas.microsoft.com/office/drawing/2014/main" id="{42CE8B97-1A19-4B4F-954C-3810DB565543}"/>
              </a:ext>
            </a:extLst>
          </p:cNvPr>
          <p:cNvSpPr>
            <a:spLocks xmlns:a="http://schemas.openxmlformats.org/drawingml/2006/main" noGrp="1"/>
          </p:cNvSpPr>
          <p:nvPr/>
        </p:nvSpPr>
        <p:spPr>
          <a:xfrm xmlns:a="http://schemas.openxmlformats.org/drawingml/2006/main">
            <a:off x="4952611" y="622896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xmlns:a="http://schemas.openxmlformats.org/drawingml/2006/main">
              <a:ext uri="{FF2B5EF4-FFF2-40B4-BE49-F238E27FC236}">
                <a16:creationId xmlns:a16="http://schemas.microsoft.com/office/drawing/2014/main" id="{F728B140-4FF8-4712-877E-652E50CB8509}"/>
              </a:ext>
            </a:extLst>
          </p:cNvPr>
          <p:cNvSpPr>
            <a:spLocks xmlns:a="http://schemas.openxmlformats.org/drawingml/2006/main" noGrp="1"/>
          </p:cNvSpPr>
          <p:nvPr/>
        </p:nvSpPr>
        <p:spPr>
          <a:xfrm xmlns:a="http://schemas.openxmlformats.org/drawingml/2006/main">
            <a:off x="7619611" y="6228961"/>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xmlns:a="http://schemas.openxmlformats.org/drawingml/2006/main">
              <a:ext uri="{FF2B5EF4-FFF2-40B4-BE49-F238E27FC236}">
                <a16:creationId xmlns:a16="http://schemas.microsoft.com/office/drawing/2014/main" id="{53934A3A-C4F7-482E-8A86-C96AFC2BF566}"/>
              </a:ext>
            </a:extLst>
          </p:cNvPr>
          <p:cNvSpPr>
            <a:spLocks xmlns:a="http://schemas.openxmlformats.org/drawingml/2006/main" noGrp="1"/>
          </p:cNvSpPr>
          <p:nvPr/>
        </p:nvSpPr>
        <p:spPr>
          <a:xfrm xmlns:a="http://schemas.openxmlformats.org/drawingml/2006/main">
            <a:off x="10286611" y="6228961"/>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xmlns:a="http://schemas.openxmlformats.org/drawingml/2006/main">
              <a:ext uri="{FF2B5EF4-FFF2-40B4-BE49-F238E27FC236}">
                <a16:creationId xmlns:a16="http://schemas.microsoft.com/office/drawing/2014/main" id="{D7BA6A65-E54F-4643-BE9A-A1EA1174A6D3}"/>
              </a:ext>
            </a:extLst>
          </p:cNvPr>
          <p:cNvSpPr>
            <a:spLocks xmlns:a="http://schemas.openxmlformats.org/drawingml/2006/main" noGrp="1"/>
          </p:cNvSpPr>
          <p:nvPr/>
        </p:nvSpPr>
        <p:spPr>
          <a:xfrm xmlns:a="http://schemas.openxmlformats.org/drawingml/2006/main">
            <a:off x="2095111" y="7171936"/>
            <a:ext cx="11382375" cy="52387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0" name="take-stripe">
            <a:extLst xmlns:a="http://schemas.openxmlformats.org/drawingml/2006/main">
              <a:ext uri="{FF2B5EF4-FFF2-40B4-BE49-F238E27FC236}">
                <a16:creationId xmlns:a16="http://schemas.microsoft.com/office/drawing/2014/main" id="{A101D9D0-1E0A-448C-A87C-29455B4E7329}"/>
              </a:ext>
            </a:extLst>
          </p:cNvPr>
          <p:cNvSpPr>
            <a:spLocks xmlns:a="http://schemas.openxmlformats.org/drawingml/2006/main" noGrp="1"/>
          </p:cNvSpPr>
          <p:nvPr/>
        </p:nvSpPr>
        <p:spPr>
          <a:xfrm xmlns:a="http://schemas.openxmlformats.org/drawingml/2006/main">
            <a:off x="2095111" y="7171936"/>
            <a:ext cx="76200" cy="52387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1" name="take-text">
            <a:extLst xmlns:a="http://schemas.openxmlformats.org/drawingml/2006/main">
              <a:ext uri="{FF2B5EF4-FFF2-40B4-BE49-F238E27FC236}">
                <a16:creationId xmlns:a16="http://schemas.microsoft.com/office/drawing/2014/main" id="{418DE756-0222-44F5-B126-B98777D1131C}"/>
              </a:ext>
            </a:extLst>
          </p:cNvPr>
          <p:cNvSpPr>
            <a:spLocks xmlns:a="http://schemas.openxmlformats.org/drawingml/2006/main" noGrp="1"/>
          </p:cNvSpPr>
          <p:nvPr/>
        </p:nvSpPr>
        <p:spPr>
          <a:xfrm xmlns:a="http://schemas.openxmlformats.org/drawingml/2006/main">
            <a:off x="2457061" y="7352911"/>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xmlns:a="http://schemas.openxmlformats.org/drawingml/2006/main">
              <a:ext uri="{FF2B5EF4-FFF2-40B4-BE49-F238E27FC236}">
                <a16:creationId xmlns:a16="http://schemas.microsoft.com/office/drawing/2014/main" id="{4552FD98-5C73-4575-966D-7D9E8972FDDC}"/>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xmlns:a="http://schemas.openxmlformats.org/drawingml/2006/main">
              <a:ext uri="{FF2B5EF4-FFF2-40B4-BE49-F238E27FC236}">
                <a16:creationId xmlns:a16="http://schemas.microsoft.com/office/drawing/2014/main" id="{7019ED51-AB7D-445F-8FBD-A3C1D50F50FF}"/>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4" name="slide-number-22">
            <a:extLst xmlns:a="http://schemas.openxmlformats.org/drawingml/2006/main">
              <a:ext uri="{FF2B5EF4-FFF2-40B4-BE49-F238E27FC236}">
                <a16:creationId xmlns:a16="http://schemas.microsoft.com/office/drawing/2014/main" id="{369E5D33-C173-48F0-AE50-A325FF1CAA44}"/>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77111211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6" name="Rectangle 2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CONTRIBUTIONS</a:t>
            </a:r>
          </a:p>
        </p:txBody>
      </p:sp>
      <p:sp>
        <p:nvSpPr>
          <p:cNvPr id="2" name="Rectangle 1">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fontScale="8968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Five scientific contributions clarify why rules work and fail</a:t>
            </a:r>
          </a:p>
        </p:txBody>
      </p:sp>
      <p:sp>
        <p:nvSpPr>
          <p:cNvPr id="3" name="Rectangle 2">
            <a:extLst xmlns:a="http://schemas.openxmlformats.org/drawingml/2006/main">
              <a:ext uri="{FF2B5EF4-FFF2-40B4-BE49-F238E27FC236}">
                <a16:creationId xmlns:a16="http://schemas.microsoft.com/office/drawing/2014/main" id="{194F60FB-3BB7-4394-BD64-7888EDFE442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sp>
        <p:nvSpPr>
          <p:cNvPr id="4" name="Rectangle 3">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2095111" y="3171436"/>
            <a:ext cx="11391900" cy="109537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2361811" y="3428611"/>
            <a:ext cx="1905000" cy="3048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500" b="1">
                <a:solidFill>
                  <a:srgbClr val="7B1E3A"/>
                </a:solidFill>
                <a:latin typeface="Arial"/>
                <a:ea typeface="Arial"/>
                <a:cs typeface="Arial"/>
              </a:defRPr>
            </a:pPr>
            <a:r>
              <a:t>1</a:t>
            </a:r>
          </a:p>
        </p:txBody>
      </p:sp>
      <p:sp>
        <p:nvSpPr>
          <p:cNvPr id="6" name="Rectangle 5">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4409686" y="3371461"/>
            <a:ext cx="8572500"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buNone/>
              <a:defRPr sz="2100" b="1">
                <a:solidFill>
                  <a:srgbClr val="151515"/>
                </a:solidFill>
                <a:latin typeface="Arial"/>
                <a:ea typeface="Arial"/>
                <a:cs typeface="Arial"/>
              </a:defRPr>
            </a:pPr>
            <a:r>
              <a:t>Two-decision framework separates trend quality from residual climate-signal extraction.</a:t>
            </a:r>
          </a:p>
        </p:txBody>
      </p:sp>
      <p:sp>
        <p:nvSpPr>
          <p:cNvPr id="7" name="Rectangle 6">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2095111" y="4552561"/>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6009886" y="4552561"/>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9924661" y="4552561"/>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2361811" y="4838311"/>
            <a:ext cx="2857500" cy="361950"/>
          </a:xfrm>
          <a:prstGeom xmlns:a="http://schemas.openxmlformats.org/drawingml/2006/main" prst="rect">
            <a:avLst/>
          </a:prstGeom>
        </p:spPr>
        <p:txBody>
          <a:bodyPr xmlns:a="http://schemas.openxmlformats.org/drawingml/2006/main" lIns="0" tIns="0" rIns="0" bIns="0" anchor="t">
            <a:normAutofit fontScale="88998"/>
          </a:bodyPr>
          <a:lstStyle xmlns:a="http://schemas.openxmlformats.org/drawingml/2006/main"/>
          <a:p xmlns:a="http://schemas.openxmlformats.org/drawingml/2006/main">
            <a:pPr algn="l">
              <a:buNone/>
              <a:defRPr sz="1950" b="1">
                <a:solidFill>
                  <a:srgbClr val="151515"/>
                </a:solidFill>
                <a:latin typeface="Arial"/>
                <a:ea typeface="Arial"/>
                <a:cs typeface="Arial"/>
              </a:defRPr>
            </a:pPr>
            <a:r>
              <a:t>2 · Walk-forward evaluation</a:t>
            </a:r>
          </a:p>
        </p:txBody>
      </p:sp>
      <p:sp>
        <p:nvSpPr>
          <p:cNvPr id="11" name="Rectangle 10">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2361811" y="5457436"/>
            <a:ext cx="2857500" cy="1047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6276586" y="4838311"/>
            <a:ext cx="2857500" cy="3619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950" b="1">
                <a:solidFill>
                  <a:srgbClr val="151515"/>
                </a:solidFill>
                <a:latin typeface="Arial"/>
                <a:ea typeface="Arial"/>
                <a:cs typeface="Arial"/>
              </a:defRPr>
            </a:pPr>
            <a:r>
              <a:t>3 · Sensitivity analysis</a:t>
            </a:r>
          </a:p>
        </p:txBody>
      </p:sp>
      <p:sp>
        <p:nvSpPr>
          <p:cNvPr id="13" name="Rectangle 12">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6276586" y="5457436"/>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10191361" y="4838311"/>
            <a:ext cx="2857500" cy="361950"/>
          </a:xfrm>
          <a:prstGeom xmlns:a="http://schemas.openxmlformats.org/drawingml/2006/main" prst="rect">
            <a:avLst/>
          </a:prstGeom>
        </p:spPr>
        <p:txBody>
          <a:bodyPr xmlns:a="http://schemas.openxmlformats.org/drawingml/2006/main" lIns="0" tIns="0" rIns="0" bIns="0" anchor="t">
            <a:normAutofit fontScale="77594" lnSpcReduction="1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4 · Era-composition analysis</a:t>
            </a:r>
          </a:p>
        </p:txBody>
      </p:sp>
      <p:sp>
        <p:nvSpPr>
          <p:cNvPr id="15" name="Rectangle 14">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10191361" y="5457436"/>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Identifies when rule-based prediction may become viable, not just whether it wins overall.</a:t>
            </a:r>
          </a:p>
        </p:txBody>
      </p:sp>
      <p:sp>
        <p:nvSpPr>
          <p:cNvPr id="16" name="Rectangle 15">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2380861" y="7505311"/>
            <a:ext cx="10810875" cy="495300"/>
          </a:xfrm>
          <a:prstGeom xmlns:a="http://schemas.openxmlformats.org/drawingml/2006/main" prst="rect">
            <a:avLst/>
          </a:prstGeom>
        </p:spPr>
        <p:txBody>
          <a:bodyPr xmlns:a="http://schemas.openxmlformats.org/drawingml/2006/main" lIns="0" tIns="0" rIns="0" bIns="0" anchor="t">
            <a:normAutofit fontScale="95338" lnSpcReduction="10000"/>
          </a:bodyPr>
          <a:lstStyle xmlns:a="http://schemas.openxmlformats.org/drawingml/2006/main"/>
          <a:p xmlns:a="http://schemas.openxmlformats.org/drawingml/2006/main">
            <a:pPr algn="ctr">
              <a:buNone/>
              <a:defRPr sz="1875" b="1">
                <a:solidFill>
                  <a:srgbClr val="7B1E3A"/>
                </a:solidFill>
                <a:latin typeface="Arial"/>
                <a:ea typeface="Arial"/>
                <a:cs typeface="Arial"/>
              </a:defRPr>
            </a:pPr>
            <a:r>
              <a:t>5 · Cross-algorithm validation: RIPPER and M5Rules independently confirm CarenR feature families.</a:t>
            </a:r>
          </a:p>
        </p:txBody>
      </p:sp>
      <p:sp>
        <p:nvSpPr>
          <p:cNvPr id="17" name="Rectangle 16">
            <a:extLst xmlns:a="http://schemas.openxmlformats.org/drawingml/2006/main">
              <a:ext uri="{FF2B5EF4-FFF2-40B4-BE49-F238E27FC236}">
                <a16:creationId xmlns:a16="http://schemas.microsoft.com/office/drawing/2014/main" id="{D886606F-87DE-424D-8441-C00374C1C605}"/>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7.2</a:t>
            </a:r>
          </a:p>
        </p:txBody>
      </p:sp>
    </p:spTree>
    <p:extLst>
      <p:ext uri="{BB962C8B-B14F-4D97-AF65-F5344CB8AC3E}">
        <p14:creationId xmlns:p14="http://schemas.microsoft.com/office/powerpoint/2010/main" val="43600827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6" name="Rectangle 2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hite-background">
            <a:extLst xmlns:a="http://schemas.openxmlformats.org/drawingml/2006/main">
              <a:ext uri="{FF2B5EF4-FFF2-40B4-BE49-F238E27FC236}">
                <a16:creationId xmlns:a16="http://schemas.microsoft.com/office/drawing/2014/main" id="{63B1BE25-A83F-4E08-AC14-51970DAF9548}"/>
              </a:ext>
            </a:extLst>
          </p:cNvPr>
          <p:cNvSpPr>
            <a:spLocks xmlns:a="http://schemas.openxmlformats.org/drawingml/2006/main" noGrp="1"/>
          </p:cNvSpPr>
          <p:nvPr/>
        </p:nvSpPr>
        <p:spPr>
          <a:xfrm xmlns:a="http://schemas.openxmlformats.org/drawingml/2006/main">
            <a:off x="1695061" y="1695061"/>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D6CF26EF-1116-4AE5-8478-A5DF4FB99F21}"/>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xmlns:a="http://schemas.openxmlformats.org/drawingml/2006/main">
              <a:ext uri="{FF2B5EF4-FFF2-40B4-BE49-F238E27FC236}">
                <a16:creationId xmlns:a16="http://schemas.microsoft.com/office/drawing/2014/main" id="{CC9BDDB7-AD16-44DE-BDA5-B8ECF5D23631}"/>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xmlns:a="http://schemas.openxmlformats.org/drawingml/2006/main">
              <a:ext uri="{FF2B5EF4-FFF2-40B4-BE49-F238E27FC236}">
                <a16:creationId xmlns:a16="http://schemas.microsoft.com/office/drawing/2014/main" id="{B7FED3BD-051B-4B32-A0C5-6806280F4F20}"/>
              </a:ext>
            </a:extLst>
          </p:cNvPr>
          <p:cNvSpPr>
            <a:spLocks xmlns:a="http://schemas.openxmlformats.org/drawingml/2006/main" noGrp="1"/>
          </p:cNvSpPr>
          <p:nvPr/>
        </p:nvSpPr>
        <p:spPr>
          <a:xfrm xmlns:a="http://schemas.openxmlformats.org/drawingml/2006/main">
            <a:off x="2095111" y="3314311"/>
            <a:ext cx="5334000" cy="29527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lim-stripe">
            <a:extLst xmlns:a="http://schemas.openxmlformats.org/drawingml/2006/main">
              <a:ext uri="{FF2B5EF4-FFF2-40B4-BE49-F238E27FC236}">
                <a16:creationId xmlns:a16="http://schemas.microsoft.com/office/drawing/2014/main" id="{0C9A5068-F942-4EF4-933A-98FE5B54F8BB}"/>
              </a:ext>
            </a:extLst>
          </p:cNvPr>
          <p:cNvSpPr>
            <a:spLocks xmlns:a="http://schemas.openxmlformats.org/drawingml/2006/main" noGrp="1"/>
          </p:cNvSpPr>
          <p:nvPr/>
        </p:nvSpPr>
        <p:spPr>
          <a:xfrm xmlns:a="http://schemas.openxmlformats.org/drawingml/2006/main">
            <a:off x="2095111" y="3314311"/>
            <a:ext cx="76200" cy="2952750"/>
          </a:xfrm>
          <a:prstGeom xmlns:a="http://schemas.openxmlformats.org/drawingml/2006/main" prst="rect">
            <a:avLst/>
          </a:prstGeom>
          <a:solidFill xmlns:a="http://schemas.openxmlformats.org/drawingml/2006/main">
            <a:srgbClr val="C04B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lim-title">
            <a:extLst xmlns:a="http://schemas.openxmlformats.org/drawingml/2006/main">
              <a:ext uri="{FF2B5EF4-FFF2-40B4-BE49-F238E27FC236}">
                <a16:creationId xmlns:a16="http://schemas.microsoft.com/office/drawing/2014/main" id="{60845F58-7EC2-4F2D-BACB-C199AEEC3BFA}"/>
              </a:ext>
            </a:extLst>
          </p:cNvPr>
          <p:cNvSpPr>
            <a:spLocks xmlns:a="http://schemas.openxmlformats.org/drawingml/2006/main" noGrp="1"/>
          </p:cNvSpPr>
          <p:nvPr/>
        </p:nvSpPr>
        <p:spPr>
          <a:xfrm xmlns:a="http://schemas.openxmlformats.org/drawingml/2006/main">
            <a:off x="2380861" y="3561961"/>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C04B4B"/>
                </a:solidFill>
                <a:latin typeface="Arial"/>
                <a:ea typeface="Arial"/>
                <a:cs typeface="Arial"/>
              </a:defRPr>
            </a:pPr>
            <a:r>
              <a:rPr sz="1800" b="1">
                <a:solidFill>
                  <a:srgbClr val="C04B4B"/>
                </a:solidFill>
                <a:latin typeface="Arial"/>
                <a:ea typeface="Arial"/>
                <a:cs typeface="Arial"/>
              </a:rPr>
              <a:t>Limitations</a:t>
            </a:r>
          </a:p>
        </p:txBody>
      </p:sp>
      <p:sp>
        <p:nvSpPr>
          <p:cNvPr id="7" name="lim-body">
            <a:extLst xmlns:a="http://schemas.openxmlformats.org/drawingml/2006/main">
              <a:ext uri="{FF2B5EF4-FFF2-40B4-BE49-F238E27FC236}">
                <a16:creationId xmlns:a16="http://schemas.microsoft.com/office/drawing/2014/main" id="{BBCC1286-35DC-4B95-B827-6D8189A654B6}"/>
              </a:ext>
            </a:extLst>
          </p:cNvPr>
          <p:cNvSpPr>
            <a:spLocks xmlns:a="http://schemas.openxmlformats.org/drawingml/2006/main" noGrp="1"/>
          </p:cNvSpPr>
          <p:nvPr/>
        </p:nvSpPr>
        <p:spPr>
          <a:xfrm xmlns:a="http://schemas.openxmlformats.org/drawingml/2006/main">
            <a:off x="2476111" y="4123936"/>
            <a:ext cx="4476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Time is the only detrending covariate, so structural change and climate remain partly mixed.</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The walk-forward test has only 18 and 16 scenarios; the 5/5 RDD era-balanced result is exploratory.</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Regional annual aggregates hide sub-regional weather and vineyard heterogeneity.</a:t>
            </a:r>
          </a:p>
        </p:txBody>
      </p:sp>
      <p:sp>
        <p:nvSpPr>
          <p:cNvPr id="8" name="fw-panel">
            <a:extLst xmlns:a="http://schemas.openxmlformats.org/drawingml/2006/main">
              <a:ext uri="{FF2B5EF4-FFF2-40B4-BE49-F238E27FC236}">
                <a16:creationId xmlns:a16="http://schemas.microsoft.com/office/drawing/2014/main" id="{1A07840C-9A0A-41B8-900B-22185D3D938D}"/>
              </a:ext>
            </a:extLst>
          </p:cNvPr>
          <p:cNvSpPr>
            <a:spLocks xmlns:a="http://schemas.openxmlformats.org/drawingml/2006/main" noGrp="1"/>
          </p:cNvSpPr>
          <p:nvPr/>
        </p:nvSpPr>
        <p:spPr>
          <a:xfrm xmlns:a="http://schemas.openxmlformats.org/drawingml/2006/main">
            <a:off x="7810111" y="3314311"/>
            <a:ext cx="5667375" cy="29527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fw-stripe">
            <a:extLst xmlns:a="http://schemas.openxmlformats.org/drawingml/2006/main">
              <a:ext uri="{FF2B5EF4-FFF2-40B4-BE49-F238E27FC236}">
                <a16:creationId xmlns:a16="http://schemas.microsoft.com/office/drawing/2014/main" id="{26A857E4-49CB-4B9D-982E-F244C7B4E448}"/>
              </a:ext>
            </a:extLst>
          </p:cNvPr>
          <p:cNvSpPr>
            <a:spLocks xmlns:a="http://schemas.openxmlformats.org/drawingml/2006/main" noGrp="1"/>
          </p:cNvSpPr>
          <p:nvPr/>
        </p:nvSpPr>
        <p:spPr>
          <a:xfrm xmlns:a="http://schemas.openxmlformats.org/drawingml/2006/main">
            <a:off x="7810111" y="3314311"/>
            <a:ext cx="76200" cy="29527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fw-title">
            <a:extLst xmlns:a="http://schemas.openxmlformats.org/drawingml/2006/main">
              <a:ext uri="{FF2B5EF4-FFF2-40B4-BE49-F238E27FC236}">
                <a16:creationId xmlns:a16="http://schemas.microsoft.com/office/drawing/2014/main" id="{11377E13-D7EF-47BC-BE62-C2415F25F0A9}"/>
              </a:ext>
            </a:extLst>
          </p:cNvPr>
          <p:cNvSpPr>
            <a:spLocks xmlns:a="http://schemas.openxmlformats.org/drawingml/2006/main" noGrp="1"/>
          </p:cNvSpPr>
          <p:nvPr/>
        </p:nvSpPr>
        <p:spPr>
          <a:xfrm xmlns:a="http://schemas.openxmlformats.org/drawingml/2006/main">
            <a:off x="8095861" y="3561961"/>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xmlns:a="http://schemas.openxmlformats.org/drawingml/2006/main">
              <a:ext uri="{FF2B5EF4-FFF2-40B4-BE49-F238E27FC236}">
                <a16:creationId xmlns:a16="http://schemas.microsoft.com/office/drawing/2014/main" id="{D4D2FEB9-2CD8-448D-B525-ECD8FD4814D6}"/>
              </a:ext>
            </a:extLst>
          </p:cNvPr>
          <p:cNvSpPr>
            <a:spLocks xmlns:a="http://schemas.openxmlformats.org/drawingml/2006/main" noGrp="1"/>
          </p:cNvSpPr>
          <p:nvPr/>
        </p:nvSpPr>
        <p:spPr>
          <a:xfrm xmlns:a="http://schemas.openxmlformats.org/drawingml/2006/main">
            <a:off x="8191111" y="4123936"/>
            <a:ext cx="476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Add structural covariates: planted area, quotas and certified producers.</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Pre-register and prospectively validate the era-balanced hypothesis.</a:t>
            </a:r>
          </a:p>
          <a:p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Test other regional time series with weaker trends, and use higher-resolution climate data.</a:t>
            </a:r>
          </a:p>
        </p:txBody>
      </p:sp>
      <p:sp>
        <p:nvSpPr>
          <p:cNvPr id="12" name="close-panel">
            <a:extLst xmlns:a="http://schemas.openxmlformats.org/drawingml/2006/main">
              <a:ext uri="{FF2B5EF4-FFF2-40B4-BE49-F238E27FC236}">
                <a16:creationId xmlns:a16="http://schemas.microsoft.com/office/drawing/2014/main" id="{AAE7BDF0-E72F-46B3-AFA8-FDD99D32853C}"/>
              </a:ext>
            </a:extLst>
          </p:cNvPr>
          <p:cNvSpPr>
            <a:spLocks xmlns:a="http://schemas.openxmlformats.org/drawingml/2006/main" noGrp="1"/>
          </p:cNvSpPr>
          <p:nvPr/>
        </p:nvSpPr>
        <p:spPr>
          <a:xfrm xmlns:a="http://schemas.openxmlformats.org/drawingml/2006/main">
            <a:off x="2095111" y="6790936"/>
            <a:ext cx="11382375" cy="762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close-stripe">
            <a:extLst xmlns:a="http://schemas.openxmlformats.org/drawingml/2006/main">
              <a:ext uri="{FF2B5EF4-FFF2-40B4-BE49-F238E27FC236}">
                <a16:creationId xmlns:a16="http://schemas.microsoft.com/office/drawing/2014/main" id="{AF12DFFF-49A1-4A02-ABC6-7CB33F8FD1E7}"/>
              </a:ext>
            </a:extLst>
          </p:cNvPr>
          <p:cNvSpPr>
            <a:spLocks xmlns:a="http://schemas.openxmlformats.org/drawingml/2006/main" noGrp="1"/>
          </p:cNvSpPr>
          <p:nvPr/>
        </p:nvSpPr>
        <p:spPr>
          <a:xfrm xmlns:a="http://schemas.openxmlformats.org/drawingml/2006/main">
            <a:off x="2095111" y="6790936"/>
            <a:ext cx="76200" cy="762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close-text">
            <a:extLst xmlns:a="http://schemas.openxmlformats.org/drawingml/2006/main">
              <a:ext uri="{FF2B5EF4-FFF2-40B4-BE49-F238E27FC236}">
                <a16:creationId xmlns:a16="http://schemas.microsoft.com/office/drawing/2014/main" id="{ADF9A72D-259B-4CAF-91E4-424FF94B6D44}"/>
              </a:ext>
            </a:extLst>
          </p:cNvPr>
          <p:cNvSpPr>
            <a:spLocks xmlns:a="http://schemas.openxmlformats.org/drawingml/2006/main" noGrp="1"/>
          </p:cNvSpPr>
          <p:nvPr/>
        </p:nvSpPr>
        <p:spPr>
          <a:xfrm xmlns:a="http://schemas.openxmlformats.org/drawingml/2006/main">
            <a:off x="2409436" y="7010011"/>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B1E3A"/>
                </a:solidFill>
                <a:latin typeface="Arial"/>
                <a:ea typeface="Arial"/>
                <a:cs typeface="Arial"/>
              </a:defRPr>
            </a:pPr>
            <a:r>
              <a:rPr sz="1650" b="1">
                <a:solidFill>
                  <a:srgbClr val="7B1E3A"/>
                </a:solidFill>
                <a:latin typeface="Arial"/>
                <a:ea typeface="Arial"/>
                <a:cs typeface="Arial"/>
              </a:rPr>
              <a:t>The thesis does not claim an operational forecast yet; it shows when interpretable rules are meaningful, when they fail, and what evidence is needed next.</a:t>
            </a:r>
          </a:p>
        </p:txBody>
      </p:sp>
      <p:sp>
        <p:nvSpPr>
          <p:cNvPr id="15" name="source">
            <a:extLst xmlns:a="http://schemas.openxmlformats.org/drawingml/2006/main">
              <a:ext uri="{FF2B5EF4-FFF2-40B4-BE49-F238E27FC236}">
                <a16:creationId xmlns:a16="http://schemas.microsoft.com/office/drawing/2014/main" id="{DD47D31A-F816-40BD-99F3-2180F801DC21}"/>
              </a:ext>
            </a:extLst>
          </p:cNvPr>
          <p:cNvSpPr>
            <a:spLocks xmlns:a="http://schemas.openxmlformats.org/drawingml/2006/main" noGrp="1"/>
          </p:cNvSpPr>
          <p:nvPr/>
        </p:nvSpPr>
        <p:spPr>
          <a:xfrm xmlns:a="http://schemas.openxmlformats.org/drawingml/2006/main">
            <a:off x="2095111" y="8133961"/>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7.3-7.5</a:t>
            </a:r>
          </a:p>
        </p:txBody>
      </p:sp>
      <p:sp>
        <p:nvSpPr>
          <p:cNvPr id="16" name="slide-number">
            <a:extLst xmlns:a="http://schemas.openxmlformats.org/drawingml/2006/main">
              <a:ext uri="{FF2B5EF4-FFF2-40B4-BE49-F238E27FC236}">
                <a16:creationId xmlns:a16="http://schemas.microsoft.com/office/drawing/2014/main" id="{C0D54E7A-C4F2-4342-B771-5B9125A2FBC7}"/>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lide-number-24">
            <a:extLst xmlns:a="http://schemas.openxmlformats.org/drawingml/2006/main">
              <a:ext uri="{FF2B5EF4-FFF2-40B4-BE49-F238E27FC236}">
                <a16:creationId xmlns:a16="http://schemas.microsoft.com/office/drawing/2014/main" id="{A08BE5A4-DDB2-4713-8BD9-329CB62E2499}"/>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19</a:t>
            </a:r>
          </a:p>
        </p:txBody>
      </p:sp>
    </p:spTree>
    <p:extLst>
      <p:ext uri="{BB962C8B-B14F-4D97-AF65-F5344CB8AC3E}">
        <p14:creationId xmlns:p14="http://schemas.microsoft.com/office/powerpoint/2010/main" val="199941154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165" name="Rectangle 16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4" name="Rectangle 16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3" name="Rectangle 16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2" name="Rectangle 16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1" name="Rectangle 16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0" name="Rectangle 15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9" name="Rectangle 15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8" name="Rectangle 15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2095111" y="1961761"/>
            <a:ext cx="4000500" cy="2286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NEXT STEPS</a:t>
            </a:r>
          </a:p>
        </p:txBody>
      </p:sp>
      <p:sp>
        <p:nvSpPr>
          <p:cNvPr id="2" name="Rectangle 1">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2095111" y="2247511"/>
            <a:ext cx="11391900" cy="7810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next step is to model structure explicitly</a:t>
            </a:r>
          </a:p>
        </p:txBody>
      </p:sp>
      <p:sp>
        <p:nvSpPr>
          <p:cNvPr id="3" name="Rectangle 2">
            <a:extLst xmlns:a="http://schemas.openxmlformats.org/drawingml/2006/main">
              <a:ext uri="{FF2B5EF4-FFF2-40B4-BE49-F238E27FC236}">
                <a16:creationId xmlns:a16="http://schemas.microsoft.com/office/drawing/2014/main" id="{FA5279A7-3E94-4E76-88E6-D774EB88DA48}"/>
              </a:ext>
            </a:extLst>
          </p:cNvPr>
          <p:cNvSpPr>
            <a:spLocks xmlns:a="http://schemas.openxmlformats.org/drawingml/2006/main" noGrp="1"/>
          </p:cNvSpPr>
          <p:nvPr/>
        </p:nvSpPr>
        <p:spPr>
          <a:xfrm xmlns:a="http://schemas.openxmlformats.org/drawingml/2006/main">
            <a:off x="12982186" y="8076811"/>
            <a:ext cx="457200" cy="1905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20</a:t>
            </a:r>
          </a:p>
        </p:txBody>
      </p:sp>
      <p:cxnSp>
        <p:nvCxnSpPr>
          <p:cNvPr id="157" name="Straight Arrow Connector 152"/>
          <p:cNvCxnSpPr/>
          <p:nvPr/>
        </p:nvCxnSpPr>
        <p:spPr>
          <a:xfrm xmlns:a="http://schemas.openxmlformats.org/drawingml/2006/main">
            <a:off x="2438011" y="4743061"/>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Oval 4">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2790436" y="4657336"/>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6" name="Oval 5">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5409811" y="4657336"/>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7" name="Oval 6">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8029186" y="4657336"/>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8" name="Oval 7">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10648561" y="4657336"/>
            <a:ext cx="190500" cy="190500"/>
          </a:xfrm>
          <a:prstGeom xmlns:a="http://schemas.openxmlformats.org/drawingml/2006/main" prst="ellipse">
            <a:avLst/>
          </a:prstGeom>
          <a:solidFill xmlns:a="http://schemas.openxmlformats.org/drawingml/2006/main">
            <a:srgbClr val="7B1E3A"/>
          </a:solidFill>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2504686" y="4171561"/>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01</a:t>
            </a:r>
          </a:p>
        </p:txBody>
      </p:sp>
      <p:sp>
        <p:nvSpPr>
          <p:cNvPr id="10" name="Rectangle 9">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2266561" y="5076436"/>
            <a:ext cx="12382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Structural
covariates</a:t>
            </a:r>
          </a:p>
        </p:txBody>
      </p:sp>
      <p:sp>
        <p:nvSpPr>
          <p:cNvPr id="11" name="Rectangle 10">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2076061" y="5933686"/>
            <a:ext cx="16192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Planted area, quotas, producers</a:t>
            </a:r>
          </a:p>
        </p:txBody>
      </p:sp>
      <p:sp>
        <p:nvSpPr>
          <p:cNvPr id="12" name="Rectangle 11">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5124061" y="4171561"/>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02</a:t>
            </a:r>
          </a:p>
        </p:txBody>
      </p:sp>
      <p:sp>
        <p:nvSpPr>
          <p:cNvPr id="13" name="Rectangle 12">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4647811" y="5076436"/>
            <a:ext cx="17145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Prospective
validation</a:t>
            </a:r>
          </a:p>
        </p:txBody>
      </p:sp>
      <p:sp>
        <p:nvSpPr>
          <p:cNvPr id="14" name="Rectangle 13">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4647811" y="5933686"/>
            <a:ext cx="17145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Pre-register the era-balanced hypothesis</a:t>
            </a:r>
          </a:p>
        </p:txBody>
      </p:sp>
      <p:sp>
        <p:nvSpPr>
          <p:cNvPr id="15" name="Rectangle 14">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7743436" y="4171561"/>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03</a:t>
            </a:r>
          </a:p>
        </p:txBody>
      </p:sp>
      <p:sp>
        <p:nvSpPr>
          <p:cNvPr id="16" name="Rectangle 15">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7457686" y="5076436"/>
            <a:ext cx="1428750" cy="666750"/>
          </a:xfrm>
          <a:prstGeom xmlns:a="http://schemas.openxmlformats.org/drawingml/2006/main" prst="rect">
            <a:avLst/>
          </a:prstGeom>
        </p:spPr>
        <p:txBody>
          <a:bodyPr xmlns:a="http://schemas.openxmlformats.org/drawingml/2006/main" lIns="0" tIns="0" rIns="0" bIns="0" anchor="t">
            <a:normAutofit fontScale="87031"/>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Higher spatial
resolution</a:t>
            </a:r>
          </a:p>
        </p:txBody>
      </p:sp>
      <p:sp>
        <p:nvSpPr>
          <p:cNvPr id="17" name="Rectangle 16">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7267186" y="5933686"/>
            <a:ext cx="180975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Capture within-region heterogeneity</a:t>
            </a:r>
          </a:p>
        </p:txBody>
      </p:sp>
      <p:sp>
        <p:nvSpPr>
          <p:cNvPr id="18" name="Rectangle 17">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10362811" y="4171561"/>
            <a:ext cx="762000" cy="2667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04</a:t>
            </a:r>
          </a:p>
        </p:txBody>
      </p:sp>
      <p:sp>
        <p:nvSpPr>
          <p:cNvPr id="19" name="Rectangle 18">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10124686" y="5076436"/>
            <a:ext cx="1428750" cy="666750"/>
          </a:xfrm>
          <a:prstGeom xmlns:a="http://schemas.openxmlformats.org/drawingml/2006/main" prst="rect">
            <a:avLst/>
          </a:prstGeom>
        </p:spPr>
        <p:txBody>
          <a:bodyPr xmlns:a="http://schemas.openxmlformats.org/drawingml/2006/main" lIns="0" tIns="0" rIns="0" bIns="0" anchor="t">
            <a:normAutofit fontScale="9531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Other regions</a:t>
            </a:r>
          </a:p>
          <a:p xmlns:a="http://schemas.openxmlformats.org/drawingml/2006/main">
            <a:pPr algn="ctr">
              <a:buNone/>
              <a:defRPr sz="1800" b="1">
                <a:solidFill>
                  <a:srgbClr val="151515"/>
                </a:solidFill>
                <a:latin typeface="Arial"/>
                <a:ea typeface="Arial"/>
                <a:cs typeface="Arial"/>
              </a:defRPr>
            </a:pPr>
            <a:r>
              <a:t>&amp; lower trend</a:t>
            </a:r>
          </a:p>
        </p:txBody>
      </p:sp>
      <p:sp>
        <p:nvSpPr>
          <p:cNvPr id="20" name="Rectangle 19">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9886561" y="5933686"/>
            <a:ext cx="1905000" cy="666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Test time series with weaker structural trends</a:t>
            </a:r>
          </a:p>
        </p:txBody>
      </p:sp>
      <p:sp>
        <p:nvSpPr>
          <p:cNvPr id="21" name="Rectangle 20">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1696311" y="3838186"/>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2" name="Rectangle 21">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1915386" y="4152511"/>
            <a:ext cx="1143000" cy="2286000"/>
          </a:xfrm>
          <a:prstGeom xmlns:a="http://schemas.openxmlformats.org/drawingml/2006/main" prst="rect">
            <a:avLst/>
          </a:prstGeom>
        </p:spPr>
        <p:txBody>
          <a:bodyPr xmlns:a="http://schemas.openxmlformats.org/drawingml/2006/main" lIns="0" tIns="0" rIns="0" bIns="0" anchor="t">
            <a:normAutofit fontScale="84423" lnSpcReduction="10000"/>
          </a:bodyPr>
          <a:lstStyle xmlns:a="http://schemas.openxmlformats.org/drawingml/2006/main"/>
          <a:p xmlns:a="http://schemas.openxmlformats.org/drawingml/2006/main">
            <a:pPr algn="ctr">
              <a:buNone/>
              <a:defRPr sz="1950" b="1">
                <a:solidFill>
                  <a:srgbClr val="FFFFFF"/>
                </a:solidFill>
                <a:latin typeface="Arial"/>
                <a:ea typeface="Arial"/>
                <a:cs typeface="Arial"/>
              </a:defRPr>
            </a:pPr>
            <a:r>
              <a:t>Rules can
explain the
past.
Structure
determines
whether they
predict the
future.</a:t>
            </a:r>
          </a:p>
        </p:txBody>
      </p:sp>
      <p:sp>
        <p:nvSpPr>
          <p:cNvPr id="23" name="Rectangle 22">
            <a:extLst xmlns:a="http://schemas.openxmlformats.org/drawingml/2006/main">
              <a:ext uri="{FF2B5EF4-FFF2-40B4-BE49-F238E27FC236}">
                <a16:creationId xmlns:a16="http://schemas.microsoft.com/office/drawing/2014/main" id="{4D77A11E-C793-42B0-97FB-464BC7C9B861}"/>
              </a:ext>
            </a:extLst>
          </p:cNvPr>
          <p:cNvSpPr>
            <a:spLocks xmlns:a="http://schemas.openxmlformats.org/drawingml/2006/main" noGrp="1"/>
          </p:cNvSpPr>
          <p:nvPr/>
        </p:nvSpPr>
        <p:spPr>
          <a:xfrm xmlns:a="http://schemas.openxmlformats.org/drawingml/2006/main">
            <a:off x="2095111" y="7314811"/>
            <a:ext cx="5715000" cy="619125"/>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3900" b="1">
                <a:solidFill>
                  <a:srgbClr val="151515"/>
                </a:solidFill>
                <a:latin typeface="Arial"/>
                <a:ea typeface="Arial"/>
                <a:cs typeface="Arial"/>
              </a:defRPr>
            </a:pPr>
            <a:r>
              <a:t>Thank you</a:t>
            </a:r>
          </a:p>
        </p:txBody>
      </p:sp>
      <p:sp>
        <p:nvSpPr>
          <p:cNvPr id="24" name="Rectangle 23">
            <a:extLst xmlns:a="http://schemas.openxmlformats.org/drawingml/2006/main">
              <a:ext uri="{FF2B5EF4-FFF2-40B4-BE49-F238E27FC236}">
                <a16:creationId xmlns:a16="http://schemas.microsoft.com/office/drawing/2014/main" id="{47D97F6F-3F07-4C79-BD93-EECA18D2BEB9}"/>
              </a:ext>
            </a:extLst>
          </p:cNvPr>
          <p:cNvSpPr>
            <a:spLocks xmlns:a="http://schemas.openxmlformats.org/drawingml/2006/main" noGrp="1"/>
          </p:cNvSpPr>
          <p:nvPr/>
        </p:nvSpPr>
        <p:spPr>
          <a:xfrm xmlns:a="http://schemas.openxmlformats.org/drawingml/2006/main">
            <a:off x="2095111" y="7867261"/>
            <a:ext cx="2857500" cy="2857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1650" b="0">
                <a:solidFill>
                  <a:srgbClr val="60656C"/>
                </a:solidFill>
                <a:latin typeface="Arial"/>
                <a:ea typeface="Arial"/>
                <a:cs typeface="Arial"/>
              </a:defRPr>
            </a:pPr>
            <a:r>
              <a:t>Questions</a:t>
            </a:r>
          </a:p>
        </p:txBody>
      </p:sp>
      <p:sp>
        <p:nvSpPr>
          <p:cNvPr id="25" name="Rectangle 24">
            <a:extLst xmlns:a="http://schemas.openxmlformats.org/drawingml/2006/main">
              <a:ext uri="{FF2B5EF4-FFF2-40B4-BE49-F238E27FC236}">
                <a16:creationId xmlns:a16="http://schemas.microsoft.com/office/drawing/2014/main" id="{09A4EE68-10AB-4998-BD8F-EF7D0ABD867B}"/>
              </a:ext>
            </a:extLst>
          </p:cNvPr>
          <p:cNvSpPr>
            <a:spLocks xmlns:a="http://schemas.openxmlformats.org/drawingml/2006/main" noGrp="1"/>
          </p:cNvSpPr>
          <p:nvPr/>
        </p:nvSpPr>
        <p:spPr>
          <a:xfrm xmlns:a="http://schemas.openxmlformats.org/drawingml/2006/main">
            <a:off x="5505061" y="8133961"/>
            <a:ext cx="4762500" cy="1714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7.4–7.5</a:t>
            </a:r>
          </a:p>
        </p:txBody>
      </p:sp>
    </p:spTree>
    <p:extLst>
      <p:ext uri="{BB962C8B-B14F-4D97-AF65-F5344CB8AC3E}">
        <p14:creationId xmlns:p14="http://schemas.microsoft.com/office/powerpoint/2010/main" val="198458009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8" name="Rectangle 47"/>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6621ED49-608C-4C89-8520-A730C0BF3E59}"/>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A real signal, drowning in noise</a:t>
            </a:r>
          </a:p>
        </p:txBody>
      </p:sp>
      <p:sp>
        <p:nvSpPr>
          <p:cNvPr id="3" name="Shape 1">
            <a:extLst xmlns:a="http://schemas.openxmlformats.org/drawingml/2006/main">
              <a:ext uri="{FF2B5EF4-FFF2-40B4-BE49-F238E27FC236}">
                <a16:creationId xmlns:a16="http://schemas.microsoft.com/office/drawing/2014/main" id="{4DAB4448-5D73-40AD-BBA4-71A6695ADAE0}"/>
              </a:ext>
            </a:extLst>
          </p:cNvPr>
          <p:cNvSpPr>
            <a:spLocks xmlns:a="http://schemas.openxmlformats.org/drawingml/2006/main" noGrp="1"/>
          </p:cNvSpPr>
          <p:nvPr/>
        </p:nvSpPr>
        <p:spPr>
          <a:xfrm xmlns:a="http://schemas.openxmlformats.org/drawingml/2006/main">
            <a:off x="12018637"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57CFF89-3E85-405A-AEE6-BDDA6ED0F408}"/>
              </a:ext>
            </a:extLst>
          </p:cNvPr>
          <p:cNvSpPr>
            <a:spLocks xmlns:a="http://schemas.openxmlformats.org/drawingml/2006/main" noGrp="1"/>
          </p:cNvSpPr>
          <p:nvPr/>
        </p:nvSpPr>
        <p:spPr>
          <a:xfrm xmlns:a="http://schemas.openxmlformats.org/drawingml/2006/main">
            <a:off x="12352393"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86EC8EA-ED38-4A6E-9F12-2B3CC260808B}"/>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C8BA9CCF-9EF7-4FBF-BEE7-1BEB4F699BD0}"/>
              </a:ext>
            </a:extLst>
          </p:cNvPr>
          <p:cNvSpPr>
            <a:spLocks xmlns:a="http://schemas.openxmlformats.org/drawingml/2006/main" noGrp="1"/>
          </p:cNvSpPr>
          <p:nvPr/>
        </p:nvSpPr>
        <p:spPr>
          <a:xfrm xmlns:a="http://schemas.openxmlformats.org/drawingml/2006/main">
            <a:off x="12974185"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78150044-3BC9-446F-A3F9-F2F02B6D4F7B}"/>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3EA352E-925B-4B4F-8C68-7DC7DAFAB73E}"/>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xmlns:a="http://schemas.openxmlformats.org/drawingml/2006/main">
              <a:ext uri="{FF2B5EF4-FFF2-40B4-BE49-F238E27FC236}">
                <a16:creationId xmlns:a16="http://schemas.microsoft.com/office/drawing/2014/main" id="{F5CCBE23-663D-4F5D-87F2-A652649418B0}"/>
              </a:ext>
            </a:extLst>
          </p:cNvPr>
          <p:cNvSpPr>
            <a:spLocks xmlns:a="http://schemas.openxmlformats.org/drawingml/2006/main" noGrp="1"/>
          </p:cNvSpPr>
          <p:nvPr/>
        </p:nvSpPr>
        <p:spPr>
          <a:xfrm xmlns:a="http://schemas.openxmlformats.org/drawingml/2006/main">
            <a:off x="2335141" y="3432421"/>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6D2E46"/>
                </a:solidFill>
                <a:latin typeface="Cambria"/>
                <a:ea typeface="Cambria"/>
                <a:cs typeface="Cambria"/>
              </a:rPr>
              <a:t>r ≈ 0.47</a:t>
            </a:r>
          </a:p>
        </p:txBody>
      </p:sp>
      <p:sp>
        <p:nvSpPr>
          <p:cNvPr id="10" name="Text 8">
            <a:extLst xmlns:a="http://schemas.openxmlformats.org/drawingml/2006/main">
              <a:ext uri="{FF2B5EF4-FFF2-40B4-BE49-F238E27FC236}">
                <a16:creationId xmlns:a16="http://schemas.microsoft.com/office/drawing/2014/main" id="{59594F88-D6B0-40F5-B1C0-7A5EDD88BF1E}"/>
              </a:ext>
            </a:extLst>
          </p:cNvPr>
          <p:cNvSpPr>
            <a:spLocks xmlns:a="http://schemas.openxmlformats.org/drawingml/2006/main" noGrp="1"/>
          </p:cNvSpPr>
          <p:nvPr/>
        </p:nvSpPr>
        <p:spPr>
          <a:xfrm xmlns:a="http://schemas.openxmlformats.org/drawingml/2006/main">
            <a:off x="2335141" y="4090789"/>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Climate–production correlation — the signal is real</a:t>
            </a:r>
          </a:p>
        </p:txBody>
      </p:sp>
      <p:sp>
        <p:nvSpPr>
          <p:cNvPr id="11" name="Text 9">
            <a:extLst xmlns:a="http://schemas.openxmlformats.org/drawingml/2006/main">
              <a:ext uri="{FF2B5EF4-FFF2-40B4-BE49-F238E27FC236}">
                <a16:creationId xmlns:a16="http://schemas.microsoft.com/office/drawing/2014/main" id="{EB050487-D94F-4F0B-B81B-3D8B9FAF8FDC}"/>
              </a:ext>
            </a:extLst>
          </p:cNvPr>
          <p:cNvSpPr>
            <a:spLocks xmlns:a="http://schemas.openxmlformats.org/drawingml/2006/main" noGrp="1"/>
          </p:cNvSpPr>
          <p:nvPr/>
        </p:nvSpPr>
        <p:spPr>
          <a:xfrm xmlns:a="http://schemas.openxmlformats.org/drawingml/2006/main">
            <a:off x="2335141" y="4758301"/>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5E7148"/>
                </a:solidFill>
                <a:latin typeface="Cambria"/>
                <a:ea typeface="Cambria"/>
                <a:cs typeface="Cambria"/>
              </a:rPr>
              <a:t>~22%</a:t>
            </a:r>
          </a:p>
        </p:txBody>
      </p:sp>
      <p:sp>
        <p:nvSpPr>
          <p:cNvPr id="12" name="Text 10">
            <a:extLst xmlns:a="http://schemas.openxmlformats.org/drawingml/2006/main">
              <a:ext uri="{FF2B5EF4-FFF2-40B4-BE49-F238E27FC236}">
                <a16:creationId xmlns:a16="http://schemas.microsoft.com/office/drawing/2014/main" id="{8AB6D84D-9B3F-49A1-A161-7398C4E19311}"/>
              </a:ext>
            </a:extLst>
          </p:cNvPr>
          <p:cNvSpPr>
            <a:spLocks xmlns:a="http://schemas.openxmlformats.org/drawingml/2006/main" noGrp="1"/>
          </p:cNvSpPr>
          <p:nvPr/>
        </p:nvSpPr>
        <p:spPr>
          <a:xfrm xmlns:a="http://schemas.openxmlformats.org/drawingml/2006/main">
            <a:off x="2335141" y="5416669"/>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of residual variance is explainable by climate</a:t>
            </a:r>
          </a:p>
        </p:txBody>
      </p:sp>
      <p:sp>
        <p:nvSpPr>
          <p:cNvPr id="13" name="Text 11">
            <a:extLst xmlns:a="http://schemas.openxmlformats.org/drawingml/2006/main">
              <a:ext uri="{FF2B5EF4-FFF2-40B4-BE49-F238E27FC236}">
                <a16:creationId xmlns:a16="http://schemas.microsoft.com/office/drawing/2014/main" id="{C4726D23-D5DB-478D-B9F1-6D43FCD61A9D}"/>
              </a:ext>
            </a:extLst>
          </p:cNvPr>
          <p:cNvSpPr>
            <a:spLocks xmlns:a="http://schemas.openxmlformats.org/drawingml/2006/main" noGrp="1"/>
          </p:cNvSpPr>
          <p:nvPr/>
        </p:nvSpPr>
        <p:spPr>
          <a:xfrm xmlns:a="http://schemas.openxmlformats.org/drawingml/2006/main">
            <a:off x="2335141" y="6084181"/>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2E39"/>
                </a:solidFill>
                <a:latin typeface="Cambria"/>
                <a:ea typeface="Cambria"/>
                <a:cs typeface="Cambria"/>
              </a:rPr>
              <a:t>CV ≈ 47%</a:t>
            </a:r>
          </a:p>
        </p:txBody>
      </p:sp>
      <p:sp>
        <p:nvSpPr>
          <p:cNvPr id="14" name="Text 12">
            <a:extLst xmlns:a="http://schemas.openxmlformats.org/drawingml/2006/main">
              <a:ext uri="{FF2B5EF4-FFF2-40B4-BE49-F238E27FC236}">
                <a16:creationId xmlns:a16="http://schemas.microsoft.com/office/drawing/2014/main" id="{CF54353F-3C04-479F-9D79-E654AA73F757}"/>
              </a:ext>
            </a:extLst>
          </p:cNvPr>
          <p:cNvSpPr>
            <a:spLocks xmlns:a="http://schemas.openxmlformats.org/drawingml/2006/main" noGrp="1"/>
          </p:cNvSpPr>
          <p:nvPr/>
        </p:nvSpPr>
        <p:spPr>
          <a:xfrm xmlns:a="http://schemas.openxmlformats.org/drawingml/2006/main">
            <a:off x="2335141" y="6742549"/>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Year-to-year swing — the noise the signal hides in</a:t>
            </a:r>
          </a:p>
        </p:txBody>
      </p:sp>
      <p:sp>
        <p:nvSpPr>
          <p:cNvPr id="15" name="Text 13">
            <a:extLst xmlns:a="http://schemas.openxmlformats.org/drawingml/2006/main">
              <a:ext uri="{FF2B5EF4-FFF2-40B4-BE49-F238E27FC236}">
                <a16:creationId xmlns:a16="http://schemas.microsoft.com/office/drawing/2014/main" id="{7738E433-04F0-49BB-84EC-88C37462166E}"/>
              </a:ext>
            </a:extLst>
          </p:cNvPr>
          <p:cNvSpPr>
            <a:spLocks xmlns:a="http://schemas.openxmlformats.org/drawingml/2006/main" noGrp="1"/>
          </p:cNvSpPr>
          <p:nvPr/>
        </p:nvSpPr>
        <p:spPr>
          <a:xfrm xmlns:a="http://schemas.openxmlformats.org/drawingml/2006/main">
            <a:off x="2335141" y="7227181"/>
            <a:ext cx="44805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xmlns:a="http://schemas.openxmlformats.org/drawingml/2006/main">
              <a:ext uri="{FF2B5EF4-FFF2-40B4-BE49-F238E27FC236}">
                <a16:creationId xmlns:a16="http://schemas.microsoft.com/office/drawing/2014/main" id="{21BDBFC0-2C81-4D5E-A734-E324C36C6CCF}"/>
              </a:ext>
            </a:extLst>
          </p:cNvPr>
          <p:cNvSpPr>
            <a:spLocks xmlns:a="http://schemas.openxmlformats.org/drawingml/2006/main" noGrp="1"/>
          </p:cNvSpPr>
          <p:nvPr/>
        </p:nvSpPr>
        <p:spPr>
          <a:xfrm xmlns:a="http://schemas.openxmlformats.org/drawingml/2006/main">
            <a:off x="8095861" y="3267829"/>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2E39"/>
                </a:solidFill>
                <a:latin typeface="Calibri"/>
                <a:ea typeface="Calibri"/>
                <a:cs typeface="Calibri"/>
              </a:rPr>
              <a:t>Douro (RDD) — gradual rise +80%</a:t>
            </a:r>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35c895c2d8f54455"/>
          <a:stretch xmlns:a="http://schemas.openxmlformats.org/drawingml/2006/main">
            <a:fillRect l="0" t="0" r="0" b="0"/>
          </a:stretch>
        </p:blipFill>
        <p:spPr>
          <a:xfrm xmlns:a="http://schemas.openxmlformats.org/drawingml/2006/main">
            <a:off x="8095861" y="3542149"/>
            <a:ext cx="5029200" cy="2095500"/>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ADCB3BC5-6CF2-4E4A-80A6-1A6F5E0F62C5}"/>
              </a:ext>
            </a:extLst>
          </p:cNvPr>
          <p:cNvSpPr>
            <a:spLocks xmlns:a="http://schemas.openxmlformats.org/drawingml/2006/main" noGrp="1"/>
          </p:cNvSpPr>
          <p:nvPr/>
        </p:nvSpPr>
        <p:spPr>
          <a:xfrm xmlns:a="http://schemas.openxmlformats.org/drawingml/2006/main">
            <a:off x="8095861" y="5756521"/>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5E7148"/>
                </a:solidFill>
                <a:latin typeface="Calibri"/>
                <a:ea typeface="Calibri"/>
                <a:cs typeface="Calibri"/>
              </a:rPr>
              <a:t>Vinho Verde (RVV) — structural fall −65%</a:t>
            </a:r>
          </a:p>
        </p:txBody>
      </p:sp>
      <p:pic>
        <p:nvPicPr>
          <p:cNvPr id="40" name="Image 1"/>
          <p:cNvPicPr>
            <a:picLocks xmlns:a="http://schemas.openxmlformats.org/drawingml/2006/main" noChangeAspect="1"/>
          </p:cNvPicPr>
          <p:nvPr/>
        </p:nvPicPr>
        <p:blipFill>
          <a:blip xmlns:r="http://schemas.openxmlformats.org/officeDocument/2006/relationships" xmlns:a="http://schemas.openxmlformats.org/drawingml/2006/main" r:embed="R0263d40e529a48ce"/>
          <a:stretch xmlns:a="http://schemas.openxmlformats.org/drawingml/2006/main">
            <a:fillRect l="0" t="0" r="0" b="0"/>
          </a:stretch>
        </p:blipFill>
        <p:spPr>
          <a:xfrm xmlns:a="http://schemas.openxmlformats.org/drawingml/2006/main">
            <a:off x="8095861" y="6030841"/>
            <a:ext cx="5029200" cy="20955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DA430B3-2870-46C5-97E0-0033CF6B7EBF}"/>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60360179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5" name="Rectangle 4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6E3DB97B-CADE-4090-90E0-ACA307BBB690}"/>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The inputs move too — the climate is non-stationary</a:t>
            </a:r>
          </a:p>
        </p:txBody>
      </p:sp>
      <p:sp>
        <p:nvSpPr>
          <p:cNvPr id="3" name="Shape 1">
            <a:extLst xmlns:a="http://schemas.openxmlformats.org/drawingml/2006/main">
              <a:ext uri="{FF2B5EF4-FFF2-40B4-BE49-F238E27FC236}">
                <a16:creationId xmlns:a16="http://schemas.microsoft.com/office/drawing/2014/main" id="{3AFE4328-77C6-4F1D-8DA2-EBCF6468B2C8}"/>
              </a:ext>
            </a:extLst>
          </p:cNvPr>
          <p:cNvSpPr>
            <a:spLocks xmlns:a="http://schemas.openxmlformats.org/drawingml/2006/main" noGrp="1"/>
          </p:cNvSpPr>
          <p:nvPr/>
        </p:nvSpPr>
        <p:spPr>
          <a:xfrm xmlns:a="http://schemas.openxmlformats.org/drawingml/2006/main">
            <a:off x="12018637"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A133609-1D54-486E-8416-D708534BDB59}"/>
              </a:ext>
            </a:extLst>
          </p:cNvPr>
          <p:cNvSpPr>
            <a:spLocks xmlns:a="http://schemas.openxmlformats.org/drawingml/2006/main" noGrp="1"/>
          </p:cNvSpPr>
          <p:nvPr/>
        </p:nvSpPr>
        <p:spPr>
          <a:xfrm xmlns:a="http://schemas.openxmlformats.org/drawingml/2006/main">
            <a:off x="12352393"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F99E3A8-D18E-4F39-928B-C3203F6EF080}"/>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BEA9256E-E809-4EDC-8055-9DA7F167EDE6}"/>
              </a:ext>
            </a:extLst>
          </p:cNvPr>
          <p:cNvSpPr>
            <a:spLocks xmlns:a="http://schemas.openxmlformats.org/drawingml/2006/main" noGrp="1"/>
          </p:cNvSpPr>
          <p:nvPr/>
        </p:nvSpPr>
        <p:spPr>
          <a:xfrm xmlns:a="http://schemas.openxmlformats.org/drawingml/2006/main">
            <a:off x="12974185"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FA2FAECE-4D76-4F49-8C25-BF2EBEBCD8DA}"/>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48B8B05B-A0CD-4FDE-AE2B-828C1F5C9B82}"/>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xmlns:a="http://schemas.openxmlformats.org/drawingml/2006/main">
              <a:ext uri="{FF2B5EF4-FFF2-40B4-BE49-F238E27FC236}">
                <a16:creationId xmlns:a16="http://schemas.microsoft.com/office/drawing/2014/main" id="{85066A82-70D2-4CB4-AE32-1F5D9B762DD5}"/>
              </a:ext>
            </a:extLst>
          </p:cNvPr>
          <p:cNvSpPr>
            <a:spLocks xmlns:a="http://schemas.openxmlformats.org/drawingml/2006/main" noGrp="1"/>
          </p:cNvSpPr>
          <p:nvPr/>
        </p:nvSpPr>
        <p:spPr>
          <a:xfrm xmlns:a="http://schemas.openxmlformats.org/drawingml/2006/main">
            <a:off x="2243701" y="3267829"/>
            <a:ext cx="45720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xmlns:a="http://schemas.openxmlformats.org/drawingml/2006/main">
              <a:ext uri="{FF2B5EF4-FFF2-40B4-BE49-F238E27FC236}">
                <a16:creationId xmlns:a16="http://schemas.microsoft.com/office/drawing/2014/main" id="{5FC16AAB-C4AC-4B73-B0AE-4F7DEFC37DCC}"/>
              </a:ext>
            </a:extLst>
          </p:cNvPr>
          <p:cNvSpPr>
            <a:spLocks xmlns:a="http://schemas.openxmlformats.org/drawingml/2006/main" noGrp="1"/>
          </p:cNvSpPr>
          <p:nvPr/>
        </p:nvSpPr>
        <p:spPr>
          <a:xfrm xmlns:a="http://schemas.openxmlformats.org/drawingml/2006/main">
            <a:off x="2243701" y="4209661"/>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2E39"/>
                </a:solidFill>
                <a:latin typeface="Cambria"/>
                <a:ea typeface="Cambria"/>
                <a:cs typeface="Cambria"/>
              </a:rPr>
              <a:t>+44%</a:t>
            </a:r>
          </a:p>
        </p:txBody>
      </p:sp>
      <p:sp>
        <p:nvSpPr>
          <p:cNvPr id="11" name="Text 9">
            <a:extLst xmlns:a="http://schemas.openxmlformats.org/drawingml/2006/main">
              <a:ext uri="{FF2B5EF4-FFF2-40B4-BE49-F238E27FC236}">
                <a16:creationId xmlns:a16="http://schemas.microsoft.com/office/drawing/2014/main" id="{D225476D-95F1-4B47-B3E2-81B59D8FC564}"/>
              </a:ext>
            </a:extLst>
          </p:cNvPr>
          <p:cNvSpPr>
            <a:spLocks xmlns:a="http://schemas.openxmlformats.org/drawingml/2006/main" noGrp="1"/>
          </p:cNvSpPr>
          <p:nvPr/>
        </p:nvSpPr>
        <p:spPr>
          <a:xfrm xmlns:a="http://schemas.openxmlformats.org/drawingml/2006/main">
            <a:off x="2243701" y="4868029"/>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Heat days &gt;35°C:  17.6 → 25.4 per year</a:t>
            </a:r>
          </a:p>
        </p:txBody>
      </p:sp>
      <p:sp>
        <p:nvSpPr>
          <p:cNvPr id="12" name="Text 10">
            <a:extLst xmlns:a="http://schemas.openxmlformats.org/drawingml/2006/main">
              <a:ext uri="{FF2B5EF4-FFF2-40B4-BE49-F238E27FC236}">
                <a16:creationId xmlns:a16="http://schemas.microsoft.com/office/drawing/2014/main" id="{328E3618-12C5-40F9-B0F1-E22A179E4D66}"/>
              </a:ext>
            </a:extLst>
          </p:cNvPr>
          <p:cNvSpPr>
            <a:spLocks xmlns:a="http://schemas.openxmlformats.org/drawingml/2006/main" noGrp="1"/>
          </p:cNvSpPr>
          <p:nvPr/>
        </p:nvSpPr>
        <p:spPr>
          <a:xfrm xmlns:a="http://schemas.openxmlformats.org/drawingml/2006/main">
            <a:off x="2243701" y="5334373"/>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6D2E46"/>
                </a:solidFill>
                <a:latin typeface="Cambria"/>
                <a:ea typeface="Cambria"/>
                <a:cs typeface="Cambria"/>
              </a:rPr>
              <a:t>−56%</a:t>
            </a:r>
          </a:p>
        </p:txBody>
      </p:sp>
      <p:sp>
        <p:nvSpPr>
          <p:cNvPr id="13" name="Text 11">
            <a:extLst xmlns:a="http://schemas.openxmlformats.org/drawingml/2006/main">
              <a:ext uri="{FF2B5EF4-FFF2-40B4-BE49-F238E27FC236}">
                <a16:creationId xmlns:a16="http://schemas.microsoft.com/office/drawing/2014/main" id="{E66FA88D-39FA-4674-A84B-6A0961414BD0}"/>
              </a:ext>
            </a:extLst>
          </p:cNvPr>
          <p:cNvSpPr>
            <a:spLocks xmlns:a="http://schemas.openxmlformats.org/drawingml/2006/main" noGrp="1"/>
          </p:cNvSpPr>
          <p:nvPr/>
        </p:nvSpPr>
        <p:spPr>
          <a:xfrm xmlns:a="http://schemas.openxmlformats.org/drawingml/2006/main">
            <a:off x="2243701" y="5992741"/>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Frost days &lt;0°C:  18.8 → 8.3 per year</a:t>
            </a:r>
          </a:p>
        </p:txBody>
      </p:sp>
      <p:sp>
        <p:nvSpPr>
          <p:cNvPr id="14" name="Text 12">
            <a:extLst xmlns:a="http://schemas.openxmlformats.org/drawingml/2006/main">
              <a:ext uri="{FF2B5EF4-FFF2-40B4-BE49-F238E27FC236}">
                <a16:creationId xmlns:a16="http://schemas.microsoft.com/office/drawing/2014/main" id="{C36BAE80-6DDE-42E6-B426-01B6926E96FE}"/>
              </a:ext>
            </a:extLst>
          </p:cNvPr>
          <p:cNvSpPr>
            <a:spLocks xmlns:a="http://schemas.openxmlformats.org/drawingml/2006/main" noGrp="1"/>
          </p:cNvSpPr>
          <p:nvPr/>
        </p:nvSpPr>
        <p:spPr>
          <a:xfrm xmlns:a="http://schemas.openxmlformats.org/drawingml/2006/main">
            <a:off x="2243701" y="6459085"/>
            <a:ext cx="4572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800" b="1">
                <a:solidFill>
                  <a:srgbClr val="7A6F5E"/>
                </a:solidFill>
                <a:latin typeface="Cambria"/>
                <a:ea typeface="Cambria"/>
                <a:cs typeface="Cambria"/>
              </a:rPr>
              <a:t>−7%</a:t>
            </a:r>
          </a:p>
        </p:txBody>
      </p:sp>
      <p:sp>
        <p:nvSpPr>
          <p:cNvPr id="15" name="Text 13">
            <a:extLst xmlns:a="http://schemas.openxmlformats.org/drawingml/2006/main">
              <a:ext uri="{FF2B5EF4-FFF2-40B4-BE49-F238E27FC236}">
                <a16:creationId xmlns:a16="http://schemas.microsoft.com/office/drawing/2014/main" id="{30184BFD-B083-4454-82D9-AF3C2FD67B92}"/>
              </a:ext>
            </a:extLst>
          </p:cNvPr>
          <p:cNvSpPr>
            <a:spLocks xmlns:a="http://schemas.openxmlformats.org/drawingml/2006/main" noGrp="1"/>
          </p:cNvSpPr>
          <p:nvPr/>
        </p:nvSpPr>
        <p:spPr>
          <a:xfrm xmlns:a="http://schemas.openxmlformats.org/drawingml/2006/main">
            <a:off x="2243701" y="7117453"/>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2B2320"/>
                </a:solidFill>
                <a:latin typeface="Calibri"/>
                <a:ea typeface="Calibri"/>
                <a:cs typeface="Calibri"/>
              </a:rPr>
              <a:t>Annual rainfall:  859 → 798 mm</a:t>
            </a:r>
          </a:p>
        </p:txBody>
      </p:sp>
      <p:sp>
        <p:nvSpPr>
          <p:cNvPr id="16" name="Text 14">
            <a:extLst xmlns:a="http://schemas.openxmlformats.org/drawingml/2006/main">
              <a:ext uri="{FF2B5EF4-FFF2-40B4-BE49-F238E27FC236}">
                <a16:creationId xmlns:a16="http://schemas.microsoft.com/office/drawing/2014/main" id="{697BF7E2-0B23-4DE7-9E0D-3FA2400E9500}"/>
              </a:ext>
            </a:extLst>
          </p:cNvPr>
          <p:cNvSpPr>
            <a:spLocks xmlns:a="http://schemas.openxmlformats.org/drawingml/2006/main" noGrp="1"/>
          </p:cNvSpPr>
          <p:nvPr/>
        </p:nvSpPr>
        <p:spPr>
          <a:xfrm xmlns:a="http://schemas.openxmlformats.org/drawingml/2006/main">
            <a:off x="2243701" y="7501501"/>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6F5E"/>
                </a:solidFill>
                <a:latin typeface="Calibri"/>
                <a:ea typeface="Calibri"/>
                <a:cs typeface="Calibri"/>
              </a:rPr>
              <a:t>early vs late 30-year means, RDD</a:t>
            </a:r>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472953a418d3412a"/>
          <a:stretch xmlns:a="http://schemas.openxmlformats.org/drawingml/2006/main">
            <a:fillRect l="0" t="0" r="0" b="0"/>
          </a:stretch>
        </p:blipFill>
        <p:spPr>
          <a:xfrm xmlns:a="http://schemas.openxmlformats.org/drawingml/2006/main">
            <a:off x="7090021" y="3523861"/>
            <a:ext cx="6263640" cy="3534786"/>
          </a:xfrm>
          <a:prstGeom xmlns:a="http://schemas.openxmlformats.org/drawingml/2006/main" prst="rect">
            <a:avLst/>
          </a:prstGeom>
        </p:spPr>
      </p:pic>
      <p:sp>
        <p:nvSpPr>
          <p:cNvPr id="18" name="Shape 15">
            <a:extLst xmlns:a="http://schemas.openxmlformats.org/drawingml/2006/main">
              <a:ext uri="{FF2B5EF4-FFF2-40B4-BE49-F238E27FC236}">
                <a16:creationId xmlns:a16="http://schemas.microsoft.com/office/drawing/2014/main" id="{CF284531-2B3B-4830-AD3D-3F92CE16123D}"/>
              </a:ext>
            </a:extLst>
          </p:cNvPr>
          <p:cNvSpPr>
            <a:spLocks xmlns:a="http://schemas.openxmlformats.org/drawingml/2006/main" noGrp="1"/>
          </p:cNvSpPr>
          <p:nvPr/>
        </p:nvSpPr>
        <p:spPr>
          <a:xfrm xmlns:a="http://schemas.openxmlformats.org/drawingml/2006/main">
            <a:off x="7090021" y="7168375"/>
            <a:ext cx="6263640" cy="713232"/>
          </a:xfrm>
          <a:prstGeom xmlns:a="http://schemas.openxmlformats.org/drawingml/2006/main" prst="roundRect">
            <a:avLst>
              <a:gd name="adj" fmla="val 10256"/>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F37B05AC-30A2-4087-A79E-757F098EE27A}"/>
              </a:ext>
            </a:extLst>
          </p:cNvPr>
          <p:cNvSpPr>
            <a:spLocks xmlns:a="http://schemas.openxmlformats.org/drawingml/2006/main" noGrp="1"/>
          </p:cNvSpPr>
          <p:nvPr/>
        </p:nvSpPr>
        <p:spPr>
          <a:xfrm xmlns:a="http://schemas.openxmlformats.org/drawingml/2006/main">
            <a:off x="7272901" y="7241527"/>
            <a:ext cx="5897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xmlns:a="http://schemas.openxmlformats.org/drawingml/2006/main">
              <a:ext uri="{FF2B5EF4-FFF2-40B4-BE49-F238E27FC236}">
                <a16:creationId xmlns:a16="http://schemas.microsoft.com/office/drawing/2014/main" id="{1903CE6F-31BF-4BA1-B0E7-2E265C6519FB}"/>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83145465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4" name="Rectangle 33"/>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907F6B14-E056-44BC-8B67-AB06034ECB5A}"/>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Two regions, opposite histories, one method</a:t>
            </a:r>
          </a:p>
        </p:txBody>
      </p:sp>
      <p:sp>
        <p:nvSpPr>
          <p:cNvPr id="3" name="Shape 1">
            <a:extLst xmlns:a="http://schemas.openxmlformats.org/drawingml/2006/main">
              <a:ext uri="{FF2B5EF4-FFF2-40B4-BE49-F238E27FC236}">
                <a16:creationId xmlns:a16="http://schemas.microsoft.com/office/drawing/2014/main" id="{40C00B47-47D6-4F8F-92A3-0119A5B42274}"/>
              </a:ext>
            </a:extLst>
          </p:cNvPr>
          <p:cNvSpPr>
            <a:spLocks xmlns:a="http://schemas.openxmlformats.org/drawingml/2006/main" noGrp="1"/>
          </p:cNvSpPr>
          <p:nvPr/>
        </p:nvSpPr>
        <p:spPr>
          <a:xfrm xmlns:a="http://schemas.openxmlformats.org/drawingml/2006/main">
            <a:off x="12018637"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9BDD8FB2-007D-448D-8540-72C8BFA9E998}"/>
              </a:ext>
            </a:extLst>
          </p:cNvPr>
          <p:cNvSpPr>
            <a:spLocks xmlns:a="http://schemas.openxmlformats.org/drawingml/2006/main" noGrp="1"/>
          </p:cNvSpPr>
          <p:nvPr/>
        </p:nvSpPr>
        <p:spPr>
          <a:xfrm xmlns:a="http://schemas.openxmlformats.org/drawingml/2006/main">
            <a:off x="12352393"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B27A0D5-7FEC-4363-956A-6FC9D03178C8}"/>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EE9FB33-B603-4C1C-A310-7CE5E127AAA1}"/>
              </a:ext>
            </a:extLst>
          </p:cNvPr>
          <p:cNvSpPr>
            <a:spLocks xmlns:a="http://schemas.openxmlformats.org/drawingml/2006/main" noGrp="1"/>
          </p:cNvSpPr>
          <p:nvPr/>
        </p:nvSpPr>
        <p:spPr>
          <a:xfrm xmlns:a="http://schemas.openxmlformats.org/drawingml/2006/main">
            <a:off x="12974185"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6B026762-9CD1-4EF4-BE9B-75FB6FFC1BC1}"/>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EDF1BDA6-9B65-4132-83D8-EF14E86B7677}"/>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xmlns:a="http://schemas.openxmlformats.org/drawingml/2006/main">
              <a:ext uri="{FF2B5EF4-FFF2-40B4-BE49-F238E27FC236}">
                <a16:creationId xmlns:a16="http://schemas.microsoft.com/office/drawing/2014/main" id="{96CB3B7D-3EBC-4100-8538-B1008817F8B0}"/>
              </a:ext>
            </a:extLst>
          </p:cNvPr>
          <p:cNvSpPr>
            <a:spLocks xmlns:a="http://schemas.openxmlformats.org/drawingml/2006/main" noGrp="1"/>
          </p:cNvSpPr>
          <p:nvPr/>
        </p:nvSpPr>
        <p:spPr>
          <a:xfrm xmlns:a="http://schemas.openxmlformats.org/drawingml/2006/main">
            <a:off x="2335141" y="3523861"/>
            <a:ext cx="5074920" cy="3383280"/>
          </a:xfrm>
          <a:prstGeom xmlns:a="http://schemas.openxmlformats.org/drawingml/2006/main" prst="roundRect">
            <a:avLst>
              <a:gd name="adj" fmla="val 2162"/>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5035B5F9-59FC-430F-8B93-FC7F567F9D00}"/>
              </a:ext>
            </a:extLst>
          </p:cNvPr>
          <p:cNvSpPr>
            <a:spLocks xmlns:a="http://schemas.openxmlformats.org/drawingml/2006/main" noGrp="1"/>
          </p:cNvSpPr>
          <p:nvPr/>
        </p:nvSpPr>
        <p:spPr>
          <a:xfrm xmlns:a="http://schemas.openxmlformats.org/drawingml/2006/main">
            <a:off x="2335141" y="3752461"/>
            <a:ext cx="5074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7A2E39"/>
                </a:solidFill>
                <a:latin typeface="Cambria"/>
                <a:ea typeface="Cambria"/>
                <a:cs typeface="Cambria"/>
              </a:rPr>
              <a:t>DOURO · RDD</a:t>
            </a:r>
          </a:p>
        </p:txBody>
      </p:sp>
      <p:sp>
        <p:nvSpPr>
          <p:cNvPr id="11" name="Shape 9">
            <a:extLst xmlns:a="http://schemas.openxmlformats.org/drawingml/2006/main">
              <a:ext uri="{FF2B5EF4-FFF2-40B4-BE49-F238E27FC236}">
                <a16:creationId xmlns:a16="http://schemas.microsoft.com/office/drawing/2014/main" id="{7EE9DE53-087D-47A9-A9F4-F57002434154}"/>
              </a:ext>
            </a:extLst>
          </p:cNvPr>
          <p:cNvSpPr>
            <a:spLocks xmlns:a="http://schemas.openxmlformats.org/drawingml/2006/main" noGrp="1"/>
          </p:cNvSpPr>
          <p:nvPr/>
        </p:nvSpPr>
        <p:spPr>
          <a:xfrm xmlns:a="http://schemas.openxmlformats.org/drawingml/2006/main">
            <a:off x="8141581" y="3523861"/>
            <a:ext cx="5074920" cy="3383280"/>
          </a:xfrm>
          <a:prstGeom xmlns:a="http://schemas.openxmlformats.org/drawingml/2006/main" prst="roundRect">
            <a:avLst>
              <a:gd name="adj" fmla="val 2162"/>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F43054CE-2A72-477F-82C9-7C0129CC32A2}"/>
              </a:ext>
            </a:extLst>
          </p:cNvPr>
          <p:cNvSpPr>
            <a:spLocks xmlns:a="http://schemas.openxmlformats.org/drawingml/2006/main" noGrp="1"/>
          </p:cNvSpPr>
          <p:nvPr/>
        </p:nvSpPr>
        <p:spPr>
          <a:xfrm xmlns:a="http://schemas.openxmlformats.org/drawingml/2006/main">
            <a:off x="8141581" y="3752461"/>
            <a:ext cx="5074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5E7148"/>
                </a:solidFill>
                <a:latin typeface="Cambria"/>
                <a:ea typeface="Cambria"/>
                <a:cs typeface="Cambria"/>
              </a:rPr>
              <a:t>VINHO VERDE · RVV</a:t>
            </a:r>
          </a:p>
        </p:txBody>
      </p:sp>
      <p:sp>
        <p:nvSpPr>
          <p:cNvPr id="13" name="Text 11">
            <a:extLst xmlns:a="http://schemas.openxmlformats.org/drawingml/2006/main">
              <a:ext uri="{FF2B5EF4-FFF2-40B4-BE49-F238E27FC236}">
                <a16:creationId xmlns:a16="http://schemas.microsoft.com/office/drawing/2014/main" id="{F779A1DE-9105-45EF-8CFB-2F8A5998668E}"/>
              </a:ext>
            </a:extLst>
          </p:cNvPr>
          <p:cNvSpPr>
            <a:spLocks xmlns:a="http://schemas.openxmlformats.org/drawingml/2006/main" noGrp="1"/>
          </p:cNvSpPr>
          <p:nvPr/>
        </p:nvSpPr>
        <p:spPr>
          <a:xfrm xmlns:a="http://schemas.openxmlformats.org/drawingml/2006/main">
            <a:off x="2335141" y="4374253"/>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PERIOD</a:t>
            </a:r>
          </a:p>
        </p:txBody>
      </p:sp>
      <p:sp>
        <p:nvSpPr>
          <p:cNvPr id="14" name="Text 12">
            <a:extLst xmlns:a="http://schemas.openxmlformats.org/drawingml/2006/main">
              <a:ext uri="{FF2B5EF4-FFF2-40B4-BE49-F238E27FC236}">
                <a16:creationId xmlns:a16="http://schemas.microsoft.com/office/drawing/2014/main" id="{F9C2F6A2-BC43-4AF2-83DA-AD25F86A8BF3}"/>
              </a:ext>
            </a:extLst>
          </p:cNvPr>
          <p:cNvSpPr>
            <a:spLocks xmlns:a="http://schemas.openxmlformats.org/drawingml/2006/main" noGrp="1"/>
          </p:cNvSpPr>
          <p:nvPr/>
        </p:nvSpPr>
        <p:spPr>
          <a:xfrm xmlns:a="http://schemas.openxmlformats.org/drawingml/2006/main">
            <a:off x="2518021" y="4611997"/>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1934–2022 · 89 years</a:t>
            </a:r>
          </a:p>
        </p:txBody>
      </p:sp>
      <p:sp>
        <p:nvSpPr>
          <p:cNvPr id="15" name="Text 13">
            <a:extLst xmlns:a="http://schemas.openxmlformats.org/drawingml/2006/main">
              <a:ext uri="{FF2B5EF4-FFF2-40B4-BE49-F238E27FC236}">
                <a16:creationId xmlns:a16="http://schemas.microsoft.com/office/drawing/2014/main" id="{C5689F38-56D1-4242-99E9-02A39EC982C8}"/>
              </a:ext>
            </a:extLst>
          </p:cNvPr>
          <p:cNvSpPr>
            <a:spLocks xmlns:a="http://schemas.openxmlformats.org/drawingml/2006/main" noGrp="1"/>
          </p:cNvSpPr>
          <p:nvPr/>
        </p:nvSpPr>
        <p:spPr>
          <a:xfrm xmlns:a="http://schemas.openxmlformats.org/drawingml/2006/main">
            <a:off x="8324461" y="4611997"/>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1942–2021 · 80 years</a:t>
            </a:r>
          </a:p>
        </p:txBody>
      </p:sp>
      <p:sp>
        <p:nvSpPr>
          <p:cNvPr id="16" name="Text 14">
            <a:extLst xmlns:a="http://schemas.openxmlformats.org/drawingml/2006/main">
              <a:ext uri="{FF2B5EF4-FFF2-40B4-BE49-F238E27FC236}">
                <a16:creationId xmlns:a16="http://schemas.microsoft.com/office/drawing/2014/main" id="{F8D00755-5CEA-4AD6-9A7F-8954FA470C7D}"/>
              </a:ext>
            </a:extLst>
          </p:cNvPr>
          <p:cNvSpPr>
            <a:spLocks xmlns:a="http://schemas.openxmlformats.org/drawingml/2006/main" noGrp="1"/>
          </p:cNvSpPr>
          <p:nvPr/>
        </p:nvSpPr>
        <p:spPr>
          <a:xfrm xmlns:a="http://schemas.openxmlformats.org/drawingml/2006/main">
            <a:off x="2335141" y="4996045"/>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PRODUCTION TREND</a:t>
            </a:r>
          </a:p>
        </p:txBody>
      </p:sp>
      <p:sp>
        <p:nvSpPr>
          <p:cNvPr id="17" name="Text 15">
            <a:extLst xmlns:a="http://schemas.openxmlformats.org/drawingml/2006/main">
              <a:ext uri="{FF2B5EF4-FFF2-40B4-BE49-F238E27FC236}">
                <a16:creationId xmlns:a16="http://schemas.microsoft.com/office/drawing/2014/main" id="{5E73E595-14CE-448D-907C-17961845FA4E}"/>
              </a:ext>
            </a:extLst>
          </p:cNvPr>
          <p:cNvSpPr>
            <a:spLocks xmlns:a="http://schemas.openxmlformats.org/drawingml/2006/main" noGrp="1"/>
          </p:cNvSpPr>
          <p:nvPr/>
        </p:nvSpPr>
        <p:spPr>
          <a:xfrm xmlns:a="http://schemas.openxmlformats.org/drawingml/2006/main">
            <a:off x="2518021" y="5233789"/>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+80% — gradual rise</a:t>
            </a:r>
          </a:p>
        </p:txBody>
      </p:sp>
      <p:sp>
        <p:nvSpPr>
          <p:cNvPr id="18" name="Text 16">
            <a:extLst xmlns:a="http://schemas.openxmlformats.org/drawingml/2006/main">
              <a:ext uri="{FF2B5EF4-FFF2-40B4-BE49-F238E27FC236}">
                <a16:creationId xmlns:a16="http://schemas.microsoft.com/office/drawing/2014/main" id="{7C066FF5-FA9C-4EB0-90A7-E31AFD9E7B22}"/>
              </a:ext>
            </a:extLst>
          </p:cNvPr>
          <p:cNvSpPr>
            <a:spLocks xmlns:a="http://schemas.openxmlformats.org/drawingml/2006/main" noGrp="1"/>
          </p:cNvSpPr>
          <p:nvPr/>
        </p:nvSpPr>
        <p:spPr>
          <a:xfrm xmlns:a="http://schemas.openxmlformats.org/drawingml/2006/main">
            <a:off x="8324461" y="5233789"/>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−65% — structural collapse</a:t>
            </a:r>
          </a:p>
        </p:txBody>
      </p:sp>
      <p:sp>
        <p:nvSpPr>
          <p:cNvPr id="19" name="Text 17">
            <a:extLst xmlns:a="http://schemas.openxmlformats.org/drawingml/2006/main">
              <a:ext uri="{FF2B5EF4-FFF2-40B4-BE49-F238E27FC236}">
                <a16:creationId xmlns:a16="http://schemas.microsoft.com/office/drawing/2014/main" id="{8CAE90E4-69E5-4DAC-BD17-7DDC8B947B53}"/>
              </a:ext>
            </a:extLst>
          </p:cNvPr>
          <p:cNvSpPr>
            <a:spLocks xmlns:a="http://schemas.openxmlformats.org/drawingml/2006/main" noGrp="1"/>
          </p:cNvSpPr>
          <p:nvPr/>
        </p:nvSpPr>
        <p:spPr>
          <a:xfrm xmlns:a="http://schemas.openxmlformats.org/drawingml/2006/main">
            <a:off x="2335141" y="5617837"/>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STRUCTURAL DRIVER</a:t>
            </a:r>
          </a:p>
        </p:txBody>
      </p:sp>
      <p:sp>
        <p:nvSpPr>
          <p:cNvPr id="20" name="Text 18">
            <a:extLst xmlns:a="http://schemas.openxmlformats.org/drawingml/2006/main">
              <a:ext uri="{FF2B5EF4-FFF2-40B4-BE49-F238E27FC236}">
                <a16:creationId xmlns:a16="http://schemas.microsoft.com/office/drawing/2014/main" id="{D0498BF2-30E1-4AFA-A533-F25D2CE275F0}"/>
              </a:ext>
            </a:extLst>
          </p:cNvPr>
          <p:cNvSpPr>
            <a:spLocks xmlns:a="http://schemas.openxmlformats.org/drawingml/2006/main" noGrp="1"/>
          </p:cNvSpPr>
          <p:nvPr/>
        </p:nvSpPr>
        <p:spPr>
          <a:xfrm xmlns:a="http://schemas.openxmlformats.org/drawingml/2006/main">
            <a:off x="2518021" y="5855581"/>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Port benefício quota (buffered)</a:t>
            </a:r>
          </a:p>
        </p:txBody>
      </p:sp>
      <p:sp>
        <p:nvSpPr>
          <p:cNvPr id="21" name="Text 19">
            <a:extLst xmlns:a="http://schemas.openxmlformats.org/drawingml/2006/main">
              <a:ext uri="{FF2B5EF4-FFF2-40B4-BE49-F238E27FC236}">
                <a16:creationId xmlns:a16="http://schemas.microsoft.com/office/drawing/2014/main" id="{1D58E9FE-A861-475E-A122-A543FCAB0BCA}"/>
              </a:ext>
            </a:extLst>
          </p:cNvPr>
          <p:cNvSpPr>
            <a:spLocks xmlns:a="http://schemas.openxmlformats.org/drawingml/2006/main" noGrp="1"/>
          </p:cNvSpPr>
          <p:nvPr/>
        </p:nvSpPr>
        <p:spPr>
          <a:xfrm xmlns:a="http://schemas.openxmlformats.org/drawingml/2006/main">
            <a:off x="8324461" y="5855581"/>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EU accession 1986 (grubbing-up, exodus)</a:t>
            </a:r>
          </a:p>
        </p:txBody>
      </p:sp>
      <p:sp>
        <p:nvSpPr>
          <p:cNvPr id="22" name="Text 20">
            <a:extLst xmlns:a="http://schemas.openxmlformats.org/drawingml/2006/main">
              <a:ext uri="{FF2B5EF4-FFF2-40B4-BE49-F238E27FC236}">
                <a16:creationId xmlns:a16="http://schemas.microsoft.com/office/drawing/2014/main" id="{E67285E6-7CBC-41B6-B173-CC8EA93CDCE6}"/>
              </a:ext>
            </a:extLst>
          </p:cNvPr>
          <p:cNvSpPr>
            <a:spLocks xmlns:a="http://schemas.openxmlformats.org/drawingml/2006/main" noGrp="1"/>
          </p:cNvSpPr>
          <p:nvPr/>
        </p:nvSpPr>
        <p:spPr>
          <a:xfrm xmlns:a="http://schemas.openxmlformats.org/drawingml/2006/main">
            <a:off x="2335141" y="6239629"/>
            <a:ext cx="5074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7A6F5E"/>
                </a:solidFill>
                <a:latin typeface="Calibri"/>
                <a:ea typeface="Calibri"/>
                <a:cs typeface="Calibri"/>
              </a:rPr>
              <a:t>NON-STATIONARITY</a:t>
            </a:r>
          </a:p>
        </p:txBody>
      </p:sp>
      <p:sp>
        <p:nvSpPr>
          <p:cNvPr id="23" name="Text 21">
            <a:extLst xmlns:a="http://schemas.openxmlformats.org/drawingml/2006/main">
              <a:ext uri="{FF2B5EF4-FFF2-40B4-BE49-F238E27FC236}">
                <a16:creationId xmlns:a16="http://schemas.microsoft.com/office/drawing/2014/main" id="{99A54007-C891-463E-BC95-8151C94B212E}"/>
              </a:ext>
            </a:extLst>
          </p:cNvPr>
          <p:cNvSpPr>
            <a:spLocks xmlns:a="http://schemas.openxmlformats.org/drawingml/2006/main" noGrp="1"/>
          </p:cNvSpPr>
          <p:nvPr/>
        </p:nvSpPr>
        <p:spPr>
          <a:xfrm xmlns:a="http://schemas.openxmlformats.org/drawingml/2006/main">
            <a:off x="2518021" y="6477373"/>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Moderate, smooth</a:t>
            </a:r>
          </a:p>
        </p:txBody>
      </p:sp>
      <p:sp>
        <p:nvSpPr>
          <p:cNvPr id="24" name="Text 22">
            <a:extLst xmlns:a="http://schemas.openxmlformats.org/drawingml/2006/main">
              <a:ext uri="{FF2B5EF4-FFF2-40B4-BE49-F238E27FC236}">
                <a16:creationId xmlns:a16="http://schemas.microsoft.com/office/drawing/2014/main" id="{2ADDEAFF-253F-4BFC-AA59-7BF91B5602A2}"/>
              </a:ext>
            </a:extLst>
          </p:cNvPr>
          <p:cNvSpPr>
            <a:spLocks xmlns:a="http://schemas.openxmlformats.org/drawingml/2006/main" noGrp="1"/>
          </p:cNvSpPr>
          <p:nvPr/>
        </p:nvSpPr>
        <p:spPr>
          <a:xfrm xmlns:a="http://schemas.openxmlformats.org/drawingml/2006/main">
            <a:off x="8324461" y="6477373"/>
            <a:ext cx="4709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Severe, non-linear break</a:t>
            </a:r>
          </a:p>
        </p:txBody>
      </p:sp>
      <p:sp>
        <p:nvSpPr>
          <p:cNvPr id="25" name="Text 23">
            <a:extLst xmlns:a="http://schemas.openxmlformats.org/drawingml/2006/main">
              <a:ext uri="{FF2B5EF4-FFF2-40B4-BE49-F238E27FC236}">
                <a16:creationId xmlns:a16="http://schemas.microsoft.com/office/drawing/2014/main" id="{CF73BF02-2257-4C0E-9FE1-C17EB67B600B}"/>
              </a:ext>
            </a:extLst>
          </p:cNvPr>
          <p:cNvSpPr>
            <a:spLocks xmlns:a="http://schemas.openxmlformats.org/drawingml/2006/main" noGrp="1"/>
          </p:cNvSpPr>
          <p:nvPr/>
        </p:nvSpPr>
        <p:spPr>
          <a:xfrm xmlns:a="http://schemas.openxmlformats.org/drawingml/2006/main">
            <a:off x="2335141" y="7227181"/>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xmlns:a="http://schemas.openxmlformats.org/drawingml/2006/main">
              <a:ext uri="{FF2B5EF4-FFF2-40B4-BE49-F238E27FC236}">
                <a16:creationId xmlns:a16="http://schemas.microsoft.com/office/drawing/2014/main" id="{32BA8AFD-AD4B-49CD-9828-0D0DF41E1F54}"/>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202005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58" name="Rectangle 57"/>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Rectangle 56"/>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Rectangle 53"/>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18B1CD68-AFD2-402B-98D6-CAD5E58E5287}"/>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One honest pipeline</a:t>
            </a:r>
          </a:p>
        </p:txBody>
      </p:sp>
      <p:sp>
        <p:nvSpPr>
          <p:cNvPr id="3" name="Shape 1">
            <a:extLst xmlns:a="http://schemas.openxmlformats.org/drawingml/2006/main">
              <a:ext uri="{FF2B5EF4-FFF2-40B4-BE49-F238E27FC236}">
                <a16:creationId xmlns:a16="http://schemas.microsoft.com/office/drawing/2014/main" id="{770DB07C-B664-496C-B663-A9A0690B9D01}"/>
              </a:ext>
            </a:extLst>
          </p:cNvPr>
          <p:cNvSpPr>
            <a:spLocks xmlns:a="http://schemas.openxmlformats.org/drawingml/2006/main" noGrp="1"/>
          </p:cNvSpPr>
          <p:nvPr/>
        </p:nvSpPr>
        <p:spPr>
          <a:xfrm xmlns:a="http://schemas.openxmlformats.org/drawingml/2006/main">
            <a:off x="12041497"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A366A2A3-6648-4512-A1E0-76D3C2966DB2}"/>
              </a:ext>
            </a:extLst>
          </p:cNvPr>
          <p:cNvSpPr>
            <a:spLocks xmlns:a="http://schemas.openxmlformats.org/drawingml/2006/main" noGrp="1"/>
          </p:cNvSpPr>
          <p:nvPr/>
        </p:nvSpPr>
        <p:spPr>
          <a:xfrm xmlns:a="http://schemas.openxmlformats.org/drawingml/2006/main">
            <a:off x="12329533"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5C4B067-C63C-4379-80FA-45112125AB75}"/>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B7D1D7D-C0AC-42FA-A812-031C0B87064C}"/>
              </a:ext>
            </a:extLst>
          </p:cNvPr>
          <p:cNvSpPr>
            <a:spLocks xmlns:a="http://schemas.openxmlformats.org/drawingml/2006/main" noGrp="1"/>
          </p:cNvSpPr>
          <p:nvPr/>
        </p:nvSpPr>
        <p:spPr>
          <a:xfrm xmlns:a="http://schemas.openxmlformats.org/drawingml/2006/main">
            <a:off x="12974185"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23132C78-80C0-465A-98F8-7CFF8E6550DD}"/>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BF562B4-3B6E-4789-87F4-D262444968FA}"/>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xmlns:a="http://schemas.openxmlformats.org/drawingml/2006/main">
              <a:ext uri="{FF2B5EF4-FFF2-40B4-BE49-F238E27FC236}">
                <a16:creationId xmlns:a16="http://schemas.microsoft.com/office/drawing/2014/main" id="{06C79FCA-F9D2-4936-BA00-5C4FE4F99FF0}"/>
              </a:ext>
            </a:extLst>
          </p:cNvPr>
          <p:cNvSpPr>
            <a:spLocks xmlns:a="http://schemas.openxmlformats.org/drawingml/2006/main" noGrp="1"/>
          </p:cNvSpPr>
          <p:nvPr/>
        </p:nvSpPr>
        <p:spPr>
          <a:xfrm xmlns:a="http://schemas.openxmlformats.org/drawingml/2006/main">
            <a:off x="2335141" y="3478141"/>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B77F325D-CCC3-40E6-9AC6-208C2A372406}"/>
              </a:ext>
            </a:extLst>
          </p:cNvPr>
          <p:cNvSpPr>
            <a:spLocks xmlns:a="http://schemas.openxmlformats.org/drawingml/2006/main" noGrp="1"/>
          </p:cNvSpPr>
          <p:nvPr/>
        </p:nvSpPr>
        <p:spPr>
          <a:xfrm xmlns:a="http://schemas.openxmlformats.org/drawingml/2006/main">
            <a:off x="2335141" y="3478141"/>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1</a:t>
            </a:r>
          </a:p>
        </p:txBody>
      </p:sp>
      <p:sp>
        <p:nvSpPr>
          <p:cNvPr id="11" name="Text 9">
            <a:extLst xmlns:a="http://schemas.openxmlformats.org/drawingml/2006/main">
              <a:ext uri="{FF2B5EF4-FFF2-40B4-BE49-F238E27FC236}">
                <a16:creationId xmlns:a16="http://schemas.microsoft.com/office/drawing/2014/main" id="{B4B4E6E5-B134-4579-AB87-9E0713E5D0CE}"/>
              </a:ext>
            </a:extLst>
          </p:cNvPr>
          <p:cNvSpPr>
            <a:spLocks xmlns:a="http://schemas.openxmlformats.org/drawingml/2006/main" noGrp="1"/>
          </p:cNvSpPr>
          <p:nvPr/>
        </p:nvSpPr>
        <p:spPr>
          <a:xfrm xmlns:a="http://schemas.openxmlformats.org/drawingml/2006/main">
            <a:off x="3066661" y="3459853"/>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Detrend in-fold</a:t>
            </a:r>
          </a:p>
        </p:txBody>
      </p:sp>
      <p:sp>
        <p:nvSpPr>
          <p:cNvPr id="12" name="Text 10">
            <a:extLst xmlns:a="http://schemas.openxmlformats.org/drawingml/2006/main">
              <a:ext uri="{FF2B5EF4-FFF2-40B4-BE49-F238E27FC236}">
                <a16:creationId xmlns:a16="http://schemas.microsoft.com/office/drawing/2014/main" id="{81A94C22-4A8C-4B2F-9412-3A0CEC09E781}"/>
              </a:ext>
            </a:extLst>
          </p:cNvPr>
          <p:cNvSpPr>
            <a:spLocks xmlns:a="http://schemas.openxmlformats.org/drawingml/2006/main" noGrp="1"/>
          </p:cNvSpPr>
          <p:nvPr/>
        </p:nvSpPr>
        <p:spPr>
          <a:xfrm xmlns:a="http://schemas.openxmlformats.org/drawingml/2006/main">
            <a:off x="3066661" y="3825613"/>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xmlns:a="http://schemas.openxmlformats.org/drawingml/2006/main">
              <a:ext uri="{FF2B5EF4-FFF2-40B4-BE49-F238E27FC236}">
                <a16:creationId xmlns:a16="http://schemas.microsoft.com/office/drawing/2014/main" id="{37196CB8-5A03-4A6A-A04D-D275CD297B2F}"/>
              </a:ext>
            </a:extLst>
          </p:cNvPr>
          <p:cNvSpPr>
            <a:spLocks xmlns:a="http://schemas.openxmlformats.org/drawingml/2006/main" noGrp="1"/>
          </p:cNvSpPr>
          <p:nvPr/>
        </p:nvSpPr>
        <p:spPr>
          <a:xfrm xmlns:a="http://schemas.openxmlformats.org/drawingml/2006/main">
            <a:off x="2335141" y="4529701"/>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0FD9B2EE-9533-4C9C-8162-91B1892419E3}"/>
              </a:ext>
            </a:extLst>
          </p:cNvPr>
          <p:cNvSpPr>
            <a:spLocks xmlns:a="http://schemas.openxmlformats.org/drawingml/2006/main" noGrp="1"/>
          </p:cNvSpPr>
          <p:nvPr/>
        </p:nvSpPr>
        <p:spPr>
          <a:xfrm xmlns:a="http://schemas.openxmlformats.org/drawingml/2006/main">
            <a:off x="2335141" y="4529701"/>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2</a:t>
            </a:r>
          </a:p>
        </p:txBody>
      </p:sp>
      <p:sp>
        <p:nvSpPr>
          <p:cNvPr id="15" name="Text 13">
            <a:extLst xmlns:a="http://schemas.openxmlformats.org/drawingml/2006/main">
              <a:ext uri="{FF2B5EF4-FFF2-40B4-BE49-F238E27FC236}">
                <a16:creationId xmlns:a16="http://schemas.microsoft.com/office/drawing/2014/main" id="{589ABEF8-347A-4E7F-A2AB-60E71560D090}"/>
              </a:ext>
            </a:extLst>
          </p:cNvPr>
          <p:cNvSpPr>
            <a:spLocks xmlns:a="http://schemas.openxmlformats.org/drawingml/2006/main" noGrp="1"/>
          </p:cNvSpPr>
          <p:nvPr/>
        </p:nvSpPr>
        <p:spPr>
          <a:xfrm xmlns:a="http://schemas.openxmlformats.org/drawingml/2006/main">
            <a:off x="3066661" y="4511413"/>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Discover rules</a:t>
            </a:r>
          </a:p>
        </p:txBody>
      </p:sp>
      <p:sp>
        <p:nvSpPr>
          <p:cNvPr id="16" name="Text 14">
            <a:extLst xmlns:a="http://schemas.openxmlformats.org/drawingml/2006/main">
              <a:ext uri="{FF2B5EF4-FFF2-40B4-BE49-F238E27FC236}">
                <a16:creationId xmlns:a16="http://schemas.microsoft.com/office/drawing/2014/main" id="{C7D98AF6-4FD1-42BE-838E-00C4F08C8E0B}"/>
              </a:ext>
            </a:extLst>
          </p:cNvPr>
          <p:cNvSpPr>
            <a:spLocks xmlns:a="http://schemas.openxmlformats.org/drawingml/2006/main" noGrp="1"/>
          </p:cNvSpPr>
          <p:nvPr/>
        </p:nvSpPr>
        <p:spPr>
          <a:xfrm xmlns:a="http://schemas.openxmlformats.org/drawingml/2006/main">
            <a:off x="3066661" y="4877173"/>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xmlns:a="http://schemas.openxmlformats.org/drawingml/2006/main">
              <a:ext uri="{FF2B5EF4-FFF2-40B4-BE49-F238E27FC236}">
                <a16:creationId xmlns:a16="http://schemas.microsoft.com/office/drawing/2014/main" id="{404F950D-7113-41E2-8A5F-990D72124A03}"/>
              </a:ext>
            </a:extLst>
          </p:cNvPr>
          <p:cNvSpPr>
            <a:spLocks xmlns:a="http://schemas.openxmlformats.org/drawingml/2006/main" noGrp="1"/>
          </p:cNvSpPr>
          <p:nvPr/>
        </p:nvSpPr>
        <p:spPr>
          <a:xfrm xmlns:a="http://schemas.openxmlformats.org/drawingml/2006/main">
            <a:off x="2335141" y="5581261"/>
            <a:ext cx="548640" cy="548640"/>
          </a:xfrm>
          <a:prstGeom xmlns:a="http://schemas.openxmlformats.org/drawingml/2006/main" prst="ellipse">
            <a:avLst/>
          </a:prstGeom>
          <a:solidFill xmlns:a="http://schemas.openxmlformats.org/drawingml/2006/main">
            <a:srgbClr val="6D2E46"/>
          </a:solidFill>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D1A2646F-BEC5-4557-9E79-10C16CA0D142}"/>
              </a:ext>
            </a:extLst>
          </p:cNvPr>
          <p:cNvSpPr>
            <a:spLocks xmlns:a="http://schemas.openxmlformats.org/drawingml/2006/main" noGrp="1"/>
          </p:cNvSpPr>
          <p:nvPr/>
        </p:nvSpPr>
        <p:spPr>
          <a:xfrm xmlns:a="http://schemas.openxmlformats.org/drawingml/2006/main">
            <a:off x="2335141" y="5581261"/>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3</a:t>
            </a:r>
          </a:p>
        </p:txBody>
      </p:sp>
      <p:sp>
        <p:nvSpPr>
          <p:cNvPr id="19" name="Text 17">
            <a:extLst xmlns:a="http://schemas.openxmlformats.org/drawingml/2006/main">
              <a:ext uri="{FF2B5EF4-FFF2-40B4-BE49-F238E27FC236}">
                <a16:creationId xmlns:a16="http://schemas.microsoft.com/office/drawing/2014/main" id="{39D7F7C5-47AF-436B-A135-14ABE1A6143D}"/>
              </a:ext>
            </a:extLst>
          </p:cNvPr>
          <p:cNvSpPr>
            <a:spLocks xmlns:a="http://schemas.openxmlformats.org/drawingml/2006/main" noGrp="1"/>
          </p:cNvSpPr>
          <p:nvPr/>
        </p:nvSpPr>
        <p:spPr>
          <a:xfrm xmlns:a="http://schemas.openxmlformats.org/drawingml/2006/main">
            <a:off x="3066661" y="5562973"/>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B2320"/>
                </a:solidFill>
                <a:latin typeface="Cambria"/>
                <a:ea typeface="Cambria"/>
                <a:cs typeface="Cambria"/>
              </a:rPr>
              <a:t>Walk-forward test</a:t>
            </a:r>
          </a:p>
        </p:txBody>
      </p:sp>
      <p:sp>
        <p:nvSpPr>
          <p:cNvPr id="20" name="Text 18">
            <a:extLst xmlns:a="http://schemas.openxmlformats.org/drawingml/2006/main">
              <a:ext uri="{FF2B5EF4-FFF2-40B4-BE49-F238E27FC236}">
                <a16:creationId xmlns:a16="http://schemas.microsoft.com/office/drawing/2014/main" id="{3AA01B67-48A5-4DF5-BB81-2ABCA3DA1F2F}"/>
              </a:ext>
            </a:extLst>
          </p:cNvPr>
          <p:cNvSpPr>
            <a:spLocks xmlns:a="http://schemas.openxmlformats.org/drawingml/2006/main" noGrp="1"/>
          </p:cNvSpPr>
          <p:nvPr/>
        </p:nvSpPr>
        <p:spPr>
          <a:xfrm xmlns:a="http://schemas.openxmlformats.org/drawingml/2006/main">
            <a:off x="3066661" y="5928733"/>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xmlns:a="http://schemas.openxmlformats.org/drawingml/2006/main">
              <a:ext uri="{FF2B5EF4-FFF2-40B4-BE49-F238E27FC236}">
                <a16:creationId xmlns:a16="http://schemas.microsoft.com/office/drawing/2014/main" id="{B0A2CCEF-5B29-428A-98A6-172929576F11}"/>
              </a:ext>
            </a:extLst>
          </p:cNvPr>
          <p:cNvSpPr>
            <a:spLocks xmlns:a="http://schemas.openxmlformats.org/drawingml/2006/main" noGrp="1"/>
          </p:cNvSpPr>
          <p:nvPr/>
        </p:nvSpPr>
        <p:spPr>
          <a:xfrm xmlns:a="http://schemas.openxmlformats.org/drawingml/2006/main">
            <a:off x="2335141" y="6724261"/>
            <a:ext cx="5852160" cy="1234440"/>
          </a:xfrm>
          <a:prstGeom xmlns:a="http://schemas.openxmlformats.org/drawingml/2006/main" prst="roundRect">
            <a:avLst>
              <a:gd name="adj" fmla="val 5926"/>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F8955E9B-4CA8-4F2E-9F35-DA7B0D179805}"/>
              </a:ext>
            </a:extLst>
          </p:cNvPr>
          <p:cNvSpPr>
            <a:spLocks xmlns:a="http://schemas.openxmlformats.org/drawingml/2006/main" noGrp="1"/>
          </p:cNvSpPr>
          <p:nvPr/>
        </p:nvSpPr>
        <p:spPr>
          <a:xfrm xmlns:a="http://schemas.openxmlformats.org/drawingml/2006/main">
            <a:off x="2563741" y="6861421"/>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89B3C"/>
                </a:solidFill>
                <a:latin typeface="Calibri"/>
                <a:ea typeface="Calibri"/>
                <a:cs typeface="Calibri"/>
              </a:rPr>
              <a:t>Remember one idea →</a:t>
            </a:r>
          </a:p>
        </p:txBody>
      </p:sp>
      <p:sp>
        <p:nvSpPr>
          <p:cNvPr id="23" name="Text 21">
            <a:extLst xmlns:a="http://schemas.openxmlformats.org/drawingml/2006/main">
              <a:ext uri="{FF2B5EF4-FFF2-40B4-BE49-F238E27FC236}">
                <a16:creationId xmlns:a16="http://schemas.microsoft.com/office/drawing/2014/main" id="{FE4D4B35-2675-4008-9BFC-487BCB4532E7}"/>
              </a:ext>
            </a:extLst>
          </p:cNvPr>
          <p:cNvSpPr>
            <a:spLocks xmlns:a="http://schemas.openxmlformats.org/drawingml/2006/main" noGrp="1"/>
          </p:cNvSpPr>
          <p:nvPr/>
        </p:nvSpPr>
        <p:spPr>
          <a:xfrm xmlns:a="http://schemas.openxmlformats.org/drawingml/2006/main">
            <a:off x="2563741" y="7181461"/>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b85fc731031543cb"/>
          <a:stretch xmlns:a="http://schemas.openxmlformats.org/drawingml/2006/main">
            <a:fillRect l="0" t="0" r="0" b="0"/>
          </a:stretch>
        </p:blipFill>
        <p:spPr>
          <a:xfrm xmlns:a="http://schemas.openxmlformats.org/drawingml/2006/main">
            <a:off x="9833221" y="3295261"/>
            <a:ext cx="3246120" cy="4288137"/>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A57BC3EA-C6B8-409C-BC91-8B35D7613435}"/>
              </a:ext>
            </a:extLst>
          </p:cNvPr>
          <p:cNvSpPr>
            <a:spLocks xmlns:a="http://schemas.openxmlformats.org/drawingml/2006/main" noGrp="1"/>
          </p:cNvSpPr>
          <p:nvPr/>
        </p:nvSpPr>
        <p:spPr>
          <a:xfrm xmlns:a="http://schemas.openxmlformats.org/drawingml/2006/main">
            <a:off x="9558901" y="7601686"/>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7A6F5E"/>
                </a:solidFill>
                <a:latin typeface="Calibri"/>
                <a:ea typeface="Calibri"/>
                <a:cs typeface="Calibri"/>
              </a:rPr>
              <a:t>Walk-forward validation</a:t>
            </a:r>
          </a:p>
        </p:txBody>
      </p:sp>
      <p:sp>
        <p:nvSpPr>
          <p:cNvPr id="26" name="Text 23">
            <a:extLst xmlns:a="http://schemas.openxmlformats.org/drawingml/2006/main">
              <a:ext uri="{FF2B5EF4-FFF2-40B4-BE49-F238E27FC236}">
                <a16:creationId xmlns:a16="http://schemas.microsoft.com/office/drawing/2014/main" id="{7A4813AF-4146-4FDE-958E-80F8A99B39B1}"/>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7912828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3" name="Rectangle 32"/>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65D5117B-C02A-4795-800B-60523204334D}"/>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Why CarenR: rules you can question</a:t>
            </a:r>
          </a:p>
        </p:txBody>
      </p:sp>
      <p:sp>
        <p:nvSpPr>
          <p:cNvPr id="3" name="Shape 1">
            <a:extLst xmlns:a="http://schemas.openxmlformats.org/drawingml/2006/main">
              <a:ext uri="{FF2B5EF4-FFF2-40B4-BE49-F238E27FC236}">
                <a16:creationId xmlns:a16="http://schemas.microsoft.com/office/drawing/2014/main" id="{B6D2965B-0A46-4D74-A3F9-E4D77A21AF2C}"/>
              </a:ext>
            </a:extLst>
          </p:cNvPr>
          <p:cNvSpPr>
            <a:spLocks xmlns:a="http://schemas.openxmlformats.org/drawingml/2006/main" noGrp="1"/>
          </p:cNvSpPr>
          <p:nvPr/>
        </p:nvSpPr>
        <p:spPr>
          <a:xfrm xmlns:a="http://schemas.openxmlformats.org/drawingml/2006/main">
            <a:off x="12041497"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FB982163-DBD0-4D09-9170-2692D9C4EF78}"/>
              </a:ext>
            </a:extLst>
          </p:cNvPr>
          <p:cNvSpPr>
            <a:spLocks xmlns:a="http://schemas.openxmlformats.org/drawingml/2006/main" noGrp="1"/>
          </p:cNvSpPr>
          <p:nvPr/>
        </p:nvSpPr>
        <p:spPr>
          <a:xfrm xmlns:a="http://schemas.openxmlformats.org/drawingml/2006/main">
            <a:off x="12329533"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CF59E6D-40AB-4A5F-9AC3-C9D168BD0180}"/>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D79CE7FA-5CF6-4E6C-AF88-0EEA6023857A}"/>
              </a:ext>
            </a:extLst>
          </p:cNvPr>
          <p:cNvSpPr>
            <a:spLocks xmlns:a="http://schemas.openxmlformats.org/drawingml/2006/main" noGrp="1"/>
          </p:cNvSpPr>
          <p:nvPr/>
        </p:nvSpPr>
        <p:spPr>
          <a:xfrm xmlns:a="http://schemas.openxmlformats.org/drawingml/2006/main">
            <a:off x="12974185"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084CD71F-5C32-455E-AC87-C1D34AA9F366}"/>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FC7B28C1-51E4-4E77-A24D-8E0E386C2643}"/>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bc0c24d6caaf45af"/>
          <a:stretch xmlns:a="http://schemas.openxmlformats.org/drawingml/2006/main">
            <a:fillRect l="0" t="0" r="0" b="0"/>
          </a:stretch>
        </p:blipFill>
        <p:spPr>
          <a:xfrm xmlns:a="http://schemas.openxmlformats.org/drawingml/2006/main">
            <a:off x="2243701" y="3889621"/>
            <a:ext cx="6126480" cy="355777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FD24BA6-FE1E-4A9A-A70C-F38F6619BAD0}"/>
              </a:ext>
            </a:extLst>
          </p:cNvPr>
          <p:cNvSpPr>
            <a:spLocks xmlns:a="http://schemas.openxmlformats.org/drawingml/2006/main" noGrp="1"/>
          </p:cNvSpPr>
          <p:nvPr/>
        </p:nvSpPr>
        <p:spPr>
          <a:xfrm xmlns:a="http://schemas.openxmlformats.org/drawingml/2006/main">
            <a:off x="2243701" y="3295261"/>
            <a:ext cx="6309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xmlns:a="http://schemas.openxmlformats.org/drawingml/2006/main">
              <a:ext uri="{FF2B5EF4-FFF2-40B4-BE49-F238E27FC236}">
                <a16:creationId xmlns:a16="http://schemas.microsoft.com/office/drawing/2014/main" id="{D5BED941-C809-47D6-9180-4957BB394315}"/>
              </a:ext>
            </a:extLst>
          </p:cNvPr>
          <p:cNvSpPr>
            <a:spLocks xmlns:a="http://schemas.openxmlformats.org/drawingml/2006/main" noGrp="1"/>
          </p:cNvSpPr>
          <p:nvPr/>
        </p:nvSpPr>
        <p:spPr>
          <a:xfrm xmlns:a="http://schemas.openxmlformats.org/drawingml/2006/main">
            <a:off x="8735941" y="3432421"/>
            <a:ext cx="4572000" cy="2148840"/>
          </a:xfrm>
          <a:prstGeom xmlns:a="http://schemas.openxmlformats.org/drawingml/2006/main" prst="roundRect">
            <a:avLst>
              <a:gd name="adj" fmla="val 3404"/>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32DE370-C301-49CB-B029-5533FBAC1FD2}"/>
              </a:ext>
            </a:extLst>
          </p:cNvPr>
          <p:cNvSpPr>
            <a:spLocks xmlns:a="http://schemas.openxmlformats.org/drawingml/2006/main" noGrp="1"/>
          </p:cNvSpPr>
          <p:nvPr/>
        </p:nvSpPr>
        <p:spPr>
          <a:xfrm xmlns:a="http://schemas.openxmlformats.org/drawingml/2006/main">
            <a:off x="8964541" y="3615301"/>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C89B3C"/>
                </a:solidFill>
                <a:latin typeface="Calibri"/>
                <a:ea typeface="Calibri"/>
                <a:cs typeface="Calibri"/>
              </a:rPr>
              <a:t>A RULE YOU CAN AUDIT</a:t>
            </a:r>
          </a:p>
        </p:txBody>
      </p:sp>
      <p:sp>
        <p:nvSpPr>
          <p:cNvPr id="13" name="Text 10">
            <a:extLst xmlns:a="http://schemas.openxmlformats.org/drawingml/2006/main">
              <a:ext uri="{FF2B5EF4-FFF2-40B4-BE49-F238E27FC236}">
                <a16:creationId xmlns:a16="http://schemas.microsoft.com/office/drawing/2014/main" id="{58548D07-902C-49A1-8E00-58EB0B25C075}"/>
              </a:ext>
            </a:extLst>
          </p:cNvPr>
          <p:cNvSpPr>
            <a:spLocks xmlns:a="http://schemas.openxmlformats.org/drawingml/2006/main" noGrp="1"/>
          </p:cNvSpPr>
          <p:nvPr/>
        </p:nvSpPr>
        <p:spPr>
          <a:xfrm xmlns:a="http://schemas.openxmlformats.org/drawingml/2006/main">
            <a:off x="8964541" y="3935341"/>
            <a:ext cx="41605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xmlns:a="http://schemas.openxmlformats.org/drawingml/2006/main">
            <a:pPr marL="0" indent="0">
              <a:buNone/>
            </a:pPr>
            <a:r>
              <a:rPr sz="1500" b="1">
                <a:solidFill>
                  <a:srgbClr val="6D2E46"/>
                </a:solidFill>
                <a:latin typeface="Calibri"/>
                <a:ea typeface="Calibri"/>
                <a:cs typeface="Calibri"/>
              </a:rPr>
              <a:t>THEN </a:t>
            </a:r>
          </a:p>
          <a:p xmlns:a="http://schemas.openxmlformats.org/drawingml/2006/main">
            <a:pPr marL="0" indent="0">
              <a:buNone/>
            </a:pPr>
            <a:r>
              <a:rPr sz="1500" b="1">
                <a:solidFill>
                  <a:srgbClr val="5E7148"/>
                </a:solidFill>
                <a:latin typeface="Calibri"/>
                <a:ea typeface="Calibri"/>
                <a:cs typeface="Calibri"/>
              </a:rPr>
              <a:t>+121 mhl above trend</a:t>
            </a:r>
          </a:p>
        </p:txBody>
      </p:sp>
      <p:sp>
        <p:nvSpPr>
          <p:cNvPr id="14" name="Text 11">
            <a:extLst xmlns:a="http://schemas.openxmlformats.org/drawingml/2006/main">
              <a:ext uri="{FF2B5EF4-FFF2-40B4-BE49-F238E27FC236}">
                <a16:creationId xmlns:a16="http://schemas.microsoft.com/office/drawing/2014/main" id="{23996A09-9F03-45E8-B027-9C0576176B60}"/>
              </a:ext>
            </a:extLst>
          </p:cNvPr>
          <p:cNvSpPr>
            <a:spLocks xmlns:a="http://schemas.openxmlformats.org/drawingml/2006/main" noGrp="1"/>
          </p:cNvSpPr>
          <p:nvPr/>
        </p:nvSpPr>
        <p:spPr>
          <a:xfrm xmlns:a="http://schemas.openxmlformats.org/drawingml/2006/main">
            <a:off x="8964541" y="5032621"/>
            <a:ext cx="4160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A6F5E"/>
                </a:solidFill>
                <a:latin typeface="Calibri"/>
                <a:ea typeface="Calibri"/>
                <a:cs typeface="Calibri"/>
              </a:rPr>
              <a:t>support 28%   ·   p = 0.004</a:t>
            </a:r>
          </a:p>
        </p:txBody>
      </p:sp>
      <p:sp>
        <p:nvSpPr>
          <p:cNvPr id="15" name="Text 12">
            <a:extLst xmlns:a="http://schemas.openxmlformats.org/drawingml/2006/main">
              <a:ext uri="{FF2B5EF4-FFF2-40B4-BE49-F238E27FC236}">
                <a16:creationId xmlns:a16="http://schemas.microsoft.com/office/drawing/2014/main" id="{67906D50-CC1A-4359-9E74-3DF0E6899B1E}"/>
              </a:ext>
            </a:extLst>
          </p:cNvPr>
          <p:cNvSpPr>
            <a:spLocks xmlns:a="http://schemas.openxmlformats.org/drawingml/2006/main" noGrp="1"/>
          </p:cNvSpPr>
          <p:nvPr/>
        </p:nvSpPr>
        <p:spPr>
          <a:xfrm xmlns:a="http://schemas.openxmlformats.org/drawingml/2006/main">
            <a:off x="8873101" y="5809861"/>
            <a:ext cx="44805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spcAft>
                <a:spcPts val="800"/>
              </a:spcAft>
              <a:buChar char="•"/>
            </a:pPr>
            <a:r>
              <a:rPr sz="1400">
                <a:solidFill>
                  <a:srgbClr val="2B2320"/>
                </a:solidFill>
                <a:latin typeface="Calibri"/>
                <a:ea typeface="Calibri"/>
                <a:cs typeface="Calibri"/>
              </a:rPr>
              <a:t>Falsifiable — an agronomist can challenge it.</a:t>
            </a:r>
          </a:p>
          <a:p xmlns:a="http://schemas.openxmlformats.org/drawingml/2006/main">
            <a:pPr marL="342900" indent="-342900">
              <a:spcAft>
                <a:spcPts val="800"/>
              </a:spcAft>
              <a:buChar char="•"/>
            </a:pPr>
            <a:r>
              <a:rPr sz="1400">
                <a:solidFill>
                  <a:srgbClr val="2B2320"/>
                </a:solidFill>
                <a:latin typeface="Calibri"/>
                <a:ea typeface="Calibri"/>
                <a:cs typeface="Calibri"/>
              </a:rPr>
              <a:t>Carries its own support and p-value.</a:t>
            </a:r>
          </a:p>
          <a:p xmlns:a="http://schemas.openxmlformats.org/drawingml/2006/main">
            <a:pPr marL="342900" indent="-342900">
              <a:spcAft>
                <a:spcPts val="800"/>
              </a:spcAft>
              <a:buChar char="•"/>
            </a:pPr>
            <a:r>
              <a:rPr sz="1400">
                <a:solidFill>
                  <a:srgbClr val="2B2320"/>
                </a:solidFill>
                <a:latin typeface="Calibri"/>
                <a:ea typeface="Calibri"/>
                <a:cs typeface="Calibri"/>
              </a:rPr>
              <a:t>Black box + SHAP only approximates influence.</a:t>
            </a:r>
          </a:p>
          <a:p xmlns:a="http://schemas.openxmlformats.org/drawingml/2006/main">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xmlns:a="http://schemas.openxmlformats.org/drawingml/2006/main">
              <a:ext uri="{FF2B5EF4-FFF2-40B4-BE49-F238E27FC236}">
                <a16:creationId xmlns:a16="http://schemas.microsoft.com/office/drawing/2014/main" id="{3CA3F145-EC5A-4B8C-B614-8A9DF849D5C0}"/>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74352992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9" name="Rectangle 28"/>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9243ACBF-D5D2-414C-9C18-6B4470ADC8A5}"/>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What the rules actually say</a:t>
            </a:r>
          </a:p>
        </p:txBody>
      </p:sp>
      <p:sp>
        <p:nvSpPr>
          <p:cNvPr id="3" name="Shape 1">
            <a:extLst xmlns:a="http://schemas.openxmlformats.org/drawingml/2006/main">
              <a:ext uri="{FF2B5EF4-FFF2-40B4-BE49-F238E27FC236}">
                <a16:creationId xmlns:a16="http://schemas.microsoft.com/office/drawing/2014/main" id="{B79C4147-8C51-4DD3-A785-440175C13071}"/>
              </a:ext>
            </a:extLst>
          </p:cNvPr>
          <p:cNvSpPr>
            <a:spLocks xmlns:a="http://schemas.openxmlformats.org/drawingml/2006/main" noGrp="1"/>
          </p:cNvSpPr>
          <p:nvPr/>
        </p:nvSpPr>
        <p:spPr>
          <a:xfrm xmlns:a="http://schemas.openxmlformats.org/drawingml/2006/main">
            <a:off x="12041497"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D8C4585-DE29-483D-8413-93D1601E996E}"/>
              </a:ext>
            </a:extLst>
          </p:cNvPr>
          <p:cNvSpPr>
            <a:spLocks xmlns:a="http://schemas.openxmlformats.org/drawingml/2006/main" noGrp="1"/>
          </p:cNvSpPr>
          <p:nvPr/>
        </p:nvSpPr>
        <p:spPr>
          <a:xfrm xmlns:a="http://schemas.openxmlformats.org/drawingml/2006/main">
            <a:off x="12352393"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C7A32BF-C417-4330-8C77-0A77D6E5BE6C}"/>
              </a:ext>
            </a:extLst>
          </p:cNvPr>
          <p:cNvSpPr>
            <a:spLocks xmlns:a="http://schemas.openxmlformats.org/drawingml/2006/main" noGrp="1"/>
          </p:cNvSpPr>
          <p:nvPr/>
        </p:nvSpPr>
        <p:spPr>
          <a:xfrm xmlns:a="http://schemas.openxmlformats.org/drawingml/2006/main">
            <a:off x="12640429"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F406F7E-F4A8-4249-9DFB-7E78370ADBF8}"/>
              </a:ext>
            </a:extLst>
          </p:cNvPr>
          <p:cNvSpPr>
            <a:spLocks xmlns:a="http://schemas.openxmlformats.org/drawingml/2006/main" noGrp="1"/>
          </p:cNvSpPr>
          <p:nvPr/>
        </p:nvSpPr>
        <p:spPr>
          <a:xfrm xmlns:a="http://schemas.openxmlformats.org/drawingml/2006/main">
            <a:off x="12974185"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52AE7903-44D0-4D04-8F23-540CC0E065E2}"/>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201A681D-2BA3-4EFA-AC68-8913D82AB9A9}"/>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xmlns:a="http://schemas.openxmlformats.org/drawingml/2006/main">
              <a:ext uri="{FF2B5EF4-FFF2-40B4-BE49-F238E27FC236}">
                <a16:creationId xmlns:a16="http://schemas.microsoft.com/office/drawing/2014/main" id="{8C9FD771-0598-4429-9013-21D376E40970}"/>
              </a:ext>
            </a:extLst>
          </p:cNvPr>
          <p:cNvSpPr>
            <a:spLocks xmlns:a="http://schemas.openxmlformats.org/drawingml/2006/main" noGrp="1"/>
          </p:cNvSpPr>
          <p:nvPr/>
        </p:nvSpPr>
        <p:spPr>
          <a:xfrm xmlns:a="http://schemas.openxmlformats.org/drawingml/2006/main">
            <a:off x="2335141" y="3295261"/>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xmlns:a="http://schemas.openxmlformats.org/drawingml/2006/main">
              <a:ext uri="{FF2B5EF4-FFF2-40B4-BE49-F238E27FC236}">
                <a16:creationId xmlns:a16="http://schemas.microsoft.com/office/drawing/2014/main" id="{D38E95E6-A85F-4EA4-88D9-9E9BAEB45F60}"/>
              </a:ext>
            </a:extLst>
          </p:cNvPr>
          <p:cNvSpPr>
            <a:spLocks xmlns:a="http://schemas.openxmlformats.org/drawingml/2006/main" noGrp="1"/>
          </p:cNvSpPr>
          <p:nvPr/>
        </p:nvSpPr>
        <p:spPr>
          <a:xfrm xmlns:a="http://schemas.openxmlformats.org/drawingml/2006/main">
            <a:off x="2335141" y="3843901"/>
            <a:ext cx="4892040" cy="2514600"/>
          </a:xfrm>
          <a:prstGeom xmlns:a="http://schemas.openxmlformats.org/drawingml/2006/main" prst="roundRect">
            <a:avLst>
              <a:gd name="adj" fmla="val 2909"/>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4BB77ADE-29DB-4E75-9C6F-7A70186FA706}"/>
              </a:ext>
            </a:extLst>
          </p:cNvPr>
          <p:cNvSpPr>
            <a:spLocks xmlns:a="http://schemas.openxmlformats.org/drawingml/2006/main" noGrp="1"/>
          </p:cNvSpPr>
          <p:nvPr/>
        </p:nvSpPr>
        <p:spPr>
          <a:xfrm xmlns:a="http://schemas.openxmlformats.org/drawingml/2006/main">
            <a:off x="2335141" y="4072501"/>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7A2E39"/>
                </a:solidFill>
                <a:latin typeface="Calibri"/>
                <a:ea typeface="Calibri"/>
                <a:cs typeface="Calibri"/>
              </a:rPr>
              <a:t>DOURO</a:t>
            </a:r>
          </a:p>
        </p:txBody>
      </p:sp>
      <p:sp>
        <p:nvSpPr>
          <p:cNvPr id="12" name="Text 10">
            <a:extLst xmlns:a="http://schemas.openxmlformats.org/drawingml/2006/main">
              <a:ext uri="{FF2B5EF4-FFF2-40B4-BE49-F238E27FC236}">
                <a16:creationId xmlns:a16="http://schemas.microsoft.com/office/drawing/2014/main" id="{591A22F4-813A-4990-84D9-CB88C9C4FA6C}"/>
              </a:ext>
            </a:extLst>
          </p:cNvPr>
          <p:cNvSpPr>
            <a:spLocks xmlns:a="http://schemas.openxmlformats.org/drawingml/2006/main" noGrp="1"/>
          </p:cNvSpPr>
          <p:nvPr/>
        </p:nvSpPr>
        <p:spPr>
          <a:xfrm xmlns:a="http://schemas.openxmlformats.org/drawingml/2006/main">
            <a:off x="2335141" y="4392541"/>
            <a:ext cx="4892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7A2E39"/>
                </a:solidFill>
                <a:latin typeface="Cambria"/>
                <a:ea typeface="Cambria"/>
                <a:cs typeface="Cambria"/>
              </a:rPr>
              <a:t>+192 mhl</a:t>
            </a:r>
          </a:p>
        </p:txBody>
      </p:sp>
      <p:sp>
        <p:nvSpPr>
          <p:cNvPr id="13" name="Text 11">
            <a:extLst xmlns:a="http://schemas.openxmlformats.org/drawingml/2006/main">
              <a:ext uri="{FF2B5EF4-FFF2-40B4-BE49-F238E27FC236}">
                <a16:creationId xmlns:a16="http://schemas.microsoft.com/office/drawing/2014/main" id="{3D8C8D2E-708A-4279-8BF4-CCCED7BDB5D0}"/>
              </a:ext>
            </a:extLst>
          </p:cNvPr>
          <p:cNvSpPr>
            <a:spLocks xmlns:a="http://schemas.openxmlformats.org/drawingml/2006/main" noGrp="1"/>
          </p:cNvSpPr>
          <p:nvPr/>
        </p:nvSpPr>
        <p:spPr>
          <a:xfrm xmlns:a="http://schemas.openxmlformats.org/drawingml/2006/main">
            <a:off x="2563741" y="5261221"/>
            <a:ext cx="4434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Moderate deficit = berry concentration.</a:t>
            </a:r>
          </a:p>
          <a:p xmlns:a="http://schemas.openxmlformats.org/drawingml/2006/main">
            <a:pPr marL="0" indent="0" algn="ctr">
              <a:buNone/>
            </a:pPr>
            <a:r>
              <a:rPr sz="1350">
                <a:solidFill>
                  <a:srgbClr val="2B2320"/>
                </a:solidFill>
                <a:latin typeface="Calibri"/>
                <a:ea typeface="Calibri"/>
                <a:cs typeface="Calibri"/>
              </a:rPr>
              <a:t>A dry-climate sweet spot → above trend.</a:t>
            </a:r>
          </a:p>
        </p:txBody>
      </p:sp>
      <p:sp>
        <p:nvSpPr>
          <p:cNvPr id="14" name="Shape 12">
            <a:extLst xmlns:a="http://schemas.openxmlformats.org/drawingml/2006/main">
              <a:ext uri="{FF2B5EF4-FFF2-40B4-BE49-F238E27FC236}">
                <a16:creationId xmlns:a16="http://schemas.microsoft.com/office/drawing/2014/main" id="{53A88D76-728B-417C-868E-C70044FC6F28}"/>
              </a:ext>
            </a:extLst>
          </p:cNvPr>
          <p:cNvSpPr>
            <a:spLocks xmlns:a="http://schemas.openxmlformats.org/drawingml/2006/main" noGrp="1"/>
          </p:cNvSpPr>
          <p:nvPr/>
        </p:nvSpPr>
        <p:spPr>
          <a:xfrm xmlns:a="http://schemas.openxmlformats.org/drawingml/2006/main">
            <a:off x="8141581" y="3843901"/>
            <a:ext cx="4892040" cy="2514600"/>
          </a:xfrm>
          <a:prstGeom xmlns:a="http://schemas.openxmlformats.org/drawingml/2006/main" prst="roundRect">
            <a:avLst>
              <a:gd name="adj" fmla="val 2909"/>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4569A76D-64FF-41D7-94B0-6BBBCD59EF5F}"/>
              </a:ext>
            </a:extLst>
          </p:cNvPr>
          <p:cNvSpPr>
            <a:spLocks xmlns:a="http://schemas.openxmlformats.org/drawingml/2006/main" noGrp="1"/>
          </p:cNvSpPr>
          <p:nvPr/>
        </p:nvSpPr>
        <p:spPr>
          <a:xfrm xmlns:a="http://schemas.openxmlformats.org/drawingml/2006/main">
            <a:off x="8141581" y="4072501"/>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5E7148"/>
                </a:solidFill>
                <a:latin typeface="Calibri"/>
                <a:ea typeface="Calibri"/>
                <a:cs typeface="Calibri"/>
              </a:rPr>
              <a:t>VINHO VERDE</a:t>
            </a:r>
          </a:p>
        </p:txBody>
      </p:sp>
      <p:sp>
        <p:nvSpPr>
          <p:cNvPr id="16" name="Text 14">
            <a:extLst xmlns:a="http://schemas.openxmlformats.org/drawingml/2006/main">
              <a:ext uri="{FF2B5EF4-FFF2-40B4-BE49-F238E27FC236}">
                <a16:creationId xmlns:a16="http://schemas.microsoft.com/office/drawing/2014/main" id="{FC2EDD66-336B-4B49-A3BA-059F261E5B9A}"/>
              </a:ext>
            </a:extLst>
          </p:cNvPr>
          <p:cNvSpPr>
            <a:spLocks xmlns:a="http://schemas.openxmlformats.org/drawingml/2006/main" noGrp="1"/>
          </p:cNvSpPr>
          <p:nvPr/>
        </p:nvSpPr>
        <p:spPr>
          <a:xfrm xmlns:a="http://schemas.openxmlformats.org/drawingml/2006/main">
            <a:off x="8141581" y="4392541"/>
            <a:ext cx="4892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5E7148"/>
                </a:solidFill>
                <a:latin typeface="Cambria"/>
                <a:ea typeface="Cambria"/>
                <a:cs typeface="Cambria"/>
              </a:rPr>
              <a:t>−338 mhl</a:t>
            </a:r>
          </a:p>
        </p:txBody>
      </p:sp>
      <p:sp>
        <p:nvSpPr>
          <p:cNvPr id="17" name="Text 15">
            <a:extLst xmlns:a="http://schemas.openxmlformats.org/drawingml/2006/main">
              <a:ext uri="{FF2B5EF4-FFF2-40B4-BE49-F238E27FC236}">
                <a16:creationId xmlns:a16="http://schemas.microsoft.com/office/drawing/2014/main" id="{A4E9CAE4-77BF-487F-89CA-4B5ED9F6EA9F}"/>
              </a:ext>
            </a:extLst>
          </p:cNvPr>
          <p:cNvSpPr>
            <a:spLocks xmlns:a="http://schemas.openxmlformats.org/drawingml/2006/main" noGrp="1"/>
          </p:cNvSpPr>
          <p:nvPr/>
        </p:nvSpPr>
        <p:spPr>
          <a:xfrm xmlns:a="http://schemas.openxmlformats.org/drawingml/2006/main">
            <a:off x="8370181" y="5261221"/>
            <a:ext cx="4434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2B2320"/>
                </a:solidFill>
                <a:latin typeface="Calibri"/>
                <a:ea typeface="Calibri"/>
                <a:cs typeface="Calibri"/>
              </a:rPr>
              <a:t>Same range = cool, wet, low-quality years.</a:t>
            </a:r>
          </a:p>
          <a:p xmlns:a="http://schemas.openxmlformats.org/drawingml/2006/main">
            <a:pPr marL="0" indent="0" algn="ctr">
              <a:buNone/>
            </a:pPr>
            <a:r>
              <a:rPr sz="1350">
                <a:solidFill>
                  <a:srgbClr val="2B2320"/>
                </a:solidFill>
                <a:latin typeface="Calibri"/>
                <a:ea typeface="Calibri"/>
                <a:cs typeface="Calibri"/>
              </a:rPr>
              <a:t>An Atlantic-climate penalty → below trend.</a:t>
            </a:r>
          </a:p>
        </p:txBody>
      </p:sp>
      <p:sp>
        <p:nvSpPr>
          <p:cNvPr id="18" name="Shape 16">
            <a:extLst xmlns:a="http://schemas.openxmlformats.org/drawingml/2006/main">
              <a:ext uri="{FF2B5EF4-FFF2-40B4-BE49-F238E27FC236}">
                <a16:creationId xmlns:a16="http://schemas.microsoft.com/office/drawing/2014/main" id="{C500E6BC-B746-4EAF-B46C-88FF4EA1964F}"/>
              </a:ext>
            </a:extLst>
          </p:cNvPr>
          <p:cNvSpPr>
            <a:spLocks xmlns:a="http://schemas.openxmlformats.org/drawingml/2006/main" noGrp="1"/>
          </p:cNvSpPr>
          <p:nvPr/>
        </p:nvSpPr>
        <p:spPr>
          <a:xfrm xmlns:a="http://schemas.openxmlformats.org/drawingml/2006/main">
            <a:off x="7227181" y="4712581"/>
            <a:ext cx="1234440" cy="1234440"/>
          </a:xfrm>
          <a:prstGeom xmlns:a="http://schemas.openxmlformats.org/drawingml/2006/main" prst="ellipse">
            <a:avLst/>
          </a:prstGeom>
          <a:solidFill xmlns:a="http://schemas.openxmlformats.org/drawingml/2006/main">
            <a:srgbClr val="6D2E46"/>
          </a:solidFill>
          <a:ln xmlns:a="http://schemas.openxmlformats.org/drawingml/2006/main" w="254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1B205B09-22E6-49D5-AA59-33AA21A34D6A}"/>
              </a:ext>
            </a:extLst>
          </p:cNvPr>
          <p:cNvSpPr>
            <a:spLocks xmlns:a="http://schemas.openxmlformats.org/drawingml/2006/main" noGrp="1"/>
          </p:cNvSpPr>
          <p:nvPr/>
        </p:nvSpPr>
        <p:spPr>
          <a:xfrm xmlns:a="http://schemas.openxmlformats.org/drawingml/2006/main">
            <a:off x="7227181" y="4712581"/>
            <a:ext cx="12344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SAME</a:t>
            </a:r>
          </a:p>
          <a:p xmlns:a="http://schemas.openxmlformats.org/drawingml/2006/main">
            <a:pPr marL="0" indent="0" algn="ctr">
              <a:buNone/>
            </a:pPr>
            <a:r>
              <a:rPr sz="1100" b="1">
                <a:solidFill>
                  <a:srgbClr val="FFFFFF"/>
                </a:solidFill>
                <a:latin typeface="Calibri"/>
                <a:ea typeface="Calibri"/>
                <a:cs typeface="Calibri"/>
              </a:rPr>
              <a:t>VARIABLE</a:t>
            </a:r>
          </a:p>
        </p:txBody>
      </p:sp>
      <p:sp>
        <p:nvSpPr>
          <p:cNvPr id="20" name="Text 18">
            <a:extLst xmlns:a="http://schemas.openxmlformats.org/drawingml/2006/main">
              <a:ext uri="{FF2B5EF4-FFF2-40B4-BE49-F238E27FC236}">
                <a16:creationId xmlns:a16="http://schemas.microsoft.com/office/drawing/2014/main" id="{A7E7C2F5-7C46-4CC9-83C1-2F7A34DBD9C1}"/>
              </a:ext>
            </a:extLst>
          </p:cNvPr>
          <p:cNvSpPr>
            <a:spLocks xmlns:a="http://schemas.openxmlformats.org/drawingml/2006/main" noGrp="1"/>
          </p:cNvSpPr>
          <p:nvPr/>
        </p:nvSpPr>
        <p:spPr>
          <a:xfrm xmlns:a="http://schemas.openxmlformats.org/drawingml/2006/main">
            <a:off x="2335141" y="6678541"/>
            <a:ext cx="108813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xmlns:a="http://schemas.openxmlformats.org/drawingml/2006/main">
              <a:ext uri="{FF2B5EF4-FFF2-40B4-BE49-F238E27FC236}">
                <a16:creationId xmlns:a16="http://schemas.microsoft.com/office/drawing/2014/main" id="{8580C7EA-1897-4AD2-9B77-5E5759C84255}"/>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73480820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7" name="Rectangle 36"/>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FF46AF2B-4939-4D44-8FE1-878EDC02C2CE}"/>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The honest result: nobody beats the median</a:t>
            </a:r>
          </a:p>
        </p:txBody>
      </p:sp>
      <p:sp>
        <p:nvSpPr>
          <p:cNvPr id="3" name="Shape 1">
            <a:extLst xmlns:a="http://schemas.openxmlformats.org/drawingml/2006/main">
              <a:ext uri="{FF2B5EF4-FFF2-40B4-BE49-F238E27FC236}">
                <a16:creationId xmlns:a16="http://schemas.microsoft.com/office/drawing/2014/main" id="{466FDEF7-6C4E-42F8-87F1-F45D293CC68E}"/>
              </a:ext>
            </a:extLst>
          </p:cNvPr>
          <p:cNvSpPr>
            <a:spLocks xmlns:a="http://schemas.openxmlformats.org/drawingml/2006/main" noGrp="1"/>
          </p:cNvSpPr>
          <p:nvPr/>
        </p:nvSpPr>
        <p:spPr>
          <a:xfrm xmlns:a="http://schemas.openxmlformats.org/drawingml/2006/main">
            <a:off x="12041497"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02C1FF4-FA34-495D-A208-3EDC73D8F03B}"/>
              </a:ext>
            </a:extLst>
          </p:cNvPr>
          <p:cNvSpPr>
            <a:spLocks xmlns:a="http://schemas.openxmlformats.org/drawingml/2006/main" noGrp="1"/>
          </p:cNvSpPr>
          <p:nvPr/>
        </p:nvSpPr>
        <p:spPr>
          <a:xfrm xmlns:a="http://schemas.openxmlformats.org/drawingml/2006/main">
            <a:off x="12352393"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79E77A24-406D-4012-8868-2B75531E916D}"/>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DB9DB200-E83A-4618-B90D-D5885C7F8A88}"/>
              </a:ext>
            </a:extLst>
          </p:cNvPr>
          <p:cNvSpPr>
            <a:spLocks xmlns:a="http://schemas.openxmlformats.org/drawingml/2006/main" noGrp="1"/>
          </p:cNvSpPr>
          <p:nvPr/>
        </p:nvSpPr>
        <p:spPr>
          <a:xfrm xmlns:a="http://schemas.openxmlformats.org/drawingml/2006/main">
            <a:off x="12951325"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9ED0AF01-0CE0-496A-9421-1A1F7C5E1983}"/>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BBBE5A2-86F6-4BF0-B2D6-D51A0039759C}"/>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78db95d068964966"/>
          <a:stretch xmlns:a="http://schemas.openxmlformats.org/drawingml/2006/main">
            <a:fillRect l="0" t="0" r="0" b="0"/>
          </a:stretch>
        </p:blipFill>
        <p:spPr>
          <a:xfrm xmlns:a="http://schemas.openxmlformats.org/drawingml/2006/main">
            <a:off x="2243701" y="3523861"/>
            <a:ext cx="6400800" cy="3839712"/>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180A627B-6AB1-4B2E-BBC7-70850E3C5D04}"/>
              </a:ext>
            </a:extLst>
          </p:cNvPr>
          <p:cNvSpPr>
            <a:spLocks xmlns:a="http://schemas.openxmlformats.org/drawingml/2006/main" noGrp="1"/>
          </p:cNvSpPr>
          <p:nvPr/>
        </p:nvSpPr>
        <p:spPr>
          <a:xfrm xmlns:a="http://schemas.openxmlformats.org/drawingml/2006/main">
            <a:off x="2243701" y="7381861"/>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xmlns:a="http://schemas.openxmlformats.org/drawingml/2006/main">
              <a:ext uri="{FF2B5EF4-FFF2-40B4-BE49-F238E27FC236}">
                <a16:creationId xmlns:a16="http://schemas.microsoft.com/office/drawing/2014/main" id="{6891AD96-8E44-44D5-8255-575E3268A546}"/>
              </a:ext>
            </a:extLst>
          </p:cNvPr>
          <p:cNvSpPr>
            <a:spLocks xmlns:a="http://schemas.openxmlformats.org/drawingml/2006/main" noGrp="1"/>
          </p:cNvSpPr>
          <p:nvPr/>
        </p:nvSpPr>
        <p:spPr>
          <a:xfrm xmlns:a="http://schemas.openxmlformats.org/drawingml/2006/main">
            <a:off x="8918821" y="3569581"/>
            <a:ext cx="4434840" cy="1600200"/>
          </a:xfrm>
          <a:prstGeom xmlns:a="http://schemas.openxmlformats.org/drawingml/2006/main" prst="roundRect">
            <a:avLst>
              <a:gd name="adj" fmla="val 4571"/>
            </a:avLst>
          </a:prstGeom>
          <a:solidFill xmlns:a="http://schemas.openxmlformats.org/drawingml/2006/main">
            <a:srgbClr val="F6ECED"/>
          </a:solidFill>
          <a:ln xmlns:a="http://schemas.openxmlformats.org/drawingml/2006/main" w="12700">
            <a:solidFill>
              <a:srgbClr val="7A2E39"/>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5E915CB9-6292-4318-8CCE-F685073CD83C}"/>
              </a:ext>
            </a:extLst>
          </p:cNvPr>
          <p:cNvSpPr>
            <a:spLocks xmlns:a="http://schemas.openxmlformats.org/drawingml/2006/main" noGrp="1"/>
          </p:cNvSpPr>
          <p:nvPr/>
        </p:nvSpPr>
        <p:spPr>
          <a:xfrm xmlns:a="http://schemas.openxmlformats.org/drawingml/2006/main">
            <a:off x="9147421" y="3706741"/>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2E39"/>
                </a:solidFill>
                <a:latin typeface="Calibri"/>
                <a:ea typeface="Calibri"/>
                <a:cs typeface="Calibri"/>
              </a:rPr>
              <a:t>DOURO</a:t>
            </a:r>
          </a:p>
        </p:txBody>
      </p:sp>
      <p:sp>
        <p:nvSpPr>
          <p:cNvPr id="13" name="Text 10">
            <a:extLst xmlns:a="http://schemas.openxmlformats.org/drawingml/2006/main">
              <a:ext uri="{FF2B5EF4-FFF2-40B4-BE49-F238E27FC236}">
                <a16:creationId xmlns:a16="http://schemas.microsoft.com/office/drawing/2014/main" id="{616962DE-8A8D-463A-A101-4351B415EAC4}"/>
              </a:ext>
            </a:extLst>
          </p:cNvPr>
          <p:cNvSpPr>
            <a:spLocks xmlns:a="http://schemas.openxmlformats.org/drawingml/2006/main" noGrp="1"/>
          </p:cNvSpPr>
          <p:nvPr/>
        </p:nvSpPr>
        <p:spPr>
          <a:xfrm xmlns:a="http://schemas.openxmlformats.org/drawingml/2006/main">
            <a:off x="9147421" y="3981061"/>
            <a:ext cx="1828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7A2E39"/>
                </a:solidFill>
                <a:latin typeface="Cambria"/>
                <a:ea typeface="Cambria"/>
                <a:cs typeface="Cambria"/>
              </a:rPr>
              <a:t>+3%</a:t>
            </a:r>
          </a:p>
        </p:txBody>
      </p:sp>
      <p:sp>
        <p:nvSpPr>
          <p:cNvPr id="14" name="Text 11">
            <a:extLst xmlns:a="http://schemas.openxmlformats.org/drawingml/2006/main">
              <a:ext uri="{FF2B5EF4-FFF2-40B4-BE49-F238E27FC236}">
                <a16:creationId xmlns:a16="http://schemas.microsoft.com/office/drawing/2014/main" id="{C90955F0-2F11-476D-895E-B5EE76F053A5}"/>
              </a:ext>
            </a:extLst>
          </p:cNvPr>
          <p:cNvSpPr>
            <a:spLocks xmlns:a="http://schemas.openxmlformats.org/drawingml/2006/main" noGrp="1"/>
          </p:cNvSpPr>
          <p:nvPr/>
        </p:nvSpPr>
        <p:spPr>
          <a:xfrm xmlns:a="http://schemas.openxmlformats.org/drawingml/2006/main">
            <a:off x="10839061" y="4072501"/>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189 vs 184 mhl</a:t>
            </a:r>
          </a:p>
          <a:p xmlns:a="http://schemas.openxmlformats.org/drawingml/2006/main">
            <a:pPr marL="0" indent="0">
              <a:buNone/>
            </a:pPr>
            <a:r>
              <a:rPr sz="1300">
                <a:solidFill>
                  <a:srgbClr val="2B2320"/>
                </a:solidFill>
                <a:latin typeface="Calibri"/>
                <a:ea typeface="Calibri"/>
                <a:cs typeface="Calibri"/>
              </a:rPr>
              <a:t>Wilcoxon p = 0.468 (n.s.)</a:t>
            </a:r>
          </a:p>
        </p:txBody>
      </p:sp>
      <p:sp>
        <p:nvSpPr>
          <p:cNvPr id="15" name="Shape 12">
            <a:extLst xmlns:a="http://schemas.openxmlformats.org/drawingml/2006/main">
              <a:ext uri="{FF2B5EF4-FFF2-40B4-BE49-F238E27FC236}">
                <a16:creationId xmlns:a16="http://schemas.microsoft.com/office/drawing/2014/main" id="{461B4206-D0D9-4B4A-967F-01FAADD0DADC}"/>
              </a:ext>
            </a:extLst>
          </p:cNvPr>
          <p:cNvSpPr>
            <a:spLocks xmlns:a="http://schemas.openxmlformats.org/drawingml/2006/main" noGrp="1"/>
          </p:cNvSpPr>
          <p:nvPr/>
        </p:nvSpPr>
        <p:spPr>
          <a:xfrm xmlns:a="http://schemas.openxmlformats.org/drawingml/2006/main">
            <a:off x="8918821" y="5352661"/>
            <a:ext cx="4434840" cy="1600200"/>
          </a:xfrm>
          <a:prstGeom xmlns:a="http://schemas.openxmlformats.org/drawingml/2006/main" prst="roundRect">
            <a:avLst>
              <a:gd name="adj" fmla="val 4571"/>
            </a:avLst>
          </a:prstGeom>
          <a:solidFill xmlns:a="http://schemas.openxmlformats.org/drawingml/2006/main">
            <a:srgbClr val="F1F5EE"/>
          </a:solidFill>
          <a:ln xmlns:a="http://schemas.openxmlformats.org/drawingml/2006/main" w="12700">
            <a:solidFill>
              <a:srgbClr val="5E7148"/>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F13ADC2E-C73A-42F1-BF59-ECA3A5891BB0}"/>
              </a:ext>
            </a:extLst>
          </p:cNvPr>
          <p:cNvSpPr>
            <a:spLocks xmlns:a="http://schemas.openxmlformats.org/drawingml/2006/main" noGrp="1"/>
          </p:cNvSpPr>
          <p:nvPr/>
        </p:nvSpPr>
        <p:spPr>
          <a:xfrm xmlns:a="http://schemas.openxmlformats.org/drawingml/2006/main">
            <a:off x="9147421" y="5489821"/>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5E7148"/>
                </a:solidFill>
                <a:latin typeface="Calibri"/>
                <a:ea typeface="Calibri"/>
                <a:cs typeface="Calibri"/>
              </a:rPr>
              <a:t>VINHO VERDE</a:t>
            </a:r>
          </a:p>
        </p:txBody>
      </p:sp>
      <p:sp>
        <p:nvSpPr>
          <p:cNvPr id="17" name="Text 14">
            <a:extLst xmlns:a="http://schemas.openxmlformats.org/drawingml/2006/main">
              <a:ext uri="{FF2B5EF4-FFF2-40B4-BE49-F238E27FC236}">
                <a16:creationId xmlns:a16="http://schemas.microsoft.com/office/drawing/2014/main" id="{7873C3A9-D26A-4E7E-8D54-344A16E5ED49}"/>
              </a:ext>
            </a:extLst>
          </p:cNvPr>
          <p:cNvSpPr>
            <a:spLocks xmlns:a="http://schemas.openxmlformats.org/drawingml/2006/main" noGrp="1"/>
          </p:cNvSpPr>
          <p:nvPr/>
        </p:nvSpPr>
        <p:spPr>
          <a:xfrm xmlns:a="http://schemas.openxmlformats.org/drawingml/2006/main">
            <a:off x="9147421" y="5764141"/>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5E7148"/>
                </a:solidFill>
                <a:latin typeface="Cambria"/>
                <a:ea typeface="Cambria"/>
                <a:cs typeface="Cambria"/>
              </a:rPr>
              <a:t>+22%</a:t>
            </a:r>
          </a:p>
        </p:txBody>
      </p:sp>
      <p:sp>
        <p:nvSpPr>
          <p:cNvPr id="18" name="Text 15">
            <a:extLst xmlns:a="http://schemas.openxmlformats.org/drawingml/2006/main">
              <a:ext uri="{FF2B5EF4-FFF2-40B4-BE49-F238E27FC236}">
                <a16:creationId xmlns:a16="http://schemas.microsoft.com/office/drawing/2014/main" id="{F9B08F19-38D6-4ED9-BAD4-D2837ED9A7C0}"/>
              </a:ext>
            </a:extLst>
          </p:cNvPr>
          <p:cNvSpPr>
            <a:spLocks xmlns:a="http://schemas.openxmlformats.org/drawingml/2006/main" noGrp="1"/>
          </p:cNvSpPr>
          <p:nvPr/>
        </p:nvSpPr>
        <p:spPr>
          <a:xfrm xmlns:a="http://schemas.openxmlformats.org/drawingml/2006/main">
            <a:off x="10976221" y="5855581"/>
            <a:ext cx="2240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B2320"/>
                </a:solidFill>
                <a:latin typeface="Calibri"/>
                <a:ea typeface="Calibri"/>
                <a:cs typeface="Calibri"/>
              </a:rPr>
              <a:t>172 vs 140 mhl</a:t>
            </a:r>
          </a:p>
          <a:p xmlns:a="http://schemas.openxmlformats.org/drawingml/2006/main">
            <a:pPr marL="0" indent="0">
              <a:buNone/>
            </a:pPr>
            <a:r>
              <a:rPr sz="1300">
                <a:solidFill>
                  <a:srgbClr val="2B2320"/>
                </a:solidFill>
                <a:latin typeface="Calibri"/>
                <a:ea typeface="Calibri"/>
                <a:cs typeface="Calibri"/>
              </a:rPr>
              <a:t>rules actively harm, p = 0.004</a:t>
            </a:r>
          </a:p>
        </p:txBody>
      </p:sp>
      <p:sp>
        <p:nvSpPr>
          <p:cNvPr id="19" name="Text 16">
            <a:extLst xmlns:a="http://schemas.openxmlformats.org/drawingml/2006/main">
              <a:ext uri="{FF2B5EF4-FFF2-40B4-BE49-F238E27FC236}">
                <a16:creationId xmlns:a16="http://schemas.microsoft.com/office/drawing/2014/main" id="{8EA84E45-942C-4B66-A612-CD48468F92D5}"/>
              </a:ext>
            </a:extLst>
          </p:cNvPr>
          <p:cNvSpPr>
            <a:spLocks xmlns:a="http://schemas.openxmlformats.org/drawingml/2006/main" noGrp="1"/>
          </p:cNvSpPr>
          <p:nvPr/>
        </p:nvSpPr>
        <p:spPr>
          <a:xfrm xmlns:a="http://schemas.openxmlformats.org/drawingml/2006/main">
            <a:off x="8918821" y="7135741"/>
            <a:ext cx="4434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xmlns:a="http://schemas.openxmlformats.org/drawingml/2006/main">
              <a:ext uri="{FF2B5EF4-FFF2-40B4-BE49-F238E27FC236}">
                <a16:creationId xmlns:a16="http://schemas.microsoft.com/office/drawing/2014/main" id="{1521DA9A-BAC8-47CD-B364-8A16AE711853}"/>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119486594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3" name="Rectangle 32"/>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a:extLst xmlns:a="http://schemas.openxmlformats.org/drawingml/2006/main">
              <a:ext uri="{FF2B5EF4-FFF2-40B4-BE49-F238E27FC236}">
                <a16:creationId xmlns:a16="http://schemas.microsoft.com/office/drawing/2014/main" id="{C2C57BA3-0EB4-4181-A850-4B8845289C8D}"/>
              </a:ext>
            </a:extLst>
          </p:cNvPr>
          <p:cNvSpPr>
            <a:spLocks xmlns:a="http://schemas.openxmlformats.org/drawingml/2006/main" noGrp="1"/>
          </p:cNvSpPr>
          <p:nvPr/>
        </p:nvSpPr>
        <p:spPr>
          <a:xfrm xmlns:a="http://schemas.openxmlformats.org/drawingml/2006/main">
            <a:off x="2243701" y="2225413"/>
            <a:ext cx="7680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900" b="1">
                <a:solidFill>
                  <a:srgbClr val="6D2E46"/>
                </a:solidFill>
                <a:latin typeface="Cambria"/>
                <a:ea typeface="Cambria"/>
                <a:cs typeface="Cambria"/>
              </a:rPr>
              <a:t>Discovery ≠ Prediction — and I can prove why</a:t>
            </a:r>
          </a:p>
        </p:txBody>
      </p:sp>
      <p:sp>
        <p:nvSpPr>
          <p:cNvPr id="3" name="Shape 1">
            <a:extLst xmlns:a="http://schemas.openxmlformats.org/drawingml/2006/main">
              <a:ext uri="{FF2B5EF4-FFF2-40B4-BE49-F238E27FC236}">
                <a16:creationId xmlns:a16="http://schemas.microsoft.com/office/drawing/2014/main" id="{6684DA9B-D6CD-4445-BCDA-FF19DB0DD335}"/>
              </a:ext>
            </a:extLst>
          </p:cNvPr>
          <p:cNvSpPr>
            <a:spLocks xmlns:a="http://schemas.openxmlformats.org/drawingml/2006/main" noGrp="1"/>
          </p:cNvSpPr>
          <p:nvPr/>
        </p:nvSpPr>
        <p:spPr>
          <a:xfrm xmlns:a="http://schemas.openxmlformats.org/drawingml/2006/main">
            <a:off x="12041497"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B004704-01DD-4CA9-A85D-8BA1B019B561}"/>
              </a:ext>
            </a:extLst>
          </p:cNvPr>
          <p:cNvSpPr>
            <a:spLocks xmlns:a="http://schemas.openxmlformats.org/drawingml/2006/main" noGrp="1"/>
          </p:cNvSpPr>
          <p:nvPr/>
        </p:nvSpPr>
        <p:spPr>
          <a:xfrm xmlns:a="http://schemas.openxmlformats.org/drawingml/2006/main">
            <a:off x="12352393"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C1769C5-F339-443C-9C08-36683A0071F9}"/>
              </a:ext>
            </a:extLst>
          </p:cNvPr>
          <p:cNvSpPr>
            <a:spLocks xmlns:a="http://schemas.openxmlformats.org/drawingml/2006/main" noGrp="1"/>
          </p:cNvSpPr>
          <p:nvPr/>
        </p:nvSpPr>
        <p:spPr>
          <a:xfrm xmlns:a="http://schemas.openxmlformats.org/drawingml/2006/main">
            <a:off x="12663289"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0AAFA763-94BB-4A64-B59D-8CD6E4FADE73}"/>
              </a:ext>
            </a:extLst>
          </p:cNvPr>
          <p:cNvSpPr>
            <a:spLocks xmlns:a="http://schemas.openxmlformats.org/drawingml/2006/main" noGrp="1"/>
          </p:cNvSpPr>
          <p:nvPr/>
        </p:nvSpPr>
        <p:spPr>
          <a:xfrm xmlns:a="http://schemas.openxmlformats.org/drawingml/2006/main">
            <a:off x="12951325" y="1932805"/>
            <a:ext cx="182880" cy="182880"/>
          </a:xfrm>
          <a:prstGeom xmlns:a="http://schemas.openxmlformats.org/drawingml/2006/main" prst="ellipse">
            <a:avLst/>
          </a:prstGeom>
          <a:solidFill xmlns:a="http://schemas.openxmlformats.org/drawingml/2006/main">
            <a:srgbClr val="C89B3C"/>
          </a:solidFill>
          <a:ln xmlns:a="http://schemas.openxmlformats.org/drawingml/2006/main" w="12700">
            <a:solidFill>
              <a:srgbClr val="C89B3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C4CDC3DC-4EF4-4040-93A3-FF83250D0039}"/>
              </a:ext>
            </a:extLst>
          </p:cNvPr>
          <p:cNvSpPr>
            <a:spLocks xmlns:a="http://schemas.openxmlformats.org/drawingml/2006/main" noGrp="1"/>
          </p:cNvSpPr>
          <p:nvPr/>
        </p:nvSpPr>
        <p:spPr>
          <a:xfrm xmlns:a="http://schemas.openxmlformats.org/drawingml/2006/main">
            <a:off x="13285081" y="1955665"/>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7A6F5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F98A78A-B993-4C25-8E7D-9CF7C9B481A8}"/>
              </a:ext>
            </a:extLst>
          </p:cNvPr>
          <p:cNvSpPr>
            <a:spLocks xmlns:a="http://schemas.openxmlformats.org/drawingml/2006/main" noGrp="1"/>
          </p:cNvSpPr>
          <p:nvPr/>
        </p:nvSpPr>
        <p:spPr>
          <a:xfrm xmlns:a="http://schemas.openxmlformats.org/drawingml/2006/main">
            <a:off x="7090021" y="1877941"/>
            <a:ext cx="4480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c077274f36ff4b7a"/>
          <a:stretch xmlns:a="http://schemas.openxmlformats.org/drawingml/2006/main">
            <a:fillRect l="0" t="0" r="0" b="0"/>
          </a:stretch>
        </p:blipFill>
        <p:spPr>
          <a:xfrm xmlns:a="http://schemas.openxmlformats.org/drawingml/2006/main">
            <a:off x="7272901" y="3478141"/>
            <a:ext cx="6309360" cy="3856577"/>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76F7019A-5AF5-4DA7-AC32-0246EA2FB13C}"/>
              </a:ext>
            </a:extLst>
          </p:cNvPr>
          <p:cNvSpPr>
            <a:spLocks xmlns:a="http://schemas.openxmlformats.org/drawingml/2006/main" noGrp="1"/>
          </p:cNvSpPr>
          <p:nvPr/>
        </p:nvSpPr>
        <p:spPr>
          <a:xfrm xmlns:a="http://schemas.openxmlformats.org/drawingml/2006/main">
            <a:off x="2335141" y="3523861"/>
            <a:ext cx="4663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D2E46"/>
                </a:solidFill>
                <a:latin typeface="Cambria"/>
                <a:ea typeface="Cambria"/>
                <a:cs typeface="Cambria"/>
              </a:rPr>
              <a:t>The failure is lawful, not random.</a:t>
            </a:r>
          </a:p>
        </p:txBody>
      </p:sp>
      <p:sp>
        <p:nvSpPr>
          <p:cNvPr id="11" name="Text 8">
            <a:extLst xmlns:a="http://schemas.openxmlformats.org/drawingml/2006/main">
              <a:ext uri="{FF2B5EF4-FFF2-40B4-BE49-F238E27FC236}">
                <a16:creationId xmlns:a16="http://schemas.microsoft.com/office/drawing/2014/main" id="{49BD7E6D-B52F-4733-8812-3BADC3870EF7}"/>
              </a:ext>
            </a:extLst>
          </p:cNvPr>
          <p:cNvSpPr>
            <a:spLocks xmlns:a="http://schemas.openxmlformats.org/drawingml/2006/main" noGrp="1"/>
          </p:cNvSpPr>
          <p:nvPr/>
        </p:nvSpPr>
        <p:spPr>
          <a:xfrm xmlns:a="http://schemas.openxmlformats.org/drawingml/2006/main">
            <a:off x="2335141" y="4118221"/>
            <a:ext cx="4709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xmlns:a="http://schemas.openxmlformats.org/drawingml/2006/main">
              <a:ext uri="{FF2B5EF4-FFF2-40B4-BE49-F238E27FC236}">
                <a16:creationId xmlns:a16="http://schemas.microsoft.com/office/drawing/2014/main" id="{ED11B463-D498-4C3F-8C83-F1237188CE79}"/>
              </a:ext>
            </a:extLst>
          </p:cNvPr>
          <p:cNvSpPr>
            <a:spLocks xmlns:a="http://schemas.openxmlformats.org/drawingml/2006/main" noGrp="1"/>
          </p:cNvSpPr>
          <p:nvPr/>
        </p:nvSpPr>
        <p:spPr>
          <a:xfrm xmlns:a="http://schemas.openxmlformats.org/drawingml/2006/main">
            <a:off x="2335141" y="5489821"/>
            <a:ext cx="4709160" cy="2148840"/>
          </a:xfrm>
          <a:prstGeom xmlns:a="http://schemas.openxmlformats.org/drawingml/2006/main" prst="roundRect">
            <a:avLst>
              <a:gd name="adj" fmla="val 3404"/>
            </a:avLst>
          </a:prstGeom>
          <a:solidFill xmlns:a="http://schemas.openxmlformats.org/drawingml/2006/main">
            <a:srgbClr val="F7F1E7"/>
          </a:solidFill>
          <a:ln xmlns:a="http://schemas.openxmlformats.org/drawingml/2006/main" w="12700">
            <a:solidFill>
              <a:srgbClr val="C89B3C"/>
            </a:solidFill>
            <a:prstDash val="solid"/>
          </a:ln>
          <a:effectLst xmlns:a="http://schemas.openxmlformats.org/drawingml/2006/main">
            <a:outerShdw blurRad="88900" dist="38100" dir="5400000" algn="bl" rotWithShape="0">
              <a:srgbClr val="000000">
                <a:alpha val="14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1AE5489A-30C7-4FBA-9AAE-FE1509CA1927}"/>
              </a:ext>
            </a:extLst>
          </p:cNvPr>
          <p:cNvSpPr>
            <a:spLocks xmlns:a="http://schemas.openxmlformats.org/drawingml/2006/main" noGrp="1"/>
          </p:cNvSpPr>
          <p:nvPr/>
        </p:nvSpPr>
        <p:spPr>
          <a:xfrm xmlns:a="http://schemas.openxmlformats.org/drawingml/2006/main">
            <a:off x="2563741" y="5645269"/>
            <a:ext cx="4297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C89B3C"/>
                </a:solidFill>
                <a:latin typeface="Calibri"/>
                <a:ea typeface="Calibri"/>
                <a:cs typeface="Calibri"/>
              </a:rPr>
              <a:t>THE ERA MIRROR</a:t>
            </a:r>
          </a:p>
        </p:txBody>
      </p:sp>
      <p:sp>
        <p:nvSpPr>
          <p:cNvPr id="14" name="Text 11">
            <a:extLst xmlns:a="http://schemas.openxmlformats.org/drawingml/2006/main">
              <a:ext uri="{FF2B5EF4-FFF2-40B4-BE49-F238E27FC236}">
                <a16:creationId xmlns:a16="http://schemas.microsoft.com/office/drawing/2014/main" id="{215F56B1-B7AE-46C3-9894-36E8CE746424}"/>
              </a:ext>
            </a:extLst>
          </p:cNvPr>
          <p:cNvSpPr>
            <a:spLocks xmlns:a="http://schemas.openxmlformats.org/drawingml/2006/main" noGrp="1"/>
          </p:cNvSpPr>
          <p:nvPr/>
        </p:nvSpPr>
        <p:spPr>
          <a:xfrm xmlns:a="http://schemas.openxmlformats.org/drawingml/2006/main">
            <a:off x="2563741" y="5992741"/>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xmlns:a="http://schemas.openxmlformats.org/drawingml/2006/main">
              <a:ext uri="{FF2B5EF4-FFF2-40B4-BE49-F238E27FC236}">
                <a16:creationId xmlns:a16="http://schemas.microsoft.com/office/drawing/2014/main" id="{AA55C850-C1A2-4777-B795-81B6BE0D37CC}"/>
              </a:ext>
            </a:extLst>
          </p:cNvPr>
          <p:cNvSpPr>
            <a:spLocks xmlns:a="http://schemas.openxmlformats.org/drawingml/2006/main" noGrp="1"/>
          </p:cNvSpPr>
          <p:nvPr/>
        </p:nvSpPr>
        <p:spPr>
          <a:xfrm xmlns:a="http://schemas.openxmlformats.org/drawingml/2006/main">
            <a:off x="2563741" y="6769981"/>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xmlns:a="http://schemas.openxmlformats.org/drawingml/2006/main">
              <a:ext uri="{FF2B5EF4-FFF2-40B4-BE49-F238E27FC236}">
                <a16:creationId xmlns:a16="http://schemas.microsoft.com/office/drawing/2014/main" id="{5DE42923-E8A2-4702-848C-126FBD627463}"/>
              </a:ext>
            </a:extLst>
          </p:cNvPr>
          <p:cNvSpPr>
            <a:spLocks xmlns:a="http://schemas.openxmlformats.org/drawingml/2006/main" noGrp="1"/>
          </p:cNvSpPr>
          <p:nvPr/>
        </p:nvSpPr>
        <p:spPr>
          <a:xfrm xmlns:a="http://schemas.openxmlformats.org/drawingml/2006/main">
            <a:off x="13170781" y="8114149"/>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173887131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5" name="Rectangle 3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200B18A4-D4F8-40FD-AF9D-B1E3FBCE1BB0}"/>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FCB9EE4-23F5-488B-B46B-6F2EB5F98C8C}"/>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Research Questions</a:t>
            </a:r>
          </a:p>
        </p:txBody>
      </p:sp>
      <p:sp>
        <p:nvSpPr>
          <p:cNvPr id="4" name="Text 2">
            <a:extLst xmlns:a="http://schemas.openxmlformats.org/drawingml/2006/main">
              <a:ext uri="{FF2B5EF4-FFF2-40B4-BE49-F238E27FC236}">
                <a16:creationId xmlns:a16="http://schemas.microsoft.com/office/drawing/2014/main" id="{22E0B61A-A371-4117-AB09-E3BF1C659540}"/>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Four questions spanning discovery, validation, and prediction</a:t>
            </a:r>
          </a:p>
        </p:txBody>
      </p:sp>
      <p:sp>
        <p:nvSpPr>
          <p:cNvPr id="5" name="Shape 3">
            <a:extLst xmlns:a="http://schemas.openxmlformats.org/drawingml/2006/main">
              <a:ext uri="{FF2B5EF4-FFF2-40B4-BE49-F238E27FC236}">
                <a16:creationId xmlns:a16="http://schemas.microsoft.com/office/drawing/2014/main" id="{801CB7C0-37E8-41E0-ACB9-DF331CCCC814}"/>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BA82DF06-067B-47E9-B634-21EC30DA0A6F}"/>
              </a:ext>
            </a:extLst>
          </p:cNvPr>
          <p:cNvSpPr>
            <a:spLocks xmlns:a="http://schemas.openxmlformats.org/drawingml/2006/main" noGrp="1"/>
          </p:cNvSpPr>
          <p:nvPr/>
        </p:nvSpPr>
        <p:spPr>
          <a:xfrm xmlns:a="http://schemas.openxmlformats.org/drawingml/2006/main">
            <a:off x="2243701" y="3097141"/>
            <a:ext cx="950976" cy="926592"/>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7F23DF3-F69B-4FB1-BAF0-45711A3EFE75}"/>
              </a:ext>
            </a:extLst>
          </p:cNvPr>
          <p:cNvSpPr>
            <a:spLocks xmlns:a="http://schemas.openxmlformats.org/drawingml/2006/main" noGrp="1"/>
          </p:cNvSpPr>
          <p:nvPr/>
        </p:nvSpPr>
        <p:spPr>
          <a:xfrm xmlns:a="http://schemas.openxmlformats.org/drawingml/2006/main">
            <a:off x="2243701" y="3097141"/>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RQ1</a:t>
            </a:r>
          </a:p>
        </p:txBody>
      </p:sp>
      <p:sp>
        <p:nvSpPr>
          <p:cNvPr id="8" name="Shape 6">
            <a:extLst xmlns:a="http://schemas.openxmlformats.org/drawingml/2006/main">
              <a:ext uri="{FF2B5EF4-FFF2-40B4-BE49-F238E27FC236}">
                <a16:creationId xmlns:a16="http://schemas.microsoft.com/office/drawing/2014/main" id="{788E0FD1-01DD-49BA-AB6D-457B34CA8E06}"/>
              </a:ext>
            </a:extLst>
          </p:cNvPr>
          <p:cNvSpPr>
            <a:spLocks xmlns:a="http://schemas.openxmlformats.org/drawingml/2006/main" noGrp="1"/>
          </p:cNvSpPr>
          <p:nvPr/>
        </p:nvSpPr>
        <p:spPr>
          <a:xfrm xmlns:a="http://schemas.openxmlformats.org/drawingml/2006/main">
            <a:off x="3304405" y="3097141"/>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60E5DB37-6ED2-4199-8D12-765F77019847}"/>
              </a:ext>
            </a:extLst>
          </p:cNvPr>
          <p:cNvSpPr>
            <a:spLocks xmlns:a="http://schemas.openxmlformats.org/drawingml/2006/main" noGrp="1"/>
          </p:cNvSpPr>
          <p:nvPr/>
        </p:nvSpPr>
        <p:spPr>
          <a:xfrm xmlns:a="http://schemas.openxmlformats.org/drawingml/2006/main">
            <a:off x="3475093" y="3133717"/>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xmlns:a="http://schemas.openxmlformats.org/drawingml/2006/main">
              <a:ext uri="{FF2B5EF4-FFF2-40B4-BE49-F238E27FC236}">
                <a16:creationId xmlns:a16="http://schemas.microsoft.com/office/drawing/2014/main" id="{2F426A86-6705-4412-A87F-3ACBDCB0E06D}"/>
              </a:ext>
            </a:extLst>
          </p:cNvPr>
          <p:cNvSpPr>
            <a:spLocks xmlns:a="http://schemas.openxmlformats.org/drawingml/2006/main" noGrp="1"/>
          </p:cNvSpPr>
          <p:nvPr/>
        </p:nvSpPr>
        <p:spPr>
          <a:xfrm xmlns:a="http://schemas.openxmlformats.org/drawingml/2006/main">
            <a:off x="11814421" y="3280021"/>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Goal 1 – Discovery</a:t>
            </a:r>
          </a:p>
        </p:txBody>
      </p:sp>
      <p:sp>
        <p:nvSpPr>
          <p:cNvPr id="11" name="Shape 9">
            <a:extLst xmlns:a="http://schemas.openxmlformats.org/drawingml/2006/main">
              <a:ext uri="{FF2B5EF4-FFF2-40B4-BE49-F238E27FC236}">
                <a16:creationId xmlns:a16="http://schemas.microsoft.com/office/drawing/2014/main" id="{4AA742A0-83C7-4844-BB1E-D3546D72F640}"/>
              </a:ext>
            </a:extLst>
          </p:cNvPr>
          <p:cNvSpPr>
            <a:spLocks xmlns:a="http://schemas.openxmlformats.org/drawingml/2006/main" noGrp="1"/>
          </p:cNvSpPr>
          <p:nvPr/>
        </p:nvSpPr>
        <p:spPr>
          <a:xfrm xmlns:a="http://schemas.openxmlformats.org/drawingml/2006/main">
            <a:off x="2243701" y="4316341"/>
            <a:ext cx="950976" cy="926592"/>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632EAAAF-EF06-4900-B65B-9C38C56BDDEC}"/>
              </a:ext>
            </a:extLst>
          </p:cNvPr>
          <p:cNvSpPr>
            <a:spLocks xmlns:a="http://schemas.openxmlformats.org/drawingml/2006/main" noGrp="1"/>
          </p:cNvSpPr>
          <p:nvPr/>
        </p:nvSpPr>
        <p:spPr>
          <a:xfrm xmlns:a="http://schemas.openxmlformats.org/drawingml/2006/main">
            <a:off x="2243701" y="4316341"/>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RQ2</a:t>
            </a:r>
          </a:p>
        </p:txBody>
      </p:sp>
      <p:sp>
        <p:nvSpPr>
          <p:cNvPr id="13" name="Shape 11">
            <a:extLst xmlns:a="http://schemas.openxmlformats.org/drawingml/2006/main">
              <a:ext uri="{FF2B5EF4-FFF2-40B4-BE49-F238E27FC236}">
                <a16:creationId xmlns:a16="http://schemas.microsoft.com/office/drawing/2014/main" id="{80A42413-5E6B-45E6-AD4E-1871E5D4D863}"/>
              </a:ext>
            </a:extLst>
          </p:cNvPr>
          <p:cNvSpPr>
            <a:spLocks xmlns:a="http://schemas.openxmlformats.org/drawingml/2006/main" noGrp="1"/>
          </p:cNvSpPr>
          <p:nvPr/>
        </p:nvSpPr>
        <p:spPr>
          <a:xfrm xmlns:a="http://schemas.openxmlformats.org/drawingml/2006/main">
            <a:off x="3304405" y="4316341"/>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38D3648F-2379-4F1E-BCAB-A4F65B5B77F2}"/>
              </a:ext>
            </a:extLst>
          </p:cNvPr>
          <p:cNvSpPr>
            <a:spLocks xmlns:a="http://schemas.openxmlformats.org/drawingml/2006/main" noGrp="1"/>
          </p:cNvSpPr>
          <p:nvPr/>
        </p:nvSpPr>
        <p:spPr>
          <a:xfrm xmlns:a="http://schemas.openxmlformats.org/drawingml/2006/main">
            <a:off x="3475093" y="4352917"/>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xmlns:a="http://schemas.openxmlformats.org/drawingml/2006/main">
              <a:ext uri="{FF2B5EF4-FFF2-40B4-BE49-F238E27FC236}">
                <a16:creationId xmlns:a16="http://schemas.microsoft.com/office/drawing/2014/main" id="{BE28DF79-C1E3-4F97-97F6-1F634F359532}"/>
              </a:ext>
            </a:extLst>
          </p:cNvPr>
          <p:cNvSpPr>
            <a:spLocks xmlns:a="http://schemas.openxmlformats.org/drawingml/2006/main" noGrp="1"/>
          </p:cNvSpPr>
          <p:nvPr/>
        </p:nvSpPr>
        <p:spPr>
          <a:xfrm xmlns:a="http://schemas.openxmlformats.org/drawingml/2006/main">
            <a:off x="11814421" y="4499221"/>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Goal 1 – Validation</a:t>
            </a:r>
          </a:p>
        </p:txBody>
      </p:sp>
      <p:sp>
        <p:nvSpPr>
          <p:cNvPr id="16" name="Shape 14">
            <a:extLst xmlns:a="http://schemas.openxmlformats.org/drawingml/2006/main">
              <a:ext uri="{FF2B5EF4-FFF2-40B4-BE49-F238E27FC236}">
                <a16:creationId xmlns:a16="http://schemas.microsoft.com/office/drawing/2014/main" id="{23DB7FFB-A2A5-4A07-803B-5BAC4BC50869}"/>
              </a:ext>
            </a:extLst>
          </p:cNvPr>
          <p:cNvSpPr>
            <a:spLocks xmlns:a="http://schemas.openxmlformats.org/drawingml/2006/main" noGrp="1"/>
          </p:cNvSpPr>
          <p:nvPr/>
        </p:nvSpPr>
        <p:spPr>
          <a:xfrm xmlns:a="http://schemas.openxmlformats.org/drawingml/2006/main">
            <a:off x="2243701" y="5535541"/>
            <a:ext cx="950976" cy="926592"/>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00D96E28-BE7B-4967-A6FC-C49A088FFCA7}"/>
              </a:ext>
            </a:extLst>
          </p:cNvPr>
          <p:cNvSpPr>
            <a:spLocks xmlns:a="http://schemas.openxmlformats.org/drawingml/2006/main" noGrp="1"/>
          </p:cNvSpPr>
          <p:nvPr/>
        </p:nvSpPr>
        <p:spPr>
          <a:xfrm xmlns:a="http://schemas.openxmlformats.org/drawingml/2006/main">
            <a:off x="2243701" y="5535541"/>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RQ3</a:t>
            </a:r>
          </a:p>
        </p:txBody>
      </p:sp>
      <p:sp>
        <p:nvSpPr>
          <p:cNvPr id="18" name="Shape 16">
            <a:extLst xmlns:a="http://schemas.openxmlformats.org/drawingml/2006/main">
              <a:ext uri="{FF2B5EF4-FFF2-40B4-BE49-F238E27FC236}">
                <a16:creationId xmlns:a16="http://schemas.microsoft.com/office/drawing/2014/main" id="{4B12C130-0365-42D2-A4C0-4DF9FE3CFE6B}"/>
              </a:ext>
            </a:extLst>
          </p:cNvPr>
          <p:cNvSpPr>
            <a:spLocks xmlns:a="http://schemas.openxmlformats.org/drawingml/2006/main" noGrp="1"/>
          </p:cNvSpPr>
          <p:nvPr/>
        </p:nvSpPr>
        <p:spPr>
          <a:xfrm xmlns:a="http://schemas.openxmlformats.org/drawingml/2006/main">
            <a:off x="3304405" y="5535541"/>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69D5CC07-5377-48F4-85A4-A9CF7B666439}"/>
              </a:ext>
            </a:extLst>
          </p:cNvPr>
          <p:cNvSpPr>
            <a:spLocks xmlns:a="http://schemas.openxmlformats.org/drawingml/2006/main" noGrp="1"/>
          </p:cNvSpPr>
          <p:nvPr/>
        </p:nvSpPr>
        <p:spPr>
          <a:xfrm xmlns:a="http://schemas.openxmlformats.org/drawingml/2006/main">
            <a:off x="3475093" y="5572117"/>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xmlns:a="http://schemas.openxmlformats.org/drawingml/2006/main">
              <a:ext uri="{FF2B5EF4-FFF2-40B4-BE49-F238E27FC236}">
                <a16:creationId xmlns:a16="http://schemas.microsoft.com/office/drawing/2014/main" id="{7E69D5F6-F05A-4C2D-831A-9AC378328283}"/>
              </a:ext>
            </a:extLst>
          </p:cNvPr>
          <p:cNvSpPr>
            <a:spLocks xmlns:a="http://schemas.openxmlformats.org/drawingml/2006/main" noGrp="1"/>
          </p:cNvSpPr>
          <p:nvPr/>
        </p:nvSpPr>
        <p:spPr>
          <a:xfrm xmlns:a="http://schemas.openxmlformats.org/drawingml/2006/main">
            <a:off x="11814421" y="5718421"/>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1B2B45"/>
                </a:solidFill>
                <a:latin typeface="Calibri"/>
                <a:ea typeface="Calibri"/>
                <a:cs typeface="Calibri"/>
              </a:rPr>
              <a:t>Goal 2 – Prediction</a:t>
            </a:r>
          </a:p>
        </p:txBody>
      </p:sp>
      <p:sp>
        <p:nvSpPr>
          <p:cNvPr id="21" name="Shape 19">
            <a:extLst xmlns:a="http://schemas.openxmlformats.org/drawingml/2006/main">
              <a:ext uri="{FF2B5EF4-FFF2-40B4-BE49-F238E27FC236}">
                <a16:creationId xmlns:a16="http://schemas.microsoft.com/office/drawing/2014/main" id="{83153A45-95AD-4931-B290-927EBAE58E7B}"/>
              </a:ext>
            </a:extLst>
          </p:cNvPr>
          <p:cNvSpPr>
            <a:spLocks xmlns:a="http://schemas.openxmlformats.org/drawingml/2006/main" noGrp="1"/>
          </p:cNvSpPr>
          <p:nvPr/>
        </p:nvSpPr>
        <p:spPr>
          <a:xfrm xmlns:a="http://schemas.openxmlformats.org/drawingml/2006/main">
            <a:off x="2243701" y="6754741"/>
            <a:ext cx="950976" cy="926592"/>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5C1662B1-35F8-4474-92A5-9A945A5611DC}"/>
              </a:ext>
            </a:extLst>
          </p:cNvPr>
          <p:cNvSpPr>
            <a:spLocks xmlns:a="http://schemas.openxmlformats.org/drawingml/2006/main" noGrp="1"/>
          </p:cNvSpPr>
          <p:nvPr/>
        </p:nvSpPr>
        <p:spPr>
          <a:xfrm xmlns:a="http://schemas.openxmlformats.org/drawingml/2006/main">
            <a:off x="2243701" y="6754741"/>
            <a:ext cx="95097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733" b="1">
                <a:solidFill>
                  <a:srgbClr val="FFFFFF"/>
                </a:solidFill>
                <a:latin typeface="Calibri"/>
                <a:ea typeface="Calibri"/>
                <a:cs typeface="Calibri"/>
              </a:rPr>
              <a:t>RQ4</a:t>
            </a:r>
          </a:p>
        </p:txBody>
      </p:sp>
      <p:sp>
        <p:nvSpPr>
          <p:cNvPr id="23" name="Shape 21">
            <a:extLst xmlns:a="http://schemas.openxmlformats.org/drawingml/2006/main">
              <a:ext uri="{FF2B5EF4-FFF2-40B4-BE49-F238E27FC236}">
                <a16:creationId xmlns:a16="http://schemas.microsoft.com/office/drawing/2014/main" id="{6DCA8CDE-C2E5-4668-9FC2-A24FC8064A80}"/>
              </a:ext>
            </a:extLst>
          </p:cNvPr>
          <p:cNvSpPr>
            <a:spLocks xmlns:a="http://schemas.openxmlformats.org/drawingml/2006/main" noGrp="1"/>
          </p:cNvSpPr>
          <p:nvPr/>
        </p:nvSpPr>
        <p:spPr>
          <a:xfrm xmlns:a="http://schemas.openxmlformats.org/drawingml/2006/main">
            <a:off x="3304405" y="6754741"/>
            <a:ext cx="9997440" cy="926592"/>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D51B0F6E-0A4E-4019-B1FC-6EEB3FAFBD3E}"/>
              </a:ext>
            </a:extLst>
          </p:cNvPr>
          <p:cNvSpPr>
            <a:spLocks xmlns:a="http://schemas.openxmlformats.org/drawingml/2006/main" noGrp="1"/>
          </p:cNvSpPr>
          <p:nvPr/>
        </p:nvSpPr>
        <p:spPr>
          <a:xfrm xmlns:a="http://schemas.openxmlformats.org/drawingml/2006/main">
            <a:off x="3475093" y="6791317"/>
            <a:ext cx="8290560" cy="682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xmlns:a="http://schemas.openxmlformats.org/drawingml/2006/main">
              <a:ext uri="{FF2B5EF4-FFF2-40B4-BE49-F238E27FC236}">
                <a16:creationId xmlns:a16="http://schemas.microsoft.com/office/drawing/2014/main" id="{E18110A5-540E-4341-B296-B49A8E75163E}"/>
              </a:ext>
            </a:extLst>
          </p:cNvPr>
          <p:cNvSpPr>
            <a:spLocks xmlns:a="http://schemas.openxmlformats.org/drawingml/2006/main" noGrp="1"/>
          </p:cNvSpPr>
          <p:nvPr/>
        </p:nvSpPr>
        <p:spPr>
          <a:xfrm xmlns:a="http://schemas.openxmlformats.org/drawingml/2006/main">
            <a:off x="11814421" y="6937621"/>
            <a:ext cx="13411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B03A2E"/>
                </a:solidFill>
                <a:latin typeface="Calibri"/>
                <a:ea typeface="Calibri"/>
                <a:cs typeface="Calibri"/>
              </a:rPr>
              <a:t>Goal 2 – Diagnosis</a:t>
            </a:r>
          </a:p>
        </p:txBody>
      </p:sp>
      <p:sp>
        <p:nvSpPr>
          <p:cNvPr id="26" name="Shape 24">
            <a:extLst xmlns:a="http://schemas.openxmlformats.org/drawingml/2006/main">
              <a:ext uri="{FF2B5EF4-FFF2-40B4-BE49-F238E27FC236}">
                <a16:creationId xmlns:a16="http://schemas.microsoft.com/office/drawing/2014/main" id="{BAE279FA-32B6-4460-BB9B-3725A7CE31C5}"/>
              </a:ext>
            </a:extLst>
          </p:cNvPr>
          <p:cNvSpPr>
            <a:spLocks xmlns:a="http://schemas.openxmlformats.org/drawingml/2006/main" noGrp="1"/>
          </p:cNvSpPr>
          <p:nvPr/>
        </p:nvSpPr>
        <p:spPr>
          <a:xfrm xmlns:a="http://schemas.openxmlformats.org/drawingml/2006/main">
            <a:off x="2243701" y="7912981"/>
            <a:ext cx="11094720" cy="46329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CA7A641-E05C-46BE-8AFE-19BBBAC49126}"/>
              </a:ext>
            </a:extLst>
          </p:cNvPr>
          <p:cNvSpPr>
            <a:spLocks xmlns:a="http://schemas.openxmlformats.org/drawingml/2006/main" noGrp="1"/>
          </p:cNvSpPr>
          <p:nvPr/>
        </p:nvSpPr>
        <p:spPr>
          <a:xfrm xmlns:a="http://schemas.openxmlformats.org/drawingml/2006/main">
            <a:off x="2243701" y="7912981"/>
            <a:ext cx="110947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817363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9" name="Rectangle 38"/>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01FD1F1-4C8C-4DD5-B3F1-51E3254051CA}"/>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2C4799C9-A117-4981-A742-BB3AAF40A09A}"/>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Dataset &amp; Feature Engineering</a:t>
            </a:r>
          </a:p>
        </p:txBody>
      </p:sp>
      <p:sp>
        <p:nvSpPr>
          <p:cNvPr id="4" name="Text 2">
            <a:extLst xmlns:a="http://schemas.openxmlformats.org/drawingml/2006/main">
              <a:ext uri="{FF2B5EF4-FFF2-40B4-BE49-F238E27FC236}">
                <a16:creationId xmlns:a16="http://schemas.microsoft.com/office/drawing/2014/main" id="{CA3D052E-0202-4DC5-BCF8-230EB685C625}"/>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Two contrasting natural experiments — same pipeline</a:t>
            </a:r>
          </a:p>
        </p:txBody>
      </p:sp>
      <p:sp>
        <p:nvSpPr>
          <p:cNvPr id="5" name="Shape 3">
            <a:extLst xmlns:a="http://schemas.openxmlformats.org/drawingml/2006/main">
              <a:ext uri="{FF2B5EF4-FFF2-40B4-BE49-F238E27FC236}">
                <a16:creationId xmlns:a16="http://schemas.microsoft.com/office/drawing/2014/main" id="{696EA648-0026-44B7-809A-E27F7E269F19}"/>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7252DFA4-0BF3-4EE3-A164-C93A1F2FC125}"/>
              </a:ext>
            </a:extLst>
          </p:cNvPr>
          <p:cNvSpPr>
            <a:spLocks xmlns:a="http://schemas.openxmlformats.org/drawingml/2006/main" noGrp="1"/>
          </p:cNvSpPr>
          <p:nvPr/>
        </p:nvSpPr>
        <p:spPr>
          <a:xfrm xmlns:a="http://schemas.openxmlformats.org/drawingml/2006/main">
            <a:off x="2243701" y="3036181"/>
            <a:ext cx="5242560" cy="249936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30D4D85C-E9EA-4AC6-9C4E-6DC697D5DDF9}"/>
              </a:ext>
            </a:extLst>
          </p:cNvPr>
          <p:cNvSpPr>
            <a:spLocks xmlns:a="http://schemas.openxmlformats.org/drawingml/2006/main" noGrp="1"/>
          </p:cNvSpPr>
          <p:nvPr/>
        </p:nvSpPr>
        <p:spPr>
          <a:xfrm xmlns:a="http://schemas.openxmlformats.org/drawingml/2006/main">
            <a:off x="2390005" y="3036181"/>
            <a:ext cx="4949952"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rgbClr val="FFFFFF"/>
                </a:solidFill>
                <a:latin typeface="Calibri"/>
                <a:ea typeface="Calibri"/>
                <a:cs typeface="Calibri"/>
              </a:rPr>
              <a:t>Douro (RDD)</a:t>
            </a:r>
          </a:p>
        </p:txBody>
      </p:sp>
      <p:sp>
        <p:nvSpPr>
          <p:cNvPr id="8" name="Text 6">
            <a:extLst xmlns:a="http://schemas.openxmlformats.org/drawingml/2006/main">
              <a:ext uri="{FF2B5EF4-FFF2-40B4-BE49-F238E27FC236}">
                <a16:creationId xmlns:a16="http://schemas.microsoft.com/office/drawing/2014/main" id="{E2988AA7-BC33-43F6-A7D2-74BB3F837262}"/>
              </a:ext>
            </a:extLst>
          </p:cNvPr>
          <p:cNvSpPr>
            <a:spLocks xmlns:a="http://schemas.openxmlformats.org/drawingml/2006/main" noGrp="1"/>
          </p:cNvSpPr>
          <p:nvPr/>
        </p:nvSpPr>
        <p:spPr>
          <a:xfrm xmlns:a="http://schemas.openxmlformats.org/drawingml/2006/main">
            <a:off x="2463157" y="364578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Period: 1934–2022</a:t>
            </a:r>
          </a:p>
        </p:txBody>
      </p:sp>
      <p:sp>
        <p:nvSpPr>
          <p:cNvPr id="9" name="Text 7">
            <a:extLst xmlns:a="http://schemas.openxmlformats.org/drawingml/2006/main">
              <a:ext uri="{FF2B5EF4-FFF2-40B4-BE49-F238E27FC236}">
                <a16:creationId xmlns:a16="http://schemas.microsoft.com/office/drawing/2014/main" id="{DFE4D319-A735-4C80-A3C8-91970B977855}"/>
              </a:ext>
            </a:extLst>
          </p:cNvPr>
          <p:cNvSpPr>
            <a:spLocks xmlns:a="http://schemas.openxmlformats.org/drawingml/2006/main" noGrp="1"/>
          </p:cNvSpPr>
          <p:nvPr/>
        </p:nvSpPr>
        <p:spPr>
          <a:xfrm xmlns:a="http://schemas.openxmlformats.org/drawingml/2006/main">
            <a:off x="2463157" y="401154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Observations: 89 observations</a:t>
            </a:r>
          </a:p>
        </p:txBody>
      </p:sp>
      <p:sp>
        <p:nvSpPr>
          <p:cNvPr id="10" name="Text 8">
            <a:extLst xmlns:a="http://schemas.openxmlformats.org/drawingml/2006/main">
              <a:ext uri="{FF2B5EF4-FFF2-40B4-BE49-F238E27FC236}">
                <a16:creationId xmlns:a16="http://schemas.microsoft.com/office/drawing/2014/main" id="{8A7620F7-70A8-4B87-9147-8A8553E956EB}"/>
              </a:ext>
            </a:extLst>
          </p:cNvPr>
          <p:cNvSpPr>
            <a:spLocks xmlns:a="http://schemas.openxmlformats.org/drawingml/2006/main" noGrp="1"/>
          </p:cNvSpPr>
          <p:nvPr/>
        </p:nvSpPr>
        <p:spPr>
          <a:xfrm xmlns:a="http://schemas.openxmlformats.org/drawingml/2006/main">
            <a:off x="2463157" y="437730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Mean production: 1,116 mhl</a:t>
            </a:r>
          </a:p>
        </p:txBody>
      </p:sp>
      <p:sp>
        <p:nvSpPr>
          <p:cNvPr id="11" name="Text 9">
            <a:extLst xmlns:a="http://schemas.openxmlformats.org/drawingml/2006/main">
              <a:ext uri="{FF2B5EF4-FFF2-40B4-BE49-F238E27FC236}">
                <a16:creationId xmlns:a16="http://schemas.microsoft.com/office/drawing/2014/main" id="{702A4898-B544-48A6-A8A9-689DC0F4331D}"/>
              </a:ext>
            </a:extLst>
          </p:cNvPr>
          <p:cNvSpPr>
            <a:spLocks xmlns:a="http://schemas.openxmlformats.org/drawingml/2006/main" noGrp="1"/>
          </p:cNvSpPr>
          <p:nvPr/>
        </p:nvSpPr>
        <p:spPr>
          <a:xfrm xmlns:a="http://schemas.openxmlformats.org/drawingml/2006/main">
            <a:off x="2463157" y="474306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Structural trend: ▲ Upward trend</a:t>
            </a:r>
          </a:p>
        </p:txBody>
      </p:sp>
      <p:sp>
        <p:nvSpPr>
          <p:cNvPr id="12" name="Text 10">
            <a:extLst xmlns:a="http://schemas.openxmlformats.org/drawingml/2006/main">
              <a:ext uri="{FF2B5EF4-FFF2-40B4-BE49-F238E27FC236}">
                <a16:creationId xmlns:a16="http://schemas.microsoft.com/office/drawing/2014/main" id="{D0F74589-09D3-4655-83F8-4A4C976B2F59}"/>
              </a:ext>
            </a:extLst>
          </p:cNvPr>
          <p:cNvSpPr>
            <a:spLocks xmlns:a="http://schemas.openxmlformats.org/drawingml/2006/main" noGrp="1"/>
          </p:cNvSpPr>
          <p:nvPr/>
        </p:nvSpPr>
        <p:spPr>
          <a:xfrm xmlns:a="http://schemas.openxmlformats.org/drawingml/2006/main">
            <a:off x="2463157" y="510882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Era break: Regime break ~1990</a:t>
            </a:r>
          </a:p>
        </p:txBody>
      </p:sp>
      <p:sp>
        <p:nvSpPr>
          <p:cNvPr id="13" name="Shape 11">
            <a:extLst xmlns:a="http://schemas.openxmlformats.org/drawingml/2006/main">
              <a:ext uri="{FF2B5EF4-FFF2-40B4-BE49-F238E27FC236}">
                <a16:creationId xmlns:a16="http://schemas.microsoft.com/office/drawing/2014/main" id="{5FF046F1-AD9F-42BC-A0DB-673A4B052065}"/>
              </a:ext>
            </a:extLst>
          </p:cNvPr>
          <p:cNvSpPr>
            <a:spLocks xmlns:a="http://schemas.openxmlformats.org/drawingml/2006/main" noGrp="1"/>
          </p:cNvSpPr>
          <p:nvPr/>
        </p:nvSpPr>
        <p:spPr>
          <a:xfrm xmlns:a="http://schemas.openxmlformats.org/drawingml/2006/main">
            <a:off x="8034901" y="3036181"/>
            <a:ext cx="5242560" cy="249936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3502E4C9-3C93-4846-9D46-33F886575595}"/>
              </a:ext>
            </a:extLst>
          </p:cNvPr>
          <p:cNvSpPr>
            <a:spLocks xmlns:a="http://schemas.openxmlformats.org/drawingml/2006/main" noGrp="1"/>
          </p:cNvSpPr>
          <p:nvPr/>
        </p:nvSpPr>
        <p:spPr>
          <a:xfrm xmlns:a="http://schemas.openxmlformats.org/drawingml/2006/main">
            <a:off x="8181205" y="3036181"/>
            <a:ext cx="4949952"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b="1">
                <a:solidFill>
                  <a:srgbClr val="FFFFFF"/>
                </a:solidFill>
                <a:latin typeface="Calibri"/>
                <a:ea typeface="Calibri"/>
                <a:cs typeface="Calibri"/>
              </a:rPr>
              <a:t>Vinho Verde (RVV)</a:t>
            </a:r>
          </a:p>
        </p:txBody>
      </p:sp>
      <p:sp>
        <p:nvSpPr>
          <p:cNvPr id="15" name="Text 13">
            <a:extLst xmlns:a="http://schemas.openxmlformats.org/drawingml/2006/main">
              <a:ext uri="{FF2B5EF4-FFF2-40B4-BE49-F238E27FC236}">
                <a16:creationId xmlns:a16="http://schemas.microsoft.com/office/drawing/2014/main" id="{5F75EA51-B406-4786-9EC5-0ED6DC0B59C0}"/>
              </a:ext>
            </a:extLst>
          </p:cNvPr>
          <p:cNvSpPr>
            <a:spLocks xmlns:a="http://schemas.openxmlformats.org/drawingml/2006/main" noGrp="1"/>
          </p:cNvSpPr>
          <p:nvPr/>
        </p:nvSpPr>
        <p:spPr>
          <a:xfrm xmlns:a="http://schemas.openxmlformats.org/drawingml/2006/main">
            <a:off x="8254357" y="364578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Period: 1942–2021</a:t>
            </a:r>
          </a:p>
        </p:txBody>
      </p:sp>
      <p:sp>
        <p:nvSpPr>
          <p:cNvPr id="16" name="Text 14">
            <a:extLst xmlns:a="http://schemas.openxmlformats.org/drawingml/2006/main">
              <a:ext uri="{FF2B5EF4-FFF2-40B4-BE49-F238E27FC236}">
                <a16:creationId xmlns:a16="http://schemas.microsoft.com/office/drawing/2014/main" id="{1CF12CD6-C1F4-4474-AA3F-DAC01151EC1C}"/>
              </a:ext>
            </a:extLst>
          </p:cNvPr>
          <p:cNvSpPr>
            <a:spLocks xmlns:a="http://schemas.openxmlformats.org/drawingml/2006/main" noGrp="1"/>
          </p:cNvSpPr>
          <p:nvPr/>
        </p:nvSpPr>
        <p:spPr>
          <a:xfrm xmlns:a="http://schemas.openxmlformats.org/drawingml/2006/main">
            <a:off x="8254357" y="401154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Observations: 80 observations</a:t>
            </a:r>
          </a:p>
        </p:txBody>
      </p:sp>
      <p:sp>
        <p:nvSpPr>
          <p:cNvPr id="17" name="Text 15">
            <a:extLst xmlns:a="http://schemas.openxmlformats.org/drawingml/2006/main">
              <a:ext uri="{FF2B5EF4-FFF2-40B4-BE49-F238E27FC236}">
                <a16:creationId xmlns:a16="http://schemas.microsoft.com/office/drawing/2014/main" id="{E6428A8C-B100-424B-86A5-C9F731A596AA}"/>
              </a:ext>
            </a:extLst>
          </p:cNvPr>
          <p:cNvSpPr>
            <a:spLocks xmlns:a="http://schemas.openxmlformats.org/drawingml/2006/main" noGrp="1"/>
          </p:cNvSpPr>
          <p:nvPr/>
        </p:nvSpPr>
        <p:spPr>
          <a:xfrm xmlns:a="http://schemas.openxmlformats.org/drawingml/2006/main">
            <a:off x="8254357" y="437730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Mean production: 1,621 mhl</a:t>
            </a:r>
          </a:p>
        </p:txBody>
      </p:sp>
      <p:sp>
        <p:nvSpPr>
          <p:cNvPr id="18" name="Text 16">
            <a:extLst xmlns:a="http://schemas.openxmlformats.org/drawingml/2006/main">
              <a:ext uri="{FF2B5EF4-FFF2-40B4-BE49-F238E27FC236}">
                <a16:creationId xmlns:a16="http://schemas.microsoft.com/office/drawing/2014/main" id="{8FD6FA5D-B7F7-430E-912D-63A9DC9981FB}"/>
              </a:ext>
            </a:extLst>
          </p:cNvPr>
          <p:cNvSpPr>
            <a:spLocks xmlns:a="http://schemas.openxmlformats.org/drawingml/2006/main" noGrp="1"/>
          </p:cNvSpPr>
          <p:nvPr/>
        </p:nvSpPr>
        <p:spPr>
          <a:xfrm xmlns:a="http://schemas.openxmlformats.org/drawingml/2006/main">
            <a:off x="8254357" y="474306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Structural trend: ▼ Sharp decline since 1960s</a:t>
            </a:r>
          </a:p>
        </p:txBody>
      </p:sp>
      <p:sp>
        <p:nvSpPr>
          <p:cNvPr id="19" name="Text 17">
            <a:extLst xmlns:a="http://schemas.openxmlformats.org/drawingml/2006/main">
              <a:ext uri="{FF2B5EF4-FFF2-40B4-BE49-F238E27FC236}">
                <a16:creationId xmlns:a16="http://schemas.microsoft.com/office/drawing/2014/main" id="{8A4BFB23-D7EF-4498-ABC1-9E9F13F9E93C}"/>
              </a:ext>
            </a:extLst>
          </p:cNvPr>
          <p:cNvSpPr>
            <a:spLocks xmlns:a="http://schemas.openxmlformats.org/drawingml/2006/main" noGrp="1"/>
          </p:cNvSpPr>
          <p:nvPr/>
        </p:nvSpPr>
        <p:spPr>
          <a:xfrm xmlns:a="http://schemas.openxmlformats.org/drawingml/2006/main">
            <a:off x="8254357" y="5108821"/>
            <a:ext cx="48158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D8E2EE"/>
                </a:solidFill>
                <a:latin typeface="Calibri"/>
                <a:ea typeface="Calibri"/>
                <a:cs typeface="Calibri"/>
              </a:rPr>
              <a:t>Era break: Regime break ~1986 (EU)</a:t>
            </a:r>
          </a:p>
        </p:txBody>
      </p:sp>
      <p:sp>
        <p:nvSpPr>
          <p:cNvPr id="20" name="Text 18">
            <a:extLst xmlns:a="http://schemas.openxmlformats.org/drawingml/2006/main">
              <a:ext uri="{FF2B5EF4-FFF2-40B4-BE49-F238E27FC236}">
                <a16:creationId xmlns:a16="http://schemas.microsoft.com/office/drawing/2014/main" id="{FAEFD71C-83C0-403F-8321-9A66BFB82516}"/>
              </a:ext>
            </a:extLst>
          </p:cNvPr>
          <p:cNvSpPr>
            <a:spLocks xmlns:a="http://schemas.openxmlformats.org/drawingml/2006/main" noGrp="1"/>
          </p:cNvSpPr>
          <p:nvPr/>
        </p:nvSpPr>
        <p:spPr>
          <a:xfrm xmlns:a="http://schemas.openxmlformats.org/drawingml/2006/main">
            <a:off x="2243701" y="5694037"/>
            <a:ext cx="1109472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1A2A3A"/>
                </a:solidFill>
                <a:latin typeface="Calibri"/>
                <a:ea typeface="Calibri"/>
                <a:cs typeface="Calibri"/>
              </a:rPr>
              <a:t>Feature Engineering Pipeline  (59 annual features per region)</a:t>
            </a:r>
          </a:p>
        </p:txBody>
      </p:sp>
      <p:sp>
        <p:nvSpPr>
          <p:cNvPr id="21" name="Shape 19">
            <a:extLst xmlns:a="http://schemas.openxmlformats.org/drawingml/2006/main">
              <a:ext uri="{FF2B5EF4-FFF2-40B4-BE49-F238E27FC236}">
                <a16:creationId xmlns:a16="http://schemas.microsoft.com/office/drawing/2014/main" id="{158634F8-33C2-496E-B5E6-1771431A8D55}"/>
              </a:ext>
            </a:extLst>
          </p:cNvPr>
          <p:cNvSpPr>
            <a:spLocks xmlns:a="http://schemas.openxmlformats.org/drawingml/2006/main" noGrp="1"/>
          </p:cNvSpPr>
          <p:nvPr/>
        </p:nvSpPr>
        <p:spPr>
          <a:xfrm xmlns:a="http://schemas.openxmlformats.org/drawingml/2006/main">
            <a:off x="2182741" y="6230485"/>
            <a:ext cx="2560320" cy="1950720"/>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DECAE452-2D3A-463A-B60A-5B205A044A96}"/>
              </a:ext>
            </a:extLst>
          </p:cNvPr>
          <p:cNvSpPr>
            <a:spLocks xmlns:a="http://schemas.openxmlformats.org/drawingml/2006/main" noGrp="1"/>
          </p:cNvSpPr>
          <p:nvPr/>
        </p:nvSpPr>
        <p:spPr>
          <a:xfrm xmlns:a="http://schemas.openxmlformats.org/drawingml/2006/main">
            <a:off x="2280277" y="6291445"/>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Daily meteorological data</a:t>
            </a:r>
          </a:p>
          <a:p xmlns:a="http://schemas.openxmlformats.org/drawingml/2006/main">
            <a:pPr algn="ctr">
              <a:buNone/>
            </a:pPr>
            <a:r>
              <a:rPr sz="1200">
                <a:solidFill>
                  <a:srgbClr val="FFFFFF"/>
                </a:solidFill>
                <a:latin typeface="Calibri"/>
                <a:ea typeface="Calibri"/>
                <a:cs typeface="Calibri"/>
              </a:rPr>
              <a:t>(Temp, Rainfall, SWA, LAI, ETo)</a:t>
            </a:r>
          </a:p>
          <a:p xmlns:a="http://schemas.openxmlformats.org/drawingml/2006/main">
            <a:pPr algn="ctr">
              <a:buNone/>
            </a:pPr>
            <a:r>
              <a:rPr sz="1200">
                <a:solidFill>
                  <a:srgbClr val="FFFFFF"/>
                </a:solidFill>
                <a:latin typeface="Calibri"/>
                <a:ea typeface="Calibri"/>
                <a:cs typeface="Calibri"/>
              </a:rPr>
              <a:t>~30,000 records/region</a:t>
            </a:r>
          </a:p>
        </p:txBody>
      </p:sp>
      <p:sp>
        <p:nvSpPr>
          <p:cNvPr id="23" name="Text 21">
            <a:extLst xmlns:a="http://schemas.openxmlformats.org/drawingml/2006/main">
              <a:ext uri="{FF2B5EF4-FFF2-40B4-BE49-F238E27FC236}">
                <a16:creationId xmlns:a16="http://schemas.microsoft.com/office/drawing/2014/main" id="{EC0F65FC-472B-40EC-9ABB-2890A6E7BA23}"/>
              </a:ext>
            </a:extLst>
          </p:cNvPr>
          <p:cNvSpPr>
            <a:spLocks xmlns:a="http://schemas.openxmlformats.org/drawingml/2006/main" noGrp="1"/>
          </p:cNvSpPr>
          <p:nvPr/>
        </p:nvSpPr>
        <p:spPr>
          <a:xfrm xmlns:a="http://schemas.openxmlformats.org/drawingml/2006/main">
            <a:off x="4743061" y="6962005"/>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24" name="Shape 22">
            <a:extLst xmlns:a="http://schemas.openxmlformats.org/drawingml/2006/main">
              <a:ext uri="{FF2B5EF4-FFF2-40B4-BE49-F238E27FC236}">
                <a16:creationId xmlns:a16="http://schemas.microsoft.com/office/drawing/2014/main" id="{A4995F88-F9B2-4B96-9CBD-EB39042B11BB}"/>
              </a:ext>
            </a:extLst>
          </p:cNvPr>
          <p:cNvSpPr>
            <a:spLocks xmlns:a="http://schemas.openxmlformats.org/drawingml/2006/main" noGrp="1"/>
          </p:cNvSpPr>
          <p:nvPr/>
        </p:nvSpPr>
        <p:spPr>
          <a:xfrm xmlns:a="http://schemas.openxmlformats.org/drawingml/2006/main">
            <a:off x="5047861" y="6230485"/>
            <a:ext cx="2560320" cy="195072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45BCE111-13B2-4D62-A7BE-460556DEE5B5}"/>
              </a:ext>
            </a:extLst>
          </p:cNvPr>
          <p:cNvSpPr>
            <a:spLocks xmlns:a="http://schemas.openxmlformats.org/drawingml/2006/main" noGrp="1"/>
          </p:cNvSpPr>
          <p:nvPr/>
        </p:nvSpPr>
        <p:spPr>
          <a:xfrm xmlns:a="http://schemas.openxmlformats.org/drawingml/2006/main">
            <a:off x="5145397" y="6291445"/>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Phenological anchors</a:t>
            </a:r>
          </a:p>
          <a:p xmlns:a="http://schemas.openxmlformats.org/drawingml/2006/main">
            <a:pPr algn="ctr">
              <a:buNone/>
            </a:pPr>
            <a:r>
              <a:rPr sz="1200">
                <a:solidFill>
                  <a:srgbClr val="FFFFFF"/>
                </a:solidFill>
                <a:latin typeface="Calibri"/>
                <a:ea typeface="Calibri"/>
                <a:cs typeface="Calibri"/>
              </a:rPr>
              <a:t>(Budburst, Flowering,</a:t>
            </a:r>
          </a:p>
          <a:p xmlns:a="http://schemas.openxmlformats.org/drawingml/2006/main">
            <a:pPr algn="ctr">
              <a:buNone/>
            </a:pPr>
            <a:r>
              <a:rPr sz="1200">
                <a:solidFill>
                  <a:srgbClr val="FFFFFF"/>
                </a:solidFill>
                <a:latin typeface="Calibri"/>
                <a:ea typeface="Calibri"/>
                <a:cs typeface="Calibri"/>
              </a:rPr>
              <a:t>Veraison, Harvest)</a:t>
            </a:r>
          </a:p>
        </p:txBody>
      </p:sp>
      <p:sp>
        <p:nvSpPr>
          <p:cNvPr id="26" name="Text 24">
            <a:extLst xmlns:a="http://schemas.openxmlformats.org/drawingml/2006/main">
              <a:ext uri="{FF2B5EF4-FFF2-40B4-BE49-F238E27FC236}">
                <a16:creationId xmlns:a16="http://schemas.microsoft.com/office/drawing/2014/main" id="{763DE066-B4F5-4035-B9D3-AB78D4BF34DE}"/>
              </a:ext>
            </a:extLst>
          </p:cNvPr>
          <p:cNvSpPr>
            <a:spLocks xmlns:a="http://schemas.openxmlformats.org/drawingml/2006/main" noGrp="1"/>
          </p:cNvSpPr>
          <p:nvPr/>
        </p:nvSpPr>
        <p:spPr>
          <a:xfrm xmlns:a="http://schemas.openxmlformats.org/drawingml/2006/main">
            <a:off x="7608181" y="6962005"/>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27" name="Shape 25">
            <a:extLst xmlns:a="http://schemas.openxmlformats.org/drawingml/2006/main">
              <a:ext uri="{FF2B5EF4-FFF2-40B4-BE49-F238E27FC236}">
                <a16:creationId xmlns:a16="http://schemas.microsoft.com/office/drawing/2014/main" id="{DD315609-1BC3-466B-9067-4D8D869B9E89}"/>
              </a:ext>
            </a:extLst>
          </p:cNvPr>
          <p:cNvSpPr>
            <a:spLocks xmlns:a="http://schemas.openxmlformats.org/drawingml/2006/main" noGrp="1"/>
          </p:cNvSpPr>
          <p:nvPr/>
        </p:nvSpPr>
        <p:spPr>
          <a:xfrm xmlns:a="http://schemas.openxmlformats.org/drawingml/2006/main">
            <a:off x="7912981" y="6230485"/>
            <a:ext cx="2560320" cy="195072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6EB45161-F034-495A-A5E7-A8D525A1AD51}"/>
              </a:ext>
            </a:extLst>
          </p:cNvPr>
          <p:cNvSpPr>
            <a:spLocks xmlns:a="http://schemas.openxmlformats.org/drawingml/2006/main" noGrp="1"/>
          </p:cNvSpPr>
          <p:nvPr/>
        </p:nvSpPr>
        <p:spPr>
          <a:xfrm xmlns:a="http://schemas.openxmlformats.org/drawingml/2006/main">
            <a:off x="8010517" y="6291445"/>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Feature engineering</a:t>
            </a:r>
          </a:p>
          <a:p xmlns:a="http://schemas.openxmlformats.org/drawingml/2006/main">
            <a:pPr algn="ctr">
              <a:buNone/>
            </a:pPr>
            <a:r>
              <a:rPr sz="1200">
                <a:solidFill>
                  <a:srgbClr val="FFFFFF"/>
                </a:solidFill>
                <a:latin typeface="Calibri"/>
                <a:ea typeface="Calibri"/>
                <a:cs typeface="Calibri"/>
              </a:rPr>
              <a:t>59 annual features:</a:t>
            </a:r>
          </a:p>
          <a:p xmlns:a="http://schemas.openxmlformats.org/drawingml/2006/main">
            <a:pPr algn="ctr">
              <a:buNone/>
            </a:pPr>
            <a:r>
              <a:rPr sz="1200">
                <a:solidFill>
                  <a:srgbClr val="FFFFFF"/>
                </a:solidFill>
                <a:latin typeface="Calibri"/>
                <a:ea typeface="Calibri"/>
                <a:cs typeface="Calibri"/>
              </a:rPr>
              <a:t>variable × stage × window × year</a:t>
            </a:r>
          </a:p>
        </p:txBody>
      </p:sp>
      <p:sp>
        <p:nvSpPr>
          <p:cNvPr id="29" name="Text 27">
            <a:extLst xmlns:a="http://schemas.openxmlformats.org/drawingml/2006/main">
              <a:ext uri="{FF2B5EF4-FFF2-40B4-BE49-F238E27FC236}">
                <a16:creationId xmlns:a16="http://schemas.microsoft.com/office/drawing/2014/main" id="{FECCD7FB-AA94-42F4-8919-FDE3EA977400}"/>
              </a:ext>
            </a:extLst>
          </p:cNvPr>
          <p:cNvSpPr>
            <a:spLocks xmlns:a="http://schemas.openxmlformats.org/drawingml/2006/main" noGrp="1"/>
          </p:cNvSpPr>
          <p:nvPr/>
        </p:nvSpPr>
        <p:spPr>
          <a:xfrm xmlns:a="http://schemas.openxmlformats.org/drawingml/2006/main">
            <a:off x="10473301" y="6962005"/>
            <a:ext cx="3048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a:solidFill>
                  <a:srgbClr val="D4A853"/>
                </a:solidFill>
              </a:rPr>
              <a:t>→</a:t>
            </a:r>
          </a:p>
        </p:txBody>
      </p:sp>
      <p:sp>
        <p:nvSpPr>
          <p:cNvPr id="30" name="Shape 28">
            <a:extLst xmlns:a="http://schemas.openxmlformats.org/drawingml/2006/main">
              <a:ext uri="{FF2B5EF4-FFF2-40B4-BE49-F238E27FC236}">
                <a16:creationId xmlns:a16="http://schemas.microsoft.com/office/drawing/2014/main" id="{D2BE3FC5-CB29-4E98-A591-BDA931FBD930}"/>
              </a:ext>
            </a:extLst>
          </p:cNvPr>
          <p:cNvSpPr>
            <a:spLocks xmlns:a="http://schemas.openxmlformats.org/drawingml/2006/main" noGrp="1"/>
          </p:cNvSpPr>
          <p:nvPr/>
        </p:nvSpPr>
        <p:spPr>
          <a:xfrm xmlns:a="http://schemas.openxmlformats.org/drawingml/2006/main">
            <a:off x="10778101" y="6230485"/>
            <a:ext cx="2560320" cy="1950720"/>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0F6DE121-1173-4A06-93E7-C12DA3D55A3A}"/>
              </a:ext>
            </a:extLst>
          </p:cNvPr>
          <p:cNvSpPr>
            <a:spLocks xmlns:a="http://schemas.openxmlformats.org/drawingml/2006/main" noGrp="1"/>
          </p:cNvSpPr>
          <p:nvPr/>
        </p:nvSpPr>
        <p:spPr>
          <a:xfrm xmlns:a="http://schemas.openxmlformats.org/drawingml/2006/main">
            <a:off x="10875637" y="6291445"/>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a:solidFill>
                  <a:srgbClr val="FFFFFF"/>
                </a:solidFill>
                <a:latin typeface="Calibri"/>
                <a:ea typeface="Calibri"/>
                <a:cs typeface="Calibri"/>
              </a:rPr>
              <a:t>Naming convention:</a:t>
            </a:r>
          </a:p>
          <a:p xmlns:a="http://schemas.openxmlformats.org/drawingml/2006/main">
            <a:pPr algn="ctr">
              <a:buNone/>
            </a:pPr>
            <a:r>
              <a:rPr sz="1200">
                <a:solidFill>
                  <a:srgbClr val="FFFFFF"/>
                </a:solidFill>
                <a:latin typeface="Calibri"/>
                <a:ea typeface="Calibri"/>
                <a:cs typeface="Calibri"/>
              </a:rPr>
              <a:t>swa_hv_y1_b20</a:t>
            </a:r>
          </a:p>
          <a:p xmlns:a="http://schemas.openxmlformats.org/drawingml/2006/main">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96137962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5" name="Rectangle 4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F69EAADC-9BAF-49B4-89B0-E9CAF3BBA910}"/>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2104EE2A-B407-4691-8638-03AC29923647}"/>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Methodological Framework</a:t>
            </a:r>
          </a:p>
        </p:txBody>
      </p:sp>
      <p:sp>
        <p:nvSpPr>
          <p:cNvPr id="4" name="Text 2">
            <a:extLst xmlns:a="http://schemas.openxmlformats.org/drawingml/2006/main">
              <a:ext uri="{FF2B5EF4-FFF2-40B4-BE49-F238E27FC236}">
                <a16:creationId xmlns:a16="http://schemas.microsoft.com/office/drawing/2014/main" id="{B49D7354-8895-46E6-93FA-8496F013B45D}"/>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Complete pipeline from raw data to scientific findings</a:t>
            </a:r>
          </a:p>
        </p:txBody>
      </p:sp>
      <p:sp>
        <p:nvSpPr>
          <p:cNvPr id="5" name="Shape 3">
            <a:extLst xmlns:a="http://schemas.openxmlformats.org/drawingml/2006/main">
              <a:ext uri="{FF2B5EF4-FFF2-40B4-BE49-F238E27FC236}">
                <a16:creationId xmlns:a16="http://schemas.microsoft.com/office/drawing/2014/main" id="{080AE865-F56F-4A04-93BB-4D4BD60D9BE8}"/>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3F686D2-6307-430F-AF09-53B454EDC2E6}"/>
              </a:ext>
            </a:extLst>
          </p:cNvPr>
          <p:cNvSpPr>
            <a:spLocks xmlns:a="http://schemas.openxmlformats.org/drawingml/2006/main" noGrp="1"/>
          </p:cNvSpPr>
          <p:nvPr/>
        </p:nvSpPr>
        <p:spPr>
          <a:xfrm xmlns:a="http://schemas.openxmlformats.org/drawingml/2006/main">
            <a:off x="2133973" y="3255637"/>
            <a:ext cx="1682496" cy="180441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D4B0803F-C1DC-4E1E-BB70-D767764C9025}"/>
              </a:ext>
            </a:extLst>
          </p:cNvPr>
          <p:cNvSpPr>
            <a:spLocks xmlns:a="http://schemas.openxmlformats.org/drawingml/2006/main" noGrp="1"/>
          </p:cNvSpPr>
          <p:nvPr/>
        </p:nvSpPr>
        <p:spPr>
          <a:xfrm xmlns:a="http://schemas.openxmlformats.org/drawingml/2006/main">
            <a:off x="2133973" y="3316597"/>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172686B1-EC1B-4846-85BD-56C2A8DC4DBC}"/>
              </a:ext>
            </a:extLst>
          </p:cNvPr>
          <p:cNvSpPr>
            <a:spLocks xmlns:a="http://schemas.openxmlformats.org/drawingml/2006/main" noGrp="1"/>
          </p:cNvSpPr>
          <p:nvPr/>
        </p:nvSpPr>
        <p:spPr>
          <a:xfrm xmlns:a="http://schemas.openxmlformats.org/drawingml/2006/main">
            <a:off x="2194933" y="3718933"/>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Raw Data</a:t>
            </a:r>
          </a:p>
          <a:p xmlns:a="http://schemas.openxmlformats.org/drawingml/2006/main">
            <a:pPr algn="ctr">
              <a:buNone/>
            </a:pPr>
            <a:r>
              <a:rPr sz="1133">
                <a:solidFill>
                  <a:srgbClr val="FFFFFF"/>
                </a:solidFill>
                <a:latin typeface="Calibri"/>
                <a:ea typeface="Calibri"/>
                <a:cs typeface="Calibri"/>
              </a:rPr>
              <a:t>(Daily meteo,</a:t>
            </a:r>
          </a:p>
          <a:p xmlns:a="http://schemas.openxmlformats.org/drawingml/2006/main">
            <a:pPr algn="ctr">
              <a:buNone/>
            </a:pPr>
            <a:r>
              <a:rPr sz="1133">
                <a:solidFill>
                  <a:srgbClr val="FFFFFF"/>
                </a:solidFill>
                <a:latin typeface="Calibri"/>
                <a:ea typeface="Calibri"/>
                <a:cs typeface="Calibri"/>
              </a:rPr>
              <a:t>phenology,</a:t>
            </a:r>
          </a:p>
          <a:p xmlns:a="http://schemas.openxmlformats.org/drawingml/2006/main">
            <a:pPr algn="ctr">
              <a:buNone/>
            </a:pPr>
            <a:r>
              <a:rPr sz="1133">
                <a:solidFill>
                  <a:srgbClr val="FFFFFF"/>
                </a:solidFill>
                <a:latin typeface="Calibri"/>
                <a:ea typeface="Calibri"/>
                <a:cs typeface="Calibri"/>
              </a:rPr>
              <a:t>production)</a:t>
            </a:r>
          </a:p>
        </p:txBody>
      </p:sp>
      <p:sp>
        <p:nvSpPr>
          <p:cNvPr id="9" name="Text 7">
            <a:extLst xmlns:a="http://schemas.openxmlformats.org/drawingml/2006/main">
              <a:ext uri="{FF2B5EF4-FFF2-40B4-BE49-F238E27FC236}">
                <a16:creationId xmlns:a16="http://schemas.microsoft.com/office/drawing/2014/main" id="{DC817E03-503E-4692-AD52-5F48C9C11673}"/>
              </a:ext>
            </a:extLst>
          </p:cNvPr>
          <p:cNvSpPr>
            <a:spLocks xmlns:a="http://schemas.openxmlformats.org/drawingml/2006/main" noGrp="1"/>
          </p:cNvSpPr>
          <p:nvPr/>
        </p:nvSpPr>
        <p:spPr>
          <a:xfrm xmlns:a="http://schemas.openxmlformats.org/drawingml/2006/main">
            <a:off x="3816469" y="3865237"/>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0" name="Shape 8">
            <a:extLst xmlns:a="http://schemas.openxmlformats.org/drawingml/2006/main">
              <a:ext uri="{FF2B5EF4-FFF2-40B4-BE49-F238E27FC236}">
                <a16:creationId xmlns:a16="http://schemas.microsoft.com/office/drawing/2014/main" id="{925480D3-2804-4C3D-9BEA-E44D31271407}"/>
              </a:ext>
            </a:extLst>
          </p:cNvPr>
          <p:cNvSpPr>
            <a:spLocks xmlns:a="http://schemas.openxmlformats.org/drawingml/2006/main" noGrp="1"/>
          </p:cNvSpPr>
          <p:nvPr/>
        </p:nvSpPr>
        <p:spPr>
          <a:xfrm xmlns:a="http://schemas.openxmlformats.org/drawingml/2006/main">
            <a:off x="4035925" y="3255637"/>
            <a:ext cx="1682496" cy="180441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46236BAB-2DD2-4BB7-8C94-AB2D3440C8C8}"/>
              </a:ext>
            </a:extLst>
          </p:cNvPr>
          <p:cNvSpPr>
            <a:spLocks xmlns:a="http://schemas.openxmlformats.org/drawingml/2006/main" noGrp="1"/>
          </p:cNvSpPr>
          <p:nvPr/>
        </p:nvSpPr>
        <p:spPr>
          <a:xfrm xmlns:a="http://schemas.openxmlformats.org/drawingml/2006/main">
            <a:off x="4035925" y="3316597"/>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2</a:t>
            </a:r>
          </a:p>
        </p:txBody>
      </p:sp>
      <p:sp>
        <p:nvSpPr>
          <p:cNvPr id="12" name="Text 10">
            <a:extLst xmlns:a="http://schemas.openxmlformats.org/drawingml/2006/main">
              <a:ext uri="{FF2B5EF4-FFF2-40B4-BE49-F238E27FC236}">
                <a16:creationId xmlns:a16="http://schemas.microsoft.com/office/drawing/2014/main" id="{78E79BB1-75AF-4988-92D5-4D245D372229}"/>
              </a:ext>
            </a:extLst>
          </p:cNvPr>
          <p:cNvSpPr>
            <a:spLocks xmlns:a="http://schemas.openxmlformats.org/drawingml/2006/main" noGrp="1"/>
          </p:cNvSpPr>
          <p:nvPr/>
        </p:nvSpPr>
        <p:spPr>
          <a:xfrm xmlns:a="http://schemas.openxmlformats.org/drawingml/2006/main">
            <a:off x="4096885" y="3718933"/>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Linear</a:t>
            </a:r>
          </a:p>
          <a:p xmlns:a="http://schemas.openxmlformats.org/drawingml/2006/main">
            <a:pPr algn="ctr">
              <a:buNone/>
            </a:pPr>
            <a:r>
              <a:rPr sz="1133">
                <a:solidFill>
                  <a:srgbClr val="FFFFFF"/>
                </a:solidFill>
                <a:latin typeface="Calibri"/>
                <a:ea typeface="Calibri"/>
                <a:cs typeface="Calibri"/>
              </a:rPr>
              <a:t>Detrending</a:t>
            </a:r>
          </a:p>
          <a:p xmlns:a="http://schemas.openxmlformats.org/drawingml/2006/main">
            <a:pPr algn="ctr">
              <a:buNone/>
            </a:pPr>
            <a:r>
              <a:rPr sz="1133">
                <a:solidFill>
                  <a:srgbClr val="FFFFFF"/>
                </a:solidFill>
                <a:latin typeface="Calibri"/>
                <a:ea typeface="Calibri"/>
                <a:cs typeface="Calibri"/>
              </a:rPr>
              <a:t>(OLS within-fold,</a:t>
            </a:r>
          </a:p>
          <a:p xmlns:a="http://schemas.openxmlformats.org/drawingml/2006/main">
            <a:pPr algn="ctr">
              <a:buNone/>
            </a:pPr>
            <a:r>
              <a:rPr sz="1133">
                <a:solidFill>
                  <a:srgbClr val="FFFFFF"/>
                </a:solidFill>
                <a:latin typeface="Calibri"/>
                <a:ea typeface="Calibri"/>
                <a:cs typeface="Calibri"/>
              </a:rPr>
              <a:t>residuals rt)</a:t>
            </a:r>
          </a:p>
        </p:txBody>
      </p:sp>
      <p:sp>
        <p:nvSpPr>
          <p:cNvPr id="13" name="Text 11">
            <a:extLst xmlns:a="http://schemas.openxmlformats.org/drawingml/2006/main">
              <a:ext uri="{FF2B5EF4-FFF2-40B4-BE49-F238E27FC236}">
                <a16:creationId xmlns:a16="http://schemas.microsoft.com/office/drawing/2014/main" id="{CE523845-9490-4817-B6E5-8853D6A4B2C0}"/>
              </a:ext>
            </a:extLst>
          </p:cNvPr>
          <p:cNvSpPr>
            <a:spLocks xmlns:a="http://schemas.openxmlformats.org/drawingml/2006/main" noGrp="1"/>
          </p:cNvSpPr>
          <p:nvPr/>
        </p:nvSpPr>
        <p:spPr>
          <a:xfrm xmlns:a="http://schemas.openxmlformats.org/drawingml/2006/main">
            <a:off x="5718421" y="3865237"/>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4" name="Shape 12">
            <a:extLst xmlns:a="http://schemas.openxmlformats.org/drawingml/2006/main">
              <a:ext uri="{FF2B5EF4-FFF2-40B4-BE49-F238E27FC236}">
                <a16:creationId xmlns:a16="http://schemas.microsoft.com/office/drawing/2014/main" id="{E131DEB2-8E03-47B7-949B-0776826125B5}"/>
              </a:ext>
            </a:extLst>
          </p:cNvPr>
          <p:cNvSpPr>
            <a:spLocks xmlns:a="http://schemas.openxmlformats.org/drawingml/2006/main" noGrp="1"/>
          </p:cNvSpPr>
          <p:nvPr/>
        </p:nvSpPr>
        <p:spPr>
          <a:xfrm xmlns:a="http://schemas.openxmlformats.org/drawingml/2006/main">
            <a:off x="5937877" y="3255637"/>
            <a:ext cx="1682496" cy="180441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171FB941-C312-48ED-B0A2-283C61388642}"/>
              </a:ext>
            </a:extLst>
          </p:cNvPr>
          <p:cNvSpPr>
            <a:spLocks xmlns:a="http://schemas.openxmlformats.org/drawingml/2006/main" noGrp="1"/>
          </p:cNvSpPr>
          <p:nvPr/>
        </p:nvSpPr>
        <p:spPr>
          <a:xfrm xmlns:a="http://schemas.openxmlformats.org/drawingml/2006/main">
            <a:off x="5937877" y="3316597"/>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3</a:t>
            </a:r>
          </a:p>
        </p:txBody>
      </p:sp>
      <p:sp>
        <p:nvSpPr>
          <p:cNvPr id="16" name="Text 14">
            <a:extLst xmlns:a="http://schemas.openxmlformats.org/drawingml/2006/main">
              <a:ext uri="{FF2B5EF4-FFF2-40B4-BE49-F238E27FC236}">
                <a16:creationId xmlns:a16="http://schemas.microsoft.com/office/drawing/2014/main" id="{055B22D9-C09F-4977-90E6-89D01EA17EAE}"/>
              </a:ext>
            </a:extLst>
          </p:cNvPr>
          <p:cNvSpPr>
            <a:spLocks xmlns:a="http://schemas.openxmlformats.org/drawingml/2006/main" noGrp="1"/>
          </p:cNvSpPr>
          <p:nvPr/>
        </p:nvSpPr>
        <p:spPr>
          <a:xfrm xmlns:a="http://schemas.openxmlformats.org/drawingml/2006/main">
            <a:off x="5998837" y="3718933"/>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Feature</a:t>
            </a:r>
          </a:p>
          <a:p xmlns:a="http://schemas.openxmlformats.org/drawingml/2006/main">
            <a:pPr algn="ctr">
              <a:buNone/>
            </a:pPr>
            <a:r>
              <a:rPr sz="1133">
                <a:solidFill>
                  <a:srgbClr val="FFFFFF"/>
                </a:solidFill>
                <a:latin typeface="Calibri"/>
                <a:ea typeface="Calibri"/>
                <a:cs typeface="Calibri"/>
              </a:rPr>
              <a:t>Engineering</a:t>
            </a:r>
          </a:p>
          <a:p xmlns:a="http://schemas.openxmlformats.org/drawingml/2006/main">
            <a:pPr algn="ctr">
              <a:buNone/>
            </a:pPr>
            <a:r>
              <a:rPr sz="1133">
                <a:solidFill>
                  <a:srgbClr val="FFFFFF"/>
                </a:solidFill>
                <a:latin typeface="Calibri"/>
                <a:ea typeface="Calibri"/>
                <a:cs typeface="Calibri"/>
              </a:rPr>
              <a:t>(59 annual</a:t>
            </a:r>
          </a:p>
          <a:p xmlns:a="http://schemas.openxmlformats.org/drawingml/2006/main">
            <a:pPr algn="ctr">
              <a:buNone/>
            </a:pPr>
            <a:r>
              <a:rPr sz="1133">
                <a:solidFill>
                  <a:srgbClr val="FFFFFF"/>
                </a:solidFill>
                <a:latin typeface="Calibri"/>
                <a:ea typeface="Calibri"/>
                <a:cs typeface="Calibri"/>
              </a:rPr>
              <a:t>features)</a:t>
            </a:r>
          </a:p>
        </p:txBody>
      </p:sp>
      <p:sp>
        <p:nvSpPr>
          <p:cNvPr id="17" name="Text 15">
            <a:extLst xmlns:a="http://schemas.openxmlformats.org/drawingml/2006/main">
              <a:ext uri="{FF2B5EF4-FFF2-40B4-BE49-F238E27FC236}">
                <a16:creationId xmlns:a16="http://schemas.microsoft.com/office/drawing/2014/main" id="{59F4B97F-C924-413D-AD79-71B82EE4C1A7}"/>
              </a:ext>
            </a:extLst>
          </p:cNvPr>
          <p:cNvSpPr>
            <a:spLocks xmlns:a="http://schemas.openxmlformats.org/drawingml/2006/main" noGrp="1"/>
          </p:cNvSpPr>
          <p:nvPr/>
        </p:nvSpPr>
        <p:spPr>
          <a:xfrm xmlns:a="http://schemas.openxmlformats.org/drawingml/2006/main">
            <a:off x="7620373" y="3865237"/>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18" name="Shape 16">
            <a:extLst xmlns:a="http://schemas.openxmlformats.org/drawingml/2006/main">
              <a:ext uri="{FF2B5EF4-FFF2-40B4-BE49-F238E27FC236}">
                <a16:creationId xmlns:a16="http://schemas.microsoft.com/office/drawing/2014/main" id="{BD48D460-008D-4316-B927-B964A29588B7}"/>
              </a:ext>
            </a:extLst>
          </p:cNvPr>
          <p:cNvSpPr>
            <a:spLocks xmlns:a="http://schemas.openxmlformats.org/drawingml/2006/main" noGrp="1"/>
          </p:cNvSpPr>
          <p:nvPr/>
        </p:nvSpPr>
        <p:spPr>
          <a:xfrm xmlns:a="http://schemas.openxmlformats.org/drawingml/2006/main">
            <a:off x="7839829" y="3255637"/>
            <a:ext cx="1682496" cy="180441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9AE764AB-A1B9-47A2-AA15-EF488D6B5C00}"/>
              </a:ext>
            </a:extLst>
          </p:cNvPr>
          <p:cNvSpPr>
            <a:spLocks xmlns:a="http://schemas.openxmlformats.org/drawingml/2006/main" noGrp="1"/>
          </p:cNvSpPr>
          <p:nvPr/>
        </p:nvSpPr>
        <p:spPr>
          <a:xfrm xmlns:a="http://schemas.openxmlformats.org/drawingml/2006/main">
            <a:off x="7839829" y="3316597"/>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4</a:t>
            </a:r>
          </a:p>
        </p:txBody>
      </p:sp>
      <p:sp>
        <p:nvSpPr>
          <p:cNvPr id="20" name="Text 18">
            <a:extLst xmlns:a="http://schemas.openxmlformats.org/drawingml/2006/main">
              <a:ext uri="{FF2B5EF4-FFF2-40B4-BE49-F238E27FC236}">
                <a16:creationId xmlns:a16="http://schemas.microsoft.com/office/drawing/2014/main" id="{6A88C822-2EE7-4FFE-B7D9-F7AD7DE68F72}"/>
              </a:ext>
            </a:extLst>
          </p:cNvPr>
          <p:cNvSpPr>
            <a:spLocks xmlns:a="http://schemas.openxmlformats.org/drawingml/2006/main" noGrp="1"/>
          </p:cNvSpPr>
          <p:nvPr/>
        </p:nvSpPr>
        <p:spPr>
          <a:xfrm xmlns:a="http://schemas.openxmlformats.org/drawingml/2006/main">
            <a:off x="7900789" y="3718933"/>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Feature</a:t>
            </a:r>
          </a:p>
          <a:p xmlns:a="http://schemas.openxmlformats.org/drawingml/2006/main">
            <a:pPr algn="ctr">
              <a:buNone/>
            </a:pPr>
            <a:r>
              <a:rPr sz="1133">
                <a:solidFill>
                  <a:srgbClr val="FFFFFF"/>
                </a:solidFill>
                <a:latin typeface="Calibri"/>
                <a:ea typeface="Calibri"/>
                <a:cs typeface="Calibri"/>
              </a:rPr>
              <a:t>Selection</a:t>
            </a:r>
          </a:p>
          <a:p xmlns:a="http://schemas.openxmlformats.org/drawingml/2006/main">
            <a:pPr algn="ctr">
              <a:buNone/>
            </a:pPr>
            <a:r>
              <a:rPr sz="1133">
                <a:solidFill>
                  <a:srgbClr val="FFFFFF"/>
                </a:solidFill>
                <a:latin typeface="Calibri"/>
                <a:ea typeface="Calibri"/>
                <a:cs typeface="Calibri"/>
              </a:rPr>
              <a:t>(η², Pearson,</a:t>
            </a:r>
          </a:p>
          <a:p xmlns:a="http://schemas.openxmlformats.org/drawingml/2006/main">
            <a:pPr algn="ctr">
              <a:buNone/>
            </a:pPr>
            <a:r>
              <a:rPr sz="1133">
                <a:solidFill>
                  <a:srgbClr val="FFFFFF"/>
                </a:solidFill>
                <a:latin typeface="Calibri"/>
                <a:ea typeface="Calibri"/>
                <a:cs typeface="Calibri"/>
              </a:rPr>
              <a:t>support filter)</a:t>
            </a:r>
          </a:p>
        </p:txBody>
      </p:sp>
      <p:sp>
        <p:nvSpPr>
          <p:cNvPr id="21" name="Text 19">
            <a:extLst xmlns:a="http://schemas.openxmlformats.org/drawingml/2006/main">
              <a:ext uri="{FF2B5EF4-FFF2-40B4-BE49-F238E27FC236}">
                <a16:creationId xmlns:a16="http://schemas.microsoft.com/office/drawing/2014/main" id="{B9C9D9FC-8D64-4E6F-B4B1-37A60BA8B362}"/>
              </a:ext>
            </a:extLst>
          </p:cNvPr>
          <p:cNvSpPr>
            <a:spLocks xmlns:a="http://schemas.openxmlformats.org/drawingml/2006/main" noGrp="1"/>
          </p:cNvSpPr>
          <p:nvPr/>
        </p:nvSpPr>
        <p:spPr>
          <a:xfrm xmlns:a="http://schemas.openxmlformats.org/drawingml/2006/main">
            <a:off x="9522325" y="3865237"/>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22" name="Shape 20">
            <a:extLst xmlns:a="http://schemas.openxmlformats.org/drawingml/2006/main">
              <a:ext uri="{FF2B5EF4-FFF2-40B4-BE49-F238E27FC236}">
                <a16:creationId xmlns:a16="http://schemas.microsoft.com/office/drawing/2014/main" id="{D3265DE2-8747-4BFC-B524-2EA48C24B4A0}"/>
              </a:ext>
            </a:extLst>
          </p:cNvPr>
          <p:cNvSpPr>
            <a:spLocks xmlns:a="http://schemas.openxmlformats.org/drawingml/2006/main" noGrp="1"/>
          </p:cNvSpPr>
          <p:nvPr/>
        </p:nvSpPr>
        <p:spPr>
          <a:xfrm xmlns:a="http://schemas.openxmlformats.org/drawingml/2006/main">
            <a:off x="9741781" y="3255637"/>
            <a:ext cx="1682496" cy="180441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7A983874-B6EA-4E7E-A7BE-AC4174F40716}"/>
              </a:ext>
            </a:extLst>
          </p:cNvPr>
          <p:cNvSpPr>
            <a:spLocks xmlns:a="http://schemas.openxmlformats.org/drawingml/2006/main" noGrp="1"/>
          </p:cNvSpPr>
          <p:nvPr/>
        </p:nvSpPr>
        <p:spPr>
          <a:xfrm xmlns:a="http://schemas.openxmlformats.org/drawingml/2006/main">
            <a:off x="9741781" y="3316597"/>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295AE083-7916-4A52-B6C2-6F019AFF2FF0}"/>
              </a:ext>
            </a:extLst>
          </p:cNvPr>
          <p:cNvSpPr>
            <a:spLocks xmlns:a="http://schemas.openxmlformats.org/drawingml/2006/main" noGrp="1"/>
          </p:cNvSpPr>
          <p:nvPr/>
        </p:nvSpPr>
        <p:spPr>
          <a:xfrm xmlns:a="http://schemas.openxmlformats.org/drawingml/2006/main">
            <a:off x="9802741" y="3718933"/>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Rule Induction</a:t>
            </a:r>
          </a:p>
          <a:p xmlns:a="http://schemas.openxmlformats.org/drawingml/2006/main">
            <a:pPr algn="ctr">
              <a:buNone/>
            </a:pPr>
            <a:r>
              <a:rPr sz="1133">
                <a:solidFill>
                  <a:srgbClr val="FFFFFF"/>
                </a:solidFill>
                <a:latin typeface="Calibri"/>
                <a:ea typeface="Calibri"/>
                <a:cs typeface="Calibri"/>
              </a:rPr>
              <a:t>(CarenR KS-test,</a:t>
            </a:r>
          </a:p>
          <a:p xmlns:a="http://schemas.openxmlformats.org/drawingml/2006/main">
            <a:pPr algn="ctr">
              <a:buNone/>
            </a:pPr>
            <a:r>
              <a:rPr sz="1133">
                <a:solidFill>
                  <a:srgbClr val="FFFFFF"/>
                </a:solidFill>
                <a:latin typeface="Calibri"/>
                <a:ea typeface="Calibri"/>
                <a:cs typeface="Calibri"/>
              </a:rPr>
              <a:t>RIPPER,</a:t>
            </a:r>
          </a:p>
          <a:p xmlns:a="http://schemas.openxmlformats.org/drawingml/2006/main">
            <a:pPr algn="ctr">
              <a:buNone/>
            </a:pPr>
            <a:r>
              <a:rPr sz="1133">
                <a:solidFill>
                  <a:srgbClr val="FFFFFF"/>
                </a:solidFill>
                <a:latin typeface="Calibri"/>
                <a:ea typeface="Calibri"/>
                <a:cs typeface="Calibri"/>
              </a:rPr>
              <a:t>M5Rules)</a:t>
            </a:r>
          </a:p>
        </p:txBody>
      </p:sp>
      <p:sp>
        <p:nvSpPr>
          <p:cNvPr id="25" name="Text 23">
            <a:extLst xmlns:a="http://schemas.openxmlformats.org/drawingml/2006/main">
              <a:ext uri="{FF2B5EF4-FFF2-40B4-BE49-F238E27FC236}">
                <a16:creationId xmlns:a16="http://schemas.microsoft.com/office/drawing/2014/main" id="{FF048569-A3E4-4732-89AC-712B560EBD55}"/>
              </a:ext>
            </a:extLst>
          </p:cNvPr>
          <p:cNvSpPr>
            <a:spLocks xmlns:a="http://schemas.openxmlformats.org/drawingml/2006/main" noGrp="1"/>
          </p:cNvSpPr>
          <p:nvPr/>
        </p:nvSpPr>
        <p:spPr>
          <a:xfrm xmlns:a="http://schemas.openxmlformats.org/drawingml/2006/main">
            <a:off x="11424277" y="3865237"/>
            <a:ext cx="21945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133">
                <a:solidFill>
                  <a:srgbClr val="D4A853"/>
                </a:solidFill>
              </a:rPr>
              <a:t>→</a:t>
            </a:r>
          </a:p>
        </p:txBody>
      </p:sp>
      <p:sp>
        <p:nvSpPr>
          <p:cNvPr id="26" name="Shape 24">
            <a:extLst xmlns:a="http://schemas.openxmlformats.org/drawingml/2006/main">
              <a:ext uri="{FF2B5EF4-FFF2-40B4-BE49-F238E27FC236}">
                <a16:creationId xmlns:a16="http://schemas.microsoft.com/office/drawing/2014/main" id="{5314E846-0ADA-48A0-847B-15CFA1B33D46}"/>
              </a:ext>
            </a:extLst>
          </p:cNvPr>
          <p:cNvSpPr>
            <a:spLocks xmlns:a="http://schemas.openxmlformats.org/drawingml/2006/main" noGrp="1"/>
          </p:cNvSpPr>
          <p:nvPr/>
        </p:nvSpPr>
        <p:spPr>
          <a:xfrm xmlns:a="http://schemas.openxmlformats.org/drawingml/2006/main">
            <a:off x="11643733" y="3255637"/>
            <a:ext cx="1682496" cy="180441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9EB1B63-F2B1-4F7D-B53A-6F05313B7A70}"/>
              </a:ext>
            </a:extLst>
          </p:cNvPr>
          <p:cNvSpPr>
            <a:spLocks xmlns:a="http://schemas.openxmlformats.org/drawingml/2006/main" noGrp="1"/>
          </p:cNvSpPr>
          <p:nvPr/>
        </p:nvSpPr>
        <p:spPr>
          <a:xfrm xmlns:a="http://schemas.openxmlformats.org/drawingml/2006/main">
            <a:off x="11643733" y="3316597"/>
            <a:ext cx="1682496" cy="426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D4A853"/>
                </a:solidFill>
                <a:latin typeface="Calibri"/>
                <a:ea typeface="Calibri"/>
                <a:cs typeface="Calibri"/>
              </a:rPr>
              <a:t>6</a:t>
            </a:r>
          </a:p>
        </p:txBody>
      </p:sp>
      <p:sp>
        <p:nvSpPr>
          <p:cNvPr id="28" name="Text 26">
            <a:extLst xmlns:a="http://schemas.openxmlformats.org/drawingml/2006/main">
              <a:ext uri="{FF2B5EF4-FFF2-40B4-BE49-F238E27FC236}">
                <a16:creationId xmlns:a16="http://schemas.microsoft.com/office/drawing/2014/main" id="{881FDEA5-AB84-4915-B00A-9CCEAA651EEC}"/>
              </a:ext>
            </a:extLst>
          </p:cNvPr>
          <p:cNvSpPr>
            <a:spLocks xmlns:a="http://schemas.openxmlformats.org/drawingml/2006/main" noGrp="1"/>
          </p:cNvSpPr>
          <p:nvPr/>
        </p:nvSpPr>
        <p:spPr>
          <a:xfrm xmlns:a="http://schemas.openxmlformats.org/drawingml/2006/main">
            <a:off x="11704693" y="3718933"/>
            <a:ext cx="1560576"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a:solidFill>
                  <a:srgbClr val="FFFFFF"/>
                </a:solidFill>
                <a:latin typeface="Calibri"/>
                <a:ea typeface="Calibri"/>
                <a:cs typeface="Calibri"/>
              </a:rPr>
              <a:t>Walk-Forward</a:t>
            </a:r>
          </a:p>
          <a:p xmlns:a="http://schemas.openxmlformats.org/drawingml/2006/main">
            <a:pPr algn="ctr">
              <a:buNone/>
            </a:pPr>
            <a:r>
              <a:rPr sz="1133">
                <a:solidFill>
                  <a:srgbClr val="FFFFFF"/>
                </a:solidFill>
                <a:latin typeface="Calibri"/>
                <a:ea typeface="Calibri"/>
                <a:cs typeface="Calibri"/>
              </a:rPr>
              <a:t>Evaluation</a:t>
            </a:r>
          </a:p>
          <a:p xmlns:a="http://schemas.openxmlformats.org/drawingml/2006/main">
            <a:pPr algn="ctr">
              <a:buNone/>
            </a:pPr>
            <a:r>
              <a:rPr sz="1133">
                <a:solidFill>
                  <a:srgbClr val="FFFFFF"/>
                </a:solidFill>
                <a:latin typeface="Calibri"/>
                <a:ea typeface="Calibri"/>
                <a:cs typeface="Calibri"/>
              </a:rPr>
              <a:t>(18/16 expanding</a:t>
            </a:r>
          </a:p>
          <a:p xmlns:a="http://schemas.openxmlformats.org/drawingml/2006/main">
            <a:pPr algn="ctr">
              <a:buNone/>
            </a:pPr>
            <a:r>
              <a:rPr sz="1133">
                <a:solidFill>
                  <a:srgbClr val="FFFFFF"/>
                </a:solidFill>
                <a:latin typeface="Calibri"/>
                <a:ea typeface="Calibri"/>
                <a:cs typeface="Calibri"/>
              </a:rPr>
              <a:t>window scenarios)</a:t>
            </a:r>
          </a:p>
        </p:txBody>
      </p:sp>
      <p:sp>
        <p:nvSpPr>
          <p:cNvPr id="29" name="Shape 27">
            <a:extLst xmlns:a="http://schemas.openxmlformats.org/drawingml/2006/main">
              <a:ext uri="{FF2B5EF4-FFF2-40B4-BE49-F238E27FC236}">
                <a16:creationId xmlns:a16="http://schemas.microsoft.com/office/drawing/2014/main" id="{22F3E9BA-5419-4FA0-8B62-37B5352B450F}"/>
              </a:ext>
            </a:extLst>
          </p:cNvPr>
          <p:cNvSpPr>
            <a:spLocks xmlns:a="http://schemas.openxmlformats.org/drawingml/2006/main" noGrp="1"/>
          </p:cNvSpPr>
          <p:nvPr/>
        </p:nvSpPr>
        <p:spPr>
          <a:xfrm xmlns:a="http://schemas.openxmlformats.org/drawingml/2006/main">
            <a:off x="2133973" y="5255125"/>
            <a:ext cx="5120640" cy="3657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0" name="Shape 28">
            <a:extLst xmlns:a="http://schemas.openxmlformats.org/drawingml/2006/main">
              <a:ext uri="{FF2B5EF4-FFF2-40B4-BE49-F238E27FC236}">
                <a16:creationId xmlns:a16="http://schemas.microsoft.com/office/drawing/2014/main" id="{9AB7FCFE-7158-4F3A-9AF1-FE64C15F0005}"/>
              </a:ext>
            </a:extLst>
          </p:cNvPr>
          <p:cNvSpPr>
            <a:spLocks xmlns:a="http://schemas.openxmlformats.org/drawingml/2006/main" noGrp="1"/>
          </p:cNvSpPr>
          <p:nvPr/>
        </p:nvSpPr>
        <p:spPr>
          <a:xfrm xmlns:a="http://schemas.openxmlformats.org/drawingml/2006/main">
            <a:off x="8327509" y="5255125"/>
            <a:ext cx="5120640" cy="3657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31" name="Shape 29">
            <a:extLst xmlns:a="http://schemas.openxmlformats.org/drawingml/2006/main">
              <a:ext uri="{FF2B5EF4-FFF2-40B4-BE49-F238E27FC236}">
                <a16:creationId xmlns:a16="http://schemas.microsoft.com/office/drawing/2014/main" id="{30D3D1FA-017F-4EAE-BB61-3DC1180C1675}"/>
              </a:ext>
            </a:extLst>
          </p:cNvPr>
          <p:cNvSpPr>
            <a:spLocks xmlns:a="http://schemas.openxmlformats.org/drawingml/2006/main" noGrp="1"/>
          </p:cNvSpPr>
          <p:nvPr/>
        </p:nvSpPr>
        <p:spPr>
          <a:xfrm xmlns:a="http://schemas.openxmlformats.org/drawingml/2006/main">
            <a:off x="2133973" y="5328277"/>
            <a:ext cx="5120640" cy="188976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351CB191-A07C-4BE3-BF67-F850A237E9EA}"/>
              </a:ext>
            </a:extLst>
          </p:cNvPr>
          <p:cNvSpPr>
            <a:spLocks xmlns:a="http://schemas.openxmlformats.org/drawingml/2006/main" noGrp="1"/>
          </p:cNvSpPr>
          <p:nvPr/>
        </p:nvSpPr>
        <p:spPr>
          <a:xfrm xmlns:a="http://schemas.openxmlformats.org/drawingml/2006/main">
            <a:off x="2255893" y="5352661"/>
            <a:ext cx="48768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FFFFF"/>
                </a:solidFill>
                <a:latin typeface="Calibri"/>
                <a:ea typeface="Calibri"/>
                <a:cs typeface="Calibri"/>
              </a:rPr>
              <a:t>GOAL 1: Rule Discovery</a:t>
            </a:r>
          </a:p>
        </p:txBody>
      </p:sp>
      <p:sp>
        <p:nvSpPr>
          <p:cNvPr id="33" name="Text 31">
            <a:extLst xmlns:a="http://schemas.openxmlformats.org/drawingml/2006/main">
              <a:ext uri="{FF2B5EF4-FFF2-40B4-BE49-F238E27FC236}">
                <a16:creationId xmlns:a16="http://schemas.microsoft.com/office/drawing/2014/main" id="{813028F6-787B-40C1-A80B-A81F74294B15}"/>
              </a:ext>
            </a:extLst>
          </p:cNvPr>
          <p:cNvSpPr>
            <a:spLocks xmlns:a="http://schemas.openxmlformats.org/drawingml/2006/main" noGrp="1"/>
          </p:cNvSpPr>
          <p:nvPr/>
        </p:nvSpPr>
        <p:spPr>
          <a:xfrm xmlns:a="http://schemas.openxmlformats.org/drawingml/2006/main">
            <a:off x="2255893" y="5840341"/>
            <a:ext cx="4876800"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F0F4F8"/>
                </a:solidFill>
                <a:latin typeface="Calibri"/>
                <a:ea typeface="Calibri"/>
                <a:cs typeface="Calibri"/>
              </a:rPr>
              <a:t>CarenR on FULL historical dataset</a:t>
            </a:r>
          </a:p>
          <a:p xmlns:a="http://schemas.openxmlformats.org/drawingml/2006/main">
            <a:r>
              <a:rPr sz="1267">
                <a:solidFill>
                  <a:srgbClr val="F0F4F8"/>
                </a:solidFill>
                <a:latin typeface="Calibri"/>
                <a:ea typeface="Calibri"/>
                <a:cs typeface="Calibri"/>
              </a:rPr>
              <a:t>48 rules (Douro) · 20 rules (Vinho Verde)</a:t>
            </a:r>
          </a:p>
          <a:p xmlns:a="http://schemas.openxmlformats.org/drawingml/2006/main">
            <a:r>
              <a:rPr sz="1267">
                <a:solidFill>
                  <a:srgbClr val="F0F4F8"/>
                </a:solidFill>
                <a:latin typeface="Calibri"/>
                <a:ea typeface="Calibri"/>
                <a:cs typeface="Calibri"/>
              </a:rPr>
              <a:t>Validated by LOESS detrending</a:t>
            </a:r>
          </a:p>
          <a:p xmlns:a="http://schemas.openxmlformats.org/drawingml/2006/main">
            <a:r>
              <a:rPr sz="1267">
                <a:solidFill>
                  <a:srgbClr val="F0F4F8"/>
                </a:solidFill>
                <a:latin typeface="Calibri"/>
                <a:ea typeface="Calibri"/>
                <a:cs typeface="Calibri"/>
              </a:rPr>
              <a:t>Cross-algorithm comparison (RIPPER, M5Rules)</a:t>
            </a:r>
          </a:p>
        </p:txBody>
      </p:sp>
      <p:sp>
        <p:nvSpPr>
          <p:cNvPr id="34" name="Shape 32">
            <a:extLst xmlns:a="http://schemas.openxmlformats.org/drawingml/2006/main">
              <a:ext uri="{FF2B5EF4-FFF2-40B4-BE49-F238E27FC236}">
                <a16:creationId xmlns:a16="http://schemas.microsoft.com/office/drawing/2014/main" id="{B1A42A32-9872-4856-8C38-60DC1604AA49}"/>
              </a:ext>
            </a:extLst>
          </p:cNvPr>
          <p:cNvSpPr>
            <a:spLocks xmlns:a="http://schemas.openxmlformats.org/drawingml/2006/main" noGrp="1"/>
          </p:cNvSpPr>
          <p:nvPr/>
        </p:nvSpPr>
        <p:spPr>
          <a:xfrm xmlns:a="http://schemas.openxmlformats.org/drawingml/2006/main">
            <a:off x="8327509" y="5328277"/>
            <a:ext cx="5120640" cy="188976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35" name="Text 33">
            <a:extLst xmlns:a="http://schemas.openxmlformats.org/drawingml/2006/main">
              <a:ext uri="{FF2B5EF4-FFF2-40B4-BE49-F238E27FC236}">
                <a16:creationId xmlns:a16="http://schemas.microsoft.com/office/drawing/2014/main" id="{30FD0F2E-A73B-40EE-B8D2-8E1E253E834A}"/>
              </a:ext>
            </a:extLst>
          </p:cNvPr>
          <p:cNvSpPr>
            <a:spLocks xmlns:a="http://schemas.openxmlformats.org/drawingml/2006/main" noGrp="1"/>
          </p:cNvSpPr>
          <p:nvPr/>
        </p:nvSpPr>
        <p:spPr>
          <a:xfrm xmlns:a="http://schemas.openxmlformats.org/drawingml/2006/main">
            <a:off x="8449429" y="5352661"/>
            <a:ext cx="48768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FFFFF"/>
                </a:solidFill>
                <a:latin typeface="Calibri"/>
                <a:ea typeface="Calibri"/>
                <a:cs typeface="Calibri"/>
              </a:rPr>
              <a:t>GOAL 2: Predictive Validation</a:t>
            </a:r>
          </a:p>
        </p:txBody>
      </p:sp>
      <p:sp>
        <p:nvSpPr>
          <p:cNvPr id="36" name="Text 34">
            <a:extLst xmlns:a="http://schemas.openxmlformats.org/drawingml/2006/main">
              <a:ext uri="{FF2B5EF4-FFF2-40B4-BE49-F238E27FC236}">
                <a16:creationId xmlns:a16="http://schemas.microsoft.com/office/drawing/2014/main" id="{E30E5228-1D37-469C-9F07-6B5FBE5BD53A}"/>
              </a:ext>
            </a:extLst>
          </p:cNvPr>
          <p:cNvSpPr>
            <a:spLocks xmlns:a="http://schemas.openxmlformats.org/drawingml/2006/main" noGrp="1"/>
          </p:cNvSpPr>
          <p:nvPr/>
        </p:nvSpPr>
        <p:spPr>
          <a:xfrm xmlns:a="http://schemas.openxmlformats.org/drawingml/2006/main">
            <a:off x="8449429" y="5840341"/>
            <a:ext cx="4876800"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F0F4F8"/>
                </a:solidFill>
                <a:latin typeface="Calibri"/>
                <a:ea typeface="Calibri"/>
                <a:cs typeface="Calibri"/>
              </a:rPr>
              <a:t>17 models · Expanding-window walk-forward</a:t>
            </a:r>
          </a:p>
          <a:p xmlns:a="http://schemas.openxmlformats.org/drawingml/2006/main">
            <a:r>
              <a:rPr sz="1267">
                <a:solidFill>
                  <a:srgbClr val="F0F4F8"/>
                </a:solidFill>
                <a:latin typeface="Calibri"/>
                <a:ea typeface="Calibri"/>
                <a:cs typeface="Calibri"/>
              </a:rPr>
              <a:t>Weighted MAE vs Naive_Median baseline</a:t>
            </a:r>
          </a:p>
          <a:p xmlns:a="http://schemas.openxmlformats.org/drawingml/2006/main">
            <a:r>
              <a:rPr sz="1267">
                <a:solidFill>
                  <a:srgbClr val="F0F4F8"/>
                </a:solidFill>
                <a:latin typeface="Calibri"/>
                <a:ea typeface="Calibri"/>
                <a:cs typeface="Calibri"/>
              </a:rPr>
              <a:t>Statistical tests: Wilcoxon, Binomial</a:t>
            </a:r>
          </a:p>
          <a:p xmlns:a="http://schemas.openxmlformats.org/drawingml/2006/main">
            <a:r>
              <a:rPr sz="1267">
                <a:solidFill>
                  <a:srgbClr val="F0F4F8"/>
                </a:solidFill>
                <a:latin typeface="Calibri"/>
                <a:ea typeface="Calibri"/>
                <a:cs typeface="Calibri"/>
              </a:rPr>
              <a:t>Detrend sensitivity (LOESS)</a:t>
            </a:r>
          </a:p>
        </p:txBody>
      </p:sp>
      <p:sp>
        <p:nvSpPr>
          <p:cNvPr id="37" name="Text 35">
            <a:extLst xmlns:a="http://schemas.openxmlformats.org/drawingml/2006/main">
              <a:ext uri="{FF2B5EF4-FFF2-40B4-BE49-F238E27FC236}">
                <a16:creationId xmlns:a16="http://schemas.microsoft.com/office/drawing/2014/main" id="{4C953BE0-575C-46F2-B8B5-7613076F5130}"/>
              </a:ext>
            </a:extLst>
          </p:cNvPr>
          <p:cNvSpPr>
            <a:spLocks xmlns:a="http://schemas.openxmlformats.org/drawingml/2006/main" noGrp="1"/>
          </p:cNvSpPr>
          <p:nvPr/>
        </p:nvSpPr>
        <p:spPr>
          <a:xfrm xmlns:a="http://schemas.openxmlformats.org/drawingml/2006/main">
            <a:off x="2133973" y="7364341"/>
            <a:ext cx="11314176"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137024084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50" name="Rectangle 49"/>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0CF5C46-04F0-4EFB-9857-495F7F5994D1}"/>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9F1D19F-5EEE-4A91-A450-11D287DB6CBA}"/>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Why Rule-Based Machine Learning?</a:t>
            </a:r>
          </a:p>
        </p:txBody>
      </p:sp>
      <p:sp>
        <p:nvSpPr>
          <p:cNvPr id="4" name="Text 2">
            <a:extLst xmlns:a="http://schemas.openxmlformats.org/drawingml/2006/main">
              <a:ext uri="{FF2B5EF4-FFF2-40B4-BE49-F238E27FC236}">
                <a16:creationId xmlns:a16="http://schemas.microsoft.com/office/drawing/2014/main" id="{A13074EF-6EF4-4180-8D35-1EFAF38808E4}"/>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xmlns:a="http://schemas.openxmlformats.org/drawingml/2006/main">
              <a:ext uri="{FF2B5EF4-FFF2-40B4-BE49-F238E27FC236}">
                <a16:creationId xmlns:a16="http://schemas.microsoft.com/office/drawing/2014/main" id="{F9B9AEB1-5A71-4868-8955-C3C3EFDC038C}"/>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9EF95DD7-4811-467D-92A2-DF9B1B8426F7}"/>
              </a:ext>
            </a:extLst>
          </p:cNvPr>
          <p:cNvSpPr>
            <a:spLocks xmlns:a="http://schemas.openxmlformats.org/drawingml/2006/main" noGrp="1"/>
          </p:cNvSpPr>
          <p:nvPr/>
        </p:nvSpPr>
        <p:spPr>
          <a:xfrm xmlns:a="http://schemas.openxmlformats.org/drawingml/2006/main">
            <a:off x="2182741" y="3036181"/>
            <a:ext cx="3584448" cy="5096256"/>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CB8414EE-8D88-4878-A089-6999C7C3ECDC}"/>
              </a:ext>
            </a:extLst>
          </p:cNvPr>
          <p:cNvSpPr>
            <a:spLocks xmlns:a="http://schemas.openxmlformats.org/drawingml/2006/main" noGrp="1"/>
          </p:cNvSpPr>
          <p:nvPr/>
        </p:nvSpPr>
        <p:spPr>
          <a:xfrm xmlns:a="http://schemas.openxmlformats.org/drawingml/2006/main">
            <a:off x="2304661" y="3060565"/>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CarenR</a:t>
            </a:r>
          </a:p>
        </p:txBody>
      </p:sp>
      <p:sp>
        <p:nvSpPr>
          <p:cNvPr id="8" name="Text 6">
            <a:extLst xmlns:a="http://schemas.openxmlformats.org/drawingml/2006/main">
              <a:ext uri="{FF2B5EF4-FFF2-40B4-BE49-F238E27FC236}">
                <a16:creationId xmlns:a16="http://schemas.microsoft.com/office/drawing/2014/main" id="{A6A4E06B-A1F7-489C-9AB7-BEE5B4B29032}"/>
              </a:ext>
            </a:extLst>
          </p:cNvPr>
          <p:cNvSpPr>
            <a:spLocks xmlns:a="http://schemas.openxmlformats.org/drawingml/2006/main" noGrp="1"/>
          </p:cNvSpPr>
          <p:nvPr/>
        </p:nvSpPr>
        <p:spPr>
          <a:xfrm xmlns:a="http://schemas.openxmlformats.org/drawingml/2006/main">
            <a:off x="2304661" y="3597013"/>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Primary Algorithm</a:t>
            </a:r>
          </a:p>
        </p:txBody>
      </p:sp>
      <p:sp>
        <p:nvSpPr>
          <p:cNvPr id="9" name="Shape 7">
            <a:extLst xmlns:a="http://schemas.openxmlformats.org/drawingml/2006/main">
              <a:ext uri="{FF2B5EF4-FFF2-40B4-BE49-F238E27FC236}">
                <a16:creationId xmlns:a16="http://schemas.microsoft.com/office/drawing/2014/main" id="{A0E28454-8558-4D7C-819D-F4551EF262A1}"/>
              </a:ext>
            </a:extLst>
          </p:cNvPr>
          <p:cNvSpPr>
            <a:spLocks xmlns:a="http://schemas.openxmlformats.org/drawingml/2006/main" noGrp="1"/>
          </p:cNvSpPr>
          <p:nvPr/>
        </p:nvSpPr>
        <p:spPr>
          <a:xfrm xmlns:a="http://schemas.openxmlformats.org/drawingml/2006/main">
            <a:off x="2365621" y="3962773"/>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3DDD05DC-8850-4AB0-9F79-4917ABC1328E}"/>
              </a:ext>
            </a:extLst>
          </p:cNvPr>
          <p:cNvSpPr>
            <a:spLocks xmlns:a="http://schemas.openxmlformats.org/drawingml/2006/main" noGrp="1"/>
          </p:cNvSpPr>
          <p:nvPr/>
        </p:nvSpPr>
        <p:spPr>
          <a:xfrm xmlns:a="http://schemas.openxmlformats.org/drawingml/2006/main">
            <a:off x="2329045" y="4048117"/>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11" name="Text 9">
            <a:extLst xmlns:a="http://schemas.openxmlformats.org/drawingml/2006/main">
              <a:ext uri="{FF2B5EF4-FFF2-40B4-BE49-F238E27FC236}">
                <a16:creationId xmlns:a16="http://schemas.microsoft.com/office/drawing/2014/main" id="{E4CE7A85-8A1D-4A49-ACCD-74F7E88F1FCA}"/>
              </a:ext>
            </a:extLst>
          </p:cNvPr>
          <p:cNvSpPr>
            <a:spLocks xmlns:a="http://schemas.openxmlformats.org/drawingml/2006/main" noGrp="1"/>
          </p:cNvSpPr>
          <p:nvPr/>
        </p:nvSpPr>
        <p:spPr>
          <a:xfrm xmlns:a="http://schemas.openxmlformats.org/drawingml/2006/main">
            <a:off x="3255637" y="4048117"/>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When does the shape of the</a:t>
            </a:r>
          </a:p>
          <a:p xmlns:a="http://schemas.openxmlformats.org/drawingml/2006/main">
            <a:r>
              <a:rPr sz="1133">
                <a:solidFill>
                  <a:srgbClr val="D8E2EE"/>
                </a:solidFill>
                <a:latin typeface="Calibri"/>
                <a:ea typeface="Calibri"/>
                <a:cs typeface="Calibri"/>
              </a:rPr>
              <a:t>production distribution shift?</a:t>
            </a:r>
          </a:p>
        </p:txBody>
      </p:sp>
      <p:sp>
        <p:nvSpPr>
          <p:cNvPr id="12" name="Text 10">
            <a:extLst xmlns:a="http://schemas.openxmlformats.org/drawingml/2006/main">
              <a:ext uri="{FF2B5EF4-FFF2-40B4-BE49-F238E27FC236}">
                <a16:creationId xmlns:a16="http://schemas.microsoft.com/office/drawing/2014/main" id="{3D6E46C8-73F2-4E06-8217-2AD6A92D3D93}"/>
              </a:ext>
            </a:extLst>
          </p:cNvPr>
          <p:cNvSpPr>
            <a:spLocks xmlns:a="http://schemas.openxmlformats.org/drawingml/2006/main" noGrp="1"/>
          </p:cNvSpPr>
          <p:nvPr/>
        </p:nvSpPr>
        <p:spPr>
          <a:xfrm xmlns:a="http://schemas.openxmlformats.org/drawingml/2006/main">
            <a:off x="2329045" y="4925941"/>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13" name="Text 11">
            <a:extLst xmlns:a="http://schemas.openxmlformats.org/drawingml/2006/main">
              <a:ext uri="{FF2B5EF4-FFF2-40B4-BE49-F238E27FC236}">
                <a16:creationId xmlns:a16="http://schemas.microsoft.com/office/drawing/2014/main" id="{32732CF4-5CA7-4C79-B878-D71EA48FE7C7}"/>
              </a:ext>
            </a:extLst>
          </p:cNvPr>
          <p:cNvSpPr>
            <a:spLocks xmlns:a="http://schemas.openxmlformats.org/drawingml/2006/main" noGrp="1"/>
          </p:cNvSpPr>
          <p:nvPr/>
        </p:nvSpPr>
        <p:spPr>
          <a:xfrm xmlns:a="http://schemas.openxmlformats.org/drawingml/2006/main">
            <a:off x="3255637" y="4925941"/>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Kolmogorov–Smirnov test</a:t>
            </a:r>
          </a:p>
          <a:p xmlns:a="http://schemas.openxmlformats.org/drawingml/2006/main">
            <a:r>
              <a:rPr sz="1133">
                <a:solidFill>
                  <a:srgbClr val="D8E2EE"/>
                </a:solidFill>
                <a:latin typeface="Calibri"/>
                <a:ea typeface="Calibri"/>
                <a:cs typeface="Calibri"/>
              </a:rPr>
              <a:t>(distributional shift)</a:t>
            </a:r>
          </a:p>
        </p:txBody>
      </p:sp>
      <p:sp>
        <p:nvSpPr>
          <p:cNvPr id="14" name="Text 12">
            <a:extLst xmlns:a="http://schemas.openxmlformats.org/drawingml/2006/main">
              <a:ext uri="{FF2B5EF4-FFF2-40B4-BE49-F238E27FC236}">
                <a16:creationId xmlns:a16="http://schemas.microsoft.com/office/drawing/2014/main" id="{3AE56F2D-E031-4766-858E-BF2118038A17}"/>
              </a:ext>
            </a:extLst>
          </p:cNvPr>
          <p:cNvSpPr>
            <a:spLocks xmlns:a="http://schemas.openxmlformats.org/drawingml/2006/main" noGrp="1"/>
          </p:cNvSpPr>
          <p:nvPr/>
        </p:nvSpPr>
        <p:spPr>
          <a:xfrm xmlns:a="http://schemas.openxmlformats.org/drawingml/2006/main">
            <a:off x="2329045" y="5803765"/>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15" name="Text 13">
            <a:extLst xmlns:a="http://schemas.openxmlformats.org/drawingml/2006/main">
              <a:ext uri="{FF2B5EF4-FFF2-40B4-BE49-F238E27FC236}">
                <a16:creationId xmlns:a16="http://schemas.microsoft.com/office/drawing/2014/main" id="{43B4DFD0-B85C-4EF5-A8AC-3952264740CE}"/>
              </a:ext>
            </a:extLst>
          </p:cNvPr>
          <p:cNvSpPr>
            <a:spLocks xmlns:a="http://schemas.openxmlformats.org/drawingml/2006/main" noGrp="1"/>
          </p:cNvSpPr>
          <p:nvPr/>
        </p:nvSpPr>
        <p:spPr>
          <a:xfrm xmlns:a="http://schemas.openxmlformats.org/drawingml/2006/main">
            <a:off x="3255637" y="5803765"/>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distribution shifts ±X mhl</a:t>
            </a:r>
          </a:p>
        </p:txBody>
      </p:sp>
      <p:sp>
        <p:nvSpPr>
          <p:cNvPr id="16" name="Text 14">
            <a:extLst xmlns:a="http://schemas.openxmlformats.org/drawingml/2006/main">
              <a:ext uri="{FF2B5EF4-FFF2-40B4-BE49-F238E27FC236}">
                <a16:creationId xmlns:a16="http://schemas.microsoft.com/office/drawing/2014/main" id="{48D82E69-9394-4EA4-BF46-00590E74D714}"/>
              </a:ext>
            </a:extLst>
          </p:cNvPr>
          <p:cNvSpPr>
            <a:spLocks xmlns:a="http://schemas.openxmlformats.org/drawingml/2006/main" noGrp="1"/>
          </p:cNvSpPr>
          <p:nvPr/>
        </p:nvSpPr>
        <p:spPr>
          <a:xfrm xmlns:a="http://schemas.openxmlformats.org/drawingml/2006/main">
            <a:off x="2329045" y="6681589"/>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17" name="Text 15">
            <a:extLst xmlns:a="http://schemas.openxmlformats.org/drawingml/2006/main">
              <a:ext uri="{FF2B5EF4-FFF2-40B4-BE49-F238E27FC236}">
                <a16:creationId xmlns:a16="http://schemas.microsoft.com/office/drawing/2014/main" id="{D1E8026D-934F-43A8-8F3E-A3E0F6E9286C}"/>
              </a:ext>
            </a:extLst>
          </p:cNvPr>
          <p:cNvSpPr>
            <a:spLocks xmlns:a="http://schemas.openxmlformats.org/drawingml/2006/main" noGrp="1"/>
          </p:cNvSpPr>
          <p:nvPr/>
        </p:nvSpPr>
        <p:spPr>
          <a:xfrm xmlns:a="http://schemas.openxmlformats.org/drawingml/2006/main">
            <a:off x="3255637" y="6681589"/>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xmlns:a="http://schemas.openxmlformats.org/drawingml/2006/main">
              <a:ext uri="{FF2B5EF4-FFF2-40B4-BE49-F238E27FC236}">
                <a16:creationId xmlns:a16="http://schemas.microsoft.com/office/drawing/2014/main" id="{219ECB86-FB1A-4888-B2B8-9984152A7063}"/>
              </a:ext>
            </a:extLst>
          </p:cNvPr>
          <p:cNvSpPr>
            <a:spLocks xmlns:a="http://schemas.openxmlformats.org/drawingml/2006/main" noGrp="1"/>
          </p:cNvSpPr>
          <p:nvPr/>
        </p:nvSpPr>
        <p:spPr>
          <a:xfrm xmlns:a="http://schemas.openxmlformats.org/drawingml/2006/main">
            <a:off x="6011029" y="3036181"/>
            <a:ext cx="3584448" cy="5096256"/>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AB8E3B8-B7A6-435E-8E59-A813B1D8E6C6}"/>
              </a:ext>
            </a:extLst>
          </p:cNvPr>
          <p:cNvSpPr>
            <a:spLocks xmlns:a="http://schemas.openxmlformats.org/drawingml/2006/main" noGrp="1"/>
          </p:cNvSpPr>
          <p:nvPr/>
        </p:nvSpPr>
        <p:spPr>
          <a:xfrm xmlns:a="http://schemas.openxmlformats.org/drawingml/2006/main">
            <a:off x="6132949" y="3060565"/>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RIPPER</a:t>
            </a:r>
          </a:p>
        </p:txBody>
      </p:sp>
      <p:sp>
        <p:nvSpPr>
          <p:cNvPr id="20" name="Text 18">
            <a:extLst xmlns:a="http://schemas.openxmlformats.org/drawingml/2006/main">
              <a:ext uri="{FF2B5EF4-FFF2-40B4-BE49-F238E27FC236}">
                <a16:creationId xmlns:a16="http://schemas.microsoft.com/office/drawing/2014/main" id="{D07C1E40-84FB-4106-94D8-B5FB254E9D47}"/>
              </a:ext>
            </a:extLst>
          </p:cNvPr>
          <p:cNvSpPr>
            <a:spLocks xmlns:a="http://schemas.openxmlformats.org/drawingml/2006/main" noGrp="1"/>
          </p:cNvSpPr>
          <p:nvPr/>
        </p:nvSpPr>
        <p:spPr>
          <a:xfrm xmlns:a="http://schemas.openxmlformats.org/drawingml/2006/main">
            <a:off x="6132949" y="3597013"/>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Classification Baseline</a:t>
            </a:r>
          </a:p>
        </p:txBody>
      </p:sp>
      <p:sp>
        <p:nvSpPr>
          <p:cNvPr id="21" name="Shape 19">
            <a:extLst xmlns:a="http://schemas.openxmlformats.org/drawingml/2006/main">
              <a:ext uri="{FF2B5EF4-FFF2-40B4-BE49-F238E27FC236}">
                <a16:creationId xmlns:a16="http://schemas.microsoft.com/office/drawing/2014/main" id="{F783C731-01AC-486A-9AFE-BBC8CBDCC7EB}"/>
              </a:ext>
            </a:extLst>
          </p:cNvPr>
          <p:cNvSpPr>
            <a:spLocks xmlns:a="http://schemas.openxmlformats.org/drawingml/2006/main" noGrp="1"/>
          </p:cNvSpPr>
          <p:nvPr/>
        </p:nvSpPr>
        <p:spPr>
          <a:xfrm xmlns:a="http://schemas.openxmlformats.org/drawingml/2006/main">
            <a:off x="6193909" y="3962773"/>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58A549A2-616F-4F79-B14A-EA303C0BEBAF}"/>
              </a:ext>
            </a:extLst>
          </p:cNvPr>
          <p:cNvSpPr>
            <a:spLocks xmlns:a="http://schemas.openxmlformats.org/drawingml/2006/main" noGrp="1"/>
          </p:cNvSpPr>
          <p:nvPr/>
        </p:nvSpPr>
        <p:spPr>
          <a:xfrm xmlns:a="http://schemas.openxmlformats.org/drawingml/2006/main">
            <a:off x="6157333" y="4048117"/>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23" name="Text 21">
            <a:extLst xmlns:a="http://schemas.openxmlformats.org/drawingml/2006/main">
              <a:ext uri="{FF2B5EF4-FFF2-40B4-BE49-F238E27FC236}">
                <a16:creationId xmlns:a16="http://schemas.microsoft.com/office/drawing/2014/main" id="{C77243E4-5699-4E31-9741-1A4BDEEE201A}"/>
              </a:ext>
            </a:extLst>
          </p:cNvPr>
          <p:cNvSpPr>
            <a:spLocks xmlns:a="http://schemas.openxmlformats.org/drawingml/2006/main" noGrp="1"/>
          </p:cNvSpPr>
          <p:nvPr/>
        </p:nvSpPr>
        <p:spPr>
          <a:xfrm xmlns:a="http://schemas.openxmlformats.org/drawingml/2006/main">
            <a:off x="7083925" y="4048117"/>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Which production class</a:t>
            </a:r>
          </a:p>
          <a:p xmlns:a="http://schemas.openxmlformats.org/drawingml/2006/main">
            <a:r>
              <a:rPr sz="1133">
                <a:solidFill>
                  <a:srgbClr val="D8E2EE"/>
                </a:solidFill>
                <a:latin typeface="Calibri"/>
                <a:ea typeface="Calibri"/>
                <a:cs typeface="Calibri"/>
              </a:rPr>
              <a:t>does this year belong to?</a:t>
            </a:r>
          </a:p>
        </p:txBody>
      </p:sp>
      <p:sp>
        <p:nvSpPr>
          <p:cNvPr id="24" name="Text 22">
            <a:extLst xmlns:a="http://schemas.openxmlformats.org/drawingml/2006/main">
              <a:ext uri="{FF2B5EF4-FFF2-40B4-BE49-F238E27FC236}">
                <a16:creationId xmlns:a16="http://schemas.microsoft.com/office/drawing/2014/main" id="{712F77E6-9677-4A1E-A627-BA9B94AD792A}"/>
              </a:ext>
            </a:extLst>
          </p:cNvPr>
          <p:cNvSpPr>
            <a:spLocks xmlns:a="http://schemas.openxmlformats.org/drawingml/2006/main" noGrp="1"/>
          </p:cNvSpPr>
          <p:nvPr/>
        </p:nvSpPr>
        <p:spPr>
          <a:xfrm xmlns:a="http://schemas.openxmlformats.org/drawingml/2006/main">
            <a:off x="6157333" y="4925941"/>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25" name="Text 23">
            <a:extLst xmlns:a="http://schemas.openxmlformats.org/drawingml/2006/main">
              <a:ext uri="{FF2B5EF4-FFF2-40B4-BE49-F238E27FC236}">
                <a16:creationId xmlns:a16="http://schemas.microsoft.com/office/drawing/2014/main" id="{E8D7351D-F158-4D26-A554-3B1A5D86FFEA}"/>
              </a:ext>
            </a:extLst>
          </p:cNvPr>
          <p:cNvSpPr>
            <a:spLocks xmlns:a="http://schemas.openxmlformats.org/drawingml/2006/main" noGrp="1"/>
          </p:cNvSpPr>
          <p:nvPr/>
        </p:nvSpPr>
        <p:spPr>
          <a:xfrm xmlns:a="http://schemas.openxmlformats.org/drawingml/2006/main">
            <a:off x="7083925" y="4925941"/>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FOIL gain</a:t>
            </a:r>
          </a:p>
          <a:p xmlns:a="http://schemas.openxmlformats.org/drawingml/2006/main">
            <a:r>
              <a:rPr sz="1133">
                <a:solidFill>
                  <a:srgbClr val="D8E2EE"/>
                </a:solidFill>
                <a:latin typeface="Calibri"/>
                <a:ea typeface="Calibri"/>
                <a:cs typeface="Calibri"/>
              </a:rPr>
              <a:t>(information gain)</a:t>
            </a:r>
          </a:p>
        </p:txBody>
      </p:sp>
      <p:sp>
        <p:nvSpPr>
          <p:cNvPr id="26" name="Text 24">
            <a:extLst xmlns:a="http://schemas.openxmlformats.org/drawingml/2006/main">
              <a:ext uri="{FF2B5EF4-FFF2-40B4-BE49-F238E27FC236}">
                <a16:creationId xmlns:a16="http://schemas.microsoft.com/office/drawing/2014/main" id="{D8181052-0789-4C3A-ACD5-2C3D1117CF30}"/>
              </a:ext>
            </a:extLst>
          </p:cNvPr>
          <p:cNvSpPr>
            <a:spLocks xmlns:a="http://schemas.openxmlformats.org/drawingml/2006/main" noGrp="1"/>
          </p:cNvSpPr>
          <p:nvPr/>
        </p:nvSpPr>
        <p:spPr>
          <a:xfrm xmlns:a="http://schemas.openxmlformats.org/drawingml/2006/main">
            <a:off x="6157333" y="5803765"/>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27" name="Text 25">
            <a:extLst xmlns:a="http://schemas.openxmlformats.org/drawingml/2006/main">
              <a:ext uri="{FF2B5EF4-FFF2-40B4-BE49-F238E27FC236}">
                <a16:creationId xmlns:a16="http://schemas.microsoft.com/office/drawing/2014/main" id="{9A4F6FDC-84BC-420E-9F46-046A06623BF0}"/>
              </a:ext>
            </a:extLst>
          </p:cNvPr>
          <p:cNvSpPr>
            <a:spLocks xmlns:a="http://schemas.openxmlformats.org/drawingml/2006/main" noGrp="1"/>
          </p:cNvSpPr>
          <p:nvPr/>
        </p:nvSpPr>
        <p:spPr>
          <a:xfrm xmlns:a="http://schemas.openxmlformats.org/drawingml/2006/main">
            <a:off x="7083925" y="5803765"/>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class = Low / Med / High</a:t>
            </a:r>
          </a:p>
        </p:txBody>
      </p:sp>
      <p:sp>
        <p:nvSpPr>
          <p:cNvPr id="28" name="Text 26">
            <a:extLst xmlns:a="http://schemas.openxmlformats.org/drawingml/2006/main">
              <a:ext uri="{FF2B5EF4-FFF2-40B4-BE49-F238E27FC236}">
                <a16:creationId xmlns:a16="http://schemas.microsoft.com/office/drawing/2014/main" id="{FBFD6977-2928-443E-BEE0-CBBC580617DB}"/>
              </a:ext>
            </a:extLst>
          </p:cNvPr>
          <p:cNvSpPr>
            <a:spLocks xmlns:a="http://schemas.openxmlformats.org/drawingml/2006/main" noGrp="1"/>
          </p:cNvSpPr>
          <p:nvPr/>
        </p:nvSpPr>
        <p:spPr>
          <a:xfrm xmlns:a="http://schemas.openxmlformats.org/drawingml/2006/main">
            <a:off x="6157333" y="6681589"/>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29" name="Text 27">
            <a:extLst xmlns:a="http://schemas.openxmlformats.org/drawingml/2006/main">
              <a:ext uri="{FF2B5EF4-FFF2-40B4-BE49-F238E27FC236}">
                <a16:creationId xmlns:a16="http://schemas.microsoft.com/office/drawing/2014/main" id="{736ACBED-3CCC-42BF-93C0-7FFD96A152F0}"/>
              </a:ext>
            </a:extLst>
          </p:cNvPr>
          <p:cNvSpPr>
            <a:spLocks xmlns:a="http://schemas.openxmlformats.org/drawingml/2006/main" noGrp="1"/>
          </p:cNvSpPr>
          <p:nvPr/>
        </p:nvSpPr>
        <p:spPr>
          <a:xfrm xmlns:a="http://schemas.openxmlformats.org/drawingml/2006/main">
            <a:off x="7083925" y="6681589"/>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xmlns:a="http://schemas.openxmlformats.org/drawingml/2006/main">
              <a:ext uri="{FF2B5EF4-FFF2-40B4-BE49-F238E27FC236}">
                <a16:creationId xmlns:a16="http://schemas.microsoft.com/office/drawing/2014/main" id="{FA1C1AB8-A574-4D60-9378-84524F9E6829}"/>
              </a:ext>
            </a:extLst>
          </p:cNvPr>
          <p:cNvSpPr>
            <a:spLocks xmlns:a="http://schemas.openxmlformats.org/drawingml/2006/main" noGrp="1"/>
          </p:cNvSpPr>
          <p:nvPr/>
        </p:nvSpPr>
        <p:spPr>
          <a:xfrm xmlns:a="http://schemas.openxmlformats.org/drawingml/2006/main">
            <a:off x="9839317" y="3036181"/>
            <a:ext cx="3584448" cy="5096256"/>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a:effectLst xmlns:a="http://schemas.openxmlformats.org/drawingml/2006/main">
            <a:outerShdw blurRad="101600" dist="38100" dir="81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DDE9A180-AD00-4385-AB00-EC58683B6E9A}"/>
              </a:ext>
            </a:extLst>
          </p:cNvPr>
          <p:cNvSpPr>
            <a:spLocks xmlns:a="http://schemas.openxmlformats.org/drawingml/2006/main" noGrp="1"/>
          </p:cNvSpPr>
          <p:nvPr/>
        </p:nvSpPr>
        <p:spPr>
          <a:xfrm xmlns:a="http://schemas.openxmlformats.org/drawingml/2006/main">
            <a:off x="9961237" y="3060565"/>
            <a:ext cx="3340608" cy="560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400" b="1">
                <a:solidFill>
                  <a:srgbClr val="FFFFFF"/>
                </a:solidFill>
                <a:latin typeface="Calibri"/>
                <a:ea typeface="Calibri"/>
                <a:cs typeface="Calibri"/>
              </a:rPr>
              <a:t>M5Rules</a:t>
            </a:r>
          </a:p>
        </p:txBody>
      </p:sp>
      <p:sp>
        <p:nvSpPr>
          <p:cNvPr id="32" name="Text 30">
            <a:extLst xmlns:a="http://schemas.openxmlformats.org/drawingml/2006/main">
              <a:ext uri="{FF2B5EF4-FFF2-40B4-BE49-F238E27FC236}">
                <a16:creationId xmlns:a16="http://schemas.microsoft.com/office/drawing/2014/main" id="{82943F26-1CBC-4511-A0C2-92CD3B0F06EC}"/>
              </a:ext>
            </a:extLst>
          </p:cNvPr>
          <p:cNvSpPr>
            <a:spLocks xmlns:a="http://schemas.openxmlformats.org/drawingml/2006/main" noGrp="1"/>
          </p:cNvSpPr>
          <p:nvPr/>
        </p:nvSpPr>
        <p:spPr>
          <a:xfrm xmlns:a="http://schemas.openxmlformats.org/drawingml/2006/main">
            <a:off x="9961237" y="3597013"/>
            <a:ext cx="33406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i="1">
                <a:solidFill>
                  <a:srgbClr val="F5D78A"/>
                </a:solidFill>
                <a:latin typeface="Calibri"/>
                <a:ea typeface="Calibri"/>
                <a:cs typeface="Calibri"/>
              </a:rPr>
              <a:t>Regression Baseline</a:t>
            </a:r>
          </a:p>
        </p:txBody>
      </p:sp>
      <p:sp>
        <p:nvSpPr>
          <p:cNvPr id="33" name="Shape 31">
            <a:extLst xmlns:a="http://schemas.openxmlformats.org/drawingml/2006/main">
              <a:ext uri="{FF2B5EF4-FFF2-40B4-BE49-F238E27FC236}">
                <a16:creationId xmlns:a16="http://schemas.microsoft.com/office/drawing/2014/main" id="{4AAA069D-D4C8-4B03-AED7-726E0AB20E0D}"/>
              </a:ext>
            </a:extLst>
          </p:cNvPr>
          <p:cNvSpPr>
            <a:spLocks xmlns:a="http://schemas.openxmlformats.org/drawingml/2006/main" noGrp="1"/>
          </p:cNvSpPr>
          <p:nvPr/>
        </p:nvSpPr>
        <p:spPr>
          <a:xfrm xmlns:a="http://schemas.openxmlformats.org/drawingml/2006/main">
            <a:off x="10022197" y="3962773"/>
            <a:ext cx="3218688"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34" name="Text 32">
            <a:extLst xmlns:a="http://schemas.openxmlformats.org/drawingml/2006/main">
              <a:ext uri="{FF2B5EF4-FFF2-40B4-BE49-F238E27FC236}">
                <a16:creationId xmlns:a16="http://schemas.microsoft.com/office/drawing/2014/main" id="{8D8BBA49-C6CB-4338-BFD3-D5ECB2D317C3}"/>
              </a:ext>
            </a:extLst>
          </p:cNvPr>
          <p:cNvSpPr>
            <a:spLocks xmlns:a="http://schemas.openxmlformats.org/drawingml/2006/main" noGrp="1"/>
          </p:cNvSpPr>
          <p:nvPr/>
        </p:nvSpPr>
        <p:spPr>
          <a:xfrm xmlns:a="http://schemas.openxmlformats.org/drawingml/2006/main">
            <a:off x="9985621" y="4048117"/>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Question:</a:t>
            </a:r>
          </a:p>
        </p:txBody>
      </p:sp>
      <p:sp>
        <p:nvSpPr>
          <p:cNvPr id="35" name="Text 33">
            <a:extLst xmlns:a="http://schemas.openxmlformats.org/drawingml/2006/main">
              <a:ext uri="{FF2B5EF4-FFF2-40B4-BE49-F238E27FC236}">
                <a16:creationId xmlns:a16="http://schemas.microsoft.com/office/drawing/2014/main" id="{9564D5E2-61B6-4663-A86A-759F61C8AE51}"/>
              </a:ext>
            </a:extLst>
          </p:cNvPr>
          <p:cNvSpPr>
            <a:spLocks xmlns:a="http://schemas.openxmlformats.org/drawingml/2006/main" noGrp="1"/>
          </p:cNvSpPr>
          <p:nvPr/>
        </p:nvSpPr>
        <p:spPr>
          <a:xfrm xmlns:a="http://schemas.openxmlformats.org/drawingml/2006/main">
            <a:off x="10912213" y="4048117"/>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What exact production level</a:t>
            </a:r>
          </a:p>
          <a:p xmlns:a="http://schemas.openxmlformats.org/drawingml/2006/main">
            <a:r>
              <a:rPr sz="1133">
                <a:solidFill>
                  <a:srgbClr val="D8E2EE"/>
                </a:solidFill>
                <a:latin typeface="Calibri"/>
                <a:ea typeface="Calibri"/>
                <a:cs typeface="Calibri"/>
              </a:rPr>
              <a:t>does a year have?</a:t>
            </a:r>
          </a:p>
        </p:txBody>
      </p:sp>
      <p:sp>
        <p:nvSpPr>
          <p:cNvPr id="36" name="Text 34">
            <a:extLst xmlns:a="http://schemas.openxmlformats.org/drawingml/2006/main">
              <a:ext uri="{FF2B5EF4-FFF2-40B4-BE49-F238E27FC236}">
                <a16:creationId xmlns:a16="http://schemas.microsoft.com/office/drawing/2014/main" id="{BFA78029-AAC9-4AA5-B255-3636FA8F7084}"/>
              </a:ext>
            </a:extLst>
          </p:cNvPr>
          <p:cNvSpPr>
            <a:spLocks xmlns:a="http://schemas.openxmlformats.org/drawingml/2006/main" noGrp="1"/>
          </p:cNvSpPr>
          <p:nvPr/>
        </p:nvSpPr>
        <p:spPr>
          <a:xfrm xmlns:a="http://schemas.openxmlformats.org/drawingml/2006/main">
            <a:off x="9985621" y="4925941"/>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Criterion:</a:t>
            </a:r>
          </a:p>
        </p:txBody>
      </p:sp>
      <p:sp>
        <p:nvSpPr>
          <p:cNvPr id="37" name="Text 35">
            <a:extLst xmlns:a="http://schemas.openxmlformats.org/drawingml/2006/main">
              <a:ext uri="{FF2B5EF4-FFF2-40B4-BE49-F238E27FC236}">
                <a16:creationId xmlns:a16="http://schemas.microsoft.com/office/drawing/2014/main" id="{2B3E111B-B97A-4A95-8FB3-991E2451AF8E}"/>
              </a:ext>
            </a:extLst>
          </p:cNvPr>
          <p:cNvSpPr>
            <a:spLocks xmlns:a="http://schemas.openxmlformats.org/drawingml/2006/main" noGrp="1"/>
          </p:cNvSpPr>
          <p:nvPr/>
        </p:nvSpPr>
        <p:spPr>
          <a:xfrm xmlns:a="http://schemas.openxmlformats.org/drawingml/2006/main">
            <a:off x="10912213" y="4925941"/>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Standard deviation reduction</a:t>
            </a:r>
          </a:p>
          <a:p xmlns:a="http://schemas.openxmlformats.org/drawingml/2006/main">
            <a:r>
              <a:rPr sz="1133">
                <a:solidFill>
                  <a:srgbClr val="D8E2EE"/>
                </a:solidFill>
                <a:latin typeface="Calibri"/>
                <a:ea typeface="Calibri"/>
                <a:cs typeface="Calibri"/>
              </a:rPr>
              <a:t>(MSE minimisation)</a:t>
            </a:r>
          </a:p>
        </p:txBody>
      </p:sp>
      <p:sp>
        <p:nvSpPr>
          <p:cNvPr id="38" name="Text 36">
            <a:extLst xmlns:a="http://schemas.openxmlformats.org/drawingml/2006/main">
              <a:ext uri="{FF2B5EF4-FFF2-40B4-BE49-F238E27FC236}">
                <a16:creationId xmlns:a16="http://schemas.microsoft.com/office/drawing/2014/main" id="{467546CE-C871-4882-B2E2-E44B835BC89D}"/>
              </a:ext>
            </a:extLst>
          </p:cNvPr>
          <p:cNvSpPr>
            <a:spLocks xmlns:a="http://schemas.openxmlformats.org/drawingml/2006/main" noGrp="1"/>
          </p:cNvSpPr>
          <p:nvPr/>
        </p:nvSpPr>
        <p:spPr>
          <a:xfrm xmlns:a="http://schemas.openxmlformats.org/drawingml/2006/main">
            <a:off x="9985621" y="5803765"/>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Output:</a:t>
            </a:r>
          </a:p>
        </p:txBody>
      </p:sp>
      <p:sp>
        <p:nvSpPr>
          <p:cNvPr id="39" name="Text 37">
            <a:extLst xmlns:a="http://schemas.openxmlformats.org/drawingml/2006/main">
              <a:ext uri="{FF2B5EF4-FFF2-40B4-BE49-F238E27FC236}">
                <a16:creationId xmlns:a16="http://schemas.microsoft.com/office/drawing/2014/main" id="{B65EF0D4-FAD1-466F-B31E-64C992742E6A}"/>
              </a:ext>
            </a:extLst>
          </p:cNvPr>
          <p:cNvSpPr>
            <a:spLocks xmlns:a="http://schemas.openxmlformats.org/drawingml/2006/main" noGrp="1"/>
          </p:cNvSpPr>
          <p:nvPr/>
        </p:nvSpPr>
        <p:spPr>
          <a:xfrm xmlns:a="http://schemas.openxmlformats.org/drawingml/2006/main">
            <a:off x="10912213" y="5803765"/>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IF conditions THEN</a:t>
            </a:r>
          </a:p>
          <a:p xmlns:a="http://schemas.openxmlformats.org/drawingml/2006/main">
            <a:r>
              <a:rPr sz="1133">
                <a:solidFill>
                  <a:srgbClr val="D8E2EE"/>
                </a:solidFill>
                <a:latin typeface="Calibri"/>
                <a:ea typeface="Calibri"/>
                <a:cs typeface="Calibri"/>
              </a:rPr>
              <a:t>production = linear model</a:t>
            </a:r>
          </a:p>
        </p:txBody>
      </p:sp>
      <p:sp>
        <p:nvSpPr>
          <p:cNvPr id="40" name="Text 38">
            <a:extLst xmlns:a="http://schemas.openxmlformats.org/drawingml/2006/main">
              <a:ext uri="{FF2B5EF4-FFF2-40B4-BE49-F238E27FC236}">
                <a16:creationId xmlns:a16="http://schemas.microsoft.com/office/drawing/2014/main" id="{BDF015AF-1470-4C7B-B68E-A68B30D6AF1D}"/>
              </a:ext>
            </a:extLst>
          </p:cNvPr>
          <p:cNvSpPr>
            <a:spLocks xmlns:a="http://schemas.openxmlformats.org/drawingml/2006/main" noGrp="1"/>
          </p:cNvSpPr>
          <p:nvPr/>
        </p:nvSpPr>
        <p:spPr>
          <a:xfrm xmlns:a="http://schemas.openxmlformats.org/drawingml/2006/main">
            <a:off x="9985621" y="6681589"/>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F5D78A"/>
                </a:solidFill>
                <a:latin typeface="Calibri"/>
                <a:ea typeface="Calibri"/>
                <a:cs typeface="Calibri"/>
              </a:rPr>
              <a:t>Note:</a:t>
            </a:r>
          </a:p>
        </p:txBody>
      </p:sp>
      <p:sp>
        <p:nvSpPr>
          <p:cNvPr id="41" name="Text 39">
            <a:extLst xmlns:a="http://schemas.openxmlformats.org/drawingml/2006/main">
              <a:ext uri="{FF2B5EF4-FFF2-40B4-BE49-F238E27FC236}">
                <a16:creationId xmlns:a16="http://schemas.microsoft.com/office/drawing/2014/main" id="{A4E3A341-CFF6-49B3-9930-9992A9691869}"/>
              </a:ext>
            </a:extLst>
          </p:cNvPr>
          <p:cNvSpPr>
            <a:spLocks xmlns:a="http://schemas.openxmlformats.org/drawingml/2006/main" noGrp="1"/>
          </p:cNvSpPr>
          <p:nvPr/>
        </p:nvSpPr>
        <p:spPr>
          <a:xfrm xmlns:a="http://schemas.openxmlformats.org/drawingml/2006/main">
            <a:off x="10912213" y="6681589"/>
            <a:ext cx="2438400" cy="755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xmlns:a="http://schemas.openxmlformats.org/drawingml/2006/main">
              <a:ext uri="{FF2B5EF4-FFF2-40B4-BE49-F238E27FC236}">
                <a16:creationId xmlns:a16="http://schemas.microsoft.com/office/drawing/2014/main" id="{FD783F42-6700-45E4-B533-5CB738B55843}"/>
              </a:ext>
            </a:extLst>
          </p:cNvPr>
          <p:cNvSpPr>
            <a:spLocks xmlns:a="http://schemas.openxmlformats.org/drawingml/2006/main" noGrp="1"/>
          </p:cNvSpPr>
          <p:nvPr/>
        </p:nvSpPr>
        <p:spPr>
          <a:xfrm xmlns:a="http://schemas.openxmlformats.org/drawingml/2006/main">
            <a:off x="2182741" y="8254357"/>
            <a:ext cx="11216640" cy="121920"/>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983456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2" name="Rectangle 41"/>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6FE305A9-A9C7-41B9-AE6D-53B266631419}"/>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5F2F7BCE-4EC2-4AB3-8B8D-FBFAE3A8CA8E}"/>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Goal 1 – Rule Discovery Results</a:t>
            </a:r>
          </a:p>
        </p:txBody>
      </p:sp>
      <p:sp>
        <p:nvSpPr>
          <p:cNvPr id="4" name="Text 2">
            <a:extLst xmlns:a="http://schemas.openxmlformats.org/drawingml/2006/main">
              <a:ext uri="{FF2B5EF4-FFF2-40B4-BE49-F238E27FC236}">
                <a16:creationId xmlns:a16="http://schemas.microsoft.com/office/drawing/2014/main" id="{1D5154DD-0C67-45AB-8185-F6095CE0C128}"/>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xmlns:a="http://schemas.openxmlformats.org/drawingml/2006/main">
              <a:ext uri="{FF2B5EF4-FFF2-40B4-BE49-F238E27FC236}">
                <a16:creationId xmlns:a16="http://schemas.microsoft.com/office/drawing/2014/main" id="{C92AC220-CC93-4E95-800B-18066EA4E3AC}"/>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666A833-C74F-45BF-A813-7BBCD8BF3DE6}"/>
              </a:ext>
            </a:extLst>
          </p:cNvPr>
          <p:cNvSpPr>
            <a:spLocks xmlns:a="http://schemas.openxmlformats.org/drawingml/2006/main" noGrp="1"/>
          </p:cNvSpPr>
          <p:nvPr/>
        </p:nvSpPr>
        <p:spPr>
          <a:xfrm xmlns:a="http://schemas.openxmlformats.org/drawingml/2006/main">
            <a:off x="2243701" y="3036181"/>
            <a:ext cx="5120640" cy="432816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45ABBF97-0266-4A57-ABE7-6A78C026151D}"/>
              </a:ext>
            </a:extLst>
          </p:cNvPr>
          <p:cNvSpPr>
            <a:spLocks xmlns:a="http://schemas.openxmlformats.org/drawingml/2006/main" noGrp="1"/>
          </p:cNvSpPr>
          <p:nvPr/>
        </p:nvSpPr>
        <p:spPr>
          <a:xfrm xmlns:a="http://schemas.openxmlformats.org/drawingml/2006/main">
            <a:off x="2243701" y="3036181"/>
            <a:ext cx="5120640" cy="48768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EE29ADE-C6D9-4BE8-8AA8-C3CD9AC74FDA}"/>
              </a:ext>
            </a:extLst>
          </p:cNvPr>
          <p:cNvSpPr>
            <a:spLocks xmlns:a="http://schemas.openxmlformats.org/drawingml/2006/main" noGrp="1"/>
          </p:cNvSpPr>
          <p:nvPr/>
        </p:nvSpPr>
        <p:spPr>
          <a:xfrm xmlns:a="http://schemas.openxmlformats.org/drawingml/2006/main">
            <a:off x="2365621" y="3036181"/>
            <a:ext cx="4876800" cy="48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Douro (RDD)</a:t>
            </a:r>
          </a:p>
        </p:txBody>
      </p:sp>
      <p:sp>
        <p:nvSpPr>
          <p:cNvPr id="9" name="Text 7">
            <a:extLst xmlns:a="http://schemas.openxmlformats.org/drawingml/2006/main">
              <a:ext uri="{FF2B5EF4-FFF2-40B4-BE49-F238E27FC236}">
                <a16:creationId xmlns:a16="http://schemas.microsoft.com/office/drawing/2014/main" id="{293C2732-0B3D-47A4-8CB0-0949FDD0BB77}"/>
              </a:ext>
            </a:extLst>
          </p:cNvPr>
          <p:cNvSpPr>
            <a:spLocks xmlns:a="http://schemas.openxmlformats.org/drawingml/2006/main" noGrp="1"/>
          </p:cNvSpPr>
          <p:nvPr/>
        </p:nvSpPr>
        <p:spPr>
          <a:xfrm xmlns:a="http://schemas.openxmlformats.org/drawingml/2006/main">
            <a:off x="2390005" y="3597013"/>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Rules discovered:</a:t>
            </a:r>
          </a:p>
        </p:txBody>
      </p:sp>
      <p:sp>
        <p:nvSpPr>
          <p:cNvPr id="10" name="Text 8">
            <a:extLst xmlns:a="http://schemas.openxmlformats.org/drawingml/2006/main">
              <a:ext uri="{FF2B5EF4-FFF2-40B4-BE49-F238E27FC236}">
                <a16:creationId xmlns:a16="http://schemas.microsoft.com/office/drawing/2014/main" id="{EB64C220-5448-47D4-BA5B-4830806C4C3A}"/>
              </a:ext>
            </a:extLst>
          </p:cNvPr>
          <p:cNvSpPr>
            <a:spLocks xmlns:a="http://schemas.openxmlformats.org/drawingml/2006/main" noGrp="1"/>
          </p:cNvSpPr>
          <p:nvPr/>
        </p:nvSpPr>
        <p:spPr>
          <a:xfrm xmlns:a="http://schemas.openxmlformats.org/drawingml/2006/main">
            <a:off x="4096885" y="3597013"/>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48 rules found</a:t>
            </a:r>
          </a:p>
        </p:txBody>
      </p:sp>
      <p:sp>
        <p:nvSpPr>
          <p:cNvPr id="11" name="Text 9">
            <a:extLst xmlns:a="http://schemas.openxmlformats.org/drawingml/2006/main">
              <a:ext uri="{FF2B5EF4-FFF2-40B4-BE49-F238E27FC236}">
                <a16:creationId xmlns:a16="http://schemas.microsoft.com/office/drawing/2014/main" id="{EDAAA529-95A5-4080-9EE8-91EB724BA920}"/>
              </a:ext>
            </a:extLst>
          </p:cNvPr>
          <p:cNvSpPr>
            <a:spLocks xmlns:a="http://schemas.openxmlformats.org/drawingml/2006/main" noGrp="1"/>
          </p:cNvSpPr>
          <p:nvPr/>
        </p:nvSpPr>
        <p:spPr>
          <a:xfrm xmlns:a="http://schemas.openxmlformats.org/drawingml/2006/main">
            <a:off x="2390005" y="4304149"/>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Dominant features:</a:t>
            </a:r>
          </a:p>
        </p:txBody>
      </p:sp>
      <p:sp>
        <p:nvSpPr>
          <p:cNvPr id="12" name="Text 10">
            <a:extLst xmlns:a="http://schemas.openxmlformats.org/drawingml/2006/main">
              <a:ext uri="{FF2B5EF4-FFF2-40B4-BE49-F238E27FC236}">
                <a16:creationId xmlns:a16="http://schemas.microsoft.com/office/drawing/2014/main" id="{21EC74D9-8B36-4209-8CAC-E5CF6E10ECBF}"/>
              </a:ext>
            </a:extLst>
          </p:cNvPr>
          <p:cNvSpPr>
            <a:spLocks xmlns:a="http://schemas.openxmlformats.org/drawingml/2006/main" noGrp="1"/>
          </p:cNvSpPr>
          <p:nvPr/>
        </p:nvSpPr>
        <p:spPr>
          <a:xfrm xmlns:a="http://schemas.openxmlformats.org/drawingml/2006/main">
            <a:off x="4096885" y="4304149"/>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Harvest soil water: 54% of rules</a:t>
            </a:r>
          </a:p>
          <a:p xmlns:a="http://schemas.openxmlformats.org/drawingml/2006/main">
            <a:r>
              <a:rPr sz="1267">
                <a:solidFill>
                  <a:srgbClr val="1A2A3A"/>
                </a:solidFill>
                <a:latin typeface="Calibri"/>
                <a:ea typeface="Calibri"/>
                <a:cs typeface="Calibri"/>
              </a:rPr>
              <a:t>Post-flowering wet days: 2nd most frequent</a:t>
            </a:r>
          </a:p>
        </p:txBody>
      </p:sp>
      <p:sp>
        <p:nvSpPr>
          <p:cNvPr id="13" name="Text 11">
            <a:extLst xmlns:a="http://schemas.openxmlformats.org/drawingml/2006/main">
              <a:ext uri="{FF2B5EF4-FFF2-40B4-BE49-F238E27FC236}">
                <a16:creationId xmlns:a16="http://schemas.microsoft.com/office/drawing/2014/main" id="{D63749D9-A864-4C57-A513-36057FC796CD}"/>
              </a:ext>
            </a:extLst>
          </p:cNvPr>
          <p:cNvSpPr>
            <a:spLocks xmlns:a="http://schemas.openxmlformats.org/drawingml/2006/main" noGrp="1"/>
          </p:cNvSpPr>
          <p:nvPr/>
        </p:nvSpPr>
        <p:spPr>
          <a:xfrm xmlns:a="http://schemas.openxmlformats.org/drawingml/2006/main">
            <a:off x="2390005" y="5011285"/>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Directionality:</a:t>
            </a:r>
          </a:p>
        </p:txBody>
      </p:sp>
      <p:sp>
        <p:nvSpPr>
          <p:cNvPr id="14" name="Text 12">
            <a:extLst xmlns:a="http://schemas.openxmlformats.org/drawingml/2006/main">
              <a:ext uri="{FF2B5EF4-FFF2-40B4-BE49-F238E27FC236}">
                <a16:creationId xmlns:a16="http://schemas.microsoft.com/office/drawing/2014/main" id="{580B8A3D-4F88-4D75-8A57-5FB3DFF5F537}"/>
              </a:ext>
            </a:extLst>
          </p:cNvPr>
          <p:cNvSpPr>
            <a:spLocks xmlns:a="http://schemas.openxmlformats.org/drawingml/2006/main" noGrp="1"/>
          </p:cNvSpPr>
          <p:nvPr/>
        </p:nvSpPr>
        <p:spPr>
          <a:xfrm xmlns:a="http://schemas.openxmlformats.org/drawingml/2006/main">
            <a:off x="4096885" y="5011285"/>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31/48 rules → ABOVE-trend (65%)</a:t>
            </a:r>
          </a:p>
        </p:txBody>
      </p:sp>
      <p:sp>
        <p:nvSpPr>
          <p:cNvPr id="15" name="Text 13">
            <a:extLst xmlns:a="http://schemas.openxmlformats.org/drawingml/2006/main">
              <a:ext uri="{FF2B5EF4-FFF2-40B4-BE49-F238E27FC236}">
                <a16:creationId xmlns:a16="http://schemas.microsoft.com/office/drawing/2014/main" id="{32E05DD9-2630-495C-A56C-2B474E9D216B}"/>
              </a:ext>
            </a:extLst>
          </p:cNvPr>
          <p:cNvSpPr>
            <a:spLocks xmlns:a="http://schemas.openxmlformats.org/drawingml/2006/main" noGrp="1"/>
          </p:cNvSpPr>
          <p:nvPr/>
        </p:nvSpPr>
        <p:spPr>
          <a:xfrm xmlns:a="http://schemas.openxmlformats.org/drawingml/2006/main">
            <a:off x="2390005" y="5718421"/>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Statistical strength:</a:t>
            </a:r>
          </a:p>
        </p:txBody>
      </p:sp>
      <p:sp>
        <p:nvSpPr>
          <p:cNvPr id="16" name="Text 14">
            <a:extLst xmlns:a="http://schemas.openxmlformats.org/drawingml/2006/main">
              <a:ext uri="{FF2B5EF4-FFF2-40B4-BE49-F238E27FC236}">
                <a16:creationId xmlns:a16="http://schemas.microsoft.com/office/drawing/2014/main" id="{1957B46B-13D9-4A90-AA7F-6FE33B788ED8}"/>
              </a:ext>
            </a:extLst>
          </p:cNvPr>
          <p:cNvSpPr>
            <a:spLocks xmlns:a="http://schemas.openxmlformats.org/drawingml/2006/main" noGrp="1"/>
          </p:cNvSpPr>
          <p:nvPr/>
        </p:nvSpPr>
        <p:spPr>
          <a:xfrm xmlns:a="http://schemas.openxmlformats.org/drawingml/2006/main">
            <a:off x="4096885" y="5718421"/>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Best rule: p = 0.0043, support 28%</a:t>
            </a:r>
          </a:p>
        </p:txBody>
      </p:sp>
      <p:sp>
        <p:nvSpPr>
          <p:cNvPr id="17" name="Shape 15">
            <a:extLst xmlns:a="http://schemas.openxmlformats.org/drawingml/2006/main">
              <a:ext uri="{FF2B5EF4-FFF2-40B4-BE49-F238E27FC236}">
                <a16:creationId xmlns:a16="http://schemas.microsoft.com/office/drawing/2014/main" id="{90CC666E-6510-4F27-B3AE-803A3CB5A035}"/>
              </a:ext>
            </a:extLst>
          </p:cNvPr>
          <p:cNvSpPr>
            <a:spLocks xmlns:a="http://schemas.openxmlformats.org/drawingml/2006/main" noGrp="1"/>
          </p:cNvSpPr>
          <p:nvPr/>
        </p:nvSpPr>
        <p:spPr>
          <a:xfrm xmlns:a="http://schemas.openxmlformats.org/drawingml/2006/main">
            <a:off x="2365621" y="5328277"/>
            <a:ext cx="4876800" cy="780288"/>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7CD1A5A7-AF9D-40EC-A628-409BA5D6E9B0}"/>
              </a:ext>
            </a:extLst>
          </p:cNvPr>
          <p:cNvSpPr>
            <a:spLocks xmlns:a="http://schemas.openxmlformats.org/drawingml/2006/main" noGrp="1"/>
          </p:cNvSpPr>
          <p:nvPr/>
        </p:nvSpPr>
        <p:spPr>
          <a:xfrm xmlns:a="http://schemas.openxmlformats.org/drawingml/2006/main">
            <a:off x="2426581" y="5352661"/>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67">
                <a:solidFill>
                  <a:srgbClr val="F5D78A"/>
                </a:solidFill>
                <a:latin typeface="Calibri"/>
                <a:ea typeface="Calibri"/>
                <a:cs typeface="Calibri"/>
              </a:rPr>
              <a:t>IF wet days post-Flowering ∈ [0–3.3d]</a:t>
            </a:r>
          </a:p>
          <a:p xmlns:a="http://schemas.openxmlformats.org/drawingml/2006/main">
            <a:r>
              <a:rPr sz="1067">
                <a:solidFill>
                  <a:srgbClr val="F5D78A"/>
                </a:solidFill>
                <a:latin typeface="Calibri"/>
                <a:ea typeface="Calibri"/>
                <a:cs typeface="Calibri"/>
              </a:rPr>
              <a:t>AND wet days post-Maturity ∈ [0–3.5d]</a:t>
            </a:r>
          </a:p>
          <a:p xmlns:a="http://schemas.openxmlformats.org/drawingml/2006/main">
            <a:r>
              <a:rPr sz="1067">
                <a:solidFill>
                  <a:srgbClr val="F5D78A"/>
                </a:solidFill>
                <a:latin typeface="Calibri"/>
                <a:ea typeface="Calibri"/>
                <a:cs typeface="Calibri"/>
              </a:rPr>
              <a:t>THEN production +121 mhl (support 28%, p=0.0043)</a:t>
            </a:r>
          </a:p>
        </p:txBody>
      </p:sp>
      <p:sp>
        <p:nvSpPr>
          <p:cNvPr id="19" name="Shape 17">
            <a:extLst xmlns:a="http://schemas.openxmlformats.org/drawingml/2006/main">
              <a:ext uri="{FF2B5EF4-FFF2-40B4-BE49-F238E27FC236}">
                <a16:creationId xmlns:a16="http://schemas.microsoft.com/office/drawing/2014/main" id="{24BCE8C1-1624-4D26-A6C6-7792B9CCD6E7}"/>
              </a:ext>
            </a:extLst>
          </p:cNvPr>
          <p:cNvSpPr>
            <a:spLocks xmlns:a="http://schemas.openxmlformats.org/drawingml/2006/main" noGrp="1"/>
          </p:cNvSpPr>
          <p:nvPr/>
        </p:nvSpPr>
        <p:spPr>
          <a:xfrm xmlns:a="http://schemas.openxmlformats.org/drawingml/2006/main">
            <a:off x="7973941" y="3036181"/>
            <a:ext cx="5120640" cy="432816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0" name="Shape 18">
            <a:extLst xmlns:a="http://schemas.openxmlformats.org/drawingml/2006/main">
              <a:ext uri="{FF2B5EF4-FFF2-40B4-BE49-F238E27FC236}">
                <a16:creationId xmlns:a16="http://schemas.microsoft.com/office/drawing/2014/main" id="{D2FA7A11-2708-464A-9CEE-30DE1F3E31F5}"/>
              </a:ext>
            </a:extLst>
          </p:cNvPr>
          <p:cNvSpPr>
            <a:spLocks xmlns:a="http://schemas.openxmlformats.org/drawingml/2006/main" noGrp="1"/>
          </p:cNvSpPr>
          <p:nvPr/>
        </p:nvSpPr>
        <p:spPr>
          <a:xfrm xmlns:a="http://schemas.openxmlformats.org/drawingml/2006/main">
            <a:off x="7973941" y="3036181"/>
            <a:ext cx="5120640" cy="48768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F8458CBE-7CB0-434D-8651-20DF71AE3220}"/>
              </a:ext>
            </a:extLst>
          </p:cNvPr>
          <p:cNvSpPr>
            <a:spLocks xmlns:a="http://schemas.openxmlformats.org/drawingml/2006/main" noGrp="1"/>
          </p:cNvSpPr>
          <p:nvPr/>
        </p:nvSpPr>
        <p:spPr>
          <a:xfrm xmlns:a="http://schemas.openxmlformats.org/drawingml/2006/main">
            <a:off x="8095861" y="3036181"/>
            <a:ext cx="4876800" cy="487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Vinho Verde (RVV)</a:t>
            </a:r>
          </a:p>
        </p:txBody>
      </p:sp>
      <p:sp>
        <p:nvSpPr>
          <p:cNvPr id="22" name="Text 20">
            <a:extLst xmlns:a="http://schemas.openxmlformats.org/drawingml/2006/main">
              <a:ext uri="{FF2B5EF4-FFF2-40B4-BE49-F238E27FC236}">
                <a16:creationId xmlns:a16="http://schemas.microsoft.com/office/drawing/2014/main" id="{274D7A06-81CE-4CC9-A98B-1E5AE3FDFA9F}"/>
              </a:ext>
            </a:extLst>
          </p:cNvPr>
          <p:cNvSpPr>
            <a:spLocks xmlns:a="http://schemas.openxmlformats.org/drawingml/2006/main" noGrp="1"/>
          </p:cNvSpPr>
          <p:nvPr/>
        </p:nvSpPr>
        <p:spPr>
          <a:xfrm xmlns:a="http://schemas.openxmlformats.org/drawingml/2006/main">
            <a:off x="8120245" y="3597013"/>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Rules discovered:</a:t>
            </a:r>
          </a:p>
        </p:txBody>
      </p:sp>
      <p:sp>
        <p:nvSpPr>
          <p:cNvPr id="23" name="Text 21">
            <a:extLst xmlns:a="http://schemas.openxmlformats.org/drawingml/2006/main">
              <a:ext uri="{FF2B5EF4-FFF2-40B4-BE49-F238E27FC236}">
                <a16:creationId xmlns:a16="http://schemas.microsoft.com/office/drawing/2014/main" id="{41574872-D912-48EE-A1B0-0C2FC01FE1DE}"/>
              </a:ext>
            </a:extLst>
          </p:cNvPr>
          <p:cNvSpPr>
            <a:spLocks xmlns:a="http://schemas.openxmlformats.org/drawingml/2006/main" noGrp="1"/>
          </p:cNvSpPr>
          <p:nvPr/>
        </p:nvSpPr>
        <p:spPr>
          <a:xfrm xmlns:a="http://schemas.openxmlformats.org/drawingml/2006/main">
            <a:off x="9827125" y="3597013"/>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20 rules found</a:t>
            </a:r>
          </a:p>
        </p:txBody>
      </p:sp>
      <p:sp>
        <p:nvSpPr>
          <p:cNvPr id="24" name="Text 22">
            <a:extLst xmlns:a="http://schemas.openxmlformats.org/drawingml/2006/main">
              <a:ext uri="{FF2B5EF4-FFF2-40B4-BE49-F238E27FC236}">
                <a16:creationId xmlns:a16="http://schemas.microsoft.com/office/drawing/2014/main" id="{15F68FDA-134A-487B-A91A-E30C9B706DA1}"/>
              </a:ext>
            </a:extLst>
          </p:cNvPr>
          <p:cNvSpPr>
            <a:spLocks xmlns:a="http://schemas.openxmlformats.org/drawingml/2006/main" noGrp="1"/>
          </p:cNvSpPr>
          <p:nvPr/>
        </p:nvSpPr>
        <p:spPr>
          <a:xfrm xmlns:a="http://schemas.openxmlformats.org/drawingml/2006/main">
            <a:off x="8120245" y="4304149"/>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Dominant features:</a:t>
            </a:r>
          </a:p>
        </p:txBody>
      </p:sp>
      <p:sp>
        <p:nvSpPr>
          <p:cNvPr id="25" name="Text 23">
            <a:extLst xmlns:a="http://schemas.openxmlformats.org/drawingml/2006/main">
              <a:ext uri="{FF2B5EF4-FFF2-40B4-BE49-F238E27FC236}">
                <a16:creationId xmlns:a16="http://schemas.microsoft.com/office/drawing/2014/main" id="{99271531-FD3F-420C-94BE-47186C0652FA}"/>
              </a:ext>
            </a:extLst>
          </p:cNvPr>
          <p:cNvSpPr>
            <a:spLocks xmlns:a="http://schemas.openxmlformats.org/drawingml/2006/main" noGrp="1"/>
          </p:cNvSpPr>
          <p:nvPr/>
        </p:nvSpPr>
        <p:spPr>
          <a:xfrm xmlns:a="http://schemas.openxmlformats.org/drawingml/2006/main">
            <a:off x="9827125" y="4304149"/>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Heat-stress days at maturity: ~50% of rules</a:t>
            </a:r>
          </a:p>
          <a:p xmlns:a="http://schemas.openxmlformats.org/drawingml/2006/main">
            <a:r>
              <a:rPr sz="1267">
                <a:solidFill>
                  <a:srgbClr val="1A2A3A"/>
                </a:solidFill>
                <a:latin typeface="Calibri"/>
                <a:ea typeface="Calibri"/>
                <a:cs typeface="Calibri"/>
              </a:rPr>
              <a:t>LAI at harvest: present in all 20 rules</a:t>
            </a:r>
          </a:p>
        </p:txBody>
      </p:sp>
      <p:sp>
        <p:nvSpPr>
          <p:cNvPr id="26" name="Text 24">
            <a:extLst xmlns:a="http://schemas.openxmlformats.org/drawingml/2006/main">
              <a:ext uri="{FF2B5EF4-FFF2-40B4-BE49-F238E27FC236}">
                <a16:creationId xmlns:a16="http://schemas.microsoft.com/office/drawing/2014/main" id="{FC0297DC-C91A-45A8-AEFD-9DBE27745BD6}"/>
              </a:ext>
            </a:extLst>
          </p:cNvPr>
          <p:cNvSpPr>
            <a:spLocks xmlns:a="http://schemas.openxmlformats.org/drawingml/2006/main" noGrp="1"/>
          </p:cNvSpPr>
          <p:nvPr/>
        </p:nvSpPr>
        <p:spPr>
          <a:xfrm xmlns:a="http://schemas.openxmlformats.org/drawingml/2006/main">
            <a:off x="8120245" y="5011285"/>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Directionality:</a:t>
            </a:r>
          </a:p>
        </p:txBody>
      </p:sp>
      <p:sp>
        <p:nvSpPr>
          <p:cNvPr id="27" name="Text 25">
            <a:extLst xmlns:a="http://schemas.openxmlformats.org/drawingml/2006/main">
              <a:ext uri="{FF2B5EF4-FFF2-40B4-BE49-F238E27FC236}">
                <a16:creationId xmlns:a16="http://schemas.microsoft.com/office/drawing/2014/main" id="{C66A8D48-79D7-4973-9A0A-84E307687C10}"/>
              </a:ext>
            </a:extLst>
          </p:cNvPr>
          <p:cNvSpPr>
            <a:spLocks xmlns:a="http://schemas.openxmlformats.org/drawingml/2006/main" noGrp="1"/>
          </p:cNvSpPr>
          <p:nvPr/>
        </p:nvSpPr>
        <p:spPr>
          <a:xfrm xmlns:a="http://schemas.openxmlformats.org/drawingml/2006/main">
            <a:off x="9827125" y="5011285"/>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16/20 rules → BELOW-trend (80%)</a:t>
            </a:r>
          </a:p>
        </p:txBody>
      </p:sp>
      <p:sp>
        <p:nvSpPr>
          <p:cNvPr id="28" name="Text 26">
            <a:extLst xmlns:a="http://schemas.openxmlformats.org/drawingml/2006/main">
              <a:ext uri="{FF2B5EF4-FFF2-40B4-BE49-F238E27FC236}">
                <a16:creationId xmlns:a16="http://schemas.microsoft.com/office/drawing/2014/main" id="{6A7007D5-CF2F-4925-8D36-BCAD4F53E184}"/>
              </a:ext>
            </a:extLst>
          </p:cNvPr>
          <p:cNvSpPr>
            <a:spLocks xmlns:a="http://schemas.openxmlformats.org/drawingml/2006/main" noGrp="1"/>
          </p:cNvSpPr>
          <p:nvPr/>
        </p:nvSpPr>
        <p:spPr>
          <a:xfrm xmlns:a="http://schemas.openxmlformats.org/drawingml/2006/main">
            <a:off x="8120245" y="5718421"/>
            <a:ext cx="164592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b="1">
                <a:solidFill>
                  <a:srgbClr val="7F8FA6"/>
                </a:solidFill>
                <a:latin typeface="Calibri"/>
                <a:ea typeface="Calibri"/>
                <a:cs typeface="Calibri"/>
              </a:rPr>
              <a:t>Statistical strength:</a:t>
            </a:r>
          </a:p>
        </p:txBody>
      </p:sp>
      <p:sp>
        <p:nvSpPr>
          <p:cNvPr id="29" name="Text 27">
            <a:extLst xmlns:a="http://schemas.openxmlformats.org/drawingml/2006/main">
              <a:ext uri="{FF2B5EF4-FFF2-40B4-BE49-F238E27FC236}">
                <a16:creationId xmlns:a16="http://schemas.microsoft.com/office/drawing/2014/main" id="{DDE16844-347C-4EFE-8D7E-3C4BEAC1AD14}"/>
              </a:ext>
            </a:extLst>
          </p:cNvPr>
          <p:cNvSpPr>
            <a:spLocks xmlns:a="http://schemas.openxmlformats.org/drawingml/2006/main" noGrp="1"/>
          </p:cNvSpPr>
          <p:nvPr/>
        </p:nvSpPr>
        <p:spPr>
          <a:xfrm xmlns:a="http://schemas.openxmlformats.org/drawingml/2006/main">
            <a:off x="9827125" y="5718421"/>
            <a:ext cx="3169920" cy="6339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1A2A3A"/>
                </a:solidFill>
                <a:latin typeface="Calibri"/>
                <a:ea typeface="Calibri"/>
                <a:cs typeface="Calibri"/>
              </a:rPr>
              <a:t>Largest shift: −365 mhl (support 28%, p=0.029)</a:t>
            </a:r>
          </a:p>
        </p:txBody>
      </p:sp>
      <p:sp>
        <p:nvSpPr>
          <p:cNvPr id="30" name="Shape 28">
            <a:extLst xmlns:a="http://schemas.openxmlformats.org/drawingml/2006/main">
              <a:ext uri="{FF2B5EF4-FFF2-40B4-BE49-F238E27FC236}">
                <a16:creationId xmlns:a16="http://schemas.microsoft.com/office/drawing/2014/main" id="{12D26A9C-34D3-4E79-913E-E520BD786F15}"/>
              </a:ext>
            </a:extLst>
          </p:cNvPr>
          <p:cNvSpPr>
            <a:spLocks xmlns:a="http://schemas.openxmlformats.org/drawingml/2006/main" noGrp="1"/>
          </p:cNvSpPr>
          <p:nvPr/>
        </p:nvSpPr>
        <p:spPr>
          <a:xfrm xmlns:a="http://schemas.openxmlformats.org/drawingml/2006/main">
            <a:off x="8095861" y="5328277"/>
            <a:ext cx="4876800" cy="780288"/>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43A40F93-0F88-4ED6-BB59-D88E292705EE}"/>
              </a:ext>
            </a:extLst>
          </p:cNvPr>
          <p:cNvSpPr>
            <a:spLocks xmlns:a="http://schemas.openxmlformats.org/drawingml/2006/main" noGrp="1"/>
          </p:cNvSpPr>
          <p:nvPr/>
        </p:nvSpPr>
        <p:spPr>
          <a:xfrm xmlns:a="http://schemas.openxmlformats.org/drawingml/2006/main">
            <a:off x="8156821" y="5352661"/>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67">
                <a:solidFill>
                  <a:srgbClr val="F5D78A"/>
                </a:solidFill>
                <a:latin typeface="Calibri"/>
                <a:ea typeface="Calibri"/>
                <a:cs typeface="Calibri"/>
              </a:rPr>
              <a:t>IF soil water post-Flowering ∈ [143–234 mm]</a:t>
            </a:r>
          </a:p>
          <a:p xmlns:a="http://schemas.openxmlformats.org/drawingml/2006/main">
            <a:r>
              <a:rPr sz="1067">
                <a:solidFill>
                  <a:srgbClr val="F5D78A"/>
                </a:solidFill>
                <a:latin typeface="Calibri"/>
                <a:ea typeface="Calibri"/>
                <a:cs typeface="Calibri"/>
              </a:rPr>
              <a:t>AND heat days post-Maturity ∈ [0–2.4d]</a:t>
            </a:r>
          </a:p>
          <a:p xmlns:a="http://schemas.openxmlformats.org/drawingml/2006/main">
            <a:r>
              <a:rPr sz="1067">
                <a:solidFill>
                  <a:srgbClr val="F5D78A"/>
                </a:solidFill>
                <a:latin typeface="Calibri"/>
                <a:ea typeface="Calibri"/>
                <a:cs typeface="Calibri"/>
              </a:rPr>
              <a:t>THEN production −365 mhl (support 28%, p=0.029)</a:t>
            </a:r>
          </a:p>
        </p:txBody>
      </p:sp>
      <p:sp>
        <p:nvSpPr>
          <p:cNvPr id="32" name="Shape 30">
            <a:extLst xmlns:a="http://schemas.openxmlformats.org/drawingml/2006/main">
              <a:ext uri="{FF2B5EF4-FFF2-40B4-BE49-F238E27FC236}">
                <a16:creationId xmlns:a16="http://schemas.microsoft.com/office/drawing/2014/main" id="{72A284C6-642C-4BFC-BEA7-DA1155E3606B}"/>
              </a:ext>
            </a:extLst>
          </p:cNvPr>
          <p:cNvSpPr>
            <a:spLocks xmlns:a="http://schemas.openxmlformats.org/drawingml/2006/main" noGrp="1"/>
          </p:cNvSpPr>
          <p:nvPr/>
        </p:nvSpPr>
        <p:spPr>
          <a:xfrm xmlns:a="http://schemas.openxmlformats.org/drawingml/2006/main">
            <a:off x="2243701" y="7510645"/>
            <a:ext cx="11094720"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3D74B0B1-FC3B-4B01-BD8A-6B4FA7AB253A}"/>
              </a:ext>
            </a:extLst>
          </p:cNvPr>
          <p:cNvSpPr>
            <a:spLocks xmlns:a="http://schemas.openxmlformats.org/drawingml/2006/main" noGrp="1"/>
          </p:cNvSpPr>
          <p:nvPr/>
        </p:nvSpPr>
        <p:spPr>
          <a:xfrm xmlns:a="http://schemas.openxmlformats.org/drawingml/2006/main">
            <a:off x="2426581" y="7547221"/>
            <a:ext cx="2560320" cy="792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5D78A"/>
                </a:solidFill>
                <a:latin typeface="Calibri"/>
                <a:ea typeface="Calibri"/>
                <a:cs typeface="Calibri"/>
              </a:rPr>
              <a:t>Cross-Algorithm Convergence:</a:t>
            </a:r>
          </a:p>
        </p:txBody>
      </p:sp>
      <p:sp>
        <p:nvSpPr>
          <p:cNvPr id="34" name="Text 32">
            <a:extLst xmlns:a="http://schemas.openxmlformats.org/drawingml/2006/main">
              <a:ext uri="{FF2B5EF4-FFF2-40B4-BE49-F238E27FC236}">
                <a16:creationId xmlns:a16="http://schemas.microsoft.com/office/drawing/2014/main" id="{3D13802B-B74E-482C-822B-54117F12A951}"/>
              </a:ext>
            </a:extLst>
          </p:cNvPr>
          <p:cNvSpPr>
            <a:spLocks xmlns:a="http://schemas.openxmlformats.org/drawingml/2006/main" noGrp="1"/>
          </p:cNvSpPr>
          <p:nvPr/>
        </p:nvSpPr>
        <p:spPr>
          <a:xfrm xmlns:a="http://schemas.openxmlformats.org/drawingml/2006/main">
            <a:off x="5035669" y="7547221"/>
            <a:ext cx="8107680" cy="792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5039768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9" name="Rectangle 28"/>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0947CCD5-B3D7-4D34-ADF6-4110AA6F45FA}"/>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0E65466-7BCA-4067-99B7-E59852722304}"/>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Validation of Rule Discovery</a:t>
            </a:r>
          </a:p>
        </p:txBody>
      </p:sp>
      <p:sp>
        <p:nvSpPr>
          <p:cNvPr id="4" name="Text 2">
            <a:extLst xmlns:a="http://schemas.openxmlformats.org/drawingml/2006/main">
              <a:ext uri="{FF2B5EF4-FFF2-40B4-BE49-F238E27FC236}">
                <a16:creationId xmlns:a16="http://schemas.microsoft.com/office/drawing/2014/main" id="{B864C5D1-C24A-4824-95EF-0C8DBD36F7A6}"/>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LOESS stress test distinguishes genuine climate signal from era-membership artefacts</a:t>
            </a:r>
          </a:p>
        </p:txBody>
      </p:sp>
      <p:sp>
        <p:nvSpPr>
          <p:cNvPr id="5" name="Shape 3">
            <a:extLst xmlns:a="http://schemas.openxmlformats.org/drawingml/2006/main">
              <a:ext uri="{FF2B5EF4-FFF2-40B4-BE49-F238E27FC236}">
                <a16:creationId xmlns:a16="http://schemas.microsoft.com/office/drawing/2014/main" id="{AD38F54D-5954-4280-A446-1FA56CABA0D9}"/>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C08A3E08-827B-40C6-B1C6-CB0D174B3942}"/>
              </a:ext>
            </a:extLst>
          </p:cNvPr>
          <p:cNvSpPr>
            <a:spLocks xmlns:a="http://schemas.openxmlformats.org/drawingml/2006/main" noGrp="1"/>
          </p:cNvSpPr>
          <p:nvPr/>
        </p:nvSpPr>
        <p:spPr>
          <a:xfrm xmlns:a="http://schemas.openxmlformats.org/drawingml/2006/main">
            <a:off x="2243701" y="3036181"/>
            <a:ext cx="11094720" cy="112166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43483709-E5DD-47EB-85A2-F67C3EC628FB}"/>
              </a:ext>
            </a:extLst>
          </p:cNvPr>
          <p:cNvSpPr>
            <a:spLocks xmlns:a="http://schemas.openxmlformats.org/drawingml/2006/main" noGrp="1"/>
          </p:cNvSpPr>
          <p:nvPr/>
        </p:nvSpPr>
        <p:spPr>
          <a:xfrm xmlns:a="http://schemas.openxmlformats.org/drawingml/2006/main">
            <a:off x="2426581" y="3060565"/>
            <a:ext cx="365760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F5D78A"/>
                </a:solidFill>
                <a:latin typeface="Calibri"/>
                <a:ea typeface="Calibri"/>
                <a:cs typeface="Calibri"/>
              </a:rPr>
              <a:t>The Era Confound Problem</a:t>
            </a:r>
          </a:p>
        </p:txBody>
      </p:sp>
      <p:sp>
        <p:nvSpPr>
          <p:cNvPr id="8" name="Text 6">
            <a:extLst xmlns:a="http://schemas.openxmlformats.org/drawingml/2006/main">
              <a:ext uri="{FF2B5EF4-FFF2-40B4-BE49-F238E27FC236}">
                <a16:creationId xmlns:a16="http://schemas.microsoft.com/office/drawing/2014/main" id="{8C17008B-B63C-400C-A181-918AAE428F9A}"/>
              </a:ext>
            </a:extLst>
          </p:cNvPr>
          <p:cNvSpPr>
            <a:spLocks xmlns:a="http://schemas.openxmlformats.org/drawingml/2006/main" noGrp="1"/>
          </p:cNvSpPr>
          <p:nvPr/>
        </p:nvSpPr>
        <p:spPr>
          <a:xfrm xmlns:a="http://schemas.openxmlformats.org/drawingml/2006/main">
            <a:off x="2426581" y="3523861"/>
            <a:ext cx="107289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xmlns:a="http://schemas.openxmlformats.org/drawingml/2006/main">
              <a:ext uri="{FF2B5EF4-FFF2-40B4-BE49-F238E27FC236}">
                <a16:creationId xmlns:a16="http://schemas.microsoft.com/office/drawing/2014/main" id="{C0783D6E-2C9E-4D60-8785-CC3F1FE808DD}"/>
              </a:ext>
            </a:extLst>
          </p:cNvPr>
          <p:cNvSpPr>
            <a:spLocks xmlns:a="http://schemas.openxmlformats.org/drawingml/2006/main" noGrp="1"/>
          </p:cNvSpPr>
          <p:nvPr/>
        </p:nvSpPr>
        <p:spPr>
          <a:xfrm xmlns:a="http://schemas.openxmlformats.org/drawingml/2006/main">
            <a:off x="2243701" y="4279765"/>
            <a:ext cx="1109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mlns:a="http://schemas.openxmlformats.org/drawingml/2006/main" x="2243701" y="4743062"/>
          <a:ext xmlns:a="http://schemas.openxmlformats.org/drawingml/2006/main" cx="11094720" cy="2706620"/>
        </p:xfrm>
        <a:graphic xmlns:a="http://schemas.openxmlformats.org/drawingml/2006/main">
          <a:graphicData uri="http://schemas.openxmlformats.org/drawingml/2006/table">
            <a:tbl>
              <a:tblPr/>
              <a:tblGrid>
                <a:gridCol w="2743200"/>
                <a:gridCol w="792480"/>
                <a:gridCol w="1036320"/>
                <a:gridCol w="1036320"/>
                <a:gridCol w="1158240"/>
                <a:gridCol w="4328160"/>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r>
            </a:tbl>
          </a:graphicData>
        </a:graphic>
      </p:graphicFrame>
      <p:sp>
        <p:nvSpPr>
          <p:cNvPr id="11" name="Text 8">
            <a:extLst xmlns:a="http://schemas.openxmlformats.org/drawingml/2006/main">
              <a:ext uri="{FF2B5EF4-FFF2-40B4-BE49-F238E27FC236}">
                <a16:creationId xmlns:a16="http://schemas.microsoft.com/office/drawing/2014/main" id="{727AA850-3B99-461A-BF1F-D5FEEC0DCE44}"/>
              </a:ext>
            </a:extLst>
          </p:cNvPr>
          <p:cNvSpPr>
            <a:spLocks xmlns:a="http://schemas.openxmlformats.org/drawingml/2006/main" noGrp="1"/>
          </p:cNvSpPr>
          <p:nvPr/>
        </p:nvSpPr>
        <p:spPr>
          <a:xfrm xmlns:a="http://schemas.openxmlformats.org/drawingml/2006/main">
            <a:off x="2243701" y="7595989"/>
            <a:ext cx="11094720" cy="536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501465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7" name="Rectangle 36"/>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73C47BB3-C0EF-457A-B513-510404172111}"/>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DCCAC36-D2CE-4A06-A84C-487053EA1EA0}"/>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Goal 2 – Predictive Validation</a:t>
            </a:r>
          </a:p>
        </p:txBody>
      </p:sp>
      <p:sp>
        <p:nvSpPr>
          <p:cNvPr id="4" name="Text 2">
            <a:extLst xmlns:a="http://schemas.openxmlformats.org/drawingml/2006/main">
              <a:ext uri="{FF2B5EF4-FFF2-40B4-BE49-F238E27FC236}">
                <a16:creationId xmlns:a16="http://schemas.microsoft.com/office/drawing/2014/main" id="{8596C794-3CB1-49DA-A9BF-7619D8428207}"/>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Walk-forward results: 17 models, weighted MAE on original scale (mhl)</a:t>
            </a:r>
          </a:p>
        </p:txBody>
      </p:sp>
      <p:sp>
        <p:nvSpPr>
          <p:cNvPr id="5" name="Shape 3">
            <a:extLst xmlns:a="http://schemas.openxmlformats.org/drawingml/2006/main">
              <a:ext uri="{FF2B5EF4-FFF2-40B4-BE49-F238E27FC236}">
                <a16:creationId xmlns:a16="http://schemas.microsoft.com/office/drawing/2014/main" id="{B191F166-853C-4892-9E55-7A02323BD3EF}"/>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E9F5EEC3-946B-4BCE-8D84-7C2E29F6E26B}"/>
              </a:ext>
            </a:extLst>
          </p:cNvPr>
          <p:cNvSpPr>
            <a:spLocks xmlns:a="http://schemas.openxmlformats.org/drawingml/2006/main" noGrp="1"/>
          </p:cNvSpPr>
          <p:nvPr/>
        </p:nvSpPr>
        <p:spPr>
          <a:xfrm xmlns:a="http://schemas.openxmlformats.org/drawingml/2006/main">
            <a:off x="2182741" y="2975221"/>
            <a:ext cx="5608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mlns:a="http://schemas.openxmlformats.org/drawingml/2006/main" x="2121781" y="3377557"/>
          <a:ext xmlns:a="http://schemas.openxmlformats.org/drawingml/2006/main" cx="5669280" cy="3194304"/>
        </p:xfrm>
        <a:graphic xmlns:a="http://schemas.openxmlformats.org/drawingml/2006/main">
          <a:graphicData uri="http://schemas.openxmlformats.org/drawingml/2006/chart">
            <c:chart xmlns:r="http://schemas.openxmlformats.org/officeDocument/2006/relationships" xmlns:c="http://schemas.openxmlformats.org/drawingml/2006/chart" r:id="Ra3ce876e2ab44825"/>
          </a:graphicData>
        </a:graphic>
      </p:graphicFrame>
      <p:sp>
        <p:nvSpPr>
          <p:cNvPr id="8" name="Text 5">
            <a:extLst xmlns:a="http://schemas.openxmlformats.org/drawingml/2006/main">
              <a:ext uri="{FF2B5EF4-FFF2-40B4-BE49-F238E27FC236}">
                <a16:creationId xmlns:a16="http://schemas.microsoft.com/office/drawing/2014/main" id="{16A07507-BEF8-41BB-A744-9A80747D6D15}"/>
              </a:ext>
            </a:extLst>
          </p:cNvPr>
          <p:cNvSpPr>
            <a:spLocks xmlns:a="http://schemas.openxmlformats.org/drawingml/2006/main" noGrp="1"/>
          </p:cNvSpPr>
          <p:nvPr/>
        </p:nvSpPr>
        <p:spPr>
          <a:xfrm xmlns:a="http://schemas.openxmlformats.org/drawingml/2006/main">
            <a:off x="7912981" y="2975221"/>
            <a:ext cx="5608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mlns:a="http://schemas.openxmlformats.org/drawingml/2006/main" x="7852021" y="3377557"/>
          <a:ext xmlns:a="http://schemas.openxmlformats.org/drawingml/2006/main" cx="5669280" cy="3194304"/>
        </p:xfrm>
        <a:graphic xmlns:a="http://schemas.openxmlformats.org/drawingml/2006/main">
          <a:graphicData uri="http://schemas.openxmlformats.org/drawingml/2006/chart">
            <c:chart xmlns:r="http://schemas.openxmlformats.org/officeDocument/2006/relationships" xmlns:c="http://schemas.openxmlformats.org/drawingml/2006/chart" r:id="Rba1a6c9ec1a14df3"/>
          </a:graphicData>
        </a:graphic>
      </p:graphicFrame>
      <p:sp>
        <p:nvSpPr>
          <p:cNvPr id="10" name="Text 6">
            <a:extLst xmlns:a="http://schemas.openxmlformats.org/drawingml/2006/main">
              <a:ext uri="{FF2B5EF4-FFF2-40B4-BE49-F238E27FC236}">
                <a16:creationId xmlns:a16="http://schemas.microsoft.com/office/drawing/2014/main" id="{FAA552BA-DF3B-4FC9-B5A5-BCDEA0D71AFD}"/>
              </a:ext>
            </a:extLst>
          </p:cNvPr>
          <p:cNvSpPr>
            <a:spLocks xmlns:a="http://schemas.openxmlformats.org/drawingml/2006/main" noGrp="1"/>
          </p:cNvSpPr>
          <p:nvPr/>
        </p:nvSpPr>
        <p:spPr>
          <a:xfrm xmlns:a="http://schemas.openxmlformats.org/drawingml/2006/main">
            <a:off x="2182741" y="6693781"/>
            <a:ext cx="1109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1A2A3A"/>
                </a:solidFill>
                <a:latin typeface="Calibri"/>
                <a:ea typeface="Calibri"/>
                <a:cs typeface="Calibri"/>
              </a:rPr>
              <a:t>Statistical Tests</a:t>
            </a:r>
          </a:p>
        </p:txBody>
      </p:sp>
      <p:sp>
        <p:nvSpPr>
          <p:cNvPr id="11" name="Shape 7">
            <a:extLst xmlns:a="http://schemas.openxmlformats.org/drawingml/2006/main">
              <a:ext uri="{FF2B5EF4-FFF2-40B4-BE49-F238E27FC236}">
                <a16:creationId xmlns:a16="http://schemas.microsoft.com/office/drawing/2014/main" id="{BEEDB8C1-A026-4D19-879A-18962F727DE3}"/>
              </a:ext>
            </a:extLst>
          </p:cNvPr>
          <p:cNvSpPr>
            <a:spLocks xmlns:a="http://schemas.openxmlformats.org/drawingml/2006/main" noGrp="1"/>
          </p:cNvSpPr>
          <p:nvPr/>
        </p:nvSpPr>
        <p:spPr>
          <a:xfrm xmlns:a="http://schemas.openxmlformats.org/drawingml/2006/main">
            <a:off x="2182741" y="7120501"/>
            <a:ext cx="11216640" cy="390144"/>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2" name="Text 8">
            <a:extLst xmlns:a="http://schemas.openxmlformats.org/drawingml/2006/main">
              <a:ext uri="{FF2B5EF4-FFF2-40B4-BE49-F238E27FC236}">
                <a16:creationId xmlns:a16="http://schemas.microsoft.com/office/drawing/2014/main" id="{BD406D7F-8F62-43FE-BC52-51BB47AF0BB5}"/>
              </a:ext>
            </a:extLst>
          </p:cNvPr>
          <p:cNvSpPr>
            <a:spLocks xmlns:a="http://schemas.openxmlformats.org/drawingml/2006/main" noGrp="1"/>
          </p:cNvSpPr>
          <p:nvPr/>
        </p:nvSpPr>
        <p:spPr>
          <a:xfrm xmlns:a="http://schemas.openxmlformats.org/drawingml/2006/main">
            <a:off x="2365621" y="7120501"/>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RDD overall — Wilcoxon, 18 scenarios</a:t>
            </a:r>
          </a:p>
        </p:txBody>
      </p:sp>
      <p:sp>
        <p:nvSpPr>
          <p:cNvPr id="13" name="Text 9">
            <a:extLst xmlns:a="http://schemas.openxmlformats.org/drawingml/2006/main">
              <a:ext uri="{FF2B5EF4-FFF2-40B4-BE49-F238E27FC236}">
                <a16:creationId xmlns:a16="http://schemas.microsoft.com/office/drawing/2014/main" id="{7F09A8B6-CE1F-4149-8F0B-112B821395CC}"/>
              </a:ext>
            </a:extLst>
          </p:cNvPr>
          <p:cNvSpPr>
            <a:spLocks xmlns:a="http://schemas.openxmlformats.org/drawingml/2006/main" noGrp="1"/>
          </p:cNvSpPr>
          <p:nvPr/>
        </p:nvSpPr>
        <p:spPr>
          <a:xfrm xmlns:a="http://schemas.openxmlformats.org/drawingml/2006/main">
            <a:off x="8034901" y="7120501"/>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W=68, p=0.468 — Not significant (confirmatory)</a:t>
            </a:r>
          </a:p>
        </p:txBody>
      </p:sp>
      <p:sp>
        <p:nvSpPr>
          <p:cNvPr id="14" name="Shape 10">
            <a:extLst xmlns:a="http://schemas.openxmlformats.org/drawingml/2006/main">
              <a:ext uri="{FF2B5EF4-FFF2-40B4-BE49-F238E27FC236}">
                <a16:creationId xmlns:a16="http://schemas.microsoft.com/office/drawing/2014/main" id="{8AAB79B8-ACDA-4A08-8828-90FC75AC189C}"/>
              </a:ext>
            </a:extLst>
          </p:cNvPr>
          <p:cNvSpPr>
            <a:spLocks xmlns:a="http://schemas.openxmlformats.org/drawingml/2006/main" noGrp="1"/>
          </p:cNvSpPr>
          <p:nvPr/>
        </p:nvSpPr>
        <p:spPr>
          <a:xfrm xmlns:a="http://schemas.openxmlformats.org/drawingml/2006/main">
            <a:off x="2182741" y="7559413"/>
            <a:ext cx="11216640" cy="390144"/>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15" name="Text 11">
            <a:extLst xmlns:a="http://schemas.openxmlformats.org/drawingml/2006/main">
              <a:ext uri="{FF2B5EF4-FFF2-40B4-BE49-F238E27FC236}">
                <a16:creationId xmlns:a16="http://schemas.microsoft.com/office/drawing/2014/main" id="{86FF5C82-72C0-46FC-B268-D5566CE2F6A0}"/>
              </a:ext>
            </a:extLst>
          </p:cNvPr>
          <p:cNvSpPr>
            <a:spLocks xmlns:a="http://schemas.openxmlformats.org/drawingml/2006/main" noGrp="1"/>
          </p:cNvSpPr>
          <p:nvPr/>
        </p:nvSpPr>
        <p:spPr>
          <a:xfrm xmlns:a="http://schemas.openxmlformats.org/drawingml/2006/main">
            <a:off x="2365621" y="7559413"/>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RDD era-balanced scen. 10–14 — Binomial, n=5</a:t>
            </a:r>
          </a:p>
        </p:txBody>
      </p:sp>
      <p:sp>
        <p:nvSpPr>
          <p:cNvPr id="16" name="Text 12">
            <a:extLst xmlns:a="http://schemas.openxmlformats.org/drawingml/2006/main">
              <a:ext uri="{FF2B5EF4-FFF2-40B4-BE49-F238E27FC236}">
                <a16:creationId xmlns:a16="http://schemas.microsoft.com/office/drawing/2014/main" id="{360E8C3E-4A07-4B9A-BB06-39BB5164D10D}"/>
              </a:ext>
            </a:extLst>
          </p:cNvPr>
          <p:cNvSpPr>
            <a:spLocks xmlns:a="http://schemas.openxmlformats.org/drawingml/2006/main" noGrp="1"/>
          </p:cNvSpPr>
          <p:nvPr/>
        </p:nvSpPr>
        <p:spPr>
          <a:xfrm xmlns:a="http://schemas.openxmlformats.org/drawingml/2006/main">
            <a:off x="8034901" y="7559413"/>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xmlns:a="http://schemas.openxmlformats.org/drawingml/2006/main">
              <a:ext uri="{FF2B5EF4-FFF2-40B4-BE49-F238E27FC236}">
                <a16:creationId xmlns:a16="http://schemas.microsoft.com/office/drawing/2014/main" id="{CBAA2ECE-0EE0-4962-BF64-10F5FDBD187C}"/>
              </a:ext>
            </a:extLst>
          </p:cNvPr>
          <p:cNvSpPr>
            <a:spLocks xmlns:a="http://schemas.openxmlformats.org/drawingml/2006/main" noGrp="1"/>
          </p:cNvSpPr>
          <p:nvPr/>
        </p:nvSpPr>
        <p:spPr>
          <a:xfrm xmlns:a="http://schemas.openxmlformats.org/drawingml/2006/main">
            <a:off x="2182741" y="7998325"/>
            <a:ext cx="11216640" cy="390144"/>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8" name="Text 14">
            <a:extLst xmlns:a="http://schemas.openxmlformats.org/drawingml/2006/main">
              <a:ext uri="{FF2B5EF4-FFF2-40B4-BE49-F238E27FC236}">
                <a16:creationId xmlns:a16="http://schemas.microsoft.com/office/drawing/2014/main" id="{FF490DB8-6DD3-49AF-B510-579FCCF54A21}"/>
              </a:ext>
            </a:extLst>
          </p:cNvPr>
          <p:cNvSpPr>
            <a:spLocks xmlns:a="http://schemas.openxmlformats.org/drawingml/2006/main" noGrp="1"/>
          </p:cNvSpPr>
          <p:nvPr/>
        </p:nvSpPr>
        <p:spPr>
          <a:xfrm xmlns:a="http://schemas.openxmlformats.org/drawingml/2006/main">
            <a:off x="2365621" y="7998325"/>
            <a:ext cx="560832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a:solidFill>
                  <a:srgbClr val="FFFFFF"/>
                </a:solidFill>
                <a:latin typeface="Calibri"/>
                <a:ea typeface="Calibri"/>
                <a:cs typeface="Calibri"/>
              </a:rPr>
              <a:t>RVV rule-firing scen. — Wilcoxon, 9 scenarios</a:t>
            </a:r>
          </a:p>
        </p:txBody>
      </p:sp>
      <p:sp>
        <p:nvSpPr>
          <p:cNvPr id="19" name="Text 15">
            <a:extLst xmlns:a="http://schemas.openxmlformats.org/drawingml/2006/main">
              <a:ext uri="{FF2B5EF4-FFF2-40B4-BE49-F238E27FC236}">
                <a16:creationId xmlns:a16="http://schemas.microsoft.com/office/drawing/2014/main" id="{FA4D9ECA-0481-4410-91AE-8450254E4074}"/>
              </a:ext>
            </a:extLst>
          </p:cNvPr>
          <p:cNvSpPr>
            <a:spLocks xmlns:a="http://schemas.openxmlformats.org/drawingml/2006/main" noGrp="1"/>
          </p:cNvSpPr>
          <p:nvPr/>
        </p:nvSpPr>
        <p:spPr>
          <a:xfrm xmlns:a="http://schemas.openxmlformats.org/drawingml/2006/main">
            <a:off x="8034901" y="7998325"/>
            <a:ext cx="5181600" cy="3901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43185772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5" name="Rectangle 3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64F357BC-5606-472A-AEA5-8E66BC37653B}"/>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04969DED-6E11-4F56-A201-1EA702E34CC6}"/>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FFFFFF"/>
                </a:solidFill>
                <a:latin typeface="Calibri"/>
                <a:ea typeface="Calibri"/>
                <a:cs typeface="Calibri"/>
              </a:rPr>
              <a:t>Why Did Prediction Fail?</a:t>
            </a:r>
          </a:p>
        </p:txBody>
      </p:sp>
      <p:sp>
        <p:nvSpPr>
          <p:cNvPr id="4" name="Text 2">
            <a:extLst xmlns:a="http://schemas.openxmlformats.org/drawingml/2006/main">
              <a:ext uri="{FF2B5EF4-FFF2-40B4-BE49-F238E27FC236}">
                <a16:creationId xmlns:a16="http://schemas.microsoft.com/office/drawing/2014/main" id="{85847AB7-A052-4A64-B7A3-A2ED346DDCDA}"/>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xmlns:a="http://schemas.openxmlformats.org/drawingml/2006/main">
              <a:ext uri="{FF2B5EF4-FFF2-40B4-BE49-F238E27FC236}">
                <a16:creationId xmlns:a16="http://schemas.microsoft.com/office/drawing/2014/main" id="{A8280A14-6E99-4AF3-8314-8F982AE7810F}"/>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68463A93-A035-498A-AB24-34ED8023A2F5}"/>
              </a:ext>
            </a:extLst>
          </p:cNvPr>
          <p:cNvSpPr>
            <a:spLocks xmlns:a="http://schemas.openxmlformats.org/drawingml/2006/main" noGrp="1"/>
          </p:cNvSpPr>
          <p:nvPr/>
        </p:nvSpPr>
        <p:spPr>
          <a:xfrm xmlns:a="http://schemas.openxmlformats.org/drawingml/2006/main">
            <a:off x="2243701" y="3036181"/>
            <a:ext cx="5364480" cy="2377440"/>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B3E3EB25-012D-483B-9E02-D915AD2C97E5}"/>
              </a:ext>
            </a:extLst>
          </p:cNvPr>
          <p:cNvSpPr>
            <a:spLocks xmlns:a="http://schemas.openxmlformats.org/drawingml/2006/main" noGrp="1"/>
          </p:cNvSpPr>
          <p:nvPr/>
        </p:nvSpPr>
        <p:spPr>
          <a:xfrm xmlns:a="http://schemas.openxmlformats.org/drawingml/2006/main">
            <a:off x="2365621" y="3121525"/>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33065F92-BD70-423B-AE36-DD84795862CB}"/>
              </a:ext>
            </a:extLst>
          </p:cNvPr>
          <p:cNvSpPr>
            <a:spLocks xmlns:a="http://schemas.openxmlformats.org/drawingml/2006/main" noGrp="1"/>
          </p:cNvSpPr>
          <p:nvPr/>
        </p:nvSpPr>
        <p:spPr>
          <a:xfrm xmlns:a="http://schemas.openxmlformats.org/drawingml/2006/main">
            <a:off x="2926453" y="3121525"/>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Signal Too Weak for Prediction</a:t>
            </a:r>
          </a:p>
        </p:txBody>
      </p:sp>
      <p:sp>
        <p:nvSpPr>
          <p:cNvPr id="9" name="Shape 7">
            <a:extLst xmlns:a="http://schemas.openxmlformats.org/drawingml/2006/main">
              <a:ext uri="{FF2B5EF4-FFF2-40B4-BE49-F238E27FC236}">
                <a16:creationId xmlns:a16="http://schemas.microsoft.com/office/drawing/2014/main" id="{46C477D5-DE58-4E7A-AEB2-66B753F3D82C}"/>
              </a:ext>
            </a:extLst>
          </p:cNvPr>
          <p:cNvSpPr>
            <a:spLocks xmlns:a="http://schemas.openxmlformats.org/drawingml/2006/main" noGrp="1"/>
          </p:cNvSpPr>
          <p:nvPr/>
        </p:nvSpPr>
        <p:spPr>
          <a:xfrm xmlns:a="http://schemas.openxmlformats.org/drawingml/2006/main">
            <a:off x="2365621" y="3645781"/>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FA838FC3-94F4-4B9E-AA95-5313B577A9B9}"/>
              </a:ext>
            </a:extLst>
          </p:cNvPr>
          <p:cNvSpPr>
            <a:spLocks xmlns:a="http://schemas.openxmlformats.org/drawingml/2006/main" noGrp="1"/>
          </p:cNvSpPr>
          <p:nvPr/>
        </p:nvSpPr>
        <p:spPr>
          <a:xfrm xmlns:a="http://schemas.openxmlformats.org/drawingml/2006/main">
            <a:off x="2390005" y="3718933"/>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xmlns:a="http://schemas.openxmlformats.org/drawingml/2006/main">
              <a:ext uri="{FF2B5EF4-FFF2-40B4-BE49-F238E27FC236}">
                <a16:creationId xmlns:a16="http://schemas.microsoft.com/office/drawing/2014/main" id="{1F2AC978-BA63-4924-A113-BBBDF358CBBC}"/>
              </a:ext>
            </a:extLst>
          </p:cNvPr>
          <p:cNvSpPr>
            <a:spLocks xmlns:a="http://schemas.openxmlformats.org/drawingml/2006/main" noGrp="1"/>
          </p:cNvSpPr>
          <p:nvPr/>
        </p:nvSpPr>
        <p:spPr>
          <a:xfrm xmlns:a="http://schemas.openxmlformats.org/drawingml/2006/main">
            <a:off x="7973941" y="3036181"/>
            <a:ext cx="5364480" cy="2377440"/>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E53FC153-2F43-4CC8-93B7-B959EC53ED81}"/>
              </a:ext>
            </a:extLst>
          </p:cNvPr>
          <p:cNvSpPr>
            <a:spLocks xmlns:a="http://schemas.openxmlformats.org/drawingml/2006/main" noGrp="1"/>
          </p:cNvSpPr>
          <p:nvPr/>
        </p:nvSpPr>
        <p:spPr>
          <a:xfrm xmlns:a="http://schemas.openxmlformats.org/drawingml/2006/main">
            <a:off x="8095861" y="3121525"/>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2</a:t>
            </a:r>
          </a:p>
        </p:txBody>
      </p:sp>
      <p:sp>
        <p:nvSpPr>
          <p:cNvPr id="13" name="Text 11">
            <a:extLst xmlns:a="http://schemas.openxmlformats.org/drawingml/2006/main">
              <a:ext uri="{FF2B5EF4-FFF2-40B4-BE49-F238E27FC236}">
                <a16:creationId xmlns:a16="http://schemas.microsoft.com/office/drawing/2014/main" id="{7B65C02C-C801-4A60-91A4-5E9B19A8F50C}"/>
              </a:ext>
            </a:extLst>
          </p:cNvPr>
          <p:cNvSpPr>
            <a:spLocks xmlns:a="http://schemas.openxmlformats.org/drawingml/2006/main" noGrp="1"/>
          </p:cNvSpPr>
          <p:nvPr/>
        </p:nvSpPr>
        <p:spPr>
          <a:xfrm xmlns:a="http://schemas.openxmlformats.org/drawingml/2006/main">
            <a:off x="8656693" y="3121525"/>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Decision 1 / Decision 2 Structural Tension</a:t>
            </a:r>
          </a:p>
        </p:txBody>
      </p:sp>
      <p:sp>
        <p:nvSpPr>
          <p:cNvPr id="14" name="Shape 12">
            <a:extLst xmlns:a="http://schemas.openxmlformats.org/drawingml/2006/main">
              <a:ext uri="{FF2B5EF4-FFF2-40B4-BE49-F238E27FC236}">
                <a16:creationId xmlns:a16="http://schemas.microsoft.com/office/drawing/2014/main" id="{3D73271D-696D-440F-BC64-C8958AC8C3ED}"/>
              </a:ext>
            </a:extLst>
          </p:cNvPr>
          <p:cNvSpPr>
            <a:spLocks xmlns:a="http://schemas.openxmlformats.org/drawingml/2006/main" noGrp="1"/>
          </p:cNvSpPr>
          <p:nvPr/>
        </p:nvSpPr>
        <p:spPr>
          <a:xfrm xmlns:a="http://schemas.openxmlformats.org/drawingml/2006/main">
            <a:off x="8095861" y="3645781"/>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86991355-94BA-439C-967D-774DC9B63833}"/>
              </a:ext>
            </a:extLst>
          </p:cNvPr>
          <p:cNvSpPr>
            <a:spLocks xmlns:a="http://schemas.openxmlformats.org/drawingml/2006/main" noGrp="1"/>
          </p:cNvSpPr>
          <p:nvPr/>
        </p:nvSpPr>
        <p:spPr>
          <a:xfrm xmlns:a="http://schemas.openxmlformats.org/drawingml/2006/main">
            <a:off x="8120245" y="3718933"/>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xmlns:a="http://schemas.openxmlformats.org/drawingml/2006/main">
              <a:ext uri="{FF2B5EF4-FFF2-40B4-BE49-F238E27FC236}">
                <a16:creationId xmlns:a16="http://schemas.microsoft.com/office/drawing/2014/main" id="{403724EC-4E59-484F-A842-F61C13B95F43}"/>
              </a:ext>
            </a:extLst>
          </p:cNvPr>
          <p:cNvSpPr>
            <a:spLocks xmlns:a="http://schemas.openxmlformats.org/drawingml/2006/main" noGrp="1"/>
          </p:cNvSpPr>
          <p:nvPr/>
        </p:nvSpPr>
        <p:spPr>
          <a:xfrm xmlns:a="http://schemas.openxmlformats.org/drawingml/2006/main">
            <a:off x="2243701" y="5596501"/>
            <a:ext cx="5364480" cy="2377440"/>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02334A5D-3DA6-4F0F-A9EB-0DFAB696B97E}"/>
              </a:ext>
            </a:extLst>
          </p:cNvPr>
          <p:cNvSpPr>
            <a:spLocks xmlns:a="http://schemas.openxmlformats.org/drawingml/2006/main" noGrp="1"/>
          </p:cNvSpPr>
          <p:nvPr/>
        </p:nvSpPr>
        <p:spPr>
          <a:xfrm xmlns:a="http://schemas.openxmlformats.org/drawingml/2006/main">
            <a:off x="2365621" y="5681845"/>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C95FDDD9-E3AA-4E9E-A3EE-59AE0400E314}"/>
              </a:ext>
            </a:extLst>
          </p:cNvPr>
          <p:cNvSpPr>
            <a:spLocks xmlns:a="http://schemas.openxmlformats.org/drawingml/2006/main" noGrp="1"/>
          </p:cNvSpPr>
          <p:nvPr/>
        </p:nvSpPr>
        <p:spPr>
          <a:xfrm xmlns:a="http://schemas.openxmlformats.org/drawingml/2006/main">
            <a:off x="2926453" y="5681845"/>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Era Contamination of Training Folds</a:t>
            </a:r>
          </a:p>
        </p:txBody>
      </p:sp>
      <p:sp>
        <p:nvSpPr>
          <p:cNvPr id="19" name="Shape 17">
            <a:extLst xmlns:a="http://schemas.openxmlformats.org/drawingml/2006/main">
              <a:ext uri="{FF2B5EF4-FFF2-40B4-BE49-F238E27FC236}">
                <a16:creationId xmlns:a16="http://schemas.microsoft.com/office/drawing/2014/main" id="{89102152-AF5E-4A2B-8A58-D35E6DACEF7B}"/>
              </a:ext>
            </a:extLst>
          </p:cNvPr>
          <p:cNvSpPr>
            <a:spLocks xmlns:a="http://schemas.openxmlformats.org/drawingml/2006/main" noGrp="1"/>
          </p:cNvSpPr>
          <p:nvPr/>
        </p:nvSpPr>
        <p:spPr>
          <a:xfrm xmlns:a="http://schemas.openxmlformats.org/drawingml/2006/main">
            <a:off x="2365621" y="6206101"/>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96CBDF5F-7C7B-407B-B8AB-0893CA378B8E}"/>
              </a:ext>
            </a:extLst>
          </p:cNvPr>
          <p:cNvSpPr>
            <a:spLocks xmlns:a="http://schemas.openxmlformats.org/drawingml/2006/main" noGrp="1"/>
          </p:cNvSpPr>
          <p:nvPr/>
        </p:nvSpPr>
        <p:spPr>
          <a:xfrm xmlns:a="http://schemas.openxmlformats.org/drawingml/2006/main">
            <a:off x="2390005" y="6279253"/>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xmlns:a="http://schemas.openxmlformats.org/drawingml/2006/main">
              <a:ext uri="{FF2B5EF4-FFF2-40B4-BE49-F238E27FC236}">
                <a16:creationId xmlns:a16="http://schemas.microsoft.com/office/drawing/2014/main" id="{BCA3DB1B-EB85-4BCD-91FC-24AA532588A5}"/>
              </a:ext>
            </a:extLst>
          </p:cNvPr>
          <p:cNvSpPr>
            <a:spLocks xmlns:a="http://schemas.openxmlformats.org/drawingml/2006/main" noGrp="1"/>
          </p:cNvSpPr>
          <p:nvPr/>
        </p:nvSpPr>
        <p:spPr>
          <a:xfrm xmlns:a="http://schemas.openxmlformats.org/drawingml/2006/main">
            <a:off x="7973941" y="5596501"/>
            <a:ext cx="5364480" cy="2377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60D14B49-022A-4A67-B03E-596E80F72C3D}"/>
              </a:ext>
            </a:extLst>
          </p:cNvPr>
          <p:cNvSpPr>
            <a:spLocks xmlns:a="http://schemas.openxmlformats.org/drawingml/2006/main" noGrp="1"/>
          </p:cNvSpPr>
          <p:nvPr/>
        </p:nvSpPr>
        <p:spPr>
          <a:xfrm xmlns:a="http://schemas.openxmlformats.org/drawingml/2006/main">
            <a:off x="8095861" y="5681845"/>
            <a:ext cx="487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933" b="1">
                <a:solidFill>
                  <a:srgbClr val="D4A853"/>
                </a:solidFill>
                <a:latin typeface="Calibri"/>
                <a:ea typeface="Calibri"/>
                <a:cs typeface="Calibri"/>
              </a:rPr>
              <a:t>4</a:t>
            </a:r>
          </a:p>
        </p:txBody>
      </p:sp>
      <p:sp>
        <p:nvSpPr>
          <p:cNvPr id="23" name="Text 21">
            <a:extLst xmlns:a="http://schemas.openxmlformats.org/drawingml/2006/main">
              <a:ext uri="{FF2B5EF4-FFF2-40B4-BE49-F238E27FC236}">
                <a16:creationId xmlns:a16="http://schemas.microsoft.com/office/drawing/2014/main" id="{96B73A3E-D211-4D9B-A25C-54AE1BC57D5E}"/>
              </a:ext>
            </a:extLst>
          </p:cNvPr>
          <p:cNvSpPr>
            <a:spLocks xmlns:a="http://schemas.openxmlformats.org/drawingml/2006/main" noGrp="1"/>
          </p:cNvSpPr>
          <p:nvPr/>
        </p:nvSpPr>
        <p:spPr>
          <a:xfrm xmlns:a="http://schemas.openxmlformats.org/drawingml/2006/main">
            <a:off x="8656693" y="5681845"/>
            <a:ext cx="458419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FFFFFF"/>
                </a:solidFill>
                <a:latin typeface="Calibri"/>
                <a:ea typeface="Calibri"/>
                <a:cs typeface="Calibri"/>
              </a:rPr>
              <a:t>Missing Structural Covariates</a:t>
            </a:r>
          </a:p>
        </p:txBody>
      </p:sp>
      <p:sp>
        <p:nvSpPr>
          <p:cNvPr id="24" name="Shape 22">
            <a:extLst xmlns:a="http://schemas.openxmlformats.org/drawingml/2006/main">
              <a:ext uri="{FF2B5EF4-FFF2-40B4-BE49-F238E27FC236}">
                <a16:creationId xmlns:a16="http://schemas.microsoft.com/office/drawing/2014/main" id="{862FB13B-65FD-46E8-B72A-E4AFBDFB1C8A}"/>
              </a:ext>
            </a:extLst>
          </p:cNvPr>
          <p:cNvSpPr>
            <a:spLocks xmlns:a="http://schemas.openxmlformats.org/drawingml/2006/main" noGrp="1"/>
          </p:cNvSpPr>
          <p:nvPr/>
        </p:nvSpPr>
        <p:spPr>
          <a:xfrm xmlns:a="http://schemas.openxmlformats.org/drawingml/2006/main">
            <a:off x="8095861" y="6206101"/>
            <a:ext cx="5120640" cy="24384"/>
          </a:xfrm>
          <a:prstGeom xmlns:a="http://schemas.openxmlformats.org/drawingml/2006/main" prst="rect">
            <a:avLst/>
          </a:prstGeom>
          <a:solidFill xmlns:a="http://schemas.openxmlformats.org/drawingml/2006/main">
            <a:srgbClr val="F5D78A"/>
          </a:solidFill>
          <a:ln xmlns:a="http://schemas.openxmlformats.org/drawingml/2006/main" w="12700">
            <a:solidFill>
              <a:srgbClr val="F5D78A"/>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EE524BCD-DB43-4681-A2BC-41BD10084E5E}"/>
              </a:ext>
            </a:extLst>
          </p:cNvPr>
          <p:cNvSpPr>
            <a:spLocks xmlns:a="http://schemas.openxmlformats.org/drawingml/2006/main" noGrp="1"/>
          </p:cNvSpPr>
          <p:nvPr/>
        </p:nvSpPr>
        <p:spPr>
          <a:xfrm xmlns:a="http://schemas.openxmlformats.org/drawingml/2006/main">
            <a:off x="8120245" y="6279253"/>
            <a:ext cx="5120640" cy="1584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xmlns:a="http://schemas.openxmlformats.org/drawingml/2006/main">
              <a:ext uri="{FF2B5EF4-FFF2-40B4-BE49-F238E27FC236}">
                <a16:creationId xmlns:a16="http://schemas.microsoft.com/office/drawing/2014/main" id="{F9B6A7F9-4A94-4307-92AE-4D82B6564B4B}"/>
              </a:ext>
            </a:extLst>
          </p:cNvPr>
          <p:cNvSpPr>
            <a:spLocks xmlns:a="http://schemas.openxmlformats.org/drawingml/2006/main" noGrp="1"/>
          </p:cNvSpPr>
          <p:nvPr/>
        </p:nvSpPr>
        <p:spPr>
          <a:xfrm xmlns:a="http://schemas.openxmlformats.org/drawingml/2006/main">
            <a:off x="2243701" y="8132437"/>
            <a:ext cx="11094720" cy="304800"/>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17A861D-B2C0-4922-9D18-A8FBDABA63EC}"/>
              </a:ext>
            </a:extLst>
          </p:cNvPr>
          <p:cNvSpPr>
            <a:spLocks xmlns:a="http://schemas.openxmlformats.org/drawingml/2006/main" noGrp="1"/>
          </p:cNvSpPr>
          <p:nvPr/>
        </p:nvSpPr>
        <p:spPr>
          <a:xfrm xmlns:a="http://schemas.openxmlformats.org/drawingml/2006/main">
            <a:off x="2243701" y="8132437"/>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132972918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8" name="Rectangle 37"/>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CBEF27F-BAAD-4D5D-BB7B-DD70CDE576D8}"/>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80428BE-538E-424C-A1C9-65FED45E299E}"/>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Scientific Contributions</a:t>
            </a:r>
          </a:p>
        </p:txBody>
      </p:sp>
      <p:sp>
        <p:nvSpPr>
          <p:cNvPr id="4" name="Text 2">
            <a:extLst xmlns:a="http://schemas.openxmlformats.org/drawingml/2006/main">
              <a:ext uri="{FF2B5EF4-FFF2-40B4-BE49-F238E27FC236}">
                <a16:creationId xmlns:a16="http://schemas.microsoft.com/office/drawing/2014/main" id="{E194DE7B-CA08-4C2A-B824-FA2CE0AD5F25}"/>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Methodological advances transferable beyond wine production</a:t>
            </a:r>
          </a:p>
        </p:txBody>
      </p:sp>
      <p:sp>
        <p:nvSpPr>
          <p:cNvPr id="5" name="Shape 3">
            <a:extLst xmlns:a="http://schemas.openxmlformats.org/drawingml/2006/main">
              <a:ext uri="{FF2B5EF4-FFF2-40B4-BE49-F238E27FC236}">
                <a16:creationId xmlns:a16="http://schemas.microsoft.com/office/drawing/2014/main" id="{B59AD2B8-4E3C-465C-A922-9E77036C2B68}"/>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E38E0A70-BBEB-46BF-8649-B4961345DD69}"/>
              </a:ext>
            </a:extLst>
          </p:cNvPr>
          <p:cNvSpPr>
            <a:spLocks xmlns:a="http://schemas.openxmlformats.org/drawingml/2006/main" noGrp="1"/>
          </p:cNvSpPr>
          <p:nvPr/>
        </p:nvSpPr>
        <p:spPr>
          <a:xfrm xmlns:a="http://schemas.openxmlformats.org/drawingml/2006/main">
            <a:off x="2243701" y="3060565"/>
            <a:ext cx="85344" cy="877824"/>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4B3A28ED-4E0A-4C7D-9DA3-9FF3F0B6A4D6}"/>
              </a:ext>
            </a:extLst>
          </p:cNvPr>
          <p:cNvSpPr>
            <a:spLocks xmlns:a="http://schemas.openxmlformats.org/drawingml/2006/main" noGrp="1"/>
          </p:cNvSpPr>
          <p:nvPr/>
        </p:nvSpPr>
        <p:spPr>
          <a:xfrm xmlns:a="http://schemas.openxmlformats.org/drawingml/2006/main">
            <a:off x="2329045" y="3060565"/>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3E542442-D547-4E7F-A46E-9A0E9E658036}"/>
              </a:ext>
            </a:extLst>
          </p:cNvPr>
          <p:cNvSpPr>
            <a:spLocks xmlns:a="http://schemas.openxmlformats.org/drawingml/2006/main" noGrp="1"/>
          </p:cNvSpPr>
          <p:nvPr/>
        </p:nvSpPr>
        <p:spPr>
          <a:xfrm xmlns:a="http://schemas.openxmlformats.org/drawingml/2006/main">
            <a:off x="2487541" y="3109333"/>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Two-Decision Decomposition Framework</a:t>
            </a:r>
          </a:p>
        </p:txBody>
      </p:sp>
      <p:sp>
        <p:nvSpPr>
          <p:cNvPr id="9" name="Text 7">
            <a:extLst xmlns:a="http://schemas.openxmlformats.org/drawingml/2006/main">
              <a:ext uri="{FF2B5EF4-FFF2-40B4-BE49-F238E27FC236}">
                <a16:creationId xmlns:a16="http://schemas.microsoft.com/office/drawing/2014/main" id="{19F13E1B-A0FC-4022-85EE-B8083607FECD}"/>
              </a:ext>
            </a:extLst>
          </p:cNvPr>
          <p:cNvSpPr>
            <a:spLocks xmlns:a="http://schemas.openxmlformats.org/drawingml/2006/main" noGrp="1"/>
          </p:cNvSpPr>
          <p:nvPr/>
        </p:nvSpPr>
        <p:spPr>
          <a:xfrm xmlns:a="http://schemas.openxmlformats.org/drawingml/2006/main">
            <a:off x="11570581" y="3109333"/>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Novel Framework</a:t>
            </a:r>
          </a:p>
        </p:txBody>
      </p:sp>
      <p:sp>
        <p:nvSpPr>
          <p:cNvPr id="10" name="Text 8">
            <a:extLst xmlns:a="http://schemas.openxmlformats.org/drawingml/2006/main">
              <a:ext uri="{FF2B5EF4-FFF2-40B4-BE49-F238E27FC236}">
                <a16:creationId xmlns:a16="http://schemas.microsoft.com/office/drawing/2014/main" id="{3720F726-DC08-4D25-B92A-F0FE9AADFEF0}"/>
              </a:ext>
            </a:extLst>
          </p:cNvPr>
          <p:cNvSpPr>
            <a:spLocks xmlns:a="http://schemas.openxmlformats.org/drawingml/2006/main" noGrp="1"/>
          </p:cNvSpPr>
          <p:nvPr/>
        </p:nvSpPr>
        <p:spPr>
          <a:xfrm xmlns:a="http://schemas.openxmlformats.org/drawingml/2006/main">
            <a:off x="2487541" y="3499477"/>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xmlns:a="http://schemas.openxmlformats.org/drawingml/2006/main">
              <a:ext uri="{FF2B5EF4-FFF2-40B4-BE49-F238E27FC236}">
                <a16:creationId xmlns:a16="http://schemas.microsoft.com/office/drawing/2014/main" id="{42455CD2-7734-406F-B7E1-B1EB973BF6D2}"/>
              </a:ext>
            </a:extLst>
          </p:cNvPr>
          <p:cNvSpPr>
            <a:spLocks xmlns:a="http://schemas.openxmlformats.org/drawingml/2006/main" noGrp="1"/>
          </p:cNvSpPr>
          <p:nvPr/>
        </p:nvSpPr>
        <p:spPr>
          <a:xfrm xmlns:a="http://schemas.openxmlformats.org/drawingml/2006/main">
            <a:off x="2243701" y="4060309"/>
            <a:ext cx="85344"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D0FF0EC2-E8DE-44BA-8F2D-114E210CECB8}"/>
              </a:ext>
            </a:extLst>
          </p:cNvPr>
          <p:cNvSpPr>
            <a:spLocks xmlns:a="http://schemas.openxmlformats.org/drawingml/2006/main" noGrp="1"/>
          </p:cNvSpPr>
          <p:nvPr/>
        </p:nvSpPr>
        <p:spPr>
          <a:xfrm xmlns:a="http://schemas.openxmlformats.org/drawingml/2006/main">
            <a:off x="2329045" y="4060309"/>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91E5B6D4-BCB8-47CB-8B15-7FD06F6CB27F}"/>
              </a:ext>
            </a:extLst>
          </p:cNvPr>
          <p:cNvSpPr>
            <a:spLocks xmlns:a="http://schemas.openxmlformats.org/drawingml/2006/main" noGrp="1"/>
          </p:cNvSpPr>
          <p:nvPr/>
        </p:nvSpPr>
        <p:spPr>
          <a:xfrm xmlns:a="http://schemas.openxmlformats.org/drawingml/2006/main">
            <a:off x="2487541" y="4109077"/>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Systematic 11-Variant CarenR Sensitivity Analysis</a:t>
            </a:r>
          </a:p>
        </p:txBody>
      </p:sp>
      <p:sp>
        <p:nvSpPr>
          <p:cNvPr id="14" name="Text 12">
            <a:extLst xmlns:a="http://schemas.openxmlformats.org/drawingml/2006/main">
              <a:ext uri="{FF2B5EF4-FFF2-40B4-BE49-F238E27FC236}">
                <a16:creationId xmlns:a16="http://schemas.microsoft.com/office/drawing/2014/main" id="{65D5BC49-810A-43C1-8C9A-70294B45B273}"/>
              </a:ext>
            </a:extLst>
          </p:cNvPr>
          <p:cNvSpPr>
            <a:spLocks xmlns:a="http://schemas.openxmlformats.org/drawingml/2006/main" noGrp="1"/>
          </p:cNvSpPr>
          <p:nvPr/>
        </p:nvSpPr>
        <p:spPr>
          <a:xfrm xmlns:a="http://schemas.openxmlformats.org/drawingml/2006/main">
            <a:off x="11570581" y="4109077"/>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Algorithm Analysis</a:t>
            </a:r>
          </a:p>
        </p:txBody>
      </p:sp>
      <p:sp>
        <p:nvSpPr>
          <p:cNvPr id="15" name="Text 13">
            <a:extLst xmlns:a="http://schemas.openxmlformats.org/drawingml/2006/main">
              <a:ext uri="{FF2B5EF4-FFF2-40B4-BE49-F238E27FC236}">
                <a16:creationId xmlns:a16="http://schemas.microsoft.com/office/drawing/2014/main" id="{677BC0B7-12B1-4008-B624-733CEC216FD8}"/>
              </a:ext>
            </a:extLst>
          </p:cNvPr>
          <p:cNvSpPr>
            <a:spLocks xmlns:a="http://schemas.openxmlformats.org/drawingml/2006/main" noGrp="1"/>
          </p:cNvSpPr>
          <p:nvPr/>
        </p:nvSpPr>
        <p:spPr>
          <a:xfrm xmlns:a="http://schemas.openxmlformats.org/drawingml/2006/main">
            <a:off x="2487541" y="4499221"/>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xmlns:a="http://schemas.openxmlformats.org/drawingml/2006/main">
              <a:ext uri="{FF2B5EF4-FFF2-40B4-BE49-F238E27FC236}">
                <a16:creationId xmlns:a16="http://schemas.microsoft.com/office/drawing/2014/main" id="{9DE00026-6791-41CF-A4E4-B14DFFFD19BC}"/>
              </a:ext>
            </a:extLst>
          </p:cNvPr>
          <p:cNvSpPr>
            <a:spLocks xmlns:a="http://schemas.openxmlformats.org/drawingml/2006/main" noGrp="1"/>
          </p:cNvSpPr>
          <p:nvPr/>
        </p:nvSpPr>
        <p:spPr>
          <a:xfrm xmlns:a="http://schemas.openxmlformats.org/drawingml/2006/main">
            <a:off x="2243701" y="5060053"/>
            <a:ext cx="85344" cy="877824"/>
          </a:xfrm>
          <a:prstGeom xmlns:a="http://schemas.openxmlformats.org/drawingml/2006/main" prst="rect">
            <a:avLst/>
          </a:prstGeom>
          <a:solidFill xmlns:a="http://schemas.openxmlformats.org/drawingml/2006/main">
            <a:srgbClr val="1B2B45"/>
          </a:solidFill>
          <a:ln xmlns:a="http://schemas.openxmlformats.org/drawingml/2006/main" w="12700">
            <a:solidFill>
              <a:srgbClr val="1B2B45"/>
            </a:solidFill>
            <a:prstDash val="solid"/>
          </a:ln>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0A108370-AB78-4A6C-BABD-9E0949C5E958}"/>
              </a:ext>
            </a:extLst>
          </p:cNvPr>
          <p:cNvSpPr>
            <a:spLocks xmlns:a="http://schemas.openxmlformats.org/drawingml/2006/main" noGrp="1"/>
          </p:cNvSpPr>
          <p:nvPr/>
        </p:nvSpPr>
        <p:spPr>
          <a:xfrm xmlns:a="http://schemas.openxmlformats.org/drawingml/2006/main">
            <a:off x="2329045" y="5060053"/>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3176681A-5FFC-4D36-9438-553ED46E02AA}"/>
              </a:ext>
            </a:extLst>
          </p:cNvPr>
          <p:cNvSpPr>
            <a:spLocks xmlns:a="http://schemas.openxmlformats.org/drawingml/2006/main" noGrp="1"/>
          </p:cNvSpPr>
          <p:nvPr/>
        </p:nvSpPr>
        <p:spPr>
          <a:xfrm xmlns:a="http://schemas.openxmlformats.org/drawingml/2006/main">
            <a:off x="2487541" y="5108821"/>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Era-Composition Analysis &amp; Conditional Regime Discovery</a:t>
            </a:r>
          </a:p>
        </p:txBody>
      </p:sp>
      <p:sp>
        <p:nvSpPr>
          <p:cNvPr id="19" name="Text 17">
            <a:extLst xmlns:a="http://schemas.openxmlformats.org/drawingml/2006/main">
              <a:ext uri="{FF2B5EF4-FFF2-40B4-BE49-F238E27FC236}">
                <a16:creationId xmlns:a16="http://schemas.microsoft.com/office/drawing/2014/main" id="{B3EBB572-7794-4848-8481-0970369D40A2}"/>
              </a:ext>
            </a:extLst>
          </p:cNvPr>
          <p:cNvSpPr>
            <a:spLocks xmlns:a="http://schemas.openxmlformats.org/drawingml/2006/main" noGrp="1"/>
          </p:cNvSpPr>
          <p:nvPr/>
        </p:nvSpPr>
        <p:spPr>
          <a:xfrm xmlns:a="http://schemas.openxmlformats.org/drawingml/2006/main">
            <a:off x="11570581" y="5108821"/>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1B2B45"/>
                </a:solidFill>
                <a:latin typeface="Calibri"/>
                <a:ea typeface="Calibri"/>
                <a:cs typeface="Calibri"/>
              </a:rPr>
              <a:t>Evaluation Design</a:t>
            </a:r>
          </a:p>
        </p:txBody>
      </p:sp>
      <p:sp>
        <p:nvSpPr>
          <p:cNvPr id="20" name="Text 18">
            <a:extLst xmlns:a="http://schemas.openxmlformats.org/drawingml/2006/main">
              <a:ext uri="{FF2B5EF4-FFF2-40B4-BE49-F238E27FC236}">
                <a16:creationId xmlns:a16="http://schemas.microsoft.com/office/drawing/2014/main" id="{0A6D3EC6-2922-4236-B829-0BCF83B3A741}"/>
              </a:ext>
            </a:extLst>
          </p:cNvPr>
          <p:cNvSpPr>
            <a:spLocks xmlns:a="http://schemas.openxmlformats.org/drawingml/2006/main" noGrp="1"/>
          </p:cNvSpPr>
          <p:nvPr/>
        </p:nvSpPr>
        <p:spPr>
          <a:xfrm xmlns:a="http://schemas.openxmlformats.org/drawingml/2006/main">
            <a:off x="2487541" y="5498965"/>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xmlns:a="http://schemas.openxmlformats.org/drawingml/2006/main">
              <a:ext uri="{FF2B5EF4-FFF2-40B4-BE49-F238E27FC236}">
                <a16:creationId xmlns:a16="http://schemas.microsoft.com/office/drawing/2014/main" id="{EE8332BF-7D6E-4F25-940D-CF33B66F7629}"/>
              </a:ext>
            </a:extLst>
          </p:cNvPr>
          <p:cNvSpPr>
            <a:spLocks xmlns:a="http://schemas.openxmlformats.org/drawingml/2006/main" noGrp="1"/>
          </p:cNvSpPr>
          <p:nvPr/>
        </p:nvSpPr>
        <p:spPr>
          <a:xfrm xmlns:a="http://schemas.openxmlformats.org/drawingml/2006/main">
            <a:off x="2243701" y="6059797"/>
            <a:ext cx="85344" cy="877824"/>
          </a:xfrm>
          <a:prstGeom xmlns:a="http://schemas.openxmlformats.org/drawingml/2006/main" prst="rect">
            <a:avLst/>
          </a:prstGeom>
          <a:solidFill xmlns:a="http://schemas.openxmlformats.org/drawingml/2006/main">
            <a:srgbClr val="0D7377"/>
          </a:solidFill>
          <a:ln xmlns:a="http://schemas.openxmlformats.org/drawingml/2006/main" w="12700">
            <a:solidFill>
              <a:srgbClr val="0D7377"/>
            </a:solidFill>
            <a:prstDash val="solid"/>
          </a:ln>
        </p:spPr>
        <p:txBody>
          <a:bodyPr xmlns:a="http://schemas.openxmlformats.org/drawingml/2006/main"/>
          <a:lstStyle xmlns:a="http://schemas.openxmlformats.org/drawingml/2006/main"/>
          <a:p xmlns:a="http://schemas.openxmlformats.org/drawingml/2006/main"/>
        </p:txBody>
      </p:sp>
      <p:sp>
        <p:nvSpPr>
          <p:cNvPr id="22" name="Shape 20">
            <a:extLst xmlns:a="http://schemas.openxmlformats.org/drawingml/2006/main">
              <a:ext uri="{FF2B5EF4-FFF2-40B4-BE49-F238E27FC236}">
                <a16:creationId xmlns:a16="http://schemas.microsoft.com/office/drawing/2014/main" id="{C80F02CE-49C0-4CE8-9254-22CAFC8E6378}"/>
              </a:ext>
            </a:extLst>
          </p:cNvPr>
          <p:cNvSpPr>
            <a:spLocks xmlns:a="http://schemas.openxmlformats.org/drawingml/2006/main" noGrp="1"/>
          </p:cNvSpPr>
          <p:nvPr/>
        </p:nvSpPr>
        <p:spPr>
          <a:xfrm xmlns:a="http://schemas.openxmlformats.org/drawingml/2006/main">
            <a:off x="2329045" y="6059797"/>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34CFD5FC-2E15-43AF-8C51-0D4CF64D79F4}"/>
              </a:ext>
            </a:extLst>
          </p:cNvPr>
          <p:cNvSpPr>
            <a:spLocks xmlns:a="http://schemas.openxmlformats.org/drawingml/2006/main" noGrp="1"/>
          </p:cNvSpPr>
          <p:nvPr/>
        </p:nvSpPr>
        <p:spPr>
          <a:xfrm xmlns:a="http://schemas.openxmlformats.org/drawingml/2006/main">
            <a:off x="2487541" y="6108565"/>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Cross-Algorithm Feature Convergence Validation</a:t>
            </a:r>
          </a:p>
        </p:txBody>
      </p:sp>
      <p:sp>
        <p:nvSpPr>
          <p:cNvPr id="24" name="Text 22">
            <a:extLst xmlns:a="http://schemas.openxmlformats.org/drawingml/2006/main">
              <a:ext uri="{FF2B5EF4-FFF2-40B4-BE49-F238E27FC236}">
                <a16:creationId xmlns:a16="http://schemas.microsoft.com/office/drawing/2014/main" id="{E99542F4-E66B-4DD0-BF91-A88A3CE0251B}"/>
              </a:ext>
            </a:extLst>
          </p:cNvPr>
          <p:cNvSpPr>
            <a:spLocks xmlns:a="http://schemas.openxmlformats.org/drawingml/2006/main" noGrp="1"/>
          </p:cNvSpPr>
          <p:nvPr/>
        </p:nvSpPr>
        <p:spPr>
          <a:xfrm xmlns:a="http://schemas.openxmlformats.org/drawingml/2006/main">
            <a:off x="11570581" y="6108565"/>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0D7377"/>
                </a:solidFill>
                <a:latin typeface="Calibri"/>
                <a:ea typeface="Calibri"/>
                <a:cs typeface="Calibri"/>
              </a:rPr>
              <a:t>Validation Method</a:t>
            </a:r>
          </a:p>
        </p:txBody>
      </p:sp>
      <p:sp>
        <p:nvSpPr>
          <p:cNvPr id="25" name="Text 23">
            <a:extLst xmlns:a="http://schemas.openxmlformats.org/drawingml/2006/main">
              <a:ext uri="{FF2B5EF4-FFF2-40B4-BE49-F238E27FC236}">
                <a16:creationId xmlns:a16="http://schemas.microsoft.com/office/drawing/2014/main" id="{A528BE52-19B0-41BB-90C8-3E26BA386672}"/>
              </a:ext>
            </a:extLst>
          </p:cNvPr>
          <p:cNvSpPr>
            <a:spLocks xmlns:a="http://schemas.openxmlformats.org/drawingml/2006/main" noGrp="1"/>
          </p:cNvSpPr>
          <p:nvPr/>
        </p:nvSpPr>
        <p:spPr>
          <a:xfrm xmlns:a="http://schemas.openxmlformats.org/drawingml/2006/main">
            <a:off x="2487541" y="6498709"/>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xmlns:a="http://schemas.openxmlformats.org/drawingml/2006/main">
              <a:ext uri="{FF2B5EF4-FFF2-40B4-BE49-F238E27FC236}">
                <a16:creationId xmlns:a16="http://schemas.microsoft.com/office/drawing/2014/main" id="{6B00EA31-0825-45F4-B236-4AD1E9AEAF2F}"/>
              </a:ext>
            </a:extLst>
          </p:cNvPr>
          <p:cNvSpPr>
            <a:spLocks xmlns:a="http://schemas.openxmlformats.org/drawingml/2006/main" noGrp="1"/>
          </p:cNvSpPr>
          <p:nvPr/>
        </p:nvSpPr>
        <p:spPr>
          <a:xfrm xmlns:a="http://schemas.openxmlformats.org/drawingml/2006/main">
            <a:off x="2243701" y="7059541"/>
            <a:ext cx="85344" cy="877824"/>
          </a:xfrm>
          <a:prstGeom xmlns:a="http://schemas.openxmlformats.org/drawingml/2006/main" prst="rect">
            <a:avLst/>
          </a:prstGeom>
          <a:solidFill xmlns:a="http://schemas.openxmlformats.org/drawingml/2006/main">
            <a:srgbClr val="2E4A7C"/>
          </a:solidFill>
          <a:ln xmlns:a="http://schemas.openxmlformats.org/drawingml/2006/main" w="12700">
            <a:solidFill>
              <a:srgbClr val="2E4A7C"/>
            </a:solidFill>
            <a:prstDash val="solid"/>
          </a:ln>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54F44A38-15B0-4720-B83B-F852030C2FEB}"/>
              </a:ext>
            </a:extLst>
          </p:cNvPr>
          <p:cNvSpPr>
            <a:spLocks xmlns:a="http://schemas.openxmlformats.org/drawingml/2006/main" noGrp="1"/>
          </p:cNvSpPr>
          <p:nvPr/>
        </p:nvSpPr>
        <p:spPr>
          <a:xfrm xmlns:a="http://schemas.openxmlformats.org/drawingml/2006/main">
            <a:off x="2329045" y="7059541"/>
            <a:ext cx="10997184" cy="87782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F454AD99-C22D-4AE4-81D7-82AC16661D51}"/>
              </a:ext>
            </a:extLst>
          </p:cNvPr>
          <p:cNvSpPr>
            <a:spLocks xmlns:a="http://schemas.openxmlformats.org/drawingml/2006/main" noGrp="1"/>
          </p:cNvSpPr>
          <p:nvPr/>
        </p:nvSpPr>
        <p:spPr>
          <a:xfrm xmlns:a="http://schemas.openxmlformats.org/drawingml/2006/main">
            <a:off x="2487541" y="7108309"/>
            <a:ext cx="792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0D1B2A"/>
                </a:solidFill>
                <a:latin typeface="Calibri"/>
                <a:ea typeface="Calibri"/>
                <a:cs typeface="Calibri"/>
              </a:rPr>
              <a:t>LOESS Era-Signal Validation Protocol</a:t>
            </a:r>
          </a:p>
        </p:txBody>
      </p:sp>
      <p:sp>
        <p:nvSpPr>
          <p:cNvPr id="29" name="Text 27">
            <a:extLst xmlns:a="http://schemas.openxmlformats.org/drawingml/2006/main">
              <a:ext uri="{FF2B5EF4-FFF2-40B4-BE49-F238E27FC236}">
                <a16:creationId xmlns:a16="http://schemas.microsoft.com/office/drawing/2014/main" id="{847FE8FC-09F7-4B6E-B0F5-4C1337F6F918}"/>
              </a:ext>
            </a:extLst>
          </p:cNvPr>
          <p:cNvSpPr>
            <a:spLocks xmlns:a="http://schemas.openxmlformats.org/drawingml/2006/main" noGrp="1"/>
          </p:cNvSpPr>
          <p:nvPr/>
        </p:nvSpPr>
        <p:spPr>
          <a:xfrm xmlns:a="http://schemas.openxmlformats.org/drawingml/2006/main">
            <a:off x="11570581" y="7108309"/>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067" b="1" i="1">
                <a:solidFill>
                  <a:srgbClr val="2E4A7C"/>
                </a:solidFill>
                <a:latin typeface="Calibri"/>
                <a:ea typeface="Calibri"/>
                <a:cs typeface="Calibri"/>
              </a:rPr>
              <a:t>Validation Protocol</a:t>
            </a:r>
          </a:p>
        </p:txBody>
      </p:sp>
      <p:sp>
        <p:nvSpPr>
          <p:cNvPr id="30" name="Text 28">
            <a:extLst xmlns:a="http://schemas.openxmlformats.org/drawingml/2006/main">
              <a:ext uri="{FF2B5EF4-FFF2-40B4-BE49-F238E27FC236}">
                <a16:creationId xmlns:a16="http://schemas.microsoft.com/office/drawing/2014/main" id="{39C37DF2-DEE3-4504-AB7D-F803F82034CD}"/>
              </a:ext>
            </a:extLst>
          </p:cNvPr>
          <p:cNvSpPr>
            <a:spLocks xmlns:a="http://schemas.openxmlformats.org/drawingml/2006/main" noGrp="1"/>
          </p:cNvSpPr>
          <p:nvPr/>
        </p:nvSpPr>
        <p:spPr>
          <a:xfrm xmlns:a="http://schemas.openxmlformats.org/drawingml/2006/main">
            <a:off x="2487541" y="7498453"/>
            <a:ext cx="1072896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62092782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7" name="Rectangle 46"/>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C6568C3C-5421-4875-84CD-AE0D98E9D600}"/>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E1A5B28-9709-4BE6-8396-59C6472C6F0B}"/>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933" b="1">
                <a:solidFill>
                  <a:srgbClr val="0D1B2A"/>
                </a:solidFill>
                <a:latin typeface="Calibri"/>
                <a:ea typeface="Calibri"/>
                <a:cs typeface="Calibri"/>
              </a:rPr>
              <a:t>Limitations &amp; Future Work</a:t>
            </a:r>
          </a:p>
        </p:txBody>
      </p:sp>
      <p:sp>
        <p:nvSpPr>
          <p:cNvPr id="4" name="Text 2">
            <a:extLst xmlns:a="http://schemas.openxmlformats.org/drawingml/2006/main">
              <a:ext uri="{FF2B5EF4-FFF2-40B4-BE49-F238E27FC236}">
                <a16:creationId xmlns:a16="http://schemas.microsoft.com/office/drawing/2014/main" id="{53E90C22-6EB7-4C93-A1BC-699F5F06CF74}"/>
              </a:ext>
            </a:extLst>
          </p:cNvPr>
          <p:cNvSpPr>
            <a:spLocks xmlns:a="http://schemas.openxmlformats.org/drawingml/2006/main" noGrp="1"/>
          </p:cNvSpPr>
          <p:nvPr/>
        </p:nvSpPr>
        <p:spPr>
          <a:xfrm xmlns:a="http://schemas.openxmlformats.org/drawingml/2006/main">
            <a:off x="2304661" y="2511925"/>
            <a:ext cx="10972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D4A853"/>
                </a:solidFill>
                <a:latin typeface="Calibri"/>
                <a:ea typeface="Calibri"/>
                <a:cs typeface="Calibri"/>
              </a:rPr>
              <a:t>Where the thesis stops — and the path forward</a:t>
            </a:r>
          </a:p>
        </p:txBody>
      </p:sp>
      <p:sp>
        <p:nvSpPr>
          <p:cNvPr id="5" name="Shape 3">
            <a:extLst xmlns:a="http://schemas.openxmlformats.org/drawingml/2006/main">
              <a:ext uri="{FF2B5EF4-FFF2-40B4-BE49-F238E27FC236}">
                <a16:creationId xmlns:a16="http://schemas.microsoft.com/office/drawing/2014/main" id="{B28F9C37-D26F-44F9-929E-5DC1C7679681}"/>
              </a:ext>
            </a:extLst>
          </p:cNvPr>
          <p:cNvSpPr>
            <a:spLocks xmlns:a="http://schemas.openxmlformats.org/drawingml/2006/main" noGrp="1"/>
          </p:cNvSpPr>
          <p:nvPr/>
        </p:nvSpPr>
        <p:spPr>
          <a:xfrm xmlns:a="http://schemas.openxmlformats.org/drawingml/2006/main">
            <a:off x="2304661" y="2889877"/>
            <a:ext cx="10972800" cy="24384"/>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67815607-D485-4CB1-AE48-B7E13EAB7D9E}"/>
              </a:ext>
            </a:extLst>
          </p:cNvPr>
          <p:cNvSpPr>
            <a:spLocks xmlns:a="http://schemas.openxmlformats.org/drawingml/2006/main" noGrp="1"/>
          </p:cNvSpPr>
          <p:nvPr/>
        </p:nvSpPr>
        <p:spPr>
          <a:xfrm xmlns:a="http://schemas.openxmlformats.org/drawingml/2006/main">
            <a:off x="2243701" y="3036181"/>
            <a:ext cx="5242560" cy="46329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36F7032A-627C-4983-9E69-8FDCEBDBE920}"/>
              </a:ext>
            </a:extLst>
          </p:cNvPr>
          <p:cNvSpPr>
            <a:spLocks xmlns:a="http://schemas.openxmlformats.org/drawingml/2006/main" noGrp="1"/>
          </p:cNvSpPr>
          <p:nvPr/>
        </p:nvSpPr>
        <p:spPr>
          <a:xfrm xmlns:a="http://schemas.openxmlformats.org/drawingml/2006/main">
            <a:off x="2243701" y="3036181"/>
            <a:ext cx="524256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600" b="1">
                <a:solidFill>
                  <a:srgbClr val="FFFFFF"/>
                </a:solidFill>
                <a:latin typeface="Calibri"/>
                <a:ea typeface="Calibri"/>
                <a:cs typeface="Calibri"/>
              </a:rPr>
              <a:t>Current Limitations</a:t>
            </a:r>
          </a:p>
        </p:txBody>
      </p:sp>
      <p:sp>
        <p:nvSpPr>
          <p:cNvPr id="8" name="Shape 6">
            <a:extLst xmlns:a="http://schemas.openxmlformats.org/drawingml/2006/main">
              <a:ext uri="{FF2B5EF4-FFF2-40B4-BE49-F238E27FC236}">
                <a16:creationId xmlns:a16="http://schemas.microsoft.com/office/drawing/2014/main" id="{3DE1AAF9-1063-4920-8FE5-07597169B6ED}"/>
              </a:ext>
            </a:extLst>
          </p:cNvPr>
          <p:cNvSpPr>
            <a:spLocks xmlns:a="http://schemas.openxmlformats.org/drawingml/2006/main" noGrp="1"/>
          </p:cNvSpPr>
          <p:nvPr/>
        </p:nvSpPr>
        <p:spPr>
          <a:xfrm xmlns:a="http://schemas.openxmlformats.org/drawingml/2006/main">
            <a:off x="2243701" y="35970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748674E0-1E1C-4FC6-9D91-04081DF842FB}"/>
              </a:ext>
            </a:extLst>
          </p:cNvPr>
          <p:cNvSpPr>
            <a:spLocks xmlns:a="http://schemas.openxmlformats.org/drawingml/2006/main" noGrp="1"/>
          </p:cNvSpPr>
          <p:nvPr/>
        </p:nvSpPr>
        <p:spPr>
          <a:xfrm xmlns:a="http://schemas.openxmlformats.org/drawingml/2006/main">
            <a:off x="2243701" y="3597013"/>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51C7D768-0329-4AC2-8379-463B923528FB}"/>
              </a:ext>
            </a:extLst>
          </p:cNvPr>
          <p:cNvSpPr>
            <a:spLocks xmlns:a="http://schemas.openxmlformats.org/drawingml/2006/main" noGrp="1"/>
          </p:cNvSpPr>
          <p:nvPr/>
        </p:nvSpPr>
        <p:spPr>
          <a:xfrm xmlns:a="http://schemas.openxmlformats.org/drawingml/2006/main">
            <a:off x="2390005" y="36457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xmlns:a="http://schemas.openxmlformats.org/drawingml/2006/main">
              <a:ext uri="{FF2B5EF4-FFF2-40B4-BE49-F238E27FC236}">
                <a16:creationId xmlns:a16="http://schemas.microsoft.com/office/drawing/2014/main" id="{0184A6C4-CF53-4FB2-A27F-CBCADF277743}"/>
              </a:ext>
            </a:extLst>
          </p:cNvPr>
          <p:cNvSpPr>
            <a:spLocks xmlns:a="http://schemas.openxmlformats.org/drawingml/2006/main" noGrp="1"/>
          </p:cNvSpPr>
          <p:nvPr/>
        </p:nvSpPr>
        <p:spPr>
          <a:xfrm xmlns:a="http://schemas.openxmlformats.org/drawingml/2006/main">
            <a:off x="2243701" y="45114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B92B350B-DF96-4927-8519-925C011BEA0E}"/>
              </a:ext>
            </a:extLst>
          </p:cNvPr>
          <p:cNvSpPr>
            <a:spLocks xmlns:a="http://schemas.openxmlformats.org/drawingml/2006/main" noGrp="1"/>
          </p:cNvSpPr>
          <p:nvPr/>
        </p:nvSpPr>
        <p:spPr>
          <a:xfrm xmlns:a="http://schemas.openxmlformats.org/drawingml/2006/main">
            <a:off x="2243701" y="4511413"/>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083D0515-23FE-4504-BB76-C05D69775158}"/>
              </a:ext>
            </a:extLst>
          </p:cNvPr>
          <p:cNvSpPr>
            <a:spLocks xmlns:a="http://schemas.openxmlformats.org/drawingml/2006/main" noGrp="1"/>
          </p:cNvSpPr>
          <p:nvPr/>
        </p:nvSpPr>
        <p:spPr>
          <a:xfrm xmlns:a="http://schemas.openxmlformats.org/drawingml/2006/main">
            <a:off x="2390005" y="45601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xmlns:a="http://schemas.openxmlformats.org/drawingml/2006/main">
              <a:ext uri="{FF2B5EF4-FFF2-40B4-BE49-F238E27FC236}">
                <a16:creationId xmlns:a16="http://schemas.microsoft.com/office/drawing/2014/main" id="{F2E5A30E-FF3F-41FD-B6B6-0DDF09CD0123}"/>
              </a:ext>
            </a:extLst>
          </p:cNvPr>
          <p:cNvSpPr>
            <a:spLocks xmlns:a="http://schemas.openxmlformats.org/drawingml/2006/main" noGrp="1"/>
          </p:cNvSpPr>
          <p:nvPr/>
        </p:nvSpPr>
        <p:spPr>
          <a:xfrm xmlns:a="http://schemas.openxmlformats.org/drawingml/2006/main">
            <a:off x="2243701" y="54258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65F5C79C-8E09-424B-92AF-012050EA680C}"/>
              </a:ext>
            </a:extLst>
          </p:cNvPr>
          <p:cNvSpPr>
            <a:spLocks xmlns:a="http://schemas.openxmlformats.org/drawingml/2006/main" noGrp="1"/>
          </p:cNvSpPr>
          <p:nvPr/>
        </p:nvSpPr>
        <p:spPr>
          <a:xfrm xmlns:a="http://schemas.openxmlformats.org/drawingml/2006/main">
            <a:off x="2243701" y="5425813"/>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46D14793-19FE-4F1D-B311-08AD209D34ED}"/>
              </a:ext>
            </a:extLst>
          </p:cNvPr>
          <p:cNvSpPr>
            <a:spLocks xmlns:a="http://schemas.openxmlformats.org/drawingml/2006/main" noGrp="1"/>
          </p:cNvSpPr>
          <p:nvPr/>
        </p:nvSpPr>
        <p:spPr>
          <a:xfrm xmlns:a="http://schemas.openxmlformats.org/drawingml/2006/main">
            <a:off x="2390005" y="54745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xmlns:a="http://schemas.openxmlformats.org/drawingml/2006/main">
              <a:ext uri="{FF2B5EF4-FFF2-40B4-BE49-F238E27FC236}">
                <a16:creationId xmlns:a16="http://schemas.microsoft.com/office/drawing/2014/main" id="{0E7CD680-6BFF-4C23-89EE-57EFB67F1729}"/>
              </a:ext>
            </a:extLst>
          </p:cNvPr>
          <p:cNvSpPr>
            <a:spLocks xmlns:a="http://schemas.openxmlformats.org/drawingml/2006/main" noGrp="1"/>
          </p:cNvSpPr>
          <p:nvPr/>
        </p:nvSpPr>
        <p:spPr>
          <a:xfrm xmlns:a="http://schemas.openxmlformats.org/drawingml/2006/main">
            <a:off x="2243701" y="63402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00B586F2-5474-4C5F-9237-443ED6C6BC62}"/>
              </a:ext>
            </a:extLst>
          </p:cNvPr>
          <p:cNvSpPr>
            <a:spLocks xmlns:a="http://schemas.openxmlformats.org/drawingml/2006/main" noGrp="1"/>
          </p:cNvSpPr>
          <p:nvPr/>
        </p:nvSpPr>
        <p:spPr>
          <a:xfrm xmlns:a="http://schemas.openxmlformats.org/drawingml/2006/main">
            <a:off x="2243701" y="6340213"/>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E9D14B6D-3F2E-4BAC-AA47-BEFB422D268B}"/>
              </a:ext>
            </a:extLst>
          </p:cNvPr>
          <p:cNvSpPr>
            <a:spLocks xmlns:a="http://schemas.openxmlformats.org/drawingml/2006/main" noGrp="1"/>
          </p:cNvSpPr>
          <p:nvPr/>
        </p:nvSpPr>
        <p:spPr>
          <a:xfrm xmlns:a="http://schemas.openxmlformats.org/drawingml/2006/main">
            <a:off x="2390005" y="63889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xmlns:a="http://schemas.openxmlformats.org/drawingml/2006/main">
              <a:ext uri="{FF2B5EF4-FFF2-40B4-BE49-F238E27FC236}">
                <a16:creationId xmlns:a16="http://schemas.microsoft.com/office/drawing/2014/main" id="{FDD55505-D4F7-43FD-BD86-AA93F7E07CBB}"/>
              </a:ext>
            </a:extLst>
          </p:cNvPr>
          <p:cNvSpPr>
            <a:spLocks xmlns:a="http://schemas.openxmlformats.org/drawingml/2006/main" noGrp="1"/>
          </p:cNvSpPr>
          <p:nvPr/>
        </p:nvSpPr>
        <p:spPr>
          <a:xfrm xmlns:a="http://schemas.openxmlformats.org/drawingml/2006/main">
            <a:off x="2243701" y="72546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1" name="Shape 19">
            <a:extLst xmlns:a="http://schemas.openxmlformats.org/drawingml/2006/main">
              <a:ext uri="{FF2B5EF4-FFF2-40B4-BE49-F238E27FC236}">
                <a16:creationId xmlns:a16="http://schemas.microsoft.com/office/drawing/2014/main" id="{F9331A7E-6A79-4FF2-AE22-1EFE6678FE3D}"/>
              </a:ext>
            </a:extLst>
          </p:cNvPr>
          <p:cNvSpPr>
            <a:spLocks xmlns:a="http://schemas.openxmlformats.org/drawingml/2006/main" noGrp="1"/>
          </p:cNvSpPr>
          <p:nvPr/>
        </p:nvSpPr>
        <p:spPr>
          <a:xfrm xmlns:a="http://schemas.openxmlformats.org/drawingml/2006/main">
            <a:off x="2243701" y="7254613"/>
            <a:ext cx="73152" cy="853440"/>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85684915-BD9A-43E8-A6A5-FBE4A5EDDD3A}"/>
              </a:ext>
            </a:extLst>
          </p:cNvPr>
          <p:cNvSpPr>
            <a:spLocks xmlns:a="http://schemas.openxmlformats.org/drawingml/2006/main" noGrp="1"/>
          </p:cNvSpPr>
          <p:nvPr/>
        </p:nvSpPr>
        <p:spPr>
          <a:xfrm xmlns:a="http://schemas.openxmlformats.org/drawingml/2006/main">
            <a:off x="2390005" y="73033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xmlns:a="http://schemas.openxmlformats.org/drawingml/2006/main">
              <a:ext uri="{FF2B5EF4-FFF2-40B4-BE49-F238E27FC236}">
                <a16:creationId xmlns:a16="http://schemas.microsoft.com/office/drawing/2014/main" id="{7F8445CA-60DE-460A-B30B-146DF76F0D79}"/>
              </a:ext>
            </a:extLst>
          </p:cNvPr>
          <p:cNvSpPr>
            <a:spLocks xmlns:a="http://schemas.openxmlformats.org/drawingml/2006/main" noGrp="1"/>
          </p:cNvSpPr>
          <p:nvPr/>
        </p:nvSpPr>
        <p:spPr>
          <a:xfrm xmlns:a="http://schemas.openxmlformats.org/drawingml/2006/main">
            <a:off x="8095861" y="3036181"/>
            <a:ext cx="5242560" cy="46329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1F95EAD6-816F-4EDD-90F4-E5B17E3228D8}"/>
              </a:ext>
            </a:extLst>
          </p:cNvPr>
          <p:cNvSpPr>
            <a:spLocks xmlns:a="http://schemas.openxmlformats.org/drawingml/2006/main" noGrp="1"/>
          </p:cNvSpPr>
          <p:nvPr/>
        </p:nvSpPr>
        <p:spPr>
          <a:xfrm xmlns:a="http://schemas.openxmlformats.org/drawingml/2006/main">
            <a:off x="8095861" y="3036181"/>
            <a:ext cx="5242560"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600" b="1">
                <a:solidFill>
                  <a:srgbClr val="FFFFFF"/>
                </a:solidFill>
                <a:latin typeface="Calibri"/>
                <a:ea typeface="Calibri"/>
                <a:cs typeface="Calibri"/>
              </a:rPr>
              <a:t>Future Work</a:t>
            </a:r>
          </a:p>
        </p:txBody>
      </p:sp>
      <p:sp>
        <p:nvSpPr>
          <p:cNvPr id="25" name="Shape 23">
            <a:extLst xmlns:a="http://schemas.openxmlformats.org/drawingml/2006/main">
              <a:ext uri="{FF2B5EF4-FFF2-40B4-BE49-F238E27FC236}">
                <a16:creationId xmlns:a16="http://schemas.microsoft.com/office/drawing/2014/main" id="{70DC858F-ADD5-436B-BF7B-3F5066D6404B}"/>
              </a:ext>
            </a:extLst>
          </p:cNvPr>
          <p:cNvSpPr>
            <a:spLocks xmlns:a="http://schemas.openxmlformats.org/drawingml/2006/main" noGrp="1"/>
          </p:cNvSpPr>
          <p:nvPr/>
        </p:nvSpPr>
        <p:spPr>
          <a:xfrm xmlns:a="http://schemas.openxmlformats.org/drawingml/2006/main">
            <a:off x="8095861" y="35970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6" name="Shape 24">
            <a:extLst xmlns:a="http://schemas.openxmlformats.org/drawingml/2006/main">
              <a:ext uri="{FF2B5EF4-FFF2-40B4-BE49-F238E27FC236}">
                <a16:creationId xmlns:a16="http://schemas.microsoft.com/office/drawing/2014/main" id="{52BCC8CE-E465-4697-BFCA-E2177FD671C6}"/>
              </a:ext>
            </a:extLst>
          </p:cNvPr>
          <p:cNvSpPr>
            <a:spLocks xmlns:a="http://schemas.openxmlformats.org/drawingml/2006/main" noGrp="1"/>
          </p:cNvSpPr>
          <p:nvPr/>
        </p:nvSpPr>
        <p:spPr>
          <a:xfrm xmlns:a="http://schemas.openxmlformats.org/drawingml/2006/main">
            <a:off x="8095861" y="3597013"/>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64C536CF-D23E-44F7-8BB9-570CB187731D}"/>
              </a:ext>
            </a:extLst>
          </p:cNvPr>
          <p:cNvSpPr>
            <a:spLocks xmlns:a="http://schemas.openxmlformats.org/drawingml/2006/main" noGrp="1"/>
          </p:cNvSpPr>
          <p:nvPr/>
        </p:nvSpPr>
        <p:spPr>
          <a:xfrm xmlns:a="http://schemas.openxmlformats.org/drawingml/2006/main">
            <a:off x="8242165" y="36457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xmlns:a="http://schemas.openxmlformats.org/drawingml/2006/main">
              <a:ext uri="{FF2B5EF4-FFF2-40B4-BE49-F238E27FC236}">
                <a16:creationId xmlns:a16="http://schemas.microsoft.com/office/drawing/2014/main" id="{DBFA665D-F768-453E-A971-0843E2616AA0}"/>
              </a:ext>
            </a:extLst>
          </p:cNvPr>
          <p:cNvSpPr>
            <a:spLocks xmlns:a="http://schemas.openxmlformats.org/drawingml/2006/main" noGrp="1"/>
          </p:cNvSpPr>
          <p:nvPr/>
        </p:nvSpPr>
        <p:spPr>
          <a:xfrm xmlns:a="http://schemas.openxmlformats.org/drawingml/2006/main">
            <a:off x="8095861" y="45114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C36848AF-5B27-4A6C-AFB6-CAE81071D4E6}"/>
              </a:ext>
            </a:extLst>
          </p:cNvPr>
          <p:cNvSpPr>
            <a:spLocks xmlns:a="http://schemas.openxmlformats.org/drawingml/2006/main" noGrp="1"/>
          </p:cNvSpPr>
          <p:nvPr/>
        </p:nvSpPr>
        <p:spPr>
          <a:xfrm xmlns:a="http://schemas.openxmlformats.org/drawingml/2006/main">
            <a:off x="8095861" y="4511413"/>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0DA804CF-03C2-4FDF-8FA5-BBD474F9B0CC}"/>
              </a:ext>
            </a:extLst>
          </p:cNvPr>
          <p:cNvSpPr>
            <a:spLocks xmlns:a="http://schemas.openxmlformats.org/drawingml/2006/main" noGrp="1"/>
          </p:cNvSpPr>
          <p:nvPr/>
        </p:nvSpPr>
        <p:spPr>
          <a:xfrm xmlns:a="http://schemas.openxmlformats.org/drawingml/2006/main">
            <a:off x="8242165" y="45601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xmlns:a="http://schemas.openxmlformats.org/drawingml/2006/main">
              <a:ext uri="{FF2B5EF4-FFF2-40B4-BE49-F238E27FC236}">
                <a16:creationId xmlns:a16="http://schemas.microsoft.com/office/drawing/2014/main" id="{0397B3B4-6C44-4D46-B4E1-1C2E6852CB46}"/>
              </a:ext>
            </a:extLst>
          </p:cNvPr>
          <p:cNvSpPr>
            <a:spLocks xmlns:a="http://schemas.openxmlformats.org/drawingml/2006/main" noGrp="1"/>
          </p:cNvSpPr>
          <p:nvPr/>
        </p:nvSpPr>
        <p:spPr>
          <a:xfrm xmlns:a="http://schemas.openxmlformats.org/drawingml/2006/main">
            <a:off x="8095861" y="54258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2" name="Shape 30">
            <a:extLst xmlns:a="http://schemas.openxmlformats.org/drawingml/2006/main">
              <a:ext uri="{FF2B5EF4-FFF2-40B4-BE49-F238E27FC236}">
                <a16:creationId xmlns:a16="http://schemas.microsoft.com/office/drawing/2014/main" id="{0ED02C5A-0D57-4407-97FE-6812934CE842}"/>
              </a:ext>
            </a:extLst>
          </p:cNvPr>
          <p:cNvSpPr>
            <a:spLocks xmlns:a="http://schemas.openxmlformats.org/drawingml/2006/main" noGrp="1"/>
          </p:cNvSpPr>
          <p:nvPr/>
        </p:nvSpPr>
        <p:spPr>
          <a:xfrm xmlns:a="http://schemas.openxmlformats.org/drawingml/2006/main">
            <a:off x="8095861" y="5425813"/>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82355F60-A0C1-42FE-908C-F306390CF63B}"/>
              </a:ext>
            </a:extLst>
          </p:cNvPr>
          <p:cNvSpPr>
            <a:spLocks xmlns:a="http://schemas.openxmlformats.org/drawingml/2006/main" noGrp="1"/>
          </p:cNvSpPr>
          <p:nvPr/>
        </p:nvSpPr>
        <p:spPr>
          <a:xfrm xmlns:a="http://schemas.openxmlformats.org/drawingml/2006/main">
            <a:off x="8242165" y="54745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xmlns:a="http://schemas.openxmlformats.org/drawingml/2006/main">
              <a:ext uri="{FF2B5EF4-FFF2-40B4-BE49-F238E27FC236}">
                <a16:creationId xmlns:a16="http://schemas.microsoft.com/office/drawing/2014/main" id="{3AC1D101-2EDF-498F-AA4E-925FB055EF9A}"/>
              </a:ext>
            </a:extLst>
          </p:cNvPr>
          <p:cNvSpPr>
            <a:spLocks xmlns:a="http://schemas.openxmlformats.org/drawingml/2006/main" noGrp="1"/>
          </p:cNvSpPr>
          <p:nvPr/>
        </p:nvSpPr>
        <p:spPr>
          <a:xfrm xmlns:a="http://schemas.openxmlformats.org/drawingml/2006/main">
            <a:off x="8095861" y="63402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5" name="Shape 33">
            <a:extLst xmlns:a="http://schemas.openxmlformats.org/drawingml/2006/main">
              <a:ext uri="{FF2B5EF4-FFF2-40B4-BE49-F238E27FC236}">
                <a16:creationId xmlns:a16="http://schemas.microsoft.com/office/drawing/2014/main" id="{A5248B40-1F25-4B0D-AF7F-B2E52FD9538B}"/>
              </a:ext>
            </a:extLst>
          </p:cNvPr>
          <p:cNvSpPr>
            <a:spLocks xmlns:a="http://schemas.openxmlformats.org/drawingml/2006/main" noGrp="1"/>
          </p:cNvSpPr>
          <p:nvPr/>
        </p:nvSpPr>
        <p:spPr>
          <a:xfrm xmlns:a="http://schemas.openxmlformats.org/drawingml/2006/main">
            <a:off x="8095861" y="6340213"/>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3E80B581-62F1-49B1-89F9-2C52E59EBAA2}"/>
              </a:ext>
            </a:extLst>
          </p:cNvPr>
          <p:cNvSpPr>
            <a:spLocks xmlns:a="http://schemas.openxmlformats.org/drawingml/2006/main" noGrp="1"/>
          </p:cNvSpPr>
          <p:nvPr/>
        </p:nvSpPr>
        <p:spPr>
          <a:xfrm xmlns:a="http://schemas.openxmlformats.org/drawingml/2006/main">
            <a:off x="8242165" y="63889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xmlns:a="http://schemas.openxmlformats.org/drawingml/2006/main">
              <a:ext uri="{FF2B5EF4-FFF2-40B4-BE49-F238E27FC236}">
                <a16:creationId xmlns:a16="http://schemas.microsoft.com/office/drawing/2014/main" id="{0E2CCB2B-8D4E-4393-8602-27D5D078D149}"/>
              </a:ext>
            </a:extLst>
          </p:cNvPr>
          <p:cNvSpPr>
            <a:spLocks xmlns:a="http://schemas.openxmlformats.org/drawingml/2006/main" noGrp="1"/>
          </p:cNvSpPr>
          <p:nvPr/>
        </p:nvSpPr>
        <p:spPr>
          <a:xfrm xmlns:a="http://schemas.openxmlformats.org/drawingml/2006/main">
            <a:off x="8095861" y="7254613"/>
            <a:ext cx="5242560" cy="853440"/>
          </a:xfrm>
          <a:prstGeom xmlns:a="http://schemas.openxmlformats.org/drawingml/2006/main" prst="rect">
            <a:avLst/>
          </a:prstGeom>
          <a:solidFill xmlns:a="http://schemas.openxmlformats.org/drawingml/2006/main">
            <a:srgbClr val="D8E2EE"/>
          </a:solidFill>
          <a:ln xmlns:a="http://schemas.openxmlformats.org/drawingml/2006/main" w="12700">
            <a:solidFill>
              <a:srgbClr val="D8E2EE"/>
            </a:solidFill>
            <a:prstDash val="solid"/>
          </a:ln>
        </p:spPr>
        <p:txBody>
          <a:bodyPr xmlns:a="http://schemas.openxmlformats.org/drawingml/2006/main"/>
          <a:lstStyle xmlns:a="http://schemas.openxmlformats.org/drawingml/2006/main"/>
          <a:p xmlns:a="http://schemas.openxmlformats.org/drawingml/2006/main"/>
        </p:txBody>
      </p:sp>
      <p:sp>
        <p:nvSpPr>
          <p:cNvPr id="38" name="Shape 36">
            <a:extLst xmlns:a="http://schemas.openxmlformats.org/drawingml/2006/main">
              <a:ext uri="{FF2B5EF4-FFF2-40B4-BE49-F238E27FC236}">
                <a16:creationId xmlns:a16="http://schemas.microsoft.com/office/drawing/2014/main" id="{AE8F5935-69CA-43C1-875E-41FAEEBD0ECA}"/>
              </a:ext>
            </a:extLst>
          </p:cNvPr>
          <p:cNvSpPr>
            <a:spLocks xmlns:a="http://schemas.openxmlformats.org/drawingml/2006/main" noGrp="1"/>
          </p:cNvSpPr>
          <p:nvPr/>
        </p:nvSpPr>
        <p:spPr>
          <a:xfrm xmlns:a="http://schemas.openxmlformats.org/drawingml/2006/main">
            <a:off x="8095861" y="7254613"/>
            <a:ext cx="73152" cy="853440"/>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39" name="Text 37">
            <a:extLst xmlns:a="http://schemas.openxmlformats.org/drawingml/2006/main">
              <a:ext uri="{FF2B5EF4-FFF2-40B4-BE49-F238E27FC236}">
                <a16:creationId xmlns:a16="http://schemas.microsoft.com/office/drawing/2014/main" id="{2A37E8BD-ECE4-4170-8845-797518910FCC}"/>
              </a:ext>
            </a:extLst>
          </p:cNvPr>
          <p:cNvSpPr>
            <a:spLocks xmlns:a="http://schemas.openxmlformats.org/drawingml/2006/main" noGrp="1"/>
          </p:cNvSpPr>
          <p:nvPr/>
        </p:nvSpPr>
        <p:spPr>
          <a:xfrm xmlns:a="http://schemas.openxmlformats.org/drawingml/2006/main">
            <a:off x="8242165" y="7303381"/>
            <a:ext cx="5035296" cy="780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24728570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9" name="Rectangle 28"/>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44474CA5-84F6-4B39-A993-4EFD04FC1368}"/>
              </a:ext>
            </a:extLst>
          </p:cNvPr>
          <p:cNvSpPr>
            <a:spLocks xmlns:a="http://schemas.openxmlformats.org/drawingml/2006/main" noGrp="1"/>
          </p:cNvSpPr>
          <p:nvPr/>
        </p:nvSpPr>
        <p:spPr>
          <a:xfrm xmlns:a="http://schemas.openxmlformats.org/drawingml/2006/main">
            <a:off x="1695061" y="1695061"/>
            <a:ext cx="12192000" cy="73152"/>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9C1F400-6EF2-4F88-B037-23831C66DFAC}"/>
              </a:ext>
            </a:extLst>
          </p:cNvPr>
          <p:cNvSpPr>
            <a:spLocks xmlns:a="http://schemas.openxmlformats.org/drawingml/2006/main" noGrp="1"/>
          </p:cNvSpPr>
          <p:nvPr/>
        </p:nvSpPr>
        <p:spPr>
          <a:xfrm xmlns:a="http://schemas.openxmlformats.org/drawingml/2006/main">
            <a:off x="2304661" y="1841365"/>
            <a:ext cx="10972800" cy="670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FFFFFF"/>
                </a:solidFill>
                <a:latin typeface="Calibri"/>
                <a:ea typeface="Calibri"/>
                <a:cs typeface="Calibri"/>
              </a:rPr>
              <a:t>Conclusions</a:t>
            </a:r>
          </a:p>
        </p:txBody>
      </p:sp>
      <p:sp>
        <p:nvSpPr>
          <p:cNvPr id="4" name="Shape 2">
            <a:extLst xmlns:a="http://schemas.openxmlformats.org/drawingml/2006/main">
              <a:ext uri="{FF2B5EF4-FFF2-40B4-BE49-F238E27FC236}">
                <a16:creationId xmlns:a16="http://schemas.microsoft.com/office/drawing/2014/main" id="{0A7B995C-D0CD-446E-BDA7-8BE68D77DBB6}"/>
              </a:ext>
            </a:extLst>
          </p:cNvPr>
          <p:cNvSpPr>
            <a:spLocks xmlns:a="http://schemas.openxmlformats.org/drawingml/2006/main" noGrp="1"/>
          </p:cNvSpPr>
          <p:nvPr/>
        </p:nvSpPr>
        <p:spPr>
          <a:xfrm xmlns:a="http://schemas.openxmlformats.org/drawingml/2006/main">
            <a:off x="2304661" y="2572885"/>
            <a:ext cx="10972800" cy="24384"/>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8A5E06D-0558-48F6-82F2-9B62FA7AEF58}"/>
              </a:ext>
            </a:extLst>
          </p:cNvPr>
          <p:cNvSpPr>
            <a:spLocks xmlns:a="http://schemas.openxmlformats.org/drawingml/2006/main" noGrp="1"/>
          </p:cNvSpPr>
          <p:nvPr/>
        </p:nvSpPr>
        <p:spPr>
          <a:xfrm xmlns:a="http://schemas.openxmlformats.org/drawingml/2006/main">
            <a:off x="2243701" y="2719189"/>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2145B751-E7DC-4779-ACA5-EB4927C008E8}"/>
              </a:ext>
            </a:extLst>
          </p:cNvPr>
          <p:cNvSpPr>
            <a:spLocks xmlns:a="http://schemas.openxmlformats.org/drawingml/2006/main" noGrp="1"/>
          </p:cNvSpPr>
          <p:nvPr/>
        </p:nvSpPr>
        <p:spPr>
          <a:xfrm xmlns:a="http://schemas.openxmlformats.org/drawingml/2006/main">
            <a:off x="2243701" y="2719189"/>
            <a:ext cx="85344" cy="1682496"/>
          </a:xfrm>
          <a:prstGeom xmlns:a="http://schemas.openxmlformats.org/drawingml/2006/main" prst="rect">
            <a:avLst/>
          </a:prstGeom>
          <a:solidFill xmlns:a="http://schemas.openxmlformats.org/drawingml/2006/main">
            <a:srgbClr val="1A7A4A"/>
          </a:solidFill>
          <a:ln xmlns:a="http://schemas.openxmlformats.org/drawingml/2006/main" w="12700">
            <a:solidFill>
              <a:srgbClr val="1A7A4A"/>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CE8D8FC-639E-4161-BDFC-E74F67181500}"/>
              </a:ext>
            </a:extLst>
          </p:cNvPr>
          <p:cNvSpPr>
            <a:spLocks xmlns:a="http://schemas.openxmlformats.org/drawingml/2006/main" noGrp="1"/>
          </p:cNvSpPr>
          <p:nvPr/>
        </p:nvSpPr>
        <p:spPr>
          <a:xfrm xmlns:a="http://schemas.openxmlformats.org/drawingml/2006/main">
            <a:off x="2450965" y="2804533"/>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1A7A4A"/>
                </a:solidFill>
                <a:latin typeface="Calibri"/>
                <a:ea typeface="Calibri"/>
                <a:cs typeface="Calibri"/>
              </a:rPr>
              <a:t>GOAL 1 ✓ ACHIEVED</a:t>
            </a:r>
          </a:p>
        </p:txBody>
      </p:sp>
      <p:sp>
        <p:nvSpPr>
          <p:cNvPr id="8" name="Text 6">
            <a:extLst xmlns:a="http://schemas.openxmlformats.org/drawingml/2006/main">
              <a:ext uri="{FF2B5EF4-FFF2-40B4-BE49-F238E27FC236}">
                <a16:creationId xmlns:a16="http://schemas.microsoft.com/office/drawing/2014/main" id="{294EAC0E-280C-4F76-B5F6-6DD4C002E8B8}"/>
              </a:ext>
            </a:extLst>
          </p:cNvPr>
          <p:cNvSpPr>
            <a:spLocks xmlns:a="http://schemas.openxmlformats.org/drawingml/2006/main" noGrp="1"/>
          </p:cNvSpPr>
          <p:nvPr/>
        </p:nvSpPr>
        <p:spPr>
          <a:xfrm xmlns:a="http://schemas.openxmlformats.org/drawingml/2006/main">
            <a:off x="2450965" y="3170293"/>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Rule Discovery Succeeds</a:t>
            </a:r>
          </a:p>
        </p:txBody>
      </p:sp>
      <p:sp>
        <p:nvSpPr>
          <p:cNvPr id="9" name="Text 7">
            <a:extLst xmlns:a="http://schemas.openxmlformats.org/drawingml/2006/main">
              <a:ext uri="{FF2B5EF4-FFF2-40B4-BE49-F238E27FC236}">
                <a16:creationId xmlns:a16="http://schemas.microsoft.com/office/drawing/2014/main" id="{9FF01DD0-6207-4A29-97A3-7ECDCB63A00F}"/>
              </a:ext>
            </a:extLst>
          </p:cNvPr>
          <p:cNvSpPr>
            <a:spLocks xmlns:a="http://schemas.openxmlformats.org/drawingml/2006/main" noGrp="1"/>
          </p:cNvSpPr>
          <p:nvPr/>
        </p:nvSpPr>
        <p:spPr>
          <a:xfrm xmlns:a="http://schemas.openxmlformats.org/drawingml/2006/main">
            <a:off x="2450965" y="3633589"/>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xmlns:a="http://schemas.openxmlformats.org/drawingml/2006/main">
              <a:ext uri="{FF2B5EF4-FFF2-40B4-BE49-F238E27FC236}">
                <a16:creationId xmlns:a16="http://schemas.microsoft.com/office/drawing/2014/main" id="{9A15DE08-6BCE-41E3-8B1C-0E91D6B36160}"/>
              </a:ext>
            </a:extLst>
          </p:cNvPr>
          <p:cNvSpPr>
            <a:spLocks xmlns:a="http://schemas.openxmlformats.org/drawingml/2006/main" noGrp="1"/>
          </p:cNvSpPr>
          <p:nvPr/>
        </p:nvSpPr>
        <p:spPr>
          <a:xfrm xmlns:a="http://schemas.openxmlformats.org/drawingml/2006/main">
            <a:off x="2243701" y="4523605"/>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1" name="Shape 9">
            <a:extLst xmlns:a="http://schemas.openxmlformats.org/drawingml/2006/main">
              <a:ext uri="{FF2B5EF4-FFF2-40B4-BE49-F238E27FC236}">
                <a16:creationId xmlns:a16="http://schemas.microsoft.com/office/drawing/2014/main" id="{267658AE-B541-4870-B164-0211834EA087}"/>
              </a:ext>
            </a:extLst>
          </p:cNvPr>
          <p:cNvSpPr>
            <a:spLocks xmlns:a="http://schemas.openxmlformats.org/drawingml/2006/main" noGrp="1"/>
          </p:cNvSpPr>
          <p:nvPr/>
        </p:nvSpPr>
        <p:spPr>
          <a:xfrm xmlns:a="http://schemas.openxmlformats.org/drawingml/2006/main">
            <a:off x="2243701" y="4523605"/>
            <a:ext cx="85344" cy="1682496"/>
          </a:xfrm>
          <a:prstGeom xmlns:a="http://schemas.openxmlformats.org/drawingml/2006/main" prst="rect">
            <a:avLst/>
          </a:prstGeom>
          <a:solidFill xmlns:a="http://schemas.openxmlformats.org/drawingml/2006/main">
            <a:srgbClr val="B03A2E"/>
          </a:solidFill>
          <a:ln xmlns:a="http://schemas.openxmlformats.org/drawingml/2006/main" w="12700">
            <a:solidFill>
              <a:srgbClr val="B03A2E"/>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900B031C-5AD0-4DA8-AE6B-C6BBA3F2093E}"/>
              </a:ext>
            </a:extLst>
          </p:cNvPr>
          <p:cNvSpPr>
            <a:spLocks xmlns:a="http://schemas.openxmlformats.org/drawingml/2006/main" noGrp="1"/>
          </p:cNvSpPr>
          <p:nvPr/>
        </p:nvSpPr>
        <p:spPr>
          <a:xfrm xmlns:a="http://schemas.openxmlformats.org/drawingml/2006/main">
            <a:off x="2450965" y="4608949"/>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B03A2E"/>
                </a:solidFill>
                <a:latin typeface="Calibri"/>
                <a:ea typeface="Calibri"/>
                <a:cs typeface="Calibri"/>
              </a:rPr>
              <a:t>GOAL 2 ✗ NOT ACHIEVED</a:t>
            </a:r>
          </a:p>
        </p:txBody>
      </p:sp>
      <p:sp>
        <p:nvSpPr>
          <p:cNvPr id="13" name="Text 11">
            <a:extLst xmlns:a="http://schemas.openxmlformats.org/drawingml/2006/main">
              <a:ext uri="{FF2B5EF4-FFF2-40B4-BE49-F238E27FC236}">
                <a16:creationId xmlns:a16="http://schemas.microsoft.com/office/drawing/2014/main" id="{589B19DE-D242-4540-B896-AFDA0299BE26}"/>
              </a:ext>
            </a:extLst>
          </p:cNvPr>
          <p:cNvSpPr>
            <a:spLocks xmlns:a="http://schemas.openxmlformats.org/drawingml/2006/main" noGrp="1"/>
          </p:cNvSpPr>
          <p:nvPr/>
        </p:nvSpPr>
        <p:spPr>
          <a:xfrm xmlns:a="http://schemas.openxmlformats.org/drawingml/2006/main">
            <a:off x="2450965" y="4974709"/>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Prediction Fails in Aggregate — Structurally Explained</a:t>
            </a:r>
          </a:p>
        </p:txBody>
      </p:sp>
      <p:sp>
        <p:nvSpPr>
          <p:cNvPr id="14" name="Text 12">
            <a:extLst xmlns:a="http://schemas.openxmlformats.org/drawingml/2006/main">
              <a:ext uri="{FF2B5EF4-FFF2-40B4-BE49-F238E27FC236}">
                <a16:creationId xmlns:a16="http://schemas.microsoft.com/office/drawing/2014/main" id="{85927F7C-3BE8-4911-8BED-7BEC51A43C28}"/>
              </a:ext>
            </a:extLst>
          </p:cNvPr>
          <p:cNvSpPr>
            <a:spLocks xmlns:a="http://schemas.openxmlformats.org/drawingml/2006/main" noGrp="1"/>
          </p:cNvSpPr>
          <p:nvPr/>
        </p:nvSpPr>
        <p:spPr>
          <a:xfrm xmlns:a="http://schemas.openxmlformats.org/drawingml/2006/main">
            <a:off x="2450965" y="5438005"/>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xmlns:a="http://schemas.openxmlformats.org/drawingml/2006/main">
              <a:ext uri="{FF2B5EF4-FFF2-40B4-BE49-F238E27FC236}">
                <a16:creationId xmlns:a16="http://schemas.microsoft.com/office/drawing/2014/main" id="{758721F8-8190-4CA5-8302-610B08078571}"/>
              </a:ext>
            </a:extLst>
          </p:cNvPr>
          <p:cNvSpPr>
            <a:spLocks xmlns:a="http://schemas.openxmlformats.org/drawingml/2006/main" noGrp="1"/>
          </p:cNvSpPr>
          <p:nvPr/>
        </p:nvSpPr>
        <p:spPr>
          <a:xfrm xmlns:a="http://schemas.openxmlformats.org/drawingml/2006/main">
            <a:off x="2243701" y="6328021"/>
            <a:ext cx="11094720" cy="1682496"/>
          </a:xfrm>
          <a:prstGeom xmlns:a="http://schemas.openxmlformats.org/drawingml/2006/main" prst="rect">
            <a:avLst/>
          </a:prstGeom>
          <a:solidFill xmlns:a="http://schemas.openxmlformats.org/drawingml/2006/main">
            <a:srgbClr val="253756"/>
          </a:solidFill>
          <a:ln xmlns:a="http://schemas.openxmlformats.org/drawingml/2006/main" w="12700">
            <a:solidFill>
              <a:srgbClr val="253756"/>
            </a:solidFill>
            <a:prstDash val="solid"/>
          </a:ln>
        </p:spPr>
        <p:txBody>
          <a:bodyPr xmlns:a="http://schemas.openxmlformats.org/drawingml/2006/main"/>
          <a:lstStyle xmlns:a="http://schemas.openxmlformats.org/drawingml/2006/main"/>
          <a:p xmlns:a="http://schemas.openxmlformats.org/drawingml/2006/main"/>
        </p:txBody>
      </p:sp>
      <p:sp>
        <p:nvSpPr>
          <p:cNvPr id="16" name="Shape 14">
            <a:extLst xmlns:a="http://schemas.openxmlformats.org/drawingml/2006/main">
              <a:ext uri="{FF2B5EF4-FFF2-40B4-BE49-F238E27FC236}">
                <a16:creationId xmlns:a16="http://schemas.microsoft.com/office/drawing/2014/main" id="{1E7A640C-C285-4B79-8FB2-C8BF591B26FA}"/>
              </a:ext>
            </a:extLst>
          </p:cNvPr>
          <p:cNvSpPr>
            <a:spLocks xmlns:a="http://schemas.openxmlformats.org/drawingml/2006/main" noGrp="1"/>
          </p:cNvSpPr>
          <p:nvPr/>
        </p:nvSpPr>
        <p:spPr>
          <a:xfrm xmlns:a="http://schemas.openxmlformats.org/drawingml/2006/main">
            <a:off x="2243701" y="6328021"/>
            <a:ext cx="85344" cy="1682496"/>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89ED8581-07D6-488A-A5F6-90CA733A355E}"/>
              </a:ext>
            </a:extLst>
          </p:cNvPr>
          <p:cNvSpPr>
            <a:spLocks xmlns:a="http://schemas.openxmlformats.org/drawingml/2006/main" noGrp="1"/>
          </p:cNvSpPr>
          <p:nvPr/>
        </p:nvSpPr>
        <p:spPr>
          <a:xfrm xmlns:a="http://schemas.openxmlformats.org/drawingml/2006/main">
            <a:off x="2450965" y="6413365"/>
            <a:ext cx="3048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33" b="1">
                <a:solidFill>
                  <a:srgbClr val="D4A853"/>
                </a:solidFill>
                <a:latin typeface="Calibri"/>
                <a:ea typeface="Calibri"/>
                <a:cs typeface="Calibri"/>
              </a:rPr>
              <a:t>CORE INSIGHT</a:t>
            </a:r>
          </a:p>
        </p:txBody>
      </p:sp>
      <p:sp>
        <p:nvSpPr>
          <p:cNvPr id="18" name="Text 16">
            <a:extLst xmlns:a="http://schemas.openxmlformats.org/drawingml/2006/main">
              <a:ext uri="{FF2B5EF4-FFF2-40B4-BE49-F238E27FC236}">
                <a16:creationId xmlns:a16="http://schemas.microsoft.com/office/drawing/2014/main" id="{67D3ADAC-8CF2-4036-93DD-652E15744814}"/>
              </a:ext>
            </a:extLst>
          </p:cNvPr>
          <p:cNvSpPr>
            <a:spLocks xmlns:a="http://schemas.openxmlformats.org/drawingml/2006/main" noGrp="1"/>
          </p:cNvSpPr>
          <p:nvPr/>
        </p:nvSpPr>
        <p:spPr>
          <a:xfrm xmlns:a="http://schemas.openxmlformats.org/drawingml/2006/main">
            <a:off x="2450965" y="6779125"/>
            <a:ext cx="10680192" cy="4632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FFFFFF"/>
                </a:solidFill>
                <a:latin typeface="Calibri"/>
                <a:ea typeface="Calibri"/>
                <a:cs typeface="Calibri"/>
              </a:rPr>
              <a:t>Explanation ≠ Prediction — and the Path Forward</a:t>
            </a:r>
          </a:p>
        </p:txBody>
      </p:sp>
      <p:sp>
        <p:nvSpPr>
          <p:cNvPr id="19" name="Text 17">
            <a:extLst xmlns:a="http://schemas.openxmlformats.org/drawingml/2006/main">
              <a:ext uri="{FF2B5EF4-FFF2-40B4-BE49-F238E27FC236}">
                <a16:creationId xmlns:a16="http://schemas.microsoft.com/office/drawing/2014/main" id="{8BF540B0-0AAF-4BED-AADD-67E839984CE0}"/>
              </a:ext>
            </a:extLst>
          </p:cNvPr>
          <p:cNvSpPr>
            <a:spLocks xmlns:a="http://schemas.openxmlformats.org/drawingml/2006/main" noGrp="1"/>
          </p:cNvSpPr>
          <p:nvPr/>
        </p:nvSpPr>
        <p:spPr>
          <a:xfrm xmlns:a="http://schemas.openxmlformats.org/drawingml/2006/main">
            <a:off x="2450965" y="7242421"/>
            <a:ext cx="10680192" cy="6827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xmlns:a="http://schemas.openxmlformats.org/drawingml/2006/main">
              <a:ext uri="{FF2B5EF4-FFF2-40B4-BE49-F238E27FC236}">
                <a16:creationId xmlns:a16="http://schemas.microsoft.com/office/drawing/2014/main" id="{07E86446-470E-4942-A5AF-1ADAFE929210}"/>
              </a:ext>
            </a:extLst>
          </p:cNvPr>
          <p:cNvSpPr>
            <a:spLocks xmlns:a="http://schemas.openxmlformats.org/drawingml/2006/main" noGrp="1"/>
          </p:cNvSpPr>
          <p:nvPr/>
        </p:nvSpPr>
        <p:spPr>
          <a:xfrm xmlns:a="http://schemas.openxmlformats.org/drawingml/2006/main">
            <a:off x="2243701" y="8132437"/>
            <a:ext cx="11094720" cy="292608"/>
          </a:xfrm>
          <a:prstGeom xmlns:a="http://schemas.openxmlformats.org/drawingml/2006/main" prst="rect">
            <a:avLst/>
          </a:prstGeom>
          <a:solidFill xmlns:a="http://schemas.openxmlformats.org/drawingml/2006/main">
            <a:srgbClr val="D4A853"/>
          </a:solidFill>
          <a:ln xmlns:a="http://schemas.openxmlformats.org/drawingml/2006/main" w="12700">
            <a:solidFill>
              <a:srgbClr val="D4A853"/>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2C6A5535-BE61-4130-A7C4-ED18968FAD15}"/>
              </a:ext>
            </a:extLst>
          </p:cNvPr>
          <p:cNvSpPr>
            <a:spLocks xmlns:a="http://schemas.openxmlformats.org/drawingml/2006/main" noGrp="1"/>
          </p:cNvSpPr>
          <p:nvPr/>
        </p:nvSpPr>
        <p:spPr>
          <a:xfrm xmlns:a="http://schemas.openxmlformats.org/drawingml/2006/main">
            <a:off x="2243701" y="8132437"/>
            <a:ext cx="11094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925994040"/>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43" name="Rectangle 42"/>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625A5FDC-0E9E-4117-948B-4F027566D9CF}"/>
              </a:ext>
            </a:extLst>
          </p:cNvPr>
          <p:cNvSpPr>
            <a:spLocks xmlns:a="http://schemas.openxmlformats.org/drawingml/2006/main" noGrp="1"/>
          </p:cNvSpPr>
          <p:nvPr/>
        </p:nvSpPr>
        <p:spPr>
          <a:xfrm xmlns:a="http://schemas.openxmlformats.org/drawingml/2006/main">
            <a:off x="1695061" y="1695061"/>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B50A7FD-5C9D-4403-A3F6-F1B54F5E72D5}"/>
              </a:ext>
            </a:extLst>
          </p:cNvPr>
          <p:cNvSpPr>
            <a:spLocks xmlns:a="http://schemas.openxmlformats.org/drawingml/2006/main" noGrp="1"/>
          </p:cNvSpPr>
          <p:nvPr/>
        </p:nvSpPr>
        <p:spPr>
          <a:xfrm xmlns:a="http://schemas.openxmlformats.org/drawingml/2006/main">
            <a:off x="2243701" y="1841365"/>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The Research Problem</a:t>
            </a:r>
          </a:p>
        </p:txBody>
      </p:sp>
      <p:sp>
        <p:nvSpPr>
          <p:cNvPr id="4" name="Text 2">
            <a:extLst xmlns:a="http://schemas.openxmlformats.org/drawingml/2006/main">
              <a:ext uri="{FF2B5EF4-FFF2-40B4-BE49-F238E27FC236}">
                <a16:creationId xmlns:a16="http://schemas.microsoft.com/office/drawing/2014/main" id="{1EFBA81D-5601-48B6-92D7-ED4E7F82D38A}"/>
              </a:ext>
            </a:extLst>
          </p:cNvPr>
          <p:cNvSpPr>
            <a:spLocks xmlns:a="http://schemas.openxmlformats.org/drawingml/2006/main" noGrp="1"/>
          </p:cNvSpPr>
          <p:nvPr/>
        </p:nvSpPr>
        <p:spPr>
          <a:xfrm xmlns:a="http://schemas.openxmlformats.org/drawingml/2006/main">
            <a:off x="2243701" y="2524117"/>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Why interpretable rules — not black-box models — matter here</a:t>
            </a:r>
          </a:p>
        </p:txBody>
      </p:sp>
      <p:sp>
        <p:nvSpPr>
          <p:cNvPr id="5" name="Shape 3">
            <a:extLst xmlns:a="http://schemas.openxmlformats.org/drawingml/2006/main">
              <a:ext uri="{FF2B5EF4-FFF2-40B4-BE49-F238E27FC236}">
                <a16:creationId xmlns:a16="http://schemas.microsoft.com/office/drawing/2014/main" id="{B337863A-858C-4577-B74C-8ABC4C79B5B0}"/>
              </a:ext>
            </a:extLst>
          </p:cNvPr>
          <p:cNvSpPr>
            <a:spLocks xmlns:a="http://schemas.openxmlformats.org/drawingml/2006/main" noGrp="1"/>
          </p:cNvSpPr>
          <p:nvPr/>
        </p:nvSpPr>
        <p:spPr>
          <a:xfrm xmlns:a="http://schemas.openxmlformats.org/drawingml/2006/main">
            <a:off x="2243701" y="2865493"/>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BBC5064-611D-4630-82CE-3C3E83284D25}"/>
              </a:ext>
            </a:extLst>
          </p:cNvPr>
          <p:cNvSpPr>
            <a:spLocks xmlns:a="http://schemas.openxmlformats.org/drawingml/2006/main" noGrp="1"/>
          </p:cNvSpPr>
          <p:nvPr/>
        </p:nvSpPr>
        <p:spPr>
          <a:xfrm xmlns:a="http://schemas.openxmlformats.org/drawingml/2006/main">
            <a:off x="12424021" y="8156821"/>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2 / 12</a:t>
            </a:r>
          </a:p>
        </p:txBody>
      </p:sp>
      <p:sp>
        <p:nvSpPr>
          <p:cNvPr id="7" name="Shape 5">
            <a:extLst xmlns:a="http://schemas.openxmlformats.org/drawingml/2006/main">
              <a:ext uri="{FF2B5EF4-FFF2-40B4-BE49-F238E27FC236}">
                <a16:creationId xmlns:a16="http://schemas.microsoft.com/office/drawing/2014/main" id="{01660361-EBF4-4832-8B00-3C575C88A52D}"/>
              </a:ext>
            </a:extLst>
          </p:cNvPr>
          <p:cNvSpPr>
            <a:spLocks xmlns:a="http://schemas.openxmlformats.org/drawingml/2006/main" noGrp="1"/>
          </p:cNvSpPr>
          <p:nvPr/>
        </p:nvSpPr>
        <p:spPr>
          <a:xfrm xmlns:a="http://schemas.openxmlformats.org/drawingml/2006/main">
            <a:off x="2243701" y="3036181"/>
            <a:ext cx="5486400" cy="182880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DF44DB07-A484-4D99-B954-EBE17735C56D}"/>
              </a:ext>
            </a:extLst>
          </p:cNvPr>
          <p:cNvSpPr>
            <a:spLocks xmlns:a="http://schemas.openxmlformats.org/drawingml/2006/main" noGrp="1"/>
          </p:cNvSpPr>
          <p:nvPr/>
        </p:nvSpPr>
        <p:spPr>
          <a:xfrm xmlns:a="http://schemas.openxmlformats.org/drawingml/2006/main">
            <a:off x="2243701" y="3036181"/>
            <a:ext cx="73152" cy="182880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BE750A1E-AC0B-4ABB-B976-DB7B5BFA3E14}"/>
              </a:ext>
            </a:extLst>
          </p:cNvPr>
          <p:cNvSpPr>
            <a:spLocks xmlns:a="http://schemas.openxmlformats.org/drawingml/2006/main" noGrp="1"/>
          </p:cNvSpPr>
          <p:nvPr/>
        </p:nvSpPr>
        <p:spPr>
          <a:xfrm xmlns:a="http://schemas.openxmlformats.org/drawingml/2006/main">
            <a:off x="2450965" y="3084949"/>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The gap</a:t>
            </a:r>
          </a:p>
        </p:txBody>
      </p:sp>
      <p:sp>
        <p:nvSpPr>
          <p:cNvPr id="10" name="Text 8">
            <a:extLst xmlns:a="http://schemas.openxmlformats.org/drawingml/2006/main">
              <a:ext uri="{FF2B5EF4-FFF2-40B4-BE49-F238E27FC236}">
                <a16:creationId xmlns:a16="http://schemas.microsoft.com/office/drawing/2014/main" id="{9D6ECEC7-05BD-474C-99D9-2CDD89A61A0B}"/>
              </a:ext>
            </a:extLst>
          </p:cNvPr>
          <p:cNvSpPr>
            <a:spLocks xmlns:a="http://schemas.openxmlformats.org/drawingml/2006/main" noGrp="1"/>
          </p:cNvSpPr>
          <p:nvPr/>
        </p:nvSpPr>
        <p:spPr>
          <a:xfrm xmlns:a="http://schemas.openxmlformats.org/drawingml/2006/main">
            <a:off x="2450965" y="3450709"/>
            <a:ext cx="51206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xmlns:a="http://schemas.openxmlformats.org/drawingml/2006/main">
              <a:ext uri="{FF2B5EF4-FFF2-40B4-BE49-F238E27FC236}">
                <a16:creationId xmlns:a16="http://schemas.microsoft.com/office/drawing/2014/main" id="{A3F44F4F-2674-47F7-A5E2-C1BADD3FBA0D}"/>
              </a:ext>
            </a:extLst>
          </p:cNvPr>
          <p:cNvSpPr>
            <a:spLocks xmlns:a="http://schemas.openxmlformats.org/drawingml/2006/main" noGrp="1"/>
          </p:cNvSpPr>
          <p:nvPr/>
        </p:nvSpPr>
        <p:spPr>
          <a:xfrm xmlns:a="http://schemas.openxmlformats.org/drawingml/2006/main">
            <a:off x="2243701" y="5047861"/>
            <a:ext cx="5486400" cy="310896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E666D7B7-B528-4018-97F7-A98134D0AD23}"/>
              </a:ext>
            </a:extLst>
          </p:cNvPr>
          <p:cNvSpPr>
            <a:spLocks xmlns:a="http://schemas.openxmlformats.org/drawingml/2006/main" noGrp="1"/>
          </p:cNvSpPr>
          <p:nvPr/>
        </p:nvSpPr>
        <p:spPr>
          <a:xfrm xmlns:a="http://schemas.openxmlformats.org/drawingml/2006/main">
            <a:off x="2450965" y="5133205"/>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mlns:a="http://schemas.openxmlformats.org/drawingml/2006/main" x="2365621" y="5498965"/>
          <a:ext xmlns:a="http://schemas.openxmlformats.org/drawingml/2006/main" cx="5120640" cy="1950720"/>
        </p:xfrm>
        <a:graphic xmlns:a="http://schemas.openxmlformats.org/drawingml/2006/main">
          <a:graphicData uri="http://schemas.openxmlformats.org/drawingml/2006/table">
            <a:tbl>
              <a:tblPr/>
              <a:tblGrid>
                <a:gridCol w="2316480"/>
                <a:gridCol w="914400"/>
                <a:gridCol w="914400"/>
                <a:gridCol w="975360"/>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r>
            </a:tbl>
          </a:graphicData>
        </a:graphic>
      </p:graphicFrame>
      <p:sp>
        <p:nvSpPr>
          <p:cNvPr id="14" name="Shape 11">
            <a:extLst xmlns:a="http://schemas.openxmlformats.org/drawingml/2006/main">
              <a:ext uri="{FF2B5EF4-FFF2-40B4-BE49-F238E27FC236}">
                <a16:creationId xmlns:a16="http://schemas.microsoft.com/office/drawing/2014/main" id="{790E8DDF-277F-421E-B683-B43FFBC86FC7}"/>
              </a:ext>
            </a:extLst>
          </p:cNvPr>
          <p:cNvSpPr>
            <a:spLocks xmlns:a="http://schemas.openxmlformats.org/drawingml/2006/main" noGrp="1"/>
          </p:cNvSpPr>
          <p:nvPr/>
        </p:nvSpPr>
        <p:spPr>
          <a:xfrm xmlns:a="http://schemas.openxmlformats.org/drawingml/2006/main">
            <a:off x="8034901" y="3036181"/>
            <a:ext cx="5303520" cy="2255520"/>
          </a:xfrm>
          <a:prstGeom xmlns:a="http://schemas.openxmlformats.org/drawingml/2006/main" prst="rect">
            <a:avLst/>
          </a:prstGeom>
          <a:solidFill xmlns:a="http://schemas.openxmlformats.org/drawingml/2006/main">
            <a:srgbClr val="F2EBE9"/>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5" name="Shape 12">
            <a:extLst xmlns:a="http://schemas.openxmlformats.org/drawingml/2006/main">
              <a:ext uri="{FF2B5EF4-FFF2-40B4-BE49-F238E27FC236}">
                <a16:creationId xmlns:a16="http://schemas.microsoft.com/office/drawing/2014/main" id="{3CBE1B3C-DA3B-491B-865B-DC3A04621AB8}"/>
              </a:ext>
            </a:extLst>
          </p:cNvPr>
          <p:cNvSpPr>
            <a:spLocks xmlns:a="http://schemas.openxmlformats.org/drawingml/2006/main" noGrp="1"/>
          </p:cNvSpPr>
          <p:nvPr/>
        </p:nvSpPr>
        <p:spPr>
          <a:xfrm xmlns:a="http://schemas.openxmlformats.org/drawingml/2006/main">
            <a:off x="8034901" y="3036181"/>
            <a:ext cx="73152" cy="2255520"/>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1E85D4B4-B82C-4D25-B1FF-0D51C4B4E886}"/>
              </a:ext>
            </a:extLst>
          </p:cNvPr>
          <p:cNvSpPr>
            <a:spLocks xmlns:a="http://schemas.openxmlformats.org/drawingml/2006/main" noGrp="1"/>
          </p:cNvSpPr>
          <p:nvPr/>
        </p:nvSpPr>
        <p:spPr>
          <a:xfrm xmlns:a="http://schemas.openxmlformats.org/drawingml/2006/main">
            <a:off x="8254357" y="3097141"/>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C4964A"/>
                </a:solidFill>
                <a:latin typeface="Calibri"/>
                <a:ea typeface="Calibri"/>
                <a:cs typeface="Calibri"/>
              </a:rPr>
              <a:t>What a rule looks like:</a:t>
            </a:r>
          </a:p>
        </p:txBody>
      </p:sp>
      <p:sp>
        <p:nvSpPr>
          <p:cNvPr id="17" name="Text 14">
            <a:extLst xmlns:a="http://schemas.openxmlformats.org/drawingml/2006/main">
              <a:ext uri="{FF2B5EF4-FFF2-40B4-BE49-F238E27FC236}">
                <a16:creationId xmlns:a16="http://schemas.microsoft.com/office/drawing/2014/main" id="{EC3B0686-C265-44D8-9FCE-BAD17E52F5A8}"/>
              </a:ext>
            </a:extLst>
          </p:cNvPr>
          <p:cNvSpPr>
            <a:spLocks xmlns:a="http://schemas.openxmlformats.org/drawingml/2006/main" noGrp="1"/>
          </p:cNvSpPr>
          <p:nvPr/>
        </p:nvSpPr>
        <p:spPr>
          <a:xfrm xmlns:a="http://schemas.openxmlformats.org/drawingml/2006/main">
            <a:off x="8254357" y="3475093"/>
            <a:ext cx="4876800" cy="1682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i="1">
                <a:solidFill>
                  <a:srgbClr val="1C1214"/>
                </a:solidFill>
                <a:latin typeface="Calibri"/>
                <a:ea typeface="Calibri"/>
                <a:cs typeface="Calibri"/>
              </a:rPr>
              <a:t>"IF soil water at harvest ∈ [74–101 mm]</a:t>
            </a:r>
          </a:p>
          <a:p xmlns:a="http://schemas.openxmlformats.org/drawingml/2006/main">
            <a:r>
              <a:rPr sz="1467" i="1">
                <a:solidFill>
                  <a:srgbClr val="1C1214"/>
                </a:solidFill>
                <a:latin typeface="Calibri"/>
                <a:ea typeface="Calibri"/>
                <a:cs typeface="Calibri"/>
              </a:rPr>
              <a:t>AND wet days post-flowering ≤ 3.3 d</a:t>
            </a:r>
          </a:p>
          <a:p xmlns:a="http://schemas.openxmlformats.org/drawingml/2006/main">
            <a:r>
              <a:rPr sz="1467" i="1">
                <a:solidFill>
                  <a:srgbClr val="1C1214"/>
                </a:solidFill>
                <a:latin typeface="Calibri"/>
                <a:ea typeface="Calibri"/>
                <a:cs typeface="Calibri"/>
              </a:rPr>
              <a:t>THEN production is +192 mhl above trend</a:t>
            </a:r>
          </a:p>
          <a:p xmlns:a="http://schemas.openxmlformats.org/drawingml/2006/main">
            <a:r>
              <a:rPr sz="1467" i="1">
                <a:solidFill>
                  <a:srgbClr val="1C1214"/>
                </a:solidFill>
                <a:latin typeface="Calibri"/>
                <a:ea typeface="Calibri"/>
                <a:cs typeface="Calibri"/>
              </a:rPr>
              <a:t>(support 21%, p = 0.010)"</a:t>
            </a:r>
          </a:p>
        </p:txBody>
      </p:sp>
      <p:sp>
        <p:nvSpPr>
          <p:cNvPr id="18" name="Shape 15">
            <a:extLst xmlns:a="http://schemas.openxmlformats.org/drawingml/2006/main">
              <a:ext uri="{FF2B5EF4-FFF2-40B4-BE49-F238E27FC236}">
                <a16:creationId xmlns:a16="http://schemas.microsoft.com/office/drawing/2014/main" id="{4B1709BC-B20A-43FC-8181-85F73881DFE2}"/>
              </a:ext>
            </a:extLst>
          </p:cNvPr>
          <p:cNvSpPr>
            <a:spLocks xmlns:a="http://schemas.openxmlformats.org/drawingml/2006/main" noGrp="1"/>
          </p:cNvSpPr>
          <p:nvPr/>
        </p:nvSpPr>
        <p:spPr>
          <a:xfrm xmlns:a="http://schemas.openxmlformats.org/drawingml/2006/main">
            <a:off x="8034901" y="5474581"/>
            <a:ext cx="5303520" cy="256032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Shape 16">
            <a:extLst xmlns:a="http://schemas.openxmlformats.org/drawingml/2006/main">
              <a:ext uri="{FF2B5EF4-FFF2-40B4-BE49-F238E27FC236}">
                <a16:creationId xmlns:a16="http://schemas.microsoft.com/office/drawing/2014/main" id="{15A79AB8-27EC-4014-ABA7-05A30128FEE7}"/>
              </a:ext>
            </a:extLst>
          </p:cNvPr>
          <p:cNvSpPr>
            <a:spLocks xmlns:a="http://schemas.openxmlformats.org/drawingml/2006/main" noGrp="1"/>
          </p:cNvSpPr>
          <p:nvPr/>
        </p:nvSpPr>
        <p:spPr>
          <a:xfrm xmlns:a="http://schemas.openxmlformats.org/drawingml/2006/main">
            <a:off x="8034901" y="5474581"/>
            <a:ext cx="73152" cy="2560320"/>
          </a:xfrm>
          <a:prstGeom xmlns:a="http://schemas.openxmlformats.org/drawingml/2006/main" prst="rect">
            <a:avLst/>
          </a:prstGeom>
          <a:solidFill xmlns:a="http://schemas.openxmlformats.org/drawingml/2006/main">
            <a:srgbClr val="2A7F7F"/>
          </a:solidFill>
          <a:ln xmlns:a="http://schemas.openxmlformats.org/drawingml/2006/main" w="12700">
            <a:solidFill>
              <a:srgbClr val="2A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2F38A7F5-6385-4A39-AE16-2EE98B271971}"/>
              </a:ext>
            </a:extLst>
          </p:cNvPr>
          <p:cNvSpPr>
            <a:spLocks xmlns:a="http://schemas.openxmlformats.org/drawingml/2006/main" noGrp="1"/>
          </p:cNvSpPr>
          <p:nvPr/>
        </p:nvSpPr>
        <p:spPr>
          <a:xfrm xmlns:a="http://schemas.openxmlformats.org/drawingml/2006/main">
            <a:off x="8254357" y="5535541"/>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2A7F7F"/>
                </a:solidFill>
                <a:latin typeface="Calibri"/>
                <a:ea typeface="Calibri"/>
                <a:cs typeface="Calibri"/>
              </a:rPr>
              <a:t>Why interpretability matters:</a:t>
            </a:r>
          </a:p>
        </p:txBody>
      </p:sp>
      <p:sp>
        <p:nvSpPr>
          <p:cNvPr id="21" name="Text 18">
            <a:extLst xmlns:a="http://schemas.openxmlformats.org/drawingml/2006/main">
              <a:ext uri="{FF2B5EF4-FFF2-40B4-BE49-F238E27FC236}">
                <a16:creationId xmlns:a16="http://schemas.microsoft.com/office/drawing/2014/main" id="{204AD674-BE7E-40CC-85CB-C43589679BA0}"/>
              </a:ext>
            </a:extLst>
          </p:cNvPr>
          <p:cNvSpPr>
            <a:spLocks xmlns:a="http://schemas.openxmlformats.org/drawingml/2006/main" noGrp="1"/>
          </p:cNvSpPr>
          <p:nvPr/>
        </p:nvSpPr>
        <p:spPr>
          <a:xfrm xmlns:a="http://schemas.openxmlformats.org/drawingml/2006/main">
            <a:off x="8254357" y="5913493"/>
            <a:ext cx="4876800"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457189" indent="-457189">
              <a:buChar char="•"/>
            </a:pPr>
            <a:r>
              <a:rPr sz="1467">
                <a:solidFill>
                  <a:srgbClr val="1C1214"/>
                </a:solidFill>
                <a:latin typeface="Calibri"/>
                <a:ea typeface="Calibri"/>
                <a:cs typeface="Calibri"/>
              </a:rPr>
              <a:t>Readable by agronomists without ML knowledge</a:t>
            </a:r>
          </a:p>
          <a:p xmlns:a="http://schemas.openxmlformats.org/drawingml/2006/main">
            <a:pPr marL="457189" indent="-457189">
              <a:buChar char="•"/>
            </a:pPr>
            <a:r>
              <a:rPr sz="1467">
                <a:solidFill>
                  <a:srgbClr val="1C1214"/>
                </a:solidFill>
                <a:latin typeface="Calibri"/>
                <a:ea typeface="Calibri"/>
                <a:cs typeface="Calibri"/>
              </a:rPr>
              <a:t>Each rule carries explicit support &amp; p-value</a:t>
            </a:r>
          </a:p>
          <a:p xmlns:a="http://schemas.openxmlformats.org/drawingml/2006/main">
            <a:pPr marL="457189" indent="-457189">
              <a:buChar char="•"/>
            </a:pPr>
            <a:r>
              <a:rPr sz="1467">
                <a:solidFill>
                  <a:srgbClr val="1C1214"/>
                </a:solidFill>
                <a:latin typeface="Calibri"/>
                <a:ea typeface="Calibri"/>
                <a:cs typeface="Calibri"/>
              </a:rPr>
              <a:t>Can be challenged and domain-validated</a:t>
            </a:r>
          </a:p>
          <a:p xmlns:a="http://schemas.openxmlformats.org/drawingml/2006/main">
            <a:pPr marL="457189" indent="-457189">
              <a:buChar char="•"/>
            </a:pPr>
            <a:r>
              <a:rPr sz="1467">
                <a:solidFill>
                  <a:srgbClr val="1C1214"/>
                </a:solidFill>
                <a:latin typeface="Calibri"/>
                <a:ea typeface="Calibri"/>
                <a:cs typeface="Calibri"/>
              </a:rPr>
              <a:t>Directly actionable for harvest planning</a:t>
            </a:r>
          </a:p>
        </p:txBody>
      </p:sp>
      <p:sp>
        <p:nvSpPr>
          <p:cNvPr id="22" name="Text 19">
            <a:extLst xmlns:a="http://schemas.openxmlformats.org/drawingml/2006/main">
              <a:ext uri="{FF2B5EF4-FFF2-40B4-BE49-F238E27FC236}">
                <a16:creationId xmlns:a16="http://schemas.microsoft.com/office/drawing/2014/main" id="{1D099FA1-4057-4AB2-B73A-488DE13668B5}"/>
              </a:ext>
            </a:extLst>
          </p:cNvPr>
          <p:cNvSpPr>
            <a:spLocks xmlns:a="http://schemas.openxmlformats.org/drawingml/2006/main" noGrp="1"/>
          </p:cNvSpPr>
          <p:nvPr/>
        </p:nvSpPr>
        <p:spPr>
          <a:xfrm xmlns:a="http://schemas.openxmlformats.org/drawingml/2006/main">
            <a:off x="2243701" y="8156821"/>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959236608"/>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6" name="Rectangle 3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510364BF-F47F-4453-807E-2247BC4FD5BD}"/>
              </a:ext>
            </a:extLst>
          </p:cNvPr>
          <p:cNvSpPr>
            <a:spLocks xmlns:a="http://schemas.openxmlformats.org/drawingml/2006/main" noGrp="1"/>
          </p:cNvSpPr>
          <p:nvPr/>
        </p:nvSpPr>
        <p:spPr>
          <a:xfrm xmlns:a="http://schemas.openxmlformats.org/drawingml/2006/main">
            <a:off x="1695061" y="1695061"/>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33705981-6435-4238-A7A6-2DBE777B556D}"/>
              </a:ext>
            </a:extLst>
          </p:cNvPr>
          <p:cNvSpPr>
            <a:spLocks xmlns:a="http://schemas.openxmlformats.org/drawingml/2006/main" noGrp="1"/>
          </p:cNvSpPr>
          <p:nvPr/>
        </p:nvSpPr>
        <p:spPr>
          <a:xfrm xmlns:a="http://schemas.openxmlformats.org/drawingml/2006/main">
            <a:off x="2243701" y="1841365"/>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Two Goals, Four Research Questions</a:t>
            </a:r>
          </a:p>
        </p:txBody>
      </p:sp>
      <p:sp>
        <p:nvSpPr>
          <p:cNvPr id="4" name="Shape 2">
            <a:extLst xmlns:a="http://schemas.openxmlformats.org/drawingml/2006/main">
              <a:ext uri="{FF2B5EF4-FFF2-40B4-BE49-F238E27FC236}">
                <a16:creationId xmlns:a16="http://schemas.microsoft.com/office/drawing/2014/main" id="{0261C86D-AC17-46E5-9716-583896DEA478}"/>
              </a:ext>
            </a:extLst>
          </p:cNvPr>
          <p:cNvSpPr>
            <a:spLocks xmlns:a="http://schemas.openxmlformats.org/drawingml/2006/main" noGrp="1"/>
          </p:cNvSpPr>
          <p:nvPr/>
        </p:nvSpPr>
        <p:spPr>
          <a:xfrm xmlns:a="http://schemas.openxmlformats.org/drawingml/2006/main">
            <a:off x="2243701" y="2865493"/>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55607C0F-74BC-4E5C-BA15-C0E9CACEA671}"/>
              </a:ext>
            </a:extLst>
          </p:cNvPr>
          <p:cNvSpPr>
            <a:spLocks xmlns:a="http://schemas.openxmlformats.org/drawingml/2006/main" noGrp="1"/>
          </p:cNvSpPr>
          <p:nvPr/>
        </p:nvSpPr>
        <p:spPr>
          <a:xfrm xmlns:a="http://schemas.openxmlformats.org/drawingml/2006/main">
            <a:off x="12424021" y="8156821"/>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3 / 12</a:t>
            </a:r>
          </a:p>
        </p:txBody>
      </p:sp>
      <p:sp>
        <p:nvSpPr>
          <p:cNvPr id="6" name="Shape 4">
            <a:extLst xmlns:a="http://schemas.openxmlformats.org/drawingml/2006/main">
              <a:ext uri="{FF2B5EF4-FFF2-40B4-BE49-F238E27FC236}">
                <a16:creationId xmlns:a16="http://schemas.microsoft.com/office/drawing/2014/main" id="{F9913214-E094-4609-8C9A-8B7F0B979D6B}"/>
              </a:ext>
            </a:extLst>
          </p:cNvPr>
          <p:cNvSpPr>
            <a:spLocks xmlns:a="http://schemas.openxmlformats.org/drawingml/2006/main" noGrp="1"/>
          </p:cNvSpPr>
          <p:nvPr/>
        </p:nvSpPr>
        <p:spPr>
          <a:xfrm xmlns:a="http://schemas.openxmlformats.org/drawingml/2006/main">
            <a:off x="2243701" y="3036181"/>
            <a:ext cx="5486400" cy="2560320"/>
          </a:xfrm>
          <a:prstGeom xmlns:a="http://schemas.openxmlformats.org/drawingml/2006/main" prst="rect">
            <a:avLst/>
          </a:prstGeom>
          <a:solidFill xmlns:a="http://schemas.openxmlformats.org/drawingml/2006/main">
            <a:srgbClr val="E8F4ED"/>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6F444717-2512-426F-8BCA-14C6349D275A}"/>
              </a:ext>
            </a:extLst>
          </p:cNvPr>
          <p:cNvSpPr>
            <a:spLocks xmlns:a="http://schemas.openxmlformats.org/drawingml/2006/main" noGrp="1"/>
          </p:cNvSpPr>
          <p:nvPr/>
        </p:nvSpPr>
        <p:spPr>
          <a:xfrm xmlns:a="http://schemas.openxmlformats.org/drawingml/2006/main">
            <a:off x="2243701" y="3036181"/>
            <a:ext cx="73152" cy="2560320"/>
          </a:xfrm>
          <a:prstGeom xmlns:a="http://schemas.openxmlformats.org/drawingml/2006/main" prst="rect">
            <a:avLst/>
          </a:prstGeom>
          <a:solidFill xmlns:a="http://schemas.openxmlformats.org/drawingml/2006/main">
            <a:srgbClr val="3A7A50"/>
          </a:solidFill>
          <a:ln xmlns:a="http://schemas.openxmlformats.org/drawingml/2006/main" w="12700">
            <a:solidFill>
              <a:srgbClr val="3A7A50"/>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6EE678B5-F285-4FC6-943E-427831711F3C}"/>
              </a:ext>
            </a:extLst>
          </p:cNvPr>
          <p:cNvSpPr>
            <a:spLocks xmlns:a="http://schemas.openxmlformats.org/drawingml/2006/main" noGrp="1"/>
          </p:cNvSpPr>
          <p:nvPr/>
        </p:nvSpPr>
        <p:spPr>
          <a:xfrm xmlns:a="http://schemas.openxmlformats.org/drawingml/2006/main">
            <a:off x="2450965" y="3097141"/>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3A7A50"/>
                </a:solidFill>
                <a:latin typeface="Georgia"/>
                <a:ea typeface="Georgia"/>
                <a:cs typeface="Georgia"/>
              </a:rPr>
              <a:t>✓  GOAL 1 — Rule Discovery</a:t>
            </a:r>
          </a:p>
        </p:txBody>
      </p:sp>
      <p:sp>
        <p:nvSpPr>
          <p:cNvPr id="9" name="Text 7">
            <a:extLst xmlns:a="http://schemas.openxmlformats.org/drawingml/2006/main">
              <a:ext uri="{FF2B5EF4-FFF2-40B4-BE49-F238E27FC236}">
                <a16:creationId xmlns:a16="http://schemas.microsoft.com/office/drawing/2014/main" id="{2B308535-26F1-4CE4-B417-1D31D6CDC8E5}"/>
              </a:ext>
            </a:extLst>
          </p:cNvPr>
          <p:cNvSpPr>
            <a:spLocks xmlns:a="http://schemas.openxmlformats.org/drawingml/2006/main" noGrp="1"/>
          </p:cNvSpPr>
          <p:nvPr/>
        </p:nvSpPr>
        <p:spPr>
          <a:xfrm xmlns:a="http://schemas.openxmlformats.org/drawingml/2006/main">
            <a:off x="2450965" y="3548245"/>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xmlns:a="http://schemas.openxmlformats.org/drawingml/2006/main">
              <a:ext uri="{FF2B5EF4-FFF2-40B4-BE49-F238E27FC236}">
                <a16:creationId xmlns:a16="http://schemas.microsoft.com/office/drawing/2014/main" id="{2C7BDA59-E9C5-4DA1-8B80-C3A25235FFE9}"/>
              </a:ext>
            </a:extLst>
          </p:cNvPr>
          <p:cNvSpPr>
            <a:spLocks xmlns:a="http://schemas.openxmlformats.org/drawingml/2006/main" noGrp="1"/>
          </p:cNvSpPr>
          <p:nvPr/>
        </p:nvSpPr>
        <p:spPr>
          <a:xfrm xmlns:a="http://schemas.openxmlformats.org/drawingml/2006/main">
            <a:off x="2450965" y="4474837"/>
            <a:ext cx="487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3A7A50"/>
                </a:solidFill>
                <a:latin typeface="Calibri"/>
                <a:ea typeface="Calibri"/>
                <a:cs typeface="Calibri"/>
              </a:rPr>
              <a:t>ACHIEVED ✓</a:t>
            </a:r>
          </a:p>
        </p:txBody>
      </p:sp>
      <p:sp>
        <p:nvSpPr>
          <p:cNvPr id="11" name="Text 9">
            <a:extLst xmlns:a="http://schemas.openxmlformats.org/drawingml/2006/main">
              <a:ext uri="{FF2B5EF4-FFF2-40B4-BE49-F238E27FC236}">
                <a16:creationId xmlns:a16="http://schemas.microsoft.com/office/drawing/2014/main" id="{F7C42F00-6F1B-432C-A260-F9B542574778}"/>
              </a:ext>
            </a:extLst>
          </p:cNvPr>
          <p:cNvSpPr>
            <a:spLocks xmlns:a="http://schemas.openxmlformats.org/drawingml/2006/main" noGrp="1"/>
          </p:cNvSpPr>
          <p:nvPr/>
        </p:nvSpPr>
        <p:spPr>
          <a:xfrm xmlns:a="http://schemas.openxmlformats.org/drawingml/2006/main">
            <a:off x="2450965" y="4816213"/>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48 rules (RDD) · 20 rules (RVV)</a:t>
            </a:r>
          </a:p>
        </p:txBody>
      </p:sp>
      <p:sp>
        <p:nvSpPr>
          <p:cNvPr id="12" name="Shape 10">
            <a:extLst xmlns:a="http://schemas.openxmlformats.org/drawingml/2006/main">
              <a:ext uri="{FF2B5EF4-FFF2-40B4-BE49-F238E27FC236}">
                <a16:creationId xmlns:a16="http://schemas.microsoft.com/office/drawing/2014/main" id="{073C7488-C961-42CB-84E0-1A82E6B30CC1}"/>
              </a:ext>
            </a:extLst>
          </p:cNvPr>
          <p:cNvSpPr>
            <a:spLocks xmlns:a="http://schemas.openxmlformats.org/drawingml/2006/main" noGrp="1"/>
          </p:cNvSpPr>
          <p:nvPr/>
        </p:nvSpPr>
        <p:spPr>
          <a:xfrm xmlns:a="http://schemas.openxmlformats.org/drawingml/2006/main">
            <a:off x="7852021" y="3036181"/>
            <a:ext cx="5486400" cy="2560320"/>
          </a:xfrm>
          <a:prstGeom xmlns:a="http://schemas.openxmlformats.org/drawingml/2006/main" prst="rect">
            <a:avLst/>
          </a:prstGeom>
          <a:solidFill xmlns:a="http://schemas.openxmlformats.org/drawingml/2006/main">
            <a:srgbClr val="F9ECEC"/>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E9574F17-7527-466A-B6B7-A9CAAA1D30DF}"/>
              </a:ext>
            </a:extLst>
          </p:cNvPr>
          <p:cNvSpPr>
            <a:spLocks xmlns:a="http://schemas.openxmlformats.org/drawingml/2006/main" noGrp="1"/>
          </p:cNvSpPr>
          <p:nvPr/>
        </p:nvSpPr>
        <p:spPr>
          <a:xfrm xmlns:a="http://schemas.openxmlformats.org/drawingml/2006/main">
            <a:off x="7852021" y="3036181"/>
            <a:ext cx="73152" cy="2560320"/>
          </a:xfrm>
          <a:prstGeom xmlns:a="http://schemas.openxmlformats.org/drawingml/2006/main" prst="rect">
            <a:avLst/>
          </a:prstGeom>
          <a:solidFill xmlns:a="http://schemas.openxmlformats.org/drawingml/2006/main">
            <a:srgbClr val="B74A4A"/>
          </a:solidFill>
          <a:ln xmlns:a="http://schemas.openxmlformats.org/drawingml/2006/main" w="12700">
            <a:solidFill>
              <a:srgbClr val="B74A4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F97FED24-63BE-4275-A51F-4384F60F03AA}"/>
              </a:ext>
            </a:extLst>
          </p:cNvPr>
          <p:cNvSpPr>
            <a:spLocks xmlns:a="http://schemas.openxmlformats.org/drawingml/2006/main" noGrp="1"/>
          </p:cNvSpPr>
          <p:nvPr/>
        </p:nvSpPr>
        <p:spPr>
          <a:xfrm xmlns:a="http://schemas.openxmlformats.org/drawingml/2006/main">
            <a:off x="8059285" y="3097141"/>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B74A4A"/>
                </a:solidFill>
                <a:latin typeface="Georgia"/>
                <a:ea typeface="Georgia"/>
                <a:cs typeface="Georgia"/>
              </a:rPr>
              <a:t>✗  GOAL 2 — Predictive Validation</a:t>
            </a:r>
          </a:p>
        </p:txBody>
      </p:sp>
      <p:sp>
        <p:nvSpPr>
          <p:cNvPr id="15" name="Text 13">
            <a:extLst xmlns:a="http://schemas.openxmlformats.org/drawingml/2006/main">
              <a:ext uri="{FF2B5EF4-FFF2-40B4-BE49-F238E27FC236}">
                <a16:creationId xmlns:a16="http://schemas.microsoft.com/office/drawing/2014/main" id="{21621E36-2067-48BA-88EB-A08942104E58}"/>
              </a:ext>
            </a:extLst>
          </p:cNvPr>
          <p:cNvSpPr>
            <a:spLocks xmlns:a="http://schemas.openxmlformats.org/drawingml/2006/main" noGrp="1"/>
          </p:cNvSpPr>
          <p:nvPr/>
        </p:nvSpPr>
        <p:spPr>
          <a:xfrm xmlns:a="http://schemas.openxmlformats.org/drawingml/2006/main">
            <a:off x="8059285" y="3548245"/>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xmlns:a="http://schemas.openxmlformats.org/drawingml/2006/main">
              <a:ext uri="{FF2B5EF4-FFF2-40B4-BE49-F238E27FC236}">
                <a16:creationId xmlns:a16="http://schemas.microsoft.com/office/drawing/2014/main" id="{FF13ACB4-5C5B-4973-B08B-406F6C5AF5FB}"/>
              </a:ext>
            </a:extLst>
          </p:cNvPr>
          <p:cNvSpPr>
            <a:spLocks xmlns:a="http://schemas.openxmlformats.org/drawingml/2006/main" noGrp="1"/>
          </p:cNvSpPr>
          <p:nvPr/>
        </p:nvSpPr>
        <p:spPr>
          <a:xfrm xmlns:a="http://schemas.openxmlformats.org/drawingml/2006/main">
            <a:off x="8059285" y="4474837"/>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B74A4A"/>
                </a:solidFill>
                <a:latin typeface="Calibri"/>
                <a:ea typeface="Calibri"/>
                <a:cs typeface="Calibri"/>
              </a:rPr>
              <a:t>NOT ACHIEVED in aggregate</a:t>
            </a:r>
          </a:p>
        </p:txBody>
      </p:sp>
      <p:sp>
        <p:nvSpPr>
          <p:cNvPr id="17" name="Text 15">
            <a:extLst xmlns:a="http://schemas.openxmlformats.org/drawingml/2006/main">
              <a:ext uri="{FF2B5EF4-FFF2-40B4-BE49-F238E27FC236}">
                <a16:creationId xmlns:a16="http://schemas.microsoft.com/office/drawing/2014/main" id="{734F4C39-530E-4D5F-8022-7E31DF2F11EA}"/>
              </a:ext>
            </a:extLst>
          </p:cNvPr>
          <p:cNvSpPr>
            <a:spLocks xmlns:a="http://schemas.openxmlformats.org/drawingml/2006/main" noGrp="1"/>
          </p:cNvSpPr>
          <p:nvPr/>
        </p:nvSpPr>
        <p:spPr>
          <a:xfrm xmlns:a="http://schemas.openxmlformats.org/drawingml/2006/main">
            <a:off x="8059285" y="4816213"/>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Conditional finding in Douro (exploratory)</a:t>
            </a:r>
          </a:p>
        </p:txBody>
      </p:sp>
      <p:sp>
        <p:nvSpPr>
          <p:cNvPr id="18" name="Shape 16">
            <a:extLst xmlns:a="http://schemas.openxmlformats.org/drawingml/2006/main">
              <a:ext uri="{FF2B5EF4-FFF2-40B4-BE49-F238E27FC236}">
                <a16:creationId xmlns:a16="http://schemas.microsoft.com/office/drawing/2014/main" id="{EF21CE63-DABF-42AC-953A-DEB47FF5541A}"/>
              </a:ext>
            </a:extLst>
          </p:cNvPr>
          <p:cNvSpPr>
            <a:spLocks xmlns:a="http://schemas.openxmlformats.org/drawingml/2006/main" noGrp="1"/>
          </p:cNvSpPr>
          <p:nvPr/>
        </p:nvSpPr>
        <p:spPr>
          <a:xfrm xmlns:a="http://schemas.openxmlformats.org/drawingml/2006/main">
            <a:off x="2243701" y="5779381"/>
            <a:ext cx="11094720" cy="237744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0A6BA926-BCF2-43DE-B286-E93874FD8707}"/>
              </a:ext>
            </a:extLst>
          </p:cNvPr>
          <p:cNvSpPr>
            <a:spLocks xmlns:a="http://schemas.openxmlformats.org/drawingml/2006/main" noGrp="1"/>
          </p:cNvSpPr>
          <p:nvPr/>
        </p:nvSpPr>
        <p:spPr>
          <a:xfrm xmlns:a="http://schemas.openxmlformats.org/drawingml/2006/main">
            <a:off x="2487541" y="5864725"/>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Research Questions</a:t>
            </a:r>
          </a:p>
        </p:txBody>
      </p:sp>
      <p:sp>
        <p:nvSpPr>
          <p:cNvPr id="20" name="Text 18">
            <a:extLst xmlns:a="http://schemas.openxmlformats.org/drawingml/2006/main">
              <a:ext uri="{FF2B5EF4-FFF2-40B4-BE49-F238E27FC236}">
                <a16:creationId xmlns:a16="http://schemas.microsoft.com/office/drawing/2014/main" id="{EE9C396A-53E6-4266-9763-AEB29DE471DC}"/>
              </a:ext>
            </a:extLst>
          </p:cNvPr>
          <p:cNvSpPr>
            <a:spLocks xmlns:a="http://schemas.openxmlformats.org/drawingml/2006/main" noGrp="1"/>
          </p:cNvSpPr>
          <p:nvPr/>
        </p:nvSpPr>
        <p:spPr>
          <a:xfrm xmlns:a="http://schemas.openxmlformats.org/drawingml/2006/main">
            <a:off x="2487541" y="6303637"/>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RQ1  </a:t>
            </a:r>
          </a:p>
        </p:txBody>
      </p:sp>
      <p:sp>
        <p:nvSpPr>
          <p:cNvPr id="21" name="Text 19">
            <a:extLst xmlns:a="http://schemas.openxmlformats.org/drawingml/2006/main">
              <a:ext uri="{FF2B5EF4-FFF2-40B4-BE49-F238E27FC236}">
                <a16:creationId xmlns:a16="http://schemas.microsoft.com/office/drawing/2014/main" id="{0AE99133-F6C8-45C9-AD50-92FD420EDE5E}"/>
              </a:ext>
            </a:extLst>
          </p:cNvPr>
          <p:cNvSpPr>
            <a:spLocks xmlns:a="http://schemas.openxmlformats.org/drawingml/2006/main" noGrp="1"/>
          </p:cNvSpPr>
          <p:nvPr/>
        </p:nvSpPr>
        <p:spPr>
          <a:xfrm xmlns:a="http://schemas.openxmlformats.org/drawingml/2006/main">
            <a:off x="3097141" y="6303637"/>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Which climate variables most consistently distinguish above/below-trend years?</a:t>
            </a:r>
          </a:p>
        </p:txBody>
      </p:sp>
      <p:sp>
        <p:nvSpPr>
          <p:cNvPr id="22" name="Text 20">
            <a:extLst xmlns:a="http://schemas.openxmlformats.org/drawingml/2006/main">
              <a:ext uri="{FF2B5EF4-FFF2-40B4-BE49-F238E27FC236}">
                <a16:creationId xmlns:a16="http://schemas.microsoft.com/office/drawing/2014/main" id="{97092354-2A54-4DFA-8C31-A63D218BCE48}"/>
              </a:ext>
            </a:extLst>
          </p:cNvPr>
          <p:cNvSpPr>
            <a:spLocks xmlns:a="http://schemas.openxmlformats.org/drawingml/2006/main" noGrp="1"/>
          </p:cNvSpPr>
          <p:nvPr/>
        </p:nvSpPr>
        <p:spPr>
          <a:xfrm xmlns:a="http://schemas.openxmlformats.org/drawingml/2006/main">
            <a:off x="2487541" y="6888853"/>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RQ2  </a:t>
            </a:r>
          </a:p>
        </p:txBody>
      </p:sp>
      <p:sp>
        <p:nvSpPr>
          <p:cNvPr id="23" name="Text 21">
            <a:extLst xmlns:a="http://schemas.openxmlformats.org/drawingml/2006/main">
              <a:ext uri="{FF2B5EF4-FFF2-40B4-BE49-F238E27FC236}">
                <a16:creationId xmlns:a16="http://schemas.microsoft.com/office/drawing/2014/main" id="{98959FC7-02B4-442D-A9A5-4252C55A994E}"/>
              </a:ext>
            </a:extLst>
          </p:cNvPr>
          <p:cNvSpPr>
            <a:spLocks xmlns:a="http://schemas.openxmlformats.org/drawingml/2006/main" noGrp="1"/>
          </p:cNvSpPr>
          <p:nvPr/>
        </p:nvSpPr>
        <p:spPr>
          <a:xfrm xmlns:a="http://schemas.openxmlformats.org/drawingml/2006/main">
            <a:off x="3097141" y="6888853"/>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Are the identified variables genuine within-era signals or era-membership artefacts?</a:t>
            </a:r>
          </a:p>
        </p:txBody>
      </p:sp>
      <p:sp>
        <p:nvSpPr>
          <p:cNvPr id="24" name="Text 22">
            <a:extLst xmlns:a="http://schemas.openxmlformats.org/drawingml/2006/main">
              <a:ext uri="{FF2B5EF4-FFF2-40B4-BE49-F238E27FC236}">
                <a16:creationId xmlns:a16="http://schemas.microsoft.com/office/drawing/2014/main" id="{2D473405-F684-48EA-B660-1B84FE93587B}"/>
              </a:ext>
            </a:extLst>
          </p:cNvPr>
          <p:cNvSpPr>
            <a:spLocks xmlns:a="http://schemas.openxmlformats.org/drawingml/2006/main" noGrp="1"/>
          </p:cNvSpPr>
          <p:nvPr/>
        </p:nvSpPr>
        <p:spPr>
          <a:xfrm xmlns:a="http://schemas.openxmlformats.org/drawingml/2006/main">
            <a:off x="7912981" y="6303637"/>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RQ3  </a:t>
            </a:r>
          </a:p>
        </p:txBody>
      </p:sp>
      <p:sp>
        <p:nvSpPr>
          <p:cNvPr id="25" name="Text 23">
            <a:extLst xmlns:a="http://schemas.openxmlformats.org/drawingml/2006/main">
              <a:ext uri="{FF2B5EF4-FFF2-40B4-BE49-F238E27FC236}">
                <a16:creationId xmlns:a16="http://schemas.microsoft.com/office/drawing/2014/main" id="{AE08E62E-FCAA-4346-9C19-E8951A637164}"/>
              </a:ext>
            </a:extLst>
          </p:cNvPr>
          <p:cNvSpPr>
            <a:spLocks xmlns:a="http://schemas.openxmlformats.org/drawingml/2006/main" noGrp="1"/>
          </p:cNvSpPr>
          <p:nvPr/>
        </p:nvSpPr>
        <p:spPr>
          <a:xfrm xmlns:a="http://schemas.openxmlformats.org/drawingml/2006/main">
            <a:off x="8522581" y="6303637"/>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three independent algorithms converge on the same features?</a:t>
            </a:r>
          </a:p>
        </p:txBody>
      </p:sp>
      <p:sp>
        <p:nvSpPr>
          <p:cNvPr id="26" name="Text 24">
            <a:extLst xmlns:a="http://schemas.openxmlformats.org/drawingml/2006/main">
              <a:ext uri="{FF2B5EF4-FFF2-40B4-BE49-F238E27FC236}">
                <a16:creationId xmlns:a16="http://schemas.microsoft.com/office/drawing/2014/main" id="{E14EDC19-F1E2-42DA-92B9-34876A38EBE4}"/>
              </a:ext>
            </a:extLst>
          </p:cNvPr>
          <p:cNvSpPr>
            <a:spLocks xmlns:a="http://schemas.openxmlformats.org/drawingml/2006/main" noGrp="1"/>
          </p:cNvSpPr>
          <p:nvPr/>
        </p:nvSpPr>
        <p:spPr>
          <a:xfrm xmlns:a="http://schemas.openxmlformats.org/drawingml/2006/main">
            <a:off x="7912981" y="6888853"/>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RQ4  </a:t>
            </a:r>
          </a:p>
        </p:txBody>
      </p:sp>
      <p:sp>
        <p:nvSpPr>
          <p:cNvPr id="27" name="Text 25">
            <a:extLst xmlns:a="http://schemas.openxmlformats.org/drawingml/2006/main">
              <a:ext uri="{FF2B5EF4-FFF2-40B4-BE49-F238E27FC236}">
                <a16:creationId xmlns:a16="http://schemas.microsoft.com/office/drawing/2014/main" id="{FB3D404E-BC32-4E00-8993-3EE390519E77}"/>
              </a:ext>
            </a:extLst>
          </p:cNvPr>
          <p:cNvSpPr>
            <a:spLocks xmlns:a="http://schemas.openxmlformats.org/drawingml/2006/main" noGrp="1"/>
          </p:cNvSpPr>
          <p:nvPr/>
        </p:nvSpPr>
        <p:spPr>
          <a:xfrm xmlns:a="http://schemas.openxmlformats.org/drawingml/2006/main">
            <a:off x="8522581" y="6888853"/>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discovered rules improve out-of-sample forecasts in walk-forward validation?</a:t>
            </a:r>
          </a:p>
        </p:txBody>
      </p:sp>
      <p:sp>
        <p:nvSpPr>
          <p:cNvPr id="28" name="Text 26">
            <a:extLst xmlns:a="http://schemas.openxmlformats.org/drawingml/2006/main">
              <a:ext uri="{FF2B5EF4-FFF2-40B4-BE49-F238E27FC236}">
                <a16:creationId xmlns:a16="http://schemas.microsoft.com/office/drawing/2014/main" id="{F5E1FC5C-686A-4360-8D1C-CACC29FDF1BE}"/>
              </a:ext>
            </a:extLst>
          </p:cNvPr>
          <p:cNvSpPr>
            <a:spLocks xmlns:a="http://schemas.openxmlformats.org/drawingml/2006/main" noGrp="1"/>
          </p:cNvSpPr>
          <p:nvPr/>
        </p:nvSpPr>
        <p:spPr>
          <a:xfrm xmlns:a="http://schemas.openxmlformats.org/drawingml/2006/main">
            <a:off x="2243701" y="8156821"/>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19287313"/>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6" name="Rectangle 35"/>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3ABC41FD-FD66-BD55-8CBE-4F86A5FC997D}"/>
              </a:ext>
            </a:extLst>
          </p:cNvPr>
          <p:cNvSpPr>
            <a:spLocks xmlns:a="http://schemas.openxmlformats.org/drawingml/2006/main" noGrp="1"/>
          </p:cNvSpPr>
          <p:nvPr/>
        </p:nvSpPr>
        <p:spPr>
          <a:xfrm xmlns:a="http://schemas.openxmlformats.org/drawingml/2006/main">
            <a:off x="1695061" y="1695061"/>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76943E3-5F4A-F628-74D7-94C314832AD1}"/>
              </a:ext>
            </a:extLst>
          </p:cNvPr>
          <p:cNvSpPr>
            <a:spLocks xmlns:a="http://schemas.openxmlformats.org/drawingml/2006/main" noGrp="1"/>
          </p:cNvSpPr>
          <p:nvPr/>
        </p:nvSpPr>
        <p:spPr>
          <a:xfrm xmlns:a="http://schemas.openxmlformats.org/drawingml/2006/main">
            <a:off x="2243701" y="1841365"/>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Two Goals, Four Research Questions</a:t>
            </a:r>
          </a:p>
        </p:txBody>
      </p:sp>
      <p:sp>
        <p:nvSpPr>
          <p:cNvPr id="4" name="Shape 2">
            <a:extLst xmlns:a="http://schemas.openxmlformats.org/drawingml/2006/main">
              <a:ext uri="{FF2B5EF4-FFF2-40B4-BE49-F238E27FC236}">
                <a16:creationId xmlns:a16="http://schemas.microsoft.com/office/drawing/2014/main" id="{61D5474E-B85F-CB36-708A-E6D460581028}"/>
              </a:ext>
            </a:extLst>
          </p:cNvPr>
          <p:cNvSpPr>
            <a:spLocks xmlns:a="http://schemas.openxmlformats.org/drawingml/2006/main" noGrp="1"/>
          </p:cNvSpPr>
          <p:nvPr/>
        </p:nvSpPr>
        <p:spPr>
          <a:xfrm xmlns:a="http://schemas.openxmlformats.org/drawingml/2006/main">
            <a:off x="2243701" y="2865493"/>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10F85C39-2135-FC14-0A15-16834B643578}"/>
              </a:ext>
            </a:extLst>
          </p:cNvPr>
          <p:cNvSpPr>
            <a:spLocks xmlns:a="http://schemas.openxmlformats.org/drawingml/2006/main" noGrp="1"/>
          </p:cNvSpPr>
          <p:nvPr/>
        </p:nvSpPr>
        <p:spPr>
          <a:xfrm xmlns:a="http://schemas.openxmlformats.org/drawingml/2006/main">
            <a:off x="12424021" y="8156821"/>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3 / 12</a:t>
            </a:r>
          </a:p>
        </p:txBody>
      </p:sp>
      <p:sp>
        <p:nvSpPr>
          <p:cNvPr id="6" name="Shape 4">
            <a:extLst xmlns:a="http://schemas.openxmlformats.org/drawingml/2006/main">
              <a:ext uri="{FF2B5EF4-FFF2-40B4-BE49-F238E27FC236}">
                <a16:creationId xmlns:a16="http://schemas.microsoft.com/office/drawing/2014/main" id="{3B733AF3-3885-7142-20DB-A17300C4AD00}"/>
              </a:ext>
            </a:extLst>
          </p:cNvPr>
          <p:cNvSpPr>
            <a:spLocks xmlns:a="http://schemas.openxmlformats.org/drawingml/2006/main" noGrp="1"/>
          </p:cNvSpPr>
          <p:nvPr/>
        </p:nvSpPr>
        <p:spPr>
          <a:xfrm xmlns:a="http://schemas.openxmlformats.org/drawingml/2006/main">
            <a:off x="2243701" y="3036181"/>
            <a:ext cx="5486400" cy="2560320"/>
          </a:xfrm>
          <a:prstGeom xmlns:a="http://schemas.openxmlformats.org/drawingml/2006/main" prst="rect">
            <a:avLst/>
          </a:prstGeom>
          <a:solidFill xmlns:a="http://schemas.openxmlformats.org/drawingml/2006/main">
            <a:srgbClr val="E8F4ED"/>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D50C6D3D-514B-2212-0428-9DAD33D370DD}"/>
              </a:ext>
            </a:extLst>
          </p:cNvPr>
          <p:cNvSpPr>
            <a:spLocks xmlns:a="http://schemas.openxmlformats.org/drawingml/2006/main" noGrp="1"/>
          </p:cNvSpPr>
          <p:nvPr/>
        </p:nvSpPr>
        <p:spPr>
          <a:xfrm xmlns:a="http://schemas.openxmlformats.org/drawingml/2006/main">
            <a:off x="2243701" y="3036181"/>
            <a:ext cx="73152" cy="2560320"/>
          </a:xfrm>
          <a:prstGeom xmlns:a="http://schemas.openxmlformats.org/drawingml/2006/main" prst="rect">
            <a:avLst/>
          </a:prstGeom>
          <a:solidFill xmlns:a="http://schemas.openxmlformats.org/drawingml/2006/main">
            <a:srgbClr val="3A7A50"/>
          </a:solidFill>
          <a:ln xmlns:a="http://schemas.openxmlformats.org/drawingml/2006/main" w="12700">
            <a:solidFill>
              <a:srgbClr val="3A7A50"/>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9C2DD699-8908-9753-A70B-CC95EEF13B53}"/>
              </a:ext>
            </a:extLst>
          </p:cNvPr>
          <p:cNvSpPr>
            <a:spLocks xmlns:a="http://schemas.openxmlformats.org/drawingml/2006/main" noGrp="1"/>
          </p:cNvSpPr>
          <p:nvPr/>
        </p:nvSpPr>
        <p:spPr>
          <a:xfrm xmlns:a="http://schemas.openxmlformats.org/drawingml/2006/main">
            <a:off x="2450965" y="3097141"/>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3A7A50"/>
                </a:solidFill>
                <a:latin typeface="Georgia"/>
                <a:ea typeface="Georgia"/>
                <a:cs typeface="Georgia"/>
              </a:rPr>
              <a:t>✓  GOAL 1 — Rule Discovery</a:t>
            </a:r>
          </a:p>
        </p:txBody>
      </p:sp>
      <p:sp>
        <p:nvSpPr>
          <p:cNvPr id="9" name="Text 7">
            <a:extLst xmlns:a="http://schemas.openxmlformats.org/drawingml/2006/main">
              <a:ext uri="{FF2B5EF4-FFF2-40B4-BE49-F238E27FC236}">
                <a16:creationId xmlns:a16="http://schemas.microsoft.com/office/drawing/2014/main" id="{336A8874-7C57-2EA8-DA84-C6BB3FC53F85}"/>
              </a:ext>
            </a:extLst>
          </p:cNvPr>
          <p:cNvSpPr>
            <a:spLocks xmlns:a="http://schemas.openxmlformats.org/drawingml/2006/main" noGrp="1"/>
          </p:cNvSpPr>
          <p:nvPr/>
        </p:nvSpPr>
        <p:spPr>
          <a:xfrm xmlns:a="http://schemas.openxmlformats.org/drawingml/2006/main">
            <a:off x="2450965" y="3548245"/>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xmlns:a="http://schemas.openxmlformats.org/drawingml/2006/main">
              <a:ext uri="{FF2B5EF4-FFF2-40B4-BE49-F238E27FC236}">
                <a16:creationId xmlns:a16="http://schemas.microsoft.com/office/drawing/2014/main" id="{2601501F-B0DB-A2DE-E65E-9A371241A745}"/>
              </a:ext>
            </a:extLst>
          </p:cNvPr>
          <p:cNvSpPr>
            <a:spLocks xmlns:a="http://schemas.openxmlformats.org/drawingml/2006/main" noGrp="1"/>
          </p:cNvSpPr>
          <p:nvPr/>
        </p:nvSpPr>
        <p:spPr>
          <a:xfrm xmlns:a="http://schemas.openxmlformats.org/drawingml/2006/main">
            <a:off x="2450965" y="4474837"/>
            <a:ext cx="487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3A7A50"/>
                </a:solidFill>
                <a:latin typeface="Calibri"/>
                <a:ea typeface="Calibri"/>
                <a:cs typeface="Calibri"/>
              </a:rPr>
              <a:t>ACHIEVED ✓</a:t>
            </a:r>
          </a:p>
        </p:txBody>
      </p:sp>
      <p:sp>
        <p:nvSpPr>
          <p:cNvPr id="11" name="Text 9">
            <a:extLst xmlns:a="http://schemas.openxmlformats.org/drawingml/2006/main">
              <a:ext uri="{FF2B5EF4-FFF2-40B4-BE49-F238E27FC236}">
                <a16:creationId xmlns:a16="http://schemas.microsoft.com/office/drawing/2014/main" id="{18BCE43C-B669-9FD9-4D08-7116FD80D71E}"/>
              </a:ext>
            </a:extLst>
          </p:cNvPr>
          <p:cNvSpPr>
            <a:spLocks xmlns:a="http://schemas.openxmlformats.org/drawingml/2006/main" noGrp="1"/>
          </p:cNvSpPr>
          <p:nvPr/>
        </p:nvSpPr>
        <p:spPr>
          <a:xfrm xmlns:a="http://schemas.openxmlformats.org/drawingml/2006/main">
            <a:off x="2450965" y="4816213"/>
            <a:ext cx="487680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48 rules (RDD) · 20 rules (RVV)</a:t>
            </a:r>
          </a:p>
        </p:txBody>
      </p:sp>
      <p:sp>
        <p:nvSpPr>
          <p:cNvPr id="12" name="Shape 10">
            <a:extLst xmlns:a="http://schemas.openxmlformats.org/drawingml/2006/main">
              <a:ext uri="{FF2B5EF4-FFF2-40B4-BE49-F238E27FC236}">
                <a16:creationId xmlns:a16="http://schemas.microsoft.com/office/drawing/2014/main" id="{2DCDFD32-66AC-E6EF-353E-56FE3033BE39}"/>
              </a:ext>
            </a:extLst>
          </p:cNvPr>
          <p:cNvSpPr>
            <a:spLocks xmlns:a="http://schemas.openxmlformats.org/drawingml/2006/main" noGrp="1"/>
          </p:cNvSpPr>
          <p:nvPr/>
        </p:nvSpPr>
        <p:spPr>
          <a:xfrm xmlns:a="http://schemas.openxmlformats.org/drawingml/2006/main">
            <a:off x="7852021" y="3036181"/>
            <a:ext cx="5486400" cy="2560320"/>
          </a:xfrm>
          <a:prstGeom xmlns:a="http://schemas.openxmlformats.org/drawingml/2006/main" prst="rect">
            <a:avLst/>
          </a:prstGeom>
          <a:solidFill xmlns:a="http://schemas.openxmlformats.org/drawingml/2006/main">
            <a:srgbClr val="F9ECEC"/>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4EF2F843-8FA6-4247-31CC-E63788522477}"/>
              </a:ext>
            </a:extLst>
          </p:cNvPr>
          <p:cNvSpPr>
            <a:spLocks xmlns:a="http://schemas.openxmlformats.org/drawingml/2006/main" noGrp="1"/>
          </p:cNvSpPr>
          <p:nvPr/>
        </p:nvSpPr>
        <p:spPr>
          <a:xfrm xmlns:a="http://schemas.openxmlformats.org/drawingml/2006/main">
            <a:off x="7852021" y="3036181"/>
            <a:ext cx="73152" cy="2560320"/>
          </a:xfrm>
          <a:prstGeom xmlns:a="http://schemas.openxmlformats.org/drawingml/2006/main" prst="rect">
            <a:avLst/>
          </a:prstGeom>
          <a:solidFill xmlns:a="http://schemas.openxmlformats.org/drawingml/2006/main">
            <a:srgbClr val="B74A4A"/>
          </a:solidFill>
          <a:ln xmlns:a="http://schemas.openxmlformats.org/drawingml/2006/main" w="12700">
            <a:solidFill>
              <a:srgbClr val="B74A4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855814AC-7AB8-5B50-A56A-A6F99DCA40EF}"/>
              </a:ext>
            </a:extLst>
          </p:cNvPr>
          <p:cNvSpPr>
            <a:spLocks xmlns:a="http://schemas.openxmlformats.org/drawingml/2006/main" noGrp="1"/>
          </p:cNvSpPr>
          <p:nvPr/>
        </p:nvSpPr>
        <p:spPr>
          <a:xfrm xmlns:a="http://schemas.openxmlformats.org/drawingml/2006/main">
            <a:off x="8059285" y="3097141"/>
            <a:ext cx="51206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733" b="1">
                <a:solidFill>
                  <a:srgbClr val="B74A4A"/>
                </a:solidFill>
                <a:latin typeface="Georgia"/>
                <a:ea typeface="Georgia"/>
                <a:cs typeface="Georgia"/>
              </a:rPr>
              <a:t>✗  GOAL 2 — Predictive Validation</a:t>
            </a:r>
          </a:p>
        </p:txBody>
      </p:sp>
      <p:sp>
        <p:nvSpPr>
          <p:cNvPr id="15" name="Text 13">
            <a:extLst xmlns:a="http://schemas.openxmlformats.org/drawingml/2006/main">
              <a:ext uri="{FF2B5EF4-FFF2-40B4-BE49-F238E27FC236}">
                <a16:creationId xmlns:a16="http://schemas.microsoft.com/office/drawing/2014/main" id="{6257D09F-F6D6-581B-A73A-B7AD8BF40EA0}"/>
              </a:ext>
            </a:extLst>
          </p:cNvPr>
          <p:cNvSpPr>
            <a:spLocks xmlns:a="http://schemas.openxmlformats.org/drawingml/2006/main" noGrp="1"/>
          </p:cNvSpPr>
          <p:nvPr/>
        </p:nvSpPr>
        <p:spPr>
          <a:xfrm xmlns:a="http://schemas.openxmlformats.org/drawingml/2006/main">
            <a:off x="8059285" y="3548245"/>
            <a:ext cx="512064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xmlns:a="http://schemas.openxmlformats.org/drawingml/2006/main">
              <a:ext uri="{FF2B5EF4-FFF2-40B4-BE49-F238E27FC236}">
                <a16:creationId xmlns:a16="http://schemas.microsoft.com/office/drawing/2014/main" id="{D9D6DDF4-18E0-82F5-A14D-96E42D60B91C}"/>
              </a:ext>
            </a:extLst>
          </p:cNvPr>
          <p:cNvSpPr>
            <a:spLocks xmlns:a="http://schemas.openxmlformats.org/drawingml/2006/main" noGrp="1"/>
          </p:cNvSpPr>
          <p:nvPr/>
        </p:nvSpPr>
        <p:spPr>
          <a:xfrm xmlns:a="http://schemas.openxmlformats.org/drawingml/2006/main">
            <a:off x="8059285" y="4474837"/>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B74A4A"/>
                </a:solidFill>
                <a:latin typeface="Calibri"/>
                <a:ea typeface="Calibri"/>
                <a:cs typeface="Calibri"/>
              </a:rPr>
              <a:t>NOT ACHIEVED in aggregate</a:t>
            </a:r>
          </a:p>
        </p:txBody>
      </p:sp>
      <p:sp>
        <p:nvSpPr>
          <p:cNvPr id="17" name="Text 15">
            <a:extLst xmlns:a="http://schemas.openxmlformats.org/drawingml/2006/main">
              <a:ext uri="{FF2B5EF4-FFF2-40B4-BE49-F238E27FC236}">
                <a16:creationId xmlns:a16="http://schemas.microsoft.com/office/drawing/2014/main" id="{CAC40BFD-C4E2-4AE3-0D08-CBA8CCE39719}"/>
              </a:ext>
            </a:extLst>
          </p:cNvPr>
          <p:cNvSpPr>
            <a:spLocks xmlns:a="http://schemas.openxmlformats.org/drawingml/2006/main" noGrp="1"/>
          </p:cNvSpPr>
          <p:nvPr/>
        </p:nvSpPr>
        <p:spPr>
          <a:xfrm xmlns:a="http://schemas.openxmlformats.org/drawingml/2006/main">
            <a:off x="8059285" y="4816213"/>
            <a:ext cx="51206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i="1">
                <a:solidFill>
                  <a:srgbClr val="5A4042"/>
                </a:solidFill>
                <a:latin typeface="Calibri"/>
                <a:ea typeface="Calibri"/>
                <a:cs typeface="Calibri"/>
              </a:rPr>
              <a:t>Conditional finding in Douro (exploratory)</a:t>
            </a:r>
          </a:p>
        </p:txBody>
      </p:sp>
      <p:sp>
        <p:nvSpPr>
          <p:cNvPr id="18" name="Shape 16">
            <a:extLst xmlns:a="http://schemas.openxmlformats.org/drawingml/2006/main">
              <a:ext uri="{FF2B5EF4-FFF2-40B4-BE49-F238E27FC236}">
                <a16:creationId xmlns:a16="http://schemas.microsoft.com/office/drawing/2014/main" id="{570F2AAA-785F-C97C-89FD-608402ED5310}"/>
              </a:ext>
            </a:extLst>
          </p:cNvPr>
          <p:cNvSpPr>
            <a:spLocks xmlns:a="http://schemas.openxmlformats.org/drawingml/2006/main" noGrp="1"/>
          </p:cNvSpPr>
          <p:nvPr/>
        </p:nvSpPr>
        <p:spPr>
          <a:xfrm xmlns:a="http://schemas.openxmlformats.org/drawingml/2006/main">
            <a:off x="2243701" y="5779381"/>
            <a:ext cx="11094720" cy="2377440"/>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CE65445A-3D87-DB00-351C-3418D44CDBEE}"/>
              </a:ext>
            </a:extLst>
          </p:cNvPr>
          <p:cNvSpPr>
            <a:spLocks xmlns:a="http://schemas.openxmlformats.org/drawingml/2006/main" noGrp="1"/>
          </p:cNvSpPr>
          <p:nvPr/>
        </p:nvSpPr>
        <p:spPr>
          <a:xfrm xmlns:a="http://schemas.openxmlformats.org/drawingml/2006/main">
            <a:off x="2487541" y="5864725"/>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b="1">
                <a:solidFill>
                  <a:srgbClr val="6B2737"/>
                </a:solidFill>
                <a:latin typeface="Georgia"/>
                <a:ea typeface="Georgia"/>
                <a:cs typeface="Georgia"/>
              </a:rPr>
              <a:t>Research Questions</a:t>
            </a:r>
          </a:p>
        </p:txBody>
      </p:sp>
      <p:sp>
        <p:nvSpPr>
          <p:cNvPr id="20" name="Text 18">
            <a:extLst xmlns:a="http://schemas.openxmlformats.org/drawingml/2006/main">
              <a:ext uri="{FF2B5EF4-FFF2-40B4-BE49-F238E27FC236}">
                <a16:creationId xmlns:a16="http://schemas.microsoft.com/office/drawing/2014/main" id="{BCD3C0B8-66F5-AB95-E6AB-347813F6B451}"/>
              </a:ext>
            </a:extLst>
          </p:cNvPr>
          <p:cNvSpPr>
            <a:spLocks xmlns:a="http://schemas.openxmlformats.org/drawingml/2006/main" noGrp="1"/>
          </p:cNvSpPr>
          <p:nvPr/>
        </p:nvSpPr>
        <p:spPr>
          <a:xfrm xmlns:a="http://schemas.openxmlformats.org/drawingml/2006/main">
            <a:off x="2487541" y="6303637"/>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RQ1  </a:t>
            </a:r>
          </a:p>
        </p:txBody>
      </p:sp>
      <p:sp>
        <p:nvSpPr>
          <p:cNvPr id="21" name="Text 19">
            <a:extLst xmlns:a="http://schemas.openxmlformats.org/drawingml/2006/main">
              <a:ext uri="{FF2B5EF4-FFF2-40B4-BE49-F238E27FC236}">
                <a16:creationId xmlns:a16="http://schemas.microsoft.com/office/drawing/2014/main" id="{E489CD6F-A3F0-E121-1276-416914011DA1}"/>
              </a:ext>
            </a:extLst>
          </p:cNvPr>
          <p:cNvSpPr>
            <a:spLocks xmlns:a="http://schemas.openxmlformats.org/drawingml/2006/main" noGrp="1"/>
          </p:cNvSpPr>
          <p:nvPr/>
        </p:nvSpPr>
        <p:spPr>
          <a:xfrm xmlns:a="http://schemas.openxmlformats.org/drawingml/2006/main">
            <a:off x="3097141" y="6303637"/>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Which climate variables most consistently distinguish above/below-trend years?</a:t>
            </a:r>
          </a:p>
        </p:txBody>
      </p:sp>
      <p:sp>
        <p:nvSpPr>
          <p:cNvPr id="22" name="Text 20">
            <a:extLst xmlns:a="http://schemas.openxmlformats.org/drawingml/2006/main">
              <a:ext uri="{FF2B5EF4-FFF2-40B4-BE49-F238E27FC236}">
                <a16:creationId xmlns:a16="http://schemas.microsoft.com/office/drawing/2014/main" id="{06720412-0F36-BB73-762F-90A3357F6AF3}"/>
              </a:ext>
            </a:extLst>
          </p:cNvPr>
          <p:cNvSpPr>
            <a:spLocks xmlns:a="http://schemas.openxmlformats.org/drawingml/2006/main" noGrp="1"/>
          </p:cNvSpPr>
          <p:nvPr/>
        </p:nvSpPr>
        <p:spPr>
          <a:xfrm xmlns:a="http://schemas.openxmlformats.org/drawingml/2006/main">
            <a:off x="2487541" y="6888853"/>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RQ2  </a:t>
            </a:r>
          </a:p>
        </p:txBody>
      </p:sp>
      <p:sp>
        <p:nvSpPr>
          <p:cNvPr id="23" name="Text 21">
            <a:extLst xmlns:a="http://schemas.openxmlformats.org/drawingml/2006/main">
              <a:ext uri="{FF2B5EF4-FFF2-40B4-BE49-F238E27FC236}">
                <a16:creationId xmlns:a16="http://schemas.microsoft.com/office/drawing/2014/main" id="{924002C7-3EEC-1829-7A33-9C97A3ADF32F}"/>
              </a:ext>
            </a:extLst>
          </p:cNvPr>
          <p:cNvSpPr>
            <a:spLocks xmlns:a="http://schemas.openxmlformats.org/drawingml/2006/main" noGrp="1"/>
          </p:cNvSpPr>
          <p:nvPr/>
        </p:nvSpPr>
        <p:spPr>
          <a:xfrm xmlns:a="http://schemas.openxmlformats.org/drawingml/2006/main">
            <a:off x="3097141" y="6888853"/>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Are the identified variables genuine within-era signals or era-membership artefacts?</a:t>
            </a:r>
          </a:p>
        </p:txBody>
      </p:sp>
      <p:sp>
        <p:nvSpPr>
          <p:cNvPr id="24" name="Text 22">
            <a:extLst xmlns:a="http://schemas.openxmlformats.org/drawingml/2006/main">
              <a:ext uri="{FF2B5EF4-FFF2-40B4-BE49-F238E27FC236}">
                <a16:creationId xmlns:a16="http://schemas.microsoft.com/office/drawing/2014/main" id="{14F03383-7B7B-6C09-F153-F1C665953062}"/>
              </a:ext>
            </a:extLst>
          </p:cNvPr>
          <p:cNvSpPr>
            <a:spLocks xmlns:a="http://schemas.openxmlformats.org/drawingml/2006/main" noGrp="1"/>
          </p:cNvSpPr>
          <p:nvPr/>
        </p:nvSpPr>
        <p:spPr>
          <a:xfrm xmlns:a="http://schemas.openxmlformats.org/drawingml/2006/main">
            <a:off x="7912981" y="6303637"/>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RQ3  </a:t>
            </a:r>
          </a:p>
        </p:txBody>
      </p:sp>
      <p:sp>
        <p:nvSpPr>
          <p:cNvPr id="25" name="Text 23">
            <a:extLst xmlns:a="http://schemas.openxmlformats.org/drawingml/2006/main">
              <a:ext uri="{FF2B5EF4-FFF2-40B4-BE49-F238E27FC236}">
                <a16:creationId xmlns:a16="http://schemas.microsoft.com/office/drawing/2014/main" id="{26C7B69D-77EA-4FF8-0297-B1C43C62609D}"/>
              </a:ext>
            </a:extLst>
          </p:cNvPr>
          <p:cNvSpPr>
            <a:spLocks xmlns:a="http://schemas.openxmlformats.org/drawingml/2006/main" noGrp="1"/>
          </p:cNvSpPr>
          <p:nvPr/>
        </p:nvSpPr>
        <p:spPr>
          <a:xfrm xmlns:a="http://schemas.openxmlformats.org/drawingml/2006/main">
            <a:off x="8522581" y="6303637"/>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three independent algorithms converge on the same features?</a:t>
            </a:r>
          </a:p>
        </p:txBody>
      </p:sp>
      <p:sp>
        <p:nvSpPr>
          <p:cNvPr id="26" name="Text 24">
            <a:extLst xmlns:a="http://schemas.openxmlformats.org/drawingml/2006/main">
              <a:ext uri="{FF2B5EF4-FFF2-40B4-BE49-F238E27FC236}">
                <a16:creationId xmlns:a16="http://schemas.microsoft.com/office/drawing/2014/main" id="{7B5125BD-1E33-0624-B751-5FB117B4674E}"/>
              </a:ext>
            </a:extLst>
          </p:cNvPr>
          <p:cNvSpPr>
            <a:spLocks xmlns:a="http://schemas.openxmlformats.org/drawingml/2006/main" noGrp="1"/>
          </p:cNvSpPr>
          <p:nvPr/>
        </p:nvSpPr>
        <p:spPr>
          <a:xfrm xmlns:a="http://schemas.openxmlformats.org/drawingml/2006/main">
            <a:off x="7912981" y="6888853"/>
            <a:ext cx="609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C4964A"/>
                </a:solidFill>
                <a:latin typeface="Calibri"/>
                <a:ea typeface="Calibri"/>
                <a:cs typeface="Calibri"/>
              </a:rPr>
              <a:t>RQ4  </a:t>
            </a:r>
          </a:p>
        </p:txBody>
      </p:sp>
      <p:sp>
        <p:nvSpPr>
          <p:cNvPr id="27" name="Text 25">
            <a:extLst xmlns:a="http://schemas.openxmlformats.org/drawingml/2006/main">
              <a:ext uri="{FF2B5EF4-FFF2-40B4-BE49-F238E27FC236}">
                <a16:creationId xmlns:a16="http://schemas.microsoft.com/office/drawing/2014/main" id="{F8B36E63-9F22-19CE-B441-2D9A4DE4EDA8}"/>
              </a:ext>
            </a:extLst>
          </p:cNvPr>
          <p:cNvSpPr>
            <a:spLocks xmlns:a="http://schemas.openxmlformats.org/drawingml/2006/main" noGrp="1"/>
          </p:cNvSpPr>
          <p:nvPr/>
        </p:nvSpPr>
        <p:spPr>
          <a:xfrm xmlns:a="http://schemas.openxmlformats.org/drawingml/2006/main">
            <a:off x="8522581" y="6888853"/>
            <a:ext cx="47548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Do discovered rules improve out-of-sample forecasts in walk-forward validation?</a:t>
            </a:r>
          </a:p>
        </p:txBody>
      </p:sp>
      <p:sp>
        <p:nvSpPr>
          <p:cNvPr id="28" name="Text 26">
            <a:extLst xmlns:a="http://schemas.openxmlformats.org/drawingml/2006/main">
              <a:ext uri="{FF2B5EF4-FFF2-40B4-BE49-F238E27FC236}">
                <a16:creationId xmlns:a16="http://schemas.microsoft.com/office/drawing/2014/main" id="{3D3FBFE4-9EE0-3916-28C7-1B3E1B6E75F1}"/>
              </a:ext>
            </a:extLst>
          </p:cNvPr>
          <p:cNvSpPr>
            <a:spLocks xmlns:a="http://schemas.openxmlformats.org/drawingml/2006/main" noGrp="1"/>
          </p:cNvSpPr>
          <p:nvPr/>
        </p:nvSpPr>
        <p:spPr>
          <a:xfrm xmlns:a="http://schemas.openxmlformats.org/drawingml/2006/main">
            <a:off x="2243701" y="8156821"/>
            <a:ext cx="110947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65" name="Rectangle 6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Rectangle 6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Rectangle 6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Rectangle 6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Rectangle 6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Rectangle 5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Rectangle 5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Rectangle 5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a:extLst xmlns:a="http://schemas.openxmlformats.org/drawingml/2006/main">
              <a:ext uri="{FF2B5EF4-FFF2-40B4-BE49-F238E27FC236}">
                <a16:creationId xmlns:a16="http://schemas.microsoft.com/office/drawing/2014/main" id="{2E8E1296-93E3-4176-82F6-FAF295AA50A0}"/>
              </a:ext>
            </a:extLst>
          </p:cNvPr>
          <p:cNvSpPr>
            <a:spLocks xmlns:a="http://schemas.openxmlformats.org/drawingml/2006/main" noGrp="1"/>
          </p:cNvSpPr>
          <p:nvPr/>
        </p:nvSpPr>
        <p:spPr>
          <a:xfrm xmlns:a="http://schemas.openxmlformats.org/drawingml/2006/main">
            <a:off x="1695061" y="1695061"/>
            <a:ext cx="12192000" cy="67733"/>
          </a:xfrm>
          <a:prstGeom xmlns:a="http://schemas.openxmlformats.org/drawingml/2006/main" prst="rect">
            <a:avLst/>
          </a:prstGeom>
          <a:solidFill xmlns:a="http://schemas.openxmlformats.org/drawingml/2006/main">
            <a:srgbClr val="C4964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A27CE5D-B1AB-4ABD-B8C7-A69AC24B1BCE}"/>
              </a:ext>
            </a:extLst>
          </p:cNvPr>
          <p:cNvSpPr>
            <a:spLocks xmlns:a="http://schemas.openxmlformats.org/drawingml/2006/main" noGrp="1"/>
          </p:cNvSpPr>
          <p:nvPr/>
        </p:nvSpPr>
        <p:spPr>
          <a:xfrm xmlns:a="http://schemas.openxmlformats.org/drawingml/2006/main">
            <a:off x="2304661" y="1847462"/>
            <a:ext cx="109728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3200" b="1">
                <a:solidFill>
                  <a:srgbClr val="6B2737"/>
                </a:solidFill>
                <a:latin typeface="Georgia"/>
                <a:ea typeface="Georgia"/>
                <a:cs typeface="Georgia"/>
              </a:rPr>
              <a:t>Algorithm Comparison</a:t>
            </a:r>
          </a:p>
        </p:txBody>
      </p:sp>
      <p:sp>
        <p:nvSpPr>
          <p:cNvPr id="4" name="TextBox 3">
            <a:extLst xmlns:a="http://schemas.openxmlformats.org/drawingml/2006/main">
              <a:ext uri="{FF2B5EF4-FFF2-40B4-BE49-F238E27FC236}">
                <a16:creationId xmlns:a16="http://schemas.microsoft.com/office/drawing/2014/main" id="{1E7F40C1-E0D6-40C7-8821-E53820D0BEB3}"/>
              </a:ext>
            </a:extLst>
          </p:cNvPr>
          <p:cNvSpPr>
            <a:spLocks xmlns:a="http://schemas.openxmlformats.org/drawingml/2006/main" noGrp="1"/>
          </p:cNvSpPr>
          <p:nvPr/>
        </p:nvSpPr>
        <p:spPr>
          <a:xfrm xmlns:a="http://schemas.openxmlformats.org/drawingml/2006/main">
            <a:off x="2304661" y="2406261"/>
            <a:ext cx="10972800" cy="2974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xmlns:a="http://schemas.openxmlformats.org/drawingml/2006/main">
              <a:ext uri="{FF2B5EF4-FFF2-40B4-BE49-F238E27FC236}">
                <a16:creationId xmlns:a16="http://schemas.microsoft.com/office/drawing/2014/main" id="{B1C56359-1755-4466-B8F6-F3FABAA68A0F}"/>
              </a:ext>
            </a:extLst>
          </p:cNvPr>
          <p:cNvSpPr>
            <a:spLocks xmlns:a="http://schemas.openxmlformats.org/drawingml/2006/main" noGrp="1"/>
          </p:cNvSpPr>
          <p:nvPr/>
        </p:nvSpPr>
        <p:spPr>
          <a:xfrm xmlns:a="http://schemas.openxmlformats.org/drawingml/2006/main">
            <a:off x="2304661" y="2677195"/>
            <a:ext cx="10972800" cy="16933"/>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57BC2415-7563-4FD5-9057-7D806BDFA9ED}"/>
              </a:ext>
            </a:extLst>
          </p:cNvPr>
          <p:cNvSpPr>
            <a:spLocks xmlns:a="http://schemas.openxmlformats.org/drawingml/2006/main" noGrp="1"/>
          </p:cNvSpPr>
          <p:nvPr/>
        </p:nvSpPr>
        <p:spPr>
          <a:xfrm xmlns:a="http://schemas.openxmlformats.org/drawingml/2006/main">
            <a:off x="2304661" y="2778794"/>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CFB11B5-58DB-4BD9-B172-BE94E1EF0EBC}"/>
              </a:ext>
            </a:extLst>
          </p:cNvPr>
          <p:cNvSpPr>
            <a:spLocks xmlns:a="http://schemas.openxmlformats.org/drawingml/2006/main" noGrp="1"/>
          </p:cNvSpPr>
          <p:nvPr/>
        </p:nvSpPr>
        <p:spPr>
          <a:xfrm xmlns:a="http://schemas.openxmlformats.org/drawingml/2006/main">
            <a:off x="2304661" y="2795728"/>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C4964A"/>
                </a:solidFill>
                <a:latin typeface="Georgia"/>
                <a:ea typeface="Georgia"/>
                <a:cs typeface="Georgia"/>
              </a:rPr>
              <a:t>CarenR</a:t>
            </a:r>
          </a:p>
        </p:txBody>
      </p:sp>
      <p:sp>
        <p:nvSpPr>
          <p:cNvPr id="8" name="TextBox 7">
            <a:extLst xmlns:a="http://schemas.openxmlformats.org/drawingml/2006/main">
              <a:ext uri="{FF2B5EF4-FFF2-40B4-BE49-F238E27FC236}">
                <a16:creationId xmlns:a16="http://schemas.microsoft.com/office/drawing/2014/main" id="{134E499B-CE8B-45F9-A283-4484BF5D82D9}"/>
              </a:ext>
            </a:extLst>
          </p:cNvPr>
          <p:cNvSpPr>
            <a:spLocks xmlns:a="http://schemas.openxmlformats.org/drawingml/2006/main" noGrp="1"/>
          </p:cNvSpPr>
          <p:nvPr/>
        </p:nvSpPr>
        <p:spPr>
          <a:xfrm xmlns:a="http://schemas.openxmlformats.org/drawingml/2006/main">
            <a:off x="2304661" y="3066662"/>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C4964A"/>
                </a:solidFill>
                <a:latin typeface="Calibri"/>
                <a:ea typeface="Calibri"/>
                <a:cs typeface="Calibri"/>
              </a:rPr>
              <a:t>Primary algorithm</a:t>
            </a:r>
          </a:p>
        </p:txBody>
      </p:sp>
      <p:sp>
        <p:nvSpPr>
          <p:cNvPr id="9" name="Rectangle 8">
            <a:extLst xmlns:a="http://schemas.openxmlformats.org/drawingml/2006/main">
              <a:ext uri="{FF2B5EF4-FFF2-40B4-BE49-F238E27FC236}">
                <a16:creationId xmlns:a16="http://schemas.microsoft.com/office/drawing/2014/main" id="{F58393F3-83AD-4A2D-9C63-128C21A721D1}"/>
              </a:ext>
            </a:extLst>
          </p:cNvPr>
          <p:cNvSpPr>
            <a:spLocks xmlns:a="http://schemas.openxmlformats.org/drawingml/2006/main" noGrp="1"/>
          </p:cNvSpPr>
          <p:nvPr/>
        </p:nvSpPr>
        <p:spPr>
          <a:xfrm xmlns:a="http://schemas.openxmlformats.org/drawingml/2006/main">
            <a:off x="5962261" y="2778794"/>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3DA26515-524E-4820-B4AD-E94B326B7114}"/>
              </a:ext>
            </a:extLst>
          </p:cNvPr>
          <p:cNvSpPr>
            <a:spLocks xmlns:a="http://schemas.openxmlformats.org/drawingml/2006/main" noGrp="1"/>
          </p:cNvSpPr>
          <p:nvPr/>
        </p:nvSpPr>
        <p:spPr>
          <a:xfrm xmlns:a="http://schemas.openxmlformats.org/drawingml/2006/main">
            <a:off x="5962261" y="2795728"/>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F8F2EA"/>
                </a:solidFill>
                <a:latin typeface="Georgia"/>
                <a:ea typeface="Georgia"/>
                <a:cs typeface="Georgia"/>
              </a:rPr>
              <a:t>RIPPER</a:t>
            </a:r>
          </a:p>
        </p:txBody>
      </p:sp>
      <p:sp>
        <p:nvSpPr>
          <p:cNvPr id="11" name="TextBox 10">
            <a:extLst xmlns:a="http://schemas.openxmlformats.org/drawingml/2006/main">
              <a:ext uri="{FF2B5EF4-FFF2-40B4-BE49-F238E27FC236}">
                <a16:creationId xmlns:a16="http://schemas.microsoft.com/office/drawing/2014/main" id="{3C996633-47A3-4225-BF8C-98BB13A46E9A}"/>
              </a:ext>
            </a:extLst>
          </p:cNvPr>
          <p:cNvSpPr>
            <a:spLocks xmlns:a="http://schemas.openxmlformats.org/drawingml/2006/main" noGrp="1"/>
          </p:cNvSpPr>
          <p:nvPr/>
        </p:nvSpPr>
        <p:spPr>
          <a:xfrm xmlns:a="http://schemas.openxmlformats.org/drawingml/2006/main">
            <a:off x="5962261" y="3066662"/>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DDCCBB"/>
                </a:solidFill>
                <a:latin typeface="Calibri"/>
                <a:ea typeface="Calibri"/>
                <a:cs typeface="Calibri"/>
              </a:rPr>
              <a:t>Classification baseline</a:t>
            </a:r>
          </a:p>
        </p:txBody>
      </p:sp>
      <p:sp>
        <p:nvSpPr>
          <p:cNvPr id="12" name="Rectangle 11">
            <a:extLst xmlns:a="http://schemas.openxmlformats.org/drawingml/2006/main">
              <a:ext uri="{FF2B5EF4-FFF2-40B4-BE49-F238E27FC236}">
                <a16:creationId xmlns:a16="http://schemas.microsoft.com/office/drawing/2014/main" id="{CADB6588-2DB4-4416-9193-E4F40E779887}"/>
              </a:ext>
            </a:extLst>
          </p:cNvPr>
          <p:cNvSpPr>
            <a:spLocks xmlns:a="http://schemas.openxmlformats.org/drawingml/2006/main" noGrp="1"/>
          </p:cNvSpPr>
          <p:nvPr/>
        </p:nvSpPr>
        <p:spPr>
          <a:xfrm xmlns:a="http://schemas.openxmlformats.org/drawingml/2006/main">
            <a:off x="9619861" y="2778794"/>
            <a:ext cx="3589867" cy="5418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17F876B3-7E2F-467C-BBD9-1FD98BCB1264}"/>
              </a:ext>
            </a:extLst>
          </p:cNvPr>
          <p:cNvSpPr>
            <a:spLocks xmlns:a="http://schemas.openxmlformats.org/drawingml/2006/main" noGrp="1"/>
          </p:cNvSpPr>
          <p:nvPr/>
        </p:nvSpPr>
        <p:spPr>
          <a:xfrm xmlns:a="http://schemas.openxmlformats.org/drawingml/2006/main">
            <a:off x="9619861" y="2795728"/>
            <a:ext cx="3589867" cy="3590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33" b="1">
                <a:solidFill>
                  <a:srgbClr val="F8F2EA"/>
                </a:solidFill>
                <a:latin typeface="Georgia"/>
                <a:ea typeface="Georgia"/>
                <a:cs typeface="Georgia"/>
              </a:rPr>
              <a:t>M5Rules</a:t>
            </a:r>
          </a:p>
        </p:txBody>
      </p:sp>
      <p:sp>
        <p:nvSpPr>
          <p:cNvPr id="14" name="TextBox 13">
            <a:extLst xmlns:a="http://schemas.openxmlformats.org/drawingml/2006/main">
              <a:ext uri="{FF2B5EF4-FFF2-40B4-BE49-F238E27FC236}">
                <a16:creationId xmlns:a16="http://schemas.microsoft.com/office/drawing/2014/main" id="{BDCC1400-27B4-4F0B-BD93-5779D7922DB8}"/>
              </a:ext>
            </a:extLst>
          </p:cNvPr>
          <p:cNvSpPr>
            <a:spLocks xmlns:a="http://schemas.openxmlformats.org/drawingml/2006/main" noGrp="1"/>
          </p:cNvSpPr>
          <p:nvPr/>
        </p:nvSpPr>
        <p:spPr>
          <a:xfrm xmlns:a="http://schemas.openxmlformats.org/drawingml/2006/main">
            <a:off x="9619861" y="3066662"/>
            <a:ext cx="3589867"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DDCCBB"/>
                </a:solidFill>
                <a:latin typeface="Calibri"/>
                <a:ea typeface="Calibri"/>
                <a:cs typeface="Calibri"/>
              </a:rPr>
              <a:t>Regression baseline</a:t>
            </a:r>
          </a:p>
        </p:txBody>
      </p:sp>
      <p:sp>
        <p:nvSpPr>
          <p:cNvPr id="15" name="Rectangle 14">
            <a:extLst xmlns:a="http://schemas.openxmlformats.org/drawingml/2006/main">
              <a:ext uri="{FF2B5EF4-FFF2-40B4-BE49-F238E27FC236}">
                <a16:creationId xmlns:a16="http://schemas.microsoft.com/office/drawing/2014/main" id="{08D7CADA-D7A3-4DE7-932B-D2183138B2F4}"/>
              </a:ext>
            </a:extLst>
          </p:cNvPr>
          <p:cNvSpPr>
            <a:spLocks xmlns:a="http://schemas.openxmlformats.org/drawingml/2006/main" noGrp="1"/>
          </p:cNvSpPr>
          <p:nvPr/>
        </p:nvSpPr>
        <p:spPr>
          <a:xfrm xmlns:a="http://schemas.openxmlformats.org/drawingml/2006/main">
            <a:off x="2304661" y="3388394"/>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C16E062-6B4B-403C-8ECD-F6733E1F1010}"/>
              </a:ext>
            </a:extLst>
          </p:cNvPr>
          <p:cNvSpPr>
            <a:spLocks xmlns:a="http://schemas.openxmlformats.org/drawingml/2006/main" noGrp="1"/>
          </p:cNvSpPr>
          <p:nvPr/>
        </p:nvSpPr>
        <p:spPr>
          <a:xfrm xmlns:a="http://schemas.openxmlformats.org/drawingml/2006/main">
            <a:off x="2304661" y="3388394"/>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6354CBE9-7CAC-4751-A1EB-46E21E7CA3D5}"/>
              </a:ext>
            </a:extLst>
          </p:cNvPr>
          <p:cNvSpPr>
            <a:spLocks xmlns:a="http://schemas.openxmlformats.org/drawingml/2006/main" noGrp="1"/>
          </p:cNvSpPr>
          <p:nvPr/>
        </p:nvSpPr>
        <p:spPr>
          <a:xfrm xmlns:a="http://schemas.openxmlformats.org/drawingml/2006/main">
            <a:off x="2321594" y="3456128"/>
            <a:ext cx="541867" cy="6665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Research
question</a:t>
            </a:r>
          </a:p>
        </p:txBody>
      </p:sp>
      <p:sp>
        <p:nvSpPr>
          <p:cNvPr id="18" name="Rectangle 17">
            <a:extLst xmlns:a="http://schemas.openxmlformats.org/drawingml/2006/main">
              <a:ext uri="{FF2B5EF4-FFF2-40B4-BE49-F238E27FC236}">
                <a16:creationId xmlns:a16="http://schemas.microsoft.com/office/drawing/2014/main" id="{99DA80F4-61C4-455D-827A-38A8F6A5D421}"/>
              </a:ext>
            </a:extLst>
          </p:cNvPr>
          <p:cNvSpPr>
            <a:spLocks xmlns:a="http://schemas.openxmlformats.org/drawingml/2006/main" noGrp="1"/>
          </p:cNvSpPr>
          <p:nvPr/>
        </p:nvSpPr>
        <p:spPr>
          <a:xfrm xmlns:a="http://schemas.openxmlformats.org/drawingml/2006/main">
            <a:off x="5945328" y="33883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38FA9709-F89A-4D15-91B9-10E6E0115D1E}"/>
              </a:ext>
            </a:extLst>
          </p:cNvPr>
          <p:cNvSpPr>
            <a:spLocks xmlns:a="http://schemas.openxmlformats.org/drawingml/2006/main" noGrp="1"/>
          </p:cNvSpPr>
          <p:nvPr/>
        </p:nvSpPr>
        <p:spPr>
          <a:xfrm xmlns:a="http://schemas.openxmlformats.org/drawingml/2006/main">
            <a:off x="9602928" y="33883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6941BFA-8136-46B8-9FB1-83A8D8F4E856}"/>
              </a:ext>
            </a:extLst>
          </p:cNvPr>
          <p:cNvSpPr>
            <a:spLocks xmlns:a="http://schemas.openxmlformats.org/drawingml/2006/main" noGrp="1"/>
          </p:cNvSpPr>
          <p:nvPr/>
        </p:nvSpPr>
        <p:spPr>
          <a:xfrm xmlns:a="http://schemas.openxmlformats.org/drawingml/2006/main">
            <a:off x="2914261" y="3456128"/>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When does the shape of the
production distribution shift?</a:t>
            </a:r>
          </a:p>
        </p:txBody>
      </p:sp>
      <p:sp>
        <p:nvSpPr>
          <p:cNvPr id="21" name="TextBox 20">
            <a:extLst xmlns:a="http://schemas.openxmlformats.org/drawingml/2006/main">
              <a:ext uri="{FF2B5EF4-FFF2-40B4-BE49-F238E27FC236}">
                <a16:creationId xmlns:a16="http://schemas.microsoft.com/office/drawing/2014/main" id="{81CA9E1B-3867-4D3F-B2BA-96409B531FAA}"/>
              </a:ext>
            </a:extLst>
          </p:cNvPr>
          <p:cNvSpPr>
            <a:spLocks xmlns:a="http://schemas.openxmlformats.org/drawingml/2006/main" noGrp="1"/>
          </p:cNvSpPr>
          <p:nvPr/>
        </p:nvSpPr>
        <p:spPr>
          <a:xfrm xmlns:a="http://schemas.openxmlformats.org/drawingml/2006/main">
            <a:off x="5996128" y="34561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Which production class
does this year belong to?</a:t>
            </a:r>
          </a:p>
        </p:txBody>
      </p:sp>
      <p:sp>
        <p:nvSpPr>
          <p:cNvPr id="22" name="TextBox 21">
            <a:extLst xmlns:a="http://schemas.openxmlformats.org/drawingml/2006/main">
              <a:ext uri="{FF2B5EF4-FFF2-40B4-BE49-F238E27FC236}">
                <a16:creationId xmlns:a16="http://schemas.microsoft.com/office/drawing/2014/main" id="{0D20D647-2C06-470A-A877-8C905B1409F9}"/>
              </a:ext>
            </a:extLst>
          </p:cNvPr>
          <p:cNvSpPr>
            <a:spLocks xmlns:a="http://schemas.openxmlformats.org/drawingml/2006/main" noGrp="1"/>
          </p:cNvSpPr>
          <p:nvPr/>
        </p:nvSpPr>
        <p:spPr>
          <a:xfrm xmlns:a="http://schemas.openxmlformats.org/drawingml/2006/main">
            <a:off x="9653728" y="34561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What exact production level
does a year have?</a:t>
            </a:r>
          </a:p>
        </p:txBody>
      </p:sp>
      <p:sp>
        <p:nvSpPr>
          <p:cNvPr id="23" name="Rectangle 22">
            <a:extLst xmlns:a="http://schemas.openxmlformats.org/drawingml/2006/main">
              <a:ext uri="{FF2B5EF4-FFF2-40B4-BE49-F238E27FC236}">
                <a16:creationId xmlns:a16="http://schemas.microsoft.com/office/drawing/2014/main" id="{3A16BFB9-29DC-4C15-A680-383F7A26338E}"/>
              </a:ext>
            </a:extLst>
          </p:cNvPr>
          <p:cNvSpPr>
            <a:spLocks xmlns:a="http://schemas.openxmlformats.org/drawingml/2006/main" noGrp="1"/>
          </p:cNvSpPr>
          <p:nvPr/>
        </p:nvSpPr>
        <p:spPr>
          <a:xfrm xmlns:a="http://schemas.openxmlformats.org/drawingml/2006/main">
            <a:off x="2304661" y="4251994"/>
            <a:ext cx="10972800" cy="812800"/>
          </a:xfrm>
          <a:prstGeom xmlns:a="http://schemas.openxmlformats.org/drawingml/2006/main" prst="rect">
            <a:avLst/>
          </a:prstGeom>
          <a:solidFill xmlns:a="http://schemas.openxmlformats.org/drawingml/2006/main">
            <a:srgbClr val="F8F2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0A6D8A26-40F7-49D8-B6A7-6B1E16D5EA22}"/>
              </a:ext>
            </a:extLst>
          </p:cNvPr>
          <p:cNvSpPr>
            <a:spLocks xmlns:a="http://schemas.openxmlformats.org/drawingml/2006/main" noGrp="1"/>
          </p:cNvSpPr>
          <p:nvPr/>
        </p:nvSpPr>
        <p:spPr>
          <a:xfrm xmlns:a="http://schemas.openxmlformats.org/drawingml/2006/main">
            <a:off x="2304661" y="4251994"/>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923049D3-6329-4D64-9087-CF3C89FCF718}"/>
              </a:ext>
            </a:extLst>
          </p:cNvPr>
          <p:cNvSpPr>
            <a:spLocks xmlns:a="http://schemas.openxmlformats.org/drawingml/2006/main" noGrp="1"/>
          </p:cNvSpPr>
          <p:nvPr/>
        </p:nvSpPr>
        <p:spPr>
          <a:xfrm xmlns:a="http://schemas.openxmlformats.org/drawingml/2006/main">
            <a:off x="2321594" y="4319728"/>
            <a:ext cx="541867" cy="6665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Induction
criterion</a:t>
            </a:r>
          </a:p>
        </p:txBody>
      </p:sp>
      <p:sp>
        <p:nvSpPr>
          <p:cNvPr id="26" name="Rectangle 25">
            <a:extLst xmlns:a="http://schemas.openxmlformats.org/drawingml/2006/main">
              <a:ext uri="{FF2B5EF4-FFF2-40B4-BE49-F238E27FC236}">
                <a16:creationId xmlns:a16="http://schemas.microsoft.com/office/drawing/2014/main" id="{284A4679-2986-4814-89BA-694C106B889A}"/>
              </a:ext>
            </a:extLst>
          </p:cNvPr>
          <p:cNvSpPr>
            <a:spLocks xmlns:a="http://schemas.openxmlformats.org/drawingml/2006/main" noGrp="1"/>
          </p:cNvSpPr>
          <p:nvPr/>
        </p:nvSpPr>
        <p:spPr>
          <a:xfrm xmlns:a="http://schemas.openxmlformats.org/drawingml/2006/main">
            <a:off x="5945328" y="42519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4D8F2A28-F7B6-4E8C-B6CE-9CFED48BE6EA}"/>
              </a:ext>
            </a:extLst>
          </p:cNvPr>
          <p:cNvSpPr>
            <a:spLocks xmlns:a="http://schemas.openxmlformats.org/drawingml/2006/main" noGrp="1"/>
          </p:cNvSpPr>
          <p:nvPr/>
        </p:nvSpPr>
        <p:spPr>
          <a:xfrm xmlns:a="http://schemas.openxmlformats.org/drawingml/2006/main">
            <a:off x="9602928" y="42519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91347B8D-2CAA-4991-92F8-80482761A8D1}"/>
              </a:ext>
            </a:extLst>
          </p:cNvPr>
          <p:cNvSpPr>
            <a:spLocks xmlns:a="http://schemas.openxmlformats.org/drawingml/2006/main" noGrp="1"/>
          </p:cNvSpPr>
          <p:nvPr/>
        </p:nvSpPr>
        <p:spPr>
          <a:xfrm xmlns:a="http://schemas.openxmlformats.org/drawingml/2006/main">
            <a:off x="2914261" y="4319728"/>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Kolmogorov–Smirnov
two-sample test</a:t>
            </a:r>
          </a:p>
        </p:txBody>
      </p:sp>
      <p:sp>
        <p:nvSpPr>
          <p:cNvPr id="29" name="TextBox 28">
            <a:extLst xmlns:a="http://schemas.openxmlformats.org/drawingml/2006/main">
              <a:ext uri="{FF2B5EF4-FFF2-40B4-BE49-F238E27FC236}">
                <a16:creationId xmlns:a16="http://schemas.microsoft.com/office/drawing/2014/main" id="{6D99CD45-7A43-4F7F-A595-9680C7D0BCE5}"/>
              </a:ext>
            </a:extLst>
          </p:cNvPr>
          <p:cNvSpPr>
            <a:spLocks xmlns:a="http://schemas.openxmlformats.org/drawingml/2006/main" noGrp="1"/>
          </p:cNvSpPr>
          <p:nvPr/>
        </p:nvSpPr>
        <p:spPr>
          <a:xfrm xmlns:a="http://schemas.openxmlformats.org/drawingml/2006/main">
            <a:off x="5996128" y="43197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FOIL information gain
(classification)</a:t>
            </a:r>
          </a:p>
        </p:txBody>
      </p:sp>
      <p:sp>
        <p:nvSpPr>
          <p:cNvPr id="30" name="TextBox 29">
            <a:extLst xmlns:a="http://schemas.openxmlformats.org/drawingml/2006/main">
              <a:ext uri="{FF2B5EF4-FFF2-40B4-BE49-F238E27FC236}">
                <a16:creationId xmlns:a16="http://schemas.microsoft.com/office/drawing/2014/main" id="{0B39256A-26AF-4070-B13C-27E6994D4594}"/>
              </a:ext>
            </a:extLst>
          </p:cNvPr>
          <p:cNvSpPr>
            <a:spLocks xmlns:a="http://schemas.openxmlformats.org/drawingml/2006/main" noGrp="1"/>
          </p:cNvSpPr>
          <p:nvPr/>
        </p:nvSpPr>
        <p:spPr>
          <a:xfrm xmlns:a="http://schemas.openxmlformats.org/drawingml/2006/main">
            <a:off x="9653728" y="43197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MSE / standard deviation
reduction</a:t>
            </a:r>
          </a:p>
        </p:txBody>
      </p:sp>
      <p:sp>
        <p:nvSpPr>
          <p:cNvPr id="31" name="Rectangle 30">
            <a:extLst xmlns:a="http://schemas.openxmlformats.org/drawingml/2006/main">
              <a:ext uri="{FF2B5EF4-FFF2-40B4-BE49-F238E27FC236}">
                <a16:creationId xmlns:a16="http://schemas.microsoft.com/office/drawing/2014/main" id="{24399E5D-0A59-4BDD-B36C-4C59F06876DD}"/>
              </a:ext>
            </a:extLst>
          </p:cNvPr>
          <p:cNvSpPr>
            <a:spLocks xmlns:a="http://schemas.openxmlformats.org/drawingml/2006/main" noGrp="1"/>
          </p:cNvSpPr>
          <p:nvPr/>
        </p:nvSpPr>
        <p:spPr>
          <a:xfrm xmlns:a="http://schemas.openxmlformats.org/drawingml/2006/main">
            <a:off x="2304661" y="5115594"/>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3AE839BD-FC3E-4FBE-BFEF-AB811AF24F69}"/>
              </a:ext>
            </a:extLst>
          </p:cNvPr>
          <p:cNvSpPr>
            <a:spLocks xmlns:a="http://schemas.openxmlformats.org/drawingml/2006/main" noGrp="1"/>
          </p:cNvSpPr>
          <p:nvPr/>
        </p:nvSpPr>
        <p:spPr>
          <a:xfrm xmlns:a="http://schemas.openxmlformats.org/drawingml/2006/main">
            <a:off x="2304661" y="5115594"/>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B567DAF9-EF21-4015-9B94-82FF192FC1C5}"/>
              </a:ext>
            </a:extLst>
          </p:cNvPr>
          <p:cNvSpPr>
            <a:spLocks xmlns:a="http://schemas.openxmlformats.org/drawingml/2006/main" noGrp="1"/>
          </p:cNvSpPr>
          <p:nvPr/>
        </p:nvSpPr>
        <p:spPr>
          <a:xfrm xmlns:a="http://schemas.openxmlformats.org/drawingml/2006/main">
            <a:off x="2321594" y="5183328"/>
            <a:ext cx="541867" cy="3794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Output
format</a:t>
            </a:r>
          </a:p>
        </p:txBody>
      </p:sp>
      <p:sp>
        <p:nvSpPr>
          <p:cNvPr id="34" name="Rectangle 33">
            <a:extLst xmlns:a="http://schemas.openxmlformats.org/drawingml/2006/main">
              <a:ext uri="{FF2B5EF4-FFF2-40B4-BE49-F238E27FC236}">
                <a16:creationId xmlns:a16="http://schemas.microsoft.com/office/drawing/2014/main" id="{5BB6F22E-2F66-47FF-9D6D-47D38ED52006}"/>
              </a:ext>
            </a:extLst>
          </p:cNvPr>
          <p:cNvSpPr>
            <a:spLocks xmlns:a="http://schemas.openxmlformats.org/drawingml/2006/main" noGrp="1"/>
          </p:cNvSpPr>
          <p:nvPr/>
        </p:nvSpPr>
        <p:spPr>
          <a:xfrm xmlns:a="http://schemas.openxmlformats.org/drawingml/2006/main">
            <a:off x="5945328" y="51155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2D2A4C84-0FA3-4F1A-B0A0-F0FDBED8ED3F}"/>
              </a:ext>
            </a:extLst>
          </p:cNvPr>
          <p:cNvSpPr>
            <a:spLocks xmlns:a="http://schemas.openxmlformats.org/drawingml/2006/main" noGrp="1"/>
          </p:cNvSpPr>
          <p:nvPr/>
        </p:nvSpPr>
        <p:spPr>
          <a:xfrm xmlns:a="http://schemas.openxmlformats.org/drawingml/2006/main">
            <a:off x="9602928" y="51155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3F15C7F1-7B7B-4007-BD3E-E673683856FC}"/>
              </a:ext>
            </a:extLst>
          </p:cNvPr>
          <p:cNvSpPr>
            <a:spLocks xmlns:a="http://schemas.openxmlformats.org/drawingml/2006/main" noGrp="1"/>
          </p:cNvSpPr>
          <p:nvPr/>
        </p:nvSpPr>
        <p:spPr>
          <a:xfrm xmlns:a="http://schemas.openxmlformats.org/drawingml/2006/main">
            <a:off x="2914261" y="5183328"/>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2A7F7F"/>
                </a:solidFill>
                <a:latin typeface="Calibri"/>
                <a:ea typeface="Calibri"/>
                <a:cs typeface="Calibri"/>
              </a:rPr>
              <a:t>IF conditions
THEN distribution shifts ±X mhl</a:t>
            </a:r>
          </a:p>
        </p:txBody>
      </p:sp>
      <p:sp>
        <p:nvSpPr>
          <p:cNvPr id="37" name="TextBox 36">
            <a:extLst xmlns:a="http://schemas.openxmlformats.org/drawingml/2006/main">
              <a:ext uri="{FF2B5EF4-FFF2-40B4-BE49-F238E27FC236}">
                <a16:creationId xmlns:a16="http://schemas.microsoft.com/office/drawing/2014/main" id="{AC934AE2-513F-4B5C-A504-15B8216C571A}"/>
              </a:ext>
            </a:extLst>
          </p:cNvPr>
          <p:cNvSpPr>
            <a:spLocks xmlns:a="http://schemas.openxmlformats.org/drawingml/2006/main" noGrp="1"/>
          </p:cNvSpPr>
          <p:nvPr/>
        </p:nvSpPr>
        <p:spPr>
          <a:xfrm xmlns:a="http://schemas.openxmlformats.org/drawingml/2006/main">
            <a:off x="5996128" y="51833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IF conditions
THEN class = Low / Med / High</a:t>
            </a:r>
          </a:p>
        </p:txBody>
      </p:sp>
      <p:sp>
        <p:nvSpPr>
          <p:cNvPr id="38" name="TextBox 37">
            <a:extLst xmlns:a="http://schemas.openxmlformats.org/drawingml/2006/main">
              <a:ext uri="{FF2B5EF4-FFF2-40B4-BE49-F238E27FC236}">
                <a16:creationId xmlns:a16="http://schemas.microsoft.com/office/drawing/2014/main" id="{2BF1DD0A-73AE-4B8A-8015-2FCF434908F9}"/>
              </a:ext>
            </a:extLst>
          </p:cNvPr>
          <p:cNvSpPr>
            <a:spLocks xmlns:a="http://schemas.openxmlformats.org/drawingml/2006/main" noGrp="1"/>
          </p:cNvSpPr>
          <p:nvPr/>
        </p:nvSpPr>
        <p:spPr>
          <a:xfrm xmlns:a="http://schemas.openxmlformats.org/drawingml/2006/main">
            <a:off x="9653728" y="51833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IF conditions
THEN production = linear model</a:t>
            </a:r>
          </a:p>
        </p:txBody>
      </p:sp>
      <p:sp>
        <p:nvSpPr>
          <p:cNvPr id="39" name="Rectangle 38">
            <a:extLst xmlns:a="http://schemas.openxmlformats.org/drawingml/2006/main">
              <a:ext uri="{FF2B5EF4-FFF2-40B4-BE49-F238E27FC236}">
                <a16:creationId xmlns:a16="http://schemas.microsoft.com/office/drawing/2014/main" id="{02758C59-E169-4CBB-A1D9-7EFB7F47AB15}"/>
              </a:ext>
            </a:extLst>
          </p:cNvPr>
          <p:cNvSpPr>
            <a:spLocks xmlns:a="http://schemas.openxmlformats.org/drawingml/2006/main" noGrp="1"/>
          </p:cNvSpPr>
          <p:nvPr/>
        </p:nvSpPr>
        <p:spPr>
          <a:xfrm xmlns:a="http://schemas.openxmlformats.org/drawingml/2006/main">
            <a:off x="2304661" y="5979194"/>
            <a:ext cx="10972800" cy="812800"/>
          </a:xfrm>
          <a:prstGeom xmlns:a="http://schemas.openxmlformats.org/drawingml/2006/main" prst="rect">
            <a:avLst/>
          </a:prstGeom>
          <a:solidFill xmlns:a="http://schemas.openxmlformats.org/drawingml/2006/main">
            <a:srgbClr val="F8F2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2092EC88-027F-42B6-8A40-612C77DF29A4}"/>
              </a:ext>
            </a:extLst>
          </p:cNvPr>
          <p:cNvSpPr>
            <a:spLocks xmlns:a="http://schemas.openxmlformats.org/drawingml/2006/main" noGrp="1"/>
          </p:cNvSpPr>
          <p:nvPr/>
        </p:nvSpPr>
        <p:spPr>
          <a:xfrm xmlns:a="http://schemas.openxmlformats.org/drawingml/2006/main">
            <a:off x="2304661" y="5979194"/>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E27CCE67-796F-4FE6-BD53-3B47C9731422}"/>
              </a:ext>
            </a:extLst>
          </p:cNvPr>
          <p:cNvSpPr>
            <a:spLocks xmlns:a="http://schemas.openxmlformats.org/drawingml/2006/main" noGrp="1"/>
          </p:cNvSpPr>
          <p:nvPr/>
        </p:nvSpPr>
        <p:spPr>
          <a:xfrm xmlns:a="http://schemas.openxmlformats.org/drawingml/2006/main">
            <a:off x="2321594" y="6046928"/>
            <a:ext cx="541867" cy="5230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Key
advantage</a:t>
            </a:r>
          </a:p>
        </p:txBody>
      </p:sp>
      <p:sp>
        <p:nvSpPr>
          <p:cNvPr id="42" name="Rectangle 41">
            <a:extLst xmlns:a="http://schemas.openxmlformats.org/drawingml/2006/main">
              <a:ext uri="{FF2B5EF4-FFF2-40B4-BE49-F238E27FC236}">
                <a16:creationId xmlns:a16="http://schemas.microsoft.com/office/drawing/2014/main" id="{D2D96161-BA1D-4273-B6B8-8EB42210AB75}"/>
              </a:ext>
            </a:extLst>
          </p:cNvPr>
          <p:cNvSpPr>
            <a:spLocks xmlns:a="http://schemas.openxmlformats.org/drawingml/2006/main" noGrp="1"/>
          </p:cNvSpPr>
          <p:nvPr/>
        </p:nvSpPr>
        <p:spPr>
          <a:xfrm xmlns:a="http://schemas.openxmlformats.org/drawingml/2006/main">
            <a:off x="5945328" y="59791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0168C326-0B14-4169-9C2D-B52F59AF7176}"/>
              </a:ext>
            </a:extLst>
          </p:cNvPr>
          <p:cNvSpPr>
            <a:spLocks xmlns:a="http://schemas.openxmlformats.org/drawingml/2006/main" noGrp="1"/>
          </p:cNvSpPr>
          <p:nvPr/>
        </p:nvSpPr>
        <p:spPr>
          <a:xfrm xmlns:a="http://schemas.openxmlformats.org/drawingml/2006/main">
            <a:off x="9602928" y="59791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5382E1D5-686B-4DCC-A1C2-69E2C59E8184}"/>
              </a:ext>
            </a:extLst>
          </p:cNvPr>
          <p:cNvSpPr>
            <a:spLocks xmlns:a="http://schemas.openxmlformats.org/drawingml/2006/main" noGrp="1"/>
          </p:cNvSpPr>
          <p:nvPr/>
        </p:nvSpPr>
        <p:spPr>
          <a:xfrm xmlns:a="http://schemas.openxmlformats.org/drawingml/2006/main">
            <a:off x="2914261" y="6046928"/>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C4964A"/>
                </a:solidFill>
                <a:latin typeface="Calibri"/>
                <a:ea typeface="Calibri"/>
                <a:cs typeface="Calibri"/>
              </a:rPr>
              <a:t>Non-parametric; no normality
assumption; no discretisation</a:t>
            </a:r>
          </a:p>
        </p:txBody>
      </p:sp>
      <p:sp>
        <p:nvSpPr>
          <p:cNvPr id="45" name="TextBox 44">
            <a:extLst xmlns:a="http://schemas.openxmlformats.org/drawingml/2006/main">
              <a:ext uri="{FF2B5EF4-FFF2-40B4-BE49-F238E27FC236}">
                <a16:creationId xmlns:a16="http://schemas.microsoft.com/office/drawing/2014/main" id="{9B72E8DD-FAE1-4470-88CA-768EB1A1384B}"/>
              </a:ext>
            </a:extLst>
          </p:cNvPr>
          <p:cNvSpPr>
            <a:spLocks xmlns:a="http://schemas.openxmlformats.org/drawingml/2006/main" noGrp="1"/>
          </p:cNvSpPr>
          <p:nvPr/>
        </p:nvSpPr>
        <p:spPr>
          <a:xfrm xmlns:a="http://schemas.openxmlformats.org/drawingml/2006/main">
            <a:off x="5996128" y="60469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Well-established, readable;
strong classification baseline</a:t>
            </a:r>
          </a:p>
        </p:txBody>
      </p:sp>
      <p:sp>
        <p:nvSpPr>
          <p:cNvPr id="46" name="TextBox 45">
            <a:extLst xmlns:a="http://schemas.openxmlformats.org/drawingml/2006/main">
              <a:ext uri="{FF2B5EF4-FFF2-40B4-BE49-F238E27FC236}">
                <a16:creationId xmlns:a16="http://schemas.microsoft.com/office/drawing/2014/main" id="{6059036E-A9CF-4A52-950F-3A3378AF4BBF}"/>
              </a:ext>
            </a:extLst>
          </p:cNvPr>
          <p:cNvSpPr>
            <a:spLocks xmlns:a="http://schemas.openxmlformats.org/drawingml/2006/main" noGrp="1"/>
          </p:cNvSpPr>
          <p:nvPr/>
        </p:nvSpPr>
        <p:spPr>
          <a:xfrm xmlns:a="http://schemas.openxmlformats.org/drawingml/2006/main">
            <a:off x="9653728" y="60469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Piecewise regression;
quantitative predictions</a:t>
            </a:r>
          </a:p>
        </p:txBody>
      </p:sp>
      <p:sp>
        <p:nvSpPr>
          <p:cNvPr id="47" name="Rectangle 46">
            <a:extLst xmlns:a="http://schemas.openxmlformats.org/drawingml/2006/main">
              <a:ext uri="{FF2B5EF4-FFF2-40B4-BE49-F238E27FC236}">
                <a16:creationId xmlns:a16="http://schemas.microsoft.com/office/drawing/2014/main" id="{E4354F53-D69C-4CA7-9024-BD84FD80766F}"/>
              </a:ext>
            </a:extLst>
          </p:cNvPr>
          <p:cNvSpPr>
            <a:spLocks xmlns:a="http://schemas.openxmlformats.org/drawingml/2006/main" noGrp="1"/>
          </p:cNvSpPr>
          <p:nvPr/>
        </p:nvSpPr>
        <p:spPr>
          <a:xfrm xmlns:a="http://schemas.openxmlformats.org/drawingml/2006/main">
            <a:off x="2304661" y="6842794"/>
            <a:ext cx="10972800" cy="812800"/>
          </a:xfrm>
          <a:prstGeom xmlns:a="http://schemas.openxmlformats.org/drawingml/2006/main" prst="rect">
            <a:avLst/>
          </a:prstGeom>
          <a:solidFill xmlns:a="http://schemas.openxmlformats.org/drawingml/2006/main">
            <a:srgbClr val="EFE7D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A09BD58E-F3B4-470F-A0AF-D07770944DA6}"/>
              </a:ext>
            </a:extLst>
          </p:cNvPr>
          <p:cNvSpPr>
            <a:spLocks xmlns:a="http://schemas.openxmlformats.org/drawingml/2006/main" noGrp="1"/>
          </p:cNvSpPr>
          <p:nvPr/>
        </p:nvSpPr>
        <p:spPr>
          <a:xfrm xmlns:a="http://schemas.openxmlformats.org/drawingml/2006/main">
            <a:off x="2304661" y="6842794"/>
            <a:ext cx="575733" cy="812800"/>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TextBox 48">
            <a:extLst xmlns:a="http://schemas.openxmlformats.org/drawingml/2006/main">
              <a:ext uri="{FF2B5EF4-FFF2-40B4-BE49-F238E27FC236}">
                <a16:creationId xmlns:a16="http://schemas.microsoft.com/office/drawing/2014/main" id="{F3D802A2-0DB2-424C-9271-DAB703EF87D0}"/>
              </a:ext>
            </a:extLst>
          </p:cNvPr>
          <p:cNvSpPr>
            <a:spLocks xmlns:a="http://schemas.openxmlformats.org/drawingml/2006/main" noGrp="1"/>
          </p:cNvSpPr>
          <p:nvPr/>
        </p:nvSpPr>
        <p:spPr>
          <a:xfrm xmlns:a="http://schemas.openxmlformats.org/drawingml/2006/main">
            <a:off x="2321594" y="6910528"/>
            <a:ext cx="541867" cy="5230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33" b="1">
                <a:solidFill>
                  <a:srgbClr val="C4964A"/>
                </a:solidFill>
                <a:latin typeface="Calibri"/>
                <a:ea typeface="Calibri"/>
                <a:cs typeface="Calibri"/>
              </a:rPr>
              <a:t>Key
limitation</a:t>
            </a:r>
          </a:p>
        </p:txBody>
      </p:sp>
      <p:sp>
        <p:nvSpPr>
          <p:cNvPr id="50" name="Rectangle 49">
            <a:extLst xmlns:a="http://schemas.openxmlformats.org/drawingml/2006/main">
              <a:ext uri="{FF2B5EF4-FFF2-40B4-BE49-F238E27FC236}">
                <a16:creationId xmlns:a16="http://schemas.microsoft.com/office/drawing/2014/main" id="{D75E9FAA-B73E-4188-ABB5-3129E9F5FFB9}"/>
              </a:ext>
            </a:extLst>
          </p:cNvPr>
          <p:cNvSpPr>
            <a:spLocks xmlns:a="http://schemas.openxmlformats.org/drawingml/2006/main" noGrp="1"/>
          </p:cNvSpPr>
          <p:nvPr/>
        </p:nvSpPr>
        <p:spPr>
          <a:xfrm xmlns:a="http://schemas.openxmlformats.org/drawingml/2006/main">
            <a:off x="5945328" y="68427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D99F4970-CF71-46D0-BC33-0BBB59912772}"/>
              </a:ext>
            </a:extLst>
          </p:cNvPr>
          <p:cNvSpPr>
            <a:spLocks xmlns:a="http://schemas.openxmlformats.org/drawingml/2006/main" noGrp="1"/>
          </p:cNvSpPr>
          <p:nvPr/>
        </p:nvSpPr>
        <p:spPr>
          <a:xfrm xmlns:a="http://schemas.openxmlformats.org/drawingml/2006/main">
            <a:off x="9602928" y="6842794"/>
            <a:ext cx="16933" cy="812800"/>
          </a:xfrm>
          <a:prstGeom xmlns:a="http://schemas.openxmlformats.org/drawingml/2006/main" prst="rect">
            <a:avLst/>
          </a:prstGeom>
          <a:solidFill xmlns:a="http://schemas.openxmlformats.org/drawingml/2006/main">
            <a:srgbClr val="CCBBA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005961D4-8B3B-4FDB-B8BF-DABD0216ED53}"/>
              </a:ext>
            </a:extLst>
          </p:cNvPr>
          <p:cNvSpPr>
            <a:spLocks xmlns:a="http://schemas.openxmlformats.org/drawingml/2006/main" noGrp="1"/>
          </p:cNvSpPr>
          <p:nvPr/>
        </p:nvSpPr>
        <p:spPr>
          <a:xfrm xmlns:a="http://schemas.openxmlformats.org/drawingml/2006/main">
            <a:off x="2914261" y="6910528"/>
            <a:ext cx="3014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8B2F2F"/>
                </a:solidFill>
                <a:latin typeface="Calibri"/>
                <a:ea typeface="Calibri"/>
                <a:cs typeface="Calibri"/>
              </a:rPr>
              <a:t>Finds distributional shift,
not magnitude prediction</a:t>
            </a:r>
          </a:p>
        </p:txBody>
      </p:sp>
      <p:sp>
        <p:nvSpPr>
          <p:cNvPr id="53" name="TextBox 52">
            <a:extLst xmlns:a="http://schemas.openxmlformats.org/drawingml/2006/main">
              <a:ext uri="{FF2B5EF4-FFF2-40B4-BE49-F238E27FC236}">
                <a16:creationId xmlns:a16="http://schemas.microsoft.com/office/drawing/2014/main" id="{243C2FCF-D740-4282-BAC8-5E7B5408F02A}"/>
              </a:ext>
            </a:extLst>
          </p:cNvPr>
          <p:cNvSpPr>
            <a:spLocks xmlns:a="http://schemas.openxmlformats.org/drawingml/2006/main" noGrp="1"/>
          </p:cNvSpPr>
          <p:nvPr/>
        </p:nvSpPr>
        <p:spPr>
          <a:xfrm xmlns:a="http://schemas.openxmlformats.org/drawingml/2006/main">
            <a:off x="5996128" y="69105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Requires tertile-discretised
target (loses information)</a:t>
            </a:r>
          </a:p>
        </p:txBody>
      </p:sp>
      <p:sp>
        <p:nvSpPr>
          <p:cNvPr id="54" name="TextBox 53">
            <a:extLst xmlns:a="http://schemas.openxmlformats.org/drawingml/2006/main">
              <a:ext uri="{FF2B5EF4-FFF2-40B4-BE49-F238E27FC236}">
                <a16:creationId xmlns:a16="http://schemas.microsoft.com/office/drawing/2014/main" id="{71127487-B6FA-4C60-8FAA-6AF7D37D8278}"/>
              </a:ext>
            </a:extLst>
          </p:cNvPr>
          <p:cNvSpPr>
            <a:spLocks xmlns:a="http://schemas.openxmlformats.org/drawingml/2006/main" noGrp="1"/>
          </p:cNvSpPr>
          <p:nvPr/>
        </p:nvSpPr>
        <p:spPr>
          <a:xfrm xmlns:a="http://schemas.openxmlformats.org/drawingml/2006/main">
            <a:off x="9653728" y="6910528"/>
            <a:ext cx="3522133" cy="42075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67">
                <a:solidFill>
                  <a:srgbClr val="1C1214"/>
                </a:solidFill>
                <a:latin typeface="Calibri"/>
                <a:ea typeface="Calibri"/>
                <a:cs typeface="Calibri"/>
              </a:rPr>
              <a:t>Collapses to global model
on small datasets (n&lt;89)</a:t>
            </a:r>
          </a:p>
        </p:txBody>
      </p:sp>
      <p:sp>
        <p:nvSpPr>
          <p:cNvPr id="55" name="Rectangle 54">
            <a:extLst xmlns:a="http://schemas.openxmlformats.org/drawingml/2006/main">
              <a:ext uri="{FF2B5EF4-FFF2-40B4-BE49-F238E27FC236}">
                <a16:creationId xmlns:a16="http://schemas.microsoft.com/office/drawing/2014/main" id="{EAEFCE19-0D26-4394-B0CC-E5E8857F9B2E}"/>
              </a:ext>
            </a:extLst>
          </p:cNvPr>
          <p:cNvSpPr>
            <a:spLocks xmlns:a="http://schemas.openxmlformats.org/drawingml/2006/main" noGrp="1"/>
          </p:cNvSpPr>
          <p:nvPr/>
        </p:nvSpPr>
        <p:spPr>
          <a:xfrm xmlns:a="http://schemas.openxmlformats.org/drawingml/2006/main">
            <a:off x="2304661" y="7807994"/>
            <a:ext cx="10972800" cy="643467"/>
          </a:xfrm>
          <a:prstGeom xmlns:a="http://schemas.openxmlformats.org/drawingml/2006/main" prst="rect">
            <a:avLst/>
          </a:prstGeom>
          <a:solidFill xmlns:a="http://schemas.openxmlformats.org/drawingml/2006/main">
            <a:srgbClr val="6B273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TextBox 55">
            <a:extLst xmlns:a="http://schemas.openxmlformats.org/drawingml/2006/main">
              <a:ext uri="{FF2B5EF4-FFF2-40B4-BE49-F238E27FC236}">
                <a16:creationId xmlns:a16="http://schemas.microsoft.com/office/drawing/2014/main" id="{5F673B44-CF1E-47F1-8444-669800CF8F15}"/>
              </a:ext>
            </a:extLst>
          </p:cNvPr>
          <p:cNvSpPr>
            <a:spLocks xmlns:a="http://schemas.openxmlformats.org/drawingml/2006/main" noGrp="1"/>
          </p:cNvSpPr>
          <p:nvPr/>
        </p:nvSpPr>
        <p:spPr>
          <a:xfrm xmlns:a="http://schemas.openxmlformats.org/drawingml/2006/main">
            <a:off x="2304661" y="7875728"/>
            <a:ext cx="10972800"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xmlns:a="http://schemas.openxmlformats.org/drawingml/2006/main">
              <a:ext uri="{FF2B5EF4-FFF2-40B4-BE49-F238E27FC236}">
                <a16:creationId xmlns:a16="http://schemas.microsoft.com/office/drawing/2014/main" id="{7FF4F22B-9C6E-4AE0-B731-90206D2066BB}"/>
              </a:ext>
            </a:extLst>
          </p:cNvPr>
          <p:cNvSpPr>
            <a:spLocks xmlns:a="http://schemas.openxmlformats.org/drawingml/2006/main" noGrp="1"/>
          </p:cNvSpPr>
          <p:nvPr/>
        </p:nvSpPr>
        <p:spPr>
          <a:xfrm xmlns:a="http://schemas.openxmlformats.org/drawingml/2006/main">
            <a:off x="2304661" y="8146662"/>
            <a:ext cx="10972800" cy="256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221974117"/>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70" name="Rectangle 69"/>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9" name="Rectangle 68"/>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 name="Rectangle 67"/>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7" name="Rectangle 66"/>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Rectangle 65"/>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Rectangle 64"/>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Rectangle 63"/>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Rectangle 62"/>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C81B4C22-83C1-4EB8-A893-9A03DC4BB8B3}"/>
              </a:ext>
            </a:extLst>
          </p:cNvPr>
          <p:cNvSpPr>
            <a:spLocks xmlns:a="http://schemas.openxmlformats.org/drawingml/2006/main" noGrp="1"/>
          </p:cNvSpPr>
          <p:nvPr/>
        </p:nvSpPr>
        <p:spPr>
          <a:xfrm xmlns:a="http://schemas.openxmlformats.org/drawingml/2006/main">
            <a:off x="1695061" y="1695061"/>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7FCFA0D-15E4-47C0-9267-22B6BF589787}"/>
              </a:ext>
            </a:extLst>
          </p:cNvPr>
          <p:cNvSpPr>
            <a:spLocks xmlns:a="http://schemas.openxmlformats.org/drawingml/2006/main" noGrp="1"/>
          </p:cNvSpPr>
          <p:nvPr/>
        </p:nvSpPr>
        <p:spPr>
          <a:xfrm xmlns:a="http://schemas.openxmlformats.org/drawingml/2006/main">
            <a:off x="2243701" y="1841365"/>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Cross-Algorithm Validation</a:t>
            </a:r>
          </a:p>
        </p:txBody>
      </p:sp>
      <p:sp>
        <p:nvSpPr>
          <p:cNvPr id="4" name="Text 2">
            <a:extLst xmlns:a="http://schemas.openxmlformats.org/drawingml/2006/main">
              <a:ext uri="{FF2B5EF4-FFF2-40B4-BE49-F238E27FC236}">
                <a16:creationId xmlns:a16="http://schemas.microsoft.com/office/drawing/2014/main" id="{2685E426-91E9-4755-8F11-BED11DA0F63D}"/>
              </a:ext>
            </a:extLst>
          </p:cNvPr>
          <p:cNvSpPr>
            <a:spLocks xmlns:a="http://schemas.openxmlformats.org/drawingml/2006/main" noGrp="1"/>
          </p:cNvSpPr>
          <p:nvPr/>
        </p:nvSpPr>
        <p:spPr>
          <a:xfrm xmlns:a="http://schemas.openxmlformats.org/drawingml/2006/main">
            <a:off x="2243701" y="2524117"/>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Three independent optimisation criteria — same feature families</a:t>
            </a:r>
          </a:p>
        </p:txBody>
      </p:sp>
      <p:sp>
        <p:nvSpPr>
          <p:cNvPr id="5" name="Shape 3">
            <a:extLst xmlns:a="http://schemas.openxmlformats.org/drawingml/2006/main">
              <a:ext uri="{FF2B5EF4-FFF2-40B4-BE49-F238E27FC236}">
                <a16:creationId xmlns:a16="http://schemas.microsoft.com/office/drawing/2014/main" id="{1F13B708-1648-4CD2-9E62-E68AC6B43668}"/>
              </a:ext>
            </a:extLst>
          </p:cNvPr>
          <p:cNvSpPr>
            <a:spLocks xmlns:a="http://schemas.openxmlformats.org/drawingml/2006/main" noGrp="1"/>
          </p:cNvSpPr>
          <p:nvPr/>
        </p:nvSpPr>
        <p:spPr>
          <a:xfrm xmlns:a="http://schemas.openxmlformats.org/drawingml/2006/main">
            <a:off x="2243701" y="2865493"/>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80C3D1C-68FB-44B4-9C2C-4CEFCFB359DC}"/>
              </a:ext>
            </a:extLst>
          </p:cNvPr>
          <p:cNvSpPr>
            <a:spLocks xmlns:a="http://schemas.openxmlformats.org/drawingml/2006/main" noGrp="1"/>
          </p:cNvSpPr>
          <p:nvPr/>
        </p:nvSpPr>
        <p:spPr>
          <a:xfrm xmlns:a="http://schemas.openxmlformats.org/drawingml/2006/main">
            <a:off x="12424021" y="8156821"/>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7 / 12</a:t>
            </a:r>
          </a:p>
        </p:txBody>
      </p:sp>
      <p:sp>
        <p:nvSpPr>
          <p:cNvPr id="7" name="Shape 5">
            <a:extLst xmlns:a="http://schemas.openxmlformats.org/drawingml/2006/main">
              <a:ext uri="{FF2B5EF4-FFF2-40B4-BE49-F238E27FC236}">
                <a16:creationId xmlns:a16="http://schemas.microsoft.com/office/drawing/2014/main" id="{BE56D28B-0569-4621-8A6F-99E640DE2862}"/>
              </a:ext>
            </a:extLst>
          </p:cNvPr>
          <p:cNvSpPr>
            <a:spLocks xmlns:a="http://schemas.openxmlformats.org/drawingml/2006/main" noGrp="1"/>
          </p:cNvSpPr>
          <p:nvPr/>
        </p:nvSpPr>
        <p:spPr>
          <a:xfrm xmlns:a="http://schemas.openxmlformats.org/drawingml/2006/main">
            <a:off x="2243701" y="3011797"/>
            <a:ext cx="24993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7FD17473-0AA3-450D-848F-E83ABB4290FC}"/>
              </a:ext>
            </a:extLst>
          </p:cNvPr>
          <p:cNvSpPr>
            <a:spLocks xmlns:a="http://schemas.openxmlformats.org/drawingml/2006/main" noGrp="1"/>
          </p:cNvSpPr>
          <p:nvPr/>
        </p:nvSpPr>
        <p:spPr>
          <a:xfrm xmlns:a="http://schemas.openxmlformats.org/drawingml/2006/main">
            <a:off x="2304661" y="3036181"/>
            <a:ext cx="23774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Feature</a:t>
            </a:r>
          </a:p>
        </p:txBody>
      </p:sp>
      <p:sp>
        <p:nvSpPr>
          <p:cNvPr id="9" name="Shape 7">
            <a:extLst xmlns:a="http://schemas.openxmlformats.org/drawingml/2006/main">
              <a:ext uri="{FF2B5EF4-FFF2-40B4-BE49-F238E27FC236}">
                <a16:creationId xmlns:a16="http://schemas.microsoft.com/office/drawing/2014/main" id="{311C3845-77E9-4B85-B0D6-444811B68446}"/>
              </a:ext>
            </a:extLst>
          </p:cNvPr>
          <p:cNvSpPr>
            <a:spLocks xmlns:a="http://schemas.openxmlformats.org/drawingml/2006/main" noGrp="1"/>
          </p:cNvSpPr>
          <p:nvPr/>
        </p:nvSpPr>
        <p:spPr>
          <a:xfrm xmlns:a="http://schemas.openxmlformats.org/drawingml/2006/main">
            <a:off x="4743061" y="3011797"/>
            <a:ext cx="268224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2DF6A77E-6458-4653-9432-960A0DB9E653}"/>
              </a:ext>
            </a:extLst>
          </p:cNvPr>
          <p:cNvSpPr>
            <a:spLocks xmlns:a="http://schemas.openxmlformats.org/drawingml/2006/main" noGrp="1"/>
          </p:cNvSpPr>
          <p:nvPr/>
        </p:nvSpPr>
        <p:spPr>
          <a:xfrm xmlns:a="http://schemas.openxmlformats.org/drawingml/2006/main">
            <a:off x="4804021" y="3036181"/>
            <a:ext cx="256032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CarenR (KS test)</a:t>
            </a:r>
          </a:p>
        </p:txBody>
      </p:sp>
      <p:sp>
        <p:nvSpPr>
          <p:cNvPr id="11" name="Shape 9">
            <a:extLst xmlns:a="http://schemas.openxmlformats.org/drawingml/2006/main">
              <a:ext uri="{FF2B5EF4-FFF2-40B4-BE49-F238E27FC236}">
                <a16:creationId xmlns:a16="http://schemas.microsoft.com/office/drawing/2014/main" id="{9C9C0002-65B7-4F9D-A601-61249915DB94}"/>
              </a:ext>
            </a:extLst>
          </p:cNvPr>
          <p:cNvSpPr>
            <a:spLocks xmlns:a="http://schemas.openxmlformats.org/drawingml/2006/main" noGrp="1"/>
          </p:cNvSpPr>
          <p:nvPr/>
        </p:nvSpPr>
        <p:spPr>
          <a:xfrm xmlns:a="http://schemas.openxmlformats.org/drawingml/2006/main">
            <a:off x="7425301" y="3011797"/>
            <a:ext cx="21945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50CB1FA8-24D3-47F4-8E61-6BBA510F2A44}"/>
              </a:ext>
            </a:extLst>
          </p:cNvPr>
          <p:cNvSpPr>
            <a:spLocks xmlns:a="http://schemas.openxmlformats.org/drawingml/2006/main" noGrp="1"/>
          </p:cNvSpPr>
          <p:nvPr/>
        </p:nvSpPr>
        <p:spPr>
          <a:xfrm xmlns:a="http://schemas.openxmlformats.org/drawingml/2006/main">
            <a:off x="7486261" y="3036181"/>
            <a:ext cx="20726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RIPPER (FOIL gain)</a:t>
            </a:r>
          </a:p>
        </p:txBody>
      </p:sp>
      <p:sp>
        <p:nvSpPr>
          <p:cNvPr id="13" name="Shape 11">
            <a:extLst xmlns:a="http://schemas.openxmlformats.org/drawingml/2006/main">
              <a:ext uri="{FF2B5EF4-FFF2-40B4-BE49-F238E27FC236}">
                <a16:creationId xmlns:a16="http://schemas.microsoft.com/office/drawing/2014/main" id="{8B6FA14A-781E-45C7-9C68-A5FE517C8F63}"/>
              </a:ext>
            </a:extLst>
          </p:cNvPr>
          <p:cNvSpPr>
            <a:spLocks xmlns:a="http://schemas.openxmlformats.org/drawingml/2006/main" noGrp="1"/>
          </p:cNvSpPr>
          <p:nvPr/>
        </p:nvSpPr>
        <p:spPr>
          <a:xfrm xmlns:a="http://schemas.openxmlformats.org/drawingml/2006/main">
            <a:off x="9619861" y="3011797"/>
            <a:ext cx="21945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604BA165-2A50-4C95-8642-811C949E96B5}"/>
              </a:ext>
            </a:extLst>
          </p:cNvPr>
          <p:cNvSpPr>
            <a:spLocks xmlns:a="http://schemas.openxmlformats.org/drawingml/2006/main" noGrp="1"/>
          </p:cNvSpPr>
          <p:nvPr/>
        </p:nvSpPr>
        <p:spPr>
          <a:xfrm xmlns:a="http://schemas.openxmlformats.org/drawingml/2006/main">
            <a:off x="9680821" y="3036181"/>
            <a:ext cx="20726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M5Rules (MSE min.)</a:t>
            </a:r>
          </a:p>
        </p:txBody>
      </p:sp>
      <p:sp>
        <p:nvSpPr>
          <p:cNvPr id="15" name="Shape 13">
            <a:extLst xmlns:a="http://schemas.openxmlformats.org/drawingml/2006/main">
              <a:ext uri="{FF2B5EF4-FFF2-40B4-BE49-F238E27FC236}">
                <a16:creationId xmlns:a16="http://schemas.microsoft.com/office/drawing/2014/main" id="{BF8A3DFD-D16C-4460-92DC-017DA252D1B8}"/>
              </a:ext>
            </a:extLst>
          </p:cNvPr>
          <p:cNvSpPr>
            <a:spLocks xmlns:a="http://schemas.openxmlformats.org/drawingml/2006/main" noGrp="1"/>
          </p:cNvSpPr>
          <p:nvPr/>
        </p:nvSpPr>
        <p:spPr>
          <a:xfrm xmlns:a="http://schemas.openxmlformats.org/drawingml/2006/main">
            <a:off x="11814421" y="3011797"/>
            <a:ext cx="1889760" cy="426720"/>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49FD7BFB-CBEA-44F3-96F2-F201F18D3813}"/>
              </a:ext>
            </a:extLst>
          </p:cNvPr>
          <p:cNvSpPr>
            <a:spLocks xmlns:a="http://schemas.openxmlformats.org/drawingml/2006/main" noGrp="1"/>
          </p:cNvSpPr>
          <p:nvPr/>
        </p:nvSpPr>
        <p:spPr>
          <a:xfrm xmlns:a="http://schemas.openxmlformats.org/drawingml/2006/main">
            <a:off x="11875381" y="3036181"/>
            <a:ext cx="1767840" cy="377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333" b="1">
                <a:solidFill>
                  <a:srgbClr val="FFFFFF"/>
                </a:solidFill>
                <a:latin typeface="Calibri"/>
                <a:ea typeface="Calibri"/>
                <a:cs typeface="Calibri"/>
              </a:rPr>
              <a:t>Confidence</a:t>
            </a:r>
          </a:p>
        </p:txBody>
      </p:sp>
      <p:sp>
        <p:nvSpPr>
          <p:cNvPr id="17" name="Shape 15">
            <a:extLst xmlns:a="http://schemas.openxmlformats.org/drawingml/2006/main">
              <a:ext uri="{FF2B5EF4-FFF2-40B4-BE49-F238E27FC236}">
                <a16:creationId xmlns:a16="http://schemas.microsoft.com/office/drawing/2014/main" id="{084C687D-539E-4DF9-8D83-D67A82D40620}"/>
              </a:ext>
            </a:extLst>
          </p:cNvPr>
          <p:cNvSpPr>
            <a:spLocks xmlns:a="http://schemas.openxmlformats.org/drawingml/2006/main" noGrp="1"/>
          </p:cNvSpPr>
          <p:nvPr/>
        </p:nvSpPr>
        <p:spPr>
          <a:xfrm xmlns:a="http://schemas.openxmlformats.org/drawingml/2006/main">
            <a:off x="2243701" y="3499477"/>
            <a:ext cx="24993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B7FDF9EB-EBF7-4101-8D31-DCE7025A4665}"/>
              </a:ext>
            </a:extLst>
          </p:cNvPr>
          <p:cNvSpPr>
            <a:spLocks xmlns:a="http://schemas.openxmlformats.org/drawingml/2006/main" noGrp="1"/>
          </p:cNvSpPr>
          <p:nvPr/>
        </p:nvSpPr>
        <p:spPr>
          <a:xfrm xmlns:a="http://schemas.openxmlformats.org/drawingml/2006/main">
            <a:off x="2243701" y="3499477"/>
            <a:ext cx="73152" cy="1072896"/>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97754A4-207C-4D7E-BC2C-A7FE092BB56B}"/>
              </a:ext>
            </a:extLst>
          </p:cNvPr>
          <p:cNvSpPr>
            <a:spLocks xmlns:a="http://schemas.openxmlformats.org/drawingml/2006/main" noGrp="1"/>
          </p:cNvSpPr>
          <p:nvPr/>
        </p:nvSpPr>
        <p:spPr>
          <a:xfrm xmlns:a="http://schemas.openxmlformats.org/drawingml/2006/main">
            <a:off x="2414389" y="3572629"/>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Harvest soil water</a:t>
            </a:r>
          </a:p>
          <a:p xmlns:a="http://schemas.openxmlformats.org/drawingml/2006/main">
            <a:r>
              <a:rPr sz="1333">
                <a:solidFill>
                  <a:srgbClr val="1C1214"/>
                </a:solidFill>
                <a:latin typeface="Calibri"/>
                <a:ea typeface="Calibri"/>
                <a:cs typeface="Calibri"/>
              </a:rPr>
              <a:t>(swa_hv_y1_b20)</a:t>
            </a:r>
          </a:p>
        </p:txBody>
      </p:sp>
      <p:sp>
        <p:nvSpPr>
          <p:cNvPr id="20" name="Shape 18">
            <a:extLst xmlns:a="http://schemas.openxmlformats.org/drawingml/2006/main">
              <a:ext uri="{FF2B5EF4-FFF2-40B4-BE49-F238E27FC236}">
                <a16:creationId xmlns:a16="http://schemas.microsoft.com/office/drawing/2014/main" id="{2CD1D9A0-3ACD-4136-B0A7-79C764A51256}"/>
              </a:ext>
            </a:extLst>
          </p:cNvPr>
          <p:cNvSpPr>
            <a:spLocks xmlns:a="http://schemas.openxmlformats.org/drawingml/2006/main" noGrp="1"/>
          </p:cNvSpPr>
          <p:nvPr/>
        </p:nvSpPr>
        <p:spPr>
          <a:xfrm xmlns:a="http://schemas.openxmlformats.org/drawingml/2006/main">
            <a:off x="4743061" y="3499477"/>
            <a:ext cx="268224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027AB287-65A3-44D9-BE9B-738B7D2D57BE}"/>
              </a:ext>
            </a:extLst>
          </p:cNvPr>
          <p:cNvSpPr>
            <a:spLocks xmlns:a="http://schemas.openxmlformats.org/drawingml/2006/main" noGrp="1"/>
          </p:cNvSpPr>
          <p:nvPr/>
        </p:nvSpPr>
        <p:spPr>
          <a:xfrm xmlns:a="http://schemas.openxmlformats.org/drawingml/2006/main">
            <a:off x="4816213" y="3572629"/>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54% of RDD rules</a:t>
            </a:r>
          </a:p>
          <a:p xmlns:a="http://schemas.openxmlformats.org/drawingml/2006/main">
            <a:r>
              <a:rPr sz="1267">
                <a:solidFill>
                  <a:srgbClr val="1C1214"/>
                </a:solidFill>
                <a:latin typeface="Calibri"/>
                <a:ea typeface="Calibri"/>
                <a:cs typeface="Calibri"/>
              </a:rPr>
              <a:t>✓  25% of RVV rules</a:t>
            </a:r>
          </a:p>
        </p:txBody>
      </p:sp>
      <p:sp>
        <p:nvSpPr>
          <p:cNvPr id="22" name="Shape 20">
            <a:extLst xmlns:a="http://schemas.openxmlformats.org/drawingml/2006/main">
              <a:ext uri="{FF2B5EF4-FFF2-40B4-BE49-F238E27FC236}">
                <a16:creationId xmlns:a16="http://schemas.microsoft.com/office/drawing/2014/main" id="{F54F8BA0-78FA-4A28-AC8D-59FFE6DD4A16}"/>
              </a:ext>
            </a:extLst>
          </p:cNvPr>
          <p:cNvSpPr>
            <a:spLocks xmlns:a="http://schemas.openxmlformats.org/drawingml/2006/main" noGrp="1"/>
          </p:cNvSpPr>
          <p:nvPr/>
        </p:nvSpPr>
        <p:spPr>
          <a:xfrm xmlns:a="http://schemas.openxmlformats.org/drawingml/2006/main">
            <a:off x="7425301" y="3499477"/>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9956E223-2E6D-490C-A242-9D3633515135}"/>
              </a:ext>
            </a:extLst>
          </p:cNvPr>
          <p:cNvSpPr>
            <a:spLocks xmlns:a="http://schemas.openxmlformats.org/drawingml/2006/main" noGrp="1"/>
          </p:cNvSpPr>
          <p:nvPr/>
        </p:nvSpPr>
        <p:spPr>
          <a:xfrm xmlns:a="http://schemas.openxmlformats.org/drawingml/2006/main">
            <a:off x="7498453" y="3572629"/>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 3</a:t>
            </a:r>
          </a:p>
        </p:txBody>
      </p:sp>
      <p:sp>
        <p:nvSpPr>
          <p:cNvPr id="24" name="Shape 22">
            <a:extLst xmlns:a="http://schemas.openxmlformats.org/drawingml/2006/main">
              <a:ext uri="{FF2B5EF4-FFF2-40B4-BE49-F238E27FC236}">
                <a16:creationId xmlns:a16="http://schemas.microsoft.com/office/drawing/2014/main" id="{B1F402E2-43BF-4A26-9DE7-2F3C4540F70F}"/>
              </a:ext>
            </a:extLst>
          </p:cNvPr>
          <p:cNvSpPr>
            <a:spLocks xmlns:a="http://schemas.openxmlformats.org/drawingml/2006/main" noGrp="1"/>
          </p:cNvSpPr>
          <p:nvPr/>
        </p:nvSpPr>
        <p:spPr>
          <a:xfrm xmlns:a="http://schemas.openxmlformats.org/drawingml/2006/main">
            <a:off x="9619861" y="3499477"/>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86BB7F6B-FDFA-4318-9D60-4173DF464EC4}"/>
              </a:ext>
            </a:extLst>
          </p:cNvPr>
          <p:cNvSpPr>
            <a:spLocks xmlns:a="http://schemas.openxmlformats.org/drawingml/2006/main" noGrp="1"/>
          </p:cNvSpPr>
          <p:nvPr/>
        </p:nvSpPr>
        <p:spPr>
          <a:xfrm xmlns:a="http://schemas.openxmlformats.org/drawingml/2006/main">
            <a:off x="9693013" y="3572629"/>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−2.3/mm RDD</a:t>
            </a:r>
          </a:p>
          <a:p xmlns:a="http://schemas.openxmlformats.org/drawingml/2006/main">
            <a:r>
              <a:rPr sz="1267">
                <a:solidFill>
                  <a:srgbClr val="1C1214"/>
                </a:solidFill>
                <a:latin typeface="Calibri"/>
                <a:ea typeface="Calibri"/>
                <a:cs typeface="Calibri"/>
              </a:rPr>
              <a:t>✓  −8.1/mm RVV</a:t>
            </a:r>
          </a:p>
        </p:txBody>
      </p:sp>
      <p:sp>
        <p:nvSpPr>
          <p:cNvPr id="26" name="Shape 24">
            <a:extLst xmlns:a="http://schemas.openxmlformats.org/drawingml/2006/main">
              <a:ext uri="{FF2B5EF4-FFF2-40B4-BE49-F238E27FC236}">
                <a16:creationId xmlns:a16="http://schemas.microsoft.com/office/drawing/2014/main" id="{696BACDD-6739-4669-8990-B62E23AAE9E5}"/>
              </a:ext>
            </a:extLst>
          </p:cNvPr>
          <p:cNvSpPr>
            <a:spLocks xmlns:a="http://schemas.openxmlformats.org/drawingml/2006/main" noGrp="1"/>
          </p:cNvSpPr>
          <p:nvPr/>
        </p:nvSpPr>
        <p:spPr>
          <a:xfrm xmlns:a="http://schemas.openxmlformats.org/drawingml/2006/main">
            <a:off x="11814421" y="3499477"/>
            <a:ext cx="18897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50D9AC49-55AA-4360-BE5D-CD403B7F7DB9}"/>
              </a:ext>
            </a:extLst>
          </p:cNvPr>
          <p:cNvSpPr>
            <a:spLocks xmlns:a="http://schemas.openxmlformats.org/drawingml/2006/main" noGrp="1"/>
          </p:cNvSpPr>
          <p:nvPr/>
        </p:nvSpPr>
        <p:spPr>
          <a:xfrm xmlns:a="http://schemas.openxmlformats.org/drawingml/2006/main">
            <a:off x="11887573" y="3572629"/>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universal</a:t>
            </a:r>
          </a:p>
        </p:txBody>
      </p:sp>
      <p:sp>
        <p:nvSpPr>
          <p:cNvPr id="28" name="Shape 26">
            <a:extLst xmlns:a="http://schemas.openxmlformats.org/drawingml/2006/main">
              <a:ext uri="{FF2B5EF4-FFF2-40B4-BE49-F238E27FC236}">
                <a16:creationId xmlns:a16="http://schemas.microsoft.com/office/drawing/2014/main" id="{D02490F0-C8B6-42A7-9865-49E7A8C653B8}"/>
              </a:ext>
            </a:extLst>
          </p:cNvPr>
          <p:cNvSpPr>
            <a:spLocks xmlns:a="http://schemas.openxmlformats.org/drawingml/2006/main" noGrp="1"/>
          </p:cNvSpPr>
          <p:nvPr/>
        </p:nvSpPr>
        <p:spPr>
          <a:xfrm xmlns:a="http://schemas.openxmlformats.org/drawingml/2006/main">
            <a:off x="2243701" y="4645525"/>
            <a:ext cx="24993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AC0EE4A2-2CE1-4DF0-A49F-851B7D2DBA29}"/>
              </a:ext>
            </a:extLst>
          </p:cNvPr>
          <p:cNvSpPr>
            <a:spLocks xmlns:a="http://schemas.openxmlformats.org/drawingml/2006/main" noGrp="1"/>
          </p:cNvSpPr>
          <p:nvPr/>
        </p:nvSpPr>
        <p:spPr>
          <a:xfrm xmlns:a="http://schemas.openxmlformats.org/drawingml/2006/main">
            <a:off x="2243701" y="4645525"/>
            <a:ext cx="73152" cy="1072896"/>
          </a:xfrm>
          <a:prstGeom xmlns:a="http://schemas.openxmlformats.org/drawingml/2006/main" prst="rect">
            <a:avLst/>
          </a:prstGeom>
          <a:solidFill xmlns:a="http://schemas.openxmlformats.org/drawingml/2006/main">
            <a:srgbClr val="2A7F7F"/>
          </a:solidFill>
          <a:ln xmlns:a="http://schemas.openxmlformats.org/drawingml/2006/main" w="12700">
            <a:solidFill>
              <a:srgbClr val="2A7F7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3DFB6FBE-13D5-4B76-9EFE-24BC101661F2}"/>
              </a:ext>
            </a:extLst>
          </p:cNvPr>
          <p:cNvSpPr>
            <a:spLocks xmlns:a="http://schemas.openxmlformats.org/drawingml/2006/main" noGrp="1"/>
          </p:cNvSpPr>
          <p:nvPr/>
        </p:nvSpPr>
        <p:spPr>
          <a:xfrm xmlns:a="http://schemas.openxmlformats.org/drawingml/2006/main">
            <a:off x="2414389" y="4718677"/>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LAI family</a:t>
            </a:r>
          </a:p>
          <a:p xmlns:a="http://schemas.openxmlformats.org/drawingml/2006/main">
            <a:r>
              <a:rPr sz="1333">
                <a:solidFill>
                  <a:srgbClr val="1C1214"/>
                </a:solidFill>
                <a:latin typeface="Calibri"/>
                <a:ea typeface="Calibri"/>
                <a:cs typeface="Calibri"/>
              </a:rPr>
              <a:t>(iaf_hv, iaf_fl)</a:t>
            </a:r>
          </a:p>
        </p:txBody>
      </p:sp>
      <p:sp>
        <p:nvSpPr>
          <p:cNvPr id="31" name="Shape 29">
            <a:extLst xmlns:a="http://schemas.openxmlformats.org/drawingml/2006/main">
              <a:ext uri="{FF2B5EF4-FFF2-40B4-BE49-F238E27FC236}">
                <a16:creationId xmlns:a16="http://schemas.microsoft.com/office/drawing/2014/main" id="{822B7F2B-249B-49D3-B032-81C6D9933614}"/>
              </a:ext>
            </a:extLst>
          </p:cNvPr>
          <p:cNvSpPr>
            <a:spLocks xmlns:a="http://schemas.openxmlformats.org/drawingml/2006/main" noGrp="1"/>
          </p:cNvSpPr>
          <p:nvPr/>
        </p:nvSpPr>
        <p:spPr>
          <a:xfrm xmlns:a="http://schemas.openxmlformats.org/drawingml/2006/main">
            <a:off x="4743061" y="4645525"/>
            <a:ext cx="268224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25F1651B-2A2B-4E9A-A071-CBAE4E1C42BE}"/>
              </a:ext>
            </a:extLst>
          </p:cNvPr>
          <p:cNvSpPr>
            <a:spLocks xmlns:a="http://schemas.openxmlformats.org/drawingml/2006/main" noGrp="1"/>
          </p:cNvSpPr>
          <p:nvPr/>
        </p:nvSpPr>
        <p:spPr>
          <a:xfrm xmlns:a="http://schemas.openxmlformats.org/drawingml/2006/main">
            <a:off x="4816213" y="4718677"/>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All 20 RVV rules</a:t>
            </a:r>
          </a:p>
          <a:p xmlns:a="http://schemas.openxmlformats.org/drawingml/2006/main">
            <a:r>
              <a:rPr sz="1267">
                <a:solidFill>
                  <a:srgbClr val="1C1214"/>
                </a:solidFill>
                <a:latin typeface="Calibri"/>
                <a:ea typeface="Calibri"/>
                <a:cs typeface="Calibri"/>
              </a:rPr>
              <a:t>✓  Minor RDD signal</a:t>
            </a:r>
          </a:p>
        </p:txBody>
      </p:sp>
      <p:sp>
        <p:nvSpPr>
          <p:cNvPr id="33" name="Shape 31">
            <a:extLst xmlns:a="http://schemas.openxmlformats.org/drawingml/2006/main">
              <a:ext uri="{FF2B5EF4-FFF2-40B4-BE49-F238E27FC236}">
                <a16:creationId xmlns:a16="http://schemas.microsoft.com/office/drawing/2014/main" id="{CBE50E3A-9ED8-435A-8581-28EB5AA49356}"/>
              </a:ext>
            </a:extLst>
          </p:cNvPr>
          <p:cNvSpPr>
            <a:spLocks xmlns:a="http://schemas.openxmlformats.org/drawingml/2006/main" noGrp="1"/>
          </p:cNvSpPr>
          <p:nvPr/>
        </p:nvSpPr>
        <p:spPr>
          <a:xfrm xmlns:a="http://schemas.openxmlformats.org/drawingml/2006/main">
            <a:off x="7425301" y="4645525"/>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4" name="Text 32">
            <a:extLst xmlns:a="http://schemas.openxmlformats.org/drawingml/2006/main">
              <a:ext uri="{FF2B5EF4-FFF2-40B4-BE49-F238E27FC236}">
                <a16:creationId xmlns:a16="http://schemas.microsoft.com/office/drawing/2014/main" id="{EFF76CC8-3EF7-45F3-8A62-9B785EA65917}"/>
              </a:ext>
            </a:extLst>
          </p:cNvPr>
          <p:cNvSpPr>
            <a:spLocks xmlns:a="http://schemas.openxmlformats.org/drawingml/2006/main" noGrp="1"/>
          </p:cNvSpPr>
          <p:nvPr/>
        </p:nvSpPr>
        <p:spPr>
          <a:xfrm xmlns:a="http://schemas.openxmlformats.org/drawingml/2006/main">
            <a:off x="7498453" y="4718677"/>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Rules 1–2</a:t>
            </a:r>
          </a:p>
        </p:txBody>
      </p:sp>
      <p:sp>
        <p:nvSpPr>
          <p:cNvPr id="35" name="Shape 33">
            <a:extLst xmlns:a="http://schemas.openxmlformats.org/drawingml/2006/main">
              <a:ext uri="{FF2B5EF4-FFF2-40B4-BE49-F238E27FC236}">
                <a16:creationId xmlns:a16="http://schemas.microsoft.com/office/drawing/2014/main" id="{0E535C8B-9163-426C-9E6B-5FC53453C0AA}"/>
              </a:ext>
            </a:extLst>
          </p:cNvPr>
          <p:cNvSpPr>
            <a:spLocks xmlns:a="http://schemas.openxmlformats.org/drawingml/2006/main" noGrp="1"/>
          </p:cNvSpPr>
          <p:nvPr/>
        </p:nvSpPr>
        <p:spPr>
          <a:xfrm xmlns:a="http://schemas.openxmlformats.org/drawingml/2006/main">
            <a:off x="9619861" y="4645525"/>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2AF5D373-DEC0-4A5A-BC59-BE80F7EF99B7}"/>
              </a:ext>
            </a:extLst>
          </p:cNvPr>
          <p:cNvSpPr>
            <a:spLocks xmlns:a="http://schemas.openxmlformats.org/drawingml/2006/main" noGrp="1"/>
          </p:cNvSpPr>
          <p:nvPr/>
        </p:nvSpPr>
        <p:spPr>
          <a:xfrm xmlns:a="http://schemas.openxmlformats.org/drawingml/2006/main">
            <a:off x="9693013" y="4718677"/>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−2064/unit RVV</a:t>
            </a:r>
          </a:p>
        </p:txBody>
      </p:sp>
      <p:sp>
        <p:nvSpPr>
          <p:cNvPr id="37" name="Shape 35">
            <a:extLst xmlns:a="http://schemas.openxmlformats.org/drawingml/2006/main">
              <a:ext uri="{FF2B5EF4-FFF2-40B4-BE49-F238E27FC236}">
                <a16:creationId xmlns:a16="http://schemas.microsoft.com/office/drawing/2014/main" id="{8D88A86C-29ED-4AD8-8C78-D2599243EE48}"/>
              </a:ext>
            </a:extLst>
          </p:cNvPr>
          <p:cNvSpPr>
            <a:spLocks xmlns:a="http://schemas.openxmlformats.org/drawingml/2006/main" noGrp="1"/>
          </p:cNvSpPr>
          <p:nvPr/>
        </p:nvSpPr>
        <p:spPr>
          <a:xfrm xmlns:a="http://schemas.openxmlformats.org/drawingml/2006/main">
            <a:off x="11814421" y="4645525"/>
            <a:ext cx="18897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38" name="Text 36">
            <a:extLst xmlns:a="http://schemas.openxmlformats.org/drawingml/2006/main">
              <a:ext uri="{FF2B5EF4-FFF2-40B4-BE49-F238E27FC236}">
                <a16:creationId xmlns:a16="http://schemas.microsoft.com/office/drawing/2014/main" id="{CD10DDAD-3DA9-44CD-B409-D13BE558BD21}"/>
              </a:ext>
            </a:extLst>
          </p:cNvPr>
          <p:cNvSpPr>
            <a:spLocks xmlns:a="http://schemas.openxmlformats.org/drawingml/2006/main" noGrp="1"/>
          </p:cNvSpPr>
          <p:nvPr/>
        </p:nvSpPr>
        <p:spPr>
          <a:xfrm xmlns:a="http://schemas.openxmlformats.org/drawingml/2006/main">
            <a:off x="11887573" y="4718677"/>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universal</a:t>
            </a:r>
          </a:p>
        </p:txBody>
      </p:sp>
      <p:sp>
        <p:nvSpPr>
          <p:cNvPr id="39" name="Shape 37">
            <a:extLst xmlns:a="http://schemas.openxmlformats.org/drawingml/2006/main">
              <a:ext uri="{FF2B5EF4-FFF2-40B4-BE49-F238E27FC236}">
                <a16:creationId xmlns:a16="http://schemas.microsoft.com/office/drawing/2014/main" id="{CDA6C936-6B40-4B36-A44A-3E3670759BAE}"/>
              </a:ext>
            </a:extLst>
          </p:cNvPr>
          <p:cNvSpPr>
            <a:spLocks xmlns:a="http://schemas.openxmlformats.org/drawingml/2006/main" noGrp="1"/>
          </p:cNvSpPr>
          <p:nvPr/>
        </p:nvSpPr>
        <p:spPr>
          <a:xfrm xmlns:a="http://schemas.openxmlformats.org/drawingml/2006/main">
            <a:off x="2243701" y="5791573"/>
            <a:ext cx="24993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0AAF6DF0-A280-42CE-BC23-E113AB900968}"/>
              </a:ext>
            </a:extLst>
          </p:cNvPr>
          <p:cNvSpPr>
            <a:spLocks xmlns:a="http://schemas.openxmlformats.org/drawingml/2006/main" noGrp="1"/>
          </p:cNvSpPr>
          <p:nvPr/>
        </p:nvSpPr>
        <p:spPr>
          <a:xfrm xmlns:a="http://schemas.openxmlformats.org/drawingml/2006/main">
            <a:off x="2243701" y="5791573"/>
            <a:ext cx="73152" cy="1072896"/>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F9996B1C-5B8F-4BFF-9324-564E9A598D9E}"/>
              </a:ext>
            </a:extLst>
          </p:cNvPr>
          <p:cNvSpPr>
            <a:spLocks xmlns:a="http://schemas.openxmlformats.org/drawingml/2006/main" noGrp="1"/>
          </p:cNvSpPr>
          <p:nvPr/>
        </p:nvSpPr>
        <p:spPr>
          <a:xfrm xmlns:a="http://schemas.openxmlformats.org/drawingml/2006/main">
            <a:off x="2414389" y="5864725"/>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Prev-yr summer temp</a:t>
            </a:r>
          </a:p>
          <a:p xmlns:a="http://schemas.openxmlformats.org/drawingml/2006/main">
            <a:r>
              <a:rPr sz="1333">
                <a:solidFill>
                  <a:srgbClr val="1C1214"/>
                </a:solidFill>
                <a:latin typeface="Calibri"/>
                <a:ea typeface="Calibri"/>
                <a:cs typeface="Calibri"/>
              </a:rPr>
              <a:t>(tm_sm_y0_a20)</a:t>
            </a:r>
          </a:p>
        </p:txBody>
      </p:sp>
      <p:sp>
        <p:nvSpPr>
          <p:cNvPr id="42" name="Shape 40">
            <a:extLst xmlns:a="http://schemas.openxmlformats.org/drawingml/2006/main">
              <a:ext uri="{FF2B5EF4-FFF2-40B4-BE49-F238E27FC236}">
                <a16:creationId xmlns:a16="http://schemas.microsoft.com/office/drawing/2014/main" id="{ED1740BC-E3C7-4218-B449-1D387E56008E}"/>
              </a:ext>
            </a:extLst>
          </p:cNvPr>
          <p:cNvSpPr>
            <a:spLocks xmlns:a="http://schemas.openxmlformats.org/drawingml/2006/main" noGrp="1"/>
          </p:cNvSpPr>
          <p:nvPr/>
        </p:nvSpPr>
        <p:spPr>
          <a:xfrm xmlns:a="http://schemas.openxmlformats.org/drawingml/2006/main">
            <a:off x="4743061" y="5791573"/>
            <a:ext cx="268224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3" name="Text 41">
            <a:extLst xmlns:a="http://schemas.openxmlformats.org/drawingml/2006/main">
              <a:ext uri="{FF2B5EF4-FFF2-40B4-BE49-F238E27FC236}">
                <a16:creationId xmlns:a16="http://schemas.microsoft.com/office/drawing/2014/main" id="{6FB270FE-974D-4B30-9916-7297CDD79EE5}"/>
              </a:ext>
            </a:extLst>
          </p:cNvPr>
          <p:cNvSpPr>
            <a:spLocks xmlns:a="http://schemas.openxmlformats.org/drawingml/2006/main" noGrp="1"/>
          </p:cNvSpPr>
          <p:nvPr/>
        </p:nvSpPr>
        <p:spPr>
          <a:xfrm xmlns:a="http://schemas.openxmlformats.org/drawingml/2006/main">
            <a:off x="4816213" y="5864725"/>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carry-over</a:t>
            </a:r>
          </a:p>
        </p:txBody>
      </p:sp>
      <p:sp>
        <p:nvSpPr>
          <p:cNvPr id="44" name="Shape 42">
            <a:extLst xmlns:a="http://schemas.openxmlformats.org/drawingml/2006/main">
              <a:ext uri="{FF2B5EF4-FFF2-40B4-BE49-F238E27FC236}">
                <a16:creationId xmlns:a16="http://schemas.microsoft.com/office/drawing/2014/main" id="{0D63D52A-F90D-47E2-A017-DFD10F9DCA6F}"/>
              </a:ext>
            </a:extLst>
          </p:cNvPr>
          <p:cNvSpPr>
            <a:spLocks xmlns:a="http://schemas.openxmlformats.org/drawingml/2006/main" noGrp="1"/>
          </p:cNvSpPr>
          <p:nvPr/>
        </p:nvSpPr>
        <p:spPr>
          <a:xfrm xmlns:a="http://schemas.openxmlformats.org/drawingml/2006/main">
            <a:off x="7425301" y="5791573"/>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5" name="Text 43">
            <a:extLst xmlns:a="http://schemas.openxmlformats.org/drawingml/2006/main">
              <a:ext uri="{FF2B5EF4-FFF2-40B4-BE49-F238E27FC236}">
                <a16:creationId xmlns:a16="http://schemas.microsoft.com/office/drawing/2014/main" id="{0F86F716-20BE-4436-AA2A-D2BC0B7DD79D}"/>
              </a:ext>
            </a:extLst>
          </p:cNvPr>
          <p:cNvSpPr>
            <a:spLocks xmlns:a="http://schemas.openxmlformats.org/drawingml/2006/main" noGrp="1"/>
          </p:cNvSpPr>
          <p:nvPr/>
        </p:nvSpPr>
        <p:spPr>
          <a:xfrm xmlns:a="http://schemas.openxmlformats.org/drawingml/2006/main">
            <a:off x="7498453" y="5864725"/>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RVV Rule 3</a:t>
            </a:r>
          </a:p>
        </p:txBody>
      </p:sp>
      <p:sp>
        <p:nvSpPr>
          <p:cNvPr id="46" name="Shape 44">
            <a:extLst xmlns:a="http://schemas.openxmlformats.org/drawingml/2006/main">
              <a:ext uri="{FF2B5EF4-FFF2-40B4-BE49-F238E27FC236}">
                <a16:creationId xmlns:a16="http://schemas.microsoft.com/office/drawing/2014/main" id="{29E3CAEE-D5C9-4781-9148-7BCD3148DA78}"/>
              </a:ext>
            </a:extLst>
          </p:cNvPr>
          <p:cNvSpPr>
            <a:spLocks xmlns:a="http://schemas.openxmlformats.org/drawingml/2006/main" noGrp="1"/>
          </p:cNvSpPr>
          <p:nvPr/>
        </p:nvSpPr>
        <p:spPr>
          <a:xfrm xmlns:a="http://schemas.openxmlformats.org/drawingml/2006/main">
            <a:off x="9619861" y="5791573"/>
            <a:ext cx="21945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B45112C2-9EE6-40E2-941C-C6754BE4E59D}"/>
              </a:ext>
            </a:extLst>
          </p:cNvPr>
          <p:cNvSpPr>
            <a:spLocks xmlns:a="http://schemas.openxmlformats.org/drawingml/2006/main" noGrp="1"/>
          </p:cNvSpPr>
          <p:nvPr/>
        </p:nvSpPr>
        <p:spPr>
          <a:xfrm xmlns:a="http://schemas.openxmlformats.org/drawingml/2006/main">
            <a:off x="9693013" y="5864725"/>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+17.2/°C RVV</a:t>
            </a:r>
          </a:p>
        </p:txBody>
      </p:sp>
      <p:sp>
        <p:nvSpPr>
          <p:cNvPr id="48" name="Shape 46">
            <a:extLst xmlns:a="http://schemas.openxmlformats.org/drawingml/2006/main">
              <a:ext uri="{FF2B5EF4-FFF2-40B4-BE49-F238E27FC236}">
                <a16:creationId xmlns:a16="http://schemas.microsoft.com/office/drawing/2014/main" id="{3E5EC7F5-C07B-4CBC-947C-D07088BBDC30}"/>
              </a:ext>
            </a:extLst>
          </p:cNvPr>
          <p:cNvSpPr>
            <a:spLocks xmlns:a="http://schemas.openxmlformats.org/drawingml/2006/main" noGrp="1"/>
          </p:cNvSpPr>
          <p:nvPr/>
        </p:nvSpPr>
        <p:spPr>
          <a:xfrm xmlns:a="http://schemas.openxmlformats.org/drawingml/2006/main">
            <a:off x="11814421" y="5791573"/>
            <a:ext cx="1889760" cy="1072896"/>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87786559-50A8-4FF6-9FED-5B32043E76EA}"/>
              </a:ext>
            </a:extLst>
          </p:cNvPr>
          <p:cNvSpPr>
            <a:spLocks xmlns:a="http://schemas.openxmlformats.org/drawingml/2006/main" noGrp="1"/>
          </p:cNvSpPr>
          <p:nvPr/>
        </p:nvSpPr>
        <p:spPr>
          <a:xfrm xmlns:a="http://schemas.openxmlformats.org/drawingml/2006/main">
            <a:off x="11887573" y="5864725"/>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3A7A50"/>
                </a:solidFill>
                <a:latin typeface="Calibri"/>
                <a:ea typeface="Calibri"/>
                <a:cs typeface="Calibri"/>
              </a:rPr>
              <a:t>HIGH — RVV focus</a:t>
            </a:r>
          </a:p>
        </p:txBody>
      </p:sp>
      <p:sp>
        <p:nvSpPr>
          <p:cNvPr id="50" name="Shape 48">
            <a:extLst xmlns:a="http://schemas.openxmlformats.org/drawingml/2006/main">
              <a:ext uri="{FF2B5EF4-FFF2-40B4-BE49-F238E27FC236}">
                <a16:creationId xmlns:a16="http://schemas.microsoft.com/office/drawing/2014/main" id="{5299B7B3-2DE3-47AA-AA04-362A6775B369}"/>
              </a:ext>
            </a:extLst>
          </p:cNvPr>
          <p:cNvSpPr>
            <a:spLocks xmlns:a="http://schemas.openxmlformats.org/drawingml/2006/main" noGrp="1"/>
          </p:cNvSpPr>
          <p:nvPr/>
        </p:nvSpPr>
        <p:spPr>
          <a:xfrm xmlns:a="http://schemas.openxmlformats.org/drawingml/2006/main">
            <a:off x="2243701" y="6937621"/>
            <a:ext cx="24993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1" name="Shape 49">
            <a:extLst xmlns:a="http://schemas.openxmlformats.org/drawingml/2006/main">
              <a:ext uri="{FF2B5EF4-FFF2-40B4-BE49-F238E27FC236}">
                <a16:creationId xmlns:a16="http://schemas.microsoft.com/office/drawing/2014/main" id="{2C8AE821-E3E7-4471-AA03-75D0A3587E9C}"/>
              </a:ext>
            </a:extLst>
          </p:cNvPr>
          <p:cNvSpPr>
            <a:spLocks xmlns:a="http://schemas.openxmlformats.org/drawingml/2006/main" noGrp="1"/>
          </p:cNvSpPr>
          <p:nvPr/>
        </p:nvSpPr>
        <p:spPr>
          <a:xfrm xmlns:a="http://schemas.openxmlformats.org/drawingml/2006/main">
            <a:off x="2243701" y="6937621"/>
            <a:ext cx="73152" cy="1072896"/>
          </a:xfrm>
          <a:prstGeom xmlns:a="http://schemas.openxmlformats.org/drawingml/2006/main" prst="rect">
            <a:avLst/>
          </a:prstGeom>
          <a:solidFill xmlns:a="http://schemas.openxmlformats.org/drawingml/2006/main">
            <a:srgbClr val="5A4042"/>
          </a:solidFill>
          <a:ln xmlns:a="http://schemas.openxmlformats.org/drawingml/2006/main" w="12700">
            <a:solidFill>
              <a:srgbClr val="5A4042"/>
            </a:solidFill>
            <a:prstDash val="solid"/>
          </a:ln>
        </p:spPr>
        <p:txBody>
          <a:bodyPr xmlns:a="http://schemas.openxmlformats.org/drawingml/2006/main"/>
          <a:lstStyle xmlns:a="http://schemas.openxmlformats.org/drawingml/2006/main"/>
          <a:p xmlns:a="http://schemas.openxmlformats.org/drawingml/2006/main"/>
        </p:txBody>
      </p:sp>
      <p:sp>
        <p:nvSpPr>
          <p:cNvPr id="52" name="Text 50">
            <a:extLst xmlns:a="http://schemas.openxmlformats.org/drawingml/2006/main">
              <a:ext uri="{FF2B5EF4-FFF2-40B4-BE49-F238E27FC236}">
                <a16:creationId xmlns:a16="http://schemas.microsoft.com/office/drawing/2014/main" id="{CA5298D3-51B1-4858-8F65-22C62700A9FE}"/>
              </a:ext>
            </a:extLst>
          </p:cNvPr>
          <p:cNvSpPr>
            <a:spLocks xmlns:a="http://schemas.openxmlformats.org/drawingml/2006/main" noGrp="1"/>
          </p:cNvSpPr>
          <p:nvPr/>
        </p:nvSpPr>
        <p:spPr>
          <a:xfrm xmlns:a="http://schemas.openxmlformats.org/drawingml/2006/main">
            <a:off x="2414389" y="7010773"/>
            <a:ext cx="2255520"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a:solidFill>
                  <a:srgbClr val="1C1214"/>
                </a:solidFill>
                <a:latin typeface="Calibri"/>
                <a:ea typeface="Calibri"/>
                <a:cs typeface="Calibri"/>
              </a:rPr>
              <a:t>Wet days post-flowering</a:t>
            </a:r>
          </a:p>
          <a:p xmlns:a="http://schemas.openxmlformats.org/drawingml/2006/main">
            <a:r>
              <a:rPr sz="1333">
                <a:solidFill>
                  <a:srgbClr val="1C1214"/>
                </a:solidFill>
                <a:latin typeface="Calibri"/>
                <a:ea typeface="Calibri"/>
                <a:cs typeface="Calibri"/>
              </a:rPr>
              <a:t>(days.rf_fl)</a:t>
            </a:r>
          </a:p>
        </p:txBody>
      </p:sp>
      <p:sp>
        <p:nvSpPr>
          <p:cNvPr id="53" name="Shape 51">
            <a:extLst xmlns:a="http://schemas.openxmlformats.org/drawingml/2006/main">
              <a:ext uri="{FF2B5EF4-FFF2-40B4-BE49-F238E27FC236}">
                <a16:creationId xmlns:a16="http://schemas.microsoft.com/office/drawing/2014/main" id="{CBCE4D54-405F-4ADC-B84A-9A86DEF7B52A}"/>
              </a:ext>
            </a:extLst>
          </p:cNvPr>
          <p:cNvSpPr>
            <a:spLocks xmlns:a="http://schemas.openxmlformats.org/drawingml/2006/main" noGrp="1"/>
          </p:cNvSpPr>
          <p:nvPr/>
        </p:nvSpPr>
        <p:spPr>
          <a:xfrm xmlns:a="http://schemas.openxmlformats.org/drawingml/2006/main">
            <a:off x="4743061" y="6937621"/>
            <a:ext cx="268224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4" name="Text 52">
            <a:extLst xmlns:a="http://schemas.openxmlformats.org/drawingml/2006/main">
              <a:ext uri="{FF2B5EF4-FFF2-40B4-BE49-F238E27FC236}">
                <a16:creationId xmlns:a16="http://schemas.microsoft.com/office/drawing/2014/main" id="{92E111B8-B52F-4550-BD1C-02878D05BA98}"/>
              </a:ext>
            </a:extLst>
          </p:cNvPr>
          <p:cNvSpPr>
            <a:spLocks xmlns:a="http://schemas.openxmlformats.org/drawingml/2006/main" noGrp="1"/>
          </p:cNvSpPr>
          <p:nvPr/>
        </p:nvSpPr>
        <p:spPr>
          <a:xfrm xmlns:a="http://schemas.openxmlformats.org/drawingml/2006/main">
            <a:off x="4816213" y="7010773"/>
            <a:ext cx="253593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1C1214"/>
                </a:solidFill>
                <a:latin typeface="Calibri"/>
                <a:ea typeface="Calibri"/>
                <a:cs typeface="Calibri"/>
              </a:rPr>
              <a:t>✓  21% of RDD rules</a:t>
            </a:r>
          </a:p>
        </p:txBody>
      </p:sp>
      <p:sp>
        <p:nvSpPr>
          <p:cNvPr id="55" name="Shape 53">
            <a:extLst xmlns:a="http://schemas.openxmlformats.org/drawingml/2006/main">
              <a:ext uri="{FF2B5EF4-FFF2-40B4-BE49-F238E27FC236}">
                <a16:creationId xmlns:a16="http://schemas.microsoft.com/office/drawing/2014/main" id="{9ACAAC17-62F8-4149-9CA3-D5C9546D6894}"/>
              </a:ext>
            </a:extLst>
          </p:cNvPr>
          <p:cNvSpPr>
            <a:spLocks xmlns:a="http://schemas.openxmlformats.org/drawingml/2006/main" noGrp="1"/>
          </p:cNvSpPr>
          <p:nvPr/>
        </p:nvSpPr>
        <p:spPr>
          <a:xfrm xmlns:a="http://schemas.openxmlformats.org/drawingml/2006/main">
            <a:off x="7425301" y="6937621"/>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6" name="Text 54">
            <a:extLst xmlns:a="http://schemas.openxmlformats.org/drawingml/2006/main">
              <a:ext uri="{FF2B5EF4-FFF2-40B4-BE49-F238E27FC236}">
                <a16:creationId xmlns:a16="http://schemas.microsoft.com/office/drawing/2014/main" id="{8953910B-57A4-46A4-8B73-6EC6C4EB77E1}"/>
              </a:ext>
            </a:extLst>
          </p:cNvPr>
          <p:cNvSpPr>
            <a:spLocks xmlns:a="http://schemas.openxmlformats.org/drawingml/2006/main" noGrp="1"/>
          </p:cNvSpPr>
          <p:nvPr/>
        </p:nvSpPr>
        <p:spPr>
          <a:xfrm xmlns:a="http://schemas.openxmlformats.org/drawingml/2006/main">
            <a:off x="7498453" y="7010773"/>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B74A4A"/>
                </a:solidFill>
                <a:latin typeface="Calibri"/>
                <a:ea typeface="Calibri"/>
                <a:cs typeface="Calibri"/>
              </a:rPr>
              <a:t>✗  Not selected</a:t>
            </a:r>
          </a:p>
        </p:txBody>
      </p:sp>
      <p:sp>
        <p:nvSpPr>
          <p:cNvPr id="57" name="Shape 55">
            <a:extLst xmlns:a="http://schemas.openxmlformats.org/drawingml/2006/main">
              <a:ext uri="{FF2B5EF4-FFF2-40B4-BE49-F238E27FC236}">
                <a16:creationId xmlns:a16="http://schemas.microsoft.com/office/drawing/2014/main" id="{6E1BD51B-CE75-4CDB-8E71-12128E86F987}"/>
              </a:ext>
            </a:extLst>
          </p:cNvPr>
          <p:cNvSpPr>
            <a:spLocks xmlns:a="http://schemas.openxmlformats.org/drawingml/2006/main" noGrp="1"/>
          </p:cNvSpPr>
          <p:nvPr/>
        </p:nvSpPr>
        <p:spPr>
          <a:xfrm xmlns:a="http://schemas.openxmlformats.org/drawingml/2006/main">
            <a:off x="9619861" y="6937621"/>
            <a:ext cx="21945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DF398B66-7D1E-477F-86FC-8948D59823B3}"/>
              </a:ext>
            </a:extLst>
          </p:cNvPr>
          <p:cNvSpPr>
            <a:spLocks xmlns:a="http://schemas.openxmlformats.org/drawingml/2006/main" noGrp="1"/>
          </p:cNvSpPr>
          <p:nvPr/>
        </p:nvSpPr>
        <p:spPr>
          <a:xfrm xmlns:a="http://schemas.openxmlformats.org/drawingml/2006/main">
            <a:off x="9693013" y="7010773"/>
            <a:ext cx="20482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a:solidFill>
                  <a:srgbClr val="B74A4A"/>
                </a:solidFill>
                <a:latin typeface="Calibri"/>
                <a:ea typeface="Calibri"/>
                <a:cs typeface="Calibri"/>
              </a:rPr>
              <a:t>✗  Not selected</a:t>
            </a:r>
          </a:p>
        </p:txBody>
      </p:sp>
      <p:sp>
        <p:nvSpPr>
          <p:cNvPr id="59" name="Shape 57">
            <a:extLst xmlns:a="http://schemas.openxmlformats.org/drawingml/2006/main">
              <a:ext uri="{FF2B5EF4-FFF2-40B4-BE49-F238E27FC236}">
                <a16:creationId xmlns:a16="http://schemas.microsoft.com/office/drawing/2014/main" id="{A72E70E8-DD23-47B1-BB25-B452D385F567}"/>
              </a:ext>
            </a:extLst>
          </p:cNvPr>
          <p:cNvSpPr>
            <a:spLocks xmlns:a="http://schemas.openxmlformats.org/drawingml/2006/main" noGrp="1"/>
          </p:cNvSpPr>
          <p:nvPr/>
        </p:nvSpPr>
        <p:spPr>
          <a:xfrm xmlns:a="http://schemas.openxmlformats.org/drawingml/2006/main">
            <a:off x="11814421" y="6937621"/>
            <a:ext cx="1889760" cy="1072896"/>
          </a:xfrm>
          <a:prstGeom xmlns:a="http://schemas.openxmlformats.org/drawingml/2006/main" prst="rect">
            <a:avLst/>
          </a:prstGeom>
          <a:solidFill xmlns:a="http://schemas.openxmlformats.org/drawingml/2006/main">
            <a:srgbClr val="FFFFFF"/>
          </a:solidFill>
          <a:ln xmlns:a="http://schemas.openxmlformats.org/drawingml/2006/main" w="635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0" name="Text 58">
            <a:extLst xmlns:a="http://schemas.openxmlformats.org/drawingml/2006/main">
              <a:ext uri="{FF2B5EF4-FFF2-40B4-BE49-F238E27FC236}">
                <a16:creationId xmlns:a16="http://schemas.microsoft.com/office/drawing/2014/main" id="{03EEE280-D734-48CD-BBB2-F81FAFDB6FA9}"/>
              </a:ext>
            </a:extLst>
          </p:cNvPr>
          <p:cNvSpPr>
            <a:spLocks xmlns:a="http://schemas.openxmlformats.org/drawingml/2006/main" noGrp="1"/>
          </p:cNvSpPr>
          <p:nvPr/>
        </p:nvSpPr>
        <p:spPr>
          <a:xfrm xmlns:a="http://schemas.openxmlformats.org/drawingml/2006/main">
            <a:off x="11887573" y="7010773"/>
            <a:ext cx="1743456" cy="926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267" b="1">
                <a:solidFill>
                  <a:srgbClr val="5A4042"/>
                </a:solidFill>
                <a:latin typeface="Calibri"/>
                <a:ea typeface="Calibri"/>
                <a:cs typeface="Calibri"/>
              </a:rPr>
              <a:t>MODERATE</a:t>
            </a:r>
          </a:p>
          <a:p xmlns:a="http://schemas.openxmlformats.org/drawingml/2006/main">
            <a:r>
              <a:rPr sz="1267" b="1">
                <a:solidFill>
                  <a:srgbClr val="5A4042"/>
                </a:solidFill>
                <a:latin typeface="Calibri"/>
                <a:ea typeface="Calibri"/>
                <a:cs typeface="Calibri"/>
              </a:rPr>
              <a:t>CarenR-specific</a:t>
            </a:r>
          </a:p>
        </p:txBody>
      </p:sp>
      <p:sp>
        <p:nvSpPr>
          <p:cNvPr id="61" name="Shape 59">
            <a:extLst xmlns:a="http://schemas.openxmlformats.org/drawingml/2006/main">
              <a:ext uri="{FF2B5EF4-FFF2-40B4-BE49-F238E27FC236}">
                <a16:creationId xmlns:a16="http://schemas.microsoft.com/office/drawing/2014/main" id="{F6228EA2-0069-4508-B739-5E508160D962}"/>
              </a:ext>
            </a:extLst>
          </p:cNvPr>
          <p:cNvSpPr>
            <a:spLocks xmlns:a="http://schemas.openxmlformats.org/drawingml/2006/main" noGrp="1"/>
          </p:cNvSpPr>
          <p:nvPr/>
        </p:nvSpPr>
        <p:spPr>
          <a:xfrm xmlns:a="http://schemas.openxmlformats.org/drawingml/2006/main">
            <a:off x="2243701" y="8059285"/>
            <a:ext cx="11094720" cy="414528"/>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62" name="Text 60">
            <a:extLst xmlns:a="http://schemas.openxmlformats.org/drawingml/2006/main">
              <a:ext uri="{FF2B5EF4-FFF2-40B4-BE49-F238E27FC236}">
                <a16:creationId xmlns:a16="http://schemas.microsoft.com/office/drawing/2014/main" id="{D050427F-75B1-4D38-8274-5BD343C58DEA}"/>
              </a:ext>
            </a:extLst>
          </p:cNvPr>
          <p:cNvSpPr>
            <a:spLocks xmlns:a="http://schemas.openxmlformats.org/drawingml/2006/main" noGrp="1"/>
          </p:cNvSpPr>
          <p:nvPr/>
        </p:nvSpPr>
        <p:spPr>
          <a:xfrm xmlns:a="http://schemas.openxmlformats.org/drawingml/2006/main">
            <a:off x="2487541" y="8120245"/>
            <a:ext cx="10607040" cy="316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680304091"/>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31" name="Rectangle 30"/>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A3BA0753-E2B6-4A85-AEE1-E9770319415C}"/>
              </a:ext>
            </a:extLst>
          </p:cNvPr>
          <p:cNvSpPr>
            <a:spLocks xmlns:a="http://schemas.openxmlformats.org/drawingml/2006/main" noGrp="1"/>
          </p:cNvSpPr>
          <p:nvPr/>
        </p:nvSpPr>
        <p:spPr>
          <a:xfrm xmlns:a="http://schemas.openxmlformats.org/drawingml/2006/main">
            <a:off x="1695061" y="1695061"/>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C68A548-9341-4C64-830B-16FFC67A5CE0}"/>
              </a:ext>
            </a:extLst>
          </p:cNvPr>
          <p:cNvSpPr>
            <a:spLocks xmlns:a="http://schemas.openxmlformats.org/drawingml/2006/main" noGrp="1"/>
          </p:cNvSpPr>
          <p:nvPr/>
        </p:nvSpPr>
        <p:spPr>
          <a:xfrm xmlns:a="http://schemas.openxmlformats.org/drawingml/2006/main">
            <a:off x="2243701" y="1841365"/>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Predictive Validation Results (Goal 2)</a:t>
            </a:r>
          </a:p>
        </p:txBody>
      </p:sp>
      <p:sp>
        <p:nvSpPr>
          <p:cNvPr id="4" name="Text 2">
            <a:extLst xmlns:a="http://schemas.openxmlformats.org/drawingml/2006/main">
              <a:ext uri="{FF2B5EF4-FFF2-40B4-BE49-F238E27FC236}">
                <a16:creationId xmlns:a16="http://schemas.microsoft.com/office/drawing/2014/main" id="{C45422CD-5563-45DF-861D-E13DF32C048E}"/>
              </a:ext>
            </a:extLst>
          </p:cNvPr>
          <p:cNvSpPr>
            <a:spLocks xmlns:a="http://schemas.openxmlformats.org/drawingml/2006/main" noGrp="1"/>
          </p:cNvSpPr>
          <p:nvPr/>
        </p:nvSpPr>
        <p:spPr>
          <a:xfrm xmlns:a="http://schemas.openxmlformats.org/drawingml/2006/main">
            <a:off x="2243701" y="2524117"/>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Walk-forward · 17 models · 18 RDD scenarios · 16 RVV scenarios</a:t>
            </a:r>
          </a:p>
        </p:txBody>
      </p:sp>
      <p:sp>
        <p:nvSpPr>
          <p:cNvPr id="5" name="Shape 3">
            <a:extLst xmlns:a="http://schemas.openxmlformats.org/drawingml/2006/main">
              <a:ext uri="{FF2B5EF4-FFF2-40B4-BE49-F238E27FC236}">
                <a16:creationId xmlns:a16="http://schemas.microsoft.com/office/drawing/2014/main" id="{5A3E8A7E-E665-406E-9D02-8DF14C6C221F}"/>
              </a:ext>
            </a:extLst>
          </p:cNvPr>
          <p:cNvSpPr>
            <a:spLocks xmlns:a="http://schemas.openxmlformats.org/drawingml/2006/main" noGrp="1"/>
          </p:cNvSpPr>
          <p:nvPr/>
        </p:nvSpPr>
        <p:spPr>
          <a:xfrm xmlns:a="http://schemas.openxmlformats.org/drawingml/2006/main">
            <a:off x="2243701" y="2865493"/>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06E3D12-641F-4698-A118-6B14FA2F1138}"/>
              </a:ext>
            </a:extLst>
          </p:cNvPr>
          <p:cNvSpPr>
            <a:spLocks xmlns:a="http://schemas.openxmlformats.org/drawingml/2006/main" noGrp="1"/>
          </p:cNvSpPr>
          <p:nvPr/>
        </p:nvSpPr>
        <p:spPr>
          <a:xfrm xmlns:a="http://schemas.openxmlformats.org/drawingml/2006/main">
            <a:off x="12424021" y="8156821"/>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8 / 12</a:t>
            </a:r>
          </a:p>
        </p:txBody>
      </p:sp>
      <p:sp>
        <p:nvSpPr>
          <p:cNvPr id="7" name="Text 5">
            <a:extLst xmlns:a="http://schemas.openxmlformats.org/drawingml/2006/main">
              <a:ext uri="{FF2B5EF4-FFF2-40B4-BE49-F238E27FC236}">
                <a16:creationId xmlns:a16="http://schemas.microsoft.com/office/drawing/2014/main" id="{EE367F10-E3A3-43CC-B58C-E716B906CAD9}"/>
              </a:ext>
            </a:extLst>
          </p:cNvPr>
          <p:cNvSpPr>
            <a:spLocks xmlns:a="http://schemas.openxmlformats.org/drawingml/2006/main" noGrp="1"/>
          </p:cNvSpPr>
          <p:nvPr/>
        </p:nvSpPr>
        <p:spPr>
          <a:xfrm xmlns:a="http://schemas.openxmlformats.org/drawingml/2006/main">
            <a:off x="2243701" y="2987413"/>
            <a:ext cx="554736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mlns:a="http://schemas.openxmlformats.org/drawingml/2006/main" x="2243701" y="3377557"/>
          <a:ext xmlns:a="http://schemas.openxmlformats.org/drawingml/2006/main" cx="5547360" cy="4486656"/>
        </p:xfrm>
        <a:graphic xmlns:a="http://schemas.openxmlformats.org/drawingml/2006/main">
          <a:graphicData uri="http://schemas.openxmlformats.org/drawingml/2006/chart">
            <c:chart xmlns:r="http://schemas.openxmlformats.org/officeDocument/2006/relationships" xmlns:c="http://schemas.openxmlformats.org/drawingml/2006/chart" r:id="Rc100b9e1993d442d"/>
          </a:graphicData>
        </a:graphic>
      </p:graphicFrame>
      <p:sp>
        <p:nvSpPr>
          <p:cNvPr id="9" name="Text 6">
            <a:extLst xmlns:a="http://schemas.openxmlformats.org/drawingml/2006/main">
              <a:ext uri="{FF2B5EF4-FFF2-40B4-BE49-F238E27FC236}">
                <a16:creationId xmlns:a16="http://schemas.microsoft.com/office/drawing/2014/main" id="{7A09729F-3E4F-4F6E-AF97-541DD70CE178}"/>
              </a:ext>
            </a:extLst>
          </p:cNvPr>
          <p:cNvSpPr>
            <a:spLocks xmlns:a="http://schemas.openxmlformats.org/drawingml/2006/main" noGrp="1"/>
          </p:cNvSpPr>
          <p:nvPr/>
        </p:nvSpPr>
        <p:spPr>
          <a:xfrm xmlns:a="http://schemas.openxmlformats.org/drawingml/2006/main">
            <a:off x="7912981" y="2987413"/>
            <a:ext cx="54254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mlns:a="http://schemas.openxmlformats.org/drawingml/2006/main" x="7912981" y="3377557"/>
          <a:ext xmlns:a="http://schemas.openxmlformats.org/drawingml/2006/main" cx="5425440" cy="4486656"/>
        </p:xfrm>
        <a:graphic xmlns:a="http://schemas.openxmlformats.org/drawingml/2006/main">
          <a:graphicData uri="http://schemas.openxmlformats.org/drawingml/2006/chart">
            <c:chart xmlns:r="http://schemas.openxmlformats.org/officeDocument/2006/relationships" xmlns:c="http://schemas.openxmlformats.org/drawingml/2006/chart" r:id="R0a52545ca0884c1e"/>
          </a:graphicData>
        </a:graphic>
      </p:graphicFrame>
      <p:sp>
        <p:nvSpPr>
          <p:cNvPr id="11" name="Shape 7">
            <a:extLst xmlns:a="http://schemas.openxmlformats.org/drawingml/2006/main">
              <a:ext uri="{FF2B5EF4-FFF2-40B4-BE49-F238E27FC236}">
                <a16:creationId xmlns:a16="http://schemas.microsoft.com/office/drawing/2014/main" id="{88DEC232-8B27-43A0-AE77-CE73B939ADB3}"/>
              </a:ext>
            </a:extLst>
          </p:cNvPr>
          <p:cNvSpPr>
            <a:spLocks xmlns:a="http://schemas.openxmlformats.org/drawingml/2006/main" noGrp="1"/>
          </p:cNvSpPr>
          <p:nvPr/>
        </p:nvSpPr>
        <p:spPr>
          <a:xfrm xmlns:a="http://schemas.openxmlformats.org/drawingml/2006/main">
            <a:off x="2243701" y="7973941"/>
            <a:ext cx="11094720" cy="512064"/>
          </a:xfrm>
          <a:prstGeom xmlns:a="http://schemas.openxmlformats.org/drawingml/2006/main" prst="rect">
            <a:avLst/>
          </a:prstGeom>
          <a:solidFill xmlns:a="http://schemas.openxmlformats.org/drawingml/2006/main">
            <a:srgbClr val="EDE5DA"/>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12" name="Text 8">
            <a:extLst xmlns:a="http://schemas.openxmlformats.org/drawingml/2006/main">
              <a:ext uri="{FF2B5EF4-FFF2-40B4-BE49-F238E27FC236}">
                <a16:creationId xmlns:a16="http://schemas.microsoft.com/office/drawing/2014/main" id="{5DB17C9C-514C-4F96-AF7B-C5673DCC4ED8}"/>
              </a:ext>
            </a:extLst>
          </p:cNvPr>
          <p:cNvSpPr>
            <a:spLocks xmlns:a="http://schemas.openxmlformats.org/drawingml/2006/main" noGrp="1"/>
          </p:cNvSpPr>
          <p:nvPr/>
        </p:nvSpPr>
        <p:spPr>
          <a:xfrm xmlns:a="http://schemas.openxmlformats.org/drawingml/2006/main">
            <a:off x="2487541" y="8022709"/>
            <a:ext cx="10607040" cy="414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131409031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5" name="Rectangle 24"/>
          <p:cNvSpPr/>
          <p:nvPr/>
        </p:nvSpPr>
        <p:spPr>
          <a:xfrm>
            <a:off x="0" y="9315061"/>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5582122" cy="933061"/>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4649061"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933061" cy="1024812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933061" y="855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933061" y="933061"/>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3887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933061" y="933061"/>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a:extLst xmlns:a="http://schemas.openxmlformats.org/drawingml/2006/main">
              <a:ext uri="{FF2B5EF4-FFF2-40B4-BE49-F238E27FC236}">
                <a16:creationId xmlns:a16="http://schemas.microsoft.com/office/drawing/2014/main" id="{8D7F95D8-7077-46E1-9C65-B222649E6396}"/>
              </a:ext>
            </a:extLst>
          </p:cNvPr>
          <p:cNvSpPr>
            <a:spLocks xmlns:a="http://schemas.openxmlformats.org/drawingml/2006/main" noGrp="1"/>
          </p:cNvSpPr>
          <p:nvPr/>
        </p:nvSpPr>
        <p:spPr>
          <a:xfrm xmlns:a="http://schemas.openxmlformats.org/drawingml/2006/main">
            <a:off x="1695061" y="1695061"/>
            <a:ext cx="12192000" cy="79248"/>
          </a:xfrm>
          <a:prstGeom xmlns:a="http://schemas.openxmlformats.org/drawingml/2006/main" prst="rect">
            <a:avLst/>
          </a:prstGeom>
          <a:solidFill xmlns:a="http://schemas.openxmlformats.org/drawingml/2006/main">
            <a:srgbClr val="C4964A"/>
          </a:solidFill>
          <a:ln xmlns:a="http://schemas.openxmlformats.org/drawingml/2006/main" w="12700">
            <a:solidFill>
              <a:srgbClr val="C4964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4F0A773B-7439-4940-A9FC-460EE943526C}"/>
              </a:ext>
            </a:extLst>
          </p:cNvPr>
          <p:cNvSpPr>
            <a:spLocks xmlns:a="http://schemas.openxmlformats.org/drawingml/2006/main" noGrp="1"/>
          </p:cNvSpPr>
          <p:nvPr/>
        </p:nvSpPr>
        <p:spPr>
          <a:xfrm xmlns:a="http://schemas.openxmlformats.org/drawingml/2006/main">
            <a:off x="2243701" y="1841365"/>
            <a:ext cx="11094720" cy="7071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467" b="1">
                <a:solidFill>
                  <a:srgbClr val="6B2737"/>
                </a:solidFill>
                <a:latin typeface="Georgia"/>
                <a:ea typeface="Georgia"/>
                <a:cs typeface="Georgia"/>
              </a:rPr>
              <a:t>Why the Two Regions Diverge</a:t>
            </a:r>
          </a:p>
        </p:txBody>
      </p:sp>
      <p:sp>
        <p:nvSpPr>
          <p:cNvPr id="4" name="Text 2">
            <a:extLst xmlns:a="http://schemas.openxmlformats.org/drawingml/2006/main">
              <a:ext uri="{FF2B5EF4-FFF2-40B4-BE49-F238E27FC236}">
                <a16:creationId xmlns:a16="http://schemas.microsoft.com/office/drawing/2014/main" id="{69782C2C-8F7C-47BE-8908-1C38882C86B3}"/>
              </a:ext>
            </a:extLst>
          </p:cNvPr>
          <p:cNvSpPr>
            <a:spLocks xmlns:a="http://schemas.openxmlformats.org/drawingml/2006/main" noGrp="1"/>
          </p:cNvSpPr>
          <p:nvPr/>
        </p:nvSpPr>
        <p:spPr>
          <a:xfrm xmlns:a="http://schemas.openxmlformats.org/drawingml/2006/main">
            <a:off x="2243701" y="2524117"/>
            <a:ext cx="1109472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600" i="1">
                <a:solidFill>
                  <a:srgbClr val="5A4042"/>
                </a:solidFill>
                <a:latin typeface="Calibri"/>
                <a:ea typeface="Calibri"/>
                <a:cs typeface="Calibri"/>
              </a:rPr>
              <a:t>A designed comparative experiment, not an inconvenient inconsistency</a:t>
            </a:r>
          </a:p>
        </p:txBody>
      </p:sp>
      <p:sp>
        <p:nvSpPr>
          <p:cNvPr id="5" name="Shape 3">
            <a:extLst xmlns:a="http://schemas.openxmlformats.org/drawingml/2006/main">
              <a:ext uri="{FF2B5EF4-FFF2-40B4-BE49-F238E27FC236}">
                <a16:creationId xmlns:a16="http://schemas.microsoft.com/office/drawing/2014/main" id="{A1B851E5-C6DF-4E6B-9B33-EE37F15E02E3}"/>
              </a:ext>
            </a:extLst>
          </p:cNvPr>
          <p:cNvSpPr>
            <a:spLocks xmlns:a="http://schemas.openxmlformats.org/drawingml/2006/main" noGrp="1"/>
          </p:cNvSpPr>
          <p:nvPr/>
        </p:nvSpPr>
        <p:spPr>
          <a:xfrm xmlns:a="http://schemas.openxmlformats.org/drawingml/2006/main">
            <a:off x="2243701" y="2865493"/>
            <a:ext cx="11094720" cy="0"/>
          </a:xfrm>
          <a:prstGeom xmlns:a="http://schemas.openxmlformats.org/drawingml/2006/main" prst="line">
            <a:avLst/>
          </a:prstGeom>
          <a:noFill xmlns:a="http://schemas.openxmlformats.org/drawingml/2006/main"/>
          <a:ln xmlns:a="http://schemas.openxmlformats.org/drawingml/2006/main" w="12700">
            <a:solidFill>
              <a:srgbClr val="D4CACA"/>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B616DE8-83AE-4946-B506-45A452AD821F}"/>
              </a:ext>
            </a:extLst>
          </p:cNvPr>
          <p:cNvSpPr>
            <a:spLocks xmlns:a="http://schemas.openxmlformats.org/drawingml/2006/main" noGrp="1"/>
          </p:cNvSpPr>
          <p:nvPr/>
        </p:nvSpPr>
        <p:spPr>
          <a:xfrm xmlns:a="http://schemas.openxmlformats.org/drawingml/2006/main">
            <a:off x="12424021" y="8156821"/>
            <a:ext cx="12192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mlns:a="http://schemas.openxmlformats.org/drawingml/2006/main" x="2243701" y="3011797"/>
          <a:ext xmlns:a="http://schemas.openxmlformats.org/drawingml/2006/main" cx="11094720" cy="4535424"/>
        </p:xfrm>
        <a:graphic xmlns:a="http://schemas.openxmlformats.org/drawingml/2006/main">
          <a:graphicData uri="http://schemas.openxmlformats.org/drawingml/2006/table">
            <a:tbl>
              <a:tblPr/>
              <a:tblGrid>
                <a:gridCol w="2316480"/>
                <a:gridCol w="2560320"/>
                <a:gridCol w="2804160"/>
                <a:gridCol w="3413760"/>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r>
            </a:tbl>
          </a:graphicData>
        </a:graphic>
      </p:graphicFrame>
      <p:sp>
        <p:nvSpPr>
          <p:cNvPr id="8" name="Shape 5">
            <a:extLst xmlns:a="http://schemas.openxmlformats.org/drawingml/2006/main">
              <a:ext uri="{FF2B5EF4-FFF2-40B4-BE49-F238E27FC236}">
                <a16:creationId xmlns:a16="http://schemas.microsoft.com/office/drawing/2014/main" id="{0301215E-36B6-4E37-BD39-B0C59B379CE4}"/>
              </a:ext>
            </a:extLst>
          </p:cNvPr>
          <p:cNvSpPr>
            <a:spLocks xmlns:a="http://schemas.openxmlformats.org/drawingml/2006/main" noGrp="1"/>
          </p:cNvSpPr>
          <p:nvPr/>
        </p:nvSpPr>
        <p:spPr>
          <a:xfrm xmlns:a="http://schemas.openxmlformats.org/drawingml/2006/main">
            <a:off x="2243701" y="7986133"/>
            <a:ext cx="11094720" cy="463296"/>
          </a:xfrm>
          <a:prstGeom xmlns:a="http://schemas.openxmlformats.org/drawingml/2006/main" prst="rect">
            <a:avLst/>
          </a:prstGeom>
          <a:solidFill xmlns:a="http://schemas.openxmlformats.org/drawingml/2006/main">
            <a:srgbClr val="F2EBE9"/>
          </a:solidFill>
          <a:ln xmlns:a="http://schemas.openxmlformats.org/drawingml/2006/main" w="6350">
            <a:solidFill>
              <a:srgbClr val="D4CACA"/>
            </a:solidFill>
            <a:prstDash val="solid"/>
          </a:ln>
          <a:effectLst xmlns:a="http://schemas.openxmlformats.org/drawingml/2006/main">
            <a:outerShdw blurRad="508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9" name="Shape 6">
            <a:extLst xmlns:a="http://schemas.openxmlformats.org/drawingml/2006/main">
              <a:ext uri="{FF2B5EF4-FFF2-40B4-BE49-F238E27FC236}">
                <a16:creationId xmlns:a16="http://schemas.microsoft.com/office/drawing/2014/main" id="{3CFAF022-2C8E-4924-AACF-C95250787E91}"/>
              </a:ext>
            </a:extLst>
          </p:cNvPr>
          <p:cNvSpPr>
            <a:spLocks xmlns:a="http://schemas.openxmlformats.org/drawingml/2006/main" noGrp="1"/>
          </p:cNvSpPr>
          <p:nvPr/>
        </p:nvSpPr>
        <p:spPr>
          <a:xfrm xmlns:a="http://schemas.openxmlformats.org/drawingml/2006/main">
            <a:off x="2243701" y="7986133"/>
            <a:ext cx="73152" cy="463296"/>
          </a:xfrm>
          <a:prstGeom xmlns:a="http://schemas.openxmlformats.org/drawingml/2006/main" prst="rect">
            <a:avLst/>
          </a:prstGeom>
          <a:solidFill xmlns:a="http://schemas.openxmlformats.org/drawingml/2006/main">
            <a:srgbClr val="6B2737"/>
          </a:solidFill>
          <a:ln xmlns:a="http://schemas.openxmlformats.org/drawingml/2006/main" w="12700">
            <a:solidFill>
              <a:srgbClr val="6B2737"/>
            </a:solidFill>
            <a:prstDash val="solid"/>
          </a:ln>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1B1DC62D-9394-4818-8BCE-4315ED81D610}"/>
              </a:ext>
            </a:extLst>
          </p:cNvPr>
          <p:cNvSpPr>
            <a:spLocks xmlns:a="http://schemas.openxmlformats.org/drawingml/2006/main" noGrp="1"/>
          </p:cNvSpPr>
          <p:nvPr/>
        </p:nvSpPr>
        <p:spPr>
          <a:xfrm xmlns:a="http://schemas.openxmlformats.org/drawingml/2006/main">
            <a:off x="2487541" y="8047093"/>
            <a:ext cx="10607040" cy="3413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772845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2026-07-13T22:50:39.5380000Z</dcterms:created>
  <dcterms:modified xsi:type="dcterms:W3CDTF">2026-07-13T22:50:39.5380000Z</dcterms:modified>
</coreProperties>
</file>