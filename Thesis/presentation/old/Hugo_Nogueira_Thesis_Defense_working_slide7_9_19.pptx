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43"/>
  </p:normalViewPr>
  <p:slideViewPr>
    <p:cSldViewPr snapToGrid="0">
      <p:cViewPr varScale="1">
        <p:scale>
          <a:sx n="88" d="100"/>
          <a:sy n="88" d="100"/>
        </p:scale>
        <p:origin x="176"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400088" y="1930813"/>
            <a:ext cx="5476799" cy="2282000"/>
          </a:xfrm>
          <a:prstGeom prst="rect">
            <a:avLst/>
          </a:prstGeom>
        </p:spPr>
      </p:pic>
      <p:pic>
        <p:nvPicPr>
          <p:cNvPr id="40" name="Picture 39"/>
          <p:cNvPicPr>
            <a:picLocks noChangeAspect="1"/>
          </p:cNvPicPr>
          <p:nvPr/>
        </p:nvPicPr>
        <p:blipFill>
          <a:blip r:embed="rId5"/>
          <a:stretch/>
        </p:blipFill>
        <p:spPr>
          <a:xfrm>
            <a:off x="6305588" y="1930813"/>
            <a:ext cx="5476799" cy="2282000"/>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Features follow the biology, not the calendar</a:t>
            </a:r>
          </a:p>
        </p:txBody>
      </p:sp>
      <p:sp>
        <p:nvSpPr>
          <p:cNvPr id="5" name="Rectangle 4">
            <a:extLst>
              <a:ext uri="{FF2B5EF4-FFF2-40B4-BE49-F238E27FC236}">
                <a16:creationId xmlns:a16="http://schemas.microsoft.com/office/drawing/2014/main" id="{EED1B0E2-54BE-4A09-B44B-BE0A7D54EE49}"/>
              </a:ext>
            </a:extLst>
          </p:cNvPr>
          <p:cNvSpPr>
            <a:spLocks noGrp="1"/>
          </p:cNvSpPr>
          <p:nvPr/>
        </p:nvSpPr>
        <p:spPr>
          <a:xfrm>
            <a:off x="187938" y="6134100"/>
            <a:ext cx="8873808" cy="3429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2C98972-EF5A-4C16-830E-328D228E453D}"/>
              </a:ext>
            </a:extLst>
          </p:cNvPr>
          <p:cNvSpPr>
            <a:spLocks noGrp="1"/>
          </p:cNvSpPr>
          <p:nvPr/>
        </p:nvSpPr>
        <p:spPr>
          <a:xfrm>
            <a:off x="314646" y="6191250"/>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32,842 / 29,902 daily records</a:t>
            </a:r>
          </a:p>
        </p:txBody>
      </p:sp>
      <p:sp>
        <p:nvSpPr>
          <p:cNvPr id="7" name="Rectangle 6">
            <a:extLst>
              <a:ext uri="{FF2B5EF4-FFF2-40B4-BE49-F238E27FC236}">
                <a16:creationId xmlns:a16="http://schemas.microsoft.com/office/drawing/2014/main" id="{B99BB5E0-F51B-42A1-A0F7-F0A1F0CAE880}"/>
              </a:ext>
            </a:extLst>
          </p:cNvPr>
          <p:cNvSpPr>
            <a:spLocks noGrp="1"/>
          </p:cNvSpPr>
          <p:nvPr/>
        </p:nvSpPr>
        <p:spPr>
          <a:xfrm>
            <a:off x="2589679" y="6191250"/>
            <a:ext cx="2143125" cy="2286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 59 annual predictors</a:t>
            </a:r>
          </a:p>
        </p:txBody>
      </p:sp>
      <p:sp>
        <p:nvSpPr>
          <p:cNvPr id="8" name="Rectangle 7">
            <a:extLst>
              <a:ext uri="{FF2B5EF4-FFF2-40B4-BE49-F238E27FC236}">
                <a16:creationId xmlns:a16="http://schemas.microsoft.com/office/drawing/2014/main" id="{C2A7C5DE-C604-48DF-AE6D-B71ADDD34007}"/>
              </a:ext>
            </a:extLst>
          </p:cNvPr>
          <p:cNvSpPr>
            <a:spLocks noGrp="1"/>
          </p:cNvSpPr>
          <p:nvPr/>
        </p:nvSpPr>
        <p:spPr>
          <a:xfrm>
            <a:off x="4513009" y="6191250"/>
            <a:ext cx="228600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4 phenological anchors</a:t>
            </a:r>
          </a:p>
        </p:txBody>
      </p:sp>
      <p:sp>
        <p:nvSpPr>
          <p:cNvPr id="9" name="Rectangle 8">
            <a:extLst>
              <a:ext uri="{FF2B5EF4-FFF2-40B4-BE49-F238E27FC236}">
                <a16:creationId xmlns:a16="http://schemas.microsoft.com/office/drawing/2014/main" id="{DF562E81-0D2D-48F5-8FE6-AA89126C2529}"/>
              </a:ext>
            </a:extLst>
          </p:cNvPr>
          <p:cNvSpPr>
            <a:spLocks noGrp="1"/>
          </p:cNvSpPr>
          <p:nvPr/>
        </p:nvSpPr>
        <p:spPr>
          <a:xfrm>
            <a:off x="6799009" y="6195531"/>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current + previous year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12" name="slide7-bottom-cover">
            <a:extLst>
              <a:ext uri="{FF2B5EF4-FFF2-40B4-BE49-F238E27FC236}">
                <a16:creationId xmlns:a16="http://schemas.microsoft.com/office/drawing/2014/main" id="{09499AF5-42AE-4E6A-AADD-BD4A7A7B1B6E}"/>
              </a:ext>
            </a:extLst>
          </p:cNvPr>
          <p:cNvSpPr>
            <a:spLocks noGrp="1"/>
          </p:cNvSpPr>
          <p:nvPr/>
        </p:nvSpPr>
        <p:spPr>
          <a:xfrm>
            <a:off x="171450" y="6057900"/>
            <a:ext cx="9001125" cy="476250"/>
          </a:xfrm>
          <a:prstGeom prst="rect">
            <a:avLst/>
          </a:prstGeom>
          <a:solidFill>
            <a:srgbClr val="FFFFFF"/>
          </a:solidFill>
          <a:ln w="0">
            <a:noFill/>
            <a:prstDash val="solid"/>
          </a:ln>
        </p:spPr>
        <p:txBody>
          <a:bodyPr/>
          <a:lstStyle/>
          <a:p>
            <a:endParaRPr lang="en-US"/>
          </a:p>
        </p:txBody>
      </p:sp>
      <p:sp>
        <p:nvSpPr>
          <p:cNvPr id="13" name="slide7-black-evidence-band">
            <a:extLst>
              <a:ext uri="{FF2B5EF4-FFF2-40B4-BE49-F238E27FC236}">
                <a16:creationId xmlns:a16="http://schemas.microsoft.com/office/drawing/2014/main" id="{9B24E7F8-4020-4A41-98B8-3261B0E0CDF8}"/>
              </a:ext>
            </a:extLst>
          </p:cNvPr>
          <p:cNvSpPr>
            <a:spLocks noGrp="1"/>
          </p:cNvSpPr>
          <p:nvPr/>
        </p:nvSpPr>
        <p:spPr>
          <a:xfrm>
            <a:off x="400050" y="6124575"/>
            <a:ext cx="8715375" cy="361950"/>
          </a:xfrm>
          <a:prstGeom prst="rect">
            <a:avLst/>
          </a:prstGeom>
          <a:solidFill>
            <a:srgbClr val="000000"/>
          </a:solidFill>
          <a:ln w="0">
            <a:noFill/>
            <a:prstDash val="solid"/>
          </a:ln>
        </p:spPr>
        <p:txBody>
          <a:bodyPr/>
          <a:lstStyle/>
          <a:p>
            <a:endParaRPr lang="en-US"/>
          </a:p>
        </p:txBody>
      </p:sp>
      <p:sp>
        <p:nvSpPr>
          <p:cNvPr id="14" name="slide7-band-left">
            <a:extLst>
              <a:ext uri="{FF2B5EF4-FFF2-40B4-BE49-F238E27FC236}">
                <a16:creationId xmlns:a16="http://schemas.microsoft.com/office/drawing/2014/main" id="{68E80BEB-C1F9-4695-9CB6-0AD54EBA46C3}"/>
              </a:ext>
            </a:extLst>
          </p:cNvPr>
          <p:cNvSpPr>
            <a:spLocks noGrp="1"/>
          </p:cNvSpPr>
          <p:nvPr/>
        </p:nvSpPr>
        <p:spPr>
          <a:xfrm>
            <a:off x="5905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32,842 / 29,902 daily records</a:t>
            </a:r>
          </a:p>
        </p:txBody>
      </p:sp>
      <p:sp>
        <p:nvSpPr>
          <p:cNvPr id="15" name="slide7-band-mid1">
            <a:extLst>
              <a:ext uri="{FF2B5EF4-FFF2-40B4-BE49-F238E27FC236}">
                <a16:creationId xmlns:a16="http://schemas.microsoft.com/office/drawing/2014/main" id="{9EC1C369-EF49-4C9D-9C26-D3A28114CE3A}"/>
              </a:ext>
            </a:extLst>
          </p:cNvPr>
          <p:cNvSpPr>
            <a:spLocks noGrp="1"/>
          </p:cNvSpPr>
          <p:nvPr/>
        </p:nvSpPr>
        <p:spPr>
          <a:xfrm>
            <a:off x="3143250" y="6210300"/>
            <a:ext cx="2381250" cy="209550"/>
          </a:xfrm>
          <a:prstGeom prst="rect">
            <a:avLst/>
          </a:prstGeom>
          <a:noFill/>
          <a:ln w="0">
            <a:noFill/>
            <a:prstDash val="solid"/>
          </a:ln>
        </p:spPr>
        <p:txBody>
          <a:bodyPr/>
          <a:lstStyle/>
          <a:p>
            <a:pPr>
              <a:buNone/>
              <a:defRPr sz="1275" b="1">
                <a:solidFill>
                  <a:srgbClr val="EE6A2E"/>
                </a:solidFill>
                <a:latin typeface="Arial"/>
                <a:ea typeface="Arial"/>
                <a:cs typeface="Arial"/>
              </a:defRPr>
            </a:pPr>
            <a:r>
              <a:rPr sz="1275" b="1">
                <a:solidFill>
                  <a:srgbClr val="EE6A2E"/>
                </a:solidFill>
                <a:latin typeface="Arial"/>
                <a:ea typeface="Arial"/>
                <a:cs typeface="Arial"/>
              </a:rPr>
              <a:t>-&gt; 59 annual predictors</a:t>
            </a:r>
          </a:p>
        </p:txBody>
      </p:sp>
      <p:sp>
        <p:nvSpPr>
          <p:cNvPr id="16" name="slide7-band-mid2">
            <a:extLst>
              <a:ext uri="{FF2B5EF4-FFF2-40B4-BE49-F238E27FC236}">
                <a16:creationId xmlns:a16="http://schemas.microsoft.com/office/drawing/2014/main" id="{5B1DB48F-BACC-4C96-9082-EF25C510018D}"/>
              </a:ext>
            </a:extLst>
          </p:cNvPr>
          <p:cNvSpPr>
            <a:spLocks noGrp="1"/>
          </p:cNvSpPr>
          <p:nvPr/>
        </p:nvSpPr>
        <p:spPr>
          <a:xfrm>
            <a:off x="56197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-&gt; 4 phenological anchors</a:t>
            </a:r>
          </a:p>
        </p:txBody>
      </p:sp>
      <p:sp>
        <p:nvSpPr>
          <p:cNvPr id="17" name="slide7-band-right">
            <a:extLst>
              <a:ext uri="{FF2B5EF4-FFF2-40B4-BE49-F238E27FC236}">
                <a16:creationId xmlns:a16="http://schemas.microsoft.com/office/drawing/2014/main" id="{951BE515-6946-451C-A946-1F30D572F05E}"/>
              </a:ext>
            </a:extLst>
          </p:cNvPr>
          <p:cNvSpPr>
            <a:spLocks noGrp="1"/>
          </p:cNvSpPr>
          <p:nvPr/>
        </p:nvSpPr>
        <p:spPr>
          <a:xfrm>
            <a:off x="7858125" y="6210300"/>
            <a:ext cx="1238250" cy="209550"/>
          </a:xfrm>
          <a:prstGeom prst="rect">
            <a:avLst/>
          </a:prstGeom>
          <a:noFill/>
          <a:ln w="0">
            <a:noFill/>
            <a:prstDash val="solid"/>
          </a:ln>
        </p:spPr>
        <p:txBody>
          <a:bodyPr/>
          <a:lstStyle/>
          <a:p>
            <a:pPr>
              <a:buNone/>
              <a:defRPr sz="975" b="1">
                <a:solidFill>
                  <a:srgbClr val="FFFFFF"/>
                </a:solidFill>
                <a:latin typeface="Arial"/>
                <a:ea typeface="Arial"/>
                <a:cs typeface="Arial"/>
              </a:defRPr>
            </a:pPr>
            <a:r>
              <a:rPr sz="975" b="1">
                <a:solidFill>
                  <a:srgbClr val="FFFFFF"/>
                </a:solidFill>
                <a:latin typeface="Arial"/>
                <a:ea typeface="Arial"/>
                <a:cs typeface="Arial"/>
              </a:rPr>
              <a:t>-&gt; current + previous year</a:t>
            </a:r>
          </a:p>
        </p:txBody>
      </p:sp>
      <p:sp>
        <p:nvSpPr>
          <p:cNvPr id="20" name="slide7-band-repair-cover">
            <a:extLst>
              <a:ext uri="{FF2B5EF4-FFF2-40B4-BE49-F238E27FC236}">
                <a16:creationId xmlns:a16="http://schemas.microsoft.com/office/drawing/2014/main" id="{CE89615F-045B-4838-8414-A93F71CBAE2B}"/>
              </a:ext>
            </a:extLst>
          </p:cNvPr>
          <p:cNvSpPr>
            <a:spLocks noGrp="1"/>
          </p:cNvSpPr>
          <p:nvPr/>
        </p:nvSpPr>
        <p:spPr>
          <a:xfrm>
            <a:off x="171450" y="6343650"/>
            <a:ext cx="11763375" cy="476250"/>
          </a:xfrm>
          <a:prstGeom prst="rect">
            <a:avLst/>
          </a:prstGeom>
          <a:solidFill>
            <a:srgbClr val="FFFFFF"/>
          </a:solidFill>
          <a:ln w="0">
            <a:noFill/>
            <a:prstDash val="solid"/>
          </a:ln>
        </p:spPr>
        <p:txBody>
          <a:bodyPr/>
          <a:lstStyle/>
          <a:p>
            <a:endParaRPr lang="en-US"/>
          </a:p>
        </p:txBody>
      </p:sp>
      <p:sp>
        <p:nvSpPr>
          <p:cNvPr id="21" name="slide7-band-repair-black">
            <a:extLst>
              <a:ext uri="{FF2B5EF4-FFF2-40B4-BE49-F238E27FC236}">
                <a16:creationId xmlns:a16="http://schemas.microsoft.com/office/drawing/2014/main" id="{B526EFBB-8B71-4D2E-BF03-7360CE5DB946}"/>
              </a:ext>
            </a:extLst>
          </p:cNvPr>
          <p:cNvSpPr>
            <a:spLocks noGrp="1"/>
          </p:cNvSpPr>
          <p:nvPr/>
        </p:nvSpPr>
        <p:spPr>
          <a:xfrm>
            <a:off x="400050" y="6124575"/>
            <a:ext cx="11579276" cy="361950"/>
          </a:xfrm>
          <a:prstGeom prst="rect">
            <a:avLst/>
          </a:prstGeom>
          <a:solidFill>
            <a:srgbClr val="000000"/>
          </a:solidFill>
          <a:ln w="0">
            <a:noFill/>
            <a:prstDash val="solid"/>
          </a:ln>
        </p:spPr>
        <p:txBody>
          <a:bodyPr/>
          <a:lstStyle/>
          <a:p>
            <a:endParaRPr lang="en-US"/>
          </a:p>
        </p:txBody>
      </p:sp>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8580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a:solidFill>
                  <a:srgbClr val="FFFFFF"/>
                </a:solidFill>
                <a:latin typeface="Arial"/>
                <a:ea typeface="Arial"/>
                <a:cs typeface="Arial"/>
              </a:rPr>
              <a:t>32,842 / 29,902 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3657600" y="6167438"/>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200" b="1" dirty="0">
                <a:solidFill>
                  <a:srgbClr val="EE6A2E"/>
                </a:solidFill>
                <a:latin typeface="Arial"/>
                <a:ea typeface="Arial"/>
                <a:cs typeface="Arial"/>
              </a:rPr>
              <a:t>-&gt; 59 annual 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6486525" y="6167438"/>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4 phenological 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950595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1809750"/>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84830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300" y="2552250"/>
            <a:ext cx="4191000" cy="876300"/>
          </a:xfrm>
          <a:prstGeom prst="rect">
            <a:avLst/>
          </a:prstGeom>
          <a:noFill/>
          <a:ln w="0">
            <a:noFill/>
            <a:prstDash val="solid"/>
          </a:ln>
        </p:spPr>
        <p:txBody>
          <a:bodyPr/>
          <a:lstStyle/>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Which agroclimatic conditions distinguish</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above- and below-trend production</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9" y="3820887"/>
            <a:ext cx="4095750"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a:solidFill>
                  <a:srgbClr val="EE6A2E"/>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84830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a:solidFill>
                  <a:srgbClr val="111111"/>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552250"/>
            <a:ext cx="4286250" cy="876300"/>
          </a:xfrm>
          <a:prstGeom prst="rect">
            <a:avLst/>
          </a:prstGeom>
          <a:noFill/>
          <a:ln w="0">
            <a:noFill/>
            <a:prstDash val="solid"/>
          </a:ln>
        </p:spPr>
        <p:txBody>
          <a:bodyPr/>
          <a:lstStyle/>
          <a:p>
            <a:pPr>
              <a:buNone/>
              <a:defRPr sz="1800">
                <a:solidFill>
                  <a:srgbClr val="111111"/>
                </a:solidFill>
                <a:latin typeface="Arial"/>
                <a:ea typeface="Arial"/>
                <a:cs typeface="Arial"/>
              </a:defRPr>
            </a:pPr>
            <a:r>
              <a:rPr dirty="0">
                <a:solidFill>
                  <a:srgbClr val="111111"/>
                </a:solidFill>
                <a:latin typeface="Arial"/>
                <a:ea typeface="Arial"/>
                <a:cs typeface="Arial"/>
              </a:rPr>
              <a:t>Can rule-based models beat the</a:t>
            </a:r>
          </a:p>
          <a:p>
            <a:pPr>
              <a:buNone/>
              <a:defRPr sz="1800">
                <a:solidFill>
                  <a:srgbClr val="111111"/>
                </a:solidFill>
                <a:latin typeface="Arial"/>
                <a:ea typeface="Arial"/>
                <a:cs typeface="Arial"/>
              </a:defRPr>
            </a:pPr>
            <a:r>
              <a:rPr dirty="0">
                <a:solidFill>
                  <a:srgbClr val="111111"/>
                </a:solidFill>
                <a:latin typeface="Arial"/>
                <a:ea typeface="Arial"/>
                <a:cs typeface="Arial"/>
              </a:rPr>
              <a:t>historical median in genuine future</a:t>
            </a:r>
          </a:p>
          <a:p>
            <a:pPr>
              <a:buNone/>
              <a:defRPr sz="1800">
                <a:solidFill>
                  <a:srgbClr val="111111"/>
                </a:solidFill>
                <a:latin typeface="Arial"/>
                <a:ea typeface="Arial"/>
                <a:cs typeface="Arial"/>
              </a:defRPr>
            </a:pPr>
            <a:r>
              <a:rPr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50367"/>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83739"/>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327760"/>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16876"/>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68739"/>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39" name="Shape 24">
            <a:extLst>
              <a:ext uri="{FF2B5EF4-FFF2-40B4-BE49-F238E27FC236}">
                <a16:creationId xmlns:a16="http://schemas.microsoft.com/office/drawing/2014/main" id="{82248170-2868-0BFC-D7B2-1679313F1862}"/>
              </a:ext>
            </a:extLst>
          </p:cNvPr>
          <p:cNvSpPr>
            <a:spLocks noGrp="1"/>
          </p:cNvSpPr>
          <p:nvPr/>
        </p:nvSpPr>
        <p:spPr>
          <a:xfrm>
            <a:off x="662305" y="6262007"/>
            <a:ext cx="11094720" cy="463296"/>
          </a:xfrm>
          <a:prstGeom prst="rect">
            <a:avLst/>
          </a:prstGeom>
          <a:solidFill>
            <a:srgbClr val="1B2B45"/>
          </a:solidFill>
          <a:ln w="12700">
            <a:solidFill>
              <a:srgbClr val="1B2B45"/>
            </a:solidFill>
            <a:prstDash val="solid"/>
          </a:ln>
        </p:spPr>
        <p:txBody>
          <a:bodyPr/>
          <a:lstStyle/>
          <a:p>
            <a:endParaRP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649605" y="6273278"/>
            <a:ext cx="11094720" cy="463296"/>
          </a:xfrm>
          <a:prstGeom prst="rect">
            <a:avLst/>
          </a:prstGeom>
          <a:noFill/>
        </p:spPr>
        <p:txBody>
          <a:bodyPr wrap="square" lIns="0" tIns="0" rIns="0" bIns="0" anchor="ctr"/>
          <a:lstStyle/>
          <a:p>
            <a:pPr algn="ctr">
              <a:buNone/>
            </a:pPr>
            <a:r>
              <a:rPr sz="1267" b="1" dirty="0">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476375"/>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3F35365-02FC-083E-3342-B1DFDDA1809A}"/>
              </a:ext>
            </a:extLst>
          </p:cNvPr>
          <p:cNvSpPr>
            <a:spLocks noGrp="1"/>
          </p:cNvSpPr>
          <p:nvPr/>
        </p:nvSpPr>
        <p:spPr>
          <a:xfrm>
            <a:off x="400049" y="1566279"/>
            <a:ext cx="11264626" cy="676905"/>
          </a:xfrm>
          <a:prstGeom prst="rect">
            <a:avLst/>
          </a:prstGeom>
          <a:solidFill>
            <a:schemeClr val="tx1">
              <a:lumMod val="50000"/>
              <a:lumOff val="50000"/>
            </a:schemeClr>
          </a:solidFill>
          <a:ln w="0">
            <a:noFill/>
            <a:prstDash val="solid"/>
          </a:ln>
        </p:spPr>
        <p:txBody>
          <a:bodyPr/>
          <a:lstStyle/>
          <a:p>
            <a:endParaRPr lang="en-GB" dirty="0"/>
          </a:p>
        </p:txBody>
      </p:sp>
      <p:sp>
        <p:nvSpPr>
          <p:cNvPr id="4" name="Rectangle 3">
            <a:extLst>
              <a:ext uri="{FF2B5EF4-FFF2-40B4-BE49-F238E27FC236}">
                <a16:creationId xmlns:a16="http://schemas.microsoft.com/office/drawing/2014/main" id="{E325144A-1585-4407-BE50-12168B67CBDA}"/>
              </a:ext>
            </a:extLst>
          </p:cNvPr>
          <p:cNvSpPr>
            <a:spLocks noGrp="1"/>
          </p:cNvSpPr>
          <p:nvPr/>
        </p:nvSpPr>
        <p:spPr>
          <a:xfrm>
            <a:off x="436538" y="1653605"/>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509251"/>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buNone/>
              <a:defRPr sz="975">
                <a:solidFill>
                  <a:srgbClr val="171313"/>
                </a:solidFill>
              </a:defRPr>
            </a:pPr>
            <a:r>
              <a:rPr sz="1400" b="1">
                <a:solidFill>
                  <a:srgbClr val="171313"/>
                </a:solidFill>
              </a:rPr>
              <a:t>IF</a:t>
            </a:r>
            <a:r>
              <a:rPr sz="1400">
                <a:solidFill>
                  <a:srgbClr val="171313"/>
                </a:solidFill>
              </a:rPr>
              <a:t> dry post-flowering </a:t>
            </a:r>
            <a:r>
              <a:rPr sz="1400" b="1">
                <a:solidFill>
                  <a:srgbClr val="171313"/>
                </a:solidFill>
              </a:rPr>
              <a:t>AND</a:t>
            </a:r>
            <a:r>
              <a:rPr sz="140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buNone/>
              <a:defRPr sz="863" i="1">
                <a:solidFill>
                  <a:srgbClr val="6F6761"/>
                </a:solidFill>
              </a:defRPr>
            </a:pPr>
            <a:r>
              <a:rPr sz="863" i="1">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a:solidFill>
                  <a:schemeClr val="accent2"/>
                </a:solidFill>
              </a:rPr>
              <a:t>CarenR asks a distributional question</a:t>
            </a:r>
          </a:p>
        </p:txBody>
      </p:sp>
      <p:pic>
        <p:nvPicPr>
          <p:cNvPr id="131" name="Picture 18"/>
          <p:cNvPicPr>
            <a:picLocks noChangeAspect="1"/>
          </p:cNvPicPr>
          <p:nvPr/>
        </p:nvPicPr>
        <p:blipFill>
          <a:blip r:embed="rId4"/>
          <a:stretch>
            <a:fillRect/>
          </a:stretch>
        </p:blipFill>
        <p:spPr>
          <a:xfrm>
            <a:off x="6409825" y="2465195"/>
            <a:ext cx="4981443" cy="2812230"/>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736576"/>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p:nvPr/>
        </p:nvCxnSpPr>
        <p:spPr>
          <a:xfrm flipV="1">
            <a:off x="5053223" y="2526332"/>
            <a:ext cx="3764622" cy="3432528"/>
          </a:xfrm>
          <a:prstGeom prst="bentConnector4">
            <a:avLst>
              <a:gd name="adj1" fmla="val 27936"/>
              <a:gd name="adj2" fmla="val 105146"/>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LAI at harvest appears in all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6048375"/>
            <a:ext cx="12043317" cy="357790"/>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a:t>
            </a:r>
            <a:r>
              <a:rPr lang="pt-PT" dirty="0">
                <a:solidFill>
                  <a:schemeClr val="bg1"/>
                </a:solidFill>
              </a:rPr>
              <a:t>&lt;</a:t>
            </a:r>
            <a:r>
              <a:rPr dirty="0">
                <a:solidFill>
                  <a:schemeClr val="bg1"/>
                </a:solidFill>
              </a:rPr>
              <a:t>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stretch/>
        </p:blipFill>
        <p:spPr>
          <a:xfrm>
            <a:off x="214027" y="1769659"/>
            <a:ext cx="6072473" cy="3643484"/>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a:solidFill>
                  <a:schemeClr val="bg1"/>
                </a:solidFill>
              </a:rPr>
              <a:t>Pattern discovery and forecasting answer different questions.</a:t>
            </a:r>
          </a:p>
        </p:txBody>
      </p:sp>
      <p:sp>
        <p:nvSpPr>
          <p:cNvPr id="14" name="Rectangle 13">
            <a:extLst>
              <a:ext uri="{FF2B5EF4-FFF2-40B4-BE49-F238E27FC236}">
                <a16:creationId xmlns:a16="http://schemas.microsoft.com/office/drawing/2014/main"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a:ext uri="{FF2B5EF4-FFF2-40B4-BE49-F238E27FC236}">
                <a16:creationId xmlns:a16="http://schemas.microsoft.com/office/drawing/2014/main"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3.3, 5.5 and 6.2</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 real signal, drowning in noise</a:t>
            </a:r>
          </a:p>
        </p:txBody>
      </p:sp>
      <p:sp>
        <p:nvSpPr>
          <p:cNvPr id="3" name="Shape 1">
            <a:extLst>
              <a:ext uri="{FF2B5EF4-FFF2-40B4-BE49-F238E27FC236}">
                <a16:creationId xmlns:a16="http://schemas.microsoft.com/office/drawing/2014/main"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a16:creationId xmlns:a16="http://schemas.microsoft.com/office/drawing/2014/main"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Climate–production correlation — the signal is real</a:t>
            </a:r>
          </a:p>
        </p:txBody>
      </p:sp>
      <p:sp>
        <p:nvSpPr>
          <p:cNvPr id="11" name="Text 9">
            <a:extLst>
              <a:ext uri="{FF2B5EF4-FFF2-40B4-BE49-F238E27FC236}">
                <a16:creationId xmlns:a16="http://schemas.microsoft.com/office/drawing/2014/main"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a16:creationId xmlns:a16="http://schemas.microsoft.com/office/drawing/2014/main"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of residual variance is explainable by climate</a:t>
            </a:r>
          </a:p>
        </p:txBody>
      </p:sp>
      <p:sp>
        <p:nvSpPr>
          <p:cNvPr id="13" name="Text 11">
            <a:extLst>
              <a:ext uri="{FF2B5EF4-FFF2-40B4-BE49-F238E27FC236}">
                <a16:creationId xmlns:a16="http://schemas.microsoft.com/office/drawing/2014/main"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a16:creationId xmlns:a16="http://schemas.microsoft.com/office/drawing/2014/main"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Year-to-year swing — the noise the signal hides in</a:t>
            </a:r>
          </a:p>
        </p:txBody>
      </p:sp>
      <p:sp>
        <p:nvSpPr>
          <p:cNvPr id="15" name="Text 13">
            <a:extLst>
              <a:ext uri="{FF2B5EF4-FFF2-40B4-BE49-F238E27FC236}">
                <a16:creationId xmlns:a16="http://schemas.microsoft.com/office/drawing/2014/main"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a:ext uri="{FF2B5EF4-FFF2-40B4-BE49-F238E27FC236}">
                <a16:creationId xmlns:a16="http://schemas.microsoft.com/office/drawing/2014/main"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gradual rise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a16:creationId xmlns:a16="http://schemas.microsoft.com/office/drawing/2014/main"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structural fall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a16:creationId xmlns:a16="http://schemas.microsoft.com/office/drawing/2014/main"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inputs move too — the climate is non-stationary</a:t>
            </a:r>
          </a:p>
        </p:txBody>
      </p:sp>
      <p:sp>
        <p:nvSpPr>
          <p:cNvPr id="3" name="Shape 1">
            <a:extLst>
              <a:ext uri="{FF2B5EF4-FFF2-40B4-BE49-F238E27FC236}">
                <a16:creationId xmlns:a16="http://schemas.microsoft.com/office/drawing/2014/main"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a:ext uri="{FF2B5EF4-FFF2-40B4-BE49-F238E27FC236}">
                <a16:creationId xmlns:a16="http://schemas.microsoft.com/office/drawing/2014/main"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a16:creationId xmlns:a16="http://schemas.microsoft.com/office/drawing/2014/main"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a16:creationId xmlns:a16="http://schemas.microsoft.com/office/drawing/2014/main"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a16:creationId xmlns:a16="http://schemas.microsoft.com/office/drawing/2014/main"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a16:creationId xmlns:a16="http://schemas.microsoft.com/office/drawing/2014/main"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a16:creationId xmlns:a16="http://schemas.microsoft.com/office/drawing/2014/main"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a16:creationId xmlns:a16="http://schemas.microsoft.com/office/drawing/2014/main"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a16:creationId xmlns:a16="http://schemas.microsoft.com/office/drawing/2014/main"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a16:creationId xmlns:a16="http://schemas.microsoft.com/office/drawing/2014/main"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a:ext uri="{FF2B5EF4-FFF2-40B4-BE49-F238E27FC236}">
                <a16:creationId xmlns:a16="http://schemas.microsoft.com/office/drawing/2014/main"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Two regions, opposite histories, one method</a:t>
            </a:r>
          </a:p>
        </p:txBody>
      </p:sp>
      <p:sp>
        <p:nvSpPr>
          <p:cNvPr id="3" name="Shape 1">
            <a:extLst>
              <a:ext uri="{FF2B5EF4-FFF2-40B4-BE49-F238E27FC236}">
                <a16:creationId xmlns:a16="http://schemas.microsoft.com/office/drawing/2014/main"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a16:creationId xmlns:a16="http://schemas.microsoft.com/office/drawing/2014/main"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a16:creationId xmlns:a16="http://schemas.microsoft.com/office/drawing/2014/main"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a16:creationId xmlns:a16="http://schemas.microsoft.com/office/drawing/2014/main"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a16:creationId xmlns:a16="http://schemas.microsoft.com/office/drawing/2014/main"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a16:creationId xmlns:a16="http://schemas.microsoft.com/office/drawing/2014/main"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a16:creationId xmlns:a16="http://schemas.microsoft.com/office/drawing/2014/main"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a16:creationId xmlns:a16="http://schemas.microsoft.com/office/drawing/2014/main"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a16:creationId xmlns:a16="http://schemas.microsoft.com/office/drawing/2014/main"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a16:creationId xmlns:a16="http://schemas.microsoft.com/office/drawing/2014/main"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a16:creationId xmlns:a16="http://schemas.microsoft.com/office/drawing/2014/main"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a16:creationId xmlns:a16="http://schemas.microsoft.com/office/drawing/2014/main"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a16:creationId xmlns:a16="http://schemas.microsoft.com/office/drawing/2014/main"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a16:creationId xmlns:a16="http://schemas.microsoft.com/office/drawing/2014/main"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a16:creationId xmlns:a16="http://schemas.microsoft.com/office/drawing/2014/main"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a16:creationId xmlns:a16="http://schemas.microsoft.com/office/drawing/2014/main"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a16:creationId xmlns:a16="http://schemas.microsoft.com/office/drawing/2014/main"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a16:creationId xmlns:a16="http://schemas.microsoft.com/office/drawing/2014/main"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a16:creationId xmlns:a16="http://schemas.microsoft.com/office/drawing/2014/main"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One honest pipeline</a:t>
            </a:r>
          </a:p>
        </p:txBody>
      </p:sp>
      <p:sp>
        <p:nvSpPr>
          <p:cNvPr id="3" name="Shape 1">
            <a:extLst>
              <a:ext uri="{FF2B5EF4-FFF2-40B4-BE49-F238E27FC236}">
                <a16:creationId xmlns:a16="http://schemas.microsoft.com/office/drawing/2014/main"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a16:creationId xmlns:a16="http://schemas.microsoft.com/office/drawing/2014/main"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a16:creationId xmlns:a16="http://schemas.microsoft.com/office/drawing/2014/main"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a16:creationId xmlns:a16="http://schemas.microsoft.com/office/drawing/2014/main"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a16:creationId xmlns:a16="http://schemas.microsoft.com/office/drawing/2014/main"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a16:creationId xmlns:a16="http://schemas.microsoft.com/office/drawing/2014/main"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a16:creationId xmlns:a16="http://schemas.microsoft.com/office/drawing/2014/main"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a16:creationId xmlns:a16="http://schemas.microsoft.com/office/drawing/2014/main"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a16:creationId xmlns:a16="http://schemas.microsoft.com/office/drawing/2014/main"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a16:creationId xmlns:a16="http://schemas.microsoft.com/office/drawing/2014/main"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a16:creationId xmlns:a16="http://schemas.microsoft.com/office/drawing/2014/main"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a16:creationId xmlns:a16="http://schemas.microsoft.com/office/drawing/2014/main"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a16:creationId xmlns:a16="http://schemas.microsoft.com/office/drawing/2014/main"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a16:creationId xmlns:a16="http://schemas.microsoft.com/office/drawing/2014/main"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a16:creationId xmlns:a16="http://schemas.microsoft.com/office/drawing/2014/main"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a16:creationId xmlns:a16="http://schemas.microsoft.com/office/drawing/2014/main"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a16:creationId xmlns:a16="http://schemas.microsoft.com/office/drawing/2014/main"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a16:creationId xmlns:a16="http://schemas.microsoft.com/office/drawing/2014/main"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Why CarenR: rules you can question</a:t>
            </a:r>
          </a:p>
        </p:txBody>
      </p:sp>
      <p:sp>
        <p:nvSpPr>
          <p:cNvPr id="3" name="Shape 1">
            <a:extLst>
              <a:ext uri="{FF2B5EF4-FFF2-40B4-BE49-F238E27FC236}">
                <a16:creationId xmlns:a16="http://schemas.microsoft.com/office/drawing/2014/main"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a16:creationId xmlns:a16="http://schemas.microsoft.com/office/drawing/2014/main"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a:ext uri="{FF2B5EF4-FFF2-40B4-BE49-F238E27FC236}">
                <a16:creationId xmlns:a16="http://schemas.microsoft.com/office/drawing/2014/main"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A RULE YOU CAN AUDIT</a:t>
            </a:r>
          </a:p>
        </p:txBody>
      </p:sp>
      <p:sp>
        <p:nvSpPr>
          <p:cNvPr id="13" name="Text 10">
            <a:extLst>
              <a:ext uri="{FF2B5EF4-FFF2-40B4-BE49-F238E27FC236}">
                <a16:creationId xmlns:a16="http://schemas.microsoft.com/office/drawing/2014/main"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a16:creationId xmlns:a16="http://schemas.microsoft.com/office/drawing/2014/main"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a16:creationId xmlns:a16="http://schemas.microsoft.com/office/drawing/2014/main"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Falsifiable — an agronomist can challenge it.</a:t>
            </a:r>
          </a:p>
          <a:p>
            <a:pPr marL="342900" indent="-342900">
              <a:spcAft>
                <a:spcPts val="800"/>
              </a:spcAft>
              <a:buChar char="•"/>
            </a:pPr>
            <a:r>
              <a:rPr sz="1400">
                <a:solidFill>
                  <a:srgbClr val="2B2320"/>
                </a:solidFill>
                <a:latin typeface="Calibri"/>
                <a:ea typeface="Calibri"/>
                <a:cs typeface="Calibri"/>
              </a:rPr>
              <a:t>Carries its own support and p-value.</a:t>
            </a:r>
          </a:p>
          <a:p>
            <a:pPr marL="342900" indent="-342900">
              <a:spcAft>
                <a:spcPts val="800"/>
              </a:spcAft>
              <a:buChar char="•"/>
            </a:pPr>
            <a:r>
              <a:rPr sz="1400">
                <a:solidFill>
                  <a:srgbClr val="2B2320"/>
                </a:solidFill>
                <a:latin typeface="Calibri"/>
                <a:ea typeface="Calibri"/>
                <a:cs typeface="Calibri"/>
              </a:rPr>
              <a:t>Black box + SHAP only approximates influence.</a:t>
            </a:r>
          </a:p>
          <a:p>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a:ext uri="{FF2B5EF4-FFF2-40B4-BE49-F238E27FC236}">
                <a16:creationId xmlns:a16="http://schemas.microsoft.com/office/drawing/2014/main"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What the rules actually say</a:t>
            </a:r>
          </a:p>
        </p:txBody>
      </p:sp>
      <p:sp>
        <p:nvSpPr>
          <p:cNvPr id="3" name="Shape 1">
            <a:extLst>
              <a:ext uri="{FF2B5EF4-FFF2-40B4-BE49-F238E27FC236}">
                <a16:creationId xmlns:a16="http://schemas.microsoft.com/office/drawing/2014/main"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a16:creationId xmlns:a16="http://schemas.microsoft.com/office/drawing/2014/main"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a16:creationId xmlns:a16="http://schemas.microsoft.com/office/drawing/2014/main"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a16:creationId xmlns:a16="http://schemas.microsoft.com/office/drawing/2014/main"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a16:creationId xmlns:a16="http://schemas.microsoft.com/office/drawing/2014/main"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a16:creationId xmlns:a16="http://schemas.microsoft.com/office/drawing/2014/main"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a16:creationId xmlns:a16="http://schemas.microsoft.com/office/drawing/2014/main"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a16:creationId xmlns:a16="http://schemas.microsoft.com/office/drawing/2014/main"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a16:creationId xmlns:a16="http://schemas.microsoft.com/office/drawing/2014/main"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a16:creationId xmlns:a16="http://schemas.microsoft.com/office/drawing/2014/main"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a16:creationId xmlns:a16="http://schemas.microsoft.com/office/drawing/2014/main"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a16:creationId xmlns:a16="http://schemas.microsoft.com/office/drawing/2014/main"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a16:creationId xmlns:a16="http://schemas.microsoft.com/office/drawing/2014/main"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SAME</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a16:creationId xmlns:a16="http://schemas.microsoft.com/office/drawing/2014/main"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a16:creationId xmlns:a16="http://schemas.microsoft.com/office/drawing/2014/main"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honest result: nobody beats the median</a:t>
            </a:r>
          </a:p>
        </p:txBody>
      </p:sp>
      <p:sp>
        <p:nvSpPr>
          <p:cNvPr id="3" name="Shape 1">
            <a:extLst>
              <a:ext uri="{FF2B5EF4-FFF2-40B4-BE49-F238E27FC236}">
                <a16:creationId xmlns:a16="http://schemas.microsoft.com/office/drawing/2014/main"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a16:creationId xmlns:a16="http://schemas.microsoft.com/office/drawing/2014/main"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a:ext uri="{FF2B5EF4-FFF2-40B4-BE49-F238E27FC236}">
                <a16:creationId xmlns:a16="http://schemas.microsoft.com/office/drawing/2014/main"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a16:creationId xmlns:a16="http://schemas.microsoft.com/office/drawing/2014/main"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a16:creationId xmlns:a16="http://schemas.microsoft.com/office/drawing/2014/main"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a16:creationId xmlns:a16="http://schemas.microsoft.com/office/drawing/2014/main"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a16:creationId xmlns:a16="http://schemas.microsoft.com/office/drawing/2014/main"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a16:creationId xmlns:a16="http://schemas.microsoft.com/office/drawing/2014/main"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a16:creationId xmlns:a16="http://schemas.microsoft.com/office/drawing/2014/main"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a16:creationId xmlns:a16="http://schemas.microsoft.com/office/drawing/2014/main"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a:ext uri="{FF2B5EF4-FFF2-40B4-BE49-F238E27FC236}">
                <a16:creationId xmlns:a16="http://schemas.microsoft.com/office/drawing/2014/main"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Discovery ≠ Prediction — and I can prove why</a:t>
            </a:r>
          </a:p>
        </p:txBody>
      </p:sp>
      <p:sp>
        <p:nvSpPr>
          <p:cNvPr id="3" name="Shape 1">
            <a:extLst>
              <a:ext uri="{FF2B5EF4-FFF2-40B4-BE49-F238E27FC236}">
                <a16:creationId xmlns:a16="http://schemas.microsoft.com/office/drawing/2014/main"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a16:creationId xmlns:a16="http://schemas.microsoft.com/office/drawing/2014/main"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The failure is lawful, not random.</a:t>
            </a:r>
          </a:p>
        </p:txBody>
      </p:sp>
      <p:sp>
        <p:nvSpPr>
          <p:cNvPr id="11" name="Text 8">
            <a:extLst>
              <a:ext uri="{FF2B5EF4-FFF2-40B4-BE49-F238E27FC236}">
                <a16:creationId xmlns:a16="http://schemas.microsoft.com/office/drawing/2014/main"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a16:creationId xmlns:a16="http://schemas.microsoft.com/office/drawing/2014/main"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a16:creationId xmlns:a16="http://schemas.microsoft.com/office/drawing/2014/main"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a16:creationId xmlns:a16="http://schemas.microsoft.com/office/drawing/2014/main"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a16:creationId xmlns:a16="http://schemas.microsoft.com/office/drawing/2014/main"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a16:creationId xmlns:a16="http://schemas.microsoft.com/office/drawing/2014/main"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Research Questions</a:t>
            </a:r>
          </a:p>
        </p:txBody>
      </p:sp>
      <p:sp>
        <p:nvSpPr>
          <p:cNvPr id="4" name="Text 2">
            <a:extLst>
              <a:ext uri="{FF2B5EF4-FFF2-40B4-BE49-F238E27FC236}">
                <a16:creationId xmlns:a16="http://schemas.microsoft.com/office/drawing/2014/main"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Four questions spanning discovery, validation, and prediction</a:t>
            </a:r>
          </a:p>
        </p:txBody>
      </p:sp>
      <p:sp>
        <p:nvSpPr>
          <p:cNvPr id="5" name="Shape 3">
            <a:extLst>
              <a:ext uri="{FF2B5EF4-FFF2-40B4-BE49-F238E27FC236}">
                <a16:creationId xmlns:a16="http://schemas.microsoft.com/office/drawing/2014/main"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a16:creationId xmlns:a16="http://schemas.microsoft.com/office/drawing/2014/main"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a16:creationId xmlns:a16="http://schemas.microsoft.com/office/drawing/2014/main"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a16:creationId xmlns:a16="http://schemas.microsoft.com/office/drawing/2014/main"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a:ext uri="{FF2B5EF4-FFF2-40B4-BE49-F238E27FC236}">
                <a16:creationId xmlns:a16="http://schemas.microsoft.com/office/drawing/2014/main"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a16:creationId xmlns:a16="http://schemas.microsoft.com/office/drawing/2014/main"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a16:creationId xmlns:a16="http://schemas.microsoft.com/office/drawing/2014/main"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a16:creationId xmlns:a16="http://schemas.microsoft.com/office/drawing/2014/main"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a16:creationId xmlns:a16="http://schemas.microsoft.com/office/drawing/2014/main"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a:ext uri="{FF2B5EF4-FFF2-40B4-BE49-F238E27FC236}">
                <a16:creationId xmlns:a16="http://schemas.microsoft.com/office/drawing/2014/main"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a16:creationId xmlns:a16="http://schemas.microsoft.com/office/drawing/2014/main"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a16:creationId xmlns:a16="http://schemas.microsoft.com/office/drawing/2014/main"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a16:creationId xmlns:a16="http://schemas.microsoft.com/office/drawing/2014/main"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a16:creationId xmlns:a16="http://schemas.microsoft.com/office/drawing/2014/main"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a:ext uri="{FF2B5EF4-FFF2-40B4-BE49-F238E27FC236}">
                <a16:creationId xmlns:a16="http://schemas.microsoft.com/office/drawing/2014/main"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a16:creationId xmlns:a16="http://schemas.microsoft.com/office/drawing/2014/main"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a16:creationId xmlns:a16="http://schemas.microsoft.com/office/drawing/2014/main"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a16:creationId xmlns:a16="http://schemas.microsoft.com/office/drawing/2014/main"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a:ext uri="{FF2B5EF4-FFF2-40B4-BE49-F238E27FC236}">
                <a16:creationId xmlns:a16="http://schemas.microsoft.com/office/drawing/2014/main"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a16:creationId xmlns:a16="http://schemas.microsoft.com/office/drawing/2014/main"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a16:creationId xmlns:a16="http://schemas.microsoft.com/office/drawing/2014/main"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Dataset &amp; Feature Engineering</a:t>
            </a:r>
          </a:p>
        </p:txBody>
      </p:sp>
      <p:sp>
        <p:nvSpPr>
          <p:cNvPr id="4" name="Text 2">
            <a:extLst>
              <a:ext uri="{FF2B5EF4-FFF2-40B4-BE49-F238E27FC236}">
                <a16:creationId xmlns:a16="http://schemas.microsoft.com/office/drawing/2014/main"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Two contrasting natural experiments — same pipeline</a:t>
            </a:r>
          </a:p>
        </p:txBody>
      </p:sp>
      <p:sp>
        <p:nvSpPr>
          <p:cNvPr id="5" name="Shape 3">
            <a:extLst>
              <a:ext uri="{FF2B5EF4-FFF2-40B4-BE49-F238E27FC236}">
                <a16:creationId xmlns:a16="http://schemas.microsoft.com/office/drawing/2014/main"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a16:creationId xmlns:a16="http://schemas.microsoft.com/office/drawing/2014/main"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a16:creationId xmlns:a16="http://schemas.microsoft.com/office/drawing/2014/main"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a16:creationId xmlns:a16="http://schemas.microsoft.com/office/drawing/2014/main"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a16:creationId xmlns:a16="http://schemas.microsoft.com/office/drawing/2014/main"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a16:creationId xmlns:a16="http://schemas.microsoft.com/office/drawing/2014/main"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a16:creationId xmlns:a16="http://schemas.microsoft.com/office/drawing/2014/main"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a16:creationId xmlns:a16="http://schemas.microsoft.com/office/drawing/2014/main"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a16:creationId xmlns:a16="http://schemas.microsoft.com/office/drawing/2014/main"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a16:creationId xmlns:a16="http://schemas.microsoft.com/office/drawing/2014/main"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a16:creationId xmlns:a16="http://schemas.microsoft.com/office/drawing/2014/main"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a16:creationId xmlns:a16="http://schemas.microsoft.com/office/drawing/2014/main"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a16:creationId xmlns:a16="http://schemas.microsoft.com/office/drawing/2014/main"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a16:creationId xmlns:a16="http://schemas.microsoft.com/office/drawing/2014/main"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a16:creationId xmlns:a16="http://schemas.microsoft.com/office/drawing/2014/main"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a16:creationId xmlns:a16="http://schemas.microsoft.com/office/drawing/2014/main"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a16:creationId xmlns:a16="http://schemas.microsoft.com/office/drawing/2014/main"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a16:creationId xmlns:a16="http://schemas.microsoft.com/office/drawing/2014/main"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a16:creationId xmlns:a16="http://schemas.microsoft.com/office/drawing/2014/main"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a16:creationId xmlns:a16="http://schemas.microsoft.com/office/drawing/2014/main"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a16:creationId xmlns:a16="http://schemas.microsoft.com/office/drawing/2014/main"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a16:creationId xmlns:a16="http://schemas.microsoft.com/office/drawing/2014/main"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Feature engineering</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a16:creationId xmlns:a16="http://schemas.microsoft.com/office/drawing/2014/main"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a16:creationId xmlns:a16="http://schemas.microsoft.com/office/drawing/2014/main"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Methodological Framework</a:t>
            </a:r>
          </a:p>
        </p:txBody>
      </p:sp>
      <p:sp>
        <p:nvSpPr>
          <p:cNvPr id="4" name="Text 2">
            <a:extLst>
              <a:ext uri="{FF2B5EF4-FFF2-40B4-BE49-F238E27FC236}">
                <a16:creationId xmlns:a16="http://schemas.microsoft.com/office/drawing/2014/main"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Complete pipeline from raw data to scientific findings</a:t>
            </a:r>
          </a:p>
        </p:txBody>
      </p:sp>
      <p:sp>
        <p:nvSpPr>
          <p:cNvPr id="5" name="Shape 3">
            <a:extLst>
              <a:ext uri="{FF2B5EF4-FFF2-40B4-BE49-F238E27FC236}">
                <a16:creationId xmlns:a16="http://schemas.microsoft.com/office/drawing/2014/main"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a16:creationId xmlns:a16="http://schemas.microsoft.com/office/drawing/2014/main"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a16:creationId xmlns:a16="http://schemas.microsoft.com/office/drawing/2014/main"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a16:creationId xmlns:a16="http://schemas.microsoft.com/office/drawing/2014/main"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a16:creationId xmlns:a16="http://schemas.microsoft.com/office/drawing/2014/main"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a16:creationId xmlns:a16="http://schemas.microsoft.com/office/drawing/2014/main"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a16:creationId xmlns:a16="http://schemas.microsoft.com/office/drawing/2014/main"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a16:creationId xmlns:a16="http://schemas.microsoft.com/office/drawing/2014/main"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a16:creationId xmlns:a16="http://schemas.microsoft.com/office/drawing/2014/main"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a16:creationId xmlns:a16="http://schemas.microsoft.com/office/drawing/2014/main"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a16:creationId xmlns:a16="http://schemas.microsoft.com/office/drawing/2014/main"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a16:creationId xmlns:a16="http://schemas.microsoft.com/office/drawing/2014/main"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a16:creationId xmlns:a16="http://schemas.microsoft.com/office/drawing/2014/main"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a16:creationId xmlns:a16="http://schemas.microsoft.com/office/drawing/2014/main"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a16:creationId xmlns:a16="http://schemas.microsoft.com/office/drawing/2014/main"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a16:creationId xmlns:a16="http://schemas.microsoft.com/office/drawing/2014/main"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a16:creationId xmlns:a16="http://schemas.microsoft.com/office/drawing/2014/main"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a16:creationId xmlns:a16="http://schemas.microsoft.com/office/drawing/2014/main"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a16:creationId xmlns:a16="http://schemas.microsoft.com/office/drawing/2014/main"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a16:creationId xmlns:a16="http://schemas.microsoft.com/office/drawing/2014/main"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a16:creationId xmlns:a16="http://schemas.microsoft.com/office/drawing/2014/main"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a16:creationId xmlns:a16="http://schemas.microsoft.com/office/drawing/2014/main"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a16:creationId xmlns:a16="http://schemas.microsoft.com/office/drawing/2014/main"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a16:creationId xmlns:a16="http://schemas.microsoft.com/office/drawing/2014/main"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a16:creationId xmlns:a16="http://schemas.microsoft.com/office/drawing/2014/main"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a16:creationId xmlns:a16="http://schemas.microsoft.com/office/drawing/2014/main"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a16:creationId xmlns:a16="http://schemas.microsoft.com/office/drawing/2014/main"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a16:creationId xmlns:a16="http://schemas.microsoft.com/office/drawing/2014/main"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a16:creationId xmlns:a16="http://schemas.microsoft.com/office/drawing/2014/main"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Why Rule-Based Machine Learning?</a:t>
            </a:r>
          </a:p>
        </p:txBody>
      </p:sp>
      <p:sp>
        <p:nvSpPr>
          <p:cNvPr id="4" name="Text 2">
            <a:extLst>
              <a:ext uri="{FF2B5EF4-FFF2-40B4-BE49-F238E27FC236}">
                <a16:creationId xmlns:a16="http://schemas.microsoft.com/office/drawing/2014/main"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a:ext uri="{FF2B5EF4-FFF2-40B4-BE49-F238E27FC236}">
                <a16:creationId xmlns:a16="http://schemas.microsoft.com/office/drawing/2014/main"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a16:creationId xmlns:a16="http://schemas.microsoft.com/office/drawing/2014/main"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a16:creationId xmlns:a16="http://schemas.microsoft.com/office/drawing/2014/main"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a16:creationId xmlns:a16="http://schemas.microsoft.com/office/drawing/2014/main"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a16:creationId xmlns:a16="http://schemas.microsoft.com/office/drawing/2014/main"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a16:creationId xmlns:a16="http://schemas.microsoft.com/office/drawing/2014/main"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a16:creationId xmlns:a16="http://schemas.microsoft.com/office/drawing/2014/main"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a16:creationId xmlns:a16="http://schemas.microsoft.com/office/drawing/2014/main"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a16:creationId xmlns:a16="http://schemas.microsoft.com/office/drawing/2014/main"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a16:creationId xmlns:a16="http://schemas.microsoft.com/office/drawing/2014/main"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a16:creationId xmlns:a16="http://schemas.microsoft.com/office/drawing/2014/main"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a16:creationId xmlns:a16="http://schemas.microsoft.com/office/drawing/2014/main"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a16:creationId xmlns:a16="http://schemas.microsoft.com/office/drawing/2014/main"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a16:creationId xmlns:a16="http://schemas.microsoft.com/office/drawing/2014/main"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a16:creationId xmlns:a16="http://schemas.microsoft.com/office/drawing/2014/main"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a16:creationId xmlns:a16="http://schemas.microsoft.com/office/drawing/2014/main"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a16:creationId xmlns:a16="http://schemas.microsoft.com/office/drawing/2014/main"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a16:creationId xmlns:a16="http://schemas.microsoft.com/office/drawing/2014/main"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a16:creationId xmlns:a16="http://schemas.microsoft.com/office/drawing/2014/main"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a16:creationId xmlns:a16="http://schemas.microsoft.com/office/drawing/2014/main"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a16:creationId xmlns:a16="http://schemas.microsoft.com/office/drawing/2014/main"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a16:creationId xmlns:a16="http://schemas.microsoft.com/office/drawing/2014/main"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a16:creationId xmlns:a16="http://schemas.microsoft.com/office/drawing/2014/main"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a16:creationId xmlns:a16="http://schemas.microsoft.com/office/drawing/2014/main"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a16:creationId xmlns:a16="http://schemas.microsoft.com/office/drawing/2014/main"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a16:creationId xmlns:a16="http://schemas.microsoft.com/office/drawing/2014/main"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a16:creationId xmlns:a16="http://schemas.microsoft.com/office/drawing/2014/main"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a16:creationId xmlns:a16="http://schemas.microsoft.com/office/drawing/2014/main"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a16:creationId xmlns:a16="http://schemas.microsoft.com/office/drawing/2014/main"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a16:creationId xmlns:a16="http://schemas.microsoft.com/office/drawing/2014/main"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a16:creationId xmlns:a16="http://schemas.microsoft.com/office/drawing/2014/main"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a16:creationId xmlns:a16="http://schemas.microsoft.com/office/drawing/2014/main"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a16:creationId xmlns:a16="http://schemas.microsoft.com/office/drawing/2014/main"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a16:creationId xmlns:a16="http://schemas.microsoft.com/office/drawing/2014/main"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p14:creationId xmlns:p14="http://schemas.microsoft.com/office/powerpoint/2010/main" val="147233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1 – Rule Discovery Results</a:t>
            </a:r>
          </a:p>
        </p:txBody>
      </p:sp>
      <p:sp>
        <p:nvSpPr>
          <p:cNvPr id="4" name="Text 2">
            <a:extLst>
              <a:ext uri="{FF2B5EF4-FFF2-40B4-BE49-F238E27FC236}">
                <a16:creationId xmlns:a16="http://schemas.microsoft.com/office/drawing/2014/main"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a:ext uri="{FF2B5EF4-FFF2-40B4-BE49-F238E27FC236}">
                <a16:creationId xmlns:a16="http://schemas.microsoft.com/office/drawing/2014/main"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a16:creationId xmlns:a16="http://schemas.microsoft.com/office/drawing/2014/main"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a16:creationId xmlns:a16="http://schemas.microsoft.com/office/drawing/2014/main"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a16:creationId xmlns:a16="http://schemas.microsoft.com/office/drawing/2014/main"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a16:creationId xmlns:a16="http://schemas.microsoft.com/office/drawing/2014/main"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a16:creationId xmlns:a16="http://schemas.microsoft.com/office/drawing/2014/main"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a16:creationId xmlns:a16="http://schemas.microsoft.com/office/drawing/2014/main"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a16:creationId xmlns:a16="http://schemas.microsoft.com/office/drawing/2014/main"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a16:creationId xmlns:a16="http://schemas.microsoft.com/office/drawing/2014/main"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a16:creationId xmlns:a16="http://schemas.microsoft.com/office/drawing/2014/main"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a16:creationId xmlns:a16="http://schemas.microsoft.com/office/drawing/2014/main"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a16:creationId xmlns:a16="http://schemas.microsoft.com/office/drawing/2014/main"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a16:creationId xmlns:a16="http://schemas.microsoft.com/office/drawing/2014/main"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a16:creationId xmlns:a16="http://schemas.microsoft.com/office/drawing/2014/main"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a16:creationId xmlns:a16="http://schemas.microsoft.com/office/drawing/2014/main"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a16:creationId xmlns:a16="http://schemas.microsoft.com/office/drawing/2014/main"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a16:creationId xmlns:a16="http://schemas.microsoft.com/office/drawing/2014/main"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a16:creationId xmlns:a16="http://schemas.microsoft.com/office/drawing/2014/main"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a16:creationId xmlns:a16="http://schemas.microsoft.com/office/drawing/2014/main"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a16:creationId xmlns:a16="http://schemas.microsoft.com/office/drawing/2014/main"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a16:creationId xmlns:a16="http://schemas.microsoft.com/office/drawing/2014/main"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a16:creationId xmlns:a16="http://schemas.microsoft.com/office/drawing/2014/main"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a16:creationId xmlns:a16="http://schemas.microsoft.com/office/drawing/2014/main"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a16:creationId xmlns:a16="http://schemas.microsoft.com/office/drawing/2014/main"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a16:creationId xmlns:a16="http://schemas.microsoft.com/office/drawing/2014/main"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a16:creationId xmlns:a16="http://schemas.microsoft.com/office/drawing/2014/main"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a16:creationId xmlns:a16="http://schemas.microsoft.com/office/drawing/2014/main"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a16:creationId xmlns:a16="http://schemas.microsoft.com/office/drawing/2014/main"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Validation of Rule Discovery</a:t>
            </a:r>
          </a:p>
        </p:txBody>
      </p:sp>
      <p:sp>
        <p:nvSpPr>
          <p:cNvPr id="4" name="Text 2">
            <a:extLst>
              <a:ext uri="{FF2B5EF4-FFF2-40B4-BE49-F238E27FC236}">
                <a16:creationId xmlns:a16="http://schemas.microsoft.com/office/drawing/2014/main"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LOESS stress test distinguishes genuine climate signal from era-membership artefacts</a:t>
            </a:r>
          </a:p>
        </p:txBody>
      </p:sp>
      <p:sp>
        <p:nvSpPr>
          <p:cNvPr id="5" name="Shape 3">
            <a:extLst>
              <a:ext uri="{FF2B5EF4-FFF2-40B4-BE49-F238E27FC236}">
                <a16:creationId xmlns:a16="http://schemas.microsoft.com/office/drawing/2014/main"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a16:creationId xmlns:a16="http://schemas.microsoft.com/office/drawing/2014/main"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a16:creationId xmlns:a16="http://schemas.microsoft.com/office/drawing/2014/main"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6"/>
                  </a:ext>
                </a:extLst>
              </a:tr>
            </a:tbl>
          </a:graphicData>
        </a:graphic>
      </p:graphicFrame>
      <p:sp>
        <p:nvSpPr>
          <p:cNvPr id="11" name="Text 8">
            <a:extLst>
              <a:ext uri="{FF2B5EF4-FFF2-40B4-BE49-F238E27FC236}">
                <a16:creationId xmlns:a16="http://schemas.microsoft.com/office/drawing/2014/main"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2 – Predictive Validation</a:t>
            </a:r>
          </a:p>
        </p:txBody>
      </p:sp>
      <p:sp>
        <p:nvSpPr>
          <p:cNvPr id="4" name="Text 2">
            <a:extLst>
              <a:ext uri="{FF2B5EF4-FFF2-40B4-BE49-F238E27FC236}">
                <a16:creationId xmlns:a16="http://schemas.microsoft.com/office/drawing/2014/main"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Walk-forward results: 17 models, weighted MAE on original scale (mhl)</a:t>
            </a:r>
          </a:p>
        </p:txBody>
      </p:sp>
      <p:sp>
        <p:nvSpPr>
          <p:cNvPr id="5" name="Shape 3">
            <a:extLst>
              <a:ext uri="{FF2B5EF4-FFF2-40B4-BE49-F238E27FC236}">
                <a16:creationId xmlns:a16="http://schemas.microsoft.com/office/drawing/2014/main"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a16:creationId xmlns:a16="http://schemas.microsoft.com/office/drawing/2014/main"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a:extLst>
              <a:ext uri="{FF2B5EF4-FFF2-40B4-BE49-F238E27FC236}">
                <a16:creationId xmlns:a16="http://schemas.microsoft.com/office/drawing/2014/main"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a16:creationId xmlns:a16="http://schemas.microsoft.com/office/drawing/2014/main"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a16:creationId xmlns:a16="http://schemas.microsoft.com/office/drawing/2014/main"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a16:creationId xmlns:a16="http://schemas.microsoft.com/office/drawing/2014/main"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a16:creationId xmlns:a16="http://schemas.microsoft.com/office/drawing/2014/main"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a16:creationId xmlns:a16="http://schemas.microsoft.com/office/drawing/2014/main"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a16:creationId xmlns:a16="http://schemas.microsoft.com/office/drawing/2014/main"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a16:creationId xmlns:a16="http://schemas.microsoft.com/office/drawing/2014/main"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a16:creationId xmlns:a16="http://schemas.microsoft.com/office/drawing/2014/main"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a16:creationId xmlns:a16="http://schemas.microsoft.com/office/drawing/2014/main"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Why Did Prediction Fail?</a:t>
            </a:r>
          </a:p>
        </p:txBody>
      </p:sp>
      <p:sp>
        <p:nvSpPr>
          <p:cNvPr id="4" name="Text 2">
            <a:extLst>
              <a:ext uri="{FF2B5EF4-FFF2-40B4-BE49-F238E27FC236}">
                <a16:creationId xmlns:a16="http://schemas.microsoft.com/office/drawing/2014/main"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a:ext uri="{FF2B5EF4-FFF2-40B4-BE49-F238E27FC236}">
                <a16:creationId xmlns:a16="http://schemas.microsoft.com/office/drawing/2014/main"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a16:creationId xmlns:a16="http://schemas.microsoft.com/office/drawing/2014/main"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a16:creationId xmlns:a16="http://schemas.microsoft.com/office/drawing/2014/main"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a16:creationId xmlns:a16="http://schemas.microsoft.com/office/drawing/2014/main"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a16:creationId xmlns:a16="http://schemas.microsoft.com/office/drawing/2014/main"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a16:creationId xmlns:a16="http://schemas.microsoft.com/office/drawing/2014/main"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a16:creationId xmlns:a16="http://schemas.microsoft.com/office/drawing/2014/main"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a16:creationId xmlns:a16="http://schemas.microsoft.com/office/drawing/2014/main"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a16:creationId xmlns:a16="http://schemas.microsoft.com/office/drawing/2014/main"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a16:creationId xmlns:a16="http://schemas.microsoft.com/office/drawing/2014/main"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a16:creationId xmlns:a16="http://schemas.microsoft.com/office/drawing/2014/main"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a16:creationId xmlns:a16="http://schemas.microsoft.com/office/drawing/2014/main"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a16:creationId xmlns:a16="http://schemas.microsoft.com/office/drawing/2014/main"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a16:creationId xmlns:a16="http://schemas.microsoft.com/office/drawing/2014/main"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a16:creationId xmlns:a16="http://schemas.microsoft.com/office/drawing/2014/main"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a16:creationId xmlns:a16="http://schemas.microsoft.com/office/drawing/2014/main"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a16:creationId xmlns:a16="http://schemas.microsoft.com/office/drawing/2014/main"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a16:creationId xmlns:a16="http://schemas.microsoft.com/office/drawing/2014/main"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Scientific Contributions</a:t>
            </a:r>
          </a:p>
        </p:txBody>
      </p:sp>
      <p:sp>
        <p:nvSpPr>
          <p:cNvPr id="4" name="Text 2">
            <a:extLst>
              <a:ext uri="{FF2B5EF4-FFF2-40B4-BE49-F238E27FC236}">
                <a16:creationId xmlns:a16="http://schemas.microsoft.com/office/drawing/2014/main"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Methodological advances transferable beyond wine production</a:t>
            </a:r>
          </a:p>
        </p:txBody>
      </p:sp>
      <p:sp>
        <p:nvSpPr>
          <p:cNvPr id="5" name="Shape 3">
            <a:extLst>
              <a:ext uri="{FF2B5EF4-FFF2-40B4-BE49-F238E27FC236}">
                <a16:creationId xmlns:a16="http://schemas.microsoft.com/office/drawing/2014/main"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a16:creationId xmlns:a16="http://schemas.microsoft.com/office/drawing/2014/main"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a16:creationId xmlns:a16="http://schemas.microsoft.com/office/drawing/2014/main"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a16:creationId xmlns:a16="http://schemas.microsoft.com/office/drawing/2014/main"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a16:creationId xmlns:a16="http://schemas.microsoft.com/office/drawing/2014/main"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a16:creationId xmlns:a16="http://schemas.microsoft.com/office/drawing/2014/main"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a16:creationId xmlns:a16="http://schemas.microsoft.com/office/drawing/2014/main"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a16:creationId xmlns:a16="http://schemas.microsoft.com/office/drawing/2014/main"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a16:creationId xmlns:a16="http://schemas.microsoft.com/office/drawing/2014/main"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a16:creationId xmlns:a16="http://schemas.microsoft.com/office/drawing/2014/main"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a16:creationId xmlns:a16="http://schemas.microsoft.com/office/drawing/2014/main"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a16:creationId xmlns:a16="http://schemas.microsoft.com/office/drawing/2014/main"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a16:creationId xmlns:a16="http://schemas.microsoft.com/office/drawing/2014/main"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a16:creationId xmlns:a16="http://schemas.microsoft.com/office/drawing/2014/main"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a16:creationId xmlns:a16="http://schemas.microsoft.com/office/drawing/2014/main"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a16:creationId xmlns:a16="http://schemas.microsoft.com/office/drawing/2014/main"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a16:creationId xmlns:a16="http://schemas.microsoft.com/office/drawing/2014/main"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a16:creationId xmlns:a16="http://schemas.microsoft.com/office/drawing/2014/main"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a16:creationId xmlns:a16="http://schemas.microsoft.com/office/drawing/2014/main"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a16:creationId xmlns:a16="http://schemas.microsoft.com/office/drawing/2014/main"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a16:creationId xmlns:a16="http://schemas.microsoft.com/office/drawing/2014/main"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a16:creationId xmlns:a16="http://schemas.microsoft.com/office/drawing/2014/main"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a16:creationId xmlns:a16="http://schemas.microsoft.com/office/drawing/2014/main"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a16:creationId xmlns:a16="http://schemas.microsoft.com/office/drawing/2014/main"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a16:creationId xmlns:a16="http://schemas.microsoft.com/office/drawing/2014/main"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Limitations &amp; Future Work</a:t>
            </a:r>
          </a:p>
        </p:txBody>
      </p:sp>
      <p:sp>
        <p:nvSpPr>
          <p:cNvPr id="4" name="Text 2">
            <a:extLst>
              <a:ext uri="{FF2B5EF4-FFF2-40B4-BE49-F238E27FC236}">
                <a16:creationId xmlns:a16="http://schemas.microsoft.com/office/drawing/2014/main"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Where the thesis stops — and the path forward</a:t>
            </a:r>
          </a:p>
        </p:txBody>
      </p:sp>
      <p:sp>
        <p:nvSpPr>
          <p:cNvPr id="5" name="Shape 3">
            <a:extLst>
              <a:ext uri="{FF2B5EF4-FFF2-40B4-BE49-F238E27FC236}">
                <a16:creationId xmlns:a16="http://schemas.microsoft.com/office/drawing/2014/main"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a16:creationId xmlns:a16="http://schemas.microsoft.com/office/drawing/2014/main"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a16:creationId xmlns:a16="http://schemas.microsoft.com/office/drawing/2014/main"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a16:creationId xmlns:a16="http://schemas.microsoft.com/office/drawing/2014/main"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a16:creationId xmlns:a16="http://schemas.microsoft.com/office/drawing/2014/main"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a16:creationId xmlns:a16="http://schemas.microsoft.com/office/drawing/2014/main"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a16:creationId xmlns:a16="http://schemas.microsoft.com/office/drawing/2014/main"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a16:creationId xmlns:a16="http://schemas.microsoft.com/office/drawing/2014/main"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a16:creationId xmlns:a16="http://schemas.microsoft.com/office/drawing/2014/main"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a16:creationId xmlns:a16="http://schemas.microsoft.com/office/drawing/2014/main"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a16:creationId xmlns:a16="http://schemas.microsoft.com/office/drawing/2014/main"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a16:creationId xmlns:a16="http://schemas.microsoft.com/office/drawing/2014/main"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a16:creationId xmlns:a16="http://schemas.microsoft.com/office/drawing/2014/main"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a16:creationId xmlns:a16="http://schemas.microsoft.com/office/drawing/2014/main"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a16:creationId xmlns:a16="http://schemas.microsoft.com/office/drawing/2014/main"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a16:creationId xmlns:a16="http://schemas.microsoft.com/office/drawing/2014/main"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a16:creationId xmlns:a16="http://schemas.microsoft.com/office/drawing/2014/main"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a16:creationId xmlns:a16="http://schemas.microsoft.com/office/drawing/2014/main"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a16:creationId xmlns:a16="http://schemas.microsoft.com/office/drawing/2014/main"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a16:creationId xmlns:a16="http://schemas.microsoft.com/office/drawing/2014/main"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a16:creationId xmlns:a16="http://schemas.microsoft.com/office/drawing/2014/main"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a16:creationId xmlns:a16="http://schemas.microsoft.com/office/drawing/2014/main"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a16:creationId xmlns:a16="http://schemas.microsoft.com/office/drawing/2014/main"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a16:creationId xmlns:a16="http://schemas.microsoft.com/office/drawing/2014/main"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a16:creationId xmlns:a16="http://schemas.microsoft.com/office/drawing/2014/main"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a16:creationId xmlns:a16="http://schemas.microsoft.com/office/drawing/2014/main"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a16:creationId xmlns:a16="http://schemas.microsoft.com/office/drawing/2014/main"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a16:creationId xmlns:a16="http://schemas.microsoft.com/office/drawing/2014/main"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a16:creationId xmlns:a16="http://schemas.microsoft.com/office/drawing/2014/main"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a16:creationId xmlns:a16="http://schemas.microsoft.com/office/drawing/2014/main"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a16:creationId xmlns:a16="http://schemas.microsoft.com/office/drawing/2014/main"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a16:creationId xmlns:a16="http://schemas.microsoft.com/office/drawing/2014/main"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a16:creationId xmlns:a16="http://schemas.microsoft.com/office/drawing/2014/main"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Conclusions</a:t>
            </a:r>
          </a:p>
        </p:txBody>
      </p:sp>
      <p:sp>
        <p:nvSpPr>
          <p:cNvPr id="4" name="Shape 2">
            <a:extLst>
              <a:ext uri="{FF2B5EF4-FFF2-40B4-BE49-F238E27FC236}">
                <a16:creationId xmlns:a16="http://schemas.microsoft.com/office/drawing/2014/main"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a16:creationId xmlns:a16="http://schemas.microsoft.com/office/drawing/2014/main"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a16:creationId xmlns:a16="http://schemas.microsoft.com/office/drawing/2014/main"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GOAL 1 ✓ ACHIEVED</a:t>
            </a:r>
          </a:p>
        </p:txBody>
      </p:sp>
      <p:sp>
        <p:nvSpPr>
          <p:cNvPr id="8" name="Text 6">
            <a:extLst>
              <a:ext uri="{FF2B5EF4-FFF2-40B4-BE49-F238E27FC236}">
                <a16:creationId xmlns:a16="http://schemas.microsoft.com/office/drawing/2014/main"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a16:creationId xmlns:a16="http://schemas.microsoft.com/office/drawing/2014/main"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a16:creationId xmlns:a16="http://schemas.microsoft.com/office/drawing/2014/main"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a16:creationId xmlns:a16="http://schemas.microsoft.com/office/drawing/2014/main"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a16:creationId xmlns:a16="http://schemas.microsoft.com/office/drawing/2014/main"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GOAL 2 ✗ NOT ACHIEVED</a:t>
            </a:r>
          </a:p>
        </p:txBody>
      </p:sp>
      <p:sp>
        <p:nvSpPr>
          <p:cNvPr id="13" name="Text 11">
            <a:extLst>
              <a:ext uri="{FF2B5EF4-FFF2-40B4-BE49-F238E27FC236}">
                <a16:creationId xmlns:a16="http://schemas.microsoft.com/office/drawing/2014/main"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a16:creationId xmlns:a16="http://schemas.microsoft.com/office/drawing/2014/main"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a16:creationId xmlns:a16="http://schemas.microsoft.com/office/drawing/2014/main"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a16:creationId xmlns:a16="http://schemas.microsoft.com/office/drawing/2014/main"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a16:creationId xmlns:a16="http://schemas.microsoft.com/office/drawing/2014/main"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CORE INSIGHT</a:t>
            </a:r>
          </a:p>
        </p:txBody>
      </p:sp>
      <p:sp>
        <p:nvSpPr>
          <p:cNvPr id="18" name="Text 16">
            <a:extLst>
              <a:ext uri="{FF2B5EF4-FFF2-40B4-BE49-F238E27FC236}">
                <a16:creationId xmlns:a16="http://schemas.microsoft.com/office/drawing/2014/main"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Explanation ≠ Prediction — and the Path Forward</a:t>
            </a:r>
          </a:p>
        </p:txBody>
      </p:sp>
      <p:sp>
        <p:nvSpPr>
          <p:cNvPr id="19" name="Text 17">
            <a:extLst>
              <a:ext uri="{FF2B5EF4-FFF2-40B4-BE49-F238E27FC236}">
                <a16:creationId xmlns:a16="http://schemas.microsoft.com/office/drawing/2014/main"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a16:creationId xmlns:a16="http://schemas.microsoft.com/office/drawing/2014/main"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a16:creationId xmlns:a16="http://schemas.microsoft.com/office/drawing/2014/main"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The Research Problem</a:t>
            </a:r>
          </a:p>
        </p:txBody>
      </p:sp>
      <p:sp>
        <p:nvSpPr>
          <p:cNvPr id="4" name="Text 2">
            <a:extLst>
              <a:ext uri="{FF2B5EF4-FFF2-40B4-BE49-F238E27FC236}">
                <a16:creationId xmlns:a16="http://schemas.microsoft.com/office/drawing/2014/main"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a16:creationId xmlns:a16="http://schemas.microsoft.com/office/drawing/2014/main"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a16:creationId xmlns:a16="http://schemas.microsoft.com/office/drawing/2014/main"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a16:creationId xmlns:a16="http://schemas.microsoft.com/office/drawing/2014/main"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a16:creationId xmlns:a16="http://schemas.microsoft.com/office/drawing/2014/main"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The gap</a:t>
            </a:r>
          </a:p>
        </p:txBody>
      </p:sp>
      <p:sp>
        <p:nvSpPr>
          <p:cNvPr id="10" name="Text 8">
            <a:extLst>
              <a:ext uri="{FF2B5EF4-FFF2-40B4-BE49-F238E27FC236}">
                <a16:creationId xmlns:a16="http://schemas.microsoft.com/office/drawing/2014/main"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a16:creationId xmlns:a16="http://schemas.microsoft.com/office/drawing/2014/main"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a16:creationId xmlns:a16="http://schemas.microsoft.com/office/drawing/2014/main"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2"/>
                  </a:ext>
                </a:extLst>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4"/>
                  </a:ext>
                </a:extLst>
              </a:tr>
            </a:tbl>
          </a:graphicData>
        </a:graphic>
      </p:graphicFrame>
      <p:sp>
        <p:nvSpPr>
          <p:cNvPr id="14" name="Shape 11">
            <a:extLst>
              <a:ext uri="{FF2B5EF4-FFF2-40B4-BE49-F238E27FC236}">
                <a16:creationId xmlns:a16="http://schemas.microsoft.com/office/drawing/2014/main"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a16:creationId xmlns:a16="http://schemas.microsoft.com/office/drawing/2014/main"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a16:creationId xmlns:a16="http://schemas.microsoft.com/office/drawing/2014/main"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a16:creationId xmlns:a16="http://schemas.microsoft.com/office/drawing/2014/main"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a16:creationId xmlns:a16="http://schemas.microsoft.com/office/drawing/2014/main"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a16:creationId xmlns:a16="http://schemas.microsoft.com/office/drawing/2014/main"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a16:creationId xmlns:a16="http://schemas.microsoft.com/office/drawing/2014/main"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a16:creationId xmlns:a16="http://schemas.microsoft.com/office/drawing/2014/main"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Can be challenged and domain-validated</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a16:creationId xmlns:a16="http://schemas.microsoft.com/office/drawing/2014/main"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Algorithm Comparison</a:t>
            </a:r>
          </a:p>
        </p:txBody>
      </p:sp>
      <p:sp>
        <p:nvSpPr>
          <p:cNvPr id="4" name="TextBox 3">
            <a:extLst>
              <a:ext uri="{FF2B5EF4-FFF2-40B4-BE49-F238E27FC236}">
                <a16:creationId xmlns:a16="http://schemas.microsoft.com/office/drawing/2014/main"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a16:creationId xmlns:a16="http://schemas.microsoft.com/office/drawing/2014/main"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a16:creationId xmlns:a16="http://schemas.microsoft.com/office/drawing/2014/main"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a16:creationId xmlns:a16="http://schemas.microsoft.com/office/drawing/2014/main"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a16:creationId xmlns:a16="http://schemas.microsoft.com/office/drawing/2014/main"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a16:creationId xmlns:a16="http://schemas.microsoft.com/office/drawing/2014/main"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a16:creationId xmlns:a16="http://schemas.microsoft.com/office/drawing/2014/main"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a16:creationId xmlns:a16="http://schemas.microsoft.com/office/drawing/2014/main"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a16:creationId xmlns:a16="http://schemas.microsoft.com/office/drawing/2014/main"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a16:creationId xmlns:a16="http://schemas.microsoft.com/office/drawing/2014/main"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a16:creationId xmlns:a16="http://schemas.microsoft.com/office/drawing/2014/main"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a16:creationId xmlns:a16="http://schemas.microsoft.com/office/drawing/2014/main"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a16:creationId xmlns:a16="http://schemas.microsoft.com/office/drawing/2014/main"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a16:creationId xmlns:a16="http://schemas.microsoft.com/office/drawing/2014/main"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a16:creationId xmlns:a16="http://schemas.microsoft.com/office/drawing/2014/main"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a16:creationId xmlns:a16="http://schemas.microsoft.com/office/drawing/2014/main"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a16:creationId xmlns:a16="http://schemas.microsoft.com/office/drawing/2014/main"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a16:creationId xmlns:a16="http://schemas.microsoft.com/office/drawing/2014/main"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a16:creationId xmlns:a16="http://schemas.microsoft.com/office/drawing/2014/main"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a16:creationId xmlns:a16="http://schemas.microsoft.com/office/drawing/2014/main"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a16:creationId xmlns:a16="http://schemas.microsoft.com/office/drawing/2014/main"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a16:creationId xmlns:a16="http://schemas.microsoft.com/office/drawing/2014/main"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a16:creationId xmlns:a16="http://schemas.microsoft.com/office/drawing/2014/main"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a16:creationId xmlns:a16="http://schemas.microsoft.com/office/drawing/2014/main"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a16:creationId xmlns:a16="http://schemas.microsoft.com/office/drawing/2014/main"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a16:creationId xmlns:a16="http://schemas.microsoft.com/office/drawing/2014/main"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a16:creationId xmlns:a16="http://schemas.microsoft.com/office/drawing/2014/main"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a16:creationId xmlns:a16="http://schemas.microsoft.com/office/drawing/2014/main"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a16:creationId xmlns:a16="http://schemas.microsoft.com/office/drawing/2014/main"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Cross-Algorithm Validation</a:t>
            </a:r>
          </a:p>
        </p:txBody>
      </p:sp>
      <p:sp>
        <p:nvSpPr>
          <p:cNvPr id="4" name="Text 2">
            <a:extLst>
              <a:ext uri="{FF2B5EF4-FFF2-40B4-BE49-F238E27FC236}">
                <a16:creationId xmlns:a16="http://schemas.microsoft.com/office/drawing/2014/main"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a16:creationId xmlns:a16="http://schemas.microsoft.com/office/drawing/2014/main"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a16:creationId xmlns:a16="http://schemas.microsoft.com/office/drawing/2014/main"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a16:creationId xmlns:a16="http://schemas.microsoft.com/office/drawing/2014/main"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Feature</a:t>
            </a:r>
          </a:p>
        </p:txBody>
      </p:sp>
      <p:sp>
        <p:nvSpPr>
          <p:cNvPr id="9" name="Shape 7">
            <a:extLst>
              <a:ext uri="{FF2B5EF4-FFF2-40B4-BE49-F238E27FC236}">
                <a16:creationId xmlns:a16="http://schemas.microsoft.com/office/drawing/2014/main"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a16:creationId xmlns:a16="http://schemas.microsoft.com/office/drawing/2014/main"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a16:creationId xmlns:a16="http://schemas.microsoft.com/office/drawing/2014/main"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a16:creationId xmlns:a16="http://schemas.microsoft.com/office/drawing/2014/main"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a16:creationId xmlns:a16="http://schemas.microsoft.com/office/drawing/2014/main"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a16:creationId xmlns:a16="http://schemas.microsoft.com/office/drawing/2014/main"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a16:creationId xmlns:a16="http://schemas.microsoft.com/office/drawing/2014/main"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a16:creationId xmlns:a16="http://schemas.microsoft.com/office/drawing/2014/main"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Confidence</a:t>
            </a:r>
          </a:p>
        </p:txBody>
      </p:sp>
      <p:sp>
        <p:nvSpPr>
          <p:cNvPr id="17" name="Shape 15">
            <a:extLst>
              <a:ext uri="{FF2B5EF4-FFF2-40B4-BE49-F238E27FC236}">
                <a16:creationId xmlns:a16="http://schemas.microsoft.com/office/drawing/2014/main"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a16:creationId xmlns:a16="http://schemas.microsoft.com/office/drawing/2014/main"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a16:creationId xmlns:a16="http://schemas.microsoft.com/office/drawing/2014/main"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Harvest soil water</a:t>
            </a:r>
          </a:p>
          <a:p>
            <a:r>
              <a:rPr sz="1333">
                <a:solidFill>
                  <a:srgbClr val="1C1214"/>
                </a:solidFill>
                <a:latin typeface="Calibri"/>
                <a:ea typeface="Calibri"/>
                <a:cs typeface="Calibri"/>
              </a:rPr>
              <a:t>(swa_hv_y1_b20)</a:t>
            </a:r>
          </a:p>
        </p:txBody>
      </p:sp>
      <p:sp>
        <p:nvSpPr>
          <p:cNvPr id="20" name="Shape 18">
            <a:extLst>
              <a:ext uri="{FF2B5EF4-FFF2-40B4-BE49-F238E27FC236}">
                <a16:creationId xmlns:a16="http://schemas.microsoft.com/office/drawing/2014/main"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a16:creationId xmlns:a16="http://schemas.microsoft.com/office/drawing/2014/main"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a16:creationId xmlns:a16="http://schemas.microsoft.com/office/drawing/2014/main"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a16:creationId xmlns:a16="http://schemas.microsoft.com/office/drawing/2014/main"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a16:creationId xmlns:a16="http://schemas.microsoft.com/office/drawing/2014/main"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a16:creationId xmlns:a16="http://schemas.microsoft.com/office/drawing/2014/main"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a16:creationId xmlns:a16="http://schemas.microsoft.com/office/drawing/2014/main"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a16:creationId xmlns:a16="http://schemas.microsoft.com/office/drawing/2014/main"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a16:creationId xmlns:a16="http://schemas.microsoft.com/office/drawing/2014/main"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a16:creationId xmlns:a16="http://schemas.microsoft.com/office/drawing/2014/main"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a16:creationId xmlns:a16="http://schemas.microsoft.com/office/drawing/2014/main"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a16:creationId xmlns:a16="http://schemas.microsoft.com/office/drawing/2014/main"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a16:creationId xmlns:a16="http://schemas.microsoft.com/office/drawing/2014/main"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a16:creationId xmlns:a16="http://schemas.microsoft.com/office/drawing/2014/main"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a16:creationId xmlns:a16="http://schemas.microsoft.com/office/drawing/2014/main"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a16:creationId xmlns:a16="http://schemas.microsoft.com/office/drawing/2014/main"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a16:creationId xmlns:a16="http://schemas.microsoft.com/office/drawing/2014/main"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a16:creationId xmlns:a16="http://schemas.microsoft.com/office/drawing/2014/main"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a16:creationId xmlns:a16="http://schemas.microsoft.com/office/drawing/2014/main"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a16:creationId xmlns:a16="http://schemas.microsoft.com/office/drawing/2014/main"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a16:creationId xmlns:a16="http://schemas.microsoft.com/office/drawing/2014/main"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a16:creationId xmlns:a16="http://schemas.microsoft.com/office/drawing/2014/main"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a16:creationId xmlns:a16="http://schemas.microsoft.com/office/drawing/2014/main"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a16:creationId xmlns:a16="http://schemas.microsoft.com/office/drawing/2014/main"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a16:creationId xmlns:a16="http://schemas.microsoft.com/office/drawing/2014/main"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a16:creationId xmlns:a16="http://schemas.microsoft.com/office/drawing/2014/main"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a16:creationId xmlns:a16="http://schemas.microsoft.com/office/drawing/2014/main"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a16:creationId xmlns:a16="http://schemas.microsoft.com/office/drawing/2014/main"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a16:creationId xmlns:a16="http://schemas.microsoft.com/office/drawing/2014/main"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a16:creationId xmlns:a16="http://schemas.microsoft.com/office/drawing/2014/main"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a16:creationId xmlns:a16="http://schemas.microsoft.com/office/drawing/2014/main"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a16:creationId xmlns:a16="http://schemas.microsoft.com/office/drawing/2014/main"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a16:creationId xmlns:a16="http://schemas.microsoft.com/office/drawing/2014/main"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a16:creationId xmlns:a16="http://schemas.microsoft.com/office/drawing/2014/main"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a16:creationId xmlns:a16="http://schemas.microsoft.com/office/drawing/2014/main"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a16:creationId xmlns:a16="http://schemas.microsoft.com/office/drawing/2014/main"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a16:creationId xmlns:a16="http://schemas.microsoft.com/office/drawing/2014/main"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a16:creationId xmlns:a16="http://schemas.microsoft.com/office/drawing/2014/main"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a16:creationId xmlns:a16="http://schemas.microsoft.com/office/drawing/2014/main"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a16:creationId xmlns:a16="http://schemas.microsoft.com/office/drawing/2014/main"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a16:creationId xmlns:a16="http://schemas.microsoft.com/office/drawing/2014/main"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a16:creationId xmlns:a16="http://schemas.microsoft.com/office/drawing/2014/main"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a16:creationId xmlns:a16="http://schemas.microsoft.com/office/drawing/2014/main"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Predictive Validation Results (Goal 2)</a:t>
            </a:r>
          </a:p>
        </p:txBody>
      </p:sp>
      <p:sp>
        <p:nvSpPr>
          <p:cNvPr id="4" name="Text 2">
            <a:extLst>
              <a:ext uri="{FF2B5EF4-FFF2-40B4-BE49-F238E27FC236}">
                <a16:creationId xmlns:a16="http://schemas.microsoft.com/office/drawing/2014/main"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a16:creationId xmlns:a16="http://schemas.microsoft.com/office/drawing/2014/main"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a16:creationId xmlns:a16="http://schemas.microsoft.com/office/drawing/2014/main"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a:extLst>
              <a:ext uri="{FF2B5EF4-FFF2-40B4-BE49-F238E27FC236}">
                <a16:creationId xmlns:a16="http://schemas.microsoft.com/office/drawing/2014/main"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a:extLst>
              <a:ext uri="{FF2B5EF4-FFF2-40B4-BE49-F238E27FC236}">
                <a16:creationId xmlns:a16="http://schemas.microsoft.com/office/drawing/2014/main"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a16:creationId xmlns:a16="http://schemas.microsoft.com/office/drawing/2014/main"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a16:creationId xmlns:a16="http://schemas.microsoft.com/office/drawing/2014/main"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a16:creationId xmlns:a16="http://schemas.microsoft.com/office/drawing/2014/main"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hape 5">
            <a:extLst>
              <a:ext uri="{FF2B5EF4-FFF2-40B4-BE49-F238E27FC236}">
                <a16:creationId xmlns:a16="http://schemas.microsoft.com/office/drawing/2014/main"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a16:creationId xmlns:a16="http://schemas.microsoft.com/office/drawing/2014/main"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a16:creationId xmlns:a16="http://schemas.microsoft.com/office/drawing/2014/main"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12905</Words>
  <Application>Microsoft Macintosh PowerPoint</Application>
  <DocSecurity>0</DocSecurity>
  <PresentationFormat>Widescreen</PresentationFormat>
  <Paragraphs>1365</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4</cp:revision>
  <dcterms:created xsi:type="dcterms:W3CDTF">2026-07-14T00:04:33Z</dcterms:created>
  <dcterms:modified xsi:type="dcterms:W3CDTF">2026-07-14T00:35:24Z</dcterms:modified>
</cp:coreProperties>
</file>