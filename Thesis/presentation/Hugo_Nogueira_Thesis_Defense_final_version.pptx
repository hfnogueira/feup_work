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2A1E82-A064-B748-A11E-E8BCC6FBCECB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graveyard" id="{E4682D8D-643A-F049-9647-92932E89391B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20"/>
    <p:restoredTop sz="28255"/>
  </p:normalViewPr>
  <p:slideViewPr>
    <p:cSldViewPr snapToGrid="0">
      <p:cViewPr varScale="1">
        <p:scale>
          <a:sx n="30" d="100"/>
          <a:sy n="30" d="100"/>
        </p:scale>
        <p:origin x="145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5" d="100"/>
        <a:sy n="145" d="100"/>
      </p:scale>
      <p:origin x="0" y="-8728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37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FD504B-4A58-D4E0-ABAA-AA7AE6CF01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961B9-58EB-D980-4D93-4CBFE7A1D4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0BF68-44AF-3D4F-9720-F4A1C72C54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24ECD-CCB4-B35C-BECD-E45D2C7412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AE7BB-C6D6-384A-AA34-F41A99D9E0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80136-B131-154B-9B72-0E64B30BB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19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A3F8CAD9-84C7-B67E-EBC2-EF44F37F6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A1D965ED-3437-11E7-F567-854E99C68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C05D16E-071F-3677-5C8B-050748613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33545-DD7A-0741-9D4E-06439A4F49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0" baseline="0" dirty="0">
                <a:solidFill>
                  <a:srgbClr val="FF0000"/>
                </a:solidFill>
              </a:rPr>
              <a:t>⏱ </a:t>
            </a:r>
            <a:r>
              <a:rPr lang="pt-PT" sz="1400" b="1" baseline="0" dirty="0">
                <a:solidFill>
                  <a:srgbClr val="FF0000"/>
                </a:solidFill>
              </a:rPr>
              <a:t>ACUMULADO </a:t>
            </a:r>
            <a:r>
              <a:rPr lang="pt-PT" sz="1400" b="1" dirty="0">
                <a:solidFill>
                  <a:srgbClr val="C00000"/>
                </a:solidFill>
              </a:rPr>
              <a:t>→</a:t>
            </a:r>
            <a:r>
              <a:rPr lang="pt-PT" sz="1400" b="1" baseline="0" dirty="0">
                <a:solidFill>
                  <a:srgbClr val="FF0000"/>
                </a:solidFill>
              </a:rPr>
              <a:t> 0:35</a:t>
            </a:r>
          </a:p>
          <a:p>
            <a:pPr>
              <a:buNone/>
            </a:pPr>
            <a:endParaRPr lang="pt-PT" sz="1100" b="1" i="1" dirty="0">
              <a:solidFill>
                <a:srgbClr val="C00000"/>
              </a:solidFill>
            </a:endParaRPr>
          </a:p>
          <a:p>
            <a:r>
              <a:rPr lang="en-GB" sz="1200" b="1" i="0" kern="1200" dirty="0">
                <a:effectLst/>
              </a:rPr>
              <a:t>Slide 1 — </a:t>
            </a:r>
            <a:r>
              <a:rPr lang="en-GB" sz="1200" b="1" i="0" kern="1200" dirty="0" err="1">
                <a:effectLst/>
              </a:rPr>
              <a:t>Título</a:t>
            </a:r>
            <a:r>
              <a:rPr lang="en-GB" sz="1200" b="1" i="0" kern="1200" dirty="0">
                <a:effectLst/>
              </a:rPr>
              <a:t> (~35 s)</a:t>
            </a:r>
          </a:p>
          <a:p>
            <a:endParaRPr lang="en-GB" sz="1200" b="1" i="0" kern="1200" dirty="0">
              <a:effectLst/>
            </a:endParaRP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Bom </a:t>
            </a:r>
            <a:r>
              <a:rPr lang="en-GB" sz="1200" b="0" i="0" kern="1200" dirty="0" err="1">
                <a:effectLst/>
              </a:rPr>
              <a:t>dia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obrigado</a:t>
            </a:r>
            <a:r>
              <a:rPr lang="en-GB" sz="1200" b="0" i="0" kern="1200" dirty="0">
                <a:effectLst/>
              </a:rPr>
              <a:t> pela </a:t>
            </a:r>
            <a:r>
              <a:rPr lang="en-GB" sz="1200" b="0" i="0" kern="1200" dirty="0" err="1">
                <a:effectLst/>
              </a:rPr>
              <a:t>vossa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presença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minha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dissertação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parte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pergunta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aparentemente</a:t>
            </a:r>
            <a:r>
              <a:rPr lang="en-GB" sz="1200" b="0" i="0" kern="1200" dirty="0">
                <a:effectLst/>
              </a:rPr>
              <a:t> simples </a:t>
            </a:r>
            <a:r>
              <a:rPr lang="en-GB" sz="1200" b="0" i="0" kern="1200" dirty="0" err="1">
                <a:effectLst/>
              </a:rPr>
              <a:t>sobre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de vinho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Portugal: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consegue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clima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explicar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sobre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anual</a:t>
            </a:r>
            <a:r>
              <a:rPr lang="en-GB" sz="1200" b="0" i="0" kern="1200" dirty="0">
                <a:effectLst/>
              </a:rPr>
              <a:t> e, </a:t>
            </a:r>
            <a:r>
              <a:rPr lang="en-GB" sz="1200" b="0" i="0" kern="1200" dirty="0" err="1">
                <a:effectLst/>
              </a:rPr>
              <a:t>sobretudo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consegue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prever</a:t>
            </a:r>
            <a:r>
              <a:rPr lang="en-GB" sz="1200" b="0" i="0" kern="1200" dirty="0">
                <a:effectLst/>
              </a:rPr>
              <a:t> de forma </a:t>
            </a:r>
            <a:r>
              <a:rPr lang="en-GB" sz="1200" b="0" i="0" kern="1200" dirty="0" err="1">
                <a:effectLst/>
              </a:rPr>
              <a:t>fiável</a:t>
            </a:r>
            <a:r>
              <a:rPr lang="en-GB" sz="1200" b="0" i="0" kern="1200" dirty="0">
                <a:effectLst/>
              </a:rPr>
              <a:t>?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duas </a:t>
            </a:r>
            <a:r>
              <a:rPr lang="en-GB" sz="1200" b="0" i="0" kern="1200" dirty="0" err="1">
                <a:effectLst/>
              </a:rPr>
              <a:t>questões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equivalentes</a:t>
            </a:r>
            <a:r>
              <a:rPr lang="en-GB" sz="1200" b="0" i="0" kern="1200" dirty="0">
                <a:effectLst/>
              </a:rPr>
              <a:t>, e a </a:t>
            </a:r>
            <a:r>
              <a:rPr lang="en-GB" sz="1200" b="0" i="0" kern="1200" dirty="0" err="1">
                <a:effectLst/>
              </a:rPr>
              <a:t>diferença</a:t>
            </a:r>
            <a:r>
              <a:rPr lang="en-GB" sz="1200" b="0" i="0" kern="1200" dirty="0">
                <a:effectLst/>
              </a:rPr>
              <a:t> entre </a:t>
            </a:r>
            <a:r>
              <a:rPr lang="en-GB" sz="1200" b="0" i="0" kern="1200" dirty="0" err="1">
                <a:effectLst/>
              </a:rPr>
              <a:t>explicar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prever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constitui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fio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condutor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apresentação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deste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trabalho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Porque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trabalho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relevante</a:t>
            </a:r>
            <a:r>
              <a:rPr lang="en-GB" sz="1200" b="0" i="0" kern="1200" dirty="0">
                <a:effectLst/>
              </a:rPr>
              <a:t>?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Porque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de vinho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atividades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agrícolas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sensíveis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</a:t>
            </a:r>
            <a:r>
              <a:rPr lang="en-GB" sz="1200" b="0" i="0" kern="1200" dirty="0">
                <a:effectLst/>
              </a:rPr>
              <a:t> Europa. </a:t>
            </a:r>
          </a:p>
          <a:p>
            <a:r>
              <a:rPr lang="en-GB" sz="1200" b="0" i="0" kern="1200" dirty="0" err="1">
                <a:effectLst/>
              </a:rPr>
              <a:t>Além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disso</a:t>
            </a:r>
            <a:r>
              <a:rPr lang="en-GB" sz="1200" b="0" i="0" kern="1200" dirty="0">
                <a:effectLst/>
              </a:rPr>
              <a:t>, quem </a:t>
            </a:r>
            <a:r>
              <a:rPr lang="en-GB" sz="1200" b="0" i="0" kern="1200" dirty="0" err="1">
                <a:effectLst/>
              </a:rPr>
              <a:t>toma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decisões</a:t>
            </a:r>
            <a:r>
              <a:rPr lang="en-GB" sz="1200" b="0" i="0" kern="1200" dirty="0">
                <a:effectLst/>
              </a:rPr>
              <a:t> com base </a:t>
            </a:r>
            <a:r>
              <a:rPr lang="en-GB" sz="1200" b="0" i="0" kern="1200" dirty="0" err="1">
                <a:effectLst/>
              </a:rPr>
              <a:t>numa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— </a:t>
            </a:r>
            <a:r>
              <a:rPr lang="en-GB" sz="1200" b="0" i="0" kern="1200" dirty="0" err="1">
                <a:effectLst/>
              </a:rPr>
              <a:t>cooperativas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entidades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reguladoras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responsáveis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pelo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planeamento</a:t>
            </a:r>
            <a:r>
              <a:rPr lang="en-GB" sz="1200" b="0" i="0" kern="1200" dirty="0">
                <a:effectLst/>
              </a:rPr>
              <a:t> —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depender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black box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 err="1">
                <a:effectLst/>
              </a:rPr>
              <a:t>Precisa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compreender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questioná</a:t>
            </a:r>
            <a:r>
              <a:rPr lang="en-GB" sz="1200" b="0" i="0" kern="1200" dirty="0">
                <a:effectLst/>
              </a:rPr>
              <a:t>-lo e </a:t>
            </a:r>
            <a:r>
              <a:rPr lang="en-GB" sz="1200" b="0" i="0" kern="1200" dirty="0" err="1">
                <a:effectLst/>
              </a:rPr>
              <a:t>perceber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detrás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. O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significa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Interpretabilidade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explanabilty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realmente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pontos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criticos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fundamentais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mundo</a:t>
            </a:r>
            <a:r>
              <a:rPr lang="en-GB" sz="1200" b="0" i="0" kern="1200" dirty="0">
                <a:effectLst/>
              </a:rPr>
              <a:t> on AI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geral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comeca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tomar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conta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algumas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nossas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decisões</a:t>
            </a:r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Nos </a:t>
            </a:r>
            <a:r>
              <a:rPr lang="en-GB" sz="1200" b="0" i="0" kern="1200" dirty="0" err="1">
                <a:effectLst/>
              </a:rPr>
              <a:t>próximos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vinte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minutos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vou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abordar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três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pontos</a:t>
            </a:r>
            <a:r>
              <a:rPr lang="en-GB" sz="1200" b="0" i="0" kern="1200" dirty="0">
                <a:effectLst/>
              </a:rPr>
              <a:t>: </a:t>
            </a:r>
          </a:p>
          <a:p>
            <a:r>
              <a:rPr lang="en-GB" sz="1200" b="0" i="0" kern="1200" dirty="0">
                <a:effectLst/>
              </a:rPr>
              <a:t>- </a:t>
            </a:r>
            <a:r>
              <a:rPr lang="en-GB" sz="1200" b="0" i="0" kern="1200" dirty="0" err="1">
                <a:effectLst/>
              </a:rPr>
              <a:t>primeiro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porque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problema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particularmente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difícil</a:t>
            </a:r>
            <a:r>
              <a:rPr lang="en-GB" sz="1200" b="0" i="0" kern="1200" dirty="0">
                <a:effectLst/>
              </a:rPr>
              <a:t>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effectLst/>
              </a:rPr>
              <a:t>- </a:t>
            </a:r>
            <a:r>
              <a:rPr lang="en-GB" sz="1200" b="0" i="0" kern="1200" dirty="0" err="1">
                <a:effectLst/>
              </a:rPr>
              <a:t>segundo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construí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avaliação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baseada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torno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algoritmo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1" i="0" kern="1200" dirty="0">
                <a:effectLst/>
              </a:rPr>
              <a:t>CAREN - </a:t>
            </a:r>
            <a:r>
              <a:rPr lang="en-GB" sz="1200" b="1" i="0" kern="1200" dirty="0" err="1">
                <a:effectLst/>
              </a:rPr>
              <a:t>Classificastion</a:t>
            </a:r>
            <a:r>
              <a:rPr lang="en-GB" sz="1200" b="1" i="0" kern="1200" dirty="0">
                <a:effectLst/>
              </a:rPr>
              <a:t> project Association Rule Engine</a:t>
            </a:r>
          </a:p>
          <a:p>
            <a:r>
              <a:rPr lang="en-GB" sz="1200" b="0" i="0" kern="1200" dirty="0">
                <a:effectLst/>
              </a:rPr>
              <a:t>- ; e,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fim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resultados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mostram</a:t>
            </a:r>
            <a:endParaRPr lang="en-GB" sz="1200" b="0" i="0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1:20</a:t>
            </a:r>
          </a:p>
          <a:p>
            <a:pPr>
              <a:buNone/>
            </a:pPr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Slide 2 — </a:t>
            </a:r>
            <a:r>
              <a:rPr lang="en-GB" sz="1200" b="1" i="0" kern="1200" dirty="0" err="1">
                <a:effectLst/>
              </a:rPr>
              <a:t>Contexto</a:t>
            </a:r>
            <a:r>
              <a:rPr lang="en-GB" sz="1200" b="1" i="0" kern="1200" dirty="0">
                <a:effectLst/>
              </a:rPr>
              <a:t>: </a:t>
            </a:r>
            <a:r>
              <a:rPr lang="en-GB" sz="1200" b="1" i="0" kern="1200" dirty="0" err="1">
                <a:effectLst/>
              </a:rPr>
              <a:t>uma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questão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decisão</a:t>
            </a:r>
            <a:r>
              <a:rPr lang="en-GB" sz="1200" b="1" i="0" kern="1200" dirty="0">
                <a:effectLst/>
              </a:rPr>
              <a:t> (~45 s)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Começo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explicar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problema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relevante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regional de vinho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variável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</a:t>
            </a:r>
            <a:r>
              <a:rPr lang="en-GB" sz="1200" b="0" i="0" kern="1200" dirty="0">
                <a:effectLst/>
              </a:rPr>
              <a:t> para a </a:t>
            </a:r>
            <a:r>
              <a:rPr lang="en-GB" sz="1200" b="0" i="0" kern="1200" dirty="0" err="1">
                <a:effectLst/>
              </a:rPr>
              <a:t>tomada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decisão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>
                <a:effectLst/>
              </a:rPr>
              <a:t>As </a:t>
            </a:r>
            <a:r>
              <a:rPr lang="en-GB" sz="1200" b="0" i="0" kern="1200" dirty="0" err="1">
                <a:effectLst/>
              </a:rPr>
              <a:t>cooperativas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planeiam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logística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vindima</a:t>
            </a:r>
            <a:r>
              <a:rPr lang="en-GB" sz="1200" b="0" i="0" kern="1200" dirty="0">
                <a:effectLst/>
              </a:rPr>
              <a:t> com base </a:t>
            </a:r>
            <a:r>
              <a:rPr lang="en-GB" sz="1200" b="0" i="0" kern="1200" dirty="0" err="1">
                <a:effectLst/>
              </a:rPr>
              <a:t>nela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reguladores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definem</a:t>
            </a:r>
            <a:r>
              <a:rPr lang="en-GB" sz="1200" b="0" i="0" kern="1200" dirty="0">
                <a:effectLst/>
              </a:rPr>
              <a:t> quotas, as </a:t>
            </a:r>
            <a:r>
              <a:rPr lang="en-GB" sz="1200" b="0" i="0" kern="1200" dirty="0" err="1">
                <a:effectLst/>
              </a:rPr>
              <a:t>cadeias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abastecimento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dimensionam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capacidade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armazenamento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mercados </a:t>
            </a:r>
            <a:r>
              <a:rPr lang="en-GB" sz="1200" b="0" i="0" kern="1200" dirty="0" err="1">
                <a:effectLst/>
              </a:rPr>
              <a:t>formam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expectativas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relativamente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preços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</a:t>
            </a:r>
          </a:p>
          <a:p>
            <a:r>
              <a:rPr lang="en-GB" sz="1200" b="0" i="0" kern="1200" dirty="0">
                <a:effectLst/>
              </a:rPr>
              <a:t>No </a:t>
            </a:r>
            <a:r>
              <a:rPr lang="en-GB" sz="1200" b="0" i="0" kern="1200" dirty="0" err="1">
                <a:effectLst/>
              </a:rPr>
              <a:t>entanto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único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valor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anual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resulta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combinação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muitos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fatores</a:t>
            </a:r>
            <a:r>
              <a:rPr lang="en-GB" sz="1200" b="0" i="0" kern="1200" dirty="0">
                <a:effectLst/>
              </a:rPr>
              <a:t>: </a:t>
            </a:r>
          </a:p>
          <a:p>
            <a:r>
              <a:rPr lang="en-GB" sz="1200" b="0" i="0" kern="1200" dirty="0">
                <a:effectLst/>
              </a:rPr>
              <a:t>- o </a:t>
            </a:r>
            <a:r>
              <a:rPr lang="en-GB" sz="1200" b="0" i="0" kern="1200" dirty="0" err="1">
                <a:effectLst/>
              </a:rPr>
              <a:t>clima</a:t>
            </a:r>
            <a:r>
              <a:rPr lang="en-GB" sz="1200" b="0" i="0" kern="1200" dirty="0">
                <a:effectLst/>
              </a:rPr>
              <a:t>, </a:t>
            </a:r>
          </a:p>
          <a:p>
            <a:r>
              <a:rPr lang="en-GB" sz="1200" b="0" i="0" kern="1200" dirty="0">
                <a:effectLst/>
              </a:rPr>
              <a:t>- a </a:t>
            </a:r>
            <a:r>
              <a:rPr lang="en-GB" sz="1200" b="0" i="0" kern="1200" dirty="0" err="1">
                <a:effectLst/>
              </a:rPr>
              <a:t>gestão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vinhas</a:t>
            </a:r>
            <a:r>
              <a:rPr lang="en-GB" sz="1200" b="0" i="0" kern="1200" dirty="0">
                <a:effectLst/>
              </a:rPr>
              <a:t>, </a:t>
            </a:r>
          </a:p>
          <a:p>
            <a:r>
              <a:rPr lang="en-GB" sz="1200" b="0" i="0" kern="1200" dirty="0">
                <a:effectLst/>
              </a:rPr>
              <a:t>- a </a:t>
            </a:r>
            <a:r>
              <a:rPr lang="en-GB" sz="1200" b="0" i="0" kern="1200" dirty="0" err="1">
                <a:effectLst/>
              </a:rPr>
              <a:t>área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plantada</a:t>
            </a:r>
            <a:r>
              <a:rPr lang="en-GB" sz="1200" b="0" i="0" kern="1200" dirty="0">
                <a:effectLst/>
              </a:rPr>
              <a:t>,  </a:t>
            </a:r>
          </a:p>
          <a:p>
            <a:r>
              <a:rPr lang="en-GB" sz="1200" b="0" i="0" kern="1200" dirty="0">
                <a:effectLst/>
              </a:rPr>
              <a:t>- a </a:t>
            </a:r>
            <a:r>
              <a:rPr lang="en-GB" sz="1200" b="0" i="0" kern="1200" dirty="0" err="1">
                <a:effectLst/>
              </a:rPr>
              <a:t>regulação</a:t>
            </a:r>
            <a:r>
              <a:rPr lang="en-GB" sz="1200" b="0" i="0" kern="1200" dirty="0">
                <a:effectLst/>
              </a:rPr>
              <a:t> </a:t>
            </a:r>
          </a:p>
          <a:p>
            <a:r>
              <a:rPr lang="en-GB" sz="1200" b="0" i="0" kern="1200" dirty="0">
                <a:effectLst/>
              </a:rPr>
              <a:t>- e as </a:t>
            </a:r>
            <a:r>
              <a:rPr lang="en-GB" sz="1200" b="0" i="0" kern="1200" dirty="0" err="1">
                <a:effectLst/>
              </a:rPr>
              <a:t>alterações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ocorrem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gradualmente</a:t>
            </a:r>
            <a:r>
              <a:rPr lang="en-GB" sz="1200" b="0" i="0" kern="1200" dirty="0">
                <a:effectLst/>
              </a:rPr>
              <a:t> no </a:t>
            </a:r>
            <a:r>
              <a:rPr lang="en-GB" sz="1200" b="0" i="0" kern="1200" dirty="0" err="1">
                <a:effectLst/>
              </a:rPr>
              <a:t>setor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 </a:t>
            </a:r>
            <a:r>
              <a:rPr lang="en-GB" sz="1200" b="0" i="0" kern="1200" dirty="0" err="1">
                <a:effectLst/>
              </a:rPr>
              <a:t>aqui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está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ponto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essencial</a:t>
            </a:r>
            <a:r>
              <a:rPr lang="en-GB" sz="1200" b="0" i="0" kern="1200" dirty="0">
                <a:effectLst/>
              </a:rPr>
              <a:t>: </a:t>
            </a:r>
          </a:p>
          <a:p>
            <a:r>
              <a:rPr lang="en-GB" sz="1200" b="0" i="0" kern="1200" dirty="0">
                <a:effectLst/>
              </a:rPr>
              <a:t>- para </a:t>
            </a:r>
            <a:r>
              <a:rPr lang="en-GB" sz="1200" b="0" i="0" kern="1200" dirty="0" err="1">
                <a:effectLst/>
              </a:rPr>
              <a:t>apoiar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decisões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basta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modelo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produza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número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Quando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falha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ou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quando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está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atravessar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transformação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estrutural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perceber</a:t>
            </a:r>
            <a:r>
              <a:rPr lang="en-GB" sz="1200" b="0" i="0" kern="1200" dirty="0">
                <a:effectLst/>
              </a:rPr>
              <a:t> se o </a:t>
            </a:r>
            <a:r>
              <a:rPr lang="en-GB" sz="1200" b="0" i="0" kern="1200" dirty="0" err="1">
                <a:effectLst/>
              </a:rPr>
              <a:t>modelo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identificou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efetivamente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ou</a:t>
            </a:r>
            <a:r>
              <a:rPr lang="en-GB" sz="1200" b="0" i="0" kern="1200" dirty="0">
                <a:effectLst/>
              </a:rPr>
              <a:t> se se </a:t>
            </a:r>
            <a:r>
              <a:rPr lang="en-GB" sz="1200" b="0" i="0" kern="1200" dirty="0" err="1">
                <a:effectLst/>
              </a:rPr>
              <a:t>limitou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acompanhar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histórica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distinção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muito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difícil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fazer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modelos</a:t>
            </a:r>
            <a:r>
              <a:rPr lang="en-GB" sz="1200" b="0" i="0" kern="1200" dirty="0">
                <a:effectLst/>
              </a:rPr>
              <a:t> de ML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 </a:t>
            </a:r>
            <a:r>
              <a:rPr lang="en-GB" sz="1200" b="0" i="1" kern="1200" dirty="0">
                <a:effectLst/>
              </a:rPr>
              <a:t>black box</a:t>
            </a:r>
            <a:r>
              <a:rPr lang="en-GB" sz="1200" b="0" i="0" kern="1200" dirty="0">
                <a:effectLst/>
              </a:rPr>
              <a:t>.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precisamente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espaço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minha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tese</a:t>
            </a:r>
            <a:r>
              <a:rPr lang="en-GB" sz="1200" b="0" i="0" kern="1200" dirty="0">
                <a:effectLst/>
              </a:rPr>
              <a:t> se </a:t>
            </a:r>
            <a:r>
              <a:rPr lang="en-GB" sz="1200" b="0" i="0" kern="1200" dirty="0" err="1">
                <a:effectLst/>
              </a:rPr>
              <a:t>posiciona</a:t>
            </a:r>
            <a:r>
              <a:rPr lang="en-GB" sz="1200" b="0" i="0" kern="1200" dirty="0">
                <a:effectLst/>
              </a:rPr>
              <a:t>.</a:t>
            </a:r>
          </a:p>
          <a:p>
            <a:br>
              <a:rPr lang="en-GB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2:20 </a:t>
            </a:r>
          </a:p>
          <a:p>
            <a:pPr>
              <a:buNone/>
            </a:pPr>
            <a:endParaRPr lang="pt-PT" sz="1400" b="1" i="0" kern="1200" dirty="0">
              <a:solidFill>
                <a:srgbClr val="C00000"/>
              </a:solidFill>
              <a:effectLst/>
            </a:endParaRPr>
          </a:p>
          <a:p>
            <a:pPr>
              <a:buNone/>
            </a:pPr>
            <a:r>
              <a:rPr lang="en-GB" sz="1200" b="1" i="0" kern="1200" dirty="0">
                <a:effectLst/>
              </a:rPr>
              <a:t>Slide 3 — </a:t>
            </a:r>
            <a:r>
              <a:rPr lang="en-GB" sz="1200" b="1" i="0" kern="1200" dirty="0" err="1">
                <a:effectLst/>
              </a:rPr>
              <a:t>Problema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investigação</a:t>
            </a:r>
            <a:r>
              <a:rPr lang="en-GB" sz="1200" b="1" i="0" kern="1200" dirty="0">
                <a:effectLst/>
              </a:rPr>
              <a:t>: </a:t>
            </a:r>
            <a:r>
              <a:rPr lang="en-GB" sz="1200" b="1" i="0" kern="1200" dirty="0" err="1">
                <a:effectLst/>
              </a:rPr>
              <a:t>previsão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auditável</a:t>
            </a:r>
            <a:r>
              <a:rPr lang="en-GB" sz="1200" b="1" i="0" kern="1200" dirty="0">
                <a:effectLst/>
              </a:rPr>
              <a:t> (~1 min)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problema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fazer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fazer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forma </a:t>
            </a:r>
            <a:r>
              <a:rPr lang="en-GB" sz="1200" b="0" i="0" kern="1200" dirty="0" err="1">
                <a:effectLst/>
              </a:rPr>
              <a:t>auditável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interpretavel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Por um </a:t>
            </a:r>
            <a:r>
              <a:rPr lang="en-GB" sz="1200" b="0" i="0" kern="1200" dirty="0" err="1">
                <a:effectLst/>
              </a:rPr>
              <a:t>lado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modelos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modernos</a:t>
            </a:r>
            <a:r>
              <a:rPr lang="en-GB" sz="1200" b="0" i="0" kern="1200" dirty="0">
                <a:effectLst/>
              </a:rPr>
              <a:t> de Machine Learning </a:t>
            </a:r>
            <a:r>
              <a:rPr lang="en-GB" sz="1200" b="0" i="0" kern="1200" dirty="0" err="1">
                <a:effectLst/>
              </a:rPr>
              <a:t>conseguem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prever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produtividade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vitivinícola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resultados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razoáveis</a:t>
            </a:r>
            <a:r>
              <a:rPr lang="en-GB" sz="1200" b="0" i="0" kern="1200" dirty="0">
                <a:effectLst/>
              </a:rPr>
              <a:t>, mas nem sempre </a:t>
            </a:r>
            <a:r>
              <a:rPr lang="en-GB" sz="1200" b="0" i="0" kern="1200" dirty="0" err="1">
                <a:effectLst/>
              </a:rPr>
              <a:t>produzem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informação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agrónomo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consiga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interpretar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diretamente</a:t>
            </a:r>
            <a:r>
              <a:rPr lang="en-GB" sz="1200" b="0" i="0" kern="1200" dirty="0">
                <a:effectLst/>
              </a:rPr>
              <a:t>.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b="1" dirty="0" err="1"/>
              <a:t>Mesmo</a:t>
            </a:r>
            <a:r>
              <a:rPr lang="en-GB" b="1" dirty="0"/>
              <a:t> </a:t>
            </a:r>
            <a:r>
              <a:rPr lang="en-GB" b="1" dirty="0" err="1"/>
              <a:t>usando</a:t>
            </a:r>
            <a:r>
              <a:rPr lang="en-GB" b="1" dirty="0"/>
              <a:t> SHAP, </a:t>
            </a:r>
            <a:r>
              <a:rPr lang="en-GB" b="1" dirty="0" err="1"/>
              <a:t>continuamos</a:t>
            </a:r>
            <a:r>
              <a:rPr lang="en-GB" b="1" dirty="0"/>
              <a:t> </a:t>
            </a:r>
            <a:r>
              <a:rPr lang="en-GB" b="1" dirty="0" err="1"/>
              <a:t>sem</a:t>
            </a:r>
            <a:r>
              <a:rPr lang="en-GB" b="1" dirty="0"/>
              <a:t> ter </a:t>
            </a:r>
            <a:r>
              <a:rPr lang="en-GB" b="1" dirty="0" err="1"/>
              <a:t>uma</a:t>
            </a:r>
            <a:r>
              <a:rPr lang="en-GB" b="1" dirty="0"/>
              <a:t> </a:t>
            </a:r>
            <a:r>
              <a:rPr lang="en-GB" b="1" dirty="0" err="1"/>
              <a:t>regra</a:t>
            </a:r>
            <a:r>
              <a:rPr lang="en-GB" b="1" dirty="0"/>
              <a:t> </a:t>
            </a:r>
            <a:r>
              <a:rPr lang="en-GB" b="1" dirty="0" err="1"/>
              <a:t>explícita</a:t>
            </a:r>
            <a:r>
              <a:rPr lang="en-GB" b="1" dirty="0"/>
              <a:t>. O SHAP </a:t>
            </a:r>
            <a:r>
              <a:rPr lang="en-GB" b="1" dirty="0" err="1"/>
              <a:t>ajuda</a:t>
            </a:r>
            <a:r>
              <a:rPr lang="en-GB" b="1" dirty="0"/>
              <a:t> a </a:t>
            </a:r>
            <a:r>
              <a:rPr lang="en-GB" b="1" dirty="0" err="1"/>
              <a:t>perceber</a:t>
            </a:r>
            <a:r>
              <a:rPr lang="en-GB" b="1" dirty="0"/>
              <a:t> </a:t>
            </a:r>
            <a:r>
              <a:rPr lang="en-GB" b="1" dirty="0" err="1"/>
              <a:t>que</a:t>
            </a:r>
            <a:r>
              <a:rPr lang="en-GB" b="1" dirty="0"/>
              <a:t> </a:t>
            </a:r>
            <a:r>
              <a:rPr lang="en-GB" b="1" dirty="0" err="1"/>
              <a:t>variáveis</a:t>
            </a:r>
            <a:r>
              <a:rPr lang="en-GB" b="1" dirty="0"/>
              <a:t> </a:t>
            </a:r>
            <a:r>
              <a:rPr lang="en-GB" b="1" dirty="0" err="1"/>
              <a:t>influenciaram</a:t>
            </a:r>
            <a:r>
              <a:rPr lang="en-GB" b="1" dirty="0"/>
              <a:t> </a:t>
            </a:r>
            <a:r>
              <a:rPr lang="en-GB" b="1" dirty="0" err="1"/>
              <a:t>uma</a:t>
            </a:r>
            <a:r>
              <a:rPr lang="en-GB" b="1" dirty="0"/>
              <a:t> </a:t>
            </a:r>
            <a:r>
              <a:rPr lang="en-GB" b="1" dirty="0" err="1"/>
              <a:t>previsão</a:t>
            </a:r>
            <a:r>
              <a:rPr lang="en-GB" b="1" dirty="0"/>
              <a:t>, mas </a:t>
            </a:r>
            <a:r>
              <a:rPr lang="en-GB" b="1" dirty="0" err="1"/>
              <a:t>não</a:t>
            </a:r>
            <a:r>
              <a:rPr lang="en-GB" b="1" dirty="0"/>
              <a:t> </a:t>
            </a:r>
            <a:r>
              <a:rPr lang="en-GB" b="1" dirty="0" err="1"/>
              <a:t>dá</a:t>
            </a:r>
            <a:r>
              <a:rPr lang="en-GB" b="1" dirty="0"/>
              <a:t> </a:t>
            </a:r>
            <a:r>
              <a:rPr lang="en-GB" b="1" dirty="0" err="1"/>
              <a:t>uma</a:t>
            </a:r>
            <a:r>
              <a:rPr lang="en-GB" b="1" dirty="0"/>
              <a:t> </a:t>
            </a:r>
            <a:r>
              <a:rPr lang="en-GB" b="1" dirty="0" err="1"/>
              <a:t>regra</a:t>
            </a:r>
            <a:r>
              <a:rPr lang="en-GB" b="1" dirty="0"/>
              <a:t> “se-</a:t>
            </a:r>
            <a:r>
              <a:rPr lang="en-GB" b="1" dirty="0" err="1"/>
              <a:t>então</a:t>
            </a:r>
            <a:r>
              <a:rPr lang="en-GB" b="1" dirty="0"/>
              <a:t>” </a:t>
            </a:r>
            <a:r>
              <a:rPr lang="en-GB" b="1" dirty="0" err="1"/>
              <a:t>que</a:t>
            </a:r>
            <a:r>
              <a:rPr lang="en-GB" b="1" dirty="0"/>
              <a:t> um </a:t>
            </a:r>
            <a:r>
              <a:rPr lang="en-GB" b="1" dirty="0" err="1"/>
              <a:t>agrónomo</a:t>
            </a:r>
            <a:r>
              <a:rPr lang="en-GB" b="1" dirty="0"/>
              <a:t> </a:t>
            </a:r>
            <a:r>
              <a:rPr lang="en-GB" b="1" dirty="0" err="1"/>
              <a:t>possa</a:t>
            </a:r>
            <a:r>
              <a:rPr lang="en-GB" b="1" dirty="0"/>
              <a:t> </a:t>
            </a:r>
            <a:r>
              <a:rPr lang="en-GB" b="1" dirty="0" err="1"/>
              <a:t>discutir</a:t>
            </a:r>
            <a:r>
              <a:rPr lang="en-GB" b="1" dirty="0"/>
              <a:t>, </a:t>
            </a:r>
            <a:r>
              <a:rPr lang="en-GB" b="1" dirty="0" err="1"/>
              <a:t>validar</a:t>
            </a:r>
            <a:r>
              <a:rPr lang="en-GB" b="1" dirty="0"/>
              <a:t> </a:t>
            </a:r>
            <a:r>
              <a:rPr lang="en-GB" b="1" dirty="0" err="1"/>
              <a:t>ou</a:t>
            </a:r>
            <a:r>
              <a:rPr lang="en-GB" b="1" dirty="0"/>
              <a:t> </a:t>
            </a:r>
            <a:r>
              <a:rPr lang="en-GB" b="1" dirty="0" err="1"/>
              <a:t>contestar</a:t>
            </a:r>
            <a:r>
              <a:rPr lang="en-GB" b="1" dirty="0"/>
              <a:t> </a:t>
            </a:r>
            <a:r>
              <a:rPr lang="en-GB" b="1" dirty="0" err="1"/>
              <a:t>diretamente</a:t>
            </a:r>
            <a:r>
              <a:rPr lang="en-GB" b="1" dirty="0"/>
              <a:t>.</a:t>
            </a:r>
            <a:endParaRPr lang="en-GB" dirty="0"/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Por outro </a:t>
            </a:r>
            <a:r>
              <a:rPr lang="en-GB" sz="1200" b="0" i="0" kern="1200" dirty="0" err="1">
                <a:effectLst/>
              </a:rPr>
              <a:t>lado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métodos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estatísticos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clássicos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interpretáveis</a:t>
            </a:r>
            <a:r>
              <a:rPr lang="en-GB" sz="1200" b="0" i="0" kern="1200" dirty="0">
                <a:effectLst/>
              </a:rPr>
              <a:t>, mas </a:t>
            </a:r>
            <a:r>
              <a:rPr lang="en-GB" sz="1200" b="0" i="0" kern="1200" dirty="0" err="1">
                <a:effectLst/>
              </a:rPr>
              <a:t>podem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captar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locais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lineares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realmente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influenciam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O Caren </a:t>
            </a:r>
            <a:r>
              <a:rPr lang="en-GB" sz="1200" b="0" i="0" kern="1200" dirty="0" err="1">
                <a:effectLst/>
              </a:rPr>
              <a:t>procura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ocupar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deliberadamente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espaço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intermédio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algoritmo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identifica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subgrupos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definidos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através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explícitas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nos</a:t>
            </a:r>
            <a:r>
              <a:rPr lang="en-GB" sz="1200" b="0" i="0" kern="1200" dirty="0">
                <a:effectLst/>
              </a:rPr>
              <a:t> quais a </a:t>
            </a:r>
            <a:r>
              <a:rPr lang="en-GB" sz="1200" b="0" i="0" kern="1200" dirty="0" err="1">
                <a:effectLst/>
              </a:rPr>
              <a:t>distribuição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</a:t>
            </a:r>
            <a:r>
              <a:rPr lang="en-GB" sz="1200" b="0" i="0" kern="1200" dirty="0">
                <a:effectLst/>
              </a:rPr>
              <a:t> de forma </a:t>
            </a:r>
            <a:r>
              <a:rPr lang="en-GB" sz="1200" b="0" i="0" kern="1200" dirty="0" err="1">
                <a:effectLst/>
              </a:rPr>
              <a:t>significativa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distribuição</a:t>
            </a:r>
            <a:r>
              <a:rPr lang="en-GB" sz="1200" b="0" i="0" kern="1200" dirty="0">
                <a:effectLst/>
              </a:rPr>
              <a:t> global. </a:t>
            </a:r>
          </a:p>
          <a:p>
            <a:r>
              <a:rPr lang="en-GB" sz="1200" b="0" i="0" kern="1200" dirty="0">
                <a:effectLst/>
              </a:rPr>
              <a:t>Cada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inclui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respetivas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seu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support</a:t>
            </a:r>
            <a:r>
              <a:rPr lang="en-GB" sz="1200" b="0" i="0" kern="1200" dirty="0">
                <a:effectLst/>
              </a:rPr>
              <a:t> e um </a:t>
            </a:r>
            <a:r>
              <a:rPr lang="en-GB" sz="1200" b="0" i="1" kern="1200" dirty="0">
                <a:effectLst/>
              </a:rPr>
              <a:t>p-value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estatístico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Observem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exemplo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apresentado</a:t>
            </a:r>
            <a:r>
              <a:rPr lang="en-GB" sz="1200" b="0" i="0" kern="1200" dirty="0">
                <a:effectLst/>
              </a:rPr>
              <a:t> no slide: </a:t>
            </a:r>
            <a:r>
              <a:rPr lang="en-GB" sz="1200" b="0" i="0" kern="1200" dirty="0" err="1">
                <a:effectLst/>
              </a:rPr>
              <a:t>quando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no solo </a:t>
            </a:r>
            <a:r>
              <a:rPr lang="en-GB" sz="1200" b="0" i="0" kern="1200" dirty="0" err="1">
                <a:effectLst/>
              </a:rPr>
              <a:t>durante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vindima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moderada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existem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poucos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húmidos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depois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maturação</a:t>
            </a:r>
            <a:r>
              <a:rPr lang="en-GB" sz="1200" b="0" i="0" kern="1200" dirty="0">
                <a:effectLst/>
              </a:rPr>
              <a:t>, 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aproximadamente</a:t>
            </a:r>
            <a:r>
              <a:rPr lang="en-GB" sz="1200" b="0" i="0" kern="1200" dirty="0">
                <a:effectLst/>
              </a:rPr>
              <a:t> 192 mil </a:t>
            </a:r>
            <a:r>
              <a:rPr lang="en-GB" sz="1200" b="0" i="0" kern="1200" dirty="0" err="1">
                <a:effectLst/>
              </a:rPr>
              <a:t>hectolitros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acima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cobre</a:t>
            </a:r>
            <a:r>
              <a:rPr lang="en-GB" sz="1200" b="0" i="0" kern="1200" dirty="0">
                <a:effectLst/>
              </a:rPr>
              <a:t> 21% dos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apresenta</a:t>
            </a:r>
            <a:r>
              <a:rPr lang="en-GB" sz="1200" b="0" i="0" kern="1200" dirty="0">
                <a:effectLst/>
              </a:rPr>
              <a:t> um </a:t>
            </a:r>
            <a:r>
              <a:rPr lang="en-GB" sz="1200" b="0" i="1" kern="1200" dirty="0">
                <a:effectLst/>
              </a:rPr>
              <a:t>p-value</a:t>
            </a:r>
            <a:r>
              <a:rPr lang="en-GB" sz="1200" b="0" i="0" kern="1200" dirty="0">
                <a:effectLst/>
              </a:rPr>
              <a:t> inferior a 0,01.</a:t>
            </a:r>
          </a:p>
          <a:p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tipo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tese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procura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produzir</a:t>
            </a:r>
            <a:r>
              <a:rPr lang="en-GB" sz="1200" b="0" i="0" kern="1200" dirty="0">
                <a:effectLst/>
              </a:rPr>
              <a:t>.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conclusão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genérica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“a </a:t>
            </a:r>
            <a:r>
              <a:rPr lang="en-GB" sz="1200" b="0" i="0" kern="1200" dirty="0" err="1">
                <a:effectLst/>
              </a:rPr>
              <a:t>humidade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</a:t>
            </a:r>
            <a:r>
              <a:rPr lang="en-GB" sz="1200" b="0" i="0" kern="1200" dirty="0">
                <a:effectLst/>
              </a:rPr>
              <a:t>”, mas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combinação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concreta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testável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janelas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fenológicas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respetivos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limiares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Tanto </a:t>
            </a:r>
            <a:r>
              <a:rPr lang="en-GB" sz="1200" b="0" i="0" kern="1200" dirty="0" err="1">
                <a:effectLst/>
              </a:rPr>
              <a:t>quanto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foi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possível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identificar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literatura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nenhum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trabalho</a:t>
            </a:r>
            <a:r>
              <a:rPr lang="en-GB" sz="1200" b="0" i="0" kern="1200" dirty="0">
                <a:effectLst/>
              </a:rPr>
              <a:t> anterior </a:t>
            </a:r>
            <a:r>
              <a:rPr lang="en-GB" sz="1200" b="0" i="0" kern="1200" dirty="0" err="1">
                <a:effectLst/>
              </a:rPr>
              <a:t>reúne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simultaneamente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cinco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características</a:t>
            </a:r>
            <a:r>
              <a:rPr lang="en-GB" sz="1200" b="0" i="0" kern="1200" dirty="0">
                <a:effectLst/>
              </a:rPr>
              <a:t>: </a:t>
            </a:r>
            <a:r>
              <a:rPr lang="en-GB" sz="1200" b="0" i="0" kern="1200" dirty="0" err="1">
                <a:effectLst/>
              </a:rPr>
              <a:t>interpretabilidade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análise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longo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prazo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capacidade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preditiva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target </a:t>
            </a:r>
            <a:r>
              <a:rPr lang="en-GB" sz="1200" b="0" i="0" kern="1200" dirty="0" err="1">
                <a:effectLst/>
              </a:rPr>
              <a:t>contínua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aplicação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contexto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vitivinícola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3:05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Slide 4 — </a:t>
            </a:r>
            <a:r>
              <a:rPr lang="en-GB" sz="1200" b="1" i="0" kern="1200" dirty="0" err="1">
                <a:effectLst/>
              </a:rPr>
              <a:t>Porque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difícil</a:t>
            </a:r>
            <a:r>
              <a:rPr lang="en-GB" sz="1200" b="1" i="0" kern="1200" dirty="0">
                <a:effectLst/>
              </a:rPr>
              <a:t>: um </a:t>
            </a:r>
            <a:r>
              <a:rPr lang="en-GB" sz="1200" b="1" i="0" kern="1200" dirty="0" err="1">
                <a:effectLst/>
              </a:rPr>
              <a:t>sinal</a:t>
            </a:r>
            <a:r>
              <a:rPr lang="en-GB" sz="1200" b="1" i="0" kern="1200" dirty="0">
                <a:effectLst/>
              </a:rPr>
              <a:t> real, mas </a:t>
            </a:r>
            <a:r>
              <a:rPr lang="en-GB" sz="1200" b="1" i="0" kern="1200" dirty="0" err="1">
                <a:effectLst/>
              </a:rPr>
              <a:t>diluído</a:t>
            </a:r>
            <a:r>
              <a:rPr lang="en-GB" sz="1200" b="1" i="0" kern="1200" dirty="0">
                <a:effectLst/>
              </a:rPr>
              <a:t> (~45 s)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Porque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problema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difícil</a:t>
            </a:r>
            <a:r>
              <a:rPr lang="en-GB" sz="1200" b="0" i="0" kern="1200" dirty="0">
                <a:effectLst/>
              </a:rPr>
              <a:t>?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Precisamente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porque</a:t>
            </a:r>
            <a:r>
              <a:rPr lang="en-GB" sz="1200" b="0" i="0" kern="1200" dirty="0">
                <a:effectLst/>
              </a:rPr>
              <a:t>:</a:t>
            </a:r>
          </a:p>
          <a:p>
            <a:r>
              <a:rPr lang="en-GB" sz="1200" b="0" i="0" kern="1200" dirty="0">
                <a:effectLst/>
              </a:rPr>
              <a:t>- A target variable </a:t>
            </a:r>
            <a:r>
              <a:rPr lang="en-GB" sz="1200" b="0" i="0" kern="1200" dirty="0" err="1">
                <a:effectLst/>
              </a:rPr>
              <a:t>agrega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quatro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dimensões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muito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diferentes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num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único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valor</a:t>
            </a:r>
            <a:r>
              <a:rPr lang="en-GB" sz="1200" b="0" i="0" kern="1200" dirty="0">
                <a:effectLst/>
              </a:rPr>
              <a:t> regional </a:t>
            </a:r>
            <a:r>
              <a:rPr lang="en-GB" sz="1200" b="0" i="0" kern="1200" dirty="0" err="1">
                <a:effectLst/>
              </a:rPr>
              <a:t>anual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:PRIMEIRO,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 A </a:t>
            </a:r>
            <a:r>
              <a:rPr lang="en-GB" sz="1200" b="0" i="0" kern="1200" dirty="0" err="1">
                <a:effectLst/>
              </a:rPr>
              <a:t>biologia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videira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estende</a:t>
            </a:r>
            <a:r>
              <a:rPr lang="en-GB" sz="1200" b="0" i="0" kern="1200" dirty="0">
                <a:effectLst/>
              </a:rPr>
              <a:t>-se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vários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potencial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produtivo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próximo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parcialmente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determinado</a:t>
            </a:r>
            <a:r>
              <a:rPr lang="en-GB" sz="1200" b="0" i="0" kern="1200" dirty="0">
                <a:effectLst/>
              </a:rPr>
              <a:t> no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anterior, </a:t>
            </a:r>
            <a:r>
              <a:rPr lang="en-GB" sz="1200" b="0" i="0" kern="1200" dirty="0" err="1">
                <a:effectLst/>
              </a:rPr>
              <a:t>através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formação</a:t>
            </a:r>
            <a:r>
              <a:rPr lang="en-GB" sz="1200" b="0" i="0" kern="1200" dirty="0">
                <a:effectLst/>
              </a:rPr>
              <a:t> dos </a:t>
            </a:r>
            <a:r>
              <a:rPr lang="en-GB" sz="1200" b="0" i="0" kern="1200" dirty="0" err="1">
                <a:effectLst/>
              </a:rPr>
              <a:t>gomos</a:t>
            </a:r>
            <a:r>
              <a:rPr lang="en-GB" sz="1200" b="0" i="0" kern="1200" dirty="0">
                <a:effectLst/>
              </a:rPr>
              <a:t> e da </a:t>
            </a:r>
            <a:r>
              <a:rPr lang="en-GB" sz="1200" b="0" i="0" kern="1200" dirty="0" err="1">
                <a:effectLst/>
              </a:rPr>
              <a:t>acumulação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reservas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:SEGUNDO,  </a:t>
            </a:r>
          </a:p>
          <a:p>
            <a:r>
              <a:rPr lang="en-GB" sz="1200" b="0" i="0" kern="1200" dirty="0">
                <a:effectLst/>
              </a:rPr>
              <a:t>- </a:t>
            </a:r>
            <a:r>
              <a:rPr lang="en-GB" sz="1200" b="0" i="0" kern="1200" dirty="0" err="1">
                <a:effectLst/>
              </a:rPr>
              <a:t>Aagregação</a:t>
            </a:r>
            <a:r>
              <a:rPr lang="en-GB" sz="1200" b="0" i="0" kern="1200" dirty="0">
                <a:effectLst/>
              </a:rPr>
              <a:t> regional </a:t>
            </a:r>
            <a:r>
              <a:rPr lang="en-GB" sz="1200" b="0" i="0" kern="1200" dirty="0" err="1">
                <a:effectLst/>
              </a:rPr>
              <a:t>esconde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enorme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variabilidade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 err="1">
                <a:effectLst/>
              </a:rPr>
              <a:t>Milhares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vinhas</a:t>
            </a:r>
            <a:r>
              <a:rPr lang="en-GB" sz="1200" b="0" i="0" kern="1200" dirty="0">
                <a:effectLst/>
              </a:rPr>
              <a:t>, com solos, altitudes, </a:t>
            </a:r>
            <a:r>
              <a:rPr lang="en-GB" sz="1200" b="0" i="0" kern="1200" dirty="0" err="1">
                <a:effectLst/>
              </a:rPr>
              <a:t>sistemas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condução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microclimas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distintos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reduzidas</a:t>
            </a:r>
            <a:r>
              <a:rPr lang="en-GB" sz="1200" b="0" i="0" kern="1200" dirty="0">
                <a:effectLst/>
              </a:rPr>
              <a:t> a um </a:t>
            </a:r>
            <a:r>
              <a:rPr lang="en-GB" sz="1200" b="0" i="0" kern="1200" dirty="0" err="1">
                <a:effectLst/>
              </a:rPr>
              <a:t>único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valor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:TERCEIRO, </a:t>
            </a:r>
          </a:p>
          <a:p>
            <a:r>
              <a:rPr lang="en-GB" sz="1200" b="0" i="0" kern="1200" dirty="0">
                <a:effectLst/>
              </a:rPr>
              <a:t>- A </a:t>
            </a:r>
            <a:r>
              <a:rPr lang="en-GB" sz="1200" b="0" i="0" kern="1200" dirty="0" err="1">
                <a:effectLst/>
              </a:rPr>
              <a:t>estrutura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setor</a:t>
            </a:r>
            <a:r>
              <a:rPr lang="en-GB" sz="1200" b="0" i="0" kern="1200" dirty="0">
                <a:effectLst/>
              </a:rPr>
              <a:t> altera-se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longo</a:t>
            </a:r>
            <a:r>
              <a:rPr lang="en-GB" sz="1200" b="0" i="0" kern="1200" dirty="0">
                <a:effectLst/>
              </a:rPr>
              <a:t> do tempo. </a:t>
            </a: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regulação</a:t>
            </a:r>
            <a:r>
              <a:rPr lang="en-GB" sz="1200" b="0" i="0" kern="1200" dirty="0">
                <a:effectLst/>
              </a:rPr>
              <a:t>, a </a:t>
            </a:r>
            <a:r>
              <a:rPr lang="en-GB" sz="1200" b="0" i="0" kern="1200" dirty="0" err="1">
                <a:effectLst/>
              </a:rPr>
              <a:t>área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plantada</a:t>
            </a:r>
            <a:r>
              <a:rPr lang="en-GB" sz="1200" b="0" i="0" kern="1200" dirty="0">
                <a:effectLst/>
              </a:rPr>
              <a:t>, as </a:t>
            </a:r>
            <a:r>
              <a:rPr lang="en-GB" sz="1200" b="0" i="0" kern="1200" dirty="0" err="1">
                <a:effectLst/>
              </a:rPr>
              <a:t>políticas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agrícolas</a:t>
            </a:r>
            <a:r>
              <a:rPr lang="en-GB" sz="1200" b="0" i="0" kern="1200" dirty="0">
                <a:effectLst/>
              </a:rPr>
              <a:t> e as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de mercado </a:t>
            </a:r>
            <a:r>
              <a:rPr lang="en-GB" sz="1200" b="0" i="0" kern="1200" dirty="0" err="1">
                <a:effectLst/>
              </a:rPr>
              <a:t>podem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deslocar</a:t>
            </a:r>
            <a:r>
              <a:rPr lang="en-GB" sz="1200" b="0" i="0" kern="1200" dirty="0">
                <a:effectLst/>
              </a:rPr>
              <a:t> a </a:t>
            </a:r>
            <a:r>
              <a:rPr lang="en-GB" sz="1200" b="0" i="1" kern="1200" dirty="0">
                <a:effectLst/>
              </a:rPr>
              <a:t>baseline</a:t>
            </a:r>
            <a:r>
              <a:rPr lang="en-GB" sz="1200" b="0" i="0" kern="1200" dirty="0">
                <a:effectLst/>
              </a:rPr>
              <a:t> da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independentemente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meteorológicas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:QUARTO</a:t>
            </a:r>
          </a:p>
          <a:p>
            <a:r>
              <a:rPr lang="en-GB" sz="1200" b="0" i="0" kern="1200" dirty="0">
                <a:effectLst/>
              </a:rPr>
              <a:t>- A </a:t>
            </a:r>
            <a:r>
              <a:rPr lang="en-GB" sz="1200" b="0" i="0" kern="1200" dirty="0" err="1">
                <a:effectLst/>
              </a:rPr>
              <a:t>amostra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pequena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 err="1">
                <a:effectLst/>
              </a:rPr>
              <a:t>Temos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entre 80 e 89 </a:t>
            </a:r>
            <a:r>
              <a:rPr lang="en-GB" sz="1200" b="0" i="0" kern="1200" dirty="0" err="1">
                <a:effectLst/>
              </a:rPr>
              <a:t>observações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anuais</a:t>
            </a:r>
            <a:r>
              <a:rPr lang="en-GB" sz="1200" b="0" i="0" kern="1200" dirty="0">
                <a:effectLst/>
              </a:rPr>
              <a:t> para </a:t>
            </a:r>
            <a:r>
              <a:rPr lang="en-GB" sz="1200" b="0" i="0" kern="1200" dirty="0" err="1">
                <a:effectLst/>
              </a:rPr>
              <a:t>trabalhar</a:t>
            </a:r>
            <a:r>
              <a:rPr lang="en-GB" sz="1200" b="0" i="0" kern="1200" dirty="0">
                <a:effectLst/>
              </a:rPr>
              <a:t> com 59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construídas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Em conjunto, </a:t>
            </a:r>
            <a:r>
              <a:rPr lang="en-GB" sz="1200" b="0" i="0" kern="1200" dirty="0" err="1">
                <a:effectLst/>
              </a:rPr>
              <a:t>estes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fatores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criam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problema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muito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exigente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termos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relação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sinal-ruído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Daí</a:t>
            </a:r>
            <a:r>
              <a:rPr lang="en-GB" sz="1200" b="0" i="0" kern="1200" dirty="0">
                <a:effectLst/>
              </a:rPr>
              <a:t> a cautela central </a:t>
            </a:r>
            <a:r>
              <a:rPr lang="en-GB" sz="1200" b="0" i="0" kern="1200" dirty="0" err="1">
                <a:effectLst/>
              </a:rPr>
              <a:t>desta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tese</a:t>
            </a:r>
            <a:r>
              <a:rPr lang="en-GB" sz="1200" b="0" i="0" kern="1200" dirty="0">
                <a:effectLst/>
              </a:rPr>
              <a:t>, à qual </a:t>
            </a:r>
            <a:r>
              <a:rPr lang="en-GB" sz="1200" b="0" i="0" kern="1200" dirty="0" err="1">
                <a:effectLst/>
              </a:rPr>
              <a:t>voltarei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à </a:t>
            </a:r>
            <a:r>
              <a:rPr lang="en-GB" sz="1200" b="0" i="0" kern="1200" dirty="0" err="1">
                <a:effectLst/>
              </a:rPr>
              <a:t>frente</a:t>
            </a:r>
            <a:r>
              <a:rPr lang="en-GB" sz="1200" b="0" i="0" kern="1200" dirty="0">
                <a:effectLst/>
              </a:rPr>
              <a:t>: </a:t>
            </a:r>
          </a:p>
          <a:p>
            <a:r>
              <a:rPr lang="en-GB" sz="1200" b="0" i="0" kern="1200" dirty="0">
                <a:effectLst/>
              </a:rPr>
              <a:t>- um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fraco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significa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necessariamente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exista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climático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>
                <a:effectLst/>
              </a:rPr>
              <a:t>Pode </a:t>
            </a:r>
            <a:r>
              <a:rPr lang="en-GB" sz="1200" b="0" i="0" kern="1200" dirty="0" err="1">
                <a:effectLst/>
              </a:rPr>
              <a:t>significar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esse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existe</a:t>
            </a:r>
            <a:r>
              <a:rPr lang="en-GB" sz="1200" b="0" i="0" kern="1200" dirty="0">
                <a:effectLst/>
              </a:rPr>
              <a:t>, mas </a:t>
            </a:r>
            <a:r>
              <a:rPr lang="en-GB" sz="1200" b="0" i="0" kern="1200" dirty="0" err="1">
                <a:effectLst/>
              </a:rPr>
              <a:t>está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diluído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confundido</a:t>
            </a:r>
            <a:r>
              <a:rPr lang="en-GB" sz="1200" b="0" i="0" kern="1200" dirty="0">
                <a:effectLst/>
              </a:rPr>
              <a:t> com a </a:t>
            </a:r>
            <a:r>
              <a:rPr lang="en-GB" sz="1200" b="0" i="0" kern="1200" dirty="0" err="1">
                <a:effectLst/>
              </a:rPr>
              <a:t>própria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evolução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estrutural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série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3:45   </a:t>
            </a:r>
          </a:p>
          <a:p>
            <a:pPr>
              <a:buNone/>
            </a:pPr>
            <a:endParaRPr lang="pt-PT" sz="1400" b="1" i="0" kern="1200" dirty="0">
              <a:solidFill>
                <a:srgbClr val="C00000"/>
              </a:solidFill>
              <a:effectLst/>
            </a:endParaRPr>
          </a:p>
          <a:p>
            <a:pPr>
              <a:buNone/>
            </a:pPr>
            <a:r>
              <a:rPr lang="en-GB" sz="1200" b="1" i="0" kern="1200" dirty="0">
                <a:effectLst/>
              </a:rPr>
              <a:t>Slide 5 — </a:t>
            </a:r>
            <a:r>
              <a:rPr lang="en-GB" sz="1200" b="1" i="0" kern="1200" dirty="0" err="1">
                <a:effectLst/>
              </a:rPr>
              <a:t>Experiência</a:t>
            </a:r>
            <a:r>
              <a:rPr lang="en-GB" sz="1200" b="1" i="0" kern="1200" dirty="0">
                <a:effectLst/>
              </a:rPr>
              <a:t> natural: duas </a:t>
            </a:r>
            <a:r>
              <a:rPr lang="en-GB" sz="1200" b="1" i="0" kern="1200" dirty="0" err="1">
                <a:effectLst/>
              </a:rPr>
              <a:t>histórias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diferentes</a:t>
            </a:r>
            <a:r>
              <a:rPr lang="en-GB" sz="1200" b="1" i="0" kern="1200" dirty="0">
                <a:effectLst/>
              </a:rPr>
              <a:t> (~40 s)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ideia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desenho</a:t>
            </a:r>
            <a:r>
              <a:rPr lang="en-GB" sz="1200" b="0" i="0" kern="1200" dirty="0">
                <a:effectLst/>
              </a:rPr>
              <a:t> experimental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sustenta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toda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tese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Em </a:t>
            </a:r>
            <a:r>
              <a:rPr lang="en-GB" sz="1200" b="0" i="0" kern="1200" dirty="0" err="1">
                <a:effectLst/>
              </a:rPr>
              <a:t>vez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estudar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analisamos</a:t>
            </a:r>
            <a:r>
              <a:rPr lang="en-GB" sz="1200" b="0" i="0" kern="1200" dirty="0">
                <a:effectLst/>
              </a:rPr>
              <a:t> duas </a:t>
            </a:r>
            <a:r>
              <a:rPr lang="en-GB" sz="1200" b="0" i="0" kern="1200" dirty="0" err="1">
                <a:effectLst/>
              </a:rPr>
              <a:t>regiões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às</a:t>
            </a:r>
            <a:r>
              <a:rPr lang="en-GB" sz="1200" b="0" i="0" kern="1200" dirty="0">
                <a:effectLst/>
              </a:rPr>
              <a:t> quais </a:t>
            </a:r>
            <a:r>
              <a:rPr lang="en-GB" sz="1200" b="0" i="0" kern="1200" dirty="0" err="1">
                <a:effectLst/>
              </a:rPr>
              <a:t>aplicamos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exatamente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mesmo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pipeline</a:t>
            </a:r>
            <a:r>
              <a:rPr lang="en-GB" sz="1200" b="0" i="0" kern="1200" dirty="0">
                <a:effectLst/>
              </a:rPr>
              <a:t>, mas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apresentam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histórias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muito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diferentes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No Douro, </a:t>
            </a:r>
            <a:r>
              <a:rPr lang="en-GB" sz="1200" b="0" i="0" kern="1200" dirty="0" err="1">
                <a:effectLst/>
              </a:rPr>
              <a:t>observamos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crescimento</a:t>
            </a:r>
            <a:r>
              <a:rPr lang="en-GB" sz="1200" b="0" i="0" kern="1200" dirty="0">
                <a:effectLst/>
              </a:rPr>
              <a:t> gradual de </a:t>
            </a:r>
            <a:r>
              <a:rPr lang="en-GB" sz="1200" b="0" i="0" kern="1200" dirty="0" err="1">
                <a:effectLst/>
              </a:rPr>
              <a:t>aproximadamente</a:t>
            </a:r>
            <a:r>
              <a:rPr lang="en-GB" sz="1200" b="0" i="0" kern="1200" dirty="0">
                <a:effectLst/>
              </a:rPr>
              <a:t> 80%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longo</a:t>
            </a:r>
            <a:r>
              <a:rPr lang="en-GB" sz="1200" b="0" i="0" kern="1200" dirty="0">
                <a:effectLst/>
              </a:rPr>
              <a:t> de 89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acompanhado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variabilidade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interanual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relativamente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baixa</a:t>
            </a:r>
            <a:r>
              <a:rPr lang="en-GB" sz="1200" b="0" i="0" kern="1200" dirty="0">
                <a:effectLst/>
              </a:rPr>
              <a:t>, com um </a:t>
            </a:r>
            <a:r>
              <a:rPr lang="en-GB" sz="1200" b="0" i="0" kern="1200" dirty="0" err="1">
                <a:effectLst/>
              </a:rPr>
              <a:t>coeficiente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variação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próximo</a:t>
            </a:r>
            <a:r>
              <a:rPr lang="en-GB" sz="1200" b="0" i="0" kern="1200" dirty="0">
                <a:effectLst/>
              </a:rPr>
              <a:t> dos 27%.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Na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 dos Vinhos Verdes, </a:t>
            </a:r>
            <a:r>
              <a:rPr lang="en-GB" sz="1200" b="0" i="0" kern="1200" dirty="0" err="1">
                <a:effectLst/>
              </a:rPr>
              <a:t>observamos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declínio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acentuado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longo</a:t>
            </a:r>
            <a:r>
              <a:rPr lang="en-GB" sz="1200" b="0" i="0" kern="1200" dirty="0">
                <a:effectLst/>
              </a:rPr>
              <a:t> de 80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variabilidade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muito</a:t>
            </a:r>
            <a:r>
              <a:rPr lang="en-GB" sz="1200" b="0" i="0" kern="1200" dirty="0">
                <a:effectLst/>
              </a:rPr>
              <a:t> superior, com um </a:t>
            </a:r>
            <a:r>
              <a:rPr lang="en-GB" sz="1200" b="0" i="0" kern="1200" dirty="0" err="1">
                <a:effectLst/>
              </a:rPr>
              <a:t>coeficiente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variação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próximo</a:t>
            </a:r>
            <a:r>
              <a:rPr lang="en-GB" sz="1200" b="0" i="0" kern="1200" dirty="0">
                <a:effectLst/>
              </a:rPr>
              <a:t> dos 47%.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Portanto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temos</a:t>
            </a:r>
            <a:r>
              <a:rPr lang="en-GB" sz="1200" b="0" i="0" kern="1200" dirty="0">
                <a:effectLst/>
              </a:rPr>
              <a:t>:</a:t>
            </a:r>
          </a:p>
          <a:p>
            <a:r>
              <a:rPr lang="en-GB" sz="1200" b="0" i="0" kern="1200" dirty="0">
                <a:effectLst/>
              </a:rPr>
              <a:t>- o </a:t>
            </a:r>
            <a:r>
              <a:rPr lang="en-GB" sz="1200" b="0" i="0" kern="1200" dirty="0" err="1">
                <a:effectLst/>
              </a:rPr>
              <a:t>mesmo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algoritmo</a:t>
            </a:r>
            <a:r>
              <a:rPr lang="en-GB" sz="1200" b="0" i="0" kern="1200" dirty="0">
                <a:effectLst/>
              </a:rPr>
              <a:t>, </a:t>
            </a:r>
          </a:p>
          <a:p>
            <a:r>
              <a:rPr lang="en-GB" sz="1200" b="0" i="0" kern="1200" dirty="0">
                <a:effectLst/>
              </a:rPr>
              <a:t>- as </a:t>
            </a:r>
            <a:r>
              <a:rPr lang="en-GB" sz="1200" b="0" i="0" kern="1200" dirty="0" err="1">
                <a:effectLst/>
              </a:rPr>
              <a:t>mesmas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</a:t>
            </a:r>
          </a:p>
          <a:p>
            <a:r>
              <a:rPr lang="en-GB" sz="1200" b="0" i="0" kern="1200" dirty="0">
                <a:effectLst/>
              </a:rPr>
              <a:t>- e a </a:t>
            </a:r>
            <a:r>
              <a:rPr lang="en-GB" sz="1200" b="0" i="0" kern="1200" dirty="0" err="1">
                <a:effectLst/>
              </a:rPr>
              <a:t>mesma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estratégia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validação</a:t>
            </a:r>
            <a:r>
              <a:rPr lang="en-GB" sz="1200" b="0" i="0" kern="1200" dirty="0">
                <a:effectLst/>
              </a:rPr>
              <a:t>, mas duas formas </a:t>
            </a:r>
            <a:r>
              <a:rPr lang="en-GB" sz="1200" b="0" i="0" kern="1200" dirty="0" err="1">
                <a:effectLst/>
              </a:rPr>
              <a:t>opostas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não-estacionaridade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isto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transforma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dois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estudos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caso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experiência</a:t>
            </a:r>
            <a:r>
              <a:rPr lang="en-GB" sz="1200" b="0" i="0" kern="1200" dirty="0">
                <a:effectLst/>
              </a:rPr>
              <a:t> natural </a:t>
            </a:r>
            <a:r>
              <a:rPr lang="en-GB" sz="1200" b="0" i="0" kern="1200" dirty="0" err="1">
                <a:effectLst/>
              </a:rPr>
              <a:t>comparativa</a:t>
            </a:r>
            <a:r>
              <a:rPr lang="en-GB" sz="1200" b="0" i="0" kern="1200" dirty="0">
                <a:effectLst/>
              </a:rPr>
              <a:t>.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Quando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resultados</a:t>
            </a:r>
            <a:r>
              <a:rPr lang="en-GB" sz="1200" b="0" i="0" kern="1200" dirty="0">
                <a:effectLst/>
              </a:rPr>
              <a:t> das duas </a:t>
            </a:r>
            <a:r>
              <a:rPr lang="en-GB" sz="1200" b="0" i="0" kern="1200" dirty="0" err="1">
                <a:effectLst/>
              </a:rPr>
              <a:t>regiões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divergem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essa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diferença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ser </a:t>
            </a:r>
            <a:r>
              <a:rPr lang="en-GB" sz="1200" b="0" i="0" kern="1200" dirty="0" err="1">
                <a:effectLst/>
              </a:rPr>
              <a:t>interpretada</a:t>
            </a:r>
            <a:r>
              <a:rPr lang="en-GB" sz="1200" b="0" i="0" kern="1200" dirty="0">
                <a:effectLst/>
              </a:rPr>
              <a:t> à luz das </a:t>
            </a:r>
            <a:r>
              <a:rPr lang="en-GB" sz="1200" b="0" i="0" kern="1200" dirty="0" err="1">
                <a:effectLst/>
              </a:rPr>
              <a:t>suas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trajetórias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estruturais</a:t>
            </a:r>
            <a:r>
              <a:rPr lang="en-GB" sz="1200" b="0" i="0" kern="1200" dirty="0">
                <a:effectLst/>
              </a:rPr>
              <a:t>, e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consequência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escolhas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arbitrárias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modelação</a:t>
            </a:r>
            <a:r>
              <a:rPr lang="en-GB" sz="1200" b="0" i="0" kern="1200" dirty="0">
                <a:effectLst/>
              </a:rPr>
              <a:t>.</a:t>
            </a:r>
          </a:p>
          <a:p>
            <a:br>
              <a:rPr lang="en-GB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 4:35  </a:t>
            </a:r>
          </a:p>
          <a:p>
            <a:pPr>
              <a:buNone/>
            </a:pPr>
            <a:endParaRPr lang="pt-PT" sz="1400" b="1" dirty="0">
              <a:solidFill>
                <a:srgbClr val="C00000"/>
              </a:solidFill>
            </a:endParaRPr>
          </a:p>
          <a:p>
            <a:r>
              <a:rPr lang="en-GB" sz="1200" b="1" i="0" kern="1200" dirty="0">
                <a:effectLst/>
              </a:rPr>
              <a:t>Slide 6 — Ciclo da </a:t>
            </a:r>
            <a:r>
              <a:rPr lang="en-GB" sz="1200" b="1" i="0" kern="1200" dirty="0" err="1">
                <a:effectLst/>
              </a:rPr>
              <a:t>videira</a:t>
            </a:r>
            <a:r>
              <a:rPr lang="en-GB" sz="1200" b="1" i="0" kern="1200" dirty="0">
                <a:effectLst/>
              </a:rPr>
              <a:t>: </a:t>
            </a:r>
            <a:r>
              <a:rPr lang="en-GB" sz="1200" b="1" i="0" kern="1200" dirty="0" err="1">
                <a:effectLst/>
              </a:rPr>
              <a:t>memória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dois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anos</a:t>
            </a:r>
            <a:r>
              <a:rPr lang="en-GB" sz="1200" b="1" i="0" kern="1200" dirty="0">
                <a:effectLst/>
              </a:rPr>
              <a:t> (~50 s)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Antes de </a:t>
            </a:r>
            <a:r>
              <a:rPr lang="en-GB" sz="1200" b="0" i="0" kern="1200" dirty="0" err="1">
                <a:effectLst/>
              </a:rPr>
              <a:t>apresentar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método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compreender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aspeto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biológico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influencia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todo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desenho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estudo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! A </a:t>
            </a:r>
            <a:r>
              <a:rPr lang="en-GB" sz="1200" b="0" i="0" kern="1200" dirty="0" err="1">
                <a:effectLst/>
              </a:rPr>
              <a:t>resposta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videira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sazonal</a:t>
            </a:r>
            <a:r>
              <a:rPr lang="en-GB" sz="1200" b="0" i="0" kern="1200" dirty="0">
                <a:effectLst/>
              </a:rPr>
              <a:t>, mas </a:t>
            </a:r>
            <a:r>
              <a:rPr lang="en-GB" sz="1200" b="0" i="0" kern="1200" dirty="0" err="1">
                <a:effectLst/>
              </a:rPr>
              <a:t>também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desfasada</a:t>
            </a:r>
            <a:r>
              <a:rPr lang="en-GB" sz="1200" b="0" i="0" kern="1200" dirty="0">
                <a:effectLst/>
              </a:rPr>
              <a:t> no tempo.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colheita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atual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concretiza</a:t>
            </a:r>
            <a:r>
              <a:rPr lang="en-GB" sz="1200" b="0" i="0" kern="1200" dirty="0">
                <a:effectLst/>
              </a:rPr>
              <a:t>-se no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um, </a:t>
            </a:r>
            <a:r>
              <a:rPr lang="en-GB" sz="1200" b="0" i="0" kern="1200" dirty="0" err="1">
                <a:effectLst/>
              </a:rPr>
              <a:t>através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fases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floração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vingamento</a:t>
            </a:r>
            <a:r>
              <a:rPr lang="en-GB" sz="1200" b="0" i="0" kern="1200" dirty="0">
                <a:effectLst/>
              </a:rPr>
              <a:t>, o </a:t>
            </a:r>
            <a:r>
              <a:rPr lang="en-GB" dirty="0" err="1"/>
              <a:t>pintor</a:t>
            </a:r>
            <a:r>
              <a:rPr lang="en-GB" dirty="0"/>
              <a:t>, </a:t>
            </a:r>
            <a:r>
              <a:rPr lang="en-GB" dirty="0" err="1"/>
              <a:t>ou</a:t>
            </a:r>
            <a:r>
              <a:rPr lang="en-GB" dirty="0"/>
              <a:t> "</a:t>
            </a:r>
            <a:r>
              <a:rPr lang="en-GB" dirty="0" err="1"/>
              <a:t>veraison</a:t>
            </a:r>
            <a:r>
              <a:rPr lang="en-GB" dirty="0"/>
              <a:t>" </a:t>
            </a:r>
            <a:r>
              <a:rPr lang="en-GB" sz="1200" b="0" i="0" kern="1200" dirty="0">
                <a:effectLst/>
              </a:rPr>
              <a:t> e a </a:t>
            </a:r>
            <a:r>
              <a:rPr lang="en-GB" sz="1200" b="0" i="0" kern="1200" dirty="0" err="1">
                <a:effectLst/>
              </a:rPr>
              <a:t>vindima</a:t>
            </a:r>
            <a:r>
              <a:rPr lang="en-GB" sz="1200" b="0" i="0" kern="1200" dirty="0">
                <a:effectLst/>
              </a:rPr>
              <a:t>. No </a:t>
            </a:r>
            <a:r>
              <a:rPr lang="en-GB" sz="1200" b="0" i="0" kern="1200" dirty="0" err="1">
                <a:effectLst/>
              </a:rPr>
              <a:t>entanto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seu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potencial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máximo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foi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parcialmente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determinado</a:t>
            </a:r>
            <a:r>
              <a:rPr lang="en-GB" sz="1200" b="0" i="0" kern="1200" dirty="0">
                <a:effectLst/>
              </a:rPr>
              <a:t> no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anterior, o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zero.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Foi </a:t>
            </a:r>
            <a:r>
              <a:rPr lang="en-GB" sz="1200" b="0" i="0" kern="1200" dirty="0" err="1">
                <a:effectLst/>
              </a:rPr>
              <a:t>nesse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anterior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fatores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temperatura</a:t>
            </a:r>
            <a:r>
              <a:rPr lang="en-GB" sz="1200" b="0" i="0" kern="1200" dirty="0">
                <a:effectLst/>
              </a:rPr>
              <a:t> e a </a:t>
            </a:r>
            <a:r>
              <a:rPr lang="en-GB" sz="1200" b="0" i="0" kern="1200" dirty="0" err="1">
                <a:effectLst/>
              </a:rPr>
              <a:t>radiação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influenciaram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número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potencial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cachos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enquanto</a:t>
            </a:r>
            <a:r>
              <a:rPr lang="en-GB" sz="1200" b="0" i="0" kern="1200" dirty="0">
                <a:effectLst/>
              </a:rPr>
              <a:t> o stress </a:t>
            </a:r>
            <a:r>
              <a:rPr lang="en-GB" sz="1200" b="0" i="0" kern="1200" dirty="0" err="1">
                <a:effectLst/>
              </a:rPr>
              <a:t>hídrico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térmico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condicionou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acumulação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reservas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hidratos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carbono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dirty="0"/>
              <a:t>Este </a:t>
            </a:r>
            <a:r>
              <a:rPr lang="en-GB" dirty="0" err="1"/>
              <a:t>efeito</a:t>
            </a:r>
            <a:r>
              <a:rPr lang="en-GB" dirty="0"/>
              <a:t> de carry-over,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efeito</a:t>
            </a:r>
            <a:r>
              <a:rPr lang="en-GB" dirty="0"/>
              <a:t> </a:t>
            </a:r>
            <a:r>
              <a:rPr lang="en-GB" dirty="0" err="1"/>
              <a:t>diferido</a:t>
            </a:r>
            <a:r>
              <a:rPr lang="en-GB" dirty="0"/>
              <a:t>, </a:t>
            </a:r>
            <a:r>
              <a:rPr lang="en-GB" dirty="0" err="1"/>
              <a:t>explica</a:t>
            </a:r>
            <a:r>
              <a:rPr lang="en-GB" dirty="0"/>
              <a:t> </a:t>
            </a:r>
            <a:r>
              <a:rPr lang="en-GB" dirty="0" err="1"/>
              <a:t>porque</a:t>
            </a:r>
            <a:r>
              <a:rPr lang="en-GB" dirty="0"/>
              <a:t> </a:t>
            </a:r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utilizei</a:t>
            </a:r>
            <a:r>
              <a:rPr lang="en-GB" dirty="0"/>
              <a:t> </a:t>
            </a:r>
            <a:r>
              <a:rPr lang="en-GB" dirty="0" err="1"/>
              <a:t>simplesmente</a:t>
            </a:r>
            <a:r>
              <a:rPr lang="en-GB" dirty="0"/>
              <a:t> </a:t>
            </a:r>
            <a:r>
              <a:rPr lang="en-GB" dirty="0" err="1"/>
              <a:t>médias</a:t>
            </a:r>
            <a:r>
              <a:rPr lang="en-GB" dirty="0"/>
              <a:t> </a:t>
            </a:r>
            <a:r>
              <a:rPr lang="en-GB" dirty="0" err="1"/>
              <a:t>meteorológicas</a:t>
            </a:r>
            <a:r>
              <a:rPr lang="en-GB" dirty="0"/>
              <a:t> </a:t>
            </a:r>
            <a:r>
              <a:rPr lang="en-GB" dirty="0" err="1"/>
              <a:t>anuais</a:t>
            </a:r>
            <a:r>
              <a:rPr lang="en-GB" dirty="0"/>
              <a:t>.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Cada </a:t>
            </a:r>
            <a:r>
              <a:rPr lang="en-GB" sz="1200" b="0" i="1" kern="1200" dirty="0">
                <a:effectLst/>
              </a:rPr>
              <a:t>feature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foi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associada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fase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fenológica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específica</a:t>
            </a:r>
            <a:r>
              <a:rPr lang="en-GB" sz="1200" b="0" i="0" kern="1200" dirty="0">
                <a:effectLst/>
              </a:rPr>
              <a:t>, tanto no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corrente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no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anterior.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opção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tem</a:t>
            </a:r>
            <a:r>
              <a:rPr lang="en-GB" sz="1200" b="0" i="0" kern="1200" dirty="0">
                <a:effectLst/>
              </a:rPr>
              <a:t> duas </a:t>
            </a:r>
            <a:r>
              <a:rPr lang="en-GB" sz="1200" b="0" i="0" kern="1200" dirty="0" err="1">
                <a:effectLst/>
              </a:rPr>
              <a:t>vantagens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>
                <a:effectLst/>
              </a:rPr>
              <a:t>- Em </a:t>
            </a:r>
            <a:r>
              <a:rPr lang="en-GB" sz="1200" b="0" i="0" kern="1200" dirty="0" err="1">
                <a:effectLst/>
              </a:rPr>
              <a:t>primeiro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lugar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respeita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biologia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videira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>
                <a:effectLst/>
              </a:rPr>
              <a:t>- Em </a:t>
            </a:r>
            <a:r>
              <a:rPr lang="en-GB" sz="1200" b="0" i="0" kern="1200" dirty="0" err="1">
                <a:effectLst/>
              </a:rPr>
              <a:t>segundo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aumenta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interpretabilidade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>
                <a:effectLst/>
              </a:rPr>
              <a:t>Uma </a:t>
            </a:r>
            <a:r>
              <a:rPr lang="en-GB" sz="1200" b="0" i="0" kern="1200" dirty="0" err="1">
                <a:effectLst/>
              </a:rPr>
              <a:t>condição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“</a:t>
            </a:r>
            <a:r>
              <a:rPr lang="en-GB" sz="1200" b="0" i="0" kern="1200" dirty="0" err="1">
                <a:effectLst/>
              </a:rPr>
              <a:t>dias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húmidos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após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floração</a:t>
            </a:r>
            <a:r>
              <a:rPr lang="en-GB" sz="1200" b="0" i="0" kern="1200" dirty="0">
                <a:effectLst/>
              </a:rPr>
              <a:t>” </a:t>
            </a:r>
            <a:r>
              <a:rPr lang="en-GB" sz="1200" b="0" i="0" kern="1200" dirty="0" err="1">
                <a:effectLst/>
              </a:rPr>
              <a:t>corresponde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janela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agronomicamente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relevante</a:t>
            </a:r>
            <a:r>
              <a:rPr lang="en-GB" sz="1200" b="0" i="0" kern="1200" dirty="0">
                <a:effectLst/>
              </a:rPr>
              <a:t>, e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a um </a:t>
            </a:r>
            <a:r>
              <a:rPr lang="en-GB" sz="1200" b="0" i="0" kern="1200" dirty="0" err="1">
                <a:effectLst/>
              </a:rPr>
              <a:t>mês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calendário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escolhido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arbitrariamente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5:15</a:t>
            </a:r>
          </a:p>
          <a:p>
            <a:pPr>
              <a:buNone/>
            </a:pPr>
            <a:endParaRPr lang="pt-PT" sz="1400" b="1" dirty="0">
              <a:solidFill>
                <a:srgbClr val="C00000"/>
              </a:solidFill>
            </a:endParaRPr>
          </a:p>
          <a:p>
            <a:r>
              <a:rPr lang="en-GB" sz="1200" b="1" i="0" kern="1200" dirty="0">
                <a:effectLst/>
              </a:rPr>
              <a:t>Slide 7 — Feature engineering: a </a:t>
            </a:r>
            <a:r>
              <a:rPr lang="en-GB" sz="1200" b="1" i="0" kern="1200" dirty="0" err="1">
                <a:effectLst/>
              </a:rPr>
              <a:t>biologia</a:t>
            </a:r>
            <a:r>
              <a:rPr lang="en-GB" sz="1200" b="1" i="0" kern="1200" dirty="0">
                <a:effectLst/>
              </a:rPr>
              <a:t>, </a:t>
            </a:r>
            <a:r>
              <a:rPr lang="en-GB" sz="1200" b="1" i="0" kern="1200" dirty="0" err="1">
                <a:effectLst/>
              </a:rPr>
              <a:t>não</a:t>
            </a:r>
            <a:r>
              <a:rPr lang="en-GB" sz="1200" b="1" i="0" kern="1200" dirty="0">
                <a:effectLst/>
              </a:rPr>
              <a:t> o </a:t>
            </a:r>
            <a:r>
              <a:rPr lang="en-GB" sz="1200" b="1" i="0" kern="1200" dirty="0" err="1">
                <a:effectLst/>
              </a:rPr>
              <a:t>calendário</a:t>
            </a:r>
            <a:r>
              <a:rPr lang="en-GB" sz="1200" b="1" i="0" kern="1200" dirty="0">
                <a:effectLst/>
              </a:rPr>
              <a:t> (~40 s)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Este slide </a:t>
            </a:r>
            <a:r>
              <a:rPr lang="en-GB" sz="1200" b="0" i="0" kern="1200" dirty="0" err="1">
                <a:effectLst/>
              </a:rPr>
              <a:t>mostra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trabalho</a:t>
            </a:r>
            <a:r>
              <a:rPr lang="en-GB" sz="1200" b="0" i="0" kern="1200" dirty="0">
                <a:effectLst/>
              </a:rPr>
              <a:t> de </a:t>
            </a:r>
            <a:r>
              <a:rPr lang="en-GB" sz="1200" b="0" i="1" kern="1200" dirty="0">
                <a:effectLst/>
              </a:rPr>
              <a:t>feature engineering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materializa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essa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ideia</a:t>
            </a:r>
            <a:r>
              <a:rPr lang="en-GB" sz="1200" b="0" i="0" kern="1200" dirty="0">
                <a:effectLst/>
              </a:rPr>
              <a:t>.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 de </a:t>
            </a:r>
            <a:r>
              <a:rPr lang="en-GB" sz="1200" b="0" i="0" kern="1200" dirty="0" err="1">
                <a:effectLst/>
              </a:rPr>
              <a:t>salientar</a:t>
            </a:r>
            <a:r>
              <a:rPr lang="en-GB" sz="1200" b="0" i="0" kern="1200" dirty="0">
                <a:effectLst/>
              </a:rPr>
              <a:t> duas </a:t>
            </a:r>
            <a:r>
              <a:rPr lang="en-GB" sz="1200" b="0" i="0" kern="1200" dirty="0" err="1">
                <a:effectLst/>
              </a:rPr>
              <a:t>coisas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primeiro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lugar</a:t>
            </a:r>
            <a:r>
              <a:rPr lang="en-GB" sz="1200" b="0" i="0" kern="1200" dirty="0">
                <a:effectLst/>
              </a:rPr>
              <a:t>:</a:t>
            </a:r>
          </a:p>
          <a:p>
            <a:r>
              <a:rPr lang="en-GB" sz="1200" b="0" i="0" kern="1200" dirty="0">
                <a:effectLst/>
              </a:rPr>
              <a:t>- o </a:t>
            </a:r>
            <a:r>
              <a:rPr lang="en-GB" sz="1200" b="0" i="0" kern="1200" dirty="0" err="1">
                <a:effectLst/>
              </a:rPr>
              <a:t>quao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conhecimento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tecnico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foi</a:t>
            </a:r>
            <a:r>
              <a:rPr lang="en-GB" sz="1200" b="0" i="0" kern="1200" dirty="0">
                <a:effectLst/>
              </a:rPr>
              <a:t> para o </a:t>
            </a:r>
            <a:r>
              <a:rPr lang="en-GB" sz="1200" b="0" i="0" kern="1200" dirty="0" err="1">
                <a:effectLst/>
              </a:rPr>
              <a:t>sucesso</a:t>
            </a:r>
            <a:r>
              <a:rPr lang="en-GB" sz="1200" b="0" i="0" kern="1200" dirty="0">
                <a:effectLst/>
              </a:rPr>
              <a:t> dos </a:t>
            </a:r>
            <a:r>
              <a:rPr lang="en-GB" sz="1200" b="0" i="0" kern="1200" dirty="0" err="1">
                <a:effectLst/>
              </a:rPr>
              <a:t>resultados</a:t>
            </a:r>
            <a:r>
              <a:rPr lang="en-GB" sz="1200" b="0" i="0" kern="1200" dirty="0">
                <a:effectLst/>
              </a:rPr>
              <a:t> - </a:t>
            </a:r>
            <a:r>
              <a:rPr lang="en-GB" sz="1200" b="0" i="0" kern="1200" dirty="0" err="1">
                <a:effectLst/>
              </a:rPr>
              <a:t>reforca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ideia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resultados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obtidos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tipo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algoritimos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depende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muito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daquilo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conhecemos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negocio</a:t>
            </a:r>
            <a:r>
              <a:rPr lang="en-GB" sz="1200" b="0" i="0" kern="1200" dirty="0">
                <a:effectLst/>
              </a:rPr>
              <a:t> e a </a:t>
            </a:r>
            <a:r>
              <a:rPr lang="en-GB" sz="1200" b="0" i="0" kern="1200" dirty="0" err="1">
                <a:effectLst/>
              </a:rPr>
              <a:t>capacidade</a:t>
            </a:r>
            <a:r>
              <a:rPr lang="en-GB" sz="1200" b="0" i="0" kern="1200" dirty="0">
                <a:effectLst/>
              </a:rPr>
              <a:t> para a </a:t>
            </a:r>
            <a:r>
              <a:rPr lang="en-GB" sz="1200" b="0" i="0" kern="1200" dirty="0" err="1">
                <a:effectLst/>
              </a:rPr>
              <a:t>criacao</a:t>
            </a:r>
            <a:r>
              <a:rPr lang="en-GB" sz="1200" b="0" i="0" kern="1200" dirty="0">
                <a:effectLst/>
              </a:rPr>
              <a:t> de features</a:t>
            </a:r>
          </a:p>
          <a:p>
            <a:r>
              <a:rPr lang="en-GB" sz="1200" b="0" i="0" kern="1200" dirty="0">
                <a:effectLst/>
              </a:rPr>
              <a:t>- e claro, </a:t>
            </a:r>
            <a:r>
              <a:rPr lang="en-GB" sz="1200" b="0" i="0" kern="1200" dirty="0" err="1">
                <a:effectLst/>
              </a:rPr>
              <a:t>teria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extremamemte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complexo</a:t>
            </a:r>
            <a:r>
              <a:rPr lang="en-GB" sz="1200" b="0" i="0" kern="1200" dirty="0">
                <a:effectLst/>
              </a:rPr>
              <a:t> para </a:t>
            </a:r>
            <a:r>
              <a:rPr lang="en-GB" sz="1200" b="0" i="0" kern="1200" dirty="0" err="1">
                <a:effectLst/>
              </a:rPr>
              <a:t>mim</a:t>
            </a:r>
            <a:r>
              <a:rPr lang="en-GB" sz="1200" b="0" i="0" kern="1200" dirty="0">
                <a:effectLst/>
              </a:rPr>
              <a:t> se nao </a:t>
            </a:r>
            <a:r>
              <a:rPr lang="en-GB" sz="1200" b="0" i="0" kern="1200" dirty="0" err="1">
                <a:effectLst/>
              </a:rPr>
              <a:t>tivesse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tido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valiosa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ajuda</a:t>
            </a:r>
            <a:r>
              <a:rPr lang="en-GB" sz="1200" b="0" i="0" kern="1200" dirty="0">
                <a:effectLst/>
              </a:rPr>
              <a:t> do Prof Mario Cunha com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elevada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expertize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</a:t>
            </a:r>
            <a:r>
              <a:rPr lang="en-GB" sz="1200" b="0" i="0" kern="1200" dirty="0">
                <a:effectLst/>
              </a:rPr>
              <a:t> area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Em </a:t>
            </a:r>
            <a:r>
              <a:rPr lang="en-GB" sz="1200" b="0" i="0" kern="1200" dirty="0" err="1">
                <a:effectLst/>
              </a:rPr>
              <a:t>relaçao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aos</a:t>
            </a:r>
            <a:r>
              <a:rPr lang="en-GB" sz="1200" b="0" i="0" kern="1200" dirty="0">
                <a:effectLst/>
              </a:rPr>
              <a:t> dados (</a:t>
            </a:r>
            <a:r>
              <a:rPr lang="en-GB" sz="1200" b="0" i="0" kern="1200" dirty="0" err="1">
                <a:effectLst/>
              </a:rPr>
              <a:t>numeros</a:t>
            </a:r>
            <a:r>
              <a:rPr lang="en-GB" sz="1200" b="0" i="0" kern="1200" dirty="0">
                <a:effectLst/>
              </a:rPr>
              <a:t> no slide)</a:t>
            </a:r>
          </a:p>
          <a:p>
            <a:r>
              <a:rPr lang="en-GB" sz="1200" b="0" i="0" kern="1200" dirty="0">
                <a:effectLst/>
              </a:rPr>
              <a:t>- </a:t>
            </a:r>
            <a:r>
              <a:rPr lang="en-GB" sz="1200" b="0" i="0" kern="1200" dirty="0" err="1">
                <a:effectLst/>
              </a:rPr>
              <a:t>Partimos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aproximadamente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trinta</a:t>
            </a:r>
            <a:r>
              <a:rPr lang="en-GB" sz="1200" b="0" i="0" kern="1200" dirty="0">
                <a:effectLst/>
              </a:rPr>
              <a:t> mil </a:t>
            </a:r>
            <a:r>
              <a:rPr lang="en-GB" sz="1200" b="0" i="0" kern="1200" dirty="0" err="1">
                <a:effectLst/>
              </a:rPr>
              <a:t>registos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meteorológicos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diários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 </a:t>
            </a:r>
          </a:p>
          <a:p>
            <a:r>
              <a:rPr lang="en-GB" sz="1200" b="0" i="0" kern="1200" dirty="0">
                <a:effectLst/>
              </a:rPr>
              <a:t>- </a:t>
            </a:r>
            <a:r>
              <a:rPr lang="en-GB" sz="1200" b="0" i="0" kern="1200" dirty="0" err="1">
                <a:effectLst/>
              </a:rPr>
              <a:t>transformamos</a:t>
            </a:r>
            <a:r>
              <a:rPr lang="en-GB" sz="1200" b="0" i="0" kern="1200" dirty="0">
                <a:effectLst/>
              </a:rPr>
              <a:t> -</a:t>
            </a:r>
            <a:r>
              <a:rPr lang="en-GB" sz="1200" b="0" i="0" kern="1200" dirty="0" err="1">
                <a:effectLst/>
              </a:rPr>
              <a:t>los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59 features </a:t>
            </a:r>
            <a:r>
              <a:rPr lang="en-GB" sz="1200" b="0" i="0" kern="1200" dirty="0" err="1">
                <a:effectLst/>
              </a:rPr>
              <a:t>anuais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 Essa </a:t>
            </a:r>
            <a:r>
              <a:rPr lang="en-GB" sz="1200" b="0" i="0" kern="1200" dirty="0" err="1">
                <a:effectLst/>
              </a:rPr>
              <a:t>transformação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foi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torno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quatro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fases</a:t>
            </a:r>
            <a:r>
              <a:rPr lang="en-GB" sz="1200" b="0" i="0" kern="1200" dirty="0">
                <a:effectLst/>
              </a:rPr>
              <a:t> / </a:t>
            </a:r>
            <a:r>
              <a:rPr lang="en-GB" sz="1200" b="0" i="0" kern="1200" dirty="0" err="1">
                <a:effectLst/>
              </a:rPr>
              <a:t>ancoras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fenológicas</a:t>
            </a:r>
            <a:r>
              <a:rPr lang="en-GB" sz="1200" b="0" i="0" kern="1200" dirty="0">
                <a:effectLst/>
              </a:rPr>
              <a:t>: </a:t>
            </a:r>
          </a:p>
          <a:p>
            <a:r>
              <a:rPr lang="en-GB" sz="1200" b="0" i="0" kern="1200" dirty="0">
                <a:effectLst/>
              </a:rPr>
              <a:t>---- </a:t>
            </a:r>
            <a:r>
              <a:rPr lang="en-GB" sz="1200" b="0" i="0" kern="1200" dirty="0" err="1">
                <a:effectLst/>
              </a:rPr>
              <a:t>abrolhamento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floração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pintor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vindima</a:t>
            </a:r>
            <a:r>
              <a:rPr lang="en-GB" sz="1200" b="0" i="0" kern="1200" dirty="0">
                <a:effectLst/>
              </a:rPr>
              <a:t>.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 As </a:t>
            </a:r>
            <a:r>
              <a:rPr lang="en-GB" sz="1200" b="0" i="0" kern="1200" dirty="0" err="1">
                <a:effectLst/>
              </a:rPr>
              <a:t>variáveis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foram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calculadas</a:t>
            </a:r>
            <a:r>
              <a:rPr lang="en-GB" sz="1200" b="0" i="0" kern="1200" dirty="0">
                <a:effectLst/>
              </a:rPr>
              <a:t> tanto para o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corrente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para o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anterior.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-----</a:t>
            </a: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essencial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foi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transformação</a:t>
            </a:r>
            <a:r>
              <a:rPr lang="en-GB" sz="1200" b="0" i="0" kern="1200" dirty="0">
                <a:effectLst/>
              </a:rPr>
              <a:t> de dados </a:t>
            </a:r>
            <a:r>
              <a:rPr lang="en-GB" sz="1200" b="0" i="0" kern="1200" dirty="0" err="1">
                <a:effectLst/>
              </a:rPr>
              <a:t>meteorológicos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diários</a:t>
            </a:r>
            <a:r>
              <a:rPr lang="en-GB" sz="1200" b="0" i="0" kern="1200" dirty="0">
                <a:effectLst/>
              </a:rPr>
              <a:t> e de </a:t>
            </a:r>
            <a:r>
              <a:rPr lang="en-GB" sz="1200" b="0" i="0" kern="1200" dirty="0" err="1">
                <a:effectLst/>
              </a:rPr>
              <a:t>variáveis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relacionadas</a:t>
            </a:r>
            <a:r>
              <a:rPr lang="en-GB" sz="1200" b="0" i="0" kern="1200" dirty="0">
                <a:effectLst/>
              </a:rPr>
              <a:t> com o </a:t>
            </a:r>
            <a:r>
              <a:rPr lang="en-GB" sz="1200" b="0" i="0" kern="1200" dirty="0" err="1">
                <a:effectLst/>
              </a:rPr>
              <a:t>estado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vinha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anuais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incorporam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memória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biológica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estão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alinhadas</a:t>
            </a:r>
            <a:r>
              <a:rPr lang="en-GB" sz="1200" b="0" i="0" kern="1200" dirty="0">
                <a:effectLst/>
              </a:rPr>
              <a:t> com o </a:t>
            </a:r>
            <a:r>
              <a:rPr lang="en-GB" sz="1200" b="0" i="0" kern="1200" dirty="0" err="1">
                <a:effectLst/>
              </a:rPr>
              <a:t>calendário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videira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Foi </a:t>
            </a:r>
            <a:r>
              <a:rPr lang="en-GB" sz="1200" b="0" i="0" kern="1200" dirty="0" err="1">
                <a:effectLst/>
              </a:rPr>
              <a:t>esta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transformação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permitiu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apresentadas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tenham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significado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especialista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consegue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reconhecer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interpretar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5:45</a:t>
            </a:r>
          </a:p>
          <a:p>
            <a:pPr>
              <a:buNone/>
            </a:pPr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Slide 8 — </a:t>
            </a:r>
            <a:r>
              <a:rPr lang="en-GB" sz="1200" b="1" i="0" kern="1200" dirty="0" err="1">
                <a:effectLst/>
              </a:rPr>
              <a:t>Posicionamento</a:t>
            </a:r>
            <a:r>
              <a:rPr lang="en-GB" sz="1200" b="1" i="0" kern="1200" dirty="0">
                <a:effectLst/>
              </a:rPr>
              <a:t>: entre </a:t>
            </a:r>
            <a:r>
              <a:rPr lang="en-GB" sz="1200" b="1" i="0" kern="1200" dirty="0" err="1">
                <a:effectLst/>
              </a:rPr>
              <a:t>explicação</a:t>
            </a:r>
            <a:r>
              <a:rPr lang="en-GB" sz="1200" b="1" i="0" kern="1200" dirty="0">
                <a:effectLst/>
              </a:rPr>
              <a:t> e </a:t>
            </a:r>
            <a:r>
              <a:rPr lang="en-GB" sz="1200" b="1" i="0" kern="1200" dirty="0" err="1">
                <a:effectLst/>
              </a:rPr>
              <a:t>previsão</a:t>
            </a:r>
            <a:r>
              <a:rPr lang="en-GB" sz="1200" b="1" i="0" kern="1200" dirty="0">
                <a:effectLst/>
              </a:rPr>
              <a:t> (~30 s)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clarificar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âmbito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trabalho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tese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pretende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comparar</a:t>
            </a:r>
            <a:r>
              <a:rPr lang="en-GB" sz="1200" b="0" i="0" kern="1200" dirty="0">
                <a:effectLst/>
              </a:rPr>
              <a:t> o Caren com </a:t>
            </a:r>
            <a:r>
              <a:rPr lang="en-GB" sz="1200" b="0" i="0" kern="1200" dirty="0" err="1">
                <a:effectLst/>
              </a:rPr>
              <a:t>todos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modelos</a:t>
            </a:r>
            <a:r>
              <a:rPr lang="en-GB" sz="1200" b="0" i="0" kern="1200" dirty="0">
                <a:effectLst/>
              </a:rPr>
              <a:t> de </a:t>
            </a:r>
            <a:r>
              <a:rPr lang="en-GB" sz="1200" b="0" i="1" kern="1200" dirty="0">
                <a:effectLst/>
              </a:rPr>
              <a:t>black box</a:t>
            </a:r>
            <a:r>
              <a:rPr lang="en-GB" sz="1200" b="0" i="0" kern="1200" dirty="0">
                <a:effectLst/>
              </a:rPr>
              <a:t>, nem </a:t>
            </a:r>
            <a:r>
              <a:rPr lang="en-GB" sz="1200" b="0" i="0" kern="1200" dirty="0" err="1">
                <a:effectLst/>
              </a:rPr>
              <a:t>afirma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superar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modelos</a:t>
            </a:r>
            <a:r>
              <a:rPr lang="en-GB" sz="1200" b="0" i="0" kern="1200" dirty="0">
                <a:effectLst/>
              </a:rPr>
              <a:t> de Deep Learning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termos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precisão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objetivo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estudar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combinação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específica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continua </a:t>
            </a:r>
            <a:r>
              <a:rPr lang="en-GB" sz="1200" b="0" i="0" kern="1200" dirty="0" err="1">
                <a:effectLst/>
              </a:rPr>
              <a:t>pouco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explorada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literatura</a:t>
            </a:r>
            <a:r>
              <a:rPr lang="en-GB" sz="1200" b="0" i="0" kern="1200" dirty="0">
                <a:effectLst/>
              </a:rPr>
              <a:t>: </a:t>
            </a:r>
          </a:p>
          <a:p>
            <a:r>
              <a:rPr lang="en-GB" sz="1200" b="0" i="0" kern="1200" dirty="0">
                <a:effectLst/>
              </a:rPr>
              <a:t>-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target continua, </a:t>
            </a:r>
          </a:p>
          <a:p>
            <a:r>
              <a:rPr lang="en-GB" sz="1200" b="0" i="0" kern="1200" dirty="0">
                <a:effectLst/>
              </a:rPr>
              <a:t>- </a:t>
            </a:r>
            <a:r>
              <a:rPr lang="en-GB" sz="1200" b="0" i="0" kern="1200" dirty="0" err="1">
                <a:effectLst/>
              </a:rPr>
              <a:t>séries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estacionárias</a:t>
            </a:r>
            <a:r>
              <a:rPr lang="en-GB" sz="1200" b="0" i="0" kern="1200" dirty="0">
                <a:effectLst/>
              </a:rPr>
              <a:t>, </a:t>
            </a:r>
          </a:p>
          <a:p>
            <a:r>
              <a:rPr lang="en-GB" sz="1200" b="0" i="0" kern="1200" dirty="0">
                <a:effectLst/>
              </a:rPr>
              <a:t>-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interpretáveis</a:t>
            </a:r>
            <a:r>
              <a:rPr lang="en-GB" sz="1200" b="0" i="0" kern="1200" dirty="0">
                <a:effectLst/>
              </a:rPr>
              <a:t> </a:t>
            </a:r>
          </a:p>
          <a:p>
            <a:r>
              <a:rPr lang="en-GB" sz="1200" b="0" i="0" kern="1200" dirty="0">
                <a:effectLst/>
              </a:rPr>
              <a:t>- e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validação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rigorosa</a:t>
            </a:r>
            <a:r>
              <a:rPr lang="en-GB" sz="1200" b="0" i="0" kern="1200" dirty="0">
                <a:effectLst/>
              </a:rPr>
              <a:t> — </a:t>
            </a:r>
            <a:r>
              <a:rPr lang="en-GB" sz="1200" b="0" i="0" kern="1200" dirty="0" err="1">
                <a:effectLst/>
              </a:rPr>
              <a:t>tudo</a:t>
            </a:r>
            <a:r>
              <a:rPr lang="en-GB" sz="1200" b="0" i="0" kern="1200" dirty="0">
                <a:effectLst/>
              </a:rPr>
              <a:t> no </a:t>
            </a:r>
            <a:r>
              <a:rPr lang="en-GB" sz="1200" b="0" i="0" kern="1200" dirty="0" err="1">
                <a:effectLst/>
              </a:rPr>
              <a:t>mesmo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estudo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modelos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modernos</a:t>
            </a:r>
            <a:r>
              <a:rPr lang="en-GB" sz="1200" b="0" i="0" kern="1200" dirty="0">
                <a:effectLst/>
              </a:rPr>
              <a:t> de Machine Learning </a:t>
            </a:r>
            <a:r>
              <a:rPr lang="en-GB" sz="1200" b="0" i="0" kern="1200" dirty="0" err="1">
                <a:effectLst/>
              </a:rPr>
              <a:t>podem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oferecer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precisão</a:t>
            </a:r>
            <a:r>
              <a:rPr lang="en-GB" sz="1200" b="0" i="0" kern="1200" dirty="0">
                <a:effectLst/>
              </a:rPr>
              <a:t> mas </a:t>
            </a:r>
            <a:r>
              <a:rPr lang="en-GB" sz="1200" b="0" i="0" kern="1200" dirty="0" err="1">
                <a:effectLst/>
              </a:rPr>
              <a:t>menor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transparência</a:t>
            </a:r>
            <a:r>
              <a:rPr lang="en-GB" sz="1200" b="0" i="0" kern="1200" dirty="0">
                <a:effectLst/>
              </a:rPr>
              <a:t>.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métodos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á</a:t>
            </a:r>
            <a:r>
              <a:rPr lang="en-GB" sz="1200" b="0" i="0" kern="1200" dirty="0">
                <a:effectLst/>
              </a:rPr>
              <a:t> base de </a:t>
            </a:r>
            <a:r>
              <a:rPr lang="en-GB" sz="1200" b="0" i="0" kern="1200" dirty="0" err="1">
                <a:effectLst/>
              </a:rPr>
              <a:t>descoberta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oferecem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transparência</a:t>
            </a:r>
            <a:r>
              <a:rPr lang="en-GB" sz="1200" b="0" i="0" kern="1200" dirty="0">
                <a:effectLst/>
              </a:rPr>
              <a:t>, mas, </a:t>
            </a:r>
            <a:r>
              <a:rPr lang="en-GB" sz="1200" b="0" i="0" kern="1200" dirty="0" err="1">
                <a:effectLst/>
              </a:rPr>
              <a:t>neste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contexto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seu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valor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ainda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estava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avaliado</a:t>
            </a:r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questão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colocamos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trabalho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se </a:t>
            </a:r>
            <a:r>
              <a:rPr lang="en-GB" sz="1200" b="0" i="0" kern="1200" dirty="0" err="1">
                <a:effectLst/>
              </a:rPr>
              <a:t>podemos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obter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simultaneamente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interpretabilidade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capacidade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E, </a:t>
            </a:r>
            <a:r>
              <a:rPr lang="en-GB" sz="1200" b="0" i="0" kern="1200" dirty="0" err="1">
                <a:effectLst/>
              </a:rPr>
              <a:t>igualmente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aprender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quando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isso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acontece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6:25  </a:t>
            </a:r>
          </a:p>
          <a:p>
            <a:pPr>
              <a:buNone/>
            </a:pPr>
            <a:endParaRPr lang="pt-PT" sz="1400" b="1" i="0" kern="1200" dirty="0">
              <a:solidFill>
                <a:srgbClr val="C00000"/>
              </a:solidFill>
              <a:effectLst/>
            </a:endParaRPr>
          </a:p>
          <a:p>
            <a:pPr>
              <a:buNone/>
            </a:pPr>
            <a:r>
              <a:rPr lang="en-GB" sz="1200" b="1" i="0" kern="1200" dirty="0">
                <a:effectLst/>
              </a:rPr>
              <a:t>Slide 9 — </a:t>
            </a:r>
            <a:r>
              <a:rPr lang="en-GB" sz="1200" b="1" i="0" kern="1200" dirty="0" err="1">
                <a:effectLst/>
              </a:rPr>
              <a:t>Desenho</a:t>
            </a:r>
            <a:r>
              <a:rPr lang="en-GB" sz="1200" b="1" i="0" kern="1200" dirty="0">
                <a:effectLst/>
              </a:rPr>
              <a:t> da </a:t>
            </a:r>
            <a:r>
              <a:rPr lang="en-GB" sz="1200" b="1" i="0" kern="1200" dirty="0" err="1">
                <a:effectLst/>
              </a:rPr>
              <a:t>investigação</a:t>
            </a:r>
            <a:r>
              <a:rPr lang="en-GB" sz="1200" b="1" i="0" kern="1200" dirty="0">
                <a:effectLst/>
              </a:rPr>
              <a:t>: </a:t>
            </a:r>
            <a:r>
              <a:rPr lang="en-GB" sz="1200" b="1" i="0" kern="1200" dirty="0" err="1">
                <a:effectLst/>
              </a:rPr>
              <a:t>dois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objetivos</a:t>
            </a:r>
            <a:r>
              <a:rPr lang="en-GB" sz="1200" b="1" i="0" kern="1200" dirty="0">
                <a:effectLst/>
              </a:rPr>
              <a:t> (~40 s)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tese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está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organizada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torno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dois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objetivos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exigem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níveis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evidência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diferentes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GOAL 1 - O </a:t>
            </a:r>
            <a:r>
              <a:rPr lang="en-GB" sz="1200" b="0" i="0" kern="1200" dirty="0" err="1">
                <a:effectLst/>
              </a:rPr>
              <a:t>primeiro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objetivo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descoberta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padrões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questão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saber</a:t>
            </a:r>
            <a:r>
              <a:rPr lang="en-GB" sz="1200" b="0" i="0" kern="1200" dirty="0">
                <a:effectLst/>
              </a:rPr>
              <a:t> se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algoritmos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conseguem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identificar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histórica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relevante</a:t>
            </a:r>
            <a:r>
              <a:rPr lang="en-GB" sz="1200" b="0" i="0" kern="1200" dirty="0">
                <a:effectLst/>
              </a:rPr>
              <a:t>: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RQ1-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agroclimáticas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distinguem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acima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abaixo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RQ2- e se esses </a:t>
            </a:r>
            <a:r>
              <a:rPr lang="en-GB" sz="1200" b="0" i="0" kern="1200" dirty="0" err="1">
                <a:effectLst/>
              </a:rPr>
              <a:t>sinais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representam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genuínas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dentro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período</a:t>
            </a:r>
            <a:r>
              <a:rPr lang="en-GB" sz="1200" b="0" i="0" kern="1200" dirty="0">
                <a:effectLst/>
              </a:rPr>
              <a:t> histórico </a:t>
            </a:r>
            <a:r>
              <a:rPr lang="en-GB" sz="1200" b="0" i="0" kern="1200" dirty="0" err="1">
                <a:effectLst/>
              </a:rPr>
              <a:t>ou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artefactos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associados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diferentes</a:t>
            </a:r>
            <a:r>
              <a:rPr lang="en-GB" sz="1200" b="0" i="0" kern="1200" dirty="0">
                <a:effectLst/>
              </a:rPr>
              <a:t> eras.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GOAL 2 - O </a:t>
            </a:r>
            <a:r>
              <a:rPr lang="en-GB" sz="1200" b="0" i="0" kern="1200" dirty="0" err="1">
                <a:effectLst/>
              </a:rPr>
              <a:t>segundo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objetivo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validação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Aqui, a </a:t>
            </a:r>
            <a:r>
              <a:rPr lang="en-GB" sz="1200" b="0" i="0" kern="1200" dirty="0" err="1">
                <a:effectLst/>
              </a:rPr>
              <a:t>questão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exigente</a:t>
            </a:r>
            <a:r>
              <a:rPr lang="en-GB" sz="1200" b="0" i="0" kern="1200" dirty="0">
                <a:effectLst/>
              </a:rPr>
              <a:t>: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RQ3: </a:t>
            </a:r>
            <a:r>
              <a:rPr lang="en-GB" sz="1200" b="0" i="0" kern="1200" dirty="0" err="1">
                <a:effectLst/>
              </a:rPr>
              <a:t>saber</a:t>
            </a:r>
            <a:r>
              <a:rPr lang="en-GB" sz="1200" b="0" i="0" kern="1200" dirty="0">
                <a:effectLst/>
              </a:rPr>
              <a:t> se </a:t>
            </a:r>
            <a:r>
              <a:rPr lang="en-GB" sz="1200" b="0" i="0" kern="1200" dirty="0" err="1">
                <a:effectLst/>
              </a:rPr>
              <a:t>essa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reduz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efetivamente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erro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períodos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futuros</a:t>
            </a:r>
            <a:r>
              <a:rPr lang="en-GB" sz="1200" b="0" i="0" kern="1200" dirty="0">
                <a:effectLst/>
              </a:rPr>
              <a:t> e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RQ4: </a:t>
            </a:r>
            <a:r>
              <a:rPr lang="en-GB" sz="1200" b="0" i="0" kern="1200" dirty="0" err="1">
                <a:effectLst/>
              </a:rPr>
              <a:t>compreender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consegue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ou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produzir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previsões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úteis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mesmos</a:t>
            </a:r>
            <a:r>
              <a:rPr lang="en-GB" sz="1200" b="0" i="0" kern="1200" dirty="0">
                <a:effectLst/>
              </a:rPr>
              <a:t> dados e a </a:t>
            </a:r>
            <a:r>
              <a:rPr lang="en-GB" sz="1200" b="0" i="0" kern="1200" dirty="0" err="1">
                <a:effectLst/>
              </a:rPr>
              <a:t>mesma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família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utilizados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dois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objetivos</a:t>
            </a:r>
            <a:r>
              <a:rPr lang="en-GB" sz="1200" b="0" i="0" kern="1200" dirty="0">
                <a:effectLst/>
              </a:rPr>
              <a:t>, mas o </a:t>
            </a:r>
            <a:r>
              <a:rPr lang="en-GB" sz="1200" b="0" i="0" kern="1200" dirty="0" err="1">
                <a:effectLst/>
              </a:rPr>
              <a:t>nível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exigência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diferente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Para a </a:t>
            </a:r>
            <a:r>
              <a:rPr lang="en-GB" sz="1200" b="0" i="0" kern="1200" dirty="0" err="1">
                <a:effectLst/>
              </a:rPr>
              <a:t>descoberta</a:t>
            </a:r>
            <a:r>
              <a:rPr lang="en-GB" sz="1200" b="0" i="0" kern="1200" dirty="0">
                <a:effectLst/>
              </a:rPr>
              <a:t>, basta </a:t>
            </a:r>
            <a:r>
              <a:rPr lang="en-GB" sz="1200" b="0" i="0" kern="1200" dirty="0" err="1">
                <a:effectLst/>
              </a:rPr>
              <a:t>demonstrar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associação</a:t>
            </a:r>
            <a:r>
              <a:rPr lang="en-GB" sz="1200" b="0" i="0" kern="1200" dirty="0">
                <a:effectLst/>
              </a:rPr>
              <a:t>. Para a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essa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tem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superar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baseline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dados </a:t>
            </a:r>
            <a:r>
              <a:rPr lang="en-GB" sz="1200" b="0" i="1" kern="1200" dirty="0">
                <a:effectLst/>
              </a:rPr>
              <a:t>out of sample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Em </a:t>
            </a:r>
            <a:r>
              <a:rPr lang="en-GB" sz="1200" b="0" i="0" kern="1200" dirty="0" err="1">
                <a:effectLst/>
              </a:rPr>
              <a:t>relacao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resutldos</a:t>
            </a:r>
            <a:r>
              <a:rPr lang="en-GB" sz="1200" b="0" i="0" kern="1200" dirty="0">
                <a:effectLst/>
              </a:rPr>
              <a:t>:</a:t>
            </a:r>
          </a:p>
          <a:p>
            <a:r>
              <a:rPr lang="en-GB" sz="1200" b="0" i="0" kern="1200" dirty="0">
                <a:effectLst/>
              </a:rPr>
              <a:t>- o </a:t>
            </a:r>
            <a:r>
              <a:rPr lang="en-GB" sz="1200" b="0" i="0" kern="1200" dirty="0" err="1">
                <a:effectLst/>
              </a:rPr>
              <a:t>Objetivo</a:t>
            </a:r>
            <a:r>
              <a:rPr lang="en-GB" sz="1200" b="0" i="0" kern="1200" dirty="0">
                <a:effectLst/>
              </a:rPr>
              <a:t> 1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alcançado</a:t>
            </a:r>
            <a:r>
              <a:rPr lang="en-GB" sz="1200" b="0" i="0" kern="1200" dirty="0">
                <a:effectLst/>
              </a:rPr>
              <a:t>; </a:t>
            </a:r>
          </a:p>
          <a:p>
            <a:r>
              <a:rPr lang="en-GB" sz="1200" b="0" i="0" kern="1200" dirty="0">
                <a:effectLst/>
              </a:rPr>
              <a:t>- o </a:t>
            </a:r>
            <a:r>
              <a:rPr lang="en-GB" sz="1200" b="0" i="0" kern="1200" dirty="0" err="1">
                <a:effectLst/>
              </a:rPr>
              <a:t>Objetivo</a:t>
            </a:r>
            <a:r>
              <a:rPr lang="en-GB" sz="1200" b="0" i="0" kern="1200" dirty="0">
                <a:effectLst/>
              </a:rPr>
              <a:t> 2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alcançado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quando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consideramos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resultados</a:t>
            </a:r>
            <a:r>
              <a:rPr lang="en-GB" sz="1200" b="0" i="0" kern="1200" dirty="0">
                <a:effectLst/>
              </a:rPr>
              <a:t> de forma </a:t>
            </a:r>
            <a:r>
              <a:rPr lang="en-GB" sz="1200" b="0" i="0" kern="1200" dirty="0" err="1">
                <a:effectLst/>
              </a:rPr>
              <a:t>agregada</a:t>
            </a:r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 </a:t>
            </a:r>
            <a:r>
              <a:rPr lang="en-GB" sz="1200" b="0" i="0" kern="1200" dirty="0" err="1">
                <a:effectLst/>
              </a:rPr>
              <a:t>tentar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compreender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razão</a:t>
            </a:r>
            <a:r>
              <a:rPr lang="en-GB" sz="1200" b="0" i="0" kern="1200" dirty="0">
                <a:effectLst/>
              </a:rPr>
              <a:t> dessa </a:t>
            </a:r>
            <a:r>
              <a:rPr lang="en-GB" sz="1200" b="0" i="0" kern="1200" dirty="0" err="1">
                <a:effectLst/>
              </a:rPr>
              <a:t>diferença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constitui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principais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contribuições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tese</a:t>
            </a:r>
            <a:endParaRPr lang="en-GB" sz="1200" b="0" i="0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6:55</a:t>
            </a:r>
          </a:p>
          <a:p>
            <a:pPr>
              <a:buNone/>
            </a:pPr>
            <a:endParaRPr lang="pt-PT" sz="1400" b="1" i="0" kern="1200" dirty="0">
              <a:solidFill>
                <a:srgbClr val="C00000"/>
              </a:solidFill>
              <a:effectLst/>
            </a:endParaRPr>
          </a:p>
          <a:p>
            <a:pPr>
              <a:buNone/>
            </a:pPr>
            <a:r>
              <a:rPr lang="en-GB" sz="1200" b="1" i="0" kern="1200" dirty="0">
                <a:effectLst/>
              </a:rPr>
              <a:t>Slide 10 — </a:t>
            </a:r>
            <a:r>
              <a:rPr lang="en-GB" sz="1200" b="1" i="0" kern="1200" dirty="0" err="1">
                <a:effectLst/>
              </a:rPr>
              <a:t>Desenho</a:t>
            </a:r>
            <a:r>
              <a:rPr lang="en-GB" sz="1200" b="1" i="0" kern="1200" dirty="0">
                <a:effectLst/>
              </a:rPr>
              <a:t> do </a:t>
            </a:r>
            <a:r>
              <a:rPr lang="en-GB" sz="1200" b="1" i="0" kern="1200" dirty="0" err="1">
                <a:effectLst/>
              </a:rPr>
              <a:t>estudo</a:t>
            </a:r>
            <a:r>
              <a:rPr lang="en-GB" sz="1200" b="1" i="0" kern="1200" dirty="0">
                <a:effectLst/>
              </a:rPr>
              <a:t>: </a:t>
            </a:r>
            <a:r>
              <a:rPr lang="en-GB" sz="1200" b="1" i="0" kern="1200" dirty="0" err="1">
                <a:effectLst/>
              </a:rPr>
              <a:t>comparação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controlada</a:t>
            </a:r>
            <a:r>
              <a:rPr lang="en-GB" sz="1200" b="1" i="0" kern="1200" dirty="0">
                <a:effectLst/>
              </a:rPr>
              <a:t> (~30 s)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Em </a:t>
            </a:r>
            <a:r>
              <a:rPr lang="en-GB" sz="1200" b="0" i="0" kern="1200" dirty="0" err="1">
                <a:effectLst/>
              </a:rPr>
              <a:t>relacao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design da </a:t>
            </a:r>
            <a:r>
              <a:rPr lang="en-GB" sz="1200" b="0" i="0" kern="1200" dirty="0" err="1">
                <a:effectLst/>
              </a:rPr>
              <a:t>experiencia</a:t>
            </a:r>
            <a:r>
              <a:rPr lang="en-GB" sz="1200" b="0" i="0" kern="1200" dirty="0">
                <a:effectLst/>
              </a:rPr>
              <a:t> e da </a:t>
            </a:r>
            <a:r>
              <a:rPr lang="en-GB" sz="1200" b="0" i="0" kern="1200" dirty="0" err="1">
                <a:effectLst/>
              </a:rPr>
              <a:t>comapracao</a:t>
            </a:r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Foram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mantidos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constantes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nas</a:t>
            </a:r>
            <a:r>
              <a:rPr lang="en-GB" sz="1200" b="0" i="0" kern="1200" dirty="0">
                <a:effectLst/>
              </a:rPr>
              <a:t> duas </a:t>
            </a:r>
            <a:r>
              <a:rPr lang="en-GB" sz="1200" b="0" i="0" kern="1200" dirty="0" err="1">
                <a:effectLst/>
              </a:rPr>
              <a:t>regiões</a:t>
            </a:r>
            <a:r>
              <a:rPr lang="en-GB" sz="1200" b="0" i="0" kern="1200" dirty="0">
                <a:effectLst/>
              </a:rPr>
              <a:t>:</a:t>
            </a:r>
          </a:p>
          <a:p>
            <a:r>
              <a:rPr lang="en-GB" sz="1200" b="0" i="0" kern="1200" dirty="0">
                <a:effectLst/>
              </a:rPr>
              <a:t>- o </a:t>
            </a:r>
            <a:r>
              <a:rPr lang="en-GB" sz="1200" b="0" i="0" kern="1200" dirty="0" err="1">
                <a:effectLst/>
              </a:rPr>
              <a:t>processo</a:t>
            </a:r>
            <a:r>
              <a:rPr lang="en-GB" sz="1200" b="0" i="0" kern="1200" dirty="0">
                <a:effectLst/>
              </a:rPr>
              <a:t> de </a:t>
            </a:r>
            <a:r>
              <a:rPr lang="en-GB" sz="1200" b="0" i="1" kern="1200" dirty="0">
                <a:effectLst/>
              </a:rPr>
              <a:t>feature engineering</a:t>
            </a:r>
            <a:r>
              <a:rPr lang="en-GB" sz="1200" b="0" i="0" kern="1200" dirty="0">
                <a:effectLst/>
              </a:rPr>
              <a:t>, </a:t>
            </a:r>
          </a:p>
          <a:p>
            <a:r>
              <a:rPr lang="en-GB" sz="1200" b="0" i="0" kern="1200" dirty="0">
                <a:effectLst/>
              </a:rPr>
              <a:t>- a </a:t>
            </a:r>
            <a:r>
              <a:rPr lang="en-GB" sz="1200" b="0" i="0" kern="1200" dirty="0" err="1">
                <a:effectLst/>
              </a:rPr>
              <a:t>estratégia</a:t>
            </a:r>
            <a:r>
              <a:rPr lang="en-GB" sz="1200" b="0" i="0" kern="1200" dirty="0">
                <a:effectLst/>
              </a:rPr>
              <a:t> de </a:t>
            </a:r>
            <a:r>
              <a:rPr lang="en-GB" sz="1200" b="0" i="1" kern="1200" dirty="0">
                <a:effectLst/>
              </a:rPr>
              <a:t>detrending</a:t>
            </a:r>
            <a:r>
              <a:rPr lang="en-GB" sz="1200" b="0" i="0" kern="1200" dirty="0">
                <a:effectLst/>
              </a:rPr>
              <a:t>, </a:t>
            </a:r>
          </a:p>
          <a:p>
            <a:r>
              <a:rPr lang="en-GB" sz="1200" b="0" i="0" kern="1200" dirty="0">
                <a:effectLst/>
              </a:rPr>
              <a:t>-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algoritmos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baseados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</a:p>
          <a:p>
            <a:r>
              <a:rPr lang="en-GB" sz="1200" b="0" i="0" kern="1200" dirty="0">
                <a:effectLst/>
              </a:rPr>
              <a:t>- e a </a:t>
            </a:r>
            <a:r>
              <a:rPr lang="en-GB" sz="1200" b="0" i="0" kern="1200" dirty="0" err="1">
                <a:effectLst/>
              </a:rPr>
              <a:t>métrica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avaliação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varia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:</a:t>
            </a:r>
          </a:p>
          <a:p>
            <a:r>
              <a:rPr lang="en-GB" sz="1200" b="0" i="0" kern="1200" dirty="0">
                <a:effectLst/>
              </a:rPr>
              <a:t>- o regime </a:t>
            </a:r>
            <a:r>
              <a:rPr lang="en-GB" sz="1200" b="0" i="0" kern="1200" dirty="0" err="1">
                <a:effectLst/>
              </a:rPr>
              <a:t>climático</a:t>
            </a:r>
            <a:r>
              <a:rPr lang="en-GB" sz="1200" b="0" i="0" kern="1200" dirty="0">
                <a:effectLst/>
              </a:rPr>
              <a:t>, </a:t>
            </a:r>
          </a:p>
          <a:p>
            <a:r>
              <a:rPr lang="en-GB" sz="1200" b="0" i="0" kern="1200" dirty="0">
                <a:effectLst/>
              </a:rPr>
              <a:t>- a </a:t>
            </a:r>
            <a:r>
              <a:rPr lang="en-GB" sz="1200" b="0" i="0" kern="1200" dirty="0" err="1">
                <a:effectLst/>
              </a:rPr>
              <a:t>trajetória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estrutural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, </a:t>
            </a:r>
          </a:p>
          <a:p>
            <a:r>
              <a:rPr lang="en-GB" sz="1200" b="0" i="0" kern="1200" dirty="0">
                <a:effectLst/>
              </a:rPr>
              <a:t>- o </a:t>
            </a:r>
            <a:r>
              <a:rPr lang="en-GB" sz="1200" b="0" i="0" kern="1200" dirty="0" err="1">
                <a:effectLst/>
              </a:rPr>
              <a:t>nível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ruído</a:t>
            </a:r>
            <a:r>
              <a:rPr lang="en-GB" sz="1200" b="0" i="0" kern="1200" dirty="0">
                <a:effectLst/>
              </a:rPr>
              <a:t> </a:t>
            </a:r>
          </a:p>
          <a:p>
            <a:r>
              <a:rPr lang="en-GB" sz="1200" b="0" i="0" kern="1200" dirty="0">
                <a:effectLst/>
              </a:rPr>
              <a:t>- e a </a:t>
            </a:r>
            <a:r>
              <a:rPr lang="en-GB" sz="1200" b="0" i="0" kern="1200" dirty="0" err="1">
                <a:effectLst/>
              </a:rPr>
              <a:t>composição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histórica</a:t>
            </a:r>
            <a:r>
              <a:rPr lang="en-GB" sz="1200" b="0" i="0" kern="1200" dirty="0">
                <a:effectLst/>
              </a:rPr>
              <a:t> dos </a:t>
            </a:r>
            <a:r>
              <a:rPr lang="en-GB" sz="1200" b="0" i="0" kern="1200" dirty="0" err="1">
                <a:effectLst/>
              </a:rPr>
              <a:t>diferentes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períodos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r>
              <a:rPr lang="en-GB" sz="1200" b="0" i="0" kern="1200" dirty="0">
                <a:effectLst/>
              </a:rPr>
              <a:t>No total,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analisadas</a:t>
            </a:r>
            <a:r>
              <a:rPr lang="en-GB" sz="1200" b="0" i="0" kern="1200" dirty="0">
                <a:effectLst/>
              </a:rPr>
              <a:t> duas </a:t>
            </a:r>
            <a:r>
              <a:rPr lang="en-GB" sz="1200" b="0" i="0" kern="1200" dirty="0" err="1">
                <a:effectLst/>
              </a:rPr>
              <a:t>regiões</a:t>
            </a:r>
            <a:r>
              <a:rPr lang="en-GB" sz="1200" b="0" i="0" kern="1200" dirty="0">
                <a:effectLst/>
              </a:rPr>
              <a:t>, com 89 e 80 </a:t>
            </a:r>
            <a:r>
              <a:rPr lang="en-GB" sz="1200" b="0" i="0" kern="1200" dirty="0" err="1">
                <a:effectLst/>
              </a:rPr>
              <a:t>observações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anuais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respetivamente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Como o </a:t>
            </a:r>
            <a:r>
              <a:rPr lang="en-GB" sz="1200" b="0" i="0" kern="1200" dirty="0" err="1">
                <a:effectLst/>
              </a:rPr>
              <a:t>método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mantido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constante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qualquer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divergência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resultados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passa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constituir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evidência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interpretável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sobre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estrutura</a:t>
            </a:r>
            <a:r>
              <a:rPr lang="en-GB" sz="1200" b="0" i="0" kern="1200" dirty="0">
                <a:effectLst/>
              </a:rPr>
              <a:t> dos dados.</a:t>
            </a:r>
          </a:p>
          <a:p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precisamente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isso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permite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tratar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estudo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experiência</a:t>
            </a:r>
            <a:r>
              <a:rPr lang="en-GB" sz="1200" b="0" i="0" kern="1200" dirty="0">
                <a:effectLst/>
              </a:rPr>
              <a:t> natural </a:t>
            </a:r>
            <a:r>
              <a:rPr lang="en-GB" sz="1200" b="0" i="0" kern="1200" dirty="0" err="1">
                <a:effectLst/>
              </a:rPr>
              <a:t>comparativa</a:t>
            </a:r>
            <a:r>
              <a:rPr lang="en-GB" sz="1200" b="0" i="0" kern="1200" dirty="0">
                <a:effectLst/>
              </a:rPr>
              <a:t>, e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dois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estudos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caso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independentes</a:t>
            </a:r>
            <a:r>
              <a:rPr lang="en-GB" sz="1200" b="0" i="0" kern="1200" dirty="0">
                <a:effectLst/>
              </a:rPr>
              <a:t>.</a:t>
            </a:r>
          </a:p>
          <a:p>
            <a:br>
              <a:rPr lang="en-GB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7:55 </a:t>
            </a:r>
          </a:p>
          <a:p>
            <a:pPr>
              <a:buNone/>
            </a:pPr>
            <a:endParaRPr lang="pt-PT" sz="1400" b="1" i="0" kern="1200" dirty="0">
              <a:solidFill>
                <a:srgbClr val="C00000"/>
              </a:solidFill>
              <a:effectLst/>
            </a:endParaRPr>
          </a:p>
          <a:p>
            <a:pPr>
              <a:buNone/>
            </a:pPr>
            <a:r>
              <a:rPr lang="en-GB" sz="1200" b="1" i="0" kern="1200" dirty="0">
                <a:effectLst/>
              </a:rPr>
              <a:t>Slide 11 — </a:t>
            </a:r>
            <a:r>
              <a:rPr lang="en-GB" sz="1200" b="1" i="0" kern="1200" dirty="0" err="1">
                <a:effectLst/>
              </a:rPr>
              <a:t>Algoritmos</a:t>
            </a:r>
            <a:r>
              <a:rPr lang="en-GB" sz="1200" b="1" i="0" kern="1200" dirty="0">
                <a:effectLst/>
              </a:rPr>
              <a:t>: CarenR e </a:t>
            </a:r>
            <a:r>
              <a:rPr lang="en-GB" sz="1200" b="1" i="0" kern="1200" dirty="0" err="1">
                <a:effectLst/>
              </a:rPr>
              <a:t>modelos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comparação</a:t>
            </a:r>
            <a:r>
              <a:rPr lang="en-GB" sz="1200" b="1" i="0" kern="1200" dirty="0">
                <a:effectLst/>
              </a:rPr>
              <a:t> (~1 min)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Foram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avaliadas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cinco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famílias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modelos</a:t>
            </a:r>
            <a:r>
              <a:rPr lang="en-GB" sz="1200" b="0" i="0" kern="1200" dirty="0">
                <a:effectLst/>
              </a:rPr>
              <a:t>, mas </a:t>
            </a:r>
            <a:r>
              <a:rPr lang="en-GB" sz="1200" b="0" i="0" kern="1200" dirty="0" err="1">
                <a:effectLst/>
              </a:rPr>
              <a:t>existe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método</a:t>
            </a:r>
            <a:r>
              <a:rPr lang="en-GB" sz="1200" b="0" i="0" kern="1200" dirty="0">
                <a:effectLst/>
              </a:rPr>
              <a:t> central: o CarenR.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u="none" strike="noStrike" kern="1200" dirty="0" err="1">
                <a:effectLst/>
              </a:rPr>
              <a:t>Resumo</a:t>
            </a:r>
            <a:r>
              <a:rPr lang="en-GB" sz="1200" b="1" i="0" u="none" strike="noStrike" kern="1200" dirty="0">
                <a:effectLst/>
              </a:rPr>
              <a:t> </a:t>
            </a:r>
            <a:r>
              <a:rPr lang="en-GB" sz="1200" b="1" i="0" u="none" strike="noStrike" kern="1200" dirty="0" err="1">
                <a:effectLst/>
              </a:rPr>
              <a:t>Prático</a:t>
            </a:r>
            <a:r>
              <a:rPr lang="en-GB" sz="1200" b="1" i="0" u="none" strike="noStrike" kern="1200" dirty="0">
                <a:effectLst/>
              </a:rPr>
              <a:t> para </a:t>
            </a:r>
            <a:r>
              <a:rPr lang="en-GB" sz="1200" b="1" i="0" u="none" strike="noStrike" kern="1200" dirty="0" err="1">
                <a:effectLst/>
              </a:rPr>
              <a:t>Memória</a:t>
            </a:r>
            <a:r>
              <a:rPr lang="en-GB" sz="1200" b="1" i="0" u="none" strike="noStrike" kern="1200" dirty="0">
                <a:effectLst/>
              </a:rPr>
              <a:t> Futura:</a:t>
            </a:r>
            <a:endParaRPr lang="en-GB" sz="1200" b="0" i="0" u="none" strike="noStrike" kern="1200" dirty="0">
              <a:effectLst/>
            </a:endParaRPr>
          </a:p>
          <a:p>
            <a:pPr lvl="0"/>
            <a:r>
              <a:rPr lang="en-GB" sz="1200" b="1" i="0" u="none" strike="noStrike" kern="1200" dirty="0">
                <a:effectLst/>
              </a:rPr>
              <a:t>2003</a:t>
            </a:r>
            <a:r>
              <a:rPr lang="en-GB" sz="1200" b="0" i="0" u="none" strike="noStrike" kern="1200" dirty="0">
                <a:effectLst/>
              </a:rPr>
              <a:t> </a:t>
            </a:r>
            <a:r>
              <a:rPr lang="en-GB" sz="1200" b="0" i="0" u="none" strike="noStrike" kern="1200" dirty="0" err="1">
                <a:effectLst/>
              </a:rPr>
              <a:t>é</a:t>
            </a:r>
            <a:r>
              <a:rPr lang="en-GB" sz="1200" b="0" i="0" u="none" strike="noStrike" kern="1200" dirty="0">
                <a:effectLst/>
              </a:rPr>
              <a:t> o </a:t>
            </a:r>
            <a:r>
              <a:rPr lang="en-GB" sz="1200" b="0" i="0" u="none" strike="noStrike" kern="1200" dirty="0" err="1">
                <a:effectLst/>
              </a:rPr>
              <a:t>ano</a:t>
            </a:r>
            <a:r>
              <a:rPr lang="en-GB" sz="1200" b="0" i="0" u="none" strike="noStrike" kern="1200" dirty="0">
                <a:effectLst/>
              </a:rPr>
              <a:t> do </a:t>
            </a:r>
            <a:r>
              <a:rPr lang="en-GB" sz="1200" b="1" i="0" u="none" strike="noStrike" kern="1200" dirty="0" err="1">
                <a:effectLst/>
              </a:rPr>
              <a:t>desenvolvimento</a:t>
            </a:r>
            <a:r>
              <a:rPr lang="en-GB" sz="1200" b="1" i="0" u="none" strike="noStrike" kern="1200" dirty="0">
                <a:effectLst/>
              </a:rPr>
              <a:t> e </a:t>
            </a:r>
            <a:r>
              <a:rPr lang="en-GB" sz="1200" b="1" i="0" u="none" strike="noStrike" kern="1200" dirty="0" err="1">
                <a:effectLst/>
              </a:rPr>
              <a:t>código</a:t>
            </a:r>
            <a:r>
              <a:rPr lang="en-GB" sz="1200" b="0" i="0" u="none" strike="noStrike" kern="1200" dirty="0">
                <a:effectLst/>
              </a:rPr>
              <a:t> (Paulo Azevedo).</a:t>
            </a:r>
          </a:p>
          <a:p>
            <a:pPr lvl="0"/>
            <a:r>
              <a:rPr lang="en-GB" sz="1200" b="1" i="0" u="none" strike="noStrike" kern="1200" dirty="0">
                <a:effectLst/>
              </a:rPr>
              <a:t>2006</a:t>
            </a:r>
            <a:r>
              <a:rPr lang="en-GB" sz="1200" b="0" i="0" u="none" strike="noStrike" kern="1200" dirty="0">
                <a:effectLst/>
              </a:rPr>
              <a:t> </a:t>
            </a:r>
            <a:r>
              <a:rPr lang="en-GB" sz="1200" b="0" i="0" u="none" strike="noStrike" kern="1200" dirty="0" err="1">
                <a:effectLst/>
              </a:rPr>
              <a:t>é</a:t>
            </a:r>
            <a:r>
              <a:rPr lang="en-GB" sz="1200" b="0" i="0" u="none" strike="noStrike" kern="1200" dirty="0">
                <a:effectLst/>
              </a:rPr>
              <a:t> o </a:t>
            </a:r>
            <a:r>
              <a:rPr lang="en-GB" sz="1200" b="0" i="0" u="none" strike="noStrike" kern="1200" dirty="0" err="1">
                <a:effectLst/>
              </a:rPr>
              <a:t>ano</a:t>
            </a:r>
            <a:r>
              <a:rPr lang="en-GB" sz="1200" b="0" i="0" u="none" strike="noStrike" kern="1200" dirty="0">
                <a:effectLst/>
              </a:rPr>
              <a:t> da </a:t>
            </a:r>
            <a:r>
              <a:rPr lang="en-GB" sz="1200" b="1" i="0" u="none" strike="noStrike" kern="1200" dirty="0" err="1">
                <a:effectLst/>
              </a:rPr>
              <a:t>cooperação</a:t>
            </a:r>
            <a:r>
              <a:rPr lang="en-GB" sz="1200" b="1" i="0" u="none" strike="noStrike" kern="1200" dirty="0">
                <a:effectLst/>
              </a:rPr>
              <a:t> e </a:t>
            </a:r>
            <a:r>
              <a:rPr lang="en-GB" sz="1200" b="1" i="0" u="none" strike="noStrike" kern="1200" dirty="0" err="1">
                <a:effectLst/>
              </a:rPr>
              <a:t>aplicação</a:t>
            </a:r>
            <a:r>
              <a:rPr lang="en-GB" sz="1200" b="1" i="0" u="none" strike="noStrike" kern="1200" dirty="0">
                <a:effectLst/>
              </a:rPr>
              <a:t> </a:t>
            </a:r>
            <a:r>
              <a:rPr lang="en-GB" sz="1200" b="1" i="0" u="none" strike="noStrike" kern="1200" dirty="0" err="1">
                <a:effectLst/>
              </a:rPr>
              <a:t>avançada</a:t>
            </a:r>
            <a:r>
              <a:rPr lang="en-GB" sz="1200" b="0" i="0" u="none" strike="noStrike" kern="1200" dirty="0">
                <a:effectLst/>
              </a:rPr>
              <a:t> (Azevedo + Alípio Jorge).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# O CarenR </a:t>
            </a:r>
          </a:p>
          <a:p>
            <a:r>
              <a:rPr lang="en-GB" sz="1200" b="0" i="0" kern="1200" dirty="0" err="1">
                <a:effectLst/>
              </a:rPr>
              <a:t>Estabelece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ligação</a:t>
            </a:r>
            <a:r>
              <a:rPr lang="en-GB" sz="1200" b="0" i="0" kern="1200" dirty="0">
                <a:effectLst/>
              </a:rPr>
              <a:t> entre as duas partes da </a:t>
            </a:r>
            <a:r>
              <a:rPr lang="en-GB" sz="1200" b="0" i="0" kern="1200" dirty="0" err="1">
                <a:effectLst/>
              </a:rPr>
              <a:t>tese</a:t>
            </a:r>
            <a:r>
              <a:rPr lang="en-GB" sz="1200" b="0" i="0" kern="1200" dirty="0">
                <a:effectLst/>
              </a:rPr>
              <a:t>.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Por um </a:t>
            </a:r>
            <a:r>
              <a:rPr lang="en-GB" sz="1200" b="0" i="0" kern="1200" dirty="0" err="1">
                <a:effectLst/>
              </a:rPr>
              <a:t>lado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descobre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interpretáveis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>
                <a:effectLst/>
              </a:rPr>
              <a:t>Por outro, </a:t>
            </a:r>
            <a:r>
              <a:rPr lang="en-GB" sz="1200" b="0" i="0" kern="1200" dirty="0" err="1">
                <a:effectLst/>
              </a:rPr>
              <a:t>varianetes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implementacao</a:t>
            </a:r>
            <a:r>
              <a:rPr lang="en-GB" sz="1200" b="0" i="0" kern="1200" dirty="0">
                <a:effectLst/>
              </a:rPr>
              <a:t> do Caren e de </a:t>
            </a:r>
            <a:r>
              <a:rPr lang="en-GB" sz="1200" b="0" i="0" kern="1200" dirty="0" err="1">
                <a:effectLst/>
              </a:rPr>
              <a:t>estrategias</a:t>
            </a:r>
            <a:r>
              <a:rPr lang="en-GB" sz="1200" b="0" i="0" kern="1200" dirty="0">
                <a:effectLst/>
              </a:rPr>
              <a:t> de feature selection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também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avaliadas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modelos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preditivos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De forma </a:t>
            </a:r>
            <a:r>
              <a:rPr lang="en-GB" sz="1200" b="0" i="0" kern="1200" dirty="0" err="1">
                <a:effectLst/>
              </a:rPr>
              <a:t>simplificada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processo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inclui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quatro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etapas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- Primeiro, as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climáticas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discretizadas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bins</a:t>
            </a:r>
            <a:r>
              <a:rPr lang="en-GB" sz="1200" b="0" i="0" kern="1200" dirty="0">
                <a:effectLst/>
              </a:rPr>
              <a:t> de </a:t>
            </a:r>
            <a:r>
              <a:rPr lang="en-GB" sz="1200" b="0" i="0" kern="1200" dirty="0" err="1">
                <a:effectLst/>
              </a:rPr>
              <a:t>igual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frequência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 Segundo,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realizada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pesquisa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level-wise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inspirada</a:t>
            </a:r>
            <a:r>
              <a:rPr lang="en-GB" sz="1200" b="0" i="0" kern="1200" dirty="0">
                <a:effectLst/>
              </a:rPr>
              <a:t> no </a:t>
            </a:r>
            <a:r>
              <a:rPr lang="en-GB" sz="1200" b="0" i="0" kern="1200" dirty="0" err="1">
                <a:effectLst/>
              </a:rPr>
              <a:t>algoritmo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Apriori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através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combinação</a:t>
            </a:r>
            <a:r>
              <a:rPr lang="en-GB" sz="1200" b="0" i="0" kern="1200" dirty="0">
                <a:effectLst/>
              </a:rPr>
              <a:t> progressiva de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entre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e </a:t>
            </a:r>
            <a:r>
              <a:rPr lang="en-GB" sz="1200" b="0" i="1" kern="1200" dirty="0">
                <a:effectLst/>
              </a:rPr>
              <a:t>bins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 Terceiro,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resíduos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subgrupo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identificado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comparados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resíduos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globais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através</a:t>
            </a:r>
            <a:r>
              <a:rPr lang="en-GB" sz="1200" b="0" i="0" kern="1200" dirty="0">
                <a:effectLst/>
              </a:rPr>
              <a:t> de um teste de Kolmogorov–Smirnov.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 Quarto - </a:t>
            </a:r>
            <a:r>
              <a:rPr lang="en-GB" sz="1200" b="0" i="0" kern="1200" dirty="0" err="1">
                <a:effectLst/>
              </a:rPr>
              <a:t>Finalmente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retidas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apresentam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significância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estatística</a:t>
            </a:r>
            <a:r>
              <a:rPr lang="en-GB" sz="1200" b="0" i="0" kern="1200" dirty="0">
                <a:effectLst/>
              </a:rPr>
              <a:t> e </a:t>
            </a:r>
            <a:r>
              <a:rPr lang="en-GB" sz="1200" b="0" i="1" kern="1200" dirty="0">
                <a:effectLst/>
              </a:rPr>
              <a:t>support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suficiente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restantes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algoritmos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têm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funções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específicas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O RIPPER e o M5Rules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também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algoritmos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baseados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 err="1">
                <a:effectLst/>
              </a:rPr>
              <a:t>Permitem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verificar</a:t>
            </a:r>
            <a:r>
              <a:rPr lang="en-GB" sz="1200" b="0" i="0" kern="1200" dirty="0">
                <a:effectLst/>
              </a:rPr>
              <a:t> se as </a:t>
            </a:r>
            <a:r>
              <a:rPr lang="en-GB" sz="1200" b="0" i="0" kern="1200" dirty="0" err="1">
                <a:effectLst/>
              </a:rPr>
              <a:t>mesmas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famílias</a:t>
            </a:r>
            <a:r>
              <a:rPr lang="en-GB" sz="1200" b="0" i="0" kern="1200" dirty="0">
                <a:effectLst/>
              </a:rPr>
              <a:t> de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surgem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quando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utilizados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critérios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otimização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diferentes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funcionam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simultaneamente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modelos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comparação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componente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 Decision Tree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utilizada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benchmark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preditivo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Por </a:t>
            </a:r>
            <a:r>
              <a:rPr lang="en-GB" sz="1200" b="0" i="0" kern="1200" dirty="0" err="1">
                <a:effectLst/>
              </a:rPr>
              <a:t>fim</a:t>
            </a:r>
            <a:r>
              <a:rPr lang="en-GB" sz="1200" b="0" i="0" kern="1200" dirty="0">
                <a:effectLst/>
              </a:rPr>
              <a:t>, a </a:t>
            </a:r>
            <a:r>
              <a:rPr lang="en-GB" sz="1200" b="0" i="0" kern="1200" dirty="0" err="1">
                <a:effectLst/>
              </a:rPr>
              <a:t>mediana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último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valor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observado</a:t>
            </a:r>
            <a:r>
              <a:rPr lang="en-GB" sz="1200" b="0" i="0" kern="1200" dirty="0">
                <a:effectLst/>
              </a:rPr>
              <a:t> e a </a:t>
            </a:r>
            <a:r>
              <a:rPr lang="en-GB" sz="1200" b="0" i="0" kern="1200" dirty="0" err="1">
                <a:effectLst/>
              </a:rPr>
              <a:t>média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móvel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funcionam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baselines</a:t>
            </a:r>
            <a:r>
              <a:rPr lang="en-GB" sz="1200" b="0" i="0" kern="1200" dirty="0">
                <a:effectLst/>
              </a:rPr>
              <a:t> simples de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ponto</a:t>
            </a:r>
            <a:r>
              <a:rPr lang="en-GB" sz="1200" b="0" i="0" kern="1200" dirty="0">
                <a:effectLst/>
              </a:rPr>
              <a:t> fundamental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algoritmos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desempenham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todos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mesma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função</a:t>
            </a:r>
            <a:r>
              <a:rPr lang="en-GB" sz="1200" b="0" i="0" kern="1200" dirty="0">
                <a:effectLst/>
              </a:rPr>
              <a:t>. </a:t>
            </a:r>
            <a:r>
              <a:rPr lang="en-GB" sz="1200" b="0" i="0" kern="1200" dirty="0" err="1">
                <a:effectLst/>
              </a:rPr>
              <a:t>Alguns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contribuem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sobretudo</a:t>
            </a:r>
            <a:r>
              <a:rPr lang="en-GB" sz="1200" b="0" i="0" kern="1200" dirty="0">
                <a:effectLst/>
              </a:rPr>
              <a:t> para a </a:t>
            </a:r>
            <a:r>
              <a:rPr lang="en-GB" sz="1200" b="0" i="0" kern="1200" dirty="0" err="1">
                <a:effectLst/>
              </a:rPr>
              <a:t>interpretabilidade</a:t>
            </a:r>
            <a:r>
              <a:rPr lang="en-GB" sz="1200" b="0" i="0" kern="1200" dirty="0">
                <a:effectLst/>
              </a:rPr>
              <a:t>, outros para a </a:t>
            </a:r>
            <a:r>
              <a:rPr lang="en-GB" sz="1200" b="0" i="0" kern="1200" dirty="0" err="1">
                <a:effectLst/>
              </a:rPr>
              <a:t>comparação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preditiva</a:t>
            </a:r>
            <a:r>
              <a:rPr lang="en-GB" sz="1200" b="0" i="0" kern="1200" dirty="0">
                <a:effectLst/>
              </a:rPr>
              <a:t>, e o Caren </a:t>
            </a:r>
            <a:r>
              <a:rPr lang="en-GB" sz="1200" b="0" i="0" kern="1200" dirty="0" err="1">
                <a:effectLst/>
              </a:rPr>
              <a:t>funciona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ponte</a:t>
            </a:r>
            <a:r>
              <a:rPr lang="en-GB" sz="1200" b="0" i="0" kern="1200" dirty="0">
                <a:effectLst/>
              </a:rPr>
              <a:t> entre </a:t>
            </a:r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duas </a:t>
            </a:r>
            <a:r>
              <a:rPr lang="en-GB" sz="1200" b="0" i="0" kern="1200" dirty="0" err="1">
                <a:effectLst/>
              </a:rPr>
              <a:t>dimensões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8:55  </a:t>
            </a:r>
          </a:p>
          <a:p>
            <a:pPr>
              <a:buNone/>
            </a:pPr>
            <a:endParaRPr lang="pt-PT" sz="1400" b="1" dirty="0">
              <a:solidFill>
                <a:srgbClr val="C00000"/>
              </a:solidFill>
            </a:endParaRPr>
          </a:p>
          <a:p>
            <a:r>
              <a:rPr lang="en-GB" sz="1200" b="1" i="0" kern="1200" dirty="0">
                <a:effectLst/>
              </a:rPr>
              <a:t>Slide 12 — </a:t>
            </a:r>
            <a:r>
              <a:rPr lang="en-GB" sz="1200" b="1" i="0" kern="1200" dirty="0" err="1">
                <a:effectLst/>
              </a:rPr>
              <a:t>Objetivo</a:t>
            </a:r>
            <a:r>
              <a:rPr lang="en-GB" sz="1200" b="1" i="0" kern="1200" dirty="0">
                <a:effectLst/>
              </a:rPr>
              <a:t> 1: a </a:t>
            </a:r>
            <a:r>
              <a:rPr lang="en-GB" sz="1200" b="1" i="0" kern="1200" dirty="0" err="1">
                <a:effectLst/>
              </a:rPr>
              <a:t>lógica</a:t>
            </a:r>
            <a:r>
              <a:rPr lang="en-GB" sz="1200" b="1" i="0" kern="1200" dirty="0">
                <a:effectLst/>
              </a:rPr>
              <a:t> do teste KS (~1 min)</a:t>
            </a:r>
          </a:p>
          <a:p>
            <a:endParaRPr lang="en-GB" sz="1200" b="1" i="0" kern="1200" dirty="0">
              <a:effectLst/>
            </a:endParaRP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Este slide </a:t>
            </a:r>
            <a:r>
              <a:rPr lang="en-GB" sz="1200" b="0" i="0" kern="1200" dirty="0" err="1">
                <a:effectLst/>
              </a:rPr>
              <a:t>apresenta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funcionamento</a:t>
            </a:r>
            <a:r>
              <a:rPr lang="en-GB" sz="1200" b="0" i="0" kern="1200" dirty="0">
                <a:effectLst/>
              </a:rPr>
              <a:t> conceptual do CarenR.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dirty="0"/>
              <a:t>À </a:t>
            </a:r>
            <a:r>
              <a:rPr lang="en-GB" dirty="0" err="1"/>
              <a:t>esquerda</a:t>
            </a:r>
            <a:r>
              <a:rPr lang="en-GB" dirty="0"/>
              <a:t>, </a:t>
            </a:r>
            <a:r>
              <a:rPr lang="en-GB" dirty="0" err="1"/>
              <a:t>mostro</a:t>
            </a:r>
            <a:r>
              <a:rPr lang="en-GB" dirty="0"/>
              <a:t> </a:t>
            </a:r>
            <a:r>
              <a:rPr lang="en-GB" dirty="0" err="1"/>
              <a:t>primeiro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as </a:t>
            </a:r>
            <a:r>
              <a:rPr lang="en-GB" dirty="0" err="1"/>
              <a:t>próprias</a:t>
            </a:r>
            <a:r>
              <a:rPr lang="en-GB" dirty="0"/>
              <a:t> </a:t>
            </a:r>
            <a:r>
              <a:rPr lang="en-GB" dirty="0" err="1"/>
              <a:t>variáveis</a:t>
            </a:r>
            <a:r>
              <a:rPr lang="en-GB" dirty="0"/>
              <a:t> </a:t>
            </a:r>
            <a:r>
              <a:rPr lang="en-GB" dirty="0" err="1"/>
              <a:t>climáticas</a:t>
            </a:r>
            <a:r>
              <a:rPr lang="en-GB" dirty="0"/>
              <a:t> </a:t>
            </a:r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são</a:t>
            </a:r>
            <a:r>
              <a:rPr lang="en-GB" dirty="0"/>
              <a:t> </a:t>
            </a:r>
            <a:r>
              <a:rPr lang="en-GB" dirty="0" err="1"/>
              <a:t>estáticas</a:t>
            </a:r>
            <a:r>
              <a:rPr lang="en-GB" dirty="0"/>
              <a:t>: </a:t>
            </a:r>
          </a:p>
          <a:p>
            <a:r>
              <a:rPr lang="en-GB" dirty="0"/>
              <a:t>- no Douro,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dias</a:t>
            </a:r>
            <a:r>
              <a:rPr lang="en-GB" dirty="0"/>
              <a:t> de stress </a:t>
            </a:r>
            <a:r>
              <a:rPr lang="en-GB" dirty="0" err="1"/>
              <a:t>térmico</a:t>
            </a:r>
            <a:r>
              <a:rPr lang="en-GB" dirty="0"/>
              <a:t> </a:t>
            </a:r>
            <a:r>
              <a:rPr lang="en-GB" dirty="0" err="1"/>
              <a:t>aumentam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longo</a:t>
            </a:r>
            <a:r>
              <a:rPr lang="en-GB" dirty="0"/>
              <a:t> do </a:t>
            </a:r>
            <a:r>
              <a:rPr lang="en-GB" dirty="0" err="1"/>
              <a:t>período</a:t>
            </a:r>
            <a:r>
              <a:rPr lang="en-GB" dirty="0"/>
              <a:t>, </a:t>
            </a:r>
            <a:r>
              <a:rPr lang="en-GB" dirty="0" err="1"/>
              <a:t>cerca</a:t>
            </a:r>
            <a:r>
              <a:rPr lang="en-GB" dirty="0"/>
              <a:t> de 1,3 </a:t>
            </a:r>
            <a:r>
              <a:rPr lang="en-GB" dirty="0" err="1"/>
              <a:t>dias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década</a:t>
            </a:r>
            <a:r>
              <a:rPr lang="en-GB" dirty="0"/>
              <a:t>. Isto </a:t>
            </a:r>
            <a:r>
              <a:rPr lang="en-GB" dirty="0" err="1"/>
              <a:t>é</a:t>
            </a:r>
            <a:r>
              <a:rPr lang="en-GB" dirty="0"/>
              <a:t> </a:t>
            </a:r>
            <a:r>
              <a:rPr lang="en-GB" dirty="0" err="1"/>
              <a:t>importante</a:t>
            </a:r>
            <a:r>
              <a:rPr lang="en-GB" dirty="0"/>
              <a:t> </a:t>
            </a:r>
            <a:r>
              <a:rPr lang="en-GB" dirty="0" err="1"/>
              <a:t>porque</a:t>
            </a:r>
            <a:r>
              <a:rPr lang="en-GB" dirty="0"/>
              <a:t> </a:t>
            </a:r>
            <a:r>
              <a:rPr lang="en-GB" dirty="0" err="1"/>
              <a:t>significa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só</a:t>
            </a:r>
            <a:r>
              <a:rPr lang="en-GB" dirty="0"/>
              <a:t> a </a:t>
            </a:r>
            <a:r>
              <a:rPr lang="en-GB" dirty="0" err="1"/>
              <a:t>produção</a:t>
            </a:r>
            <a:r>
              <a:rPr lang="en-GB" dirty="0"/>
              <a:t> </a:t>
            </a:r>
            <a:r>
              <a:rPr lang="en-GB" dirty="0" err="1"/>
              <a:t>muda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longo</a:t>
            </a:r>
            <a:r>
              <a:rPr lang="en-GB" dirty="0"/>
              <a:t> do tempo;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preditores</a:t>
            </a:r>
            <a:r>
              <a:rPr lang="en-GB" dirty="0"/>
              <a:t> </a:t>
            </a:r>
            <a:r>
              <a:rPr lang="en-GB" dirty="0" err="1"/>
              <a:t>climáticos</a:t>
            </a:r>
            <a:r>
              <a:rPr lang="en-GB" dirty="0"/>
              <a:t> </a:t>
            </a:r>
            <a:r>
              <a:rPr lang="en-GB" dirty="0" err="1"/>
              <a:t>também</a:t>
            </a:r>
            <a:r>
              <a:rPr lang="en-GB" dirty="0"/>
              <a:t> </a:t>
            </a:r>
            <a:r>
              <a:rPr lang="en-GB" dirty="0" err="1"/>
              <a:t>podem</a:t>
            </a:r>
            <a:r>
              <a:rPr lang="en-GB" dirty="0"/>
              <a:t> ter </a:t>
            </a:r>
            <a:r>
              <a:rPr lang="en-GB" dirty="0" err="1"/>
              <a:t>tendência</a:t>
            </a:r>
            <a:r>
              <a:rPr lang="en-GB" dirty="0"/>
              <a:t>.</a:t>
            </a:r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Para </a:t>
            </a:r>
            <a:r>
              <a:rPr lang="en-GB" sz="1200" b="0" i="0" kern="1200" dirty="0" err="1">
                <a:effectLst/>
              </a:rPr>
              <a:t>cada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candidata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algoritmo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coloca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seguinte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questão</a:t>
            </a:r>
            <a:r>
              <a:rPr lang="en-GB" sz="1200" b="0" i="0" kern="1200" dirty="0">
                <a:effectLst/>
              </a:rPr>
              <a:t>: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cumprem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apresentam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distribuição</a:t>
            </a:r>
            <a:r>
              <a:rPr lang="en-GB" sz="1200" b="0" i="0" kern="1200" dirty="0">
                <a:effectLst/>
              </a:rPr>
              <a:t> dos </a:t>
            </a:r>
            <a:r>
              <a:rPr lang="en-GB" sz="1200" b="0" i="0" kern="1200" dirty="0" err="1">
                <a:effectLst/>
              </a:rPr>
              <a:t>resíduos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diferente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distribuição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observada</a:t>
            </a:r>
            <a:r>
              <a:rPr lang="en-GB" sz="1200" b="0" i="0" kern="1200" dirty="0">
                <a:effectLst/>
              </a:rPr>
              <a:t> no conjunto de </a:t>
            </a:r>
            <a:r>
              <a:rPr lang="en-GB" sz="1200" b="0" i="0" kern="1200" dirty="0" err="1">
                <a:effectLst/>
              </a:rPr>
              <a:t>todos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?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dirty="0"/>
              <a:t>O CarenR  </a:t>
            </a:r>
            <a:r>
              <a:rPr lang="en-GB" dirty="0" err="1"/>
              <a:t>deve</a:t>
            </a:r>
            <a:r>
              <a:rPr lang="en-GB" dirty="0"/>
              <a:t> ser visto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forma de </a:t>
            </a:r>
            <a:r>
              <a:rPr lang="en-GB" dirty="0" err="1"/>
              <a:t>perguntar</a:t>
            </a:r>
            <a:r>
              <a:rPr lang="en-GB" dirty="0"/>
              <a:t> se </a:t>
            </a:r>
            <a:r>
              <a:rPr lang="en-GB" dirty="0" err="1"/>
              <a:t>certas</a:t>
            </a:r>
            <a:r>
              <a:rPr lang="en-GB" dirty="0"/>
              <a:t> </a:t>
            </a:r>
            <a:r>
              <a:rPr lang="en-GB" dirty="0" err="1"/>
              <a:t>combinações</a:t>
            </a:r>
            <a:r>
              <a:rPr lang="en-GB" dirty="0"/>
              <a:t> </a:t>
            </a:r>
            <a:r>
              <a:rPr lang="en-GB" dirty="0" err="1"/>
              <a:t>climáticas</a:t>
            </a:r>
            <a:r>
              <a:rPr lang="en-GB" dirty="0"/>
              <a:t> </a:t>
            </a:r>
            <a:r>
              <a:rPr lang="en-GB" dirty="0" err="1"/>
              <a:t>definem</a:t>
            </a:r>
            <a:r>
              <a:rPr lang="en-GB" dirty="0"/>
              <a:t> </a:t>
            </a:r>
            <a:r>
              <a:rPr lang="en-GB" dirty="0" err="1"/>
              <a:t>subgrupos</a:t>
            </a:r>
            <a:r>
              <a:rPr lang="en-GB" dirty="0"/>
              <a:t> de </a:t>
            </a:r>
            <a:r>
              <a:rPr lang="en-GB" dirty="0" err="1"/>
              <a:t>anos</a:t>
            </a:r>
            <a:r>
              <a:rPr lang="en-GB" dirty="0"/>
              <a:t> com </a:t>
            </a:r>
            <a:r>
              <a:rPr lang="en-GB" dirty="0" err="1"/>
              <a:t>distribuições</a:t>
            </a:r>
            <a:r>
              <a:rPr lang="en-GB" dirty="0"/>
              <a:t> de </a:t>
            </a:r>
            <a:r>
              <a:rPr lang="en-GB" dirty="0" err="1"/>
              <a:t>produção</a:t>
            </a:r>
            <a:r>
              <a:rPr lang="en-GB" dirty="0"/>
              <a:t> residual </a:t>
            </a:r>
            <a:r>
              <a:rPr lang="en-GB" dirty="0" err="1"/>
              <a:t>estatisticamente</a:t>
            </a:r>
            <a:r>
              <a:rPr lang="en-GB" dirty="0"/>
              <a:t> </a:t>
            </a:r>
            <a:r>
              <a:rPr lang="en-GB" dirty="0" err="1"/>
              <a:t>diferentes</a:t>
            </a:r>
            <a:r>
              <a:rPr lang="en-GB" dirty="0"/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No </a:t>
            </a:r>
            <a:r>
              <a:rPr lang="en-GB" sz="1200" b="1" i="0" kern="1200" dirty="0" err="1">
                <a:effectLst/>
              </a:rPr>
              <a:t>gráfico</a:t>
            </a:r>
            <a:r>
              <a:rPr lang="en-GB" sz="1200" b="1" i="0" kern="1200" dirty="0">
                <a:effectLst/>
              </a:rPr>
              <a:t>,</a:t>
            </a:r>
            <a:r>
              <a:rPr lang="en-GB" sz="1200" b="0" i="0" kern="1200" dirty="0">
                <a:effectLst/>
              </a:rPr>
              <a:t> 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effectLst/>
              </a:rPr>
              <a:t>a curva preta </a:t>
            </a:r>
            <a:r>
              <a:rPr lang="en-GB" sz="1200" b="0" i="0" kern="1200" dirty="0" err="1">
                <a:effectLst/>
              </a:rPr>
              <a:t>representa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todos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. A curva </a:t>
            </a:r>
            <a:r>
              <a:rPr lang="en-GB" sz="1200" b="1" i="0" kern="1200" dirty="0" err="1">
                <a:effectLst/>
              </a:rPr>
              <a:t>bordô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representa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cumprem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.</a:t>
            </a:r>
          </a:p>
          <a:p>
            <a:pPr marL="171450" indent="-171450">
              <a:buFontTx/>
              <a:buChar char="-"/>
            </a:pPr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destacar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o CarenR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verifica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se as </a:t>
            </a:r>
            <a:r>
              <a:rPr lang="en-GB" sz="1200" b="0" i="0" kern="1200" dirty="0" err="1">
                <a:effectLst/>
              </a:rPr>
              <a:t>médias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diferentes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1" i="0" kern="1200" dirty="0" err="1">
                <a:effectLst/>
              </a:rPr>
              <a:t>Aplica</a:t>
            </a:r>
            <a:r>
              <a:rPr lang="en-GB" sz="1200" b="1" i="0" kern="1200" dirty="0">
                <a:effectLst/>
              </a:rPr>
              <a:t> o teste </a:t>
            </a:r>
            <a:r>
              <a:rPr lang="en-GB" sz="1200" b="1" i="0" kern="1200" dirty="0" err="1">
                <a:effectLst/>
              </a:rPr>
              <a:t>estatistico</a:t>
            </a:r>
            <a:r>
              <a:rPr lang="en-GB" sz="1200" b="1" i="0" kern="1200" dirty="0">
                <a:effectLst/>
              </a:rPr>
              <a:t> de Kolmogorov–Smirnov </a:t>
            </a:r>
            <a:r>
              <a:rPr lang="en-GB" sz="1200" b="1" i="0" kern="1200" dirty="0" err="1">
                <a:effectLst/>
              </a:rPr>
              <a:t>ou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seja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mede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distância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máxima</a:t>
            </a:r>
            <a:r>
              <a:rPr lang="en-GB" sz="1200" b="1" i="0" kern="1200" dirty="0">
                <a:effectLst/>
              </a:rPr>
              <a:t> entre as duas </a:t>
            </a:r>
            <a:r>
              <a:rPr lang="en-GB" sz="1200" b="1" i="0" kern="1200" dirty="0" err="1">
                <a:effectLst/>
              </a:rPr>
              <a:t>distribuições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cumulativas</a:t>
            </a:r>
            <a:r>
              <a:rPr lang="en-GB" sz="1200" b="1" i="0" kern="1200" dirty="0">
                <a:effectLst/>
              </a:rPr>
              <a:t>.</a:t>
            </a:r>
            <a:r>
              <a:rPr lang="en-GB" sz="1200" b="0" i="0" kern="1200" dirty="0">
                <a:effectLst/>
              </a:rPr>
              <a:t> </a:t>
            </a:r>
          </a:p>
          <a:p>
            <a:r>
              <a:rPr lang="en-GB" sz="1200" b="0" i="0" kern="1200" dirty="0">
                <a:effectLst/>
              </a:rPr>
              <a:t>Desta forma, </a:t>
            </a:r>
            <a:r>
              <a:rPr lang="en-GB" sz="1200" b="0" i="0" kern="1200" dirty="0" err="1">
                <a:effectLst/>
              </a:rPr>
              <a:t>consegue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detetar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alterações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</a:t>
            </a:r>
            <a:r>
              <a:rPr lang="en-GB" sz="1200" b="0" i="0" kern="1200" dirty="0">
                <a:effectLst/>
              </a:rPr>
              <a:t> forma da </a:t>
            </a:r>
            <a:r>
              <a:rPr lang="en-GB" sz="1200" b="0" i="0" kern="1200" dirty="0" err="1">
                <a:effectLst/>
              </a:rPr>
              <a:t>distribuição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respetivas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caudas</a:t>
            </a:r>
            <a:r>
              <a:rPr lang="en-GB" sz="1200" b="0" i="0" kern="1200" dirty="0">
                <a:effectLst/>
              </a:rPr>
              <a:t>, e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diferenças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média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Na </a:t>
            </a:r>
            <a:r>
              <a:rPr lang="en-GB" sz="1200" b="0" i="0" kern="1200" dirty="0" err="1">
                <a:effectLst/>
              </a:rPr>
              <a:t>figura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lado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direito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conseguem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torna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auditável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Um </a:t>
            </a:r>
            <a:r>
              <a:rPr lang="en-GB" sz="1200" b="0" i="0" kern="1200" dirty="0" err="1">
                <a:effectLst/>
              </a:rPr>
              <a:t>agrónomo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questionar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diretamente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verificar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subgrupo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cobre</a:t>
            </a:r>
            <a:r>
              <a:rPr lang="en-GB" sz="1200" b="0" i="0" kern="1200" dirty="0">
                <a:effectLst/>
              </a:rPr>
              <a:t> 28% dos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analisar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respetivo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p-value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neste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caso</a:t>
            </a:r>
            <a:r>
              <a:rPr lang="en-GB" sz="1200" b="0" i="0" kern="1200" dirty="0">
                <a:effectLst/>
              </a:rPr>
              <a:t> 0,004.</a:t>
            </a: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a principal </a:t>
            </a:r>
            <a:r>
              <a:rPr lang="en-GB" sz="1200" b="0" i="0" kern="1200" dirty="0" err="1">
                <a:effectLst/>
              </a:rPr>
              <a:t>vantagem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interpretabilidade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relativamente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explicação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produzida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black box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No slide </a:t>
            </a:r>
            <a:r>
              <a:rPr lang="en-GB" sz="1200" b="0" i="0" kern="1200" dirty="0" err="1">
                <a:effectLst/>
              </a:rPr>
              <a:t>seguinte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veremos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se </a:t>
            </a:r>
            <a:r>
              <a:rPr lang="en-GB" sz="1200" b="0" i="0" kern="1200" dirty="0" err="1">
                <a:effectLst/>
              </a:rPr>
              <a:t>traduzem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resultados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concretos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9:35</a:t>
            </a:r>
          </a:p>
          <a:p>
            <a:pPr>
              <a:buNone/>
            </a:pPr>
            <a:endParaRPr lang="pt-PT" sz="1400" b="1" dirty="0">
              <a:solidFill>
                <a:srgbClr val="C00000"/>
              </a:solidFill>
            </a:endParaRPr>
          </a:p>
          <a:p>
            <a:r>
              <a:rPr lang="en-GB" sz="1200" b="1" i="0" kern="1200" dirty="0">
                <a:effectLst/>
              </a:rPr>
              <a:t>Slide 13 — </a:t>
            </a:r>
            <a:r>
              <a:rPr lang="en-GB" sz="1200" b="1" i="0" kern="1200" dirty="0" err="1">
                <a:effectLst/>
              </a:rPr>
              <a:t>Resultados</a:t>
            </a:r>
            <a:r>
              <a:rPr lang="en-GB" sz="1200" b="1" i="0" kern="1200" dirty="0">
                <a:effectLst/>
              </a:rPr>
              <a:t> da </a:t>
            </a:r>
            <a:r>
              <a:rPr lang="en-GB" sz="1200" b="1" i="0" kern="1200" dirty="0" err="1">
                <a:effectLst/>
              </a:rPr>
              <a:t>descoberta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padrões</a:t>
            </a:r>
            <a:r>
              <a:rPr lang="en-GB" sz="1200" b="1" i="0" kern="1200" dirty="0">
                <a:effectLst/>
              </a:rPr>
              <a:t> (~40 s)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O </a:t>
            </a:r>
            <a:r>
              <a:rPr lang="en-GB" sz="1200" b="1" i="0" kern="1200" dirty="0" err="1">
                <a:effectLst/>
              </a:rPr>
              <a:t>Objetivo</a:t>
            </a:r>
            <a:r>
              <a:rPr lang="en-GB" sz="1200" b="1" i="0" kern="1200" dirty="0">
                <a:effectLst/>
              </a:rPr>
              <a:t> 1 </a:t>
            </a:r>
            <a:r>
              <a:rPr lang="en-GB" sz="1200" b="1" i="0" kern="1200" dirty="0" err="1">
                <a:effectLst/>
              </a:rPr>
              <a:t>foi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alcançado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0" i="0" kern="1200" dirty="0">
                <a:effectLst/>
              </a:rPr>
              <a:t>e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conjuntos de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obtidos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suficientemente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compactos</a:t>
            </a:r>
            <a:r>
              <a:rPr lang="en-GB" sz="1200" b="0" i="0" kern="1200" dirty="0">
                <a:effectLst/>
              </a:rPr>
              <a:t> para </a:t>
            </a:r>
            <a:r>
              <a:rPr lang="en-GB" sz="1200" b="0" i="0" kern="1200" dirty="0" err="1">
                <a:effectLst/>
              </a:rPr>
              <a:t>serem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analisados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diretamente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- </a:t>
            </a:r>
            <a:r>
              <a:rPr lang="en-GB" sz="1200" b="1" i="0" kern="1200" dirty="0">
                <a:effectLst/>
              </a:rPr>
              <a:t>No Douro </a:t>
            </a:r>
            <a:r>
              <a:rPr lang="en-GB" sz="1200" b="1" i="0" kern="1200" dirty="0" err="1">
                <a:effectLst/>
              </a:rPr>
              <a:t>foram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identificadas</a:t>
            </a:r>
            <a:r>
              <a:rPr lang="en-GB" sz="1200" b="1" i="0" kern="1200" dirty="0">
                <a:effectLst/>
              </a:rPr>
              <a:t> 48 </a:t>
            </a:r>
            <a:r>
              <a:rPr lang="en-GB" sz="1200" b="1" i="0" kern="1200" dirty="0" err="1">
                <a:effectLst/>
              </a:rPr>
              <a:t>regras</a:t>
            </a:r>
            <a:r>
              <a:rPr lang="en-GB" sz="1200" b="1" i="0" kern="1200" dirty="0">
                <a:effectLst/>
              </a:rPr>
              <a:t>.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A </a:t>
            </a:r>
            <a:r>
              <a:rPr lang="en-GB" sz="1200" b="1" i="0" kern="1200" dirty="0" err="1">
                <a:effectLst/>
              </a:rPr>
              <a:t>variável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mais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consistente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no solo </a:t>
            </a:r>
            <a:r>
              <a:rPr lang="en-GB" sz="1200" b="0" i="0" kern="1200" dirty="0" err="1">
                <a:effectLst/>
              </a:rPr>
              <a:t>durante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vindima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aparece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em</a:t>
            </a:r>
            <a:r>
              <a:rPr lang="en-GB" sz="1200" b="1" i="0" kern="1200" dirty="0">
                <a:effectLst/>
              </a:rPr>
              <a:t> 54% das </a:t>
            </a:r>
            <a:r>
              <a:rPr lang="en-GB" sz="1200" b="1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. </a:t>
            </a:r>
          </a:p>
          <a:p>
            <a:r>
              <a:rPr lang="en-GB" sz="1200" b="0" i="0" kern="1200" dirty="0">
                <a:effectLst/>
              </a:rPr>
              <a:t>Surge </a:t>
            </a:r>
            <a:r>
              <a:rPr lang="en-GB" sz="1200" b="0" i="0" kern="1200" dirty="0" err="1">
                <a:effectLst/>
              </a:rPr>
              <a:t>frequentemente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combinada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após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floração</a:t>
            </a:r>
            <a:r>
              <a:rPr lang="en-GB" sz="1200" b="0" i="0" kern="1200" dirty="0">
                <a:effectLst/>
              </a:rPr>
              <a:t> e com </a:t>
            </a:r>
            <a:r>
              <a:rPr lang="en-GB" sz="1200" b="0" i="0" kern="1200" dirty="0" err="1">
                <a:effectLst/>
              </a:rPr>
              <a:t>níveis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calor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moderados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estando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associada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acima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 </a:t>
            </a:r>
            <a:r>
              <a:rPr lang="en-GB" sz="1200" b="1" i="0" kern="1200" dirty="0">
                <a:effectLst/>
              </a:rPr>
              <a:t>Na </a:t>
            </a:r>
            <a:r>
              <a:rPr lang="en-GB" sz="1200" b="1" i="0" kern="1200" dirty="0" err="1">
                <a:effectLst/>
              </a:rPr>
              <a:t>Região</a:t>
            </a:r>
            <a:r>
              <a:rPr lang="en-GB" sz="1200" b="1" i="0" kern="1200" dirty="0">
                <a:effectLst/>
              </a:rPr>
              <a:t> dos Vinhos Verdes </a:t>
            </a:r>
            <a:r>
              <a:rPr lang="en-GB" sz="1200" b="1" i="0" kern="1200" dirty="0" err="1">
                <a:effectLst/>
              </a:rPr>
              <a:t>foram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identificadas</a:t>
            </a:r>
            <a:r>
              <a:rPr lang="en-GB" sz="1200" b="1" i="0" kern="1200" dirty="0">
                <a:effectLst/>
              </a:rPr>
              <a:t> 20 </a:t>
            </a:r>
            <a:r>
              <a:rPr lang="en-GB" sz="1200" b="1" i="0" kern="1200" dirty="0" err="1">
                <a:effectLst/>
              </a:rPr>
              <a:t>regras</a:t>
            </a:r>
            <a:r>
              <a:rPr lang="en-GB" sz="1200" b="1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Neste </a:t>
            </a:r>
            <a:r>
              <a:rPr lang="en-GB" sz="1200" b="0" i="0" kern="1200" dirty="0" err="1">
                <a:effectLst/>
              </a:rPr>
              <a:t>caso</a:t>
            </a:r>
            <a:r>
              <a:rPr lang="en-GB" sz="1200" b="0" i="0" kern="1200" dirty="0">
                <a:effectLst/>
              </a:rPr>
              <a:t>, as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dominantes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dias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1" i="0" kern="1200" dirty="0">
                <a:effectLst/>
              </a:rPr>
              <a:t>stress </a:t>
            </a:r>
            <a:r>
              <a:rPr lang="en-GB" sz="1200" b="1" i="0" kern="1200" dirty="0" err="1">
                <a:effectLst/>
              </a:rPr>
              <a:t>térmico</a:t>
            </a:r>
            <a:r>
              <a:rPr lang="en-GB" sz="1200" b="1" i="0" kern="1200" dirty="0">
                <a:effectLst/>
              </a:rPr>
              <a:t>, </a:t>
            </a:r>
            <a:r>
              <a:rPr lang="en-GB" sz="1200" b="1" i="0" kern="1200" dirty="0" err="1">
                <a:effectLst/>
              </a:rPr>
              <a:t>que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aparecem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em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até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metade</a:t>
            </a:r>
            <a:r>
              <a:rPr lang="en-GB" sz="1200" b="1" i="0" kern="1200" dirty="0">
                <a:effectLst/>
              </a:rPr>
              <a:t> das </a:t>
            </a:r>
            <a:r>
              <a:rPr lang="en-GB" sz="1200" b="1" i="0" kern="1200" dirty="0" err="1">
                <a:effectLst/>
              </a:rPr>
              <a:t>regras</a:t>
            </a:r>
            <a:r>
              <a:rPr lang="en-GB" sz="1200" b="1" i="0" kern="1200" dirty="0">
                <a:effectLst/>
              </a:rPr>
              <a:t>, e a </a:t>
            </a:r>
            <a:r>
              <a:rPr lang="en-GB" sz="1200" b="1" i="0" kern="1200" dirty="0" err="1">
                <a:effectLst/>
              </a:rPr>
              <a:t>água</a:t>
            </a:r>
            <a:r>
              <a:rPr lang="en-GB" sz="1200" b="1" i="0" kern="1200" dirty="0">
                <a:effectLst/>
              </a:rPr>
              <a:t> no solo </a:t>
            </a:r>
            <a:r>
              <a:rPr lang="en-GB" sz="1200" b="1" i="0" kern="1200" dirty="0" err="1">
                <a:effectLst/>
              </a:rPr>
              <a:t>na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vindima</a:t>
            </a:r>
            <a:r>
              <a:rPr lang="en-GB" sz="1200" b="1" i="0" kern="1200" dirty="0">
                <a:effectLst/>
              </a:rPr>
              <a:t>, </a:t>
            </a:r>
            <a:r>
              <a:rPr lang="en-GB" sz="1200" b="1" i="0" kern="1200" dirty="0" err="1">
                <a:effectLst/>
              </a:rPr>
              <a:t>presente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em</a:t>
            </a:r>
            <a:r>
              <a:rPr lang="en-GB" sz="1200" b="1" i="0" kern="1200" dirty="0">
                <a:effectLst/>
              </a:rPr>
              <a:t> 25% das </a:t>
            </a:r>
            <a:r>
              <a:rPr lang="en-GB" sz="1200" b="1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u="sng" kern="1200" dirty="0" err="1">
                <a:effectLst/>
              </a:rPr>
              <a:t>É</a:t>
            </a:r>
            <a:r>
              <a:rPr lang="en-GB" sz="1200" b="1" i="0" u="sng" kern="1200" dirty="0">
                <a:effectLst/>
              </a:rPr>
              <a:t> </a:t>
            </a:r>
            <a:r>
              <a:rPr lang="en-GB" sz="1200" b="1" i="0" u="sng" kern="1200" dirty="0" err="1">
                <a:effectLst/>
              </a:rPr>
              <a:t>importante</a:t>
            </a:r>
            <a:r>
              <a:rPr lang="en-GB" sz="1200" b="1" i="0" u="sng" kern="1200" dirty="0">
                <a:effectLst/>
              </a:rPr>
              <a:t> formular </a:t>
            </a:r>
            <a:r>
              <a:rPr lang="en-GB" sz="1200" b="1" i="0" u="sng" kern="1200" dirty="0" err="1">
                <a:effectLst/>
              </a:rPr>
              <a:t>cuidadosamente</a:t>
            </a:r>
            <a:r>
              <a:rPr lang="en-GB" sz="1200" b="1" i="0" u="sng" kern="1200" dirty="0">
                <a:effectLst/>
              </a:rPr>
              <a:t> </a:t>
            </a:r>
            <a:r>
              <a:rPr lang="en-GB" sz="1200" b="1" i="0" u="sng" kern="1200" dirty="0" err="1">
                <a:effectLst/>
              </a:rPr>
              <a:t>esta</a:t>
            </a:r>
            <a:r>
              <a:rPr lang="en-GB" sz="1200" b="1" i="0" u="sng" kern="1200" dirty="0">
                <a:effectLst/>
              </a:rPr>
              <a:t> </a:t>
            </a:r>
            <a:r>
              <a:rPr lang="en-GB" sz="1200" b="1" i="0" u="sng" kern="1200" dirty="0" err="1">
                <a:effectLst/>
              </a:rPr>
              <a:t>conclusão</a:t>
            </a:r>
            <a:r>
              <a:rPr lang="en-GB" sz="1200" b="1" i="0" u="sng" kern="1200" dirty="0">
                <a:effectLst/>
              </a:rPr>
              <a:t>.</a:t>
            </a:r>
          </a:p>
          <a:p>
            <a:r>
              <a:rPr lang="en-GB" sz="1200" b="1" i="0" kern="1200" dirty="0">
                <a:effectLst/>
              </a:rPr>
              <a:t>Estamos </a:t>
            </a:r>
            <a:r>
              <a:rPr lang="en-GB" sz="1200" b="1" i="0" kern="1200" dirty="0" err="1">
                <a:effectLst/>
              </a:rPr>
              <a:t>perante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associações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estatisticamente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validadas</a:t>
            </a:r>
            <a:r>
              <a:rPr lang="en-GB" sz="1200" b="1" i="0" kern="1200" dirty="0">
                <a:effectLst/>
              </a:rPr>
              <a:t> e </a:t>
            </a:r>
            <a:r>
              <a:rPr lang="en-GB" sz="1200" b="1" i="0" kern="1200" dirty="0" err="1">
                <a:effectLst/>
              </a:rPr>
              <a:t>agronomicamente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coerentes</a:t>
            </a:r>
            <a:r>
              <a:rPr lang="en-GB" sz="1200" b="0" i="0" kern="1200" dirty="0">
                <a:effectLst/>
              </a:rPr>
              <a:t>,</a:t>
            </a:r>
            <a:r>
              <a:rPr lang="en-GB" sz="1200" b="1" i="0" kern="1200" dirty="0">
                <a:effectLst/>
              </a:rPr>
              <a:t> mas </a:t>
            </a:r>
            <a:r>
              <a:rPr lang="en-GB" sz="1200" b="1" i="0" kern="1200" dirty="0" err="1">
                <a:effectLst/>
              </a:rPr>
              <a:t>não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perante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experiências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controladas</a:t>
            </a:r>
            <a:r>
              <a:rPr lang="en-GB" sz="1200" b="1" i="0" kern="1200" dirty="0">
                <a:effectLst/>
              </a:rPr>
              <a:t>.</a:t>
            </a:r>
            <a:br>
              <a:rPr lang="en-GB" sz="1200" b="1" i="0" kern="1200" dirty="0">
                <a:effectLst/>
              </a:rPr>
            </a:br>
            <a:r>
              <a:rPr lang="en-GB" sz="1200" b="1" i="0" kern="1200" dirty="0">
                <a:effectLst/>
              </a:rPr>
              <a:t>Como </a:t>
            </a:r>
            <a:r>
              <a:rPr lang="en-GB" sz="1200" b="1" i="0" kern="1200" dirty="0" err="1">
                <a:effectLst/>
              </a:rPr>
              <a:t>tal</a:t>
            </a:r>
            <a:r>
              <a:rPr lang="en-GB" sz="1200" b="1" i="0" kern="1200" dirty="0">
                <a:effectLst/>
              </a:rPr>
              <a:t>, </a:t>
            </a:r>
            <a:r>
              <a:rPr lang="en-GB" sz="1200" b="1" i="0" kern="1200" dirty="0" err="1">
                <a:effectLst/>
              </a:rPr>
              <a:t>não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podemos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afirmar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causalidade</a:t>
            </a:r>
            <a:r>
              <a:rPr lang="en-GB" sz="1200" b="1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Outro </a:t>
            </a:r>
            <a:r>
              <a:rPr lang="en-GB" sz="1200" b="1" i="0" kern="1200" dirty="0" err="1">
                <a:effectLst/>
              </a:rPr>
              <a:t>resultado</a:t>
            </a:r>
            <a:r>
              <a:rPr lang="en-GB" sz="1200" b="1" i="0" kern="1200" dirty="0">
                <a:effectLst/>
              </a:rPr>
              <a:t>  </a:t>
            </a:r>
            <a:r>
              <a:rPr lang="en-GB" sz="1200" b="1" i="0" kern="1200" dirty="0" err="1">
                <a:effectLst/>
              </a:rPr>
              <a:t>que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nos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parece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relevante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que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mesma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variável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pode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estar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associada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efeitos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diferentes</a:t>
            </a:r>
            <a:r>
              <a:rPr lang="en-GB" sz="1200" b="0" i="0" kern="1200" dirty="0">
                <a:effectLst/>
              </a:rPr>
              <a:t>,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ou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mesmo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opostos</a:t>
            </a:r>
            <a:r>
              <a:rPr lang="en-GB" sz="1200" b="1" i="0" kern="1200" dirty="0">
                <a:effectLst/>
              </a:rPr>
              <a:t>, </a:t>
            </a:r>
            <a:r>
              <a:rPr lang="en-GB" sz="1200" b="1" i="0" kern="1200" dirty="0" err="1">
                <a:effectLst/>
              </a:rPr>
              <a:t>nas</a:t>
            </a:r>
            <a:r>
              <a:rPr lang="en-GB" sz="1200" b="1" i="0" kern="1200" dirty="0">
                <a:effectLst/>
              </a:rPr>
              <a:t> duas </a:t>
            </a:r>
            <a:r>
              <a:rPr lang="en-GB" sz="1200" b="1" i="0" kern="1200" dirty="0" err="1">
                <a:effectLst/>
              </a:rPr>
              <a:t>regiões</a:t>
            </a:r>
            <a:r>
              <a:rPr lang="en-GB" sz="1200" b="1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Por </a:t>
            </a:r>
            <a:r>
              <a:rPr lang="en-GB" sz="1200" b="0" i="0" kern="1200" dirty="0" err="1">
                <a:effectLst/>
              </a:rPr>
              <a:t>isso</a:t>
            </a:r>
            <a:r>
              <a:rPr lang="en-GB" sz="1200" b="0" i="0" kern="1200" dirty="0">
                <a:effectLst/>
              </a:rPr>
              <a:t>, a </a:t>
            </a:r>
            <a:r>
              <a:rPr lang="en-GB" sz="1200" b="0" i="0" kern="1200" dirty="0" err="1">
                <a:effectLst/>
              </a:rPr>
              <a:t>interpretação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necessariamente</a:t>
            </a:r>
            <a:r>
              <a:rPr lang="en-GB" sz="1200" b="0" i="0" kern="1200" dirty="0">
                <a:effectLst/>
              </a:rPr>
              <a:t> de ser </a:t>
            </a:r>
            <a:r>
              <a:rPr lang="en-GB" sz="1200" b="0" i="0" kern="1200" dirty="0" err="1">
                <a:effectLst/>
              </a:rPr>
              <a:t>específica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contexto</a:t>
            </a:r>
            <a:r>
              <a:rPr lang="en-GB" sz="1200" b="0" i="0" kern="1200" dirty="0">
                <a:effectLst/>
              </a:rPr>
              <a:t> regional.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Mesma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variavel</a:t>
            </a:r>
            <a:r>
              <a:rPr lang="en-GB" sz="1200" b="0" i="0" kern="1200" dirty="0">
                <a:effectLst/>
              </a:rPr>
              <a:t> mas com </a:t>
            </a:r>
            <a:r>
              <a:rPr lang="en-GB" sz="1200" b="0" i="0" kern="1200" dirty="0" err="1">
                <a:effectLst/>
              </a:rPr>
              <a:t>comportamentos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diferentes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nas</a:t>
            </a:r>
            <a:r>
              <a:rPr lang="en-GB" sz="1200" b="0" i="0" kern="1200" dirty="0">
                <a:effectLst/>
              </a:rPr>
              <a:t> duas </a:t>
            </a:r>
            <a:r>
              <a:rPr lang="en-GB" sz="1200" b="0" i="0" kern="1200" dirty="0" err="1">
                <a:effectLst/>
              </a:rPr>
              <a:t>regioes</a:t>
            </a:r>
            <a:r>
              <a:rPr lang="en-GB" sz="1200" b="0" i="0" kern="1200" dirty="0">
                <a:effectLst/>
              </a:rPr>
              <a:t>: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dirty="0"/>
              <a:t>Por </a:t>
            </a:r>
            <a:r>
              <a:rPr lang="en-GB" dirty="0" err="1"/>
              <a:t>exemplo</a:t>
            </a:r>
            <a:r>
              <a:rPr lang="en-GB" dirty="0"/>
              <a:t> a </a:t>
            </a:r>
            <a:r>
              <a:rPr lang="en-GB" b="1" dirty="0" err="1"/>
              <a:t>água</a:t>
            </a:r>
            <a:r>
              <a:rPr lang="en-GB" b="1" dirty="0"/>
              <a:t> no solo </a:t>
            </a:r>
            <a:r>
              <a:rPr lang="en-GB" b="1" dirty="0" err="1"/>
              <a:t>na</a:t>
            </a:r>
            <a:r>
              <a:rPr lang="en-GB" b="1" dirty="0"/>
              <a:t> </a:t>
            </a:r>
            <a:r>
              <a:rPr lang="en-GB" b="1" dirty="0" err="1"/>
              <a:t>vindima</a:t>
            </a:r>
            <a:r>
              <a:rPr lang="en-GB" dirty="0"/>
              <a:t> ~20 </a:t>
            </a:r>
            <a:r>
              <a:rPr lang="en-GB" dirty="0" err="1"/>
              <a:t>dias</a:t>
            </a:r>
            <a:r>
              <a:rPr lang="en-GB" dirty="0"/>
              <a:t> antes da </a:t>
            </a:r>
            <a:r>
              <a:rPr lang="en-GB" dirty="0" err="1"/>
              <a:t>vindima</a:t>
            </a:r>
            <a:r>
              <a:rPr lang="en-GB" dirty="0"/>
              <a:t>)</a:t>
            </a:r>
          </a:p>
          <a:p>
            <a:pPr marL="171450" indent="-171450">
              <a:buFontTx/>
              <a:buChar char="-"/>
            </a:pPr>
            <a:r>
              <a:rPr lang="en-GB" dirty="0" err="1"/>
              <a:t>aparece</a:t>
            </a:r>
            <a:r>
              <a:rPr lang="en-GB" dirty="0"/>
              <a:t> </a:t>
            </a:r>
            <a:r>
              <a:rPr lang="en-GB" dirty="0" err="1"/>
              <a:t>literalmente</a:t>
            </a:r>
            <a:r>
              <a:rPr lang="en-GB" dirty="0"/>
              <a:t> </a:t>
            </a:r>
            <a:r>
              <a:rPr lang="en-GB" dirty="0" err="1"/>
              <a:t>nas</a:t>
            </a:r>
            <a:r>
              <a:rPr lang="en-GB" dirty="0"/>
              <a:t> </a:t>
            </a:r>
            <a:r>
              <a:rPr lang="en-GB" b="1" dirty="0"/>
              <a:t>duas </a:t>
            </a:r>
            <a:r>
              <a:rPr lang="en-GB" b="1" dirty="0" err="1"/>
              <a:t>regioes</a:t>
            </a:r>
            <a:r>
              <a:rPr lang="en-GB" dirty="0"/>
              <a:t> : </a:t>
            </a:r>
          </a:p>
          <a:p>
            <a:pPr marL="171450" lvl="1" indent="-171450">
              <a:buFontTx/>
              <a:buChar char="-"/>
            </a:pPr>
            <a:r>
              <a:rPr lang="en-GB" dirty="0"/>
              <a:t>- no Douro "Harvest soil water appears in 54% of rules" e no Vinho Verde "Harvest soil water (25%)".</a:t>
            </a:r>
          </a:p>
          <a:p>
            <a:pPr marL="171450" lvl="1" indent="-171450">
              <a:buFontTx/>
              <a:buChar char="-"/>
            </a:pPr>
            <a:endParaRPr lang="en-GB" dirty="0"/>
          </a:p>
          <a:p>
            <a:r>
              <a:rPr lang="en-GB" dirty="0"/>
              <a:t>Mas o </a:t>
            </a:r>
            <a:r>
              <a:rPr lang="en-GB" dirty="0" err="1"/>
              <a:t>comportamento</a:t>
            </a:r>
            <a:r>
              <a:rPr lang="en-GB" dirty="0"/>
              <a:t> </a:t>
            </a:r>
            <a:r>
              <a:rPr lang="en-GB" dirty="0" err="1"/>
              <a:t>inverte</a:t>
            </a:r>
            <a:r>
              <a:rPr lang="en-GB" dirty="0"/>
              <a:t>-se entre </a:t>
            </a:r>
            <a:r>
              <a:rPr lang="en-GB" dirty="0" err="1"/>
              <a:t>regiões</a:t>
            </a:r>
            <a:r>
              <a:rPr lang="en-GB" dirty="0"/>
              <a:t>:</a:t>
            </a:r>
          </a:p>
          <a:p>
            <a:pPr marL="171450" indent="-171450">
              <a:buFontTx/>
              <a:buChar char="-"/>
            </a:pPr>
            <a:r>
              <a:rPr lang="en-GB" b="1" dirty="0"/>
              <a:t>Douro (</a:t>
            </a:r>
            <a:r>
              <a:rPr lang="en-GB" b="1" dirty="0" err="1"/>
              <a:t>clima</a:t>
            </a:r>
            <a:r>
              <a:rPr lang="en-GB" b="1" dirty="0"/>
              <a:t> seco): um </a:t>
            </a:r>
            <a:r>
              <a:rPr lang="en-GB" b="1" dirty="0" err="1"/>
              <a:t>défice</a:t>
            </a:r>
            <a:r>
              <a:rPr lang="en-GB" b="1" dirty="0"/>
              <a:t> </a:t>
            </a:r>
            <a:r>
              <a:rPr lang="en-GB" b="1" i="1" dirty="0" err="1"/>
              <a:t>moderado</a:t>
            </a:r>
            <a:r>
              <a:rPr lang="en-GB" b="1" dirty="0"/>
              <a:t> de </a:t>
            </a:r>
            <a:r>
              <a:rPr lang="en-GB" b="1" dirty="0" err="1"/>
              <a:t>água</a:t>
            </a:r>
            <a:r>
              <a:rPr lang="en-GB" b="1" dirty="0"/>
              <a:t> no solo → </a:t>
            </a:r>
            <a:r>
              <a:rPr lang="en-GB" b="1" dirty="0" err="1"/>
              <a:t>produção</a:t>
            </a:r>
            <a:r>
              <a:rPr lang="en-GB" b="1" dirty="0"/>
              <a:t> </a:t>
            </a:r>
            <a:r>
              <a:rPr lang="en-GB" b="1" dirty="0" err="1"/>
              <a:t>acima</a:t>
            </a:r>
            <a:r>
              <a:rPr lang="en-GB" b="1" dirty="0"/>
              <a:t> da </a:t>
            </a:r>
            <a:r>
              <a:rPr lang="en-GB" b="1" dirty="0" err="1"/>
              <a:t>tendência</a:t>
            </a:r>
            <a:r>
              <a:rPr lang="en-GB" b="1" dirty="0"/>
              <a:t> </a:t>
            </a:r>
            <a:br>
              <a:rPr lang="en-GB" b="1" dirty="0"/>
            </a:br>
            <a:endParaRPr lang="en-GB" b="0" i="1" dirty="0"/>
          </a:p>
          <a:p>
            <a:pPr marL="171450" indent="-171450">
              <a:buFontTx/>
              <a:buChar char="-"/>
            </a:pPr>
            <a:r>
              <a:rPr lang="en-GB" b="1" dirty="0"/>
              <a:t>Vinho Verde (</a:t>
            </a:r>
            <a:r>
              <a:rPr lang="en-GB" b="1" dirty="0" err="1"/>
              <a:t>clima</a:t>
            </a:r>
            <a:r>
              <a:rPr lang="en-GB" b="1" dirty="0"/>
              <a:t> </a:t>
            </a:r>
            <a:r>
              <a:rPr lang="en-GB" b="1" dirty="0" err="1"/>
              <a:t>atlântico</a:t>
            </a:r>
            <a:r>
              <a:rPr lang="en-GB" b="1" dirty="0"/>
              <a:t>): a </a:t>
            </a:r>
            <a:r>
              <a:rPr lang="en-GB" b="1" i="1" dirty="0" err="1"/>
              <a:t>mesma</a:t>
            </a:r>
            <a:r>
              <a:rPr lang="en-GB" b="1" dirty="0"/>
              <a:t> gama de </a:t>
            </a:r>
            <a:r>
              <a:rPr lang="en-GB" b="1" dirty="0" err="1"/>
              <a:t>água</a:t>
            </a:r>
            <a:r>
              <a:rPr lang="en-GB" b="1" dirty="0"/>
              <a:t> no solo → </a:t>
            </a:r>
            <a:r>
              <a:rPr lang="en-GB" b="1" dirty="0" err="1"/>
              <a:t>produção</a:t>
            </a:r>
            <a:r>
              <a:rPr lang="en-GB" b="1" dirty="0"/>
              <a:t> </a:t>
            </a:r>
            <a:r>
              <a:rPr lang="en-GB" b="1" dirty="0" err="1"/>
              <a:t>abaixo</a:t>
            </a:r>
            <a:r>
              <a:rPr lang="en-GB" b="1" dirty="0"/>
              <a:t> da </a:t>
            </a:r>
            <a:r>
              <a:rPr lang="en-GB" b="1" dirty="0" err="1"/>
              <a:t>tendência</a:t>
            </a:r>
            <a:r>
              <a:rPr lang="en-GB" b="1" dirty="0"/>
              <a:t>,</a:t>
            </a:r>
            <a:r>
              <a:rPr lang="en-GB" dirty="0"/>
              <a:t> </a:t>
            </a:r>
            <a:br>
              <a:rPr lang="en-GB" dirty="0"/>
            </a:br>
            <a:endParaRPr lang="en-GB" b="0" i="1" dirty="0"/>
          </a:p>
          <a:p>
            <a:r>
              <a:rPr lang="en-GB" dirty="0"/>
              <a:t>O Caren </a:t>
            </a:r>
            <a:r>
              <a:rPr lang="en-GB" dirty="0" err="1"/>
              <a:t>deteta</a:t>
            </a:r>
            <a:r>
              <a:rPr lang="en-GB" dirty="0"/>
              <a:t> o </a:t>
            </a:r>
            <a:r>
              <a:rPr lang="en-GB" dirty="0" err="1"/>
              <a:t>sinal</a:t>
            </a:r>
            <a:r>
              <a:rPr lang="en-GB" dirty="0"/>
              <a:t> </a:t>
            </a:r>
            <a:r>
              <a:rPr lang="en-GB" dirty="0" err="1"/>
              <a:t>contrário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região</a:t>
            </a:r>
            <a:r>
              <a:rPr lang="en-GB" dirty="0"/>
              <a:t> </a:t>
            </a:r>
            <a:r>
              <a:rPr lang="en-GB" i="1" u="sng" dirty="0" err="1"/>
              <a:t>sem</a:t>
            </a:r>
            <a:r>
              <a:rPr lang="en-GB" i="1" u="sng" dirty="0"/>
              <a:t> </a:t>
            </a:r>
            <a:r>
              <a:rPr lang="en-GB" i="1" u="sng" dirty="0" err="1"/>
              <a:t>nunca</a:t>
            </a:r>
            <a:r>
              <a:rPr lang="en-GB" i="1" u="sng" dirty="0"/>
              <a:t> </a:t>
            </a:r>
            <a:r>
              <a:rPr lang="en-GB" i="1" u="sng" dirty="0" err="1"/>
              <a:t>ver</a:t>
            </a:r>
            <a:r>
              <a:rPr lang="en-GB" i="1" u="sng" dirty="0"/>
              <a:t> as duas juntas</a:t>
            </a:r>
            <a:r>
              <a:rPr lang="en-GB" dirty="0"/>
              <a:t>, o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mostra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está</a:t>
            </a:r>
            <a:r>
              <a:rPr lang="en-GB" dirty="0"/>
              <a:t> a </a:t>
            </a:r>
            <a:r>
              <a:rPr lang="en-GB" dirty="0" err="1"/>
              <a:t>captar</a:t>
            </a:r>
            <a:r>
              <a:rPr lang="en-GB" dirty="0"/>
              <a:t> </a:t>
            </a:r>
            <a:r>
              <a:rPr lang="en-GB" dirty="0" err="1"/>
              <a:t>estrutura</a:t>
            </a:r>
            <a:r>
              <a:rPr lang="en-GB" dirty="0"/>
              <a:t> </a:t>
            </a:r>
            <a:r>
              <a:rPr lang="en-GB" dirty="0" err="1"/>
              <a:t>específica</a:t>
            </a:r>
            <a:r>
              <a:rPr lang="en-GB" dirty="0"/>
              <a:t> do </a:t>
            </a:r>
            <a:r>
              <a:rPr lang="en-GB" dirty="0" err="1"/>
              <a:t>contexto</a:t>
            </a:r>
            <a:r>
              <a:rPr lang="en-GB" dirty="0"/>
              <a:t>, </a:t>
            </a:r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correlação</a:t>
            </a:r>
            <a:r>
              <a:rPr lang="en-GB" dirty="0"/>
              <a:t> </a:t>
            </a:r>
            <a:r>
              <a:rPr lang="en-GB" dirty="0" err="1"/>
              <a:t>espúria</a:t>
            </a:r>
            <a:r>
              <a:rPr lang="en-GB" dirty="0"/>
              <a:t> global.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r>
              <a:rPr lang="en-GB" b="0" i="1" dirty="0"/>
              <a:t>as </a:t>
            </a:r>
            <a:r>
              <a:rPr lang="en-GB" b="0" i="1" dirty="0" err="1"/>
              <a:t>gamas</a:t>
            </a:r>
            <a:r>
              <a:rPr lang="en-GB" b="0" i="1" dirty="0"/>
              <a:t> </a:t>
            </a:r>
            <a:r>
              <a:rPr lang="en-GB" b="0" i="1" dirty="0" err="1"/>
              <a:t>não</a:t>
            </a:r>
            <a:r>
              <a:rPr lang="en-GB" b="0" i="1" dirty="0"/>
              <a:t> </a:t>
            </a:r>
            <a:r>
              <a:rPr lang="en-GB" b="0" i="1" dirty="0" err="1"/>
              <a:t>são</a:t>
            </a:r>
            <a:r>
              <a:rPr lang="en-GB" b="0" i="1" dirty="0"/>
              <a:t> </a:t>
            </a:r>
            <a:r>
              <a:rPr lang="en-GB" b="0" i="1" dirty="0" err="1"/>
              <a:t>idênticas</a:t>
            </a:r>
            <a:r>
              <a:rPr lang="en-GB" b="0" i="1" dirty="0"/>
              <a:t> </a:t>
            </a:r>
            <a:r>
              <a:rPr lang="en-GB" b="0" i="1" dirty="0" err="1"/>
              <a:t>ao</a:t>
            </a:r>
            <a:r>
              <a:rPr lang="en-GB" b="0" i="1" dirty="0"/>
              <a:t> </a:t>
            </a:r>
            <a:r>
              <a:rPr lang="en-GB" b="0" i="1" dirty="0" err="1"/>
              <a:t>milímetro</a:t>
            </a:r>
            <a:r>
              <a:rPr lang="en-GB" b="0" i="1" dirty="0"/>
              <a:t> (74–101 vs 61–97), mas </a:t>
            </a:r>
            <a:r>
              <a:rPr lang="en-GB" b="0" i="1" dirty="0" err="1"/>
              <a:t>sobrepõem</a:t>
            </a:r>
            <a:r>
              <a:rPr lang="en-GB" b="0" i="1" dirty="0"/>
              <a:t>-se </a:t>
            </a:r>
            <a:r>
              <a:rPr lang="en-GB" b="0" i="1" dirty="0" err="1"/>
              <a:t>em</a:t>
            </a:r>
            <a:r>
              <a:rPr lang="en-GB" b="0" i="1" dirty="0"/>
              <a:t> 74–97 mm — </a:t>
            </a:r>
            <a:r>
              <a:rPr lang="en-GB" b="0" i="1" dirty="0" err="1"/>
              <a:t>por</a:t>
            </a:r>
            <a:r>
              <a:rPr lang="en-GB" b="0" i="1" dirty="0"/>
              <a:t> </a:t>
            </a:r>
            <a:r>
              <a:rPr lang="en-GB" b="0" i="1" dirty="0" err="1"/>
              <a:t>isso</a:t>
            </a:r>
            <a:r>
              <a:rPr lang="en-GB" b="0" i="1" dirty="0"/>
              <a:t> </a:t>
            </a:r>
            <a:r>
              <a:rPr lang="en-GB" b="0" i="1" dirty="0" err="1"/>
              <a:t>é</a:t>
            </a:r>
            <a:r>
              <a:rPr lang="en-GB" b="0" i="1" dirty="0"/>
              <a:t> </a:t>
            </a:r>
            <a:r>
              <a:rPr lang="en-GB" b="0" i="1" dirty="0" err="1"/>
              <a:t>honesto</a:t>
            </a:r>
            <a:r>
              <a:rPr lang="en-GB" b="0" i="1" dirty="0"/>
              <a:t> </a:t>
            </a:r>
            <a:r>
              <a:rPr lang="en-GB" b="0" i="1" dirty="0" err="1"/>
              <a:t>dizer</a:t>
            </a:r>
            <a:r>
              <a:rPr lang="en-GB" b="0" i="1" dirty="0"/>
              <a:t> "the same range". Se </a:t>
            </a:r>
            <a:r>
              <a:rPr lang="en-GB" b="0" i="1" dirty="0" err="1"/>
              <a:t>te</a:t>
            </a:r>
            <a:r>
              <a:rPr lang="en-GB" b="0" i="1" dirty="0"/>
              <a:t> </a:t>
            </a:r>
            <a:r>
              <a:rPr lang="en-GB" b="0" i="1" dirty="0" err="1"/>
              <a:t>apertarem</a:t>
            </a:r>
            <a:r>
              <a:rPr lang="en-GB" b="0" i="1" dirty="0"/>
              <a:t>, </a:t>
            </a:r>
            <a:r>
              <a:rPr lang="en-GB" b="0" i="1" dirty="0" err="1"/>
              <a:t>dizes</a:t>
            </a:r>
            <a:r>
              <a:rPr lang="en-GB" b="0" i="1" dirty="0"/>
              <a:t> </a:t>
            </a:r>
            <a:r>
              <a:rPr lang="en-GB" b="0" i="1" dirty="0" err="1"/>
              <a:t>exatamente</a:t>
            </a:r>
            <a:r>
              <a:rPr lang="en-GB" b="0" i="1" dirty="0"/>
              <a:t> </a:t>
            </a:r>
            <a:r>
              <a:rPr lang="en-GB" b="0" i="1" dirty="0" err="1"/>
              <a:t>isso</a:t>
            </a:r>
            <a:r>
              <a:rPr lang="en-GB" b="0" i="1" dirty="0"/>
              <a:t>: </a:t>
            </a:r>
            <a:r>
              <a:rPr lang="en-GB" b="0" i="1" dirty="0" err="1"/>
              <a:t>gamas</a:t>
            </a:r>
            <a:r>
              <a:rPr lang="en-GB" b="0" i="1" dirty="0"/>
              <a:t> </a:t>
            </a:r>
            <a:r>
              <a:rPr lang="en-GB" b="0" i="1" dirty="0" err="1"/>
              <a:t>sobrepostas</a:t>
            </a:r>
            <a:r>
              <a:rPr lang="en-GB" b="0" i="1" dirty="0"/>
              <a:t>, </a:t>
            </a:r>
            <a:r>
              <a:rPr lang="en-GB" b="0" i="1" dirty="0" err="1"/>
              <a:t>sinal</a:t>
            </a:r>
            <a:r>
              <a:rPr lang="en-GB" b="0" i="1" dirty="0"/>
              <a:t> </a:t>
            </a:r>
            <a:r>
              <a:rPr lang="en-GB" b="0" i="1" dirty="0" err="1"/>
              <a:t>oposto</a:t>
            </a:r>
            <a:r>
              <a:rPr lang="en-GB" b="0" i="1" dirty="0"/>
              <a:t>, </a:t>
            </a:r>
            <a:r>
              <a:rPr lang="en-GB" b="0" i="1" dirty="0" err="1"/>
              <a:t>porque</a:t>
            </a:r>
            <a:r>
              <a:rPr lang="en-GB" b="0" i="1" dirty="0"/>
              <a:t> a </a:t>
            </a:r>
            <a:r>
              <a:rPr lang="en-GB" b="0" i="1" dirty="0" err="1"/>
              <a:t>variável</a:t>
            </a:r>
            <a:r>
              <a:rPr lang="en-GB" b="0" i="1" dirty="0"/>
              <a:t> </a:t>
            </a:r>
            <a:r>
              <a:rPr lang="en-GB" b="0" i="1" dirty="0" err="1"/>
              <a:t>é</a:t>
            </a:r>
            <a:r>
              <a:rPr lang="en-GB" b="0" i="1" dirty="0"/>
              <a:t> um proxy de </a:t>
            </a:r>
            <a:r>
              <a:rPr lang="en-GB" b="0" i="1" dirty="0" err="1"/>
              <a:t>contextos</a:t>
            </a:r>
            <a:r>
              <a:rPr lang="en-GB" b="0" i="1" dirty="0"/>
              <a:t> </a:t>
            </a:r>
            <a:r>
              <a:rPr lang="en-GB" b="0" i="1" dirty="0" err="1"/>
              <a:t>climáticos</a:t>
            </a:r>
            <a:r>
              <a:rPr lang="en-GB" b="0" i="1" dirty="0"/>
              <a:t> </a:t>
            </a:r>
            <a:r>
              <a:rPr lang="en-GB" b="0" i="1" dirty="0" err="1"/>
              <a:t>diferentes</a:t>
            </a:r>
            <a:r>
              <a:rPr lang="en-GB" b="0" i="1" dirty="0"/>
              <a:t>.</a:t>
            </a:r>
          </a:p>
          <a:p>
            <a:endParaRPr lang="en-GB" b="0" i="1" dirty="0"/>
          </a:p>
          <a:p>
            <a:pPr marL="171450" indent="-171450">
              <a:buFontTx/>
              <a:buChar char="-"/>
            </a:pPr>
            <a:r>
              <a:rPr lang="en-GB" b="1" dirty="0"/>
              <a:t>Douro (</a:t>
            </a:r>
            <a:r>
              <a:rPr lang="en-GB" b="1" dirty="0" err="1"/>
              <a:t>clima</a:t>
            </a:r>
            <a:r>
              <a:rPr lang="en-GB" b="1" dirty="0"/>
              <a:t> seco): um </a:t>
            </a:r>
            <a:r>
              <a:rPr lang="en-GB" b="1" dirty="0" err="1"/>
              <a:t>défice</a:t>
            </a:r>
            <a:r>
              <a:rPr lang="en-GB" b="1" dirty="0"/>
              <a:t> </a:t>
            </a:r>
            <a:r>
              <a:rPr lang="en-GB" b="1" i="1" dirty="0" err="1"/>
              <a:t>moderado</a:t>
            </a:r>
            <a:r>
              <a:rPr lang="en-GB" b="1" dirty="0"/>
              <a:t> de </a:t>
            </a:r>
            <a:r>
              <a:rPr lang="en-GB" b="1" dirty="0" err="1"/>
              <a:t>água</a:t>
            </a:r>
            <a:r>
              <a:rPr lang="en-GB" b="1" dirty="0"/>
              <a:t> no solo → </a:t>
            </a:r>
            <a:r>
              <a:rPr lang="en-GB" b="1" dirty="0" err="1"/>
              <a:t>produção</a:t>
            </a:r>
            <a:r>
              <a:rPr lang="en-GB" b="1" dirty="0"/>
              <a:t> </a:t>
            </a:r>
            <a:r>
              <a:rPr lang="en-GB" b="1" dirty="0" err="1"/>
              <a:t>acima</a:t>
            </a:r>
            <a:r>
              <a:rPr lang="en-GB" b="1" dirty="0"/>
              <a:t> da </a:t>
            </a:r>
            <a:r>
              <a:rPr lang="en-GB" b="1" dirty="0" err="1"/>
              <a:t>tendência</a:t>
            </a:r>
            <a:r>
              <a:rPr lang="en-GB" b="1" dirty="0"/>
              <a:t> </a:t>
            </a:r>
            <a:br>
              <a:rPr lang="en-GB" b="1" dirty="0"/>
            </a:br>
            <a:r>
              <a:rPr lang="en-GB" dirty="0"/>
              <a:t>(</a:t>
            </a:r>
            <a:r>
              <a:rPr lang="en-GB" b="0" i="1" dirty="0" err="1"/>
              <a:t>concentra</a:t>
            </a:r>
            <a:r>
              <a:rPr lang="en-GB" b="0" i="1" dirty="0"/>
              <a:t> o </a:t>
            </a:r>
            <a:r>
              <a:rPr lang="en-GB" b="0" i="1" dirty="0" err="1"/>
              <a:t>bago</a:t>
            </a:r>
            <a:r>
              <a:rPr lang="en-GB" b="0" i="1" dirty="0"/>
              <a:t>; </a:t>
            </a:r>
            <a:r>
              <a:rPr lang="en-GB" b="0" i="1" dirty="0" err="1"/>
              <a:t>é</a:t>
            </a:r>
            <a:r>
              <a:rPr lang="en-GB" b="0" i="1" dirty="0"/>
              <a:t> o "sweet spot" do Douro). </a:t>
            </a:r>
            <a:r>
              <a:rPr lang="en-GB" b="0" i="1" dirty="0" err="1"/>
              <a:t>É</a:t>
            </a:r>
            <a:r>
              <a:rPr lang="en-GB" b="0" i="1" dirty="0"/>
              <a:t> a </a:t>
            </a:r>
            <a:r>
              <a:rPr lang="en-GB" b="0" i="1" dirty="0" err="1"/>
              <a:t>regra</a:t>
            </a:r>
            <a:r>
              <a:rPr lang="en-GB" b="0" i="1" dirty="0"/>
              <a:t> de </a:t>
            </a:r>
            <a:r>
              <a:rPr lang="en-GB" b="0" i="1" dirty="0" err="1"/>
              <a:t>maior</a:t>
            </a:r>
            <a:r>
              <a:rPr lang="en-GB" b="0" i="1" dirty="0"/>
              <a:t> </a:t>
            </a:r>
            <a:r>
              <a:rPr lang="en-GB" b="0" i="1" dirty="0" err="1"/>
              <a:t>desvio</a:t>
            </a:r>
            <a:r>
              <a:rPr lang="en-GB" b="0" i="1" dirty="0"/>
              <a:t> </a:t>
            </a:r>
            <a:r>
              <a:rPr lang="en-GB" b="0" i="1" dirty="0" err="1"/>
              <a:t>positivo</a:t>
            </a:r>
            <a:r>
              <a:rPr lang="en-GB" b="0" i="1" dirty="0"/>
              <a:t>, +192 </a:t>
            </a:r>
            <a:r>
              <a:rPr lang="en-GB" b="0" i="1" dirty="0" err="1"/>
              <a:t>mhl</a:t>
            </a:r>
            <a:r>
              <a:rPr lang="en-GB" b="0" i="1" dirty="0"/>
              <a:t>.</a:t>
            </a:r>
          </a:p>
          <a:p>
            <a:pPr marL="171450" indent="-171450">
              <a:buFontTx/>
              <a:buChar char="-"/>
            </a:pPr>
            <a:endParaRPr lang="en-GB" b="0" i="1" dirty="0"/>
          </a:p>
          <a:p>
            <a:pPr marL="171450" indent="-171450">
              <a:buFontTx/>
              <a:buChar char="-"/>
            </a:pPr>
            <a:r>
              <a:rPr lang="en-GB" b="1" dirty="0"/>
              <a:t>Vinho Verde (</a:t>
            </a:r>
            <a:r>
              <a:rPr lang="en-GB" b="1" dirty="0" err="1"/>
              <a:t>clima</a:t>
            </a:r>
            <a:r>
              <a:rPr lang="en-GB" b="1" dirty="0"/>
              <a:t> </a:t>
            </a:r>
            <a:r>
              <a:rPr lang="en-GB" b="1" dirty="0" err="1"/>
              <a:t>atlântico</a:t>
            </a:r>
            <a:r>
              <a:rPr lang="en-GB" b="1" dirty="0"/>
              <a:t>): a </a:t>
            </a:r>
            <a:r>
              <a:rPr lang="en-GB" b="1" i="1" dirty="0" err="1"/>
              <a:t>mesma</a:t>
            </a:r>
            <a:r>
              <a:rPr lang="en-GB" b="1" dirty="0"/>
              <a:t> gama de </a:t>
            </a:r>
            <a:r>
              <a:rPr lang="en-GB" b="1" dirty="0" err="1"/>
              <a:t>água</a:t>
            </a:r>
            <a:r>
              <a:rPr lang="en-GB" b="1" dirty="0"/>
              <a:t> no solo → </a:t>
            </a:r>
            <a:r>
              <a:rPr lang="en-GB" b="1" dirty="0" err="1"/>
              <a:t>produção</a:t>
            </a:r>
            <a:r>
              <a:rPr lang="en-GB" b="1" dirty="0"/>
              <a:t> </a:t>
            </a:r>
            <a:r>
              <a:rPr lang="en-GB" b="1" dirty="0" err="1"/>
              <a:t>abaixo</a:t>
            </a:r>
            <a:r>
              <a:rPr lang="en-GB" b="1" dirty="0"/>
              <a:t> da </a:t>
            </a:r>
            <a:r>
              <a:rPr lang="en-GB" b="1" dirty="0" err="1"/>
              <a:t>tendência</a:t>
            </a:r>
            <a:r>
              <a:rPr lang="en-GB" b="1" dirty="0"/>
              <a:t>,</a:t>
            </a:r>
            <a:r>
              <a:rPr lang="en-GB" dirty="0"/>
              <a:t> </a:t>
            </a:r>
            <a:br>
              <a:rPr lang="en-GB" dirty="0"/>
            </a:br>
            <a:r>
              <a:rPr lang="en-GB" b="0" i="1" dirty="0" err="1"/>
              <a:t>porque</a:t>
            </a:r>
            <a:r>
              <a:rPr lang="en-GB" b="0" i="1" dirty="0"/>
              <a:t> </a:t>
            </a:r>
            <a:r>
              <a:rPr lang="en-GB" b="0" i="1" dirty="0" err="1"/>
              <a:t>aí</a:t>
            </a:r>
            <a:r>
              <a:rPr lang="en-GB" b="0" i="1" dirty="0"/>
              <a:t> </a:t>
            </a:r>
            <a:r>
              <a:rPr lang="en-GB" b="0" i="1" dirty="0" err="1"/>
              <a:t>corresponde</a:t>
            </a:r>
            <a:r>
              <a:rPr lang="en-GB" b="0" i="1" dirty="0"/>
              <a:t> a </a:t>
            </a:r>
            <a:r>
              <a:rPr lang="en-GB" b="0" i="1" dirty="0" err="1"/>
              <a:t>anos</a:t>
            </a:r>
            <a:r>
              <a:rPr lang="en-GB" b="0" i="1" dirty="0"/>
              <a:t> frescos e </a:t>
            </a:r>
            <a:r>
              <a:rPr lang="en-GB" b="0" i="1" dirty="0" err="1"/>
              <a:t>húmidos</a:t>
            </a:r>
            <a:r>
              <a:rPr lang="en-GB" b="0" i="1" dirty="0"/>
              <a:t>, de </a:t>
            </a:r>
            <a:r>
              <a:rPr lang="en-GB" b="0" i="1" dirty="0" err="1"/>
              <a:t>baixa</a:t>
            </a:r>
            <a:r>
              <a:rPr lang="en-GB" b="0" i="1" dirty="0"/>
              <a:t> </a:t>
            </a:r>
            <a:r>
              <a:rPr lang="en-GB" b="0" i="1" dirty="0" err="1"/>
              <a:t>qualidade</a:t>
            </a:r>
            <a:r>
              <a:rPr lang="en-GB" b="0" i="1" dirty="0"/>
              <a:t> (</a:t>
            </a:r>
            <a:r>
              <a:rPr lang="en-GB" b="0" i="1" dirty="0" err="1"/>
              <a:t>por</a:t>
            </a:r>
            <a:r>
              <a:rPr lang="en-GB" b="0" i="1" dirty="0"/>
              <a:t> ex. −338 </a:t>
            </a:r>
            <a:r>
              <a:rPr lang="en-GB" b="0" i="1" dirty="0" err="1"/>
              <a:t>mhl</a:t>
            </a:r>
            <a:r>
              <a:rPr lang="en-GB" b="0" i="1" dirty="0"/>
              <a:t>).</a:t>
            </a:r>
          </a:p>
          <a:p>
            <a:endParaRPr lang="en-GB" b="0" i="1" dirty="0"/>
          </a:p>
          <a:p>
            <a:endParaRPr lang="en-GB" sz="1200" b="0" i="1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10:55 </a:t>
            </a:r>
          </a:p>
          <a:p>
            <a:pPr>
              <a:buNone/>
            </a:pPr>
            <a:endParaRPr lang="pt-PT" sz="1400" b="1" i="0" kern="1200" dirty="0">
              <a:solidFill>
                <a:srgbClr val="C00000"/>
              </a:solidFill>
              <a:effectLst/>
            </a:endParaRPr>
          </a:p>
          <a:p>
            <a:pPr>
              <a:buNone/>
            </a:pPr>
            <a:r>
              <a:rPr lang="en-GB" sz="1200" b="1" i="0" kern="1200" dirty="0">
                <a:effectLst/>
              </a:rPr>
              <a:t>Slide 14 — </a:t>
            </a:r>
            <a:r>
              <a:rPr lang="en-GB" sz="1200" b="1" i="0" kern="1200" dirty="0" err="1">
                <a:effectLst/>
              </a:rPr>
              <a:t>Regras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principais</a:t>
            </a:r>
            <a:r>
              <a:rPr lang="en-GB" sz="1200" b="1" i="0" kern="1200" dirty="0">
                <a:effectLst/>
              </a:rPr>
              <a:t>: </a:t>
            </a:r>
            <a:r>
              <a:rPr lang="en-GB" sz="1200" b="1" i="0" kern="1200" dirty="0" err="1">
                <a:effectLst/>
              </a:rPr>
              <a:t>padrões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identificados</a:t>
            </a:r>
            <a:r>
              <a:rPr lang="en-GB" sz="1200" b="1" i="0" kern="1200" dirty="0">
                <a:effectLst/>
              </a:rPr>
              <a:t> (~1 min 20 s)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maior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significância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estatística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1" i="0" u="sng" kern="1200" dirty="0" err="1">
                <a:effectLst/>
              </a:rPr>
              <a:t>Começando</a:t>
            </a:r>
            <a:r>
              <a:rPr lang="en-GB" sz="1200" b="1" i="0" u="sng" kern="1200" dirty="0">
                <a:effectLst/>
              </a:rPr>
              <a:t> </a:t>
            </a:r>
            <a:r>
              <a:rPr lang="en-GB" sz="1200" b="1" i="0" u="sng" kern="1200" dirty="0" err="1">
                <a:effectLst/>
              </a:rPr>
              <a:t>pelo</a:t>
            </a:r>
            <a:r>
              <a:rPr lang="en-GB" sz="1200" b="1" i="0" u="sng" kern="1200" dirty="0">
                <a:effectLst/>
              </a:rPr>
              <a:t> Douro,</a:t>
            </a:r>
            <a:r>
              <a:rPr lang="en-GB" sz="1200" b="0" i="0" kern="1200" dirty="0">
                <a:effectLst/>
              </a:rPr>
              <a:t> no </a:t>
            </a:r>
            <a:r>
              <a:rPr lang="en-GB" sz="1200" b="0" i="0" kern="1200" dirty="0" err="1">
                <a:effectLst/>
              </a:rPr>
              <a:t>lado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esquerdo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quatro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cinco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principais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associadas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acima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Em conjunto, </a:t>
            </a:r>
            <a:r>
              <a:rPr lang="en-GB" sz="1200" b="0" i="0" kern="1200" dirty="0" err="1">
                <a:effectLst/>
              </a:rPr>
              <a:t>apresentam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narrativa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agronómica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coerente</a:t>
            </a:r>
            <a:r>
              <a:rPr lang="en-GB" sz="1200" b="0" i="0" kern="1200" dirty="0">
                <a:effectLst/>
              </a:rPr>
              <a:t>: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relativamente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durante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floração</a:t>
            </a:r>
            <a:r>
              <a:rPr lang="en-GB" sz="1200" b="0" i="0" kern="1200" dirty="0">
                <a:effectLst/>
              </a:rPr>
              <a:t> e a </a:t>
            </a:r>
            <a:r>
              <a:rPr lang="en-GB" sz="1200" b="0" i="0" kern="1200" dirty="0" err="1">
                <a:effectLst/>
              </a:rPr>
              <a:t>maturação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combinadas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níveis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calor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controlados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caracterizam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maior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Na </a:t>
            </a:r>
            <a:r>
              <a:rPr lang="en-GB" sz="1200" b="1" i="0" kern="1200" dirty="0" err="1">
                <a:effectLst/>
              </a:rPr>
              <a:t>Região</a:t>
            </a:r>
            <a:r>
              <a:rPr lang="en-GB" sz="1200" b="1" i="0" kern="1200" dirty="0">
                <a:effectLst/>
              </a:rPr>
              <a:t> dos Vinhos Verdes,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apresentada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lado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direito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desvios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têm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magnitude </a:t>
            </a:r>
            <a:r>
              <a:rPr lang="en-GB" sz="1200" b="0" i="0" kern="1200" dirty="0" err="1">
                <a:effectLst/>
              </a:rPr>
              <a:t>absoluta</a:t>
            </a:r>
            <a:r>
              <a:rPr lang="en-GB" sz="1200" b="0" i="0" kern="1200" dirty="0">
                <a:effectLst/>
              </a:rPr>
              <a:t> superior e </a:t>
            </a:r>
            <a:r>
              <a:rPr lang="en-GB" sz="1200" b="0" i="0" kern="1200" dirty="0" err="1">
                <a:effectLst/>
              </a:rPr>
              <a:t>quatro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cinco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associadas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abaixo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Este </a:t>
            </a:r>
            <a:r>
              <a:rPr lang="en-GB" sz="1200" b="0" i="0" kern="1200" dirty="0" err="1">
                <a:effectLst/>
              </a:rPr>
              <a:t>padrão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consistente</a:t>
            </a:r>
            <a:r>
              <a:rPr lang="en-GB" sz="1200" b="0" i="0" kern="1200" dirty="0">
                <a:effectLst/>
              </a:rPr>
              <a:t> com o </a:t>
            </a:r>
            <a:r>
              <a:rPr lang="en-GB" sz="1200" b="0" i="0" kern="1200" dirty="0" err="1">
                <a:effectLst/>
              </a:rPr>
              <a:t>contexto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atlântico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, no qual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produtivos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frequentemente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caracterizados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frescas e </a:t>
            </a:r>
            <a:r>
              <a:rPr lang="en-GB" sz="1200" b="0" i="0" kern="1200" dirty="0" err="1">
                <a:effectLst/>
              </a:rPr>
              <a:t>húmidas</a:t>
            </a:r>
            <a:r>
              <a:rPr lang="en-GB" sz="1200" b="0" i="0" kern="1200" dirty="0">
                <a:effectLst/>
              </a:rPr>
              <a:t>.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Todos </a:t>
            </a:r>
            <a:r>
              <a:rPr lang="en-GB" sz="1200" b="1" i="0" kern="1200" dirty="0" err="1">
                <a:effectLst/>
              </a:rPr>
              <a:t>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algoritimos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captaram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esata</a:t>
            </a:r>
            <a:r>
              <a:rPr lang="en-GB" sz="1200" b="1" i="0" kern="1200" dirty="0">
                <a:effectLst/>
              </a:rPr>
              <a:t> familia de </a:t>
            </a:r>
            <a:r>
              <a:rPr lang="en-GB" sz="1200" b="1" i="0" kern="1200" dirty="0" err="1">
                <a:effectLst/>
              </a:rPr>
              <a:t>variaveis</a:t>
            </a:r>
            <a:endParaRPr lang="en-GB" sz="1200" b="1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As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dominadas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sobretudo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variáveis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relacionadas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dias</a:t>
            </a:r>
            <a:r>
              <a:rPr lang="en-GB" sz="1200" b="0" i="0" kern="1200" dirty="0">
                <a:effectLst/>
              </a:rPr>
              <a:t> de stress </a:t>
            </a:r>
            <a:r>
              <a:rPr lang="en-GB" sz="1200" b="0" i="0" kern="1200" dirty="0" err="1">
                <a:effectLst/>
              </a:rPr>
              <a:t>térmico</a:t>
            </a:r>
            <a:r>
              <a:rPr lang="en-GB" sz="1200" b="0" i="0" kern="1200" dirty="0">
                <a:effectLst/>
              </a:rPr>
              <a:t> e com a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no solo.</a:t>
            </a: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relevante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variáveis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relacionadas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disponibilidade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e stress </a:t>
            </a:r>
            <a:r>
              <a:rPr lang="en-GB" sz="1200" b="0" i="0" kern="1200" dirty="0" err="1">
                <a:effectLst/>
              </a:rPr>
              <a:t>térmico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surgem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repetidamente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famílias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explicativas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também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selecionadas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pelos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três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algoritmos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considerados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forte, a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quatro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combina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níveis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moderados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no solo antes da </a:t>
            </a:r>
            <a:r>
              <a:rPr lang="en-GB" sz="1200" b="0" i="0" kern="1200" dirty="0" err="1">
                <a:effectLst/>
              </a:rPr>
              <a:t>vindima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provenientes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anterior. Este </a:t>
            </a:r>
            <a:r>
              <a:rPr lang="en-GB" sz="1200" b="0" i="0" kern="1200" dirty="0" err="1">
                <a:effectLst/>
              </a:rPr>
              <a:t>subgrupo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apresenta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aproximadamente</a:t>
            </a:r>
            <a:r>
              <a:rPr lang="en-GB" sz="1200" b="0" i="0" kern="1200" dirty="0">
                <a:effectLst/>
              </a:rPr>
              <a:t> 192 mil </a:t>
            </a:r>
            <a:r>
              <a:rPr lang="en-GB" sz="1200" b="0" i="0" kern="1200" dirty="0" err="1">
                <a:effectLst/>
              </a:rPr>
              <a:t>hectolitros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acima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única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associada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abaixo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combina</a:t>
            </a:r>
            <a:r>
              <a:rPr lang="en-GB" sz="1200" b="0" i="0" kern="1200" dirty="0">
                <a:effectLst/>
              </a:rPr>
              <a:t> um LAI </a:t>
            </a:r>
            <a:r>
              <a:rPr lang="en-GB" sz="1200" b="0" i="0" kern="1200" dirty="0" err="1">
                <a:effectLst/>
              </a:rPr>
              <a:t>elevado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condições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húmidas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durante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floração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associação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agronomicamente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plausível</a:t>
            </a:r>
            <a:r>
              <a:rPr lang="en-GB" sz="1200" b="0" i="0" kern="1200" dirty="0">
                <a:effectLst/>
              </a:rPr>
              <a:t>: um </a:t>
            </a:r>
            <a:r>
              <a:rPr lang="en-GB" sz="1200" b="0" i="1" kern="1200" dirty="0">
                <a:effectLst/>
              </a:rPr>
              <a:t>canopy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excessivamente</a:t>
            </a:r>
            <a:r>
              <a:rPr lang="en-GB" sz="1200" b="0" i="0" kern="1200" dirty="0">
                <a:effectLst/>
              </a:rPr>
              <a:t> vigoroso </a:t>
            </a:r>
            <a:r>
              <a:rPr lang="en-GB" sz="1200" b="0" i="0" kern="1200" dirty="0" err="1">
                <a:effectLst/>
              </a:rPr>
              <a:t>num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ano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húmido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favorecer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crescimento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vegetativo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direcionando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recursos</a:t>
            </a:r>
            <a:r>
              <a:rPr lang="en-GB" sz="1200" b="0" i="0" kern="1200" dirty="0">
                <a:effectLst/>
              </a:rPr>
              <a:t> para as </a:t>
            </a:r>
            <a:r>
              <a:rPr lang="en-GB" sz="1200" b="0" i="0" kern="1200" dirty="0" err="1">
                <a:effectLst/>
              </a:rPr>
              <a:t>folhas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detrimento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desenvolvimento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fruto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As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dominadas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sobretudo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variáveis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relacionadas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dias</a:t>
            </a:r>
            <a:r>
              <a:rPr lang="en-GB" sz="1200" b="0" i="0" kern="1200" dirty="0">
                <a:effectLst/>
              </a:rPr>
              <a:t> de stress </a:t>
            </a:r>
            <a:r>
              <a:rPr lang="en-GB" sz="1200" b="0" i="0" kern="1200" dirty="0" err="1">
                <a:effectLst/>
              </a:rPr>
              <a:t>térmico</a:t>
            </a:r>
            <a:r>
              <a:rPr lang="en-GB" sz="1200" b="0" i="0" kern="1200" dirty="0">
                <a:effectLst/>
              </a:rPr>
              <a:t> e com a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no solo.</a:t>
            </a:r>
          </a:p>
          <a:p>
            <a:r>
              <a:rPr lang="en-GB" sz="1200" b="0" i="0" kern="1200" dirty="0">
                <a:effectLst/>
              </a:rPr>
              <a:t>A principal </a:t>
            </a:r>
            <a:r>
              <a:rPr lang="en-GB" sz="1200" b="0" i="0" kern="1200" dirty="0" err="1">
                <a:effectLst/>
              </a:rPr>
              <a:t>conclusão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destas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esteja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pronta</a:t>
            </a:r>
            <a:r>
              <a:rPr lang="en-GB" sz="1200" b="0" i="0" kern="1200" dirty="0">
                <a:effectLst/>
              </a:rPr>
              <a:t> para ser </a:t>
            </a:r>
            <a:r>
              <a:rPr lang="en-GB" sz="1200" b="0" i="0" kern="1200" dirty="0" err="1">
                <a:effectLst/>
              </a:rPr>
              <a:t>operacionalizada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relevante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variáveis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relacionadas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disponibilidade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e stress </a:t>
            </a:r>
            <a:r>
              <a:rPr lang="en-GB" sz="1200" b="0" i="0" kern="1200" dirty="0" err="1">
                <a:effectLst/>
              </a:rPr>
              <a:t>térmico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surgem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repetidamente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famílias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explicativas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também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selecionadas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pelos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três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algoritmos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considerados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11:55</a:t>
            </a:r>
          </a:p>
          <a:p>
            <a:pPr>
              <a:buNone/>
            </a:pPr>
            <a:endParaRPr lang="pt-PT" sz="1400" b="1" dirty="0">
              <a:solidFill>
                <a:srgbClr val="C00000"/>
              </a:solidFill>
            </a:endParaRPr>
          </a:p>
          <a:p>
            <a:r>
              <a:rPr lang="en-GB" b="1" dirty="0"/>
              <a:t>Slide 15 — </a:t>
            </a:r>
            <a:r>
              <a:rPr lang="en-GB" b="1" dirty="0" err="1"/>
              <a:t>Limiares</a:t>
            </a:r>
            <a:r>
              <a:rPr lang="en-GB" b="1" dirty="0"/>
              <a:t> </a:t>
            </a:r>
            <a:r>
              <a:rPr lang="en-GB" b="1" dirty="0" err="1"/>
              <a:t>exatos</a:t>
            </a:r>
            <a:r>
              <a:rPr lang="en-GB" b="1" dirty="0"/>
              <a:t>: </a:t>
            </a:r>
            <a:r>
              <a:rPr lang="en-GB" b="1" dirty="0" err="1"/>
              <a:t>perspetiva</a:t>
            </a:r>
            <a:r>
              <a:rPr lang="en-GB" b="1" dirty="0"/>
              <a:t> de auditoria (~1 min)</a:t>
            </a:r>
          </a:p>
          <a:p>
            <a:endParaRPr lang="en-GB" dirty="0"/>
          </a:p>
          <a:p>
            <a:r>
              <a:rPr lang="en-GB" dirty="0"/>
              <a:t>Esta </a:t>
            </a:r>
            <a:r>
              <a:rPr lang="en-GB" dirty="0" err="1"/>
              <a:t>é</a:t>
            </a:r>
            <a:r>
              <a:rPr lang="en-GB" dirty="0"/>
              <a:t> a </a:t>
            </a:r>
            <a:r>
              <a:rPr lang="en-GB" dirty="0" err="1"/>
              <a:t>versão</a:t>
            </a:r>
            <a:r>
              <a:rPr lang="en-GB" dirty="0"/>
              <a:t> de auditoria das </a:t>
            </a:r>
            <a:r>
              <a:rPr lang="en-GB" dirty="0" err="1"/>
              <a:t>regras</a:t>
            </a:r>
            <a:r>
              <a:rPr lang="en-GB" dirty="0"/>
              <a:t> do slide anterior. No slide anterior </a:t>
            </a:r>
            <a:r>
              <a:rPr lang="en-GB" dirty="0" err="1"/>
              <a:t>mostrei</a:t>
            </a:r>
            <a:r>
              <a:rPr lang="en-GB" dirty="0"/>
              <a:t>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padrões</a:t>
            </a:r>
            <a:r>
              <a:rPr lang="en-GB" dirty="0"/>
              <a:t> </a:t>
            </a:r>
            <a:r>
              <a:rPr lang="en-GB" dirty="0" err="1"/>
              <a:t>numa</a:t>
            </a:r>
            <a:r>
              <a:rPr lang="en-GB" dirty="0"/>
              <a:t> </a:t>
            </a:r>
            <a:r>
              <a:rPr lang="en-GB" dirty="0" err="1"/>
              <a:t>linguagem</a:t>
            </a:r>
            <a:r>
              <a:rPr lang="en-GB" dirty="0"/>
              <a:t>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resumida</a:t>
            </a:r>
            <a:r>
              <a:rPr lang="en-GB" dirty="0"/>
              <a:t>; </a:t>
            </a:r>
            <a:r>
              <a:rPr lang="en-GB" dirty="0" err="1"/>
              <a:t>aqui</a:t>
            </a:r>
            <a:r>
              <a:rPr lang="en-GB" dirty="0"/>
              <a:t> </a:t>
            </a:r>
            <a:r>
              <a:rPr lang="en-GB" dirty="0" err="1"/>
              <a:t>mostro</a:t>
            </a:r>
            <a:r>
              <a:rPr lang="en-GB" dirty="0"/>
              <a:t> a </a:t>
            </a:r>
            <a:r>
              <a:rPr lang="en-GB" dirty="0" err="1"/>
              <a:t>saída</a:t>
            </a:r>
            <a:r>
              <a:rPr lang="en-GB" dirty="0"/>
              <a:t> </a:t>
            </a:r>
            <a:r>
              <a:rPr lang="en-GB" dirty="0" err="1"/>
              <a:t>exata</a:t>
            </a:r>
            <a:r>
              <a:rPr lang="en-GB" dirty="0"/>
              <a:t> do CarenR, com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intervalos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definem</a:t>
            </a:r>
            <a:r>
              <a:rPr lang="en-GB" dirty="0"/>
              <a:t>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regra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Do </a:t>
            </a:r>
            <a:r>
              <a:rPr lang="en-GB" dirty="0" err="1"/>
              <a:t>ponto</a:t>
            </a:r>
            <a:r>
              <a:rPr lang="en-GB" dirty="0"/>
              <a:t> de vista da </a:t>
            </a:r>
            <a:r>
              <a:rPr lang="en-GB" dirty="0" err="1"/>
              <a:t>aplicação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negócio</a:t>
            </a:r>
            <a:r>
              <a:rPr lang="en-GB" dirty="0"/>
              <a:t>, </a:t>
            </a:r>
            <a:r>
              <a:rPr lang="en-GB" dirty="0" err="1"/>
              <a:t>esta</a:t>
            </a:r>
            <a:r>
              <a:rPr lang="en-GB" dirty="0"/>
              <a:t> </a:t>
            </a:r>
            <a:r>
              <a:rPr lang="en-GB" dirty="0" err="1"/>
              <a:t>é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das </a:t>
            </a:r>
            <a:r>
              <a:rPr lang="en-GB" dirty="0" err="1"/>
              <a:t>perspetivas</a:t>
            </a:r>
            <a:r>
              <a:rPr lang="en-GB" dirty="0"/>
              <a:t>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importantes</a:t>
            </a:r>
            <a:r>
              <a:rPr lang="en-GB" dirty="0"/>
              <a:t>. O </a:t>
            </a:r>
            <a:r>
              <a:rPr lang="en-GB" dirty="0" err="1"/>
              <a:t>modelo</a:t>
            </a:r>
            <a:r>
              <a:rPr lang="en-GB" dirty="0"/>
              <a:t> </a:t>
            </a:r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diz</a:t>
            </a:r>
            <a:r>
              <a:rPr lang="en-GB" dirty="0"/>
              <a:t> </a:t>
            </a:r>
            <a:r>
              <a:rPr lang="en-GB" dirty="0" err="1"/>
              <a:t>apenas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“a </a:t>
            </a:r>
            <a:r>
              <a:rPr lang="en-GB" dirty="0" err="1"/>
              <a:t>água</a:t>
            </a:r>
            <a:r>
              <a:rPr lang="en-GB" dirty="0"/>
              <a:t> no solo </a:t>
            </a:r>
            <a:r>
              <a:rPr lang="en-GB" dirty="0" err="1"/>
              <a:t>é</a:t>
            </a:r>
            <a:r>
              <a:rPr lang="en-GB" dirty="0"/>
              <a:t> </a:t>
            </a:r>
            <a:r>
              <a:rPr lang="en-GB" dirty="0" err="1"/>
              <a:t>relevante</a:t>
            </a:r>
            <a:r>
              <a:rPr lang="en-GB" dirty="0"/>
              <a:t>”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“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dias</a:t>
            </a:r>
            <a:r>
              <a:rPr lang="en-GB" dirty="0"/>
              <a:t> </a:t>
            </a:r>
            <a:r>
              <a:rPr lang="en-GB" dirty="0" err="1"/>
              <a:t>húmidos</a:t>
            </a:r>
            <a:r>
              <a:rPr lang="en-GB" dirty="0"/>
              <a:t> </a:t>
            </a:r>
            <a:r>
              <a:rPr lang="en-GB" dirty="0" err="1"/>
              <a:t>importam</a:t>
            </a:r>
            <a:r>
              <a:rPr lang="en-GB" dirty="0"/>
              <a:t>”. Ele </a:t>
            </a:r>
            <a:r>
              <a:rPr lang="en-GB" dirty="0" err="1"/>
              <a:t>apresenta</a:t>
            </a:r>
            <a:r>
              <a:rPr lang="en-GB" dirty="0"/>
              <a:t> </a:t>
            </a:r>
            <a:r>
              <a:rPr lang="en-GB" dirty="0" err="1"/>
              <a:t>condições</a:t>
            </a:r>
            <a:r>
              <a:rPr lang="en-GB" dirty="0"/>
              <a:t> </a:t>
            </a:r>
            <a:r>
              <a:rPr lang="en-GB" dirty="0" err="1"/>
              <a:t>concretas</a:t>
            </a:r>
            <a:r>
              <a:rPr lang="en-GB" dirty="0"/>
              <a:t>,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exemplo</a:t>
            </a:r>
            <a:r>
              <a:rPr lang="en-GB" dirty="0"/>
              <a:t>: </a:t>
            </a:r>
            <a:r>
              <a:rPr lang="en-GB" dirty="0" err="1"/>
              <a:t>dias</a:t>
            </a:r>
            <a:r>
              <a:rPr lang="en-GB" dirty="0"/>
              <a:t> </a:t>
            </a:r>
            <a:r>
              <a:rPr lang="en-GB" dirty="0" err="1"/>
              <a:t>húmidos</a:t>
            </a:r>
            <a:r>
              <a:rPr lang="en-GB" dirty="0"/>
              <a:t> </a:t>
            </a:r>
            <a:r>
              <a:rPr lang="en-GB" dirty="0" err="1"/>
              <a:t>pós-floração</a:t>
            </a:r>
            <a:r>
              <a:rPr lang="en-GB" dirty="0"/>
              <a:t> entre 0 e 3,3 </a:t>
            </a:r>
            <a:r>
              <a:rPr lang="en-GB" dirty="0" err="1"/>
              <a:t>dias</a:t>
            </a:r>
            <a:r>
              <a:rPr lang="en-GB" dirty="0"/>
              <a:t>,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água</a:t>
            </a:r>
            <a:r>
              <a:rPr lang="en-GB" dirty="0"/>
              <a:t> no solo antes da </a:t>
            </a:r>
            <a:r>
              <a:rPr lang="en-GB" dirty="0" err="1"/>
              <a:t>vindima</a:t>
            </a:r>
            <a:r>
              <a:rPr lang="en-GB" dirty="0"/>
              <a:t> entre 74 e 101 mm.</a:t>
            </a:r>
          </a:p>
          <a:p>
            <a:endParaRPr lang="en-GB" dirty="0"/>
          </a:p>
          <a:p>
            <a:r>
              <a:rPr lang="en-GB" dirty="0"/>
              <a:t>Isto </a:t>
            </a:r>
            <a:r>
              <a:rPr lang="en-GB" dirty="0" err="1"/>
              <a:t>permite</a:t>
            </a:r>
            <a:r>
              <a:rPr lang="en-GB" dirty="0"/>
              <a:t> </a:t>
            </a:r>
            <a:r>
              <a:rPr lang="en-GB" dirty="0" err="1"/>
              <a:t>passar</a:t>
            </a:r>
            <a:r>
              <a:rPr lang="en-GB" dirty="0"/>
              <a:t> de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explicação</a:t>
            </a:r>
            <a:r>
              <a:rPr lang="en-GB" dirty="0"/>
              <a:t> </a:t>
            </a:r>
            <a:r>
              <a:rPr lang="en-GB" dirty="0" err="1"/>
              <a:t>estatística</a:t>
            </a:r>
            <a:r>
              <a:rPr lang="en-GB" dirty="0"/>
              <a:t> para </a:t>
            </a:r>
            <a:r>
              <a:rPr lang="en-GB" dirty="0" err="1"/>
              <a:t>uma</a:t>
            </a:r>
            <a:r>
              <a:rPr lang="en-GB" dirty="0"/>
              <a:t> conversa com </a:t>
            </a:r>
            <a:r>
              <a:rPr lang="en-GB" dirty="0" err="1"/>
              <a:t>especialistas</a:t>
            </a:r>
            <a:r>
              <a:rPr lang="en-GB" dirty="0"/>
              <a:t> do </a:t>
            </a:r>
            <a:r>
              <a:rPr lang="en-GB" dirty="0" err="1"/>
              <a:t>domínio</a:t>
            </a:r>
            <a:r>
              <a:rPr lang="en-GB" dirty="0"/>
              <a:t>. Um </a:t>
            </a:r>
            <a:r>
              <a:rPr lang="en-GB" dirty="0" err="1"/>
              <a:t>agrónomo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técnico</a:t>
            </a:r>
            <a:r>
              <a:rPr lang="en-GB" dirty="0"/>
              <a:t> </a:t>
            </a:r>
            <a:r>
              <a:rPr lang="en-GB" dirty="0" err="1"/>
              <a:t>pode</a:t>
            </a:r>
            <a:r>
              <a:rPr lang="en-GB" dirty="0"/>
              <a:t> </a:t>
            </a:r>
            <a:r>
              <a:rPr lang="en-GB" dirty="0" err="1"/>
              <a:t>olhar</a:t>
            </a:r>
            <a:r>
              <a:rPr lang="en-GB" dirty="0"/>
              <a:t> para </a:t>
            </a:r>
            <a:r>
              <a:rPr lang="en-GB" dirty="0" err="1"/>
              <a:t>estes</a:t>
            </a:r>
            <a:r>
              <a:rPr lang="en-GB" dirty="0"/>
              <a:t> </a:t>
            </a:r>
            <a:r>
              <a:rPr lang="en-GB" dirty="0" err="1"/>
              <a:t>limiares</a:t>
            </a:r>
            <a:r>
              <a:rPr lang="en-GB" dirty="0"/>
              <a:t> e </a:t>
            </a:r>
            <a:r>
              <a:rPr lang="en-GB" dirty="0" err="1"/>
              <a:t>perguntar</a:t>
            </a:r>
            <a:r>
              <a:rPr lang="en-GB" dirty="0"/>
              <a:t>: “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intervalo</a:t>
            </a:r>
            <a:r>
              <a:rPr lang="en-GB" dirty="0"/>
              <a:t> </a:t>
            </a:r>
            <a:r>
              <a:rPr lang="en-GB" dirty="0" err="1"/>
              <a:t>faz</a:t>
            </a:r>
            <a:r>
              <a:rPr lang="en-GB" dirty="0"/>
              <a:t> </a:t>
            </a:r>
            <a:r>
              <a:rPr lang="en-GB" dirty="0" err="1"/>
              <a:t>sentido</a:t>
            </a:r>
            <a:r>
              <a:rPr lang="en-GB" dirty="0"/>
              <a:t>?”, “</a:t>
            </a:r>
            <a:r>
              <a:rPr lang="en-GB" dirty="0" err="1"/>
              <a:t>é</a:t>
            </a:r>
            <a:r>
              <a:rPr lang="en-GB" dirty="0"/>
              <a:t> </a:t>
            </a:r>
            <a:r>
              <a:rPr lang="en-GB" dirty="0" err="1"/>
              <a:t>agronomicamente</a:t>
            </a:r>
            <a:r>
              <a:rPr lang="en-GB" dirty="0"/>
              <a:t> </a:t>
            </a:r>
            <a:r>
              <a:rPr lang="en-GB" dirty="0" err="1"/>
              <a:t>plausível</a:t>
            </a:r>
            <a:r>
              <a:rPr lang="en-GB" dirty="0"/>
              <a:t>?”, “</a:t>
            </a:r>
            <a:r>
              <a:rPr lang="en-GB" dirty="0" err="1"/>
              <a:t>corresponde</a:t>
            </a:r>
            <a:r>
              <a:rPr lang="en-GB" dirty="0"/>
              <a:t> a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situação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reconhecemos</a:t>
            </a:r>
            <a:r>
              <a:rPr lang="en-GB" dirty="0"/>
              <a:t> no campo?”.</a:t>
            </a:r>
          </a:p>
          <a:p>
            <a:r>
              <a:rPr lang="en-GB" dirty="0" err="1"/>
              <a:t>É</a:t>
            </a:r>
            <a:r>
              <a:rPr lang="en-GB" dirty="0"/>
              <a:t> </a:t>
            </a:r>
            <a:r>
              <a:rPr lang="en-GB" dirty="0" err="1"/>
              <a:t>aqui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está</a:t>
            </a:r>
            <a:r>
              <a:rPr lang="en-GB" dirty="0"/>
              <a:t> a </a:t>
            </a:r>
            <a:r>
              <a:rPr lang="en-GB" dirty="0" err="1"/>
              <a:t>vantagem</a:t>
            </a:r>
            <a:r>
              <a:rPr lang="en-GB" dirty="0"/>
              <a:t> da </a:t>
            </a:r>
            <a:r>
              <a:rPr lang="en-GB" dirty="0" err="1"/>
              <a:t>interpretabilidade</a:t>
            </a:r>
            <a:r>
              <a:rPr lang="en-GB" dirty="0"/>
              <a:t>. A </a:t>
            </a:r>
            <a:r>
              <a:rPr lang="en-GB" dirty="0" err="1"/>
              <a:t>regra</a:t>
            </a:r>
            <a:r>
              <a:rPr lang="en-GB" dirty="0"/>
              <a:t> </a:t>
            </a:r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é</a:t>
            </a:r>
            <a:r>
              <a:rPr lang="en-GB" dirty="0"/>
              <a:t> </a:t>
            </a:r>
            <a:r>
              <a:rPr lang="en-GB" dirty="0" err="1"/>
              <a:t>apenas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importância</a:t>
            </a:r>
            <a:r>
              <a:rPr lang="en-GB" dirty="0"/>
              <a:t> de </a:t>
            </a:r>
            <a:r>
              <a:rPr lang="en-GB" dirty="0" err="1"/>
              <a:t>variável</a:t>
            </a:r>
            <a:r>
              <a:rPr lang="en-GB" dirty="0"/>
              <a:t>; </a:t>
            </a:r>
            <a:r>
              <a:rPr lang="en-GB" dirty="0" err="1"/>
              <a:t>é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condição</a:t>
            </a:r>
            <a:r>
              <a:rPr lang="en-GB" dirty="0"/>
              <a:t> </a:t>
            </a:r>
            <a:r>
              <a:rPr lang="en-GB" dirty="0" err="1"/>
              <a:t>explícita</a:t>
            </a:r>
            <a:r>
              <a:rPr lang="en-GB" dirty="0"/>
              <a:t>, com </a:t>
            </a:r>
            <a:r>
              <a:rPr lang="en-GB" dirty="0" err="1"/>
              <a:t>suporte</a:t>
            </a:r>
            <a:r>
              <a:rPr lang="en-GB" dirty="0"/>
              <a:t>, </a:t>
            </a:r>
            <a:r>
              <a:rPr lang="en-GB" dirty="0" err="1"/>
              <a:t>valor</a:t>
            </a:r>
            <a:r>
              <a:rPr lang="en-GB" dirty="0"/>
              <a:t>-p e um </a:t>
            </a:r>
            <a:r>
              <a:rPr lang="en-GB" dirty="0" err="1"/>
              <a:t>efeito</a:t>
            </a:r>
            <a:r>
              <a:rPr lang="en-GB" dirty="0"/>
              <a:t> </a:t>
            </a:r>
            <a:r>
              <a:rPr lang="en-GB" dirty="0" err="1"/>
              <a:t>observado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produção</a:t>
            </a:r>
            <a:r>
              <a:rPr lang="en-GB" dirty="0"/>
              <a:t> residual.</a:t>
            </a:r>
          </a:p>
          <a:p>
            <a:endParaRPr lang="en-GB" b="1" dirty="0"/>
          </a:p>
          <a:p>
            <a:r>
              <a:rPr lang="en-GB" b="1" dirty="0"/>
              <a:t>Ou </a:t>
            </a:r>
            <a:r>
              <a:rPr lang="en-GB" b="1" dirty="0" err="1"/>
              <a:t>seja</a:t>
            </a:r>
            <a:r>
              <a:rPr lang="en-GB" b="1" dirty="0"/>
              <a:t>, </a:t>
            </a:r>
            <a:r>
              <a:rPr lang="en-GB" b="1" dirty="0" err="1"/>
              <a:t>estes</a:t>
            </a:r>
            <a:r>
              <a:rPr lang="en-GB" b="1" dirty="0"/>
              <a:t> </a:t>
            </a:r>
            <a:r>
              <a:rPr lang="en-GB" b="1" dirty="0" err="1"/>
              <a:t>limiares</a:t>
            </a:r>
            <a:r>
              <a:rPr lang="en-GB" b="1" dirty="0"/>
              <a:t> </a:t>
            </a:r>
            <a:r>
              <a:rPr lang="en-GB" b="1" dirty="0" err="1"/>
              <a:t>transformam</a:t>
            </a:r>
            <a:r>
              <a:rPr lang="en-GB" b="1" dirty="0"/>
              <a:t> a </a:t>
            </a:r>
            <a:r>
              <a:rPr lang="en-GB" b="1" dirty="0" err="1"/>
              <a:t>saída</a:t>
            </a:r>
            <a:r>
              <a:rPr lang="en-GB" b="1" dirty="0"/>
              <a:t> do </a:t>
            </a:r>
            <a:r>
              <a:rPr lang="en-GB" b="1" dirty="0" err="1"/>
              <a:t>algoritmo</a:t>
            </a:r>
            <a:r>
              <a:rPr lang="en-GB" b="1" dirty="0"/>
              <a:t> </a:t>
            </a:r>
            <a:r>
              <a:rPr lang="en-GB" b="1" dirty="0" err="1"/>
              <a:t>em</a:t>
            </a:r>
            <a:r>
              <a:rPr lang="en-GB" b="1" dirty="0"/>
              <a:t> algo </a:t>
            </a:r>
            <a:r>
              <a:rPr lang="en-GB" b="1" dirty="0" err="1"/>
              <a:t>que</a:t>
            </a:r>
            <a:r>
              <a:rPr lang="en-GB" b="1" dirty="0"/>
              <a:t> </a:t>
            </a:r>
            <a:r>
              <a:rPr lang="en-GB" b="1" dirty="0" err="1"/>
              <a:t>pode</a:t>
            </a:r>
            <a:r>
              <a:rPr lang="en-GB" b="1" dirty="0"/>
              <a:t> ser </a:t>
            </a:r>
            <a:r>
              <a:rPr lang="en-GB" b="1" dirty="0" err="1"/>
              <a:t>auditado</a:t>
            </a:r>
            <a:r>
              <a:rPr lang="en-GB" b="1" dirty="0"/>
              <a:t>, </a:t>
            </a:r>
            <a:r>
              <a:rPr lang="en-GB" b="1" dirty="0" err="1"/>
              <a:t>discutido</a:t>
            </a:r>
            <a:r>
              <a:rPr lang="en-GB" b="1" dirty="0"/>
              <a:t> e </a:t>
            </a:r>
            <a:r>
              <a:rPr lang="en-GB" b="1" dirty="0" err="1"/>
              <a:t>validado</a:t>
            </a:r>
            <a:r>
              <a:rPr lang="en-GB" b="1" dirty="0"/>
              <a:t> </a:t>
            </a:r>
            <a:r>
              <a:rPr lang="en-GB" b="1" dirty="0" err="1"/>
              <a:t>na</a:t>
            </a:r>
            <a:r>
              <a:rPr lang="en-GB" b="1" dirty="0"/>
              <a:t> </a:t>
            </a:r>
            <a:r>
              <a:rPr lang="en-GB" b="1" dirty="0" err="1"/>
              <a:t>linguagem</a:t>
            </a:r>
            <a:r>
              <a:rPr lang="en-GB" b="1" dirty="0"/>
              <a:t> do </a:t>
            </a:r>
            <a:r>
              <a:rPr lang="en-GB" b="1" dirty="0" err="1"/>
              <a:t>negócio</a:t>
            </a:r>
            <a:r>
              <a:rPr lang="en-GB" b="1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7174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12:55</a:t>
            </a:r>
          </a:p>
          <a:p>
            <a:pPr>
              <a:buNone/>
            </a:pPr>
            <a:endParaRPr lang="pt-PT" sz="1400" b="1" dirty="0">
              <a:solidFill>
                <a:srgbClr val="C00000"/>
              </a:solidFill>
            </a:endParaRPr>
          </a:p>
          <a:p>
            <a:r>
              <a:rPr lang="en-GB" sz="1200" b="1" i="0" kern="1200" dirty="0">
                <a:effectLst/>
              </a:rPr>
              <a:t>Slide 16 — </a:t>
            </a:r>
            <a:r>
              <a:rPr lang="en-GB" sz="1200" b="1" i="0" kern="1200" dirty="0" err="1">
                <a:effectLst/>
              </a:rPr>
              <a:t>Validação</a:t>
            </a:r>
            <a:r>
              <a:rPr lang="en-GB" sz="1200" b="1" i="0" kern="1200" dirty="0">
                <a:effectLst/>
              </a:rPr>
              <a:t> entre </a:t>
            </a:r>
            <a:r>
              <a:rPr lang="en-GB" sz="1200" b="1" i="0" kern="1200" dirty="0" err="1">
                <a:effectLst/>
              </a:rPr>
              <a:t>algoritmos</a:t>
            </a:r>
            <a:r>
              <a:rPr lang="en-GB" sz="1200" b="1" i="0" kern="1200" dirty="0">
                <a:effectLst/>
              </a:rPr>
              <a:t> (~1 min)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Uma </a:t>
            </a:r>
            <a:r>
              <a:rPr lang="en-GB" sz="1200" b="0" i="0" kern="1200" dirty="0" err="1">
                <a:effectLst/>
              </a:rPr>
              <a:t>questão</a:t>
            </a:r>
            <a:r>
              <a:rPr lang="en-GB" sz="1200" b="0" i="0" kern="1200" dirty="0">
                <a:effectLst/>
              </a:rPr>
              <a:t> natural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saber</a:t>
            </a:r>
            <a:r>
              <a:rPr lang="en-GB" sz="1200" b="0" i="0" kern="1200" dirty="0">
                <a:effectLst/>
              </a:rPr>
              <a:t> se </a:t>
            </a:r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artefactos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processo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pesquisa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específico</a:t>
            </a:r>
            <a:r>
              <a:rPr lang="en-GB" sz="1200" b="0" i="0" kern="1200" dirty="0">
                <a:effectLst/>
              </a:rPr>
              <a:t> do Caren.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O CarenR, o RIPPER e o M5Rules </a:t>
            </a:r>
            <a:r>
              <a:rPr lang="en-GB" sz="1200" b="1" i="0" kern="1200" dirty="0" err="1">
                <a:effectLst/>
              </a:rPr>
              <a:t>otimizam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objetivos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fundamentalmente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diferentes</a:t>
            </a:r>
            <a:r>
              <a:rPr lang="en-GB" sz="1200" b="1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Por </a:t>
            </a:r>
            <a:r>
              <a:rPr lang="en-GB" sz="1200" b="0" i="0" kern="1200" dirty="0" err="1">
                <a:effectLst/>
              </a:rPr>
              <a:t>isso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quando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três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algoritmos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selecionam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mesma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família</a:t>
            </a:r>
            <a:r>
              <a:rPr lang="en-GB" sz="1200" b="0" i="0" kern="1200" dirty="0">
                <a:effectLst/>
              </a:rPr>
              <a:t> de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essa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convergência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constitui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evidência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relevante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Duas </a:t>
            </a:r>
            <a:r>
              <a:rPr lang="en-GB" sz="1200" b="1" i="0" kern="1200" dirty="0" err="1">
                <a:effectLst/>
              </a:rPr>
              <a:t>famílias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são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confirmadas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pelos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três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métodos</a:t>
            </a:r>
            <a:r>
              <a:rPr lang="en-GB" sz="1200" b="0" i="0" kern="1200" dirty="0">
                <a:effectLst/>
              </a:rPr>
              <a:t>:</a:t>
            </a:r>
          </a:p>
          <a:p>
            <a:r>
              <a:rPr lang="en-GB" sz="1200" b="0" i="0" kern="1200" dirty="0">
                <a:effectLst/>
              </a:rPr>
              <a:t>- a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no solo </a:t>
            </a:r>
            <a:r>
              <a:rPr lang="en-GB" sz="1200" b="0" i="0" kern="1200" dirty="0" err="1">
                <a:effectLst/>
              </a:rPr>
              <a:t>durante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vindima</a:t>
            </a:r>
            <a:r>
              <a:rPr lang="en-GB" sz="1200" b="0" i="0" kern="1200" dirty="0">
                <a:effectLst/>
              </a:rPr>
              <a:t> e as </a:t>
            </a:r>
            <a:r>
              <a:rPr lang="en-GB" sz="1200" b="0" i="0" kern="1200" dirty="0" err="1">
                <a:effectLst/>
              </a:rPr>
              <a:t>variáveis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relacionadas</a:t>
            </a:r>
            <a:r>
              <a:rPr lang="en-GB" sz="1200" b="0" i="0" kern="1200" dirty="0">
                <a:effectLst/>
              </a:rPr>
              <a:t> com o LAI, </a:t>
            </a:r>
            <a:r>
              <a:rPr lang="en-GB" sz="1200" b="0" i="0" kern="1200" dirty="0" err="1">
                <a:effectLst/>
              </a:rPr>
              <a:t>ou</a:t>
            </a:r>
            <a:r>
              <a:rPr lang="en-GB" sz="1200" b="0" i="0" kern="1200" dirty="0">
                <a:effectLst/>
              </a:rPr>
              <a:t> com a </a:t>
            </a:r>
            <a:r>
              <a:rPr lang="en-GB" sz="1200" b="0" i="0" kern="1200" dirty="0" err="1">
                <a:effectLst/>
              </a:rPr>
              <a:t>estrutura</a:t>
            </a:r>
            <a:r>
              <a:rPr lang="en-GB" sz="1200" b="0" i="0" kern="1200" dirty="0">
                <a:effectLst/>
              </a:rPr>
              <a:t> do </a:t>
            </a:r>
            <a:r>
              <a:rPr lang="en-GB" sz="1200" b="0" i="1" kern="1200" dirty="0">
                <a:effectLst/>
              </a:rPr>
              <a:t>canopy  (</a:t>
            </a:r>
            <a:r>
              <a:rPr lang="en-GB" i="1" dirty="0" err="1"/>
              <a:t>estrutura</a:t>
            </a:r>
            <a:r>
              <a:rPr lang="en-GB" i="1" dirty="0"/>
              <a:t> do </a:t>
            </a:r>
            <a:r>
              <a:rPr lang="en-GB" i="1" dirty="0" err="1"/>
              <a:t>coberto</a:t>
            </a:r>
            <a:r>
              <a:rPr lang="en-GB" i="1" dirty="0"/>
              <a:t> vegetal.</a:t>
            </a:r>
            <a:r>
              <a:rPr lang="en-GB" sz="1200" b="0" i="1" kern="1200" dirty="0">
                <a:effectLst/>
              </a:rPr>
              <a:t>)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Também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devemos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interpretar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convergências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prova</a:t>
            </a:r>
            <a:r>
              <a:rPr lang="en-GB" sz="1200" b="0" i="0" kern="1200" dirty="0">
                <a:effectLst/>
              </a:rPr>
              <a:t> causal.</a:t>
            </a: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afirmar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evidência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convergente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famílias</a:t>
            </a:r>
            <a:r>
              <a:rPr lang="en-GB" sz="1200" b="0" i="0" kern="1200" dirty="0">
                <a:effectLst/>
              </a:rPr>
              <a:t> de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captam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</a:t>
            </a:r>
            <a:r>
              <a:rPr lang="en-GB" sz="1200" b="0" i="0" kern="1200" dirty="0">
                <a:effectLst/>
              </a:rPr>
              <a:t> real </a:t>
            </a:r>
            <a:r>
              <a:rPr lang="en-GB" sz="1200" b="0" i="0" kern="1200" dirty="0" err="1">
                <a:effectLst/>
              </a:rPr>
              <a:t>nos</a:t>
            </a:r>
            <a:r>
              <a:rPr lang="en-GB" sz="1200" b="0" i="0" kern="1200" dirty="0">
                <a:effectLst/>
              </a:rPr>
              <a:t> dados,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vez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refletirem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ruído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específico</a:t>
            </a:r>
            <a:r>
              <a:rPr lang="en-GB" sz="1200" b="0" i="0" kern="1200" dirty="0">
                <a:effectLst/>
              </a:rPr>
              <a:t> de um </a:t>
            </a:r>
            <a:r>
              <a:rPr lang="en-GB" sz="1200" b="0" i="0" kern="1200" dirty="0" err="1">
                <a:effectLst/>
              </a:rPr>
              <a:t>determinado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algoritmo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pt-PT" dirty="0"/>
          </a:p>
          <a:p>
            <a:endParaRPr lang="en-GB" dirty="0"/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br>
              <a:rPr lang="en-GB" dirty="0"/>
            </a:br>
            <a:br>
              <a:rPr lang="en-GB" dirty="0"/>
            </a:br>
            <a:r>
              <a:rPr lang="en-GB" sz="1200" b="0" i="1" kern="1200" dirty="0">
                <a:effectLst/>
              </a:rPr>
              <a:t>O CarenR </a:t>
            </a:r>
            <a:r>
              <a:rPr lang="en-GB" sz="1200" b="0" i="1" kern="1200" dirty="0" err="1">
                <a:effectLst/>
              </a:rPr>
              <a:t>utiliza</a:t>
            </a:r>
            <a:r>
              <a:rPr lang="en-GB" sz="1200" b="0" i="1" kern="1200" dirty="0">
                <a:effectLst/>
              </a:rPr>
              <a:t> um teste </a:t>
            </a:r>
            <a:r>
              <a:rPr lang="en-GB" sz="1200" b="0" i="1" kern="1200" dirty="0" err="1">
                <a:effectLst/>
              </a:rPr>
              <a:t>distribucional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baseado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na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estatística</a:t>
            </a:r>
            <a:r>
              <a:rPr lang="en-GB" sz="1200" b="0" i="1" kern="1200" dirty="0">
                <a:effectLst/>
              </a:rPr>
              <a:t> KS. O RIPPER </a:t>
            </a:r>
            <a:r>
              <a:rPr lang="en-GB" sz="1200" b="0" i="1" kern="1200" dirty="0" err="1">
                <a:effectLst/>
              </a:rPr>
              <a:t>utiliza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critérios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relacionados</a:t>
            </a:r>
            <a:r>
              <a:rPr lang="en-GB" sz="1200" b="0" i="1" kern="1200" dirty="0">
                <a:effectLst/>
              </a:rPr>
              <a:t> com </a:t>
            </a:r>
            <a:r>
              <a:rPr lang="en-GB" sz="1200" b="0" i="1" kern="1200" dirty="0" err="1">
                <a:effectLst/>
              </a:rPr>
              <a:t>ganho</a:t>
            </a:r>
            <a:r>
              <a:rPr lang="en-GB" sz="1200" b="0" i="1" kern="1200" dirty="0">
                <a:effectLst/>
              </a:rPr>
              <a:t> de </a:t>
            </a:r>
            <a:r>
              <a:rPr lang="en-GB" sz="1200" b="0" i="1" kern="1200" dirty="0" err="1">
                <a:effectLst/>
              </a:rPr>
              <a:t>informação</a:t>
            </a:r>
            <a:r>
              <a:rPr lang="en-GB" sz="1200" b="0" i="1" kern="1200" dirty="0">
                <a:effectLst/>
              </a:rPr>
              <a:t> para </a:t>
            </a:r>
            <a:r>
              <a:rPr lang="en-GB" sz="1200" b="0" i="1" kern="1200" dirty="0" err="1">
                <a:effectLst/>
              </a:rPr>
              <a:t>classificação</a:t>
            </a:r>
            <a:r>
              <a:rPr lang="en-GB" sz="1200" b="0" i="1" kern="1200" dirty="0">
                <a:effectLst/>
              </a:rPr>
              <a:t>. O M5Rules </a:t>
            </a:r>
            <a:r>
              <a:rPr lang="en-GB" sz="1200" b="0" i="1" kern="1200" dirty="0" err="1">
                <a:effectLst/>
              </a:rPr>
              <a:t>procura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reduzir</a:t>
            </a:r>
            <a:r>
              <a:rPr lang="en-GB" sz="1200" b="0" i="1" kern="1200" dirty="0">
                <a:effectLst/>
              </a:rPr>
              <a:t> o </a:t>
            </a:r>
            <a:r>
              <a:rPr lang="en-GB" sz="1200" b="0" i="1" kern="1200" dirty="0" err="1">
                <a:effectLst/>
              </a:rPr>
              <a:t>erro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quadrático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num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problema</a:t>
            </a:r>
            <a:r>
              <a:rPr lang="en-GB" sz="1200" b="0" i="1" kern="1200" dirty="0">
                <a:effectLst/>
              </a:rPr>
              <a:t> de </a:t>
            </a:r>
            <a:r>
              <a:rPr lang="en-GB" sz="1200" b="0" i="1" kern="1200" dirty="0" err="1">
                <a:effectLst/>
              </a:rPr>
              <a:t>regressão</a:t>
            </a:r>
            <a:r>
              <a:rPr lang="en-GB" sz="1200" b="0" i="1" kern="1200" dirty="0">
                <a:effectLst/>
              </a:rPr>
              <a:t>.</a:t>
            </a:r>
          </a:p>
          <a:p>
            <a:r>
              <a:rPr lang="en-GB" sz="1200" b="0" i="1" kern="1200" dirty="0">
                <a:effectLst/>
              </a:rPr>
              <a:t>Por </a:t>
            </a:r>
            <a:r>
              <a:rPr lang="en-GB" sz="1200" b="0" i="1" kern="1200" dirty="0" err="1">
                <a:effectLst/>
              </a:rPr>
              <a:t>isso</a:t>
            </a:r>
            <a:r>
              <a:rPr lang="en-GB" sz="1200" b="0" i="1" kern="1200" dirty="0">
                <a:effectLst/>
              </a:rPr>
              <a:t>, </a:t>
            </a:r>
            <a:r>
              <a:rPr lang="en-GB" sz="1200" b="0" i="1" kern="1200" dirty="0" err="1">
                <a:effectLst/>
              </a:rPr>
              <a:t>quando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os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três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algoritmos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selecionam</a:t>
            </a:r>
            <a:r>
              <a:rPr lang="en-GB" sz="1200" b="0" i="1" kern="1200" dirty="0">
                <a:effectLst/>
              </a:rPr>
              <a:t> a </a:t>
            </a:r>
            <a:r>
              <a:rPr lang="en-GB" sz="1200" b="0" i="1" kern="1200" dirty="0" err="1">
                <a:effectLst/>
              </a:rPr>
              <a:t>mesma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família</a:t>
            </a:r>
            <a:r>
              <a:rPr lang="en-GB" sz="1200" b="0" i="1" kern="1200" dirty="0">
                <a:effectLst/>
              </a:rPr>
              <a:t> de features, </a:t>
            </a:r>
            <a:r>
              <a:rPr lang="en-GB" sz="1200" b="0" i="1" kern="1200" dirty="0" err="1">
                <a:effectLst/>
              </a:rPr>
              <a:t>essa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convergência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constitui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evidência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relevante</a:t>
            </a:r>
            <a:r>
              <a:rPr lang="en-GB" sz="1200" b="0" i="1" kern="1200" dirty="0">
                <a:effectLst/>
              </a:rPr>
              <a:t>.</a:t>
            </a:r>
          </a:p>
          <a:p>
            <a:endParaRPr lang="en-GB" sz="1200" b="0" i="1" kern="1200" dirty="0">
              <a:effectLst/>
            </a:endParaRPr>
          </a:p>
          <a:p>
            <a:r>
              <a:rPr lang="en-GB" sz="1200" b="0" i="1" kern="1200" dirty="0">
                <a:effectLst/>
              </a:rPr>
              <a:t>- a </a:t>
            </a:r>
            <a:r>
              <a:rPr lang="en-GB" sz="1200" b="0" i="1" kern="1200" dirty="0" err="1">
                <a:effectLst/>
              </a:rPr>
              <a:t>água</a:t>
            </a:r>
            <a:r>
              <a:rPr lang="en-GB" sz="1200" b="0" i="1" kern="1200" dirty="0">
                <a:effectLst/>
              </a:rPr>
              <a:t> no solo </a:t>
            </a:r>
            <a:r>
              <a:rPr lang="en-GB" sz="1200" b="0" i="1" kern="1200" dirty="0" err="1">
                <a:effectLst/>
              </a:rPr>
              <a:t>durante</a:t>
            </a:r>
            <a:r>
              <a:rPr lang="en-GB" sz="1200" b="0" i="1" kern="1200" dirty="0">
                <a:effectLst/>
              </a:rPr>
              <a:t> a </a:t>
            </a:r>
            <a:r>
              <a:rPr lang="en-GB" sz="1200" b="0" i="1" kern="1200" dirty="0" err="1">
                <a:effectLst/>
              </a:rPr>
              <a:t>vindima</a:t>
            </a:r>
            <a:r>
              <a:rPr lang="en-GB" sz="1200" b="0" i="1" kern="1200" dirty="0">
                <a:effectLst/>
              </a:rPr>
              <a:t> e as </a:t>
            </a:r>
            <a:r>
              <a:rPr lang="en-GB" sz="1200" b="0" i="1" kern="1200" dirty="0" err="1">
                <a:effectLst/>
              </a:rPr>
              <a:t>variáveis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relacionadas</a:t>
            </a:r>
            <a:r>
              <a:rPr lang="en-GB" sz="1200" b="0" i="1" kern="1200" dirty="0">
                <a:effectLst/>
              </a:rPr>
              <a:t> com o LAI, </a:t>
            </a:r>
            <a:r>
              <a:rPr lang="en-GB" sz="1200" b="0" i="1" kern="1200" dirty="0" err="1">
                <a:effectLst/>
              </a:rPr>
              <a:t>ou</a:t>
            </a:r>
            <a:r>
              <a:rPr lang="en-GB" sz="1200" b="0" i="1" kern="1200" dirty="0">
                <a:effectLst/>
              </a:rPr>
              <a:t> com a </a:t>
            </a:r>
            <a:r>
              <a:rPr lang="en-GB" sz="1200" b="0" i="1" kern="1200" dirty="0" err="1">
                <a:effectLst/>
              </a:rPr>
              <a:t>estrutura</a:t>
            </a:r>
            <a:r>
              <a:rPr lang="en-GB" sz="1200" b="0" i="1" kern="1200" dirty="0">
                <a:effectLst/>
              </a:rPr>
              <a:t> do canopy .</a:t>
            </a:r>
          </a:p>
          <a:p>
            <a:r>
              <a:rPr lang="en-GB" sz="1200" b="0" i="1" kern="1200" dirty="0" err="1">
                <a:effectLst/>
              </a:rPr>
              <a:t>É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importante</a:t>
            </a:r>
            <a:r>
              <a:rPr lang="en-GB" sz="1200" b="0" i="1" kern="1200" dirty="0">
                <a:effectLst/>
              </a:rPr>
              <a:t> ser </a:t>
            </a:r>
            <a:r>
              <a:rPr lang="en-GB" sz="1200" b="0" i="1" kern="1200" dirty="0" err="1">
                <a:effectLst/>
              </a:rPr>
              <a:t>rigoroso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relativamente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ao</a:t>
            </a:r>
            <a:r>
              <a:rPr lang="en-GB" sz="1200" b="0" i="1" kern="1200" dirty="0">
                <a:effectLst/>
              </a:rPr>
              <a:t> LAI.</a:t>
            </a:r>
          </a:p>
          <a:p>
            <a:r>
              <a:rPr lang="en-GB" sz="1200" b="0" i="1" kern="1200" dirty="0">
                <a:effectLst/>
              </a:rPr>
              <a:t>Esta </a:t>
            </a:r>
            <a:r>
              <a:rPr lang="en-GB" sz="1200" b="0" i="1" kern="1200" dirty="0" err="1">
                <a:effectLst/>
              </a:rPr>
              <a:t>família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aparece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em</a:t>
            </a:r>
            <a:r>
              <a:rPr lang="en-GB" sz="1200" b="0" i="1" kern="1200" dirty="0">
                <a:effectLst/>
              </a:rPr>
              <a:t> 4 das 20 </a:t>
            </a:r>
            <a:r>
              <a:rPr lang="en-GB" sz="1200" b="0" i="1" kern="1200" dirty="0" err="1">
                <a:effectLst/>
              </a:rPr>
              <a:t>regras</a:t>
            </a:r>
            <a:r>
              <a:rPr lang="en-GB" sz="1200" b="0" i="1" kern="1200" dirty="0">
                <a:effectLst/>
              </a:rPr>
              <a:t> da </a:t>
            </a:r>
            <a:r>
              <a:rPr lang="en-GB" sz="1200" b="0" i="1" kern="1200" dirty="0" err="1">
                <a:effectLst/>
              </a:rPr>
              <a:t>Região</a:t>
            </a:r>
            <a:r>
              <a:rPr lang="en-GB" sz="1200" b="0" i="1" kern="1200" dirty="0">
                <a:effectLst/>
              </a:rPr>
              <a:t> dos Vinhos Verdes. A </a:t>
            </a:r>
            <a:r>
              <a:rPr lang="en-GB" sz="1200" b="0" i="1" kern="1200" dirty="0" err="1">
                <a:effectLst/>
              </a:rPr>
              <a:t>conclusão</a:t>
            </a:r>
            <a:r>
              <a:rPr lang="en-GB" sz="1200" b="0" i="1" kern="1200" dirty="0">
                <a:effectLst/>
              </a:rPr>
              <a:t> da </a:t>
            </a:r>
            <a:r>
              <a:rPr lang="en-GB" sz="1200" b="0" i="1" kern="1200" dirty="0" err="1">
                <a:effectLst/>
              </a:rPr>
              <a:t>análise</a:t>
            </a:r>
            <a:r>
              <a:rPr lang="en-GB" sz="1200" b="0" i="1" kern="1200" dirty="0">
                <a:effectLst/>
              </a:rPr>
              <a:t> entre </a:t>
            </a:r>
            <a:r>
              <a:rPr lang="en-GB" sz="1200" b="0" i="1" kern="1200" dirty="0" err="1">
                <a:effectLst/>
              </a:rPr>
              <a:t>algoritmos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é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que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os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três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métodos</a:t>
            </a:r>
            <a:r>
              <a:rPr lang="en-GB" sz="1200" b="0" i="1" kern="1200" dirty="0">
                <a:effectLst/>
              </a:rPr>
              <a:t> a </a:t>
            </a:r>
            <a:r>
              <a:rPr lang="en-GB" sz="1200" b="0" i="1" kern="1200" dirty="0" err="1">
                <a:effectLst/>
              </a:rPr>
              <a:t>selecionam</a:t>
            </a:r>
            <a:r>
              <a:rPr lang="en-GB" sz="1200" b="0" i="1" kern="1200" dirty="0">
                <a:effectLst/>
              </a:rPr>
              <a:t>, e </a:t>
            </a:r>
            <a:r>
              <a:rPr lang="en-GB" sz="1200" b="0" i="1" kern="1200" dirty="0" err="1">
                <a:effectLst/>
              </a:rPr>
              <a:t>não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que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seja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uma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variável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particularmente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frequente</a:t>
            </a:r>
            <a:r>
              <a:rPr lang="en-GB" sz="1200" b="0" i="1" kern="1200" dirty="0">
                <a:effectLst/>
              </a:rPr>
              <a:t> no conjunto de </a:t>
            </a:r>
            <a:r>
              <a:rPr lang="en-GB" sz="1200" b="0" i="1" kern="1200" dirty="0" err="1">
                <a:effectLst/>
              </a:rPr>
              <a:t>regras</a:t>
            </a:r>
            <a:r>
              <a:rPr lang="en-GB" sz="1200" b="0" i="1" kern="1200" dirty="0">
                <a:effectLst/>
              </a:rPr>
              <a:t>.</a:t>
            </a:r>
          </a:p>
          <a:p>
            <a:endParaRPr lang="en-GB" sz="1200" b="0" i="1" kern="1200" dirty="0">
              <a:effectLst/>
            </a:endParaRPr>
          </a:p>
          <a:p>
            <a:endParaRPr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13:40 </a:t>
            </a:r>
          </a:p>
          <a:p>
            <a:pPr>
              <a:buNone/>
            </a:pPr>
            <a:endParaRPr lang="pt-PT" sz="1400" b="1" i="0" kern="1200" dirty="0">
              <a:solidFill>
                <a:srgbClr val="C00000"/>
              </a:solidFill>
              <a:effectLst/>
            </a:endParaRPr>
          </a:p>
          <a:p>
            <a:pPr>
              <a:buNone/>
            </a:pPr>
            <a:r>
              <a:rPr lang="en-GB" sz="1200" b="1" i="0" kern="1200" dirty="0">
                <a:effectLst/>
              </a:rPr>
              <a:t>Slide 17 — </a:t>
            </a:r>
            <a:r>
              <a:rPr lang="en-GB" sz="1200" b="1" i="0" kern="1200" dirty="0" err="1">
                <a:effectLst/>
              </a:rPr>
              <a:t>Validação</a:t>
            </a:r>
            <a:r>
              <a:rPr lang="en-GB" sz="1200" b="1" i="0" kern="1200" dirty="0">
                <a:effectLst/>
              </a:rPr>
              <a:t> da </a:t>
            </a:r>
            <a:r>
              <a:rPr lang="en-GB" sz="1200" b="1" i="0" kern="1200" dirty="0" err="1">
                <a:effectLst/>
              </a:rPr>
              <a:t>descoberta</a:t>
            </a:r>
            <a:r>
              <a:rPr lang="en-GB" sz="1200" b="1" i="0" kern="1200" dirty="0">
                <a:effectLst/>
              </a:rPr>
              <a:t>: duas </a:t>
            </a:r>
            <a:r>
              <a:rPr lang="en-GB" sz="1200" b="1" i="0" kern="1200" dirty="0" err="1">
                <a:effectLst/>
              </a:rPr>
              <a:t>verificações</a:t>
            </a:r>
            <a:r>
              <a:rPr lang="en-GB" sz="1200" b="1" i="0" kern="1200" dirty="0">
                <a:effectLst/>
              </a:rPr>
              <a:t> (~45 s)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Este slide </a:t>
            </a:r>
            <a:r>
              <a:rPr lang="en-GB" sz="1200" b="0" i="0" kern="1200" dirty="0" err="1">
                <a:effectLst/>
              </a:rPr>
              <a:t>responde</a:t>
            </a:r>
            <a:r>
              <a:rPr lang="en-GB" sz="1200" b="0" i="0" kern="1200" dirty="0">
                <a:effectLst/>
              </a:rPr>
              <a:t>, com </a:t>
            </a:r>
            <a:r>
              <a:rPr lang="en-GB" sz="1200" b="0" i="0" kern="1200" dirty="0" err="1">
                <a:effectLst/>
              </a:rPr>
              <a:t>alguma</a:t>
            </a:r>
            <a:r>
              <a:rPr lang="en-GB" sz="1200" b="0" i="0" kern="1200" dirty="0">
                <a:effectLst/>
              </a:rPr>
              <a:t> nuance, à </a:t>
            </a:r>
            <a:r>
              <a:rPr lang="en-GB" sz="1200" b="0" i="0" kern="1200" dirty="0" err="1">
                <a:effectLst/>
              </a:rPr>
              <a:t>questão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possível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confundimento</a:t>
            </a:r>
            <a:r>
              <a:rPr lang="en-GB" sz="1200" b="0" i="0" kern="1200" dirty="0">
                <a:effectLst/>
              </a:rPr>
              <a:t> entre as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e as </a:t>
            </a:r>
            <a:r>
              <a:rPr lang="en-GB" sz="1200" b="0" i="0" kern="1200" dirty="0" err="1">
                <a:effectLst/>
              </a:rPr>
              <a:t>diferentes</a:t>
            </a:r>
            <a:r>
              <a:rPr lang="en-GB" sz="1200" b="0" i="0" kern="1200" dirty="0">
                <a:effectLst/>
              </a:rPr>
              <a:t> eras </a:t>
            </a:r>
            <a:r>
              <a:rPr lang="en-GB" sz="1200" b="0" i="0" kern="1200" dirty="0" err="1">
                <a:effectLst/>
              </a:rPr>
              <a:t>históricas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preocupação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seguinte</a:t>
            </a:r>
            <a:r>
              <a:rPr lang="en-GB" sz="1200" b="0" i="0" kern="1200" dirty="0">
                <a:effectLst/>
              </a:rPr>
              <a:t>: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variável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evolua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longo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décadas</a:t>
            </a:r>
            <a:r>
              <a:rPr lang="en-GB" sz="1200" b="0" i="0" kern="1200" dirty="0">
                <a:effectLst/>
              </a:rPr>
              <a:t> de forma </a:t>
            </a:r>
            <a:r>
              <a:rPr lang="en-GB" sz="1200" b="0" i="0" kern="1200" dirty="0" err="1">
                <a:effectLst/>
              </a:rPr>
              <a:t>semelhante</a:t>
            </a:r>
            <a:r>
              <a:rPr lang="en-GB" sz="1200" b="0" i="0" kern="1200" dirty="0">
                <a:effectLst/>
              </a:rPr>
              <a:t> à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parecer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informativa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após</a:t>
            </a:r>
            <a:r>
              <a:rPr lang="en-GB" sz="1200" b="0" i="0" kern="1200" dirty="0">
                <a:effectLst/>
              </a:rPr>
              <a:t> um </a:t>
            </a:r>
            <a:r>
              <a:rPr lang="en-GB" sz="1200" b="0" i="1" kern="1200" dirty="0">
                <a:effectLst/>
              </a:rPr>
              <a:t>detrending</a:t>
            </a:r>
            <a:r>
              <a:rPr lang="en-GB" sz="1200" b="0" i="0" kern="1200" dirty="0">
                <a:effectLst/>
              </a:rPr>
              <a:t> linear, </a:t>
            </a:r>
            <a:r>
              <a:rPr lang="en-GB" sz="1200" b="0" i="0" kern="1200" dirty="0" err="1">
                <a:effectLst/>
              </a:rPr>
              <a:t>mesmo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exista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climática</a:t>
            </a:r>
            <a:r>
              <a:rPr lang="en-GB" sz="1200" b="0" i="0" kern="1200" dirty="0">
                <a:effectLst/>
              </a:rPr>
              <a:t> real </a:t>
            </a:r>
            <a:r>
              <a:rPr lang="en-GB" sz="1200" b="0" i="0" kern="1200" dirty="0" err="1">
                <a:effectLst/>
              </a:rPr>
              <a:t>dentro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cada</a:t>
            </a:r>
            <a:r>
              <a:rPr lang="en-GB" sz="1200" b="0" i="0" kern="1200" dirty="0">
                <a:effectLst/>
              </a:rPr>
              <a:t> era.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Para </a:t>
            </a:r>
            <a:r>
              <a:rPr lang="en-GB" sz="1200" b="1" i="0" kern="1200" dirty="0" err="1">
                <a:effectLst/>
              </a:rPr>
              <a:t>testar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esta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possibilidade</a:t>
            </a:r>
            <a:r>
              <a:rPr lang="en-GB" sz="1200" b="1" i="0" kern="1200" dirty="0">
                <a:effectLst/>
              </a:rPr>
              <a:t>, </a:t>
            </a:r>
            <a:r>
              <a:rPr lang="en-GB" sz="1200" b="1" i="0" kern="1200" dirty="0" err="1">
                <a:effectLst/>
              </a:rPr>
              <a:t>aplicamos</a:t>
            </a:r>
            <a:r>
              <a:rPr lang="en-GB" sz="1200" b="1" i="0" kern="1200" dirty="0">
                <a:effectLst/>
              </a:rPr>
              <a:t> o </a:t>
            </a:r>
            <a:r>
              <a:rPr lang="en-GB" sz="1200" b="1" i="0" kern="1200" dirty="0" err="1">
                <a:effectLst/>
              </a:rPr>
              <a:t>modelo</a:t>
            </a:r>
            <a:r>
              <a:rPr lang="en-GB" sz="1200" b="1" i="0" kern="1200" dirty="0">
                <a:effectLst/>
              </a:rPr>
              <a:t> LOESS </a:t>
            </a:r>
            <a:r>
              <a:rPr lang="en-GB" sz="1200" b="1" i="0" kern="1200" dirty="0" err="1">
                <a:effectLst/>
              </a:rPr>
              <a:t>como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uma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estratégia</a:t>
            </a:r>
            <a:r>
              <a:rPr lang="en-GB" sz="1200" b="1" i="0" kern="1200" dirty="0">
                <a:effectLst/>
              </a:rPr>
              <a:t> de </a:t>
            </a:r>
            <a:r>
              <a:rPr lang="en-GB" sz="1200" b="1" i="1" kern="1200" dirty="0">
                <a:effectLst/>
              </a:rPr>
              <a:t>detrending</a:t>
            </a:r>
            <a:r>
              <a:rPr lang="en-GB" sz="1200" b="1" i="0" kern="1200" dirty="0">
                <a:effectLst/>
              </a:rPr>
              <a:t> </a:t>
            </a:r>
            <a:r>
              <a:rPr lang="en-GB" sz="1200" b="1" i="0" kern="1200" dirty="0" err="1">
                <a:effectLst/>
              </a:rPr>
              <a:t>mais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agressiva</a:t>
            </a:r>
            <a:r>
              <a:rPr lang="en-GB" sz="1200" b="1" i="0" kern="1200" dirty="0">
                <a:effectLst/>
              </a:rPr>
              <a:t>, </a:t>
            </a:r>
            <a:r>
              <a:rPr lang="en-GB" sz="1200" b="1" i="0" kern="1200" dirty="0" err="1">
                <a:effectLst/>
              </a:rPr>
              <a:t>capaz</a:t>
            </a:r>
            <a:r>
              <a:rPr lang="en-GB" sz="1200" b="1" i="0" kern="1200" dirty="0">
                <a:effectLst/>
              </a:rPr>
              <a:t> de remover </a:t>
            </a:r>
            <a:r>
              <a:rPr lang="en-GB" sz="1200" b="1" i="0" kern="1200" dirty="0" err="1">
                <a:effectLst/>
              </a:rPr>
              <a:t>uma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parte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substancial</a:t>
            </a:r>
            <a:r>
              <a:rPr lang="en-GB" sz="1200" b="1" i="0" kern="1200" dirty="0">
                <a:effectLst/>
              </a:rPr>
              <a:t> da </a:t>
            </a:r>
            <a:r>
              <a:rPr lang="en-GB" sz="1200" b="1" i="0" kern="1200" dirty="0" err="1">
                <a:effectLst/>
              </a:rPr>
              <a:t>estrutura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associada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às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diferentes</a:t>
            </a:r>
            <a:r>
              <a:rPr lang="en-GB" sz="1200" b="1" i="0" kern="1200" dirty="0">
                <a:effectLst/>
              </a:rPr>
              <a:t> eras.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 err="1">
                <a:effectLst/>
              </a:rPr>
              <a:t>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resultados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são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distintos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nas</a:t>
            </a:r>
            <a:r>
              <a:rPr lang="en-GB" sz="1200" b="1" i="0" kern="1200" dirty="0">
                <a:effectLst/>
              </a:rPr>
              <a:t> duas </a:t>
            </a:r>
            <a:r>
              <a:rPr lang="en-GB" sz="1200" b="1" i="0" kern="1200" dirty="0" err="1">
                <a:effectLst/>
              </a:rPr>
              <a:t>regiões</a:t>
            </a:r>
            <a:r>
              <a:rPr lang="en-GB" sz="1200" b="1" i="0" kern="1200" dirty="0">
                <a:effectLst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effectLst/>
              </a:rPr>
              <a:t>No Douro,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sinais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mantêm</a:t>
            </a:r>
            <a:r>
              <a:rPr lang="en-GB" sz="1200" b="0" i="0" kern="1200" dirty="0">
                <a:effectLst/>
              </a:rPr>
              <a:t>-se. </a:t>
            </a:r>
            <a:br>
              <a:rPr lang="en-GB" sz="1200" b="0" i="0" kern="1200" dirty="0">
                <a:effectLst/>
              </a:rPr>
            </a:br>
            <a:r>
              <a:rPr lang="en-GB" sz="1200" b="0" i="0" kern="1200" dirty="0">
                <a:effectLst/>
              </a:rPr>
              <a:t>Isto </a:t>
            </a:r>
            <a:r>
              <a:rPr lang="en-GB" sz="1200" b="0" i="0" kern="1200" dirty="0" err="1">
                <a:effectLst/>
              </a:rPr>
              <a:t>sugere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representam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genuínas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dentro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próprias</a:t>
            </a:r>
            <a:r>
              <a:rPr lang="en-GB" sz="1200" b="0" i="0" kern="1200" dirty="0">
                <a:effectLst/>
              </a:rPr>
              <a:t> eras.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 Na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 dos Vinhos Verdes, o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húmidos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permanece</a:t>
            </a:r>
            <a:r>
              <a:rPr lang="en-GB" sz="1200" b="0" i="0" kern="1200" dirty="0">
                <a:effectLst/>
              </a:rPr>
              <a:t>, mas as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relacionadas</a:t>
            </a:r>
            <a:r>
              <a:rPr lang="en-GB" sz="1200" b="0" i="0" kern="1200" dirty="0">
                <a:effectLst/>
              </a:rPr>
              <a:t> com o LAI e com a </a:t>
            </a:r>
            <a:r>
              <a:rPr lang="en-GB" sz="1200" b="0" i="0" kern="1200" dirty="0" err="1">
                <a:effectLst/>
              </a:rPr>
              <a:t>água</a:t>
            </a:r>
            <a:r>
              <a:rPr lang="en-GB" sz="1200" b="0" i="0" kern="1200" dirty="0">
                <a:effectLst/>
              </a:rPr>
              <a:t> no solo </a:t>
            </a:r>
            <a:r>
              <a:rPr lang="en-GB" sz="1200" b="0" i="0" kern="1200" dirty="0" err="1">
                <a:effectLst/>
              </a:rPr>
              <a:t>durante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vindima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desaparecem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Isto indica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duas </a:t>
            </a:r>
            <a:r>
              <a:rPr lang="en-GB" sz="1200" b="0" i="0" kern="1200" dirty="0" err="1">
                <a:effectLst/>
              </a:rPr>
              <a:t>famílias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estavam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parcialmente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associadas</a:t>
            </a:r>
            <a:r>
              <a:rPr lang="en-GB" sz="1200" b="0" i="0" kern="1200" dirty="0">
                <a:effectLst/>
              </a:rPr>
              <a:t> à </a:t>
            </a:r>
            <a:r>
              <a:rPr lang="en-GB" sz="1200" b="0" i="0" kern="1200" dirty="0" err="1">
                <a:effectLst/>
              </a:rPr>
              <a:t>mudança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estrutural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O </a:t>
            </a:r>
            <a:r>
              <a:rPr lang="en-GB" sz="1200" b="1" i="0" kern="1200" dirty="0" err="1">
                <a:effectLst/>
              </a:rPr>
              <a:t>desaparecimento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destas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regras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não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uma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limitação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que</a:t>
            </a:r>
            <a:r>
              <a:rPr lang="en-GB" sz="1200" b="1" i="0" kern="1200" dirty="0">
                <a:effectLst/>
              </a:rPr>
              <a:t> deva ser </a:t>
            </a:r>
            <a:r>
              <a:rPr lang="en-GB" sz="1200" b="1" i="0" kern="1200" dirty="0" err="1">
                <a:effectLst/>
              </a:rPr>
              <a:t>escondida</a:t>
            </a:r>
            <a:r>
              <a:rPr lang="en-GB" sz="1200" b="1" i="0" kern="1200" dirty="0">
                <a:effectLst/>
              </a:rPr>
              <a:t>. </a:t>
            </a:r>
          </a:p>
          <a:p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só</a:t>
            </a:r>
            <a:r>
              <a:rPr lang="en-GB" sz="1200" b="0" i="0" kern="1200" dirty="0">
                <a:effectLst/>
              </a:rPr>
              <a:t>, um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antecipa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algumas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razões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pelas</a:t>
            </a:r>
            <a:r>
              <a:rPr lang="en-GB" sz="1200" b="0" i="0" kern="1200" dirty="0">
                <a:effectLst/>
              </a:rPr>
              <a:t> quais a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falha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nesta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A </a:t>
            </a:r>
            <a:r>
              <a:rPr lang="en-GB" sz="1200" b="1" i="0" kern="1200" dirty="0" err="1">
                <a:effectLst/>
              </a:rPr>
              <a:t>segunda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verificação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convergência</a:t>
            </a:r>
            <a:r>
              <a:rPr lang="en-GB" sz="1200" b="1" i="0" kern="1200" dirty="0">
                <a:effectLst/>
              </a:rPr>
              <a:t> entre </a:t>
            </a:r>
            <a:r>
              <a:rPr lang="en-GB" sz="1200" b="1" i="0" kern="1200" dirty="0" err="1">
                <a:effectLst/>
              </a:rPr>
              <a:t>algoritmos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apresentada</a:t>
            </a:r>
            <a:r>
              <a:rPr lang="en-GB" sz="1200" b="1" i="0" kern="1200" dirty="0">
                <a:effectLst/>
              </a:rPr>
              <a:t> no slide anterior.</a:t>
            </a:r>
          </a:p>
          <a:p>
            <a:r>
              <a:rPr lang="en-GB" sz="1200" b="0" i="0" kern="1200" dirty="0">
                <a:effectLst/>
              </a:rPr>
              <a:t>Em conjunto, </a:t>
            </a:r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duas </a:t>
            </a:r>
            <a:r>
              <a:rPr lang="en-GB" sz="1200" b="0" i="0" kern="1200" dirty="0" err="1">
                <a:effectLst/>
              </a:rPr>
              <a:t>análises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sustentam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credibilidade</a:t>
            </a:r>
            <a:r>
              <a:rPr lang="en-GB" sz="1200" b="0" i="0" kern="1200" dirty="0">
                <a:effectLst/>
              </a:rPr>
              <a:t> dos </a:t>
            </a:r>
            <a:r>
              <a:rPr lang="en-GB" sz="1200" b="0" i="0" kern="1200" dirty="0" err="1">
                <a:effectLst/>
              </a:rPr>
              <a:t>resultados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descoberta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No </a:t>
            </a:r>
            <a:r>
              <a:rPr lang="en-GB" sz="1200" b="0" i="0" kern="1200" dirty="0" err="1">
                <a:effectLst/>
              </a:rPr>
              <a:t>entanto</a:t>
            </a:r>
            <a:r>
              <a:rPr lang="en-GB" sz="1200" b="0" i="0" kern="1200" dirty="0">
                <a:effectLst/>
              </a:rPr>
              <a:t> — </a:t>
            </a:r>
            <a:r>
              <a:rPr lang="en-GB" sz="1200" b="0" i="1" kern="1200" dirty="0">
                <a:effectLst/>
              </a:rPr>
              <a:t>e </a:t>
            </a:r>
            <a:r>
              <a:rPr lang="en-GB" sz="1200" b="0" i="1" kern="1200" dirty="0" err="1">
                <a:effectLst/>
              </a:rPr>
              <a:t>este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1" kern="1200" dirty="0" err="1">
                <a:effectLst/>
              </a:rPr>
              <a:t>é</a:t>
            </a:r>
            <a:r>
              <a:rPr lang="en-GB" sz="1200" b="0" i="1" kern="1200" dirty="0">
                <a:effectLst/>
              </a:rPr>
              <a:t> o </a:t>
            </a:r>
            <a:r>
              <a:rPr lang="en-GB" sz="1200" b="0" i="1" kern="1200" dirty="0" err="1">
                <a:effectLst/>
              </a:rPr>
              <a:t>ponto</a:t>
            </a:r>
            <a:r>
              <a:rPr lang="en-GB" sz="1200" b="0" i="1" kern="1200" dirty="0">
                <a:effectLst/>
              </a:rPr>
              <a:t> de </a:t>
            </a:r>
            <a:r>
              <a:rPr lang="en-GB" sz="1200" b="0" i="1" kern="1200" dirty="0" err="1">
                <a:effectLst/>
              </a:rPr>
              <a:t>transição</a:t>
            </a:r>
            <a:r>
              <a:rPr lang="en-GB" sz="1200" b="0" i="1" kern="1200" dirty="0">
                <a:effectLst/>
              </a:rPr>
              <a:t> da </a:t>
            </a:r>
            <a:r>
              <a:rPr lang="en-GB" sz="1200" b="0" i="1" kern="1200" dirty="0" err="1">
                <a:effectLst/>
              </a:rPr>
              <a:t>apresentação</a:t>
            </a:r>
            <a:r>
              <a:rPr lang="en-GB" sz="1200" b="0" i="1" kern="1200" dirty="0">
                <a:effectLst/>
              </a:rPr>
              <a:t> </a:t>
            </a:r>
            <a:r>
              <a:rPr lang="en-GB" sz="1200" b="0" i="0" kern="1200" dirty="0">
                <a:effectLst/>
              </a:rPr>
              <a:t>— </a:t>
            </a:r>
            <a:r>
              <a:rPr lang="en-GB" sz="1200" b="0" i="0" kern="1200" dirty="0" err="1">
                <a:effectLst/>
              </a:rPr>
              <a:t>credibilidade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explicativa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significa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necessariamente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utilidade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14:20</a:t>
            </a:r>
          </a:p>
          <a:p>
            <a:r>
              <a:rPr lang="en-GB" sz="1200" b="1" i="0" kern="1200" dirty="0">
                <a:effectLst/>
              </a:rPr>
              <a:t>Slide 18 — </a:t>
            </a:r>
            <a:r>
              <a:rPr lang="en-GB" sz="1200" b="1" i="0" kern="1200" dirty="0" err="1">
                <a:effectLst/>
              </a:rPr>
              <a:t>Método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previsão</a:t>
            </a:r>
            <a:r>
              <a:rPr lang="en-GB" sz="1200" b="1" i="0" kern="1200" dirty="0">
                <a:effectLst/>
              </a:rPr>
              <a:t>: walk-forward validation (~40 s)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Para o </a:t>
            </a:r>
            <a:r>
              <a:rPr lang="en-GB" sz="1200" b="1" i="0" kern="1200" dirty="0" err="1">
                <a:effectLst/>
              </a:rPr>
              <a:t>Objetivo</a:t>
            </a:r>
            <a:r>
              <a:rPr lang="en-GB" sz="1200" b="1" i="0" kern="1200" dirty="0">
                <a:effectLst/>
              </a:rPr>
              <a:t> 2, </a:t>
            </a:r>
            <a:r>
              <a:rPr lang="en-GB" sz="1200" b="1" i="0" kern="1200" dirty="0" err="1">
                <a:effectLst/>
              </a:rPr>
              <a:t>procurei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reproduzir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condições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realistas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previsão</a:t>
            </a:r>
            <a:r>
              <a:rPr lang="en-GB" sz="1200" b="1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Foi </a:t>
            </a:r>
            <a:r>
              <a:rPr lang="en-GB" sz="1200" b="0" i="0" kern="1200" dirty="0" err="1">
                <a:effectLst/>
              </a:rPr>
              <a:t>utilizada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estratégia</a:t>
            </a:r>
            <a:r>
              <a:rPr lang="en-GB" sz="1200" b="0" i="0" kern="1200" dirty="0">
                <a:effectLst/>
              </a:rPr>
              <a:t> de </a:t>
            </a:r>
            <a:r>
              <a:rPr lang="en-GB" sz="1200" b="0" i="1" kern="1200" dirty="0">
                <a:effectLst/>
              </a:rPr>
              <a:t>walk-forward validation</a:t>
            </a:r>
            <a:r>
              <a:rPr lang="en-GB" sz="1200" b="0" i="0" kern="1200" dirty="0">
                <a:effectLst/>
              </a:rPr>
              <a:t> com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janela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treino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expansiva</a:t>
            </a:r>
            <a:r>
              <a:rPr lang="en-GB" sz="1200" b="0" i="0" kern="1200" dirty="0">
                <a:effectLst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effectLst/>
              </a:rPr>
              <a:t>18 </a:t>
            </a:r>
            <a:r>
              <a:rPr lang="en-GB" sz="1200" b="0" i="0" kern="1200" dirty="0" err="1">
                <a:effectLst/>
              </a:rPr>
              <a:t>cenários</a:t>
            </a:r>
            <a:r>
              <a:rPr lang="en-GB" sz="1200" b="0" i="0" kern="1200" dirty="0">
                <a:effectLst/>
              </a:rPr>
              <a:t> no Douro e 16 </a:t>
            </a:r>
            <a:r>
              <a:rPr lang="en-GB" sz="1200" b="0" i="0" kern="1200" dirty="0" err="1">
                <a:effectLst/>
              </a:rPr>
              <a:t>cenários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 dos Vinhos Verdes.</a:t>
            </a:r>
          </a:p>
          <a:p>
            <a:pPr marL="171450" indent="-171450">
              <a:buFontTx/>
              <a:buChar char="-"/>
            </a:pPr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Em </a:t>
            </a:r>
            <a:r>
              <a:rPr lang="en-GB" sz="1200" b="1" i="0" kern="1200" dirty="0" err="1">
                <a:effectLst/>
              </a:rPr>
              <a:t>cada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cenário</a:t>
            </a:r>
            <a:r>
              <a:rPr lang="en-GB" sz="1200" b="1" i="0" kern="1200" dirty="0">
                <a:effectLst/>
              </a:rPr>
              <a:t>, o </a:t>
            </a:r>
            <a:r>
              <a:rPr lang="en-GB" sz="1200" b="1" i="0" kern="1200" dirty="0" err="1">
                <a:effectLst/>
              </a:rPr>
              <a:t>modelo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treinado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exclusivamente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0" i="0" kern="1200" dirty="0">
                <a:effectLst/>
              </a:rPr>
              <a:t>com dados do passado e </a:t>
            </a:r>
            <a:r>
              <a:rPr lang="en-GB" sz="1200" b="0" i="0" kern="1200" dirty="0" err="1">
                <a:effectLst/>
              </a:rPr>
              <a:t>avaliado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períodos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surgem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posteriormente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Um </a:t>
            </a:r>
            <a:r>
              <a:rPr lang="en-GB" sz="1200" b="0" i="0" kern="1200" dirty="0" err="1">
                <a:effectLst/>
              </a:rPr>
              <a:t>aspeto</a:t>
            </a:r>
            <a:r>
              <a:rPr lang="en-GB" sz="1200" b="0" i="0" kern="1200" dirty="0">
                <a:effectLst/>
              </a:rPr>
              <a:t> fundamental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todo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pré-processamento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realizado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dentro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cada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training fold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Isto </a:t>
            </a:r>
            <a:r>
              <a:rPr lang="en-GB" sz="1200" b="0" i="0" kern="1200" dirty="0" err="1">
                <a:effectLst/>
              </a:rPr>
              <a:t>inclui</a:t>
            </a:r>
            <a:r>
              <a:rPr lang="en-GB" sz="1200" b="0" i="0" kern="1200" dirty="0">
                <a:effectLst/>
              </a:rPr>
              <a:t> o </a:t>
            </a:r>
            <a:r>
              <a:rPr lang="en-GB" sz="1200" b="0" i="1" kern="1200" dirty="0">
                <a:effectLst/>
              </a:rPr>
              <a:t>detrending</a:t>
            </a:r>
            <a:r>
              <a:rPr lang="en-GB" sz="1200" b="0" i="0" kern="1200" dirty="0">
                <a:effectLst/>
              </a:rPr>
              <a:t>, a </a:t>
            </a:r>
            <a:r>
              <a:rPr lang="en-GB" sz="1200" b="0" i="0" kern="1200" dirty="0" err="1">
                <a:effectLst/>
              </a:rPr>
              <a:t>discretização</a:t>
            </a:r>
            <a:r>
              <a:rPr lang="en-GB" sz="1200" b="0" i="0" kern="1200" dirty="0">
                <a:effectLst/>
              </a:rPr>
              <a:t>, a </a:t>
            </a:r>
            <a:r>
              <a:rPr lang="en-GB" sz="1200" b="0" i="0" kern="1200" dirty="0" err="1">
                <a:effectLst/>
              </a:rPr>
              <a:t>seleção</a:t>
            </a:r>
            <a:r>
              <a:rPr lang="en-GB" sz="1200" b="0" i="0" kern="1200" dirty="0">
                <a:effectLst/>
              </a:rPr>
              <a:t> de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e a </a:t>
            </a:r>
            <a:r>
              <a:rPr lang="en-GB" sz="1200" b="0" i="0" kern="1200" dirty="0" err="1">
                <a:effectLst/>
              </a:rPr>
              <a:t>indução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Desta forma, </a:t>
            </a:r>
            <a:r>
              <a:rPr lang="en-GB" sz="1200" b="1" i="0" kern="1200" dirty="0" err="1">
                <a:effectLst/>
              </a:rPr>
              <a:t>não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existe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qualquer</a:t>
            </a:r>
            <a:r>
              <a:rPr lang="en-GB" sz="1200" b="1" i="0" kern="1200" dirty="0">
                <a:effectLst/>
              </a:rPr>
              <a:t> </a:t>
            </a:r>
            <a:r>
              <a:rPr lang="en-GB" sz="1200" b="1" i="1" kern="1200" dirty="0">
                <a:effectLst/>
              </a:rPr>
              <a:t>data leakage</a:t>
            </a:r>
            <a:r>
              <a:rPr lang="en-GB" sz="1200" b="1" i="0" kern="1200" dirty="0">
                <a:effectLst/>
              </a:rPr>
              <a:t> </a:t>
            </a:r>
            <a:r>
              <a:rPr lang="en-GB" sz="1200" b="1" i="0" kern="1200" dirty="0" err="1">
                <a:effectLst/>
              </a:rPr>
              <a:t>proveniente</a:t>
            </a:r>
            <a:r>
              <a:rPr lang="en-GB" sz="1200" b="1" i="0" kern="1200" dirty="0">
                <a:effectLst/>
              </a:rPr>
              <a:t> dos </a:t>
            </a:r>
            <a:r>
              <a:rPr lang="en-GB" sz="1200" b="1" i="0" kern="1200" dirty="0" err="1">
                <a:effectLst/>
              </a:rPr>
              <a:t>anos</a:t>
            </a:r>
            <a:r>
              <a:rPr lang="en-GB" sz="1200" b="1" i="0" kern="1200" dirty="0">
                <a:effectLst/>
              </a:rPr>
              <a:t> de teste.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----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 err="1">
                <a:effectLst/>
              </a:rPr>
              <a:t>Foram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comparados</a:t>
            </a:r>
            <a:r>
              <a:rPr lang="en-GB" sz="1200" b="1" i="0" kern="1200" dirty="0">
                <a:effectLst/>
              </a:rPr>
              <a:t> 17 </a:t>
            </a:r>
            <a:r>
              <a:rPr lang="en-GB" sz="1200" b="1" i="0" kern="1200" dirty="0" err="1">
                <a:effectLst/>
              </a:rPr>
              <a:t>modelos</a:t>
            </a:r>
            <a:r>
              <a:rPr lang="en-GB" sz="1200" b="1" i="0" kern="1200" dirty="0">
                <a:effectLst/>
              </a:rPr>
              <a:t> com base no </a:t>
            </a:r>
            <a:r>
              <a:rPr lang="en-GB" sz="1200" b="1" i="0" kern="1200" dirty="0" err="1">
                <a:effectLst/>
              </a:rPr>
              <a:t>erro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absoluto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médio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ponderado</a:t>
            </a:r>
            <a:r>
              <a:rPr lang="en-GB" sz="1200" b="1" i="0" kern="1200" dirty="0">
                <a:effectLst/>
              </a:rPr>
              <a:t>. 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A principal </a:t>
            </a:r>
            <a:r>
              <a:rPr lang="en-GB" sz="1200" b="1" i="1" kern="1200" dirty="0">
                <a:effectLst/>
              </a:rPr>
              <a:t>baseline</a:t>
            </a:r>
            <a:r>
              <a:rPr lang="en-GB" sz="1200" b="1" i="0" kern="1200" dirty="0">
                <a:effectLst/>
              </a:rPr>
              <a:t> 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mediana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calculada</a:t>
            </a:r>
            <a:r>
              <a:rPr lang="en-GB" sz="1200" b="1" i="0" kern="1200" dirty="0">
                <a:effectLst/>
              </a:rPr>
              <a:t> no conjunto de </a:t>
            </a:r>
            <a:r>
              <a:rPr lang="en-GB" sz="1200" b="1" i="0" kern="1200" dirty="0" err="1">
                <a:effectLst/>
              </a:rPr>
              <a:t>treino</a:t>
            </a:r>
            <a:r>
              <a:rPr lang="en-GB" sz="1200" b="1" i="0" kern="1200" dirty="0">
                <a:effectLst/>
              </a:rPr>
              <a:t>.</a:t>
            </a:r>
          </a:p>
          <a:p>
            <a:endParaRPr lang="en-GB" sz="1200" b="1" i="0" kern="1200" dirty="0">
              <a:effectLst/>
            </a:endParaRPr>
          </a:p>
          <a:p>
            <a:endParaRPr lang="en-GB" sz="1200" b="1" i="0" kern="1200" dirty="0">
              <a:effectLst/>
            </a:endParaRPr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escolha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deliberada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porque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mediana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constante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ótima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quando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função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perda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utilizada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o MAE.</a:t>
            </a:r>
          </a:p>
          <a:p>
            <a:r>
              <a:rPr lang="en-GB" sz="1200" b="0" i="0" kern="1200" dirty="0">
                <a:effectLst/>
              </a:rPr>
              <a:t>Assim, </a:t>
            </a:r>
            <a:r>
              <a:rPr lang="en-GB" sz="1200" b="0" i="0" kern="1200" dirty="0" err="1">
                <a:effectLst/>
              </a:rPr>
              <a:t>superar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baseline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significa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demonstrar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as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climáticas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contêm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adicional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ser </a:t>
            </a:r>
            <a:r>
              <a:rPr lang="en-GB" sz="1200" b="0" i="0" kern="1200" dirty="0" err="1">
                <a:effectLst/>
              </a:rPr>
              <a:t>explorado</a:t>
            </a:r>
            <a:r>
              <a:rPr lang="en-GB" sz="1200" b="0" i="0" kern="1200" dirty="0">
                <a:effectLst/>
              </a:rPr>
              <a:t> para </a:t>
            </a:r>
            <a:r>
              <a:rPr lang="en-GB" sz="1200" b="0" i="0" kern="1200" dirty="0" err="1">
                <a:effectLst/>
              </a:rPr>
              <a:t>melhorar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1" i="0" kern="1200" dirty="0">
              <a:effectLst/>
            </a:endParaRPr>
          </a:p>
          <a:p>
            <a:endParaRPr lang="en-GB" sz="1200" b="1" i="0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F091-8EBE-F7E8-A698-F01DBAA7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BE20C-3F2F-EF61-4A06-B07AD238E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7B0EB-0245-DB1C-47C3-533462BBB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15:00</a:t>
            </a:r>
          </a:p>
          <a:p>
            <a:pPr>
              <a:buNone/>
            </a:pPr>
            <a:endParaRPr lang="pt-PT" sz="1400" b="1" dirty="0">
              <a:solidFill>
                <a:srgbClr val="C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kern="1200" dirty="0">
                <a:effectLst/>
              </a:rPr>
              <a:t>Slide 19 — A </a:t>
            </a:r>
            <a:r>
              <a:rPr lang="en-GB" sz="1200" b="1" i="0" kern="1200" dirty="0" err="1">
                <a:effectLst/>
              </a:rPr>
              <a:t>nossa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implementacao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prdeditiva</a:t>
            </a:r>
            <a:r>
              <a:rPr lang="en-GB" sz="1200" b="1" i="0" kern="1200" dirty="0">
                <a:effectLst/>
              </a:rPr>
              <a:t> (~40 s)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Este slide </a:t>
            </a:r>
            <a:r>
              <a:rPr lang="en-GB" b="1" dirty="0" err="1"/>
              <a:t>mostra</a:t>
            </a:r>
            <a:r>
              <a:rPr lang="en-GB" b="1" dirty="0"/>
              <a:t> </a:t>
            </a:r>
            <a:r>
              <a:rPr lang="en-GB" b="1" dirty="0" err="1"/>
              <a:t>como</a:t>
            </a:r>
            <a:r>
              <a:rPr lang="en-GB" b="1" dirty="0"/>
              <a:t> o CarenR </a:t>
            </a:r>
            <a:r>
              <a:rPr lang="en-GB" b="1" dirty="0" err="1"/>
              <a:t>passa</a:t>
            </a:r>
            <a:r>
              <a:rPr lang="en-GB" b="1" dirty="0"/>
              <a:t> da </a:t>
            </a:r>
            <a:r>
              <a:rPr lang="en-GB" b="1" dirty="0" err="1"/>
              <a:t>descoberta</a:t>
            </a:r>
            <a:r>
              <a:rPr lang="en-GB" b="1" dirty="0"/>
              <a:t> para a </a:t>
            </a:r>
            <a:r>
              <a:rPr lang="en-GB" b="1" dirty="0" err="1"/>
              <a:t>previsão</a:t>
            </a:r>
            <a:r>
              <a:rPr lang="en-GB" b="1" dirty="0"/>
              <a:t>. </a:t>
            </a:r>
          </a:p>
          <a:p>
            <a:endParaRPr lang="en-GB" b="1" dirty="0"/>
          </a:p>
          <a:p>
            <a:r>
              <a:rPr lang="en-GB" b="0" dirty="0"/>
              <a:t>Para </a:t>
            </a:r>
            <a:r>
              <a:rPr lang="en-GB" b="0" dirty="0" err="1"/>
              <a:t>cada</a:t>
            </a:r>
            <a:r>
              <a:rPr lang="en-GB" b="0" dirty="0"/>
              <a:t> </a:t>
            </a:r>
            <a:r>
              <a:rPr lang="en-GB" b="0" dirty="0" err="1"/>
              <a:t>treinp</a:t>
            </a:r>
            <a:r>
              <a:rPr lang="en-GB" b="0" dirty="0"/>
              <a:t> </a:t>
            </a:r>
            <a:r>
              <a:rPr lang="en-GB" b="0" dirty="0" err="1"/>
              <a:t>ou</a:t>
            </a:r>
            <a:r>
              <a:rPr lang="en-GB" b="0" dirty="0"/>
              <a:t> </a:t>
            </a:r>
            <a:r>
              <a:rPr lang="en-GB" b="0" dirty="0" err="1"/>
              <a:t>seja</a:t>
            </a:r>
            <a:r>
              <a:rPr lang="en-GB" b="0" dirty="0"/>
              <a:t> </a:t>
            </a:r>
            <a:r>
              <a:rPr lang="en-GB" b="1" dirty="0" err="1"/>
              <a:t>cada</a:t>
            </a:r>
            <a:r>
              <a:rPr lang="en-GB" b="1" dirty="0"/>
              <a:t> fold de </a:t>
            </a:r>
            <a:r>
              <a:rPr lang="en-GB" b="1" dirty="0" err="1"/>
              <a:t>treino</a:t>
            </a:r>
            <a:endParaRPr lang="en-GB" b="1" dirty="0"/>
          </a:p>
          <a:p>
            <a:pPr marL="171450" indent="-171450">
              <a:buFontTx/>
              <a:buChar char="-"/>
            </a:pPr>
            <a:r>
              <a:rPr lang="en-GB" b="0" dirty="0" err="1"/>
              <a:t>Transformamos</a:t>
            </a:r>
            <a:r>
              <a:rPr lang="en-GB" b="0" dirty="0"/>
              <a:t> as </a:t>
            </a:r>
            <a:r>
              <a:rPr lang="en-GB" b="0" dirty="0" err="1"/>
              <a:t>variáveis</a:t>
            </a:r>
            <a:r>
              <a:rPr lang="en-GB" b="0" dirty="0"/>
              <a:t> </a:t>
            </a:r>
            <a:r>
              <a:rPr lang="en-GB" b="0" dirty="0" err="1"/>
              <a:t>climáticas</a:t>
            </a:r>
            <a:r>
              <a:rPr lang="en-GB" b="0" dirty="0"/>
              <a:t> </a:t>
            </a:r>
            <a:r>
              <a:rPr lang="en-GB" b="0" dirty="0" err="1"/>
              <a:t>em</a:t>
            </a:r>
            <a:r>
              <a:rPr lang="en-GB" b="0" dirty="0"/>
              <a:t> </a:t>
            </a:r>
            <a:r>
              <a:rPr lang="en-GB" b="0" dirty="0" err="1"/>
              <a:t>intervalos</a:t>
            </a:r>
            <a:r>
              <a:rPr lang="en-GB" b="0" dirty="0"/>
              <a:t> (</a:t>
            </a:r>
            <a:r>
              <a:rPr lang="en-GB" b="0" dirty="0" err="1"/>
              <a:t>mesma</a:t>
            </a:r>
            <a:r>
              <a:rPr lang="en-GB" b="0" dirty="0"/>
              <a:t> </a:t>
            </a:r>
            <a:r>
              <a:rPr lang="en-GB" b="0" dirty="0" err="1"/>
              <a:t>etrategia</a:t>
            </a:r>
            <a:r>
              <a:rPr lang="en-GB" b="0" dirty="0"/>
              <a:t> </a:t>
            </a:r>
            <a:r>
              <a:rPr lang="en-GB" b="0" dirty="0" err="1"/>
              <a:t>inical</a:t>
            </a:r>
            <a:r>
              <a:rPr lang="en-GB" b="0" dirty="0"/>
              <a:t> </a:t>
            </a:r>
            <a:r>
              <a:rPr lang="en-GB" b="0" dirty="0" err="1"/>
              <a:t>na</a:t>
            </a:r>
            <a:r>
              <a:rPr lang="en-GB" b="0" dirty="0"/>
              <a:t> </a:t>
            </a:r>
            <a:r>
              <a:rPr lang="en-GB" b="0" dirty="0" err="1"/>
              <a:t>desconerta</a:t>
            </a:r>
            <a:r>
              <a:rPr lang="en-GB" b="0" dirty="0"/>
              <a:t> das </a:t>
            </a:r>
            <a:r>
              <a:rPr lang="en-GB" b="0" dirty="0" err="1"/>
              <a:t>regras</a:t>
            </a:r>
            <a:r>
              <a:rPr lang="en-GB" b="0" dirty="0"/>
              <a:t>), </a:t>
            </a:r>
          </a:p>
          <a:p>
            <a:pPr marL="171450" indent="-171450">
              <a:buFontTx/>
              <a:buChar char="-"/>
            </a:pPr>
            <a:r>
              <a:rPr lang="en-GB" b="0" dirty="0"/>
              <a:t>O Caren </a:t>
            </a:r>
            <a:r>
              <a:rPr lang="en-GB" b="0" dirty="0" err="1"/>
              <a:t>combina</a:t>
            </a:r>
            <a:r>
              <a:rPr lang="en-GB" b="0" dirty="0"/>
              <a:t> esses </a:t>
            </a:r>
            <a:r>
              <a:rPr lang="en-GB" b="0" dirty="0" err="1"/>
              <a:t>intervalos</a:t>
            </a:r>
            <a:r>
              <a:rPr lang="en-GB" b="0" dirty="0"/>
              <a:t> </a:t>
            </a:r>
            <a:r>
              <a:rPr lang="en-GB" b="0" dirty="0" err="1"/>
              <a:t>em</a:t>
            </a:r>
            <a:r>
              <a:rPr lang="en-GB" b="0" dirty="0"/>
              <a:t> </a:t>
            </a:r>
            <a:r>
              <a:rPr lang="en-GB" b="0" dirty="0" err="1"/>
              <a:t>subgrupos</a:t>
            </a:r>
            <a:r>
              <a:rPr lang="en-GB" b="0" dirty="0"/>
              <a:t> e </a:t>
            </a:r>
            <a:r>
              <a:rPr lang="en-GB" b="0" dirty="0" err="1"/>
              <a:t>retém</a:t>
            </a:r>
            <a:r>
              <a:rPr lang="en-GB" b="0" dirty="0"/>
              <a:t> </a:t>
            </a:r>
            <a:r>
              <a:rPr lang="en-GB" b="0" dirty="0" err="1"/>
              <a:t>apenas</a:t>
            </a:r>
            <a:r>
              <a:rPr lang="en-GB" b="0" dirty="0"/>
              <a:t> as </a:t>
            </a:r>
            <a:r>
              <a:rPr lang="en-GB" b="0" dirty="0" err="1"/>
              <a:t>regras</a:t>
            </a:r>
            <a:r>
              <a:rPr lang="en-GB" b="0" dirty="0"/>
              <a:t> com </a:t>
            </a:r>
            <a:r>
              <a:rPr lang="en-GB" b="0" dirty="0" err="1"/>
              <a:t>suporte</a:t>
            </a:r>
            <a:r>
              <a:rPr lang="en-GB" b="0" dirty="0"/>
              <a:t> </a:t>
            </a:r>
            <a:r>
              <a:rPr lang="en-GB" b="0" dirty="0" err="1"/>
              <a:t>suficiente</a:t>
            </a:r>
            <a:r>
              <a:rPr lang="en-GB" b="0" dirty="0"/>
              <a:t> e </a:t>
            </a:r>
            <a:r>
              <a:rPr lang="en-GB" b="0" dirty="0" err="1"/>
              <a:t>evidência</a:t>
            </a:r>
            <a:r>
              <a:rPr lang="en-GB" b="0" dirty="0"/>
              <a:t> </a:t>
            </a:r>
            <a:r>
              <a:rPr lang="en-GB" b="0" dirty="0" err="1"/>
              <a:t>estatística</a:t>
            </a:r>
            <a:r>
              <a:rPr lang="en-GB" b="0" dirty="0"/>
              <a:t> </a:t>
            </a:r>
            <a:r>
              <a:rPr lang="en-GB" b="0" dirty="0" err="1"/>
              <a:t>pelo</a:t>
            </a:r>
            <a:r>
              <a:rPr lang="en-GB" b="0" dirty="0"/>
              <a:t> teste KS. </a:t>
            </a:r>
          </a:p>
          <a:p>
            <a:pPr marL="171450" indent="-171450">
              <a:buFontTx/>
              <a:buChar char="-"/>
            </a:pPr>
            <a:r>
              <a:rPr lang="en-GB" b="0" dirty="0" err="1"/>
              <a:t>Essas</a:t>
            </a:r>
            <a:r>
              <a:rPr lang="en-GB" b="0" dirty="0"/>
              <a:t> </a:t>
            </a:r>
            <a:r>
              <a:rPr lang="en-GB" b="0" dirty="0" err="1"/>
              <a:t>regras</a:t>
            </a:r>
            <a:r>
              <a:rPr lang="en-GB" b="0" dirty="0"/>
              <a:t> </a:t>
            </a:r>
            <a:r>
              <a:rPr lang="en-GB" b="0" dirty="0" err="1"/>
              <a:t>são</a:t>
            </a:r>
            <a:r>
              <a:rPr lang="en-GB" b="0" dirty="0"/>
              <a:t> </a:t>
            </a:r>
            <a:r>
              <a:rPr lang="en-GB" b="0" dirty="0" err="1"/>
              <a:t>usadas</a:t>
            </a:r>
            <a:r>
              <a:rPr lang="en-GB" b="0" dirty="0"/>
              <a:t> para </a:t>
            </a:r>
            <a:r>
              <a:rPr lang="en-GB" b="0" dirty="0" err="1"/>
              <a:t>previsão</a:t>
            </a:r>
            <a:r>
              <a:rPr lang="en-GB" b="0" dirty="0"/>
              <a:t>.</a:t>
            </a:r>
            <a:br>
              <a:rPr lang="en-GB" b="0" dirty="0"/>
            </a:br>
            <a:r>
              <a:rPr lang="en-GB" b="1" dirty="0"/>
              <a:t>A </a:t>
            </a:r>
            <a:r>
              <a:rPr lang="en-GB" b="1" dirty="0" err="1"/>
              <a:t>previsão</a:t>
            </a:r>
            <a:r>
              <a:rPr lang="en-GB" b="1" dirty="0"/>
              <a:t> surge </a:t>
            </a:r>
            <a:r>
              <a:rPr lang="en-GB" b="1" dirty="0" err="1"/>
              <a:t>como</a:t>
            </a:r>
            <a:r>
              <a:rPr lang="en-GB" b="1" dirty="0"/>
              <a:t> </a:t>
            </a:r>
            <a:r>
              <a:rPr lang="en-GB" b="1" dirty="0" err="1"/>
              <a:t>uma</a:t>
            </a:r>
            <a:r>
              <a:rPr lang="en-GB" b="1" dirty="0"/>
              <a:t> </a:t>
            </a:r>
            <a:r>
              <a:rPr lang="en-GB" b="1" dirty="0" err="1"/>
              <a:t>utilização</a:t>
            </a:r>
            <a:r>
              <a:rPr lang="en-GB" b="1" dirty="0"/>
              <a:t> posterior dessas </a:t>
            </a:r>
            <a:r>
              <a:rPr lang="en-GB" b="1" dirty="0" err="1"/>
              <a:t>regras</a:t>
            </a:r>
            <a:r>
              <a:rPr lang="en-GB" b="1" dirty="0"/>
              <a:t>, </a:t>
            </a:r>
            <a:r>
              <a:rPr lang="en-GB" b="1" dirty="0" err="1"/>
              <a:t>através</a:t>
            </a:r>
            <a:r>
              <a:rPr lang="en-GB" b="1" dirty="0"/>
              <a:t> de </a:t>
            </a:r>
            <a:r>
              <a:rPr lang="en-GB" b="1" dirty="0" err="1"/>
              <a:t>uma</a:t>
            </a:r>
            <a:r>
              <a:rPr lang="en-GB" b="1" dirty="0"/>
              <a:t> </a:t>
            </a:r>
            <a:r>
              <a:rPr lang="en-GB" b="1" dirty="0" err="1"/>
              <a:t>mediana</a:t>
            </a:r>
            <a:r>
              <a:rPr lang="en-GB" b="1" dirty="0"/>
              <a:t> </a:t>
            </a:r>
            <a:r>
              <a:rPr lang="en-GB" b="1" dirty="0" err="1"/>
              <a:t>ponderada</a:t>
            </a:r>
            <a:r>
              <a:rPr lang="en-GB" b="1" dirty="0"/>
              <a:t> </a:t>
            </a:r>
            <a:r>
              <a:rPr lang="en-GB" b="1" dirty="0" err="1"/>
              <a:t>pelo</a:t>
            </a:r>
            <a:r>
              <a:rPr lang="en-GB" b="1" dirty="0"/>
              <a:t> </a:t>
            </a:r>
            <a:r>
              <a:rPr lang="en-GB" b="1" dirty="0" err="1"/>
              <a:t>suporte</a:t>
            </a:r>
            <a:r>
              <a:rPr lang="en-GB" b="1" dirty="0"/>
              <a:t> no conjunto de teste.</a:t>
            </a:r>
          </a:p>
          <a:p>
            <a:endParaRPr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F81AC-5260-9D8F-B8A4-E70737A554BF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4186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15:45</a:t>
            </a:r>
          </a:p>
          <a:p>
            <a:pPr>
              <a:buNone/>
            </a:pPr>
            <a:endParaRPr lang="pt-PT" sz="1400" b="1" dirty="0">
              <a:solidFill>
                <a:srgbClr val="C00000"/>
              </a:solidFill>
            </a:endParaRPr>
          </a:p>
          <a:p>
            <a:r>
              <a:rPr lang="en-GB" sz="1200" b="1" i="0" kern="1200" dirty="0">
                <a:effectLst/>
              </a:rPr>
              <a:t>Slide 20 — </a:t>
            </a:r>
            <a:r>
              <a:rPr lang="en-GB" sz="1200" b="1" i="0" kern="1200" dirty="0" err="1">
                <a:effectLst/>
              </a:rPr>
              <a:t>Resultados</a:t>
            </a:r>
            <a:r>
              <a:rPr lang="en-GB" sz="1200" b="1" i="0" kern="1200" dirty="0">
                <a:effectLst/>
              </a:rPr>
              <a:t> da </a:t>
            </a:r>
            <a:r>
              <a:rPr lang="en-GB" sz="1200" b="1" i="0" kern="1200" dirty="0" err="1">
                <a:effectLst/>
              </a:rPr>
              <a:t>previsão</a:t>
            </a:r>
            <a:r>
              <a:rPr lang="en-GB" sz="1200" b="1" i="0" kern="1200" dirty="0">
                <a:effectLst/>
              </a:rPr>
              <a:t> (~45 s)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Este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apresentado</a:t>
            </a:r>
            <a:r>
              <a:rPr lang="en-GB" sz="1200" b="0" i="0" kern="1200" dirty="0">
                <a:effectLst/>
              </a:rPr>
              <a:t> de forma </a:t>
            </a:r>
            <a:r>
              <a:rPr lang="en-GB" sz="1200" b="0" i="0" kern="1200" dirty="0" err="1">
                <a:effectLst/>
              </a:rPr>
              <a:t>direta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Nenhum</a:t>
            </a:r>
            <a:r>
              <a:rPr lang="en-GB" sz="1200" b="0" i="0" kern="1200" dirty="0">
                <a:effectLst/>
              </a:rPr>
              <a:t> dos </a:t>
            </a:r>
            <a:r>
              <a:rPr lang="en-GB" sz="1200" b="0" i="0" kern="1200" dirty="0" err="1">
                <a:effectLst/>
              </a:rPr>
              <a:t>modelos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baseados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consegue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superar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globalmente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mediana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qualquer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das </a:t>
            </a:r>
            <a:r>
              <a:rPr lang="en-GB" sz="1200" b="0" i="0" kern="1200" dirty="0" err="1">
                <a:effectLst/>
              </a:rPr>
              <a:t>regiões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No Douro, a </a:t>
            </a:r>
            <a:r>
              <a:rPr lang="en-GB" sz="1200" b="0" i="0" kern="1200" dirty="0" err="1">
                <a:effectLst/>
              </a:rPr>
              <a:t>melhor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variante</a:t>
            </a:r>
            <a:r>
              <a:rPr lang="en-GB" sz="1200" b="0" i="0" kern="1200" dirty="0">
                <a:effectLst/>
              </a:rPr>
              <a:t> do CarenR </a:t>
            </a:r>
            <a:r>
              <a:rPr lang="en-GB" sz="1200" b="0" i="0" kern="1200" dirty="0" err="1">
                <a:effectLst/>
              </a:rPr>
              <a:t>apresenta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erro</a:t>
            </a:r>
            <a:r>
              <a:rPr lang="en-GB" sz="1200" b="0" i="0" kern="1200" dirty="0">
                <a:effectLst/>
              </a:rPr>
              <a:t> de 189 mil </a:t>
            </a:r>
            <a:r>
              <a:rPr lang="en-GB" sz="1200" b="0" i="0" kern="1200" dirty="0" err="1">
                <a:effectLst/>
              </a:rPr>
              <a:t>hectolitros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comparativamente</a:t>
            </a:r>
            <a:r>
              <a:rPr lang="en-GB" sz="1200" b="0" i="0" kern="1200" dirty="0">
                <a:effectLst/>
              </a:rPr>
              <a:t> a 184 mil </a:t>
            </a:r>
            <a:r>
              <a:rPr lang="en-GB" sz="1200" b="0" i="0" kern="1200" dirty="0" err="1">
                <a:effectLst/>
              </a:rPr>
              <a:t>hectolitros</a:t>
            </a:r>
            <a:r>
              <a:rPr lang="en-GB" sz="1200" b="0" i="0" kern="1200" dirty="0">
                <a:effectLst/>
              </a:rPr>
              <a:t> para a </a:t>
            </a:r>
            <a:r>
              <a:rPr lang="en-GB" sz="1200" b="0" i="0" kern="1200" dirty="0" err="1">
                <a:effectLst/>
              </a:rPr>
              <a:t>mediana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Isto </a:t>
            </a:r>
            <a:r>
              <a:rPr lang="en-GB" sz="1200" b="0" i="0" kern="1200" dirty="0" err="1">
                <a:effectLst/>
              </a:rPr>
              <a:t>corresponde</a:t>
            </a:r>
            <a:r>
              <a:rPr lang="en-GB" sz="1200" b="0" i="0" kern="1200" dirty="0">
                <a:effectLst/>
              </a:rPr>
              <a:t> a um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aproximadamente</a:t>
            </a:r>
            <a:r>
              <a:rPr lang="en-GB" sz="1200" b="0" i="0" kern="1200" dirty="0">
                <a:effectLst/>
              </a:rPr>
              <a:t> 3% </a:t>
            </a:r>
            <a:r>
              <a:rPr lang="en-GB" sz="1200" b="0" i="0" kern="1200" dirty="0" err="1">
                <a:effectLst/>
              </a:rPr>
              <a:t>pior</a:t>
            </a:r>
            <a:r>
              <a:rPr lang="en-GB" sz="1200" b="0" i="0" kern="1200" dirty="0">
                <a:effectLst/>
              </a:rPr>
              <a:t>. O teste de Wilcoxon </a:t>
            </a:r>
            <a:r>
              <a:rPr lang="en-GB" sz="1200" b="0" i="0" kern="1200" dirty="0" err="1">
                <a:effectLst/>
              </a:rPr>
              <a:t>apresenta</a:t>
            </a:r>
            <a:r>
              <a:rPr lang="en-GB" sz="1200" b="0" i="0" kern="1200" dirty="0">
                <a:effectLst/>
              </a:rPr>
              <a:t> um </a:t>
            </a:r>
            <a:r>
              <a:rPr lang="en-GB" sz="1200" b="0" i="1" kern="1200" dirty="0">
                <a:effectLst/>
              </a:rPr>
              <a:t>p-value</a:t>
            </a:r>
            <a:r>
              <a:rPr lang="en-GB" sz="1200" b="0" i="0" kern="1200" dirty="0">
                <a:effectLst/>
              </a:rPr>
              <a:t> de 0,468, </a:t>
            </a:r>
            <a:r>
              <a:rPr lang="en-GB" sz="1200" b="0" i="0" kern="1200" dirty="0" err="1">
                <a:effectLst/>
              </a:rPr>
              <a:t>pelo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diferença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estatisticamente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significativa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Na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 dos Vinhos Verdes, a </a:t>
            </a:r>
            <a:r>
              <a:rPr lang="en-GB" sz="1200" b="0" i="0" kern="1200" dirty="0" err="1">
                <a:effectLst/>
              </a:rPr>
              <a:t>diferença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consideravelmente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maior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melhor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modelo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baseado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apresenta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erro</a:t>
            </a:r>
            <a:r>
              <a:rPr lang="en-GB" sz="1200" b="0" i="0" kern="1200" dirty="0">
                <a:effectLst/>
              </a:rPr>
              <a:t> de 172 mil </a:t>
            </a:r>
            <a:r>
              <a:rPr lang="en-GB" sz="1200" b="0" i="0" kern="1200" dirty="0" err="1">
                <a:effectLst/>
              </a:rPr>
              <a:t>hectolitros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comparativamente</a:t>
            </a:r>
            <a:r>
              <a:rPr lang="en-GB" sz="1200" b="0" i="0" kern="1200" dirty="0">
                <a:effectLst/>
              </a:rPr>
              <a:t> a 140 mil </a:t>
            </a:r>
            <a:r>
              <a:rPr lang="en-GB" sz="1200" b="0" i="0" kern="1200" dirty="0" err="1">
                <a:effectLst/>
              </a:rPr>
              <a:t>hectolitros</a:t>
            </a:r>
            <a:r>
              <a:rPr lang="en-GB" sz="1200" b="0" i="0" kern="1200" dirty="0">
                <a:effectLst/>
              </a:rPr>
              <a:t> para a </a:t>
            </a:r>
            <a:r>
              <a:rPr lang="en-GB" sz="1200" b="0" i="0" kern="1200" dirty="0" err="1">
                <a:effectLst/>
              </a:rPr>
              <a:t>mediana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corresponde</a:t>
            </a:r>
            <a:r>
              <a:rPr lang="en-GB" sz="1200" b="0" i="0" kern="1200" dirty="0">
                <a:effectLst/>
              </a:rPr>
              <a:t> a um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 22% </a:t>
            </a:r>
            <a:r>
              <a:rPr lang="en-GB" sz="1200" b="0" i="0" kern="1200" dirty="0" err="1">
                <a:effectLst/>
              </a:rPr>
              <a:t>pior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 err="1">
                <a:effectLst/>
              </a:rPr>
              <a:t>Além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disso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nove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cenários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foram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efetivamente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ativadas</a:t>
            </a:r>
            <a:r>
              <a:rPr lang="en-GB" sz="1200" b="0" i="0" kern="1200" dirty="0">
                <a:effectLst/>
              </a:rPr>
              <a:t>, a </a:t>
            </a:r>
            <a:r>
              <a:rPr lang="en-GB" sz="1200" b="0" i="0" kern="1200" dirty="0" err="1">
                <a:effectLst/>
              </a:rPr>
              <a:t>sua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utilização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prejudicou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significativamente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, com um </a:t>
            </a:r>
            <a:r>
              <a:rPr lang="en-GB" sz="1200" b="0" i="1" kern="1200" dirty="0">
                <a:effectLst/>
              </a:rPr>
              <a:t>p-value</a:t>
            </a:r>
            <a:r>
              <a:rPr lang="en-GB" sz="1200" b="0" i="0" kern="1200" dirty="0">
                <a:effectLst/>
              </a:rPr>
              <a:t> de 0,004.</a:t>
            </a:r>
          </a:p>
          <a:p>
            <a:r>
              <a:rPr lang="en-GB" sz="1200" b="0" i="0" kern="1200" dirty="0" err="1">
                <a:effectLst/>
              </a:rPr>
              <a:t>Portanto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negativo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significa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apenas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houve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melhoria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Na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difícil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quando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foram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ativadas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produziram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previsões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significativamente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piores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Este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sustenta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interpretação</a:t>
            </a:r>
            <a:r>
              <a:rPr lang="en-GB" sz="1200" b="0" i="0" kern="1200" dirty="0">
                <a:effectLst/>
              </a:rPr>
              <a:t> central da </a:t>
            </a:r>
            <a:r>
              <a:rPr lang="en-GB" sz="1200" b="0" i="0" kern="1200" dirty="0" err="1">
                <a:effectLst/>
              </a:rPr>
              <a:t>tese</a:t>
            </a:r>
            <a:r>
              <a:rPr lang="en-GB" sz="1200" b="0" i="0" kern="1200" dirty="0">
                <a:effectLst/>
              </a:rPr>
              <a:t>: a </a:t>
            </a:r>
            <a:r>
              <a:rPr lang="en-GB" sz="1200" b="0" i="0" kern="1200" dirty="0" err="1">
                <a:effectLst/>
              </a:rPr>
              <a:t>descoberta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revelar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relevante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nos</a:t>
            </a:r>
            <a:r>
              <a:rPr lang="en-GB" sz="1200" b="0" i="0" kern="1200" dirty="0">
                <a:effectLst/>
              </a:rPr>
              <a:t> dados </a:t>
            </a:r>
            <a:r>
              <a:rPr lang="en-GB" sz="1200" b="0" i="0" kern="1200" dirty="0" err="1">
                <a:effectLst/>
              </a:rPr>
              <a:t>históricos</a:t>
            </a:r>
            <a:r>
              <a:rPr lang="en-GB" sz="1200" b="0" i="0" kern="1200" dirty="0">
                <a:effectLst/>
              </a:rPr>
              <a:t>, mas, </a:t>
            </a:r>
            <a:r>
              <a:rPr lang="en-GB" sz="1200" b="0" i="0" kern="1200" dirty="0" err="1">
                <a:effectLst/>
              </a:rPr>
              <a:t>perante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declínio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estrutural</a:t>
            </a:r>
            <a:r>
              <a:rPr lang="en-GB" sz="1200" b="0" i="0" kern="1200" dirty="0">
                <a:effectLst/>
              </a:rPr>
              <a:t> forte, </a:t>
            </a:r>
            <a:r>
              <a:rPr lang="en-GB" sz="1200" b="0" i="0" kern="1200" dirty="0" err="1">
                <a:effectLst/>
              </a:rPr>
              <a:t>essa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se </a:t>
            </a:r>
            <a:r>
              <a:rPr lang="en-GB" sz="1200" b="0" i="0" kern="1200" dirty="0" err="1">
                <a:effectLst/>
              </a:rPr>
              <a:t>traduz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necessariamente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capacidade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futura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16:35</a:t>
            </a:r>
          </a:p>
          <a:p>
            <a:pPr>
              <a:buNone/>
            </a:pPr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Slide 21 — Uma </a:t>
            </a:r>
            <a:r>
              <a:rPr lang="en-GB" sz="1200" b="1" i="0" kern="1200" dirty="0" err="1">
                <a:effectLst/>
              </a:rPr>
              <a:t>regra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significante</a:t>
            </a:r>
            <a:r>
              <a:rPr lang="en-GB" sz="1200" b="1" i="0" kern="1200" dirty="0">
                <a:effectLst/>
              </a:rPr>
              <a:t>: um </a:t>
            </a:r>
            <a:r>
              <a:rPr lang="en-GB" sz="1200" b="1" i="0" kern="1200" dirty="0" err="1">
                <a:effectLst/>
              </a:rPr>
              <a:t>sinal</a:t>
            </a:r>
            <a:r>
              <a:rPr lang="en-GB" sz="1200" b="1" i="0" kern="1200" dirty="0">
                <a:effectLst/>
              </a:rPr>
              <a:t> real, mas </a:t>
            </a:r>
            <a:r>
              <a:rPr lang="en-GB" sz="1200" b="1" i="0" kern="1200" dirty="0" err="1">
                <a:effectLst/>
              </a:rPr>
              <a:t>demasiado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fraco</a:t>
            </a:r>
            <a:r>
              <a:rPr lang="en-GB" sz="1200" b="1" i="0" kern="1200" dirty="0">
                <a:effectLst/>
              </a:rPr>
              <a:t> (~50 s)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separar</a:t>
            </a:r>
            <a:r>
              <a:rPr lang="en-GB" sz="1200" b="0" i="0" kern="1200" dirty="0">
                <a:effectLst/>
              </a:rPr>
              <a:t> as duas </a:t>
            </a:r>
            <a:r>
              <a:rPr lang="en-GB" sz="1200" b="0" i="0" kern="1200" dirty="0" err="1">
                <a:effectLst/>
              </a:rPr>
              <a:t>ideias</a:t>
            </a:r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descoberta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pergunta</a:t>
            </a:r>
            <a:r>
              <a:rPr lang="en-GB" sz="1200" b="0" i="0" kern="1200" dirty="0">
                <a:effectLst/>
              </a:rPr>
              <a:t> se a </a:t>
            </a:r>
            <a:r>
              <a:rPr lang="en-GB" sz="1200" b="0" i="0" kern="1200" dirty="0" err="1">
                <a:effectLst/>
              </a:rPr>
              <a:t>distribuição</a:t>
            </a:r>
            <a:r>
              <a:rPr lang="en-GB" sz="1200" b="0" i="0" kern="1200" dirty="0">
                <a:effectLst/>
              </a:rPr>
              <a:t> de um </a:t>
            </a:r>
            <a:r>
              <a:rPr lang="en-GB" sz="1200" b="0" i="0" kern="1200" dirty="0" err="1">
                <a:effectLst/>
              </a:rPr>
              <a:t>determinado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subgrupo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diferente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distribuição</a:t>
            </a:r>
            <a:r>
              <a:rPr lang="en-GB" sz="1200" b="0" i="0" kern="1200" dirty="0">
                <a:effectLst/>
              </a:rPr>
              <a:t> global.</a:t>
            </a:r>
          </a:p>
          <a:p>
            <a:r>
              <a:rPr lang="en-GB" sz="1200" b="0" i="0" kern="1200" dirty="0">
                <a:effectLst/>
              </a:rPr>
              <a:t>Com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correlação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absoluta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próxima</a:t>
            </a:r>
            <a:r>
              <a:rPr lang="en-GB" sz="1200" b="0" i="0" kern="1200" dirty="0">
                <a:effectLst/>
              </a:rPr>
              <a:t> de 0,47, </a:t>
            </a:r>
            <a:r>
              <a:rPr lang="en-GB" sz="1200" b="0" i="0" kern="1200" dirty="0" err="1">
                <a:effectLst/>
              </a:rPr>
              <a:t>essa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associação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claramente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detetável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longo</a:t>
            </a:r>
            <a:r>
              <a:rPr lang="en-GB" sz="1200" b="0" i="0" kern="1200" dirty="0">
                <a:effectLst/>
              </a:rPr>
              <a:t> de 89 </a:t>
            </a:r>
            <a:r>
              <a:rPr lang="en-GB" sz="1200" b="0" i="0" kern="1200" dirty="0" err="1">
                <a:effectLst/>
              </a:rPr>
              <a:t>anos</a:t>
            </a:r>
            <a:r>
              <a:rPr lang="en-GB" sz="1200" b="0" i="0" kern="1200" dirty="0">
                <a:effectLst/>
              </a:rPr>
              <a:t> de dados.</a:t>
            </a: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coloca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questão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exigente</a:t>
            </a:r>
            <a:r>
              <a:rPr lang="en-GB" sz="1200" b="0" i="0" kern="1200" dirty="0">
                <a:effectLst/>
              </a:rPr>
              <a:t>: a </a:t>
            </a:r>
            <a:r>
              <a:rPr lang="en-GB" sz="1200" b="0" i="0" kern="1200" dirty="0" err="1">
                <a:effectLst/>
              </a:rPr>
              <a:t>utilização</a:t>
            </a:r>
            <a:r>
              <a:rPr lang="en-GB" sz="1200" b="0" i="0" kern="1200" dirty="0">
                <a:effectLst/>
              </a:rPr>
              <a:t> dessa </a:t>
            </a:r>
            <a:r>
              <a:rPr lang="en-GB" sz="1200" b="0" i="0" kern="1200" dirty="0" err="1">
                <a:effectLst/>
              </a:rPr>
              <a:t>regra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reduz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erro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períodos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futuros</a:t>
            </a:r>
            <a:r>
              <a:rPr lang="en-GB" sz="1200" b="0" i="0" kern="1200" dirty="0">
                <a:effectLst/>
              </a:rPr>
              <a:t>?</a:t>
            </a:r>
          </a:p>
          <a:p>
            <a:r>
              <a:rPr lang="en-GB" sz="1200" b="0" i="0" kern="1200" dirty="0">
                <a:effectLst/>
              </a:rPr>
              <a:t>Nesse </a:t>
            </a:r>
            <a:r>
              <a:rPr lang="en-GB" sz="1200" b="0" i="0" kern="1200" dirty="0" err="1">
                <a:effectLst/>
              </a:rPr>
              <a:t>caso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resultados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favoráveis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clima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aproximadamente</a:t>
            </a:r>
            <a:r>
              <a:rPr lang="en-GB" sz="1200" b="0" i="0" kern="1200" dirty="0">
                <a:effectLst/>
              </a:rPr>
              <a:t> 22% da </a:t>
            </a:r>
            <a:r>
              <a:rPr lang="en-GB" sz="1200" b="0" i="0" kern="1200" dirty="0" err="1">
                <a:effectLst/>
              </a:rPr>
              <a:t>variância</a:t>
            </a:r>
            <a:r>
              <a:rPr lang="en-GB" sz="1200" b="0" i="0" kern="1200" dirty="0">
                <a:effectLst/>
              </a:rPr>
              <a:t> dos </a:t>
            </a:r>
            <a:r>
              <a:rPr lang="en-GB" sz="1200" b="0" i="0" kern="1200" dirty="0" err="1">
                <a:effectLst/>
              </a:rPr>
              <a:t>resíduos</a:t>
            </a:r>
            <a:r>
              <a:rPr lang="en-GB" sz="1200" b="0" i="0" kern="1200" dirty="0">
                <a:effectLst/>
              </a:rPr>
              <a:t>. Isto </a:t>
            </a:r>
            <a:r>
              <a:rPr lang="en-GB" sz="1200" b="0" i="0" kern="1200" dirty="0" err="1">
                <a:effectLst/>
              </a:rPr>
              <a:t>significa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cerca</a:t>
            </a:r>
            <a:r>
              <a:rPr lang="en-GB" sz="1200" b="0" i="0" kern="1200" dirty="0">
                <a:effectLst/>
              </a:rPr>
              <a:t> de 78% da </a:t>
            </a:r>
            <a:r>
              <a:rPr lang="en-GB" sz="1200" b="0" i="0" kern="1200" dirty="0" err="1">
                <a:effectLst/>
              </a:rPr>
              <a:t>variabilidade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permanece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explicar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seja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fatores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observados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seja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ruído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Para a </a:t>
            </a:r>
            <a:r>
              <a:rPr lang="en-GB" sz="1200" b="0" i="0" kern="1200" dirty="0" err="1">
                <a:effectLst/>
              </a:rPr>
              <a:t>descoberta</a:t>
            </a:r>
            <a:r>
              <a:rPr lang="en-GB" sz="1200" b="0" i="0" kern="1200" dirty="0">
                <a:effectLst/>
              </a:rPr>
              <a:t>, basta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exista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seja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estatisticamente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detetável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Para </a:t>
            </a:r>
            <a:r>
              <a:rPr lang="en-GB" sz="1200" b="0" i="0" kern="1200" dirty="0" err="1">
                <a:effectLst/>
              </a:rPr>
              <a:t>melhorar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, esse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tem</a:t>
            </a:r>
            <a:r>
              <a:rPr lang="en-GB" sz="1200" b="0" i="0" kern="1200" dirty="0">
                <a:effectLst/>
              </a:rPr>
              <a:t> de ser </a:t>
            </a:r>
            <a:r>
              <a:rPr lang="en-GB" sz="1200" b="0" i="0" kern="1200" dirty="0" err="1">
                <a:effectLst/>
              </a:rPr>
              <a:t>suficientemente</a:t>
            </a:r>
            <a:r>
              <a:rPr lang="en-GB" sz="1200" b="0" i="0" kern="1200" dirty="0">
                <a:effectLst/>
              </a:rPr>
              <a:t> forte e </a:t>
            </a:r>
            <a:r>
              <a:rPr lang="en-GB" sz="1200" b="0" i="0" kern="1200" dirty="0" err="1">
                <a:effectLst/>
              </a:rPr>
              <a:t>estável</a:t>
            </a:r>
            <a:r>
              <a:rPr lang="en-GB" sz="1200" b="0" i="0" kern="1200" dirty="0">
                <a:effectLst/>
              </a:rPr>
              <a:t> para </a:t>
            </a:r>
            <a:r>
              <a:rPr lang="en-GB" sz="1200" b="0" i="0" kern="1200" dirty="0" err="1">
                <a:effectLst/>
              </a:rPr>
              <a:t>dominar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restantes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fontes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variabilidade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Por </a:t>
            </a:r>
            <a:r>
              <a:rPr lang="en-GB" sz="1200" b="0" i="0" kern="1200" dirty="0" err="1">
                <a:effectLst/>
              </a:rPr>
              <a:t>isso</a:t>
            </a:r>
            <a:r>
              <a:rPr lang="en-GB" sz="1200" b="0" i="0" kern="1200" dirty="0">
                <a:effectLst/>
              </a:rPr>
              <a:t>, o principal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tese</a:t>
            </a:r>
            <a:r>
              <a:rPr lang="en-GB" sz="1200" b="0" i="0" kern="1200" dirty="0">
                <a:effectLst/>
              </a:rPr>
              <a:t> — a </a:t>
            </a:r>
            <a:r>
              <a:rPr lang="en-GB" sz="1200" b="0" i="0" kern="1200" dirty="0" err="1">
                <a:effectLst/>
              </a:rPr>
              <a:t>descoberta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funciona</a:t>
            </a:r>
            <a:r>
              <a:rPr lang="en-GB" sz="1200" b="0" i="0" kern="1200" dirty="0">
                <a:effectLst/>
              </a:rPr>
              <a:t>, mas a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funciona</a:t>
            </a:r>
            <a:r>
              <a:rPr lang="en-GB" sz="1200" b="0" i="0" kern="1200" dirty="0">
                <a:effectLst/>
              </a:rPr>
              <a:t> de forma </a:t>
            </a:r>
            <a:r>
              <a:rPr lang="en-GB" sz="1200" b="0" i="0" kern="1200" dirty="0" err="1">
                <a:effectLst/>
              </a:rPr>
              <a:t>consistente</a:t>
            </a:r>
            <a:r>
              <a:rPr lang="en-GB" sz="1200" b="0" i="0" kern="1200" dirty="0">
                <a:effectLst/>
              </a:rPr>
              <a:t> —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deve</a:t>
            </a:r>
            <a:r>
              <a:rPr lang="en-GB" sz="1200" b="0" i="0" kern="1200" dirty="0">
                <a:effectLst/>
              </a:rPr>
              <a:t> ser </a:t>
            </a:r>
            <a:r>
              <a:rPr lang="en-GB" sz="1200" b="0" i="0" kern="1200" dirty="0" err="1">
                <a:effectLst/>
              </a:rPr>
              <a:t>interpretado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fracasso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realidade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diagnóstico</a:t>
            </a:r>
            <a:r>
              <a:rPr lang="en-GB" sz="1200" b="0" i="0" kern="1200" dirty="0">
                <a:effectLst/>
              </a:rPr>
              <a:t> central.</a:t>
            </a:r>
          </a:p>
          <a:p>
            <a:r>
              <a:rPr lang="en-GB" sz="1200" b="0" i="0" kern="1200" dirty="0">
                <a:effectLst/>
              </a:rPr>
              <a:t>O Machine Learning </a:t>
            </a:r>
            <a:r>
              <a:rPr lang="en-GB" sz="1200" b="0" i="0" kern="1200" dirty="0" err="1">
                <a:effectLst/>
              </a:rPr>
              <a:t>baseado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consegue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explicar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parte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genuína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relação</a:t>
            </a:r>
            <a:r>
              <a:rPr lang="en-GB" sz="1200" b="0" i="0" kern="1200" dirty="0">
                <a:effectLst/>
              </a:rPr>
              <a:t> entre </a:t>
            </a:r>
            <a:r>
              <a:rPr lang="en-GB" sz="1200" b="0" i="0" kern="1200" dirty="0" err="1">
                <a:effectLst/>
              </a:rPr>
              <a:t>clima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, mas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dados </a:t>
            </a:r>
            <a:r>
              <a:rPr lang="en-GB" sz="1200" b="0" i="0" kern="1200" dirty="0" err="1">
                <a:effectLst/>
              </a:rPr>
              <a:t>disponíveis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suficientes</a:t>
            </a:r>
            <a:r>
              <a:rPr lang="en-GB" sz="1200" b="0" i="0" kern="1200" dirty="0">
                <a:effectLst/>
              </a:rPr>
              <a:t> para </a:t>
            </a:r>
            <a:r>
              <a:rPr lang="en-GB" sz="1200" b="0" i="0" kern="1200" dirty="0" err="1">
                <a:effectLst/>
              </a:rPr>
              <a:t>produzir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previsões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regionais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fiáveis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O slide </a:t>
            </a:r>
            <a:r>
              <a:rPr lang="en-GB" sz="1200" b="0" i="0" kern="1200" dirty="0" err="1">
                <a:effectLst/>
              </a:rPr>
              <a:t>seguinte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transforma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diagnóstico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num</a:t>
            </a:r>
            <a:r>
              <a:rPr lang="en-GB" sz="1200" b="0" i="0" kern="1200" dirty="0">
                <a:effectLst/>
              </a:rPr>
              <a:t> framework </a:t>
            </a:r>
            <a:r>
              <a:rPr lang="en-GB" sz="1200" b="0" i="0" kern="1200" dirty="0" err="1">
                <a:effectLst/>
              </a:rPr>
              <a:t>metodológico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17:35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Slide 22 — Framework das duas </a:t>
            </a:r>
            <a:r>
              <a:rPr lang="en-GB" sz="1200" b="1" i="0" kern="1200" dirty="0" err="1">
                <a:effectLst/>
              </a:rPr>
              <a:t>decisões</a:t>
            </a:r>
            <a:r>
              <a:rPr lang="en-GB" sz="1200" b="1" i="0" kern="1200" dirty="0">
                <a:effectLst/>
              </a:rPr>
              <a:t> (~1 min)</a:t>
            </a: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provavelmente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contribuição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metodológica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gostaria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retivessem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 err="1">
                <a:effectLst/>
              </a:rPr>
              <a:t>Qualquer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previsão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aplicada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uma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série</a:t>
            </a:r>
            <a:r>
              <a:rPr lang="en-GB" sz="1200" b="1" i="0" kern="1200" dirty="0">
                <a:effectLst/>
              </a:rPr>
              <a:t> com </a:t>
            </a:r>
            <a:r>
              <a:rPr lang="en-GB" sz="1200" b="1" i="0" kern="1200" dirty="0" err="1">
                <a:effectLst/>
              </a:rPr>
              <a:t>tendência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envolve</a:t>
            </a:r>
            <a:r>
              <a:rPr lang="en-GB" sz="1200" b="1" i="0" kern="1200" dirty="0">
                <a:effectLst/>
              </a:rPr>
              <a:t> duas </a:t>
            </a:r>
            <a:r>
              <a:rPr lang="en-GB" sz="1200" b="1" i="0" kern="1200" dirty="0" err="1">
                <a:effectLst/>
              </a:rPr>
              <a:t>decisões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distintas</a:t>
            </a:r>
            <a:r>
              <a:rPr lang="en-GB" sz="1200" b="1" i="0" kern="1200" dirty="0">
                <a:effectLst/>
              </a:rPr>
              <a:t>.: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1. A </a:t>
            </a:r>
            <a:r>
              <a:rPr lang="en-GB" sz="1200" b="0" i="0" kern="1200" dirty="0" err="1">
                <a:effectLst/>
              </a:rPr>
              <a:t>primeira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decisão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consiste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modelar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tendência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estrutural</a:t>
            </a:r>
            <a:r>
              <a:rPr lang="en-GB" sz="1200" b="1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Quanto </a:t>
            </a:r>
            <a:r>
              <a:rPr lang="en-GB" sz="1200" b="0" i="0" kern="1200" dirty="0" err="1">
                <a:effectLst/>
              </a:rPr>
              <a:t>melhor</a:t>
            </a:r>
            <a:r>
              <a:rPr lang="en-GB" sz="1200" b="0" i="0" kern="1200" dirty="0">
                <a:effectLst/>
              </a:rPr>
              <a:t> for o </a:t>
            </a:r>
            <a:r>
              <a:rPr lang="en-GB" sz="1200" b="0" i="0" kern="1200" dirty="0" err="1">
                <a:effectLst/>
              </a:rPr>
              <a:t>modelo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menores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serão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resíduos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baixo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será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nível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erro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uma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baseline</a:t>
            </a:r>
            <a:r>
              <a:rPr lang="en-GB" sz="1200" b="0" i="0" kern="1200" dirty="0">
                <a:effectLst/>
              </a:rPr>
              <a:t> simples </a:t>
            </a:r>
            <a:r>
              <a:rPr lang="en-GB" sz="1200" b="0" i="0" kern="1200" dirty="0" err="1">
                <a:effectLst/>
              </a:rPr>
              <a:t>consegue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atingir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2. A </a:t>
            </a:r>
            <a:r>
              <a:rPr lang="en-GB" sz="1200" b="0" i="0" kern="1200" dirty="0" err="1">
                <a:effectLst/>
              </a:rPr>
              <a:t>segunda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decisão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consiste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extrair</a:t>
            </a:r>
            <a:r>
              <a:rPr lang="en-GB" sz="1200" b="1" i="0" kern="1200" dirty="0">
                <a:effectLst/>
              </a:rPr>
              <a:t> o </a:t>
            </a:r>
            <a:r>
              <a:rPr lang="en-GB" sz="1200" b="1" i="0" kern="1200" dirty="0" err="1">
                <a:effectLst/>
              </a:rPr>
              <a:t>sinal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climático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que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permanece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nesses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resíduos</a:t>
            </a:r>
            <a:r>
              <a:rPr lang="en-GB" sz="1200" b="1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Para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sejam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estáveis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detetáveis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necessário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exista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</a:t>
            </a:r>
            <a:r>
              <a:rPr lang="en-GB" sz="1200" b="0" i="0" kern="1200" dirty="0">
                <a:effectLst/>
              </a:rPr>
              <a:t> residual </a:t>
            </a:r>
            <a:r>
              <a:rPr lang="en-GB" sz="1200" b="0" i="0" kern="1200" dirty="0" err="1">
                <a:effectLst/>
              </a:rPr>
              <a:t>suficientemente</a:t>
            </a:r>
            <a:r>
              <a:rPr lang="en-GB" sz="1200" b="0" i="0" kern="1200" dirty="0">
                <a:effectLst/>
              </a:rPr>
              <a:t> forte.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problema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estas</a:t>
            </a:r>
            <a:r>
              <a:rPr lang="en-GB" sz="1200" b="0" i="0" kern="1200" dirty="0">
                <a:effectLst/>
              </a:rPr>
              <a:t> duas </a:t>
            </a:r>
            <a:r>
              <a:rPr lang="en-GB" sz="1200" b="0" i="0" kern="1200" dirty="0" err="1">
                <a:effectLst/>
              </a:rPr>
              <a:t>decisões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entrar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tensão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Na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 dos Vinhos Verdes, a </a:t>
            </a:r>
            <a:r>
              <a:rPr lang="en-GB" sz="1200" b="0" i="0" kern="1200" dirty="0" err="1">
                <a:effectLst/>
              </a:rPr>
              <a:t>utilização</a:t>
            </a:r>
            <a:r>
              <a:rPr lang="en-GB" sz="1200" b="0" i="0" kern="1200" dirty="0">
                <a:effectLst/>
              </a:rPr>
              <a:t> de um </a:t>
            </a:r>
            <a:r>
              <a:rPr lang="en-GB" sz="1200" b="0" i="1" kern="1200" dirty="0">
                <a:effectLst/>
              </a:rPr>
              <a:t>detrending</a:t>
            </a:r>
            <a:r>
              <a:rPr lang="en-GB" sz="1200" b="0" i="0" kern="1200" dirty="0">
                <a:effectLst/>
              </a:rPr>
              <a:t> LOESS </a:t>
            </a:r>
            <a:r>
              <a:rPr lang="en-GB" sz="1200" b="0" i="0" kern="1200" dirty="0" err="1">
                <a:effectLst/>
              </a:rPr>
              <a:t>mais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flexível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melhora</a:t>
            </a:r>
            <a:r>
              <a:rPr lang="en-GB" sz="1200" b="0" i="0" kern="1200" dirty="0">
                <a:effectLst/>
              </a:rPr>
              <a:t> a </a:t>
            </a:r>
            <a:r>
              <a:rPr lang="en-GB" sz="1200" b="0" i="1" kern="1200" dirty="0">
                <a:effectLst/>
              </a:rPr>
              <a:t>baseline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reduzindo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erro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aproximadamente</a:t>
            </a:r>
            <a:r>
              <a:rPr lang="en-GB" sz="1200" b="0" i="0" kern="1200" dirty="0">
                <a:effectLst/>
              </a:rPr>
              <a:t> 140 para 90 mil </a:t>
            </a:r>
            <a:r>
              <a:rPr lang="en-GB" sz="1200" b="0" i="0" kern="1200" dirty="0" err="1">
                <a:effectLst/>
              </a:rPr>
              <a:t>hectolitros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 err="1">
                <a:effectLst/>
              </a:rPr>
              <a:t>Portanto</a:t>
            </a:r>
            <a:r>
              <a:rPr lang="en-GB" sz="1200" b="1" i="0" kern="1200" dirty="0">
                <a:effectLst/>
              </a:rPr>
              <a:t>, do </a:t>
            </a:r>
            <a:r>
              <a:rPr lang="en-GB" sz="1200" b="1" i="0" kern="1200" dirty="0" err="1">
                <a:effectLst/>
              </a:rPr>
              <a:t>ponto</a:t>
            </a:r>
            <a:r>
              <a:rPr lang="en-GB" sz="1200" b="1" i="0" kern="1200" dirty="0">
                <a:effectLst/>
              </a:rPr>
              <a:t> de vista da </a:t>
            </a:r>
            <a:r>
              <a:rPr lang="en-GB" sz="1200" b="1" i="0" kern="1200" dirty="0" err="1">
                <a:effectLst/>
              </a:rPr>
              <a:t>primeira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decisão</a:t>
            </a:r>
            <a:r>
              <a:rPr lang="en-GB" sz="1200" b="1" i="0" kern="1200" dirty="0">
                <a:effectLst/>
              </a:rPr>
              <a:t>, o </a:t>
            </a:r>
            <a:r>
              <a:rPr lang="en-GB" sz="1200" b="1" i="0" kern="1200" dirty="0" err="1">
                <a:effectLst/>
              </a:rPr>
              <a:t>resultado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melhora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significativamente</a:t>
            </a:r>
            <a:r>
              <a:rPr lang="en-GB" sz="1200" b="1" i="0" kern="1200" dirty="0">
                <a:effectLst/>
              </a:rPr>
              <a:t>.</a:t>
            </a:r>
          </a:p>
          <a:p>
            <a:r>
              <a:rPr lang="en-GB" sz="1200" b="1" i="0" kern="1200" dirty="0">
                <a:effectLst/>
              </a:rPr>
              <a:t>No </a:t>
            </a:r>
            <a:r>
              <a:rPr lang="en-GB" sz="1200" b="1" i="0" kern="1200" dirty="0" err="1">
                <a:effectLst/>
              </a:rPr>
              <a:t>entanto</a:t>
            </a:r>
            <a:r>
              <a:rPr lang="en-GB" sz="1200" b="1" i="0" kern="1200" dirty="0">
                <a:effectLst/>
              </a:rPr>
              <a:t>, </a:t>
            </a:r>
            <a:r>
              <a:rPr lang="en-GB" sz="1200" b="1" i="0" kern="1200" dirty="0" err="1">
                <a:effectLst/>
              </a:rPr>
              <a:t>ao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mesmo</a:t>
            </a:r>
            <a:r>
              <a:rPr lang="en-GB" sz="1200" b="1" i="0" kern="1200" dirty="0">
                <a:effectLst/>
              </a:rPr>
              <a:t> tempo, a </a:t>
            </a:r>
            <a:r>
              <a:rPr lang="en-GB" sz="1200" b="1" i="0" kern="1200" dirty="0" err="1">
                <a:effectLst/>
              </a:rPr>
              <a:t>indução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regras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cai</a:t>
            </a:r>
            <a:r>
              <a:rPr lang="en-GB" sz="1200" b="1" i="0" kern="1200" dirty="0">
                <a:effectLst/>
              </a:rPr>
              <a:t> para zero. </a:t>
            </a:r>
            <a:r>
              <a:rPr lang="en-GB" sz="1200" b="1" i="0" kern="1200" dirty="0" err="1">
                <a:effectLst/>
              </a:rPr>
              <a:t>Todas</a:t>
            </a:r>
            <a:r>
              <a:rPr lang="en-GB" sz="1200" b="1" i="0" kern="1200" dirty="0">
                <a:effectLst/>
              </a:rPr>
              <a:t> as </a:t>
            </a:r>
            <a:r>
              <a:rPr lang="en-GB" sz="1200" b="1" i="0" kern="1200" dirty="0" err="1">
                <a:effectLst/>
              </a:rPr>
              <a:t>regras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desaparecem</a:t>
            </a:r>
            <a:r>
              <a:rPr lang="en-GB" sz="1200" b="1" i="0" kern="1200" dirty="0">
                <a:effectLst/>
              </a:rPr>
              <a:t>.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----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Ou </a:t>
            </a:r>
            <a:r>
              <a:rPr lang="en-GB" sz="1200" b="0" i="0" kern="1200" dirty="0" err="1">
                <a:effectLst/>
              </a:rPr>
              <a:t>seja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melhorar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modelação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removemos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também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estrutura</a:t>
            </a:r>
            <a:r>
              <a:rPr lang="en-GB" sz="1200" b="0" i="0" kern="1200" dirty="0">
                <a:effectLst/>
              </a:rPr>
              <a:t> residual de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algoritmo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necessitava</a:t>
            </a:r>
            <a:r>
              <a:rPr lang="en-GB" sz="1200" b="0" i="0" kern="1200" dirty="0">
                <a:effectLst/>
              </a:rPr>
              <a:t> para </a:t>
            </a:r>
            <a:r>
              <a:rPr lang="en-GB" sz="1200" b="0" i="0" kern="1200" dirty="0" err="1">
                <a:effectLst/>
              </a:rPr>
              <a:t>identificar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b="1" u="sng" dirty="0"/>
              <a:t>O </a:t>
            </a:r>
            <a:r>
              <a:rPr lang="en-GB" b="1" u="sng" dirty="0" err="1"/>
              <a:t>que</a:t>
            </a:r>
            <a:r>
              <a:rPr lang="en-GB" b="1" u="sng" dirty="0"/>
              <a:t> </a:t>
            </a:r>
            <a:r>
              <a:rPr lang="en-GB" b="1" u="sng" dirty="0" err="1"/>
              <a:t>poderemos</a:t>
            </a:r>
            <a:r>
              <a:rPr lang="en-GB" b="1" u="sng" dirty="0"/>
              <a:t> Validar no future </a:t>
            </a:r>
            <a:r>
              <a:rPr lang="en-GB" b="1" u="sng" dirty="0" err="1"/>
              <a:t>em</a:t>
            </a:r>
            <a:r>
              <a:rPr lang="en-GB" b="1" u="sng" dirty="0"/>
              <a:t> </a:t>
            </a:r>
            <a:r>
              <a:rPr lang="en-GB" b="1" u="sng" dirty="0" err="1"/>
              <a:t>relacao</a:t>
            </a:r>
            <a:r>
              <a:rPr lang="en-GB" b="1" u="sng" dirty="0"/>
              <a:t> </a:t>
            </a:r>
            <a:r>
              <a:rPr lang="en-GB" b="1" u="sng" dirty="0" err="1"/>
              <a:t>ao</a:t>
            </a:r>
            <a:r>
              <a:rPr lang="en-GB" b="1" u="sng" dirty="0"/>
              <a:t> detrending</a:t>
            </a:r>
          </a:p>
          <a:p>
            <a:r>
              <a:rPr lang="en-GB" dirty="0"/>
              <a:t>Assim,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vez</a:t>
            </a:r>
            <a:r>
              <a:rPr lang="en-GB" dirty="0"/>
              <a:t> de:</a:t>
            </a:r>
          </a:p>
          <a:p>
            <a:r>
              <a:rPr lang="en-GB" sz="1200" b="1" kern="1200" dirty="0" err="1"/>
              <a:t>produção</a:t>
            </a:r>
            <a:r>
              <a:rPr lang="en-GB" sz="1200" b="1" kern="1200" dirty="0"/>
              <a:t> ~ </a:t>
            </a:r>
            <a:r>
              <a:rPr lang="en-GB" sz="1200" b="1" kern="1200" dirty="0" err="1"/>
              <a:t>ano</a:t>
            </a:r>
            <a:endParaRPr lang="en-GB" b="1" dirty="0"/>
          </a:p>
          <a:p>
            <a:r>
              <a:rPr lang="en-GB" dirty="0"/>
              <a:t>seria algo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informativo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:</a:t>
            </a:r>
          </a:p>
          <a:p>
            <a:r>
              <a:rPr lang="en-GB" sz="1200" b="1" kern="1200" dirty="0" err="1"/>
              <a:t>produção</a:t>
            </a:r>
            <a:r>
              <a:rPr lang="en-GB" sz="1200" b="1" kern="1200" dirty="0"/>
              <a:t> ~ </a:t>
            </a:r>
            <a:r>
              <a:rPr lang="en-GB" sz="1200" b="1" kern="1200" dirty="0" err="1"/>
              <a:t>ano</a:t>
            </a:r>
            <a:r>
              <a:rPr lang="en-GB" sz="1200" b="1" kern="1200" dirty="0"/>
              <a:t> + </a:t>
            </a:r>
            <a:r>
              <a:rPr lang="en-GB" sz="1200" b="1" kern="1200" dirty="0" err="1"/>
              <a:t>área</a:t>
            </a:r>
            <a:r>
              <a:rPr lang="en-GB" sz="1200" b="1" kern="1200" dirty="0"/>
              <a:t> </a:t>
            </a:r>
            <a:r>
              <a:rPr lang="en-GB" sz="1200" b="1" kern="1200" dirty="0" err="1"/>
              <a:t>plantada</a:t>
            </a:r>
            <a:r>
              <a:rPr lang="en-GB" sz="1200" b="1" kern="1200" dirty="0"/>
              <a:t> + quotas + nº </a:t>
            </a:r>
            <a:r>
              <a:rPr lang="en-GB" sz="1200" b="1" kern="1200" dirty="0" err="1"/>
              <a:t>produtores</a:t>
            </a:r>
            <a:r>
              <a:rPr lang="en-GB" sz="1200" b="1" kern="1200" dirty="0"/>
              <a:t> + </a:t>
            </a:r>
            <a:r>
              <a:rPr lang="en-GB" sz="1200" b="1" kern="1200" dirty="0" err="1"/>
              <a:t>indicadores</a:t>
            </a:r>
            <a:r>
              <a:rPr lang="en-GB" sz="1200" b="1" kern="1200" dirty="0"/>
              <a:t> </a:t>
            </a:r>
            <a:r>
              <a:rPr lang="en-GB" sz="1200" b="1" kern="1200" dirty="0" err="1"/>
              <a:t>estruturais</a:t>
            </a:r>
            <a:endParaRPr lang="en-GB" b="1" dirty="0"/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b="1" u="sng" dirty="0"/>
              <a:t>O </a:t>
            </a:r>
            <a:r>
              <a:rPr lang="en-GB" b="1" u="sng" dirty="0" err="1"/>
              <a:t>que</a:t>
            </a:r>
            <a:r>
              <a:rPr lang="en-GB" b="1" u="sng" dirty="0"/>
              <a:t> </a:t>
            </a:r>
            <a:r>
              <a:rPr lang="en-GB" b="1" u="sng" dirty="0" err="1"/>
              <a:t>deveriams</a:t>
            </a:r>
            <a:r>
              <a:rPr lang="en-GB" b="1" u="sng" dirty="0"/>
              <a:t> </a:t>
            </a:r>
            <a:r>
              <a:rPr lang="en-GB" b="1" u="sng" dirty="0" err="1"/>
              <a:t>fazer</a:t>
            </a:r>
            <a:r>
              <a:rPr lang="en-GB" b="1" u="sng" dirty="0"/>
              <a:t> </a:t>
            </a:r>
            <a:r>
              <a:rPr lang="en-GB" b="1" u="sng" dirty="0" err="1"/>
              <a:t>em</a:t>
            </a:r>
            <a:r>
              <a:rPr lang="en-GB" b="1" u="sng" dirty="0"/>
              <a:t> </a:t>
            </a:r>
            <a:r>
              <a:rPr lang="en-GB" b="1" u="sng" dirty="0" err="1"/>
              <a:t>relacao</a:t>
            </a:r>
            <a:r>
              <a:rPr lang="en-GB" b="1" u="sng" dirty="0"/>
              <a:t> </a:t>
            </a:r>
            <a:r>
              <a:rPr lang="en-GB" b="1" u="sng" dirty="0" err="1"/>
              <a:t>ao</a:t>
            </a:r>
            <a:r>
              <a:rPr lang="en-GB" b="1" u="sng" dirty="0"/>
              <a:t> detrending</a:t>
            </a:r>
          </a:p>
          <a:p>
            <a:r>
              <a:rPr lang="en-GB" dirty="0"/>
              <a:t>Assim,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vez</a:t>
            </a:r>
            <a:r>
              <a:rPr lang="en-GB" dirty="0"/>
              <a:t> de:</a:t>
            </a:r>
          </a:p>
          <a:p>
            <a:r>
              <a:rPr lang="en-GB" sz="1200" b="1" kern="1200" dirty="0" err="1"/>
              <a:t>produção</a:t>
            </a:r>
            <a:r>
              <a:rPr lang="en-GB" sz="1200" b="1" kern="1200" dirty="0"/>
              <a:t> ~ </a:t>
            </a:r>
            <a:r>
              <a:rPr lang="en-GB" sz="1200" b="1" kern="1200" dirty="0" err="1"/>
              <a:t>ano</a:t>
            </a:r>
            <a:endParaRPr lang="en-GB" b="1" dirty="0"/>
          </a:p>
          <a:p>
            <a:r>
              <a:rPr lang="en-GB" dirty="0"/>
              <a:t>seria algo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informativo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:</a:t>
            </a:r>
          </a:p>
          <a:p>
            <a:r>
              <a:rPr lang="en-GB" sz="1200" b="1" kern="1200" dirty="0" err="1"/>
              <a:t>produção</a:t>
            </a:r>
            <a:r>
              <a:rPr lang="en-GB" sz="1200" b="1" kern="1200" dirty="0"/>
              <a:t> ~ </a:t>
            </a:r>
            <a:r>
              <a:rPr lang="en-GB" sz="1200" b="1" kern="1200" dirty="0" err="1"/>
              <a:t>ano</a:t>
            </a:r>
            <a:r>
              <a:rPr lang="en-GB" sz="1200" b="1" kern="1200" dirty="0"/>
              <a:t> + </a:t>
            </a:r>
            <a:r>
              <a:rPr lang="en-GB" sz="1200" b="1" kern="1200" dirty="0" err="1"/>
              <a:t>área</a:t>
            </a:r>
            <a:r>
              <a:rPr lang="en-GB" sz="1200" b="1" kern="1200" dirty="0"/>
              <a:t> </a:t>
            </a:r>
            <a:r>
              <a:rPr lang="en-GB" sz="1200" b="1" kern="1200" dirty="0" err="1"/>
              <a:t>plantada</a:t>
            </a:r>
            <a:r>
              <a:rPr lang="en-GB" sz="1200" b="1" kern="1200" dirty="0"/>
              <a:t> + quotas + nº </a:t>
            </a:r>
            <a:r>
              <a:rPr lang="en-GB" sz="1200" b="1" kern="1200" dirty="0" err="1"/>
              <a:t>produtores</a:t>
            </a:r>
            <a:r>
              <a:rPr lang="en-GB" sz="1200" b="1" kern="1200" dirty="0"/>
              <a:t> + </a:t>
            </a:r>
            <a:r>
              <a:rPr lang="en-GB" sz="1200" b="1" kern="1200" dirty="0" err="1"/>
              <a:t>indicadores</a:t>
            </a:r>
            <a:r>
              <a:rPr lang="en-GB" sz="1200" b="1" kern="1200" dirty="0"/>
              <a:t> </a:t>
            </a:r>
            <a:r>
              <a:rPr lang="en-GB" sz="1200" b="1" kern="1200" dirty="0" err="1"/>
              <a:t>estruturais</a:t>
            </a:r>
            <a:endParaRPr lang="en-GB" b="1" dirty="0"/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razão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estrutural</a:t>
            </a:r>
            <a:r>
              <a:rPr lang="en-GB" sz="1200" b="0" i="0" kern="1200" dirty="0">
                <a:effectLst/>
              </a:rPr>
              <a:t>: o tempo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única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covariável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utilizada</a:t>
            </a:r>
            <a:r>
              <a:rPr lang="en-GB" sz="1200" b="0" i="0" kern="1200" dirty="0">
                <a:effectLst/>
              </a:rPr>
              <a:t> no </a:t>
            </a:r>
            <a:r>
              <a:rPr lang="en-GB" sz="1200" b="0" i="1" kern="1200" dirty="0">
                <a:effectLst/>
              </a:rPr>
              <a:t>detrending</a:t>
            </a:r>
            <a:r>
              <a:rPr lang="en-GB" sz="1200" b="0" i="0" kern="1200" dirty="0">
                <a:effectLst/>
              </a:rPr>
              <a:t>. Por </a:t>
            </a:r>
            <a:r>
              <a:rPr lang="en-GB" sz="1200" b="0" i="0" kern="1200" dirty="0" err="1">
                <a:effectLst/>
              </a:rPr>
              <a:t>isso</a:t>
            </a:r>
            <a:r>
              <a:rPr lang="en-GB" sz="1200" b="0" i="0" kern="1200" dirty="0">
                <a:effectLst/>
              </a:rPr>
              <a:t>, o </a:t>
            </a:r>
            <a:r>
              <a:rPr lang="en-GB" sz="1200" b="0" i="0" kern="1200" dirty="0" err="1">
                <a:effectLst/>
              </a:rPr>
              <a:t>modelo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consegue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separar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adequadamente</a:t>
            </a:r>
            <a:r>
              <a:rPr lang="en-GB" sz="1200" b="0" i="0" kern="1200" dirty="0">
                <a:effectLst/>
              </a:rPr>
              <a:t> as </a:t>
            </a:r>
            <a:r>
              <a:rPr lang="en-GB" sz="1200" b="0" i="0" kern="1200" dirty="0" err="1">
                <a:effectLst/>
              </a:rPr>
              <a:t>transformações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setor</a:t>
            </a:r>
            <a:r>
              <a:rPr lang="en-GB" sz="1200" b="0" i="0" kern="1200" dirty="0">
                <a:effectLst/>
              </a:rPr>
              <a:t> dos </a:t>
            </a:r>
            <a:r>
              <a:rPr lang="en-GB" sz="1200" b="0" i="0" kern="1200" dirty="0" err="1">
                <a:effectLst/>
              </a:rPr>
              <a:t>efeitos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climáticos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Este framework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aplicável</a:t>
            </a:r>
            <a:r>
              <a:rPr lang="en-GB" sz="1200" b="0" i="0" kern="1200" dirty="0">
                <a:effectLst/>
              </a:rPr>
              <a:t> a outros </a:t>
            </a:r>
            <a:r>
              <a:rPr lang="en-GB" sz="1200" b="0" i="0" kern="1200" dirty="0" err="1">
                <a:effectLst/>
              </a:rPr>
              <a:t>problemas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agroclimática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utilizem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séries</a:t>
            </a:r>
            <a:r>
              <a:rPr lang="en-GB" sz="1200" b="0" i="0" kern="1200" dirty="0">
                <a:effectLst/>
              </a:rPr>
              <a:t> longas e </a:t>
            </a:r>
            <a:r>
              <a:rPr lang="en-GB" sz="1200" b="0" i="0" kern="1200" dirty="0" err="1">
                <a:effectLst/>
              </a:rPr>
              <a:t>estruturalmente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estacionárias</a:t>
            </a:r>
            <a:r>
              <a:rPr lang="en-GB" sz="1200" b="0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A </a:t>
            </a:r>
            <a:r>
              <a:rPr lang="en-GB" sz="1200" b="0" i="0" kern="1200" dirty="0" err="1">
                <a:effectLst/>
              </a:rPr>
              <a:t>tensão</a:t>
            </a:r>
            <a:r>
              <a:rPr lang="en-GB" sz="1200" b="0" i="0" kern="1200" dirty="0">
                <a:effectLst/>
              </a:rPr>
              <a:t> entre </a:t>
            </a:r>
            <a:r>
              <a:rPr lang="en-GB" sz="1200" b="0" i="0" kern="1200" dirty="0" err="1">
                <a:effectLst/>
              </a:rPr>
              <a:t>modelar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preservar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exclusiva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caso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dirty="0"/>
              <a:t>Sim, </a:t>
            </a:r>
            <a:r>
              <a:rPr lang="en-GB" dirty="0" err="1"/>
              <a:t>exatamente</a:t>
            </a:r>
            <a:r>
              <a:rPr lang="en-GB" dirty="0"/>
              <a:t>. A </a:t>
            </a:r>
            <a:r>
              <a:rPr lang="en-GB" dirty="0" err="1"/>
              <a:t>ideia</a:t>
            </a:r>
            <a:r>
              <a:rPr lang="en-GB" dirty="0"/>
              <a:t> </a:t>
            </a:r>
            <a:r>
              <a:rPr lang="en-GB" dirty="0" err="1"/>
              <a:t>é</a:t>
            </a:r>
            <a:r>
              <a:rPr lang="en-GB" dirty="0"/>
              <a:t>: </a:t>
            </a:r>
            <a:r>
              <a:rPr lang="en-GB" b="1" dirty="0"/>
              <a:t>o detrending </a:t>
            </a:r>
            <a:r>
              <a:rPr lang="en-GB" b="1" dirty="0" err="1"/>
              <a:t>não</a:t>
            </a:r>
            <a:r>
              <a:rPr lang="en-GB" b="1" dirty="0"/>
              <a:t> </a:t>
            </a:r>
            <a:r>
              <a:rPr lang="en-GB" b="1" dirty="0" err="1"/>
              <a:t>devia</a:t>
            </a:r>
            <a:r>
              <a:rPr lang="en-GB" b="1" dirty="0"/>
              <a:t> </a:t>
            </a:r>
            <a:r>
              <a:rPr lang="en-GB" b="1" dirty="0" err="1"/>
              <a:t>depender</a:t>
            </a:r>
            <a:r>
              <a:rPr lang="en-GB" b="1" dirty="0"/>
              <a:t> </a:t>
            </a:r>
            <a:r>
              <a:rPr lang="en-GB" b="1" dirty="0" err="1"/>
              <a:t>apenas</a:t>
            </a:r>
            <a:r>
              <a:rPr lang="en-GB" b="1" dirty="0"/>
              <a:t> do tempo</a:t>
            </a:r>
            <a:r>
              <a:rPr lang="en-GB" dirty="0"/>
              <a:t>.</a:t>
            </a:r>
          </a:p>
          <a:p>
            <a:r>
              <a:rPr lang="en-GB" dirty="0"/>
              <a:t>Neste </a:t>
            </a:r>
            <a:r>
              <a:rPr lang="en-GB" dirty="0" err="1"/>
              <a:t>trabalho</a:t>
            </a:r>
            <a:r>
              <a:rPr lang="en-GB" dirty="0"/>
              <a:t>, a </a:t>
            </a:r>
            <a:r>
              <a:rPr lang="en-GB" dirty="0" err="1"/>
              <a:t>tendência</a:t>
            </a:r>
            <a:r>
              <a:rPr lang="en-GB" dirty="0"/>
              <a:t> </a:t>
            </a:r>
            <a:r>
              <a:rPr lang="en-GB" dirty="0" err="1"/>
              <a:t>estrutural</a:t>
            </a:r>
            <a:r>
              <a:rPr lang="en-GB" dirty="0"/>
              <a:t> </a:t>
            </a:r>
            <a:r>
              <a:rPr lang="en-GB" dirty="0" err="1"/>
              <a:t>foi</a:t>
            </a:r>
            <a:r>
              <a:rPr lang="en-GB" dirty="0"/>
              <a:t> </a:t>
            </a:r>
            <a:r>
              <a:rPr lang="en-GB" dirty="0" err="1"/>
              <a:t>modelada</a:t>
            </a:r>
            <a:r>
              <a:rPr lang="en-GB" dirty="0"/>
              <a:t> </a:t>
            </a:r>
            <a:r>
              <a:rPr lang="en-GB" dirty="0" err="1"/>
              <a:t>sobretudo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função</a:t>
            </a:r>
            <a:r>
              <a:rPr lang="en-GB" dirty="0"/>
              <a:t> do </a:t>
            </a:r>
            <a:r>
              <a:rPr lang="en-GB" dirty="0" err="1"/>
              <a:t>ano</a:t>
            </a:r>
            <a:r>
              <a:rPr lang="en-GB" dirty="0"/>
              <a:t>. </a:t>
            </a:r>
            <a:r>
              <a:rPr lang="en-GB" dirty="0" err="1"/>
              <a:t>Isso</a:t>
            </a:r>
            <a:r>
              <a:rPr lang="en-GB" dirty="0"/>
              <a:t> remove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parte</a:t>
            </a:r>
            <a:r>
              <a:rPr lang="en-GB" dirty="0"/>
              <a:t> da </a:t>
            </a:r>
            <a:r>
              <a:rPr lang="en-GB" dirty="0" err="1"/>
              <a:t>evolução</a:t>
            </a:r>
            <a:r>
              <a:rPr lang="en-GB" dirty="0"/>
              <a:t> </a:t>
            </a:r>
            <a:r>
              <a:rPr lang="en-GB" dirty="0" err="1"/>
              <a:t>histórica</a:t>
            </a:r>
            <a:r>
              <a:rPr lang="en-GB" dirty="0"/>
              <a:t>, mas </a:t>
            </a:r>
            <a:r>
              <a:rPr lang="en-GB" dirty="0" err="1"/>
              <a:t>não</a:t>
            </a:r>
            <a:r>
              <a:rPr lang="en-GB" dirty="0"/>
              <a:t> sabe </a:t>
            </a:r>
            <a:r>
              <a:rPr lang="en-GB" i="1" dirty="0" err="1"/>
              <a:t>porquê</a:t>
            </a:r>
            <a:r>
              <a:rPr lang="en-GB" dirty="0"/>
              <a:t> a </a:t>
            </a:r>
            <a:r>
              <a:rPr lang="en-GB" dirty="0" err="1"/>
              <a:t>produção</a:t>
            </a:r>
            <a:r>
              <a:rPr lang="en-GB" dirty="0"/>
              <a:t> </a:t>
            </a:r>
            <a:r>
              <a:rPr lang="en-GB" dirty="0" err="1"/>
              <a:t>mudou</a:t>
            </a:r>
            <a:r>
              <a:rPr lang="en-GB" dirty="0"/>
              <a:t>. </a:t>
            </a:r>
            <a:r>
              <a:rPr lang="en-GB" dirty="0" err="1"/>
              <a:t>Portanto</a:t>
            </a:r>
            <a:r>
              <a:rPr lang="en-GB" dirty="0"/>
              <a:t>, </a:t>
            </a:r>
            <a:r>
              <a:rPr lang="en-GB" dirty="0" err="1"/>
              <a:t>pode</a:t>
            </a:r>
            <a:r>
              <a:rPr lang="en-GB" dirty="0"/>
              <a:t> </a:t>
            </a:r>
            <a:r>
              <a:rPr lang="en-GB" dirty="0" err="1"/>
              <a:t>misturar</a:t>
            </a:r>
            <a:r>
              <a:rPr lang="en-GB" dirty="0"/>
              <a:t> </a:t>
            </a:r>
            <a:r>
              <a:rPr lang="en-GB" dirty="0" err="1"/>
              <a:t>coisas</a:t>
            </a:r>
            <a:r>
              <a:rPr lang="en-GB" dirty="0"/>
              <a:t> </a:t>
            </a:r>
            <a:r>
              <a:rPr lang="en-GB" dirty="0" err="1"/>
              <a:t>muito</a:t>
            </a:r>
            <a:r>
              <a:rPr lang="en-GB" dirty="0"/>
              <a:t> </a:t>
            </a:r>
            <a:r>
              <a:rPr lang="en-GB" dirty="0" err="1"/>
              <a:t>diferentes</a:t>
            </a:r>
            <a:r>
              <a:rPr lang="en-GB" dirty="0"/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alterações</a:t>
            </a:r>
            <a:r>
              <a:rPr lang="en-GB" dirty="0"/>
              <a:t> de </a:t>
            </a:r>
            <a:r>
              <a:rPr lang="en-GB" dirty="0" err="1"/>
              <a:t>área</a:t>
            </a:r>
            <a:r>
              <a:rPr lang="en-GB" dirty="0"/>
              <a:t> </a:t>
            </a:r>
            <a:r>
              <a:rPr lang="en-GB" dirty="0" err="1"/>
              <a:t>plantada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número</a:t>
            </a:r>
            <a:r>
              <a:rPr lang="en-GB" dirty="0"/>
              <a:t> de </a:t>
            </a:r>
            <a:r>
              <a:rPr lang="en-GB" dirty="0" err="1"/>
              <a:t>produtores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quotas / </a:t>
            </a:r>
            <a:r>
              <a:rPr lang="en-GB" dirty="0" err="1"/>
              <a:t>benefício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políticas</a:t>
            </a:r>
            <a:r>
              <a:rPr lang="en-GB" dirty="0"/>
              <a:t> </a:t>
            </a:r>
            <a:r>
              <a:rPr lang="en-GB" dirty="0" err="1"/>
              <a:t>agrícolas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mecanização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mudanças</a:t>
            </a:r>
            <a:r>
              <a:rPr lang="en-GB" dirty="0"/>
              <a:t> de </a:t>
            </a:r>
            <a:r>
              <a:rPr lang="en-GB" dirty="0" err="1"/>
              <a:t>castas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práticas</a:t>
            </a:r>
            <a:r>
              <a:rPr lang="en-GB" dirty="0"/>
              <a:t> </a:t>
            </a:r>
            <a:r>
              <a:rPr lang="en-GB" dirty="0" err="1"/>
              <a:t>vitícolas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abandono</a:t>
            </a:r>
            <a:r>
              <a:rPr lang="en-GB" dirty="0"/>
              <a:t> de </a:t>
            </a:r>
            <a:r>
              <a:rPr lang="en-GB" dirty="0" err="1"/>
              <a:t>vinha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produtividade</a:t>
            </a:r>
            <a:r>
              <a:rPr lang="en-GB" dirty="0"/>
              <a:t> </a:t>
            </a:r>
            <a:r>
              <a:rPr lang="en-GB" dirty="0" err="1"/>
              <a:t>estrutural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efeitos</a:t>
            </a:r>
            <a:r>
              <a:rPr lang="en-GB" dirty="0"/>
              <a:t> de mercado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O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poderia</a:t>
            </a:r>
            <a:r>
              <a:rPr lang="en-GB" dirty="0"/>
              <a:t> ser </a:t>
            </a:r>
            <a:r>
              <a:rPr lang="en-GB" dirty="0" err="1"/>
              <a:t>feito</a:t>
            </a:r>
            <a:r>
              <a:rPr lang="en-GB" dirty="0"/>
              <a:t> no </a:t>
            </a:r>
            <a:r>
              <a:rPr lang="en-GB" dirty="0" err="1"/>
              <a:t>futuro</a:t>
            </a:r>
            <a:r>
              <a:rPr lang="en-GB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 err="1"/>
              <a:t>incluir</a:t>
            </a:r>
            <a:r>
              <a:rPr lang="en-GB" b="1" dirty="0"/>
              <a:t> </a:t>
            </a:r>
            <a:r>
              <a:rPr lang="en-GB" b="1" dirty="0" err="1"/>
              <a:t>covariáveis</a:t>
            </a:r>
            <a:r>
              <a:rPr lang="en-GB" b="1" dirty="0"/>
              <a:t> </a:t>
            </a:r>
            <a:r>
              <a:rPr lang="en-GB" b="1" dirty="0" err="1"/>
              <a:t>estruturais</a:t>
            </a:r>
            <a:r>
              <a:rPr lang="en-GB" b="1" dirty="0"/>
              <a:t> no </a:t>
            </a:r>
            <a:r>
              <a:rPr lang="en-GB" b="1" dirty="0" err="1"/>
              <a:t>modelo</a:t>
            </a:r>
            <a:r>
              <a:rPr lang="en-GB" b="1" dirty="0"/>
              <a:t> de </a:t>
            </a:r>
            <a:r>
              <a:rPr lang="en-GB" b="1" dirty="0" err="1"/>
              <a:t>tendência</a:t>
            </a:r>
            <a:r>
              <a:rPr lang="en-GB" dirty="0"/>
              <a:t>,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exemplo</a:t>
            </a:r>
            <a:r>
              <a:rPr lang="en-GB" dirty="0"/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área</a:t>
            </a:r>
            <a:r>
              <a:rPr lang="en-GB" dirty="0"/>
              <a:t> de </a:t>
            </a:r>
            <a:r>
              <a:rPr lang="en-GB" dirty="0" err="1"/>
              <a:t>vinha</a:t>
            </a:r>
            <a:r>
              <a:rPr lang="en-GB" dirty="0"/>
              <a:t> </a:t>
            </a:r>
            <a:r>
              <a:rPr lang="en-GB" dirty="0" err="1"/>
              <a:t>plantada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área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produção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número</a:t>
            </a:r>
            <a:r>
              <a:rPr lang="en-GB" dirty="0"/>
              <a:t> de </a:t>
            </a:r>
            <a:r>
              <a:rPr lang="en-GB" dirty="0" err="1"/>
              <a:t>produtores</a:t>
            </a:r>
            <a:r>
              <a:rPr lang="en-GB" dirty="0"/>
              <a:t> </a:t>
            </a:r>
            <a:r>
              <a:rPr lang="en-GB" dirty="0" err="1"/>
              <a:t>certificados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quotas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benefício</a:t>
            </a:r>
            <a:r>
              <a:rPr lang="en-GB" dirty="0"/>
              <a:t> </a:t>
            </a:r>
            <a:r>
              <a:rPr lang="en-GB" dirty="0" err="1"/>
              <a:t>autorizado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volume de </a:t>
            </a:r>
            <a:r>
              <a:rPr lang="en-GB" dirty="0" err="1"/>
              <a:t>produção</a:t>
            </a:r>
            <a:r>
              <a:rPr lang="en-GB" dirty="0"/>
              <a:t> </a:t>
            </a:r>
            <a:r>
              <a:rPr lang="en-GB" dirty="0" err="1"/>
              <a:t>autorizado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indicadores</a:t>
            </a:r>
            <a:r>
              <a:rPr lang="en-GB" dirty="0"/>
              <a:t> de </a:t>
            </a:r>
            <a:r>
              <a:rPr lang="en-GB" dirty="0" err="1"/>
              <a:t>política</a:t>
            </a:r>
            <a:r>
              <a:rPr lang="en-GB" dirty="0"/>
              <a:t> </a:t>
            </a:r>
            <a:r>
              <a:rPr lang="en-GB" dirty="0" err="1"/>
              <a:t>agrícola</a:t>
            </a:r>
            <a:r>
              <a:rPr lang="en-GB" dirty="0"/>
              <a:t> / </a:t>
            </a:r>
            <a:r>
              <a:rPr lang="en-GB" dirty="0" err="1"/>
              <a:t>adesão</a:t>
            </a:r>
            <a:r>
              <a:rPr lang="en-GB" dirty="0"/>
              <a:t> à UE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produtividade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hectare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 err="1"/>
              <a:t>idade</a:t>
            </a:r>
            <a:r>
              <a:rPr lang="en-GB" dirty="0"/>
              <a:t> </a:t>
            </a:r>
            <a:r>
              <a:rPr lang="en-GB" dirty="0" err="1"/>
              <a:t>média</a:t>
            </a:r>
            <a:r>
              <a:rPr lang="en-GB" dirty="0"/>
              <a:t> da </a:t>
            </a:r>
            <a:r>
              <a:rPr lang="en-GB" dirty="0" err="1"/>
              <a:t>vinha</a:t>
            </a:r>
            <a:r>
              <a:rPr lang="en-GB" dirty="0"/>
              <a:t>, se </a:t>
            </a:r>
            <a:r>
              <a:rPr lang="en-GB" dirty="0" err="1"/>
              <a:t>existir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sub-</a:t>
            </a:r>
            <a:r>
              <a:rPr lang="en-GB" dirty="0" err="1"/>
              <a:t>região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altitude, se </a:t>
            </a:r>
            <a:r>
              <a:rPr lang="en-GB" dirty="0" err="1"/>
              <a:t>houver</a:t>
            </a:r>
            <a:r>
              <a:rPr lang="en-GB" dirty="0"/>
              <a:t> dados </a:t>
            </a:r>
            <a:r>
              <a:rPr lang="en-GB" dirty="0" err="1"/>
              <a:t>espaciais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Assim,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vez</a:t>
            </a:r>
            <a:r>
              <a:rPr lang="en-GB" dirty="0"/>
              <a:t> de:</a:t>
            </a:r>
          </a:p>
          <a:p>
            <a:r>
              <a:rPr lang="en-GB" sz="1200" b="1" kern="1200" dirty="0" err="1"/>
              <a:t>produção</a:t>
            </a:r>
            <a:r>
              <a:rPr lang="en-GB" sz="1200" b="1" kern="1200" dirty="0"/>
              <a:t> ~ </a:t>
            </a:r>
            <a:r>
              <a:rPr lang="en-GB" sz="1200" b="1" kern="1200" dirty="0" err="1"/>
              <a:t>ano</a:t>
            </a:r>
            <a:endParaRPr lang="en-GB" b="1" dirty="0"/>
          </a:p>
          <a:p>
            <a:r>
              <a:rPr lang="en-GB" dirty="0"/>
              <a:t>seria algo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informativo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:</a:t>
            </a:r>
          </a:p>
          <a:p>
            <a:r>
              <a:rPr lang="en-GB" sz="1200" b="1" kern="1200" dirty="0" err="1"/>
              <a:t>produção</a:t>
            </a:r>
            <a:r>
              <a:rPr lang="en-GB" sz="1200" b="1" kern="1200" dirty="0"/>
              <a:t> ~ </a:t>
            </a:r>
            <a:r>
              <a:rPr lang="en-GB" sz="1200" b="1" kern="1200" dirty="0" err="1"/>
              <a:t>ano</a:t>
            </a:r>
            <a:r>
              <a:rPr lang="en-GB" sz="1200" b="1" kern="1200" dirty="0"/>
              <a:t> + </a:t>
            </a:r>
            <a:r>
              <a:rPr lang="en-GB" sz="1200" b="1" kern="1200" dirty="0" err="1"/>
              <a:t>área</a:t>
            </a:r>
            <a:r>
              <a:rPr lang="en-GB" sz="1200" b="1" kern="1200" dirty="0"/>
              <a:t> </a:t>
            </a:r>
            <a:r>
              <a:rPr lang="en-GB" sz="1200" b="1" kern="1200" dirty="0" err="1"/>
              <a:t>plantada</a:t>
            </a:r>
            <a:r>
              <a:rPr lang="en-GB" sz="1200" b="1" kern="1200" dirty="0"/>
              <a:t> + quotas + nº </a:t>
            </a:r>
            <a:r>
              <a:rPr lang="en-GB" sz="1200" b="1" kern="1200" dirty="0" err="1"/>
              <a:t>produtores</a:t>
            </a:r>
            <a:r>
              <a:rPr lang="en-GB" sz="1200" b="1" kern="1200" dirty="0"/>
              <a:t> + </a:t>
            </a:r>
            <a:r>
              <a:rPr lang="en-GB" sz="1200" b="1" kern="1200" dirty="0" err="1"/>
              <a:t>indicadores</a:t>
            </a:r>
            <a:r>
              <a:rPr lang="en-GB" sz="1200" b="1" kern="1200" dirty="0"/>
              <a:t> </a:t>
            </a:r>
            <a:r>
              <a:rPr lang="en-GB" sz="1200" b="1" kern="1200" dirty="0" err="1"/>
              <a:t>estruturais</a:t>
            </a:r>
            <a:endParaRPr lang="en-GB" b="1" dirty="0"/>
          </a:p>
          <a:p>
            <a:r>
              <a:rPr lang="en-GB" dirty="0"/>
              <a:t>A </a:t>
            </a:r>
            <a:r>
              <a:rPr lang="en-GB" dirty="0" err="1"/>
              <a:t>frase</a:t>
            </a:r>
            <a:r>
              <a:rPr lang="en-GB" dirty="0"/>
              <a:t> para </a:t>
            </a:r>
            <a:r>
              <a:rPr lang="en-GB" dirty="0" err="1"/>
              <a:t>dizeres</a:t>
            </a:r>
            <a:r>
              <a:rPr lang="en-GB" dirty="0"/>
              <a:t> </a:t>
            </a:r>
            <a:r>
              <a:rPr lang="en-GB" dirty="0" err="1"/>
              <a:t>pode</a:t>
            </a:r>
            <a:r>
              <a:rPr lang="en-GB" dirty="0"/>
              <a:t> ser:</a:t>
            </a:r>
          </a:p>
          <a:p>
            <a:r>
              <a:rPr lang="en-GB" b="1" dirty="0"/>
              <a:t>O </a:t>
            </a:r>
            <a:r>
              <a:rPr lang="en-GB" b="1" dirty="0" err="1"/>
              <a:t>próximo</a:t>
            </a:r>
            <a:r>
              <a:rPr lang="en-GB" b="1" dirty="0"/>
              <a:t> </a:t>
            </a:r>
            <a:r>
              <a:rPr lang="en-GB" b="1" dirty="0" err="1"/>
              <a:t>passo</a:t>
            </a:r>
            <a:r>
              <a:rPr lang="en-GB" b="1" dirty="0"/>
              <a:t> seria </a:t>
            </a:r>
            <a:r>
              <a:rPr lang="en-GB" b="1" dirty="0" err="1"/>
              <a:t>substituir</a:t>
            </a:r>
            <a:r>
              <a:rPr lang="en-GB" b="1" dirty="0"/>
              <a:t> um detrending </a:t>
            </a:r>
            <a:r>
              <a:rPr lang="en-GB" b="1" dirty="0" err="1"/>
              <a:t>baseado</a:t>
            </a:r>
            <a:r>
              <a:rPr lang="en-GB" b="1" dirty="0"/>
              <a:t> </a:t>
            </a:r>
            <a:r>
              <a:rPr lang="en-GB" b="1" dirty="0" err="1"/>
              <a:t>apenas</a:t>
            </a:r>
            <a:r>
              <a:rPr lang="en-GB" b="1" dirty="0"/>
              <a:t> no tempo </a:t>
            </a:r>
            <a:r>
              <a:rPr lang="en-GB" b="1" dirty="0" err="1"/>
              <a:t>por</a:t>
            </a:r>
            <a:r>
              <a:rPr lang="en-GB" b="1" dirty="0"/>
              <a:t> um </a:t>
            </a:r>
            <a:r>
              <a:rPr lang="en-GB" b="1" dirty="0" err="1"/>
              <a:t>modelo</a:t>
            </a:r>
            <a:r>
              <a:rPr lang="en-GB" b="1" dirty="0"/>
              <a:t> </a:t>
            </a:r>
            <a:r>
              <a:rPr lang="en-GB" b="1" dirty="0" err="1"/>
              <a:t>estrutural</a:t>
            </a:r>
            <a:r>
              <a:rPr lang="en-GB" b="1" dirty="0"/>
              <a:t> da </a:t>
            </a:r>
            <a:r>
              <a:rPr lang="en-GB" b="1" dirty="0" err="1"/>
              <a:t>produção</a:t>
            </a:r>
            <a:r>
              <a:rPr lang="en-GB" b="1" dirty="0"/>
              <a:t>, </a:t>
            </a:r>
            <a:r>
              <a:rPr lang="en-GB" b="1" dirty="0" err="1"/>
              <a:t>incorporando</a:t>
            </a:r>
            <a:r>
              <a:rPr lang="en-GB" b="1" dirty="0"/>
              <a:t> </a:t>
            </a:r>
            <a:r>
              <a:rPr lang="en-GB" b="1" dirty="0" err="1"/>
              <a:t>variáveis</a:t>
            </a:r>
            <a:r>
              <a:rPr lang="en-GB" b="1" dirty="0"/>
              <a:t> </a:t>
            </a:r>
            <a:r>
              <a:rPr lang="en-GB" b="1" dirty="0" err="1"/>
              <a:t>como</a:t>
            </a:r>
            <a:r>
              <a:rPr lang="en-GB" b="1" dirty="0"/>
              <a:t> </a:t>
            </a:r>
            <a:r>
              <a:rPr lang="en-GB" b="1" dirty="0" err="1"/>
              <a:t>área</a:t>
            </a:r>
            <a:r>
              <a:rPr lang="en-GB" b="1" dirty="0"/>
              <a:t> </a:t>
            </a:r>
            <a:r>
              <a:rPr lang="en-GB" b="1" dirty="0" err="1"/>
              <a:t>plantada</a:t>
            </a:r>
            <a:r>
              <a:rPr lang="en-GB" b="1" dirty="0"/>
              <a:t>, quotas, </a:t>
            </a:r>
            <a:r>
              <a:rPr lang="en-GB" b="1" dirty="0" err="1"/>
              <a:t>número</a:t>
            </a:r>
            <a:r>
              <a:rPr lang="en-GB" b="1" dirty="0"/>
              <a:t> de </a:t>
            </a:r>
            <a:r>
              <a:rPr lang="en-GB" b="1" dirty="0" err="1"/>
              <a:t>produtores</a:t>
            </a:r>
            <a:r>
              <a:rPr lang="en-GB" b="1" dirty="0"/>
              <a:t> </a:t>
            </a:r>
            <a:r>
              <a:rPr lang="en-GB" b="1" dirty="0" err="1"/>
              <a:t>certificados</a:t>
            </a:r>
            <a:r>
              <a:rPr lang="en-GB" b="1" dirty="0"/>
              <a:t> </a:t>
            </a:r>
            <a:r>
              <a:rPr lang="en-GB" b="1" dirty="0" err="1"/>
              <a:t>ou</a:t>
            </a:r>
            <a:r>
              <a:rPr lang="en-GB" b="1" dirty="0"/>
              <a:t> outros </a:t>
            </a:r>
            <a:r>
              <a:rPr lang="en-GB" b="1" dirty="0" err="1"/>
              <a:t>indicadores</a:t>
            </a:r>
            <a:r>
              <a:rPr lang="en-GB" b="1" dirty="0"/>
              <a:t> do </a:t>
            </a:r>
            <a:r>
              <a:rPr lang="en-GB" b="1" dirty="0" err="1"/>
              <a:t>setor</a:t>
            </a:r>
            <a:r>
              <a:rPr lang="en-GB" b="1" dirty="0"/>
              <a:t>. </a:t>
            </a:r>
            <a:r>
              <a:rPr lang="en-GB" b="1" dirty="0" err="1"/>
              <a:t>Isso</a:t>
            </a:r>
            <a:r>
              <a:rPr lang="en-GB" b="1" dirty="0"/>
              <a:t> </a:t>
            </a:r>
            <a:r>
              <a:rPr lang="en-GB" b="1" dirty="0" err="1"/>
              <a:t>permitiria</a:t>
            </a:r>
            <a:r>
              <a:rPr lang="en-GB" b="1" dirty="0"/>
              <a:t> </a:t>
            </a:r>
            <a:r>
              <a:rPr lang="en-GB" b="1" dirty="0" err="1"/>
              <a:t>separar</a:t>
            </a:r>
            <a:r>
              <a:rPr lang="en-GB" b="1" dirty="0"/>
              <a:t> </a:t>
            </a:r>
            <a:r>
              <a:rPr lang="en-GB" b="1" dirty="0" err="1"/>
              <a:t>melhor</a:t>
            </a:r>
            <a:r>
              <a:rPr lang="en-GB" b="1" dirty="0"/>
              <a:t> a </a:t>
            </a:r>
            <a:r>
              <a:rPr lang="en-GB" b="1" dirty="0" err="1"/>
              <a:t>evolução</a:t>
            </a:r>
            <a:r>
              <a:rPr lang="en-GB" b="1" dirty="0"/>
              <a:t> </a:t>
            </a:r>
            <a:r>
              <a:rPr lang="en-GB" b="1" dirty="0" err="1"/>
              <a:t>estrutural</a:t>
            </a:r>
            <a:r>
              <a:rPr lang="en-GB" b="1" dirty="0"/>
              <a:t> da </a:t>
            </a:r>
            <a:r>
              <a:rPr lang="en-GB" b="1" dirty="0" err="1"/>
              <a:t>região</a:t>
            </a:r>
            <a:r>
              <a:rPr lang="en-GB" b="1" dirty="0"/>
              <a:t> do </a:t>
            </a:r>
            <a:r>
              <a:rPr lang="en-GB" b="1" dirty="0" err="1"/>
              <a:t>sinal</a:t>
            </a:r>
            <a:r>
              <a:rPr lang="en-GB" b="1" dirty="0"/>
              <a:t> </a:t>
            </a:r>
            <a:r>
              <a:rPr lang="en-GB" b="1" dirty="0" err="1"/>
              <a:t>climático</a:t>
            </a:r>
            <a:r>
              <a:rPr lang="en-GB" b="1" dirty="0"/>
              <a:t> residual </a:t>
            </a:r>
            <a:r>
              <a:rPr lang="en-GB" b="1" dirty="0" err="1"/>
              <a:t>que</a:t>
            </a:r>
            <a:r>
              <a:rPr lang="en-GB" b="1" dirty="0"/>
              <a:t> as </a:t>
            </a:r>
            <a:r>
              <a:rPr lang="en-GB" b="1" dirty="0" err="1"/>
              <a:t>regras</a:t>
            </a:r>
            <a:r>
              <a:rPr lang="en-GB" b="1" dirty="0"/>
              <a:t> </a:t>
            </a:r>
            <a:r>
              <a:rPr lang="en-GB" b="1" dirty="0" err="1"/>
              <a:t>tentam</a:t>
            </a:r>
            <a:r>
              <a:rPr lang="en-GB" b="1" dirty="0"/>
              <a:t> </a:t>
            </a:r>
            <a:r>
              <a:rPr lang="en-GB" b="1" dirty="0" err="1"/>
              <a:t>capturar</a:t>
            </a:r>
            <a:r>
              <a:rPr lang="en-GB" b="1" dirty="0"/>
              <a:t>.</a:t>
            </a:r>
            <a:endParaRPr lang="en-GB" dirty="0"/>
          </a:p>
          <a:p>
            <a:r>
              <a:rPr lang="en-GB" sz="1200" b="0" i="0" kern="1200" dirty="0">
                <a:effectLst/>
              </a:rPr>
              <a:t>NOTAS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-----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dirty="0" err="1"/>
              <a:t>Sobre</a:t>
            </a:r>
            <a:r>
              <a:rPr lang="en-GB" dirty="0"/>
              <a:t> a </a:t>
            </a:r>
            <a:r>
              <a:rPr lang="en-GB" dirty="0" err="1"/>
              <a:t>correlação</a:t>
            </a:r>
            <a:r>
              <a:rPr lang="en-GB" dirty="0"/>
              <a:t>:</a:t>
            </a:r>
          </a:p>
          <a:p>
            <a:r>
              <a:rPr lang="en-GB" dirty="0"/>
              <a:t>O </a:t>
            </a:r>
            <a:r>
              <a:rPr lang="en-GB" sz="1200" kern="1200" dirty="0"/>
              <a:t>|r| ≈ 0.47</a:t>
            </a:r>
            <a:r>
              <a:rPr lang="en-GB" dirty="0"/>
              <a:t> </a:t>
            </a:r>
            <a:r>
              <a:rPr lang="en-GB" dirty="0" err="1"/>
              <a:t>vem</a:t>
            </a:r>
            <a:r>
              <a:rPr lang="en-GB" dirty="0"/>
              <a:t> da </a:t>
            </a:r>
            <a:r>
              <a:rPr lang="en-GB" dirty="0" err="1"/>
              <a:t>análise</a:t>
            </a:r>
            <a:r>
              <a:rPr lang="en-GB" dirty="0"/>
              <a:t> </a:t>
            </a:r>
            <a:r>
              <a:rPr lang="en-GB" dirty="0" err="1"/>
              <a:t>exploratória</a:t>
            </a:r>
            <a:r>
              <a:rPr lang="en-GB" dirty="0"/>
              <a:t> das </a:t>
            </a:r>
            <a:r>
              <a:rPr lang="en-GB" b="1" dirty="0" err="1"/>
              <a:t>correlações</a:t>
            </a:r>
            <a:r>
              <a:rPr lang="en-GB" b="1" dirty="0"/>
              <a:t> de Pearson entre </a:t>
            </a:r>
            <a:r>
              <a:rPr lang="en-GB" b="1" dirty="0" err="1"/>
              <a:t>cada</a:t>
            </a:r>
            <a:r>
              <a:rPr lang="en-GB" b="1" dirty="0"/>
              <a:t> feature </a:t>
            </a:r>
            <a:r>
              <a:rPr lang="en-GB" b="1" dirty="0" err="1"/>
              <a:t>climática</a:t>
            </a:r>
            <a:r>
              <a:rPr lang="en-GB" b="1" dirty="0"/>
              <a:t> </a:t>
            </a:r>
            <a:r>
              <a:rPr lang="en-GB" b="1" dirty="0" err="1"/>
              <a:t>contínua</a:t>
            </a:r>
            <a:r>
              <a:rPr lang="en-GB" b="1" dirty="0"/>
              <a:t> e </a:t>
            </a:r>
            <a:r>
              <a:rPr lang="en-GB" b="1" dirty="0" err="1"/>
              <a:t>os</a:t>
            </a:r>
            <a:r>
              <a:rPr lang="en-GB" b="1" dirty="0"/>
              <a:t> </a:t>
            </a:r>
            <a:r>
              <a:rPr lang="en-GB" b="1" dirty="0" err="1"/>
              <a:t>resíduos</a:t>
            </a:r>
            <a:r>
              <a:rPr lang="en-GB" b="1" dirty="0"/>
              <a:t> da </a:t>
            </a:r>
            <a:r>
              <a:rPr lang="en-GB" b="1" dirty="0" err="1"/>
              <a:t>produção</a:t>
            </a:r>
            <a:r>
              <a:rPr lang="en-GB" b="1" dirty="0"/>
              <a:t> </a:t>
            </a:r>
            <a:r>
              <a:rPr lang="en-GB" b="1" dirty="0" err="1"/>
              <a:t>depois</a:t>
            </a:r>
            <a:r>
              <a:rPr lang="en-GB" b="1" dirty="0"/>
              <a:t> da </a:t>
            </a:r>
            <a:r>
              <a:rPr lang="en-GB" b="1" dirty="0" err="1"/>
              <a:t>remoção</a:t>
            </a:r>
            <a:r>
              <a:rPr lang="en-GB" b="1" dirty="0"/>
              <a:t> da </a:t>
            </a:r>
            <a:r>
              <a:rPr lang="en-GB" b="1" dirty="0" err="1"/>
              <a:t>tendência</a:t>
            </a:r>
            <a:r>
              <a:rPr lang="en-GB" b="1" dirty="0"/>
              <a:t> linear</a:t>
            </a:r>
            <a:r>
              <a:rPr lang="en-GB" dirty="0"/>
              <a:t>.</a:t>
            </a:r>
          </a:p>
          <a:p>
            <a:r>
              <a:rPr lang="en-GB" dirty="0"/>
              <a:t>Ou </a:t>
            </a:r>
            <a:r>
              <a:rPr lang="en-GB" dirty="0" err="1"/>
              <a:t>seja</a:t>
            </a:r>
            <a:r>
              <a:rPr lang="en-GB" dirty="0"/>
              <a:t>, o </a:t>
            </a:r>
            <a:r>
              <a:rPr lang="en-GB" dirty="0" err="1"/>
              <a:t>cálculo</a:t>
            </a:r>
            <a:r>
              <a:rPr lang="en-GB" dirty="0"/>
              <a:t> </a:t>
            </a:r>
            <a:r>
              <a:rPr lang="en-GB" dirty="0" err="1"/>
              <a:t>foi</a:t>
            </a:r>
            <a:r>
              <a:rPr lang="en-GB" dirty="0"/>
              <a:t>:</a:t>
            </a:r>
          </a:p>
          <a:p>
            <a:pPr lvl="0"/>
            <a:r>
              <a:rPr lang="en-GB" dirty="0" err="1"/>
              <a:t>Ajustaste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tendência</a:t>
            </a:r>
            <a:r>
              <a:rPr lang="en-GB" dirty="0"/>
              <a:t> linear da </a:t>
            </a:r>
            <a:r>
              <a:rPr lang="en-GB" dirty="0" err="1"/>
              <a:t>produção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longo</a:t>
            </a:r>
            <a:r>
              <a:rPr lang="en-GB" dirty="0"/>
              <a:t> do tempo:</a:t>
            </a:r>
            <a:br>
              <a:rPr lang="en-GB" dirty="0"/>
            </a:br>
            <a:r>
              <a:rPr lang="en-GB" sz="1200" kern="1200" dirty="0" err="1"/>
              <a:t>Wine_mhl</a:t>
            </a:r>
            <a:r>
              <a:rPr lang="en-GB" sz="1200" kern="1200" dirty="0"/>
              <a:t> ~ year</a:t>
            </a:r>
            <a:endParaRPr lang="en-GB" dirty="0"/>
          </a:p>
          <a:p>
            <a:pPr lvl="0"/>
            <a:r>
              <a:rPr lang="en-GB" dirty="0" err="1"/>
              <a:t>Ficaste</a:t>
            </a:r>
            <a:r>
              <a:rPr lang="en-GB" dirty="0"/>
              <a:t> com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resíduos</a:t>
            </a:r>
            <a:r>
              <a:rPr lang="en-GB" dirty="0"/>
              <a:t> dessa </a:t>
            </a:r>
            <a:r>
              <a:rPr lang="en-GB" dirty="0" err="1"/>
              <a:t>tendência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 err="1"/>
              <a:t>produção</a:t>
            </a:r>
            <a:r>
              <a:rPr lang="en-GB" dirty="0"/>
              <a:t> </a:t>
            </a:r>
            <a:r>
              <a:rPr lang="en-GB" dirty="0" err="1"/>
              <a:t>observada</a:t>
            </a:r>
            <a:r>
              <a:rPr lang="en-GB" dirty="0"/>
              <a:t> </a:t>
            </a:r>
            <a:r>
              <a:rPr lang="en-GB" dirty="0" err="1"/>
              <a:t>menos</a:t>
            </a:r>
            <a:r>
              <a:rPr lang="en-GB" dirty="0"/>
              <a:t> </a:t>
            </a:r>
            <a:r>
              <a:rPr lang="en-GB" dirty="0" err="1"/>
              <a:t>produção</a:t>
            </a:r>
            <a:r>
              <a:rPr lang="en-GB" dirty="0"/>
              <a:t> </a:t>
            </a:r>
            <a:r>
              <a:rPr lang="en-GB" dirty="0" err="1"/>
              <a:t>esperada</a:t>
            </a:r>
            <a:r>
              <a:rPr lang="en-GB" dirty="0"/>
              <a:t> pela </a:t>
            </a:r>
            <a:r>
              <a:rPr lang="en-GB" dirty="0" err="1"/>
              <a:t>tendência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Para </a:t>
            </a:r>
            <a:r>
              <a:rPr lang="en-GB" dirty="0" err="1"/>
              <a:t>cada</a:t>
            </a:r>
            <a:r>
              <a:rPr lang="en-GB" dirty="0"/>
              <a:t> feature </a:t>
            </a:r>
            <a:r>
              <a:rPr lang="en-GB" dirty="0" err="1"/>
              <a:t>climática</a:t>
            </a:r>
            <a:r>
              <a:rPr lang="en-GB" dirty="0"/>
              <a:t> </a:t>
            </a:r>
            <a:r>
              <a:rPr lang="en-GB" dirty="0" err="1"/>
              <a:t>contínua</a:t>
            </a:r>
            <a:r>
              <a:rPr lang="en-GB" dirty="0"/>
              <a:t>, </a:t>
            </a:r>
            <a:r>
              <a:rPr lang="en-GB" dirty="0" err="1"/>
              <a:t>calculaste</a:t>
            </a:r>
            <a:r>
              <a:rPr lang="en-GB" dirty="0"/>
              <a:t> a </a:t>
            </a:r>
            <a:r>
              <a:rPr lang="en-GB" dirty="0" err="1"/>
              <a:t>correlação</a:t>
            </a:r>
            <a:r>
              <a:rPr lang="en-GB" dirty="0"/>
              <a:t> de Pearson com esses </a:t>
            </a:r>
            <a:r>
              <a:rPr lang="en-GB" dirty="0" err="1"/>
              <a:t>resíduos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O </a:t>
            </a:r>
            <a:r>
              <a:rPr lang="en-GB" dirty="0" err="1"/>
              <a:t>valor</a:t>
            </a:r>
            <a:r>
              <a:rPr lang="en-GB" dirty="0"/>
              <a:t> </a:t>
            </a:r>
            <a:r>
              <a:rPr lang="en-GB" sz="1200" kern="1200" dirty="0"/>
              <a:t>|r| ≈ 0.47</a:t>
            </a:r>
            <a:r>
              <a:rPr lang="en-GB" dirty="0"/>
              <a:t> </a:t>
            </a:r>
            <a:r>
              <a:rPr lang="en-GB" dirty="0" err="1"/>
              <a:t>representa</a:t>
            </a:r>
            <a:r>
              <a:rPr lang="en-GB" dirty="0"/>
              <a:t> a </a:t>
            </a:r>
            <a:r>
              <a:rPr lang="en-GB" dirty="0" err="1"/>
              <a:t>ordem</a:t>
            </a:r>
            <a:r>
              <a:rPr lang="en-GB" dirty="0"/>
              <a:t> de </a:t>
            </a:r>
            <a:r>
              <a:rPr lang="en-GB" dirty="0" err="1"/>
              <a:t>grandeza</a:t>
            </a:r>
            <a:r>
              <a:rPr lang="en-GB" dirty="0"/>
              <a:t> da feature </a:t>
            </a:r>
            <a:r>
              <a:rPr lang="en-GB" dirty="0" err="1"/>
              <a:t>climática</a:t>
            </a:r>
            <a:r>
              <a:rPr lang="en-GB" dirty="0"/>
              <a:t> </a:t>
            </a:r>
            <a:r>
              <a:rPr lang="en-GB" dirty="0" err="1"/>
              <a:t>mais</a:t>
            </a:r>
            <a:r>
              <a:rPr lang="en-GB" dirty="0"/>
              <a:t> forte. No </a:t>
            </a:r>
            <a:r>
              <a:rPr lang="en-GB" dirty="0" err="1"/>
              <a:t>teu</a:t>
            </a:r>
            <a:r>
              <a:rPr lang="en-GB" dirty="0"/>
              <a:t> </a:t>
            </a:r>
            <a:r>
              <a:rPr lang="en-GB" dirty="0" err="1"/>
              <a:t>caso</a:t>
            </a:r>
            <a:r>
              <a:rPr lang="en-GB" dirty="0"/>
              <a:t>, </a:t>
            </a:r>
            <a:r>
              <a:rPr lang="en-GB" dirty="0" err="1"/>
              <a:t>em</a:t>
            </a:r>
            <a:r>
              <a:rPr lang="en-GB" dirty="0"/>
              <a:t> RVV, a </a:t>
            </a:r>
            <a:r>
              <a:rPr lang="en-GB" dirty="0" err="1"/>
              <a:t>água</a:t>
            </a:r>
            <a:r>
              <a:rPr lang="en-GB" dirty="0"/>
              <a:t> no solo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janela</a:t>
            </a:r>
            <a:r>
              <a:rPr lang="en-GB" dirty="0"/>
              <a:t> da </a:t>
            </a:r>
            <a:r>
              <a:rPr lang="en-GB" dirty="0" err="1"/>
              <a:t>floração</a:t>
            </a:r>
            <a:r>
              <a:rPr lang="en-GB" dirty="0"/>
              <a:t> </a:t>
            </a:r>
            <a:r>
              <a:rPr lang="en-GB" dirty="0" err="1"/>
              <a:t>teve</a:t>
            </a:r>
            <a:r>
              <a:rPr lang="en-GB" dirty="0"/>
              <a:t> </a:t>
            </a:r>
            <a:r>
              <a:rPr lang="en-GB" dirty="0" err="1"/>
              <a:t>cerca</a:t>
            </a:r>
            <a:r>
              <a:rPr lang="en-GB" dirty="0"/>
              <a:t> de </a:t>
            </a:r>
            <a:r>
              <a:rPr lang="en-GB" sz="1200" kern="1200" dirty="0"/>
              <a:t>r ≈ -0.48</a:t>
            </a:r>
            <a:r>
              <a:rPr lang="en-GB" dirty="0"/>
              <a:t>.</a:t>
            </a:r>
          </a:p>
          <a:p>
            <a:pPr lvl="0"/>
            <a:r>
              <a:rPr lang="en-GB" dirty="0" err="1"/>
              <a:t>Depois</a:t>
            </a:r>
            <a:r>
              <a:rPr lang="en-GB" dirty="0"/>
              <a:t>, </a:t>
            </a:r>
            <a:r>
              <a:rPr lang="en-GB" sz="1200" kern="1200" dirty="0"/>
              <a:t>r² ≈ 0.47² ≈ 0.22</a:t>
            </a:r>
            <a:r>
              <a:rPr lang="en-GB" dirty="0"/>
              <a:t>,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seja</a:t>
            </a:r>
            <a:r>
              <a:rPr lang="en-GB" dirty="0"/>
              <a:t>, </a:t>
            </a:r>
            <a:r>
              <a:rPr lang="en-GB" dirty="0" err="1"/>
              <a:t>cerca</a:t>
            </a:r>
            <a:r>
              <a:rPr lang="en-GB" dirty="0"/>
              <a:t> de </a:t>
            </a:r>
            <a:r>
              <a:rPr lang="en-GB" b="1" dirty="0"/>
              <a:t>22% da </a:t>
            </a:r>
            <a:r>
              <a:rPr lang="en-GB" b="1" dirty="0" err="1"/>
              <a:t>variância</a:t>
            </a:r>
            <a:r>
              <a:rPr lang="en-GB" b="1" dirty="0"/>
              <a:t> residual</a:t>
            </a:r>
            <a:r>
              <a:rPr lang="en-GB" dirty="0"/>
              <a:t>.</a:t>
            </a:r>
          </a:p>
          <a:p>
            <a:r>
              <a:rPr lang="en-GB" dirty="0" err="1"/>
              <a:t>Atenção</a:t>
            </a:r>
            <a:r>
              <a:rPr lang="en-GB" dirty="0"/>
              <a:t> à </a:t>
            </a:r>
            <a:r>
              <a:rPr lang="en-GB" dirty="0" err="1"/>
              <a:t>formulação</a:t>
            </a:r>
            <a:r>
              <a:rPr lang="en-GB" dirty="0"/>
              <a:t>: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diria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“o </a:t>
            </a:r>
            <a:r>
              <a:rPr lang="en-GB" dirty="0" err="1"/>
              <a:t>clima</a:t>
            </a:r>
            <a:r>
              <a:rPr lang="en-GB" dirty="0"/>
              <a:t> </a:t>
            </a:r>
            <a:r>
              <a:rPr lang="en-GB" dirty="0" err="1"/>
              <a:t>explica</a:t>
            </a:r>
            <a:r>
              <a:rPr lang="en-GB" dirty="0"/>
              <a:t> 22%”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geral</a:t>
            </a:r>
            <a:r>
              <a:rPr lang="en-GB" dirty="0"/>
              <a:t>. Mais </a:t>
            </a:r>
            <a:r>
              <a:rPr lang="en-GB" dirty="0" err="1"/>
              <a:t>defensável</a:t>
            </a:r>
            <a:r>
              <a:rPr lang="en-GB" dirty="0"/>
              <a:t> </a:t>
            </a:r>
            <a:r>
              <a:rPr lang="en-GB" dirty="0" err="1"/>
              <a:t>é</a:t>
            </a:r>
            <a:r>
              <a:rPr lang="en-GB" dirty="0"/>
              <a:t>:</a:t>
            </a:r>
          </a:p>
          <a:p>
            <a:r>
              <a:rPr lang="en-GB" b="1" dirty="0"/>
              <a:t>A </a:t>
            </a:r>
            <a:r>
              <a:rPr lang="en-GB" b="1" dirty="0" err="1"/>
              <a:t>melhor</a:t>
            </a:r>
            <a:r>
              <a:rPr lang="en-GB" b="1" dirty="0"/>
              <a:t> </a:t>
            </a:r>
            <a:r>
              <a:rPr lang="en-GB" b="1" dirty="0" err="1"/>
              <a:t>associação</a:t>
            </a:r>
            <a:r>
              <a:rPr lang="en-GB" b="1" dirty="0"/>
              <a:t> </a:t>
            </a:r>
            <a:r>
              <a:rPr lang="en-GB" b="1" dirty="0" err="1"/>
              <a:t>climática</a:t>
            </a:r>
            <a:r>
              <a:rPr lang="en-GB" b="1" dirty="0"/>
              <a:t> individual </a:t>
            </a:r>
            <a:r>
              <a:rPr lang="en-GB" b="1" dirty="0" err="1"/>
              <a:t>explica</a:t>
            </a:r>
            <a:r>
              <a:rPr lang="en-GB" b="1" dirty="0"/>
              <a:t> </a:t>
            </a:r>
            <a:r>
              <a:rPr lang="en-GB" b="1" dirty="0" err="1"/>
              <a:t>cerca</a:t>
            </a:r>
            <a:r>
              <a:rPr lang="en-GB" b="1" dirty="0"/>
              <a:t> de 22% da </a:t>
            </a:r>
            <a:r>
              <a:rPr lang="en-GB" b="1" dirty="0" err="1"/>
              <a:t>variância</a:t>
            </a:r>
            <a:r>
              <a:rPr lang="en-GB" b="1" dirty="0"/>
              <a:t> residual.</a:t>
            </a:r>
            <a:endParaRPr lang="en-GB" dirty="0"/>
          </a:p>
          <a:p>
            <a:r>
              <a:rPr lang="en-GB" dirty="0"/>
              <a:t>Ou, </a:t>
            </a:r>
            <a:r>
              <a:rPr lang="en-GB" dirty="0" err="1"/>
              <a:t>oralmente</a:t>
            </a:r>
            <a:r>
              <a:rPr lang="en-GB" dirty="0"/>
              <a:t>:</a:t>
            </a:r>
          </a:p>
          <a:p>
            <a:r>
              <a:rPr lang="en-GB" b="1" dirty="0" err="1"/>
              <a:t>Mesmo</a:t>
            </a:r>
            <a:r>
              <a:rPr lang="en-GB" b="1" dirty="0"/>
              <a:t> a </a:t>
            </a:r>
            <a:r>
              <a:rPr lang="en-GB" b="1" dirty="0" err="1"/>
              <a:t>melhor</a:t>
            </a:r>
            <a:r>
              <a:rPr lang="en-GB" b="1" dirty="0"/>
              <a:t> feature </a:t>
            </a:r>
            <a:r>
              <a:rPr lang="en-GB" b="1" dirty="0" err="1"/>
              <a:t>climática</a:t>
            </a:r>
            <a:r>
              <a:rPr lang="en-GB" b="1" dirty="0"/>
              <a:t>, </a:t>
            </a:r>
            <a:r>
              <a:rPr lang="en-GB" b="1" dirty="0" err="1"/>
              <a:t>depois</a:t>
            </a:r>
            <a:r>
              <a:rPr lang="en-GB" b="1" dirty="0"/>
              <a:t> de remover a </a:t>
            </a:r>
            <a:r>
              <a:rPr lang="en-GB" b="1" dirty="0" err="1"/>
              <a:t>tendência</a:t>
            </a:r>
            <a:r>
              <a:rPr lang="en-GB" b="1" dirty="0"/>
              <a:t> linear, </a:t>
            </a:r>
            <a:r>
              <a:rPr lang="en-GB" b="1" dirty="0" err="1"/>
              <a:t>explica</a:t>
            </a:r>
            <a:r>
              <a:rPr lang="en-GB" b="1" dirty="0"/>
              <a:t> </a:t>
            </a:r>
            <a:r>
              <a:rPr lang="en-GB" b="1" dirty="0" err="1"/>
              <a:t>apenas</a:t>
            </a:r>
            <a:r>
              <a:rPr lang="en-GB" b="1" dirty="0"/>
              <a:t> </a:t>
            </a:r>
            <a:r>
              <a:rPr lang="en-GB" b="1" dirty="0" err="1"/>
              <a:t>cerca</a:t>
            </a:r>
            <a:r>
              <a:rPr lang="en-GB" b="1" dirty="0"/>
              <a:t> de um quinto da </a:t>
            </a:r>
            <a:r>
              <a:rPr lang="en-GB" b="1" dirty="0" err="1"/>
              <a:t>variabilidade</a:t>
            </a:r>
            <a:r>
              <a:rPr lang="en-GB" b="1" dirty="0"/>
              <a:t> residual. </a:t>
            </a:r>
            <a:r>
              <a:rPr lang="en-GB" b="1" dirty="0" err="1"/>
              <a:t>Isso</a:t>
            </a:r>
            <a:r>
              <a:rPr lang="en-GB" b="1" dirty="0"/>
              <a:t> </a:t>
            </a:r>
            <a:r>
              <a:rPr lang="en-GB" b="1" dirty="0" err="1"/>
              <a:t>é</a:t>
            </a:r>
            <a:r>
              <a:rPr lang="en-GB" b="1" dirty="0"/>
              <a:t> </a:t>
            </a:r>
            <a:r>
              <a:rPr lang="en-GB" b="1" dirty="0" err="1"/>
              <a:t>suficiente</a:t>
            </a:r>
            <a:r>
              <a:rPr lang="en-GB" b="1" dirty="0"/>
              <a:t> para </a:t>
            </a:r>
            <a:r>
              <a:rPr lang="en-GB" b="1" dirty="0" err="1"/>
              <a:t>detectar</a:t>
            </a:r>
            <a:r>
              <a:rPr lang="en-GB" b="1" dirty="0"/>
              <a:t> um </a:t>
            </a:r>
            <a:r>
              <a:rPr lang="en-GB" b="1" dirty="0" err="1"/>
              <a:t>padrão</a:t>
            </a:r>
            <a:r>
              <a:rPr lang="en-GB" b="1" dirty="0"/>
              <a:t>, mas </a:t>
            </a:r>
            <a:r>
              <a:rPr lang="en-GB" b="1" dirty="0" err="1"/>
              <a:t>não</a:t>
            </a:r>
            <a:r>
              <a:rPr lang="en-GB" b="1" dirty="0"/>
              <a:t> </a:t>
            </a:r>
            <a:r>
              <a:rPr lang="en-GB" b="1" dirty="0" err="1"/>
              <a:t>necessariamente</a:t>
            </a:r>
            <a:r>
              <a:rPr lang="en-GB" b="1" dirty="0"/>
              <a:t> </a:t>
            </a:r>
            <a:r>
              <a:rPr lang="en-GB" b="1" dirty="0" err="1"/>
              <a:t>suficiente</a:t>
            </a:r>
            <a:r>
              <a:rPr lang="en-GB" b="1" dirty="0"/>
              <a:t> para </a:t>
            </a:r>
            <a:r>
              <a:rPr lang="en-GB" b="1" dirty="0" err="1"/>
              <a:t>prever</a:t>
            </a:r>
            <a:r>
              <a:rPr lang="en-GB" b="1" dirty="0"/>
              <a:t> </a:t>
            </a:r>
            <a:r>
              <a:rPr lang="en-GB" b="1" dirty="0" err="1"/>
              <a:t>bem</a:t>
            </a:r>
            <a:r>
              <a:rPr lang="en-GB" b="1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18:35  </a:t>
            </a:r>
          </a:p>
          <a:p>
            <a:pPr>
              <a:buNone/>
            </a:pPr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Slide 23 — </a:t>
            </a:r>
            <a:r>
              <a:rPr lang="en-GB" sz="1200" b="1" i="0" kern="1200" dirty="0" err="1">
                <a:effectLst/>
              </a:rPr>
              <a:t>Contribuições</a:t>
            </a:r>
            <a:r>
              <a:rPr lang="en-GB" sz="1200" b="1" i="0" kern="1200" dirty="0">
                <a:effectLst/>
              </a:rPr>
              <a:t> (~1 min)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>
                <a:effectLst/>
              </a:rPr>
              <a:t>O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permanece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contribuição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científica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após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resultado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negativo</a:t>
            </a:r>
            <a:r>
              <a:rPr lang="en-GB" sz="1200" b="0" i="0" kern="1200" dirty="0">
                <a:effectLst/>
              </a:rPr>
              <a:t>?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u="sng" kern="1200" dirty="0">
                <a:effectLst/>
              </a:rPr>
              <a:t>Na </a:t>
            </a:r>
            <a:r>
              <a:rPr lang="en-GB" sz="1200" b="1" i="0" u="sng" kern="1200" dirty="0" err="1">
                <a:effectLst/>
              </a:rPr>
              <a:t>nossa</a:t>
            </a:r>
            <a:r>
              <a:rPr lang="en-GB" sz="1200" b="1" i="0" u="sng" kern="1200" dirty="0">
                <a:effectLst/>
              </a:rPr>
              <a:t> </a:t>
            </a:r>
            <a:r>
              <a:rPr lang="en-GB" sz="1200" b="1" i="0" u="sng" kern="1200" dirty="0" err="1">
                <a:effectLst/>
              </a:rPr>
              <a:t>perspectiva</a:t>
            </a:r>
            <a:r>
              <a:rPr lang="en-GB" sz="1200" b="1" i="0" u="sng" kern="1200" dirty="0">
                <a:effectLst/>
              </a:rPr>
              <a:t> </a:t>
            </a:r>
            <a:r>
              <a:rPr lang="en-GB" sz="1200" b="1" i="0" u="sng" kern="1200" dirty="0" err="1">
                <a:effectLst/>
              </a:rPr>
              <a:t>destacamos</a:t>
            </a:r>
            <a:r>
              <a:rPr lang="en-GB" sz="1200" b="1" i="0" u="sng" kern="1200" dirty="0">
                <a:effectLst/>
              </a:rPr>
              <a:t> 5pontos.</a:t>
            </a:r>
          </a:p>
          <a:p>
            <a:endParaRPr lang="en-GB" sz="1200" b="0" i="0" kern="1200" dirty="0">
              <a:effectLst/>
            </a:endParaRPr>
          </a:p>
          <a:p>
            <a:pPr marL="228600" indent="-228600">
              <a:buAutoNum type="arabicPeriod"/>
            </a:pPr>
            <a:r>
              <a:rPr lang="en-GB" sz="1200" b="1" i="0" kern="1200" dirty="0">
                <a:effectLst/>
              </a:rPr>
              <a:t>O </a:t>
            </a:r>
            <a:r>
              <a:rPr lang="en-GB" sz="1200" b="1" i="0" kern="1200" dirty="0" err="1">
                <a:effectLst/>
              </a:rPr>
              <a:t>primeiro</a:t>
            </a:r>
            <a:r>
              <a:rPr lang="en-GB" sz="1200" b="1" i="0" kern="1200" dirty="0">
                <a:effectLst/>
              </a:rPr>
              <a:t>, e </a:t>
            </a:r>
            <a:r>
              <a:rPr lang="en-GB" sz="1200" b="1" i="0" kern="1200" dirty="0" err="1">
                <a:effectLst/>
              </a:rPr>
              <a:t>mais</a:t>
            </a:r>
            <a:r>
              <a:rPr lang="en-GB" sz="1200" b="1" i="0" kern="1200" dirty="0">
                <a:effectLst/>
              </a:rPr>
              <a:t> fundamental,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decomposição</a:t>
            </a:r>
            <a:r>
              <a:rPr lang="en-GB" sz="1200" b="1" i="0" kern="1200" dirty="0">
                <a:effectLst/>
              </a:rPr>
              <a:t> do </a:t>
            </a:r>
            <a:r>
              <a:rPr lang="en-GB" sz="1200" b="1" i="0" kern="1200" dirty="0" err="1">
                <a:effectLst/>
              </a:rPr>
              <a:t>problema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em</a:t>
            </a:r>
            <a:r>
              <a:rPr lang="en-GB" sz="1200" b="1" i="0" kern="1200" dirty="0">
                <a:effectLst/>
              </a:rPr>
              <a:t> duas </a:t>
            </a:r>
            <a:r>
              <a:rPr lang="en-GB" sz="1200" b="1" i="0" kern="1200" dirty="0" err="1">
                <a:effectLst/>
              </a:rPr>
              <a:t>decisões</a:t>
            </a:r>
            <a:r>
              <a:rPr lang="en-GB" sz="1200" b="1" i="0" kern="1200" dirty="0">
                <a:effectLst/>
              </a:rPr>
              <a:t> e </a:t>
            </a:r>
            <a:r>
              <a:rPr lang="en-GB" sz="1200" b="1" i="0" kern="1200" dirty="0" err="1">
                <a:effectLst/>
              </a:rPr>
              <a:t>perceber</a:t>
            </a:r>
            <a:r>
              <a:rPr lang="en-GB" sz="1200" b="1" i="0" kern="1200" dirty="0">
                <a:effectLst/>
              </a:rPr>
              <a:t> o </a:t>
            </a:r>
            <a:r>
              <a:rPr lang="en-GB" sz="1200" b="1" i="0" kern="1200" dirty="0" err="1">
                <a:effectLst/>
              </a:rPr>
              <a:t>tradeoff</a:t>
            </a:r>
            <a:r>
              <a:rPr lang="en-GB" sz="1200" b="1" i="0" kern="1200" dirty="0">
                <a:effectLst/>
              </a:rPr>
              <a:t> e quais as </a:t>
            </a:r>
            <a:r>
              <a:rPr lang="en-GB" sz="1200" b="1" i="0" kern="1200" dirty="0" err="1">
                <a:effectLst/>
              </a:rPr>
              <a:t>implicações</a:t>
            </a:r>
            <a:r>
              <a:rPr lang="en-GB" sz="1200" b="1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Este framework </a:t>
            </a:r>
            <a:r>
              <a:rPr lang="en-GB" sz="1200" b="0" i="0" kern="1200" dirty="0" err="1">
                <a:effectLst/>
              </a:rPr>
              <a:t>separa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modelação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tendência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extração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climático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permite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explicar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porque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modelo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baseado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falhar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previsão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mesmo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quando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existe</a:t>
            </a:r>
            <a:r>
              <a:rPr lang="en-GB" sz="1200" b="0" i="0" kern="1200" dirty="0">
                <a:effectLst/>
              </a:rPr>
              <a:t> um </a:t>
            </a:r>
            <a:r>
              <a:rPr lang="en-GB" sz="1200" b="0" i="0" kern="1200" dirty="0" err="1">
                <a:effectLst/>
              </a:rPr>
              <a:t>sinal</a:t>
            </a:r>
            <a:r>
              <a:rPr lang="en-GB" sz="1200" b="0" i="0" kern="1200" dirty="0">
                <a:effectLst/>
              </a:rPr>
              <a:t> real </a:t>
            </a:r>
            <a:r>
              <a:rPr lang="en-GB" sz="1200" b="0" i="0" kern="1200" dirty="0" err="1">
                <a:effectLst/>
              </a:rPr>
              <a:t>nos</a:t>
            </a:r>
            <a:r>
              <a:rPr lang="en-GB" sz="1200" b="0" i="0" kern="1200" dirty="0">
                <a:effectLst/>
              </a:rPr>
              <a:t> dados.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2. O </a:t>
            </a:r>
            <a:r>
              <a:rPr lang="en-GB" sz="1200" b="1" i="0" kern="1200" dirty="0" err="1">
                <a:effectLst/>
              </a:rPr>
              <a:t>segundo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contributo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uma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avaliação</a:t>
            </a:r>
            <a:r>
              <a:rPr lang="en-GB" sz="1200" b="1" i="0" kern="1200" dirty="0">
                <a:effectLst/>
              </a:rPr>
              <a:t> </a:t>
            </a:r>
            <a:r>
              <a:rPr lang="en-GB" sz="1200" b="1" i="1" kern="1200" dirty="0">
                <a:effectLst/>
              </a:rPr>
              <a:t>walk-forward</a:t>
            </a:r>
            <a:r>
              <a:rPr lang="en-GB" sz="1200" b="1" i="0" kern="1200" dirty="0">
                <a:effectLst/>
              </a:rPr>
              <a:t> </a:t>
            </a:r>
            <a:r>
              <a:rPr lang="en-GB" sz="1200" b="1" i="0" kern="1200" dirty="0" err="1">
                <a:effectLst/>
              </a:rPr>
              <a:t>rigorosa</a:t>
            </a:r>
            <a:r>
              <a:rPr lang="en-GB" sz="1200" b="1" i="0" kern="1200" dirty="0">
                <a:effectLst/>
              </a:rPr>
              <a:t>.</a:t>
            </a:r>
          </a:p>
          <a:p>
            <a:r>
              <a:rPr lang="en-GB" sz="1200" b="0" i="0" kern="1200" dirty="0" err="1">
                <a:effectLst/>
              </a:rPr>
              <a:t>Foram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avaliados</a:t>
            </a:r>
            <a:r>
              <a:rPr lang="en-GB" sz="1200" b="0" i="0" kern="1200" dirty="0">
                <a:effectLst/>
              </a:rPr>
              <a:t> 17 </a:t>
            </a:r>
            <a:r>
              <a:rPr lang="en-GB" sz="1200" b="0" i="0" kern="1200" dirty="0" err="1">
                <a:effectLst/>
              </a:rPr>
              <a:t>modelos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longo</a:t>
            </a:r>
            <a:r>
              <a:rPr lang="en-GB" sz="1200" b="0" i="0" kern="1200" dirty="0">
                <a:effectLst/>
              </a:rPr>
              <a:t> de 18 </a:t>
            </a:r>
            <a:r>
              <a:rPr lang="en-GB" sz="1200" b="0" i="0" kern="1200" dirty="0" err="1">
                <a:effectLst/>
              </a:rPr>
              <a:t>cenários</a:t>
            </a:r>
            <a:r>
              <a:rPr lang="en-GB" sz="1200" b="0" i="0" kern="1200" dirty="0">
                <a:effectLst/>
              </a:rPr>
              <a:t> no Douro e 16 </a:t>
            </a:r>
            <a:r>
              <a:rPr lang="en-GB" sz="1200" b="0" i="0" kern="1200" dirty="0" err="1">
                <a:effectLst/>
              </a:rPr>
              <a:t>cenários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 dos Vinhos Verdes, com </a:t>
            </a:r>
            <a:r>
              <a:rPr lang="en-GB" sz="1200" b="0" i="0" kern="1200" dirty="0" err="1">
                <a:effectLst/>
              </a:rPr>
              <a:t>todo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pré-processamento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realizado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dentro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cada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1" kern="1200" dirty="0">
                <a:effectLst/>
              </a:rPr>
              <a:t>fold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3. O </a:t>
            </a:r>
            <a:r>
              <a:rPr lang="en-GB" sz="1200" b="1" i="0" kern="1200" dirty="0" err="1">
                <a:effectLst/>
              </a:rPr>
              <a:t>terceiro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contributo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uma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análise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sistemática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sensibilidade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envolvendo</a:t>
            </a:r>
            <a:r>
              <a:rPr lang="en-GB" sz="1200" b="1" i="0" kern="1200" dirty="0">
                <a:effectLst/>
              </a:rPr>
              <a:t> 11 </a:t>
            </a:r>
            <a:r>
              <a:rPr lang="en-GB" sz="1200" b="1" i="0" kern="1200" dirty="0" err="1">
                <a:effectLst/>
              </a:rPr>
              <a:t>variantes</a:t>
            </a:r>
            <a:r>
              <a:rPr lang="en-GB" sz="1200" b="1" i="0" kern="1200" dirty="0">
                <a:effectLst/>
              </a:rPr>
              <a:t> do CarenR.</a:t>
            </a:r>
          </a:p>
          <a:p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resultados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mostram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melhor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estratégia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seleção</a:t>
            </a:r>
            <a:r>
              <a:rPr lang="en-GB" sz="1200" b="0" i="0" kern="1200" dirty="0">
                <a:effectLst/>
              </a:rPr>
              <a:t> de </a:t>
            </a:r>
            <a:r>
              <a:rPr lang="en-GB" sz="1200" b="0" i="1" kern="1200" dirty="0">
                <a:effectLst/>
              </a:rPr>
              <a:t>features</a:t>
            </a:r>
            <a:r>
              <a:rPr lang="en-GB" sz="1200" b="0" i="0" kern="1200" dirty="0">
                <a:effectLst/>
              </a:rPr>
              <a:t> </a:t>
            </a:r>
            <a:r>
              <a:rPr lang="en-GB" sz="1200" b="0" i="0" kern="1200" dirty="0" err="1">
                <a:effectLst/>
              </a:rPr>
              <a:t>depende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problema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ser </a:t>
            </a:r>
            <a:r>
              <a:rPr lang="en-GB" sz="1200" b="0" i="0" kern="1200" dirty="0" err="1">
                <a:effectLst/>
              </a:rPr>
              <a:t>considerada</a:t>
            </a:r>
            <a:r>
              <a:rPr lang="en-GB" sz="1200" b="0" i="0" kern="1200" dirty="0">
                <a:effectLst/>
              </a:rPr>
              <a:t> universal. E </a:t>
            </a:r>
            <a:r>
              <a:rPr lang="en-GB" sz="1200" b="0" i="0" kern="1200" dirty="0" err="1">
                <a:effectLst/>
              </a:rPr>
              <a:t>assim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exploramos</a:t>
            </a:r>
            <a:r>
              <a:rPr lang="en-GB" sz="1200" b="0" i="0" kern="1200" dirty="0">
                <a:effectLst/>
              </a:rPr>
              <a:t> um Elevado </a:t>
            </a:r>
            <a:r>
              <a:rPr lang="en-GB" sz="1200" b="0" i="0" kern="1200" dirty="0" err="1">
                <a:effectLst/>
              </a:rPr>
              <a:t>numero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possibilidades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numa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avaliacao</a:t>
            </a:r>
            <a:r>
              <a:rPr lang="en-GB" sz="1200" b="0" i="0" kern="1200" dirty="0">
                <a:effectLst/>
              </a:rPr>
              <a:t> robusta </a:t>
            </a:r>
            <a:r>
              <a:rPr lang="en-GB" sz="1200" b="0" i="0" kern="1200" dirty="0" err="1">
                <a:effectLst/>
              </a:rPr>
              <a:t>dfo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ponto</a:t>
            </a:r>
            <a:r>
              <a:rPr lang="en-GB" sz="1200" b="0" i="0" kern="1200" dirty="0">
                <a:effectLst/>
              </a:rPr>
              <a:t> de vista de data science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4. O quarto </a:t>
            </a:r>
            <a:r>
              <a:rPr lang="en-GB" sz="1200" b="1" i="0" kern="1200" dirty="0" err="1">
                <a:effectLst/>
              </a:rPr>
              <a:t>contributo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foi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deteção</a:t>
            </a:r>
            <a:r>
              <a:rPr lang="en-GB" sz="1200" b="1" i="0" kern="1200" dirty="0">
                <a:effectLst/>
              </a:rPr>
              <a:t> e  </a:t>
            </a:r>
            <a:r>
              <a:rPr lang="en-GB" sz="1200" b="1" i="0" kern="1200" dirty="0" err="1">
                <a:effectLst/>
              </a:rPr>
              <a:t>análise</a:t>
            </a:r>
            <a:r>
              <a:rPr lang="en-GB" sz="1200" b="1" i="0" kern="1200" dirty="0">
                <a:effectLst/>
              </a:rPr>
              <a:t> da </a:t>
            </a:r>
            <a:r>
              <a:rPr lang="en-GB" sz="1200" b="1" i="0" kern="1200" dirty="0" err="1">
                <a:effectLst/>
              </a:rPr>
              <a:t>composição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por</a:t>
            </a:r>
            <a:r>
              <a:rPr lang="en-GB" sz="1200" b="1" i="0" kern="1200" dirty="0">
                <a:effectLst/>
              </a:rPr>
              <a:t> eras.</a:t>
            </a: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análise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permitiu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diagnosticar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situações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capacidade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preditiva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aparente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pode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depender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composição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histórica</a:t>
            </a:r>
            <a:r>
              <a:rPr lang="en-GB" sz="1200" b="0" i="0" kern="1200" dirty="0">
                <a:effectLst/>
              </a:rPr>
              <a:t> dos </a:t>
            </a:r>
            <a:r>
              <a:rPr lang="en-GB" sz="1200" b="0" i="0" kern="1200" dirty="0" err="1">
                <a:effectLst/>
              </a:rPr>
              <a:t>períodos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treino</a:t>
            </a:r>
            <a:r>
              <a:rPr lang="en-GB" sz="1200" b="0" i="0" kern="1200" dirty="0">
                <a:effectLst/>
              </a:rPr>
              <a:t> e de teste.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5. O quinto </a:t>
            </a:r>
            <a:r>
              <a:rPr lang="en-GB" sz="1200" b="1" i="0" kern="1200" dirty="0" err="1">
                <a:effectLst/>
              </a:rPr>
              <a:t>contributo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validação</a:t>
            </a:r>
            <a:r>
              <a:rPr lang="en-GB" sz="1200" b="1" i="0" kern="1200" dirty="0">
                <a:effectLst/>
              </a:rPr>
              <a:t> entre </a:t>
            </a:r>
            <a:r>
              <a:rPr lang="en-GB" sz="1200" b="1" i="0" kern="1200" dirty="0" err="1">
                <a:effectLst/>
              </a:rPr>
              <a:t>algoritmos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especialmente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em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relação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objetivo</a:t>
            </a:r>
            <a:r>
              <a:rPr lang="en-GB" sz="1200" b="1" i="0" kern="1200" dirty="0">
                <a:effectLst/>
              </a:rPr>
              <a:t> 1 da </a:t>
            </a:r>
            <a:r>
              <a:rPr lang="en-GB" sz="1200" b="1" i="0" kern="1200" dirty="0" err="1">
                <a:effectLst/>
              </a:rPr>
              <a:t>tese</a:t>
            </a:r>
            <a:r>
              <a:rPr lang="en-GB" sz="1200" b="1" i="0" kern="1200" dirty="0">
                <a:effectLst/>
              </a:rPr>
              <a:t> – a </a:t>
            </a:r>
            <a:r>
              <a:rPr lang="en-GB" sz="1200" b="1" i="0" kern="1200" dirty="0" err="1">
                <a:effectLst/>
              </a:rPr>
              <a:t>descoberta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regras</a:t>
            </a:r>
            <a:r>
              <a:rPr lang="en-GB" sz="1200" b="1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Esta </a:t>
            </a:r>
            <a:r>
              <a:rPr lang="en-GB" sz="1200" b="0" i="0" kern="1200" dirty="0" err="1">
                <a:effectLst/>
              </a:rPr>
              <a:t>comparação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mostra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famílias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variáveis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água</a:t>
            </a:r>
            <a:r>
              <a:rPr lang="en-GB" sz="1200" b="1" i="0" kern="1200" dirty="0">
                <a:effectLst/>
              </a:rPr>
              <a:t> no solo </a:t>
            </a:r>
            <a:r>
              <a:rPr lang="en-GB" sz="1200" b="1" i="0" kern="1200" dirty="0" err="1">
                <a:effectLst/>
              </a:rPr>
              <a:t>durante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vindima</a:t>
            </a:r>
            <a:r>
              <a:rPr lang="en-GB" sz="1200" b="1" i="0" kern="1200" dirty="0">
                <a:effectLst/>
              </a:rPr>
              <a:t> e </a:t>
            </a:r>
            <a:r>
              <a:rPr lang="en-GB" sz="1200" b="1" i="0" kern="1200" dirty="0" err="1">
                <a:effectLst/>
              </a:rPr>
              <a:t>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dias</a:t>
            </a:r>
            <a:r>
              <a:rPr lang="en-GB" sz="1200" b="1" i="0" kern="1200" dirty="0">
                <a:effectLst/>
              </a:rPr>
              <a:t> de stress </a:t>
            </a:r>
            <a:r>
              <a:rPr lang="en-GB" sz="1200" b="1" i="0" kern="1200" dirty="0" err="1">
                <a:effectLst/>
              </a:rPr>
              <a:t>térmico</a:t>
            </a:r>
            <a:r>
              <a:rPr lang="en-GB" sz="1200" b="1" i="0" kern="1200" dirty="0">
                <a:effectLst/>
              </a:rPr>
              <a:t>, </a:t>
            </a:r>
            <a:r>
              <a:rPr lang="en-GB" sz="1200" b="1" i="0" kern="1200" dirty="0" err="1">
                <a:effectLst/>
              </a:rPr>
              <a:t>não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são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apenas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artefactos</a:t>
            </a:r>
            <a:r>
              <a:rPr lang="en-GB" sz="1200" b="1" i="0" kern="1200" dirty="0">
                <a:effectLst/>
              </a:rPr>
              <a:t> de um </a:t>
            </a:r>
            <a:r>
              <a:rPr lang="en-GB" sz="1200" b="1" i="0" kern="1200" dirty="0" err="1">
                <a:effectLst/>
              </a:rPr>
              <a:t>único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método</a:t>
            </a:r>
            <a:r>
              <a:rPr lang="en-GB" sz="1200" b="1" i="0" kern="1200" dirty="0">
                <a:effectLst/>
              </a:rPr>
              <a:t>.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----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Em </a:t>
            </a:r>
            <a:r>
              <a:rPr lang="en-GB" sz="1200" b="1" i="0" kern="1200" dirty="0" err="1">
                <a:effectLst/>
              </a:rPr>
              <a:t>relação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objetivo</a:t>
            </a:r>
            <a:r>
              <a:rPr lang="en-GB" sz="1200" b="1" i="0" kern="1200" dirty="0">
                <a:effectLst/>
              </a:rPr>
              <a:t> 2 da </a:t>
            </a:r>
            <a:r>
              <a:rPr lang="en-GB" sz="1200" b="1" i="0" kern="1200" dirty="0" err="1">
                <a:effectLst/>
              </a:rPr>
              <a:t>tese</a:t>
            </a:r>
            <a:r>
              <a:rPr lang="en-GB" sz="1200" b="1" i="0" kern="1200" dirty="0">
                <a:effectLst/>
              </a:rPr>
              <a:t> --- O </a:t>
            </a:r>
            <a:r>
              <a:rPr lang="en-GB" sz="1200" b="1" i="0" kern="1200" dirty="0" err="1">
                <a:effectLst/>
              </a:rPr>
              <a:t>resultado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preditivo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negativo</a:t>
            </a:r>
            <a:r>
              <a:rPr lang="en-GB" sz="1200" b="1" i="0" kern="1200" dirty="0">
                <a:effectLst/>
              </a:rPr>
              <a:t>. Mas </a:t>
            </a:r>
            <a:r>
              <a:rPr lang="en-GB" sz="1200" b="1" i="0" kern="1200" dirty="0" err="1">
                <a:effectLst/>
              </a:rPr>
              <a:t>na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nossa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perspetiva</a:t>
            </a:r>
            <a:r>
              <a:rPr lang="en-GB" sz="1200" b="1" i="0" kern="1200" dirty="0">
                <a:effectLst/>
              </a:rPr>
              <a:t>, as </a:t>
            </a:r>
            <a:r>
              <a:rPr lang="en-GB" sz="1200" b="1" i="0" kern="1200" dirty="0" err="1">
                <a:effectLst/>
              </a:rPr>
              <a:t>contribuições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metodológicas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não</a:t>
            </a:r>
            <a:r>
              <a:rPr lang="en-GB" sz="1200" b="1" i="0" kern="1200" dirty="0">
                <a:effectLst/>
              </a:rPr>
              <a:t> o </a:t>
            </a:r>
            <a:r>
              <a:rPr lang="en-GB" sz="1200" b="1" i="0" kern="1200" dirty="0" err="1">
                <a:effectLst/>
              </a:rPr>
              <a:t>são</a:t>
            </a:r>
            <a:r>
              <a:rPr lang="en-GB" sz="1200" b="1" i="0" kern="1200" dirty="0">
                <a:effectLst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19:35  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Slide 24 — </a:t>
            </a:r>
            <a:r>
              <a:rPr lang="en-GB" sz="1200" b="1" i="0" kern="1200" dirty="0" err="1">
                <a:effectLst/>
              </a:rPr>
              <a:t>Limitações</a:t>
            </a:r>
            <a:r>
              <a:rPr lang="en-GB" sz="1200" b="1" i="0" kern="1200" dirty="0">
                <a:effectLst/>
              </a:rPr>
              <a:t> e </a:t>
            </a:r>
            <a:r>
              <a:rPr lang="en-GB" sz="1200" b="1" i="0" kern="1200" dirty="0" err="1">
                <a:effectLst/>
              </a:rPr>
              <a:t>trabalho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futuro</a:t>
            </a:r>
            <a:r>
              <a:rPr lang="en-GB" sz="1200" b="1" i="0" kern="1200" dirty="0">
                <a:effectLst/>
              </a:rPr>
              <a:t> (~1 min)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importante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apresentar</a:t>
            </a:r>
            <a:r>
              <a:rPr lang="en-GB" sz="1200" b="1" i="0" kern="1200" dirty="0">
                <a:effectLst/>
              </a:rPr>
              <a:t> de forma </a:t>
            </a:r>
            <a:r>
              <a:rPr lang="en-GB" sz="1200" b="1" i="0" kern="1200" dirty="0" err="1">
                <a:effectLst/>
              </a:rPr>
              <a:t>transparente</a:t>
            </a:r>
            <a:r>
              <a:rPr lang="en-GB" sz="1200" b="1" i="0" kern="1200" dirty="0">
                <a:effectLst/>
              </a:rPr>
              <a:t> as </a:t>
            </a:r>
            <a:r>
              <a:rPr lang="en-GB" sz="1200" b="1" i="0" kern="1200" dirty="0" err="1">
                <a:effectLst/>
              </a:rPr>
              <a:t>limitações</a:t>
            </a:r>
            <a:r>
              <a:rPr lang="en-GB" sz="1200" b="1" i="0" kern="1200" dirty="0">
                <a:effectLst/>
              </a:rPr>
              <a:t> do </a:t>
            </a:r>
            <a:r>
              <a:rPr lang="en-GB" sz="1200" b="1" i="0" kern="1200" dirty="0" err="1">
                <a:effectLst/>
              </a:rPr>
              <a:t>trabalho</a:t>
            </a:r>
            <a:r>
              <a:rPr lang="en-GB" sz="1200" b="1" i="0" kern="1200" dirty="0">
                <a:effectLst/>
              </a:rPr>
              <a:t>, </a:t>
            </a:r>
            <a:r>
              <a:rPr lang="en-GB" sz="1200" b="1" i="0" kern="1200" dirty="0" err="1">
                <a:effectLst/>
              </a:rPr>
              <a:t>porque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essa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transparência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faz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também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parte</a:t>
            </a:r>
            <a:r>
              <a:rPr lang="en-GB" sz="1200" b="1" i="0" kern="1200" dirty="0">
                <a:effectLst/>
              </a:rPr>
              <a:t> da </a:t>
            </a:r>
            <a:r>
              <a:rPr lang="en-GB" sz="1200" b="1" i="0" kern="1200" dirty="0" err="1">
                <a:effectLst/>
              </a:rPr>
              <a:t>contribuição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científica</a:t>
            </a:r>
            <a:r>
              <a:rPr lang="en-GB" sz="1200" b="1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u="sng" kern="1200" dirty="0" err="1">
                <a:effectLst/>
              </a:rPr>
              <a:t>Destaco</a:t>
            </a:r>
            <a:r>
              <a:rPr lang="en-GB" sz="1200" b="1" i="0" u="sng" kern="1200" dirty="0">
                <a:effectLst/>
              </a:rPr>
              <a:t> 3 </a:t>
            </a:r>
            <a:r>
              <a:rPr lang="en-GB" sz="1200" b="1" i="0" u="sng" kern="1200" dirty="0" err="1">
                <a:effectLst/>
              </a:rPr>
              <a:t>limitações</a:t>
            </a:r>
            <a:r>
              <a:rPr lang="en-GB" sz="1200" b="1" i="0" u="sng" kern="1200" dirty="0">
                <a:effectLst/>
              </a:rPr>
              <a:t> </a:t>
            </a:r>
            <a:r>
              <a:rPr lang="en-GB" sz="1200" b="1" i="0" u="sng" kern="1200" dirty="0" err="1">
                <a:effectLst/>
              </a:rPr>
              <a:t>principais</a:t>
            </a:r>
            <a:r>
              <a:rPr lang="en-GB" sz="1200" b="1" i="0" u="sng" kern="1200" dirty="0">
                <a:effectLst/>
              </a:rPr>
              <a:t>.</a:t>
            </a:r>
          </a:p>
          <a:p>
            <a:endParaRPr lang="en-GB" sz="1200" b="1" i="0" u="sng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1. A </a:t>
            </a:r>
            <a:r>
              <a:rPr lang="en-GB" sz="1200" b="1" i="0" kern="1200" dirty="0" err="1">
                <a:effectLst/>
              </a:rPr>
              <a:t>primeira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que</a:t>
            </a:r>
            <a:r>
              <a:rPr lang="en-GB" sz="1200" b="1" i="0" kern="1200" dirty="0">
                <a:effectLst/>
              </a:rPr>
              <a:t> o tempo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única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covariável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utilizada</a:t>
            </a:r>
            <a:r>
              <a:rPr lang="en-GB" sz="1200" b="1" i="0" kern="1200" dirty="0">
                <a:effectLst/>
              </a:rPr>
              <a:t> no </a:t>
            </a:r>
            <a:r>
              <a:rPr lang="en-GB" sz="1200" b="1" i="0" kern="1200" dirty="0" err="1">
                <a:effectLst/>
              </a:rPr>
              <a:t>processo</a:t>
            </a:r>
            <a:r>
              <a:rPr lang="en-GB" sz="1200" b="1" i="0" kern="1200" dirty="0">
                <a:effectLst/>
              </a:rPr>
              <a:t> de </a:t>
            </a:r>
            <a:r>
              <a:rPr lang="en-GB" sz="1200" b="1" i="1" kern="1200" dirty="0">
                <a:effectLst/>
              </a:rPr>
              <a:t>detrending</a:t>
            </a:r>
            <a:r>
              <a:rPr lang="en-GB" sz="1200" b="1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Como </a:t>
            </a:r>
            <a:r>
              <a:rPr lang="en-GB" sz="1200" b="0" i="0" kern="1200" dirty="0" err="1">
                <a:effectLst/>
              </a:rPr>
              <a:t>consequência</a:t>
            </a:r>
            <a:r>
              <a:rPr lang="en-GB" sz="1200" b="0" i="0" kern="1200" dirty="0">
                <a:effectLst/>
              </a:rPr>
              <a:t>, a </a:t>
            </a:r>
            <a:r>
              <a:rPr lang="en-GB" sz="1200" b="0" i="0" kern="1200" dirty="0" err="1">
                <a:effectLst/>
              </a:rPr>
              <a:t>mudança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estrutural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efeitos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permanecem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parcialmente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misturados</a:t>
            </a:r>
            <a:r>
              <a:rPr lang="en-GB" sz="1200" b="0" i="0" kern="1200" dirty="0">
                <a:effectLst/>
              </a:rPr>
              <a:t>. Esta </a:t>
            </a:r>
            <a:r>
              <a:rPr lang="en-GB" sz="1200" b="0" i="0" kern="1200" dirty="0" err="1">
                <a:effectLst/>
              </a:rPr>
              <a:t>é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origem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tensão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identificada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longo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tese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2. A </a:t>
            </a:r>
            <a:r>
              <a:rPr lang="en-GB" sz="1200" b="1" i="0" kern="1200" dirty="0" err="1">
                <a:effectLst/>
              </a:rPr>
              <a:t>segunda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limitação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dimensão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reduzida</a:t>
            </a:r>
            <a:r>
              <a:rPr lang="en-GB" sz="1200" b="1" i="0" kern="1200" dirty="0">
                <a:effectLst/>
              </a:rPr>
              <a:t> dos conjuntos de </a:t>
            </a:r>
            <a:r>
              <a:rPr lang="en-GB" sz="1200" b="1" i="0" kern="1200" dirty="0" err="1">
                <a:effectLst/>
              </a:rPr>
              <a:t>treino</a:t>
            </a:r>
            <a:r>
              <a:rPr lang="en-GB" sz="1200" b="1" i="0" kern="1200" dirty="0">
                <a:effectLst/>
              </a:rPr>
              <a:t> e teste.</a:t>
            </a:r>
          </a:p>
          <a:p>
            <a:r>
              <a:rPr lang="en-GB" dirty="0"/>
              <a:t>A </a:t>
            </a:r>
            <a:r>
              <a:rPr lang="en-GB" dirty="0" err="1"/>
              <a:t>segunda</a:t>
            </a:r>
            <a:r>
              <a:rPr lang="en-GB" dirty="0"/>
              <a:t> </a:t>
            </a:r>
            <a:r>
              <a:rPr lang="en-GB" dirty="0" err="1"/>
              <a:t>limitação</a:t>
            </a:r>
            <a:r>
              <a:rPr lang="en-GB" dirty="0"/>
              <a:t> </a:t>
            </a:r>
            <a:r>
              <a:rPr lang="en-GB" dirty="0" err="1"/>
              <a:t>é</a:t>
            </a:r>
            <a:r>
              <a:rPr lang="en-GB" dirty="0"/>
              <a:t> a </a:t>
            </a:r>
            <a:r>
              <a:rPr lang="en-GB" dirty="0" err="1"/>
              <a:t>dimensão</a:t>
            </a:r>
            <a:r>
              <a:rPr lang="en-GB" dirty="0"/>
              <a:t> </a:t>
            </a:r>
            <a:r>
              <a:rPr lang="en-GB" dirty="0" err="1"/>
              <a:t>reduzida</a:t>
            </a:r>
            <a:r>
              <a:rPr lang="en-GB" dirty="0"/>
              <a:t> dos conjuntos de </a:t>
            </a:r>
            <a:r>
              <a:rPr lang="en-GB" dirty="0" err="1"/>
              <a:t>treio</a:t>
            </a:r>
            <a:r>
              <a:rPr lang="en-GB" dirty="0"/>
              <a:t> e teste. Como </a:t>
            </a:r>
            <a:r>
              <a:rPr lang="en-GB" dirty="0" err="1"/>
              <a:t>estamos</a:t>
            </a:r>
            <a:r>
              <a:rPr lang="en-GB" dirty="0"/>
              <a:t> a </a:t>
            </a:r>
            <a:r>
              <a:rPr lang="en-GB" dirty="0" err="1"/>
              <a:t>trabalhar</a:t>
            </a:r>
            <a:r>
              <a:rPr lang="en-GB" dirty="0"/>
              <a:t> com </a:t>
            </a:r>
            <a:r>
              <a:rPr lang="en-GB" dirty="0" err="1"/>
              <a:t>séries</a:t>
            </a:r>
            <a:r>
              <a:rPr lang="en-GB" dirty="0"/>
              <a:t> </a:t>
            </a:r>
            <a:r>
              <a:rPr lang="en-GB" dirty="0" err="1"/>
              <a:t>anuais</a:t>
            </a:r>
            <a:r>
              <a:rPr lang="en-GB" dirty="0"/>
              <a:t> longas, mas com </a:t>
            </a:r>
            <a:r>
              <a:rPr lang="en-GB" dirty="0" err="1"/>
              <a:t>poucas</a:t>
            </a:r>
            <a:r>
              <a:rPr lang="en-GB" dirty="0"/>
              <a:t> </a:t>
            </a:r>
            <a:r>
              <a:rPr lang="en-GB" dirty="0" err="1"/>
              <a:t>observações</a:t>
            </a:r>
            <a:r>
              <a:rPr lang="en-GB" dirty="0"/>
              <a:t> no total, a </a:t>
            </a:r>
            <a:r>
              <a:rPr lang="en-GB" dirty="0" err="1"/>
              <a:t>validação</a:t>
            </a:r>
            <a:r>
              <a:rPr lang="en-GB" dirty="0"/>
              <a:t> walk-forward </a:t>
            </a:r>
            <a:r>
              <a:rPr lang="en-GB" dirty="0" err="1"/>
              <a:t>gera</a:t>
            </a:r>
            <a:r>
              <a:rPr lang="en-GB" dirty="0"/>
              <a:t> </a:t>
            </a:r>
            <a:r>
              <a:rPr lang="en-GB" dirty="0" err="1"/>
              <a:t>apenas</a:t>
            </a:r>
            <a:r>
              <a:rPr lang="en-GB" dirty="0"/>
              <a:t> 18 </a:t>
            </a:r>
            <a:r>
              <a:rPr lang="en-GB" dirty="0" err="1"/>
              <a:t>cenários</a:t>
            </a:r>
            <a:r>
              <a:rPr lang="en-GB" dirty="0"/>
              <a:t> no Douro e 16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Região</a:t>
            </a:r>
            <a:r>
              <a:rPr lang="en-GB" dirty="0"/>
              <a:t> dos Vinhos Verdes. </a:t>
            </a:r>
            <a:br>
              <a:rPr lang="en-GB" dirty="0"/>
            </a:br>
            <a:r>
              <a:rPr lang="en-GB" dirty="0"/>
              <a:t>Bem </a:t>
            </a:r>
            <a:r>
              <a:rPr lang="en-GB" dirty="0" err="1"/>
              <a:t>como</a:t>
            </a:r>
            <a:r>
              <a:rPr lang="en-GB" dirty="0"/>
              <a:t> a </a:t>
            </a:r>
            <a:r>
              <a:rPr lang="en-GB" dirty="0" err="1"/>
              <a:t>detecao</a:t>
            </a:r>
            <a:r>
              <a:rPr lang="en-GB" dirty="0"/>
              <a:t> de </a:t>
            </a:r>
            <a:r>
              <a:rPr lang="en-GB" dirty="0" err="1"/>
              <a:t>regras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poucos</a:t>
            </a:r>
            <a:r>
              <a:rPr lang="en-GB" dirty="0"/>
              <a:t> data points</a:t>
            </a:r>
            <a:br>
              <a:rPr lang="en-GB" dirty="0"/>
            </a:br>
            <a:r>
              <a:rPr lang="en-GB" dirty="0"/>
              <a:t>Por </a:t>
            </a:r>
            <a:r>
              <a:rPr lang="en-GB" dirty="0" err="1"/>
              <a:t>isso</a:t>
            </a:r>
            <a:r>
              <a:rPr lang="en-GB" dirty="0"/>
              <a:t>, o </a:t>
            </a:r>
            <a:r>
              <a:rPr lang="en-GB" dirty="0" err="1"/>
              <a:t>único</a:t>
            </a:r>
            <a:r>
              <a:rPr lang="en-GB" dirty="0"/>
              <a:t> </a:t>
            </a:r>
            <a:r>
              <a:rPr lang="en-GB" dirty="0" err="1"/>
              <a:t>resultado</a:t>
            </a:r>
            <a:r>
              <a:rPr lang="en-GB" dirty="0"/>
              <a:t> </a:t>
            </a:r>
            <a:r>
              <a:rPr lang="en-GB" dirty="0" err="1"/>
              <a:t>preditivo</a:t>
            </a:r>
            <a:r>
              <a:rPr lang="en-GB" dirty="0"/>
              <a:t>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encorajador</a:t>
            </a:r>
            <a:r>
              <a:rPr lang="en-GB" dirty="0"/>
              <a:t> — a </a:t>
            </a:r>
            <a:r>
              <a:rPr lang="en-GB" dirty="0" err="1"/>
              <a:t>janela</a:t>
            </a:r>
            <a:r>
              <a:rPr lang="en-GB" dirty="0"/>
              <a:t> </a:t>
            </a:r>
            <a:r>
              <a:rPr lang="en-GB" dirty="0" err="1"/>
              <a:t>equilibrada</a:t>
            </a:r>
            <a:r>
              <a:rPr lang="en-GB" dirty="0"/>
              <a:t> entre eras no Douro, com </a:t>
            </a:r>
            <a:r>
              <a:rPr lang="en-GB" dirty="0" err="1"/>
              <a:t>cinco</a:t>
            </a:r>
            <a:r>
              <a:rPr lang="en-GB" dirty="0"/>
              <a:t> </a:t>
            </a:r>
            <a:r>
              <a:rPr lang="en-GB" dirty="0" err="1"/>
              <a:t>resultados</a:t>
            </a:r>
            <a:r>
              <a:rPr lang="en-GB" dirty="0"/>
              <a:t> </a:t>
            </a:r>
            <a:r>
              <a:rPr lang="en-GB" dirty="0" err="1"/>
              <a:t>positivos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cinco</a:t>
            </a:r>
            <a:r>
              <a:rPr lang="en-GB" dirty="0"/>
              <a:t> </a:t>
            </a:r>
            <a:r>
              <a:rPr lang="en-GB" dirty="0" err="1"/>
              <a:t>cenários</a:t>
            </a:r>
            <a:r>
              <a:rPr lang="en-GB" dirty="0"/>
              <a:t> — </a:t>
            </a:r>
            <a:r>
              <a:rPr lang="en-GB" dirty="0" err="1"/>
              <a:t>deve</a:t>
            </a:r>
            <a:r>
              <a:rPr lang="en-GB" dirty="0"/>
              <a:t> ser </a:t>
            </a:r>
            <a:r>
              <a:rPr lang="en-GB" dirty="0" err="1"/>
              <a:t>tratado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exploratório</a:t>
            </a:r>
            <a:r>
              <a:rPr lang="en-GB" dirty="0"/>
              <a:t> e </a:t>
            </a:r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evidência</a:t>
            </a:r>
            <a:r>
              <a:rPr lang="en-GB" dirty="0"/>
              <a:t> </a:t>
            </a:r>
            <a:r>
              <a:rPr lang="en-GB" dirty="0" err="1"/>
              <a:t>confirmatória</a:t>
            </a:r>
            <a:r>
              <a:rPr lang="en-GB" dirty="0"/>
              <a:t>. Esta </a:t>
            </a:r>
            <a:r>
              <a:rPr lang="en-GB" dirty="0" err="1"/>
              <a:t>limitação</a:t>
            </a:r>
            <a:r>
              <a:rPr lang="en-GB" dirty="0"/>
              <a:t> </a:t>
            </a:r>
            <a:r>
              <a:rPr lang="en-GB" dirty="0" err="1"/>
              <a:t>é</a:t>
            </a:r>
            <a:r>
              <a:rPr lang="en-GB" dirty="0"/>
              <a:t> </a:t>
            </a:r>
            <a:r>
              <a:rPr lang="en-GB" dirty="0" err="1"/>
              <a:t>reconhecida</a:t>
            </a:r>
            <a:r>
              <a:rPr lang="en-GB" dirty="0"/>
              <a:t> </a:t>
            </a:r>
            <a:r>
              <a:rPr lang="en-GB" dirty="0" err="1"/>
              <a:t>explicitamente</a:t>
            </a:r>
            <a:r>
              <a:rPr lang="en-GB" dirty="0"/>
              <a:t> no </a:t>
            </a:r>
            <a:r>
              <a:rPr lang="en-GB" dirty="0" err="1"/>
              <a:t>trabalho</a:t>
            </a:r>
            <a:r>
              <a:rPr lang="en-GB" dirty="0"/>
              <a:t>.</a:t>
            </a:r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3. A </a:t>
            </a:r>
            <a:r>
              <a:rPr lang="en-GB" sz="1200" b="1" i="0" kern="1200" dirty="0" err="1">
                <a:effectLst/>
              </a:rPr>
              <a:t>terceira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limitação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a </a:t>
            </a:r>
            <a:r>
              <a:rPr lang="en-GB" sz="1200" b="1" i="0" kern="1200" dirty="0" err="1">
                <a:effectLst/>
              </a:rPr>
              <a:t>utilização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agregados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anuais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ao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nível</a:t>
            </a:r>
            <a:r>
              <a:rPr lang="en-GB" sz="1200" b="1" i="0" kern="1200" dirty="0">
                <a:effectLst/>
              </a:rPr>
              <a:t> de </a:t>
            </a:r>
            <a:r>
              <a:rPr lang="en-GB" sz="1200" b="1" i="0" kern="1200" dirty="0" err="1">
                <a:effectLst/>
              </a:rPr>
              <a:t>uma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única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região</a:t>
            </a:r>
            <a:r>
              <a:rPr lang="en-GB" sz="1200" b="1" i="0" kern="1200" dirty="0">
                <a:effectLst/>
              </a:rPr>
              <a:t>.</a:t>
            </a:r>
          </a:p>
          <a:p>
            <a:r>
              <a:rPr lang="en-GB" sz="1200" b="0" i="0" kern="1200" dirty="0">
                <a:effectLst/>
              </a:rPr>
              <a:t>Desta forma, </a:t>
            </a:r>
            <a:r>
              <a:rPr lang="en-GB" sz="1200" b="0" i="0" kern="1200" dirty="0" err="1">
                <a:effectLst/>
              </a:rPr>
              <a:t>não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existe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resolução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espacial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dentro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região</a:t>
            </a:r>
            <a:r>
              <a:rPr lang="en-GB" sz="1200" b="0" i="0" kern="1200" dirty="0">
                <a:effectLst/>
              </a:rPr>
              <a:t> nem </a:t>
            </a:r>
            <a:r>
              <a:rPr lang="en-GB" sz="1200" b="0" i="0" kern="1200" dirty="0" err="1">
                <a:effectLst/>
              </a:rPr>
              <a:t>resolução</a:t>
            </a:r>
            <a:r>
              <a:rPr lang="en-GB" sz="1200" b="0" i="0" kern="1200" dirty="0">
                <a:effectLst/>
              </a:rPr>
              <a:t> temporal </a:t>
            </a:r>
            <a:r>
              <a:rPr lang="en-GB" sz="1200" b="0" i="0" kern="1200" dirty="0" err="1">
                <a:effectLst/>
              </a:rPr>
              <a:t>ao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longo</a:t>
            </a:r>
            <a:r>
              <a:rPr lang="en-GB" sz="1200" b="0" i="0" kern="1200" dirty="0">
                <a:effectLst/>
              </a:rPr>
              <a:t> da </a:t>
            </a:r>
            <a:r>
              <a:rPr lang="en-GB" sz="1200" b="0" i="0" kern="1200" dirty="0" err="1">
                <a:effectLst/>
              </a:rPr>
              <a:t>campanha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vitícola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endParaRPr lang="en-GB" sz="1200" b="0" i="0" kern="1200" dirty="0">
              <a:effectLst/>
            </a:endParaRPr>
          </a:p>
          <a:p>
            <a:r>
              <a:rPr lang="en-GB" sz="2300" b="1" i="0" u="sng" kern="1200" dirty="0">
                <a:effectLst/>
              </a:rPr>
              <a:t>O </a:t>
            </a:r>
            <a:r>
              <a:rPr lang="en-GB" sz="2300" b="1" i="0" u="sng" kern="1200" dirty="0" err="1">
                <a:effectLst/>
              </a:rPr>
              <a:t>trabalho</a:t>
            </a:r>
            <a:r>
              <a:rPr lang="en-GB" sz="2300" b="1" i="0" u="sng" kern="1200" dirty="0">
                <a:effectLst/>
              </a:rPr>
              <a:t> </a:t>
            </a:r>
            <a:r>
              <a:rPr lang="en-GB" sz="2300" b="1" i="0" u="sng" kern="1200" dirty="0" err="1">
                <a:effectLst/>
              </a:rPr>
              <a:t>futuro</a:t>
            </a:r>
            <a:r>
              <a:rPr lang="en-GB" sz="2300" b="1" i="0" u="sng" kern="1200" dirty="0">
                <a:effectLst/>
              </a:rPr>
              <a:t> </a:t>
            </a:r>
            <a:r>
              <a:rPr lang="en-GB" sz="2300" b="1" i="0" u="sng" kern="1200" dirty="0" err="1">
                <a:effectLst/>
              </a:rPr>
              <a:t>decorre</a:t>
            </a:r>
            <a:r>
              <a:rPr lang="en-GB" sz="2300" b="1" i="0" u="sng" kern="1200" dirty="0">
                <a:effectLst/>
              </a:rPr>
              <a:t> </a:t>
            </a:r>
            <a:r>
              <a:rPr lang="en-GB" sz="2300" b="1" i="0" u="sng" kern="1200" dirty="0" err="1">
                <a:effectLst/>
              </a:rPr>
              <a:t>diretamente</a:t>
            </a:r>
            <a:r>
              <a:rPr lang="en-GB" sz="2300" b="1" i="0" u="sng" kern="1200" dirty="0">
                <a:effectLst/>
              </a:rPr>
              <a:t> </a:t>
            </a:r>
            <a:r>
              <a:rPr lang="en-GB" sz="2300" b="1" i="0" u="sng" kern="1200" dirty="0" err="1">
                <a:effectLst/>
              </a:rPr>
              <a:t>deste</a:t>
            </a:r>
            <a:r>
              <a:rPr lang="en-GB" sz="2300" b="1" i="0" u="sng" kern="1200" dirty="0">
                <a:effectLst/>
              </a:rPr>
              <a:t> </a:t>
            </a:r>
            <a:r>
              <a:rPr lang="en-GB" sz="2300" b="1" i="0" u="sng" kern="1200" dirty="0" err="1">
                <a:effectLst/>
              </a:rPr>
              <a:t>diagnóstico</a:t>
            </a:r>
            <a:r>
              <a:rPr lang="en-GB" sz="2300" b="1" i="0" u="sng" kern="1200" dirty="0">
                <a:effectLst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 err="1">
                <a:effectLst/>
              </a:rPr>
              <a:t>Será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necessário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incluir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covariáveis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estruturais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como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área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plantada</a:t>
            </a:r>
            <a:r>
              <a:rPr lang="en-GB" sz="1200" b="0" i="0" kern="1200" dirty="0">
                <a:effectLst/>
              </a:rPr>
              <a:t>, as quotas de </a:t>
            </a:r>
            <a:r>
              <a:rPr lang="en-GB" sz="1200" b="0" i="0" kern="1200" dirty="0" err="1">
                <a:effectLst/>
              </a:rPr>
              <a:t>produção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ou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número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produtores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certificados</a:t>
            </a:r>
            <a:r>
              <a:rPr lang="en-GB" sz="1200" b="0" i="0" kern="1200" dirty="0">
                <a:effectLst/>
              </a:rPr>
              <a:t>, para </a:t>
            </a:r>
            <a:r>
              <a:rPr lang="en-GB" sz="1200" b="0" i="0" kern="1200" dirty="0" err="1">
                <a:effectLst/>
              </a:rPr>
              <a:t>separar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melhor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evolução</a:t>
            </a:r>
            <a:r>
              <a:rPr lang="en-GB" sz="1200" b="0" i="0" kern="1200" dirty="0">
                <a:effectLst/>
              </a:rPr>
              <a:t> do </a:t>
            </a:r>
            <a:r>
              <a:rPr lang="en-GB" sz="1200" b="0" i="0" kern="1200" dirty="0" err="1">
                <a:effectLst/>
              </a:rPr>
              <a:t>setor</a:t>
            </a:r>
            <a:r>
              <a:rPr lang="en-GB" sz="1200" b="0" i="0" kern="1200" dirty="0">
                <a:effectLst/>
              </a:rPr>
              <a:t> dos </a:t>
            </a:r>
            <a:r>
              <a:rPr lang="en-GB" sz="1200" b="0" i="0" kern="1200" dirty="0" err="1">
                <a:effectLst/>
              </a:rPr>
              <a:t>efeitos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climáticos</a:t>
            </a:r>
            <a:r>
              <a:rPr lang="en-GB" sz="1200" b="0" i="0" kern="1200" dirty="0">
                <a:effectLst/>
              </a:rPr>
              <a:t>.</a:t>
            </a:r>
            <a:br>
              <a:rPr lang="en-GB" sz="1200" b="0" i="0" kern="1200" dirty="0">
                <a:effectLst/>
              </a:rPr>
            </a:br>
            <a:endParaRPr lang="en-GB" sz="1200" b="0" i="0" kern="1200" dirty="0">
              <a:effectLst/>
            </a:endParaRPr>
          </a:p>
          <a:p>
            <a:pPr marL="171450" indent="-171450">
              <a:buFontTx/>
              <a:buChar char="-"/>
            </a:pPr>
            <a:r>
              <a:rPr lang="en-GB" sz="1200" b="0" i="0" kern="1200" dirty="0" err="1">
                <a:effectLst/>
              </a:rPr>
              <a:t>Será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também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importante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pré-registar</a:t>
            </a:r>
            <a:r>
              <a:rPr lang="en-GB" sz="1200" b="0" i="0" kern="1200" dirty="0">
                <a:effectLst/>
              </a:rPr>
              <a:t> e </a:t>
            </a:r>
            <a:r>
              <a:rPr lang="en-GB" sz="1200" b="0" i="0" kern="1200" dirty="0" err="1">
                <a:effectLst/>
              </a:rPr>
              <a:t>validar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prospetivamente</a:t>
            </a:r>
            <a:r>
              <a:rPr lang="en-GB" sz="1200" b="0" i="0" kern="1200" dirty="0">
                <a:effectLst/>
              </a:rPr>
              <a:t> o </a:t>
            </a:r>
            <a:r>
              <a:rPr lang="en-GB" sz="1200" b="0" i="0" kern="1200" dirty="0" err="1">
                <a:effectLst/>
              </a:rPr>
              <a:t>critério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equilíbrio</a:t>
            </a:r>
            <a:r>
              <a:rPr lang="en-GB" sz="1200" b="0" i="0" kern="1200" dirty="0">
                <a:effectLst/>
              </a:rPr>
              <a:t> entre eras.</a:t>
            </a:r>
            <a:br>
              <a:rPr lang="en-GB" sz="1200" b="0" i="0" kern="1200" dirty="0">
                <a:effectLst/>
              </a:rPr>
            </a:br>
            <a:endParaRPr lang="en-GB" sz="1200" b="0" i="0" kern="1200" dirty="0">
              <a:effectLst/>
            </a:endParaRPr>
          </a:p>
          <a:p>
            <a:pPr marL="171450" indent="-171450">
              <a:buFontTx/>
              <a:buChar char="-"/>
            </a:pPr>
            <a:r>
              <a:rPr lang="en-GB" sz="1200" b="0" i="0" kern="1200" dirty="0" err="1">
                <a:effectLst/>
              </a:rPr>
              <a:t>Finalmente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será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relevante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aplicar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esta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metodologia</a:t>
            </a:r>
            <a:r>
              <a:rPr lang="en-GB" sz="1200" b="0" i="0" kern="1200" dirty="0">
                <a:effectLst/>
              </a:rPr>
              <a:t> a </a:t>
            </a:r>
            <a:r>
              <a:rPr lang="en-GB" sz="1200" b="0" i="0" kern="1200" dirty="0" err="1">
                <a:effectLst/>
              </a:rPr>
              <a:t>outras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séries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regionais</a:t>
            </a:r>
            <a:r>
              <a:rPr lang="en-GB" sz="1200" b="0" i="0" kern="1200" dirty="0">
                <a:effectLst/>
              </a:rPr>
              <a:t>, </a:t>
            </a:r>
            <a:r>
              <a:rPr lang="en-GB" sz="1200" b="0" i="0" kern="1200" dirty="0" err="1">
                <a:effectLst/>
              </a:rPr>
              <a:t>especialmente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séries</a:t>
            </a:r>
            <a:r>
              <a:rPr lang="en-GB" sz="1200" b="0" i="0" kern="1200" dirty="0">
                <a:effectLst/>
              </a:rPr>
              <a:t> com </a:t>
            </a:r>
            <a:r>
              <a:rPr lang="en-GB" sz="1200" b="0" i="0" kern="1200" dirty="0" err="1">
                <a:effectLst/>
              </a:rPr>
              <a:t>tendências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estruturais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menos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acentuadas</a:t>
            </a:r>
            <a:r>
              <a:rPr lang="en-GB" sz="1200" b="0" i="0" kern="1200" dirty="0">
                <a:effectLst/>
              </a:rPr>
              <a:t>.</a:t>
            </a:r>
          </a:p>
          <a:p>
            <a:pPr marL="171450" indent="-171450">
              <a:buFontTx/>
              <a:buChar char="-"/>
            </a:pPr>
            <a:endParaRPr lang="en-GB" sz="1200" b="0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A </a:t>
            </a:r>
            <a:r>
              <a:rPr lang="en-GB" sz="1200" b="1" i="0" kern="1200" dirty="0" err="1">
                <a:effectLst/>
              </a:rPr>
              <a:t>conclusão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honesta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é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que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esta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tese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identifica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concretamente</a:t>
            </a:r>
            <a:r>
              <a:rPr lang="en-GB" sz="1200" b="1" i="0" kern="1200" dirty="0">
                <a:effectLst/>
              </a:rPr>
              <a:t> o </a:t>
            </a:r>
            <a:r>
              <a:rPr lang="en-GB" sz="1200" b="1" i="0" kern="1200" dirty="0" err="1">
                <a:effectLst/>
              </a:rPr>
              <a:t>que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precisa</a:t>
            </a:r>
            <a:r>
              <a:rPr lang="en-GB" sz="1200" b="1" i="0" kern="1200" dirty="0">
                <a:effectLst/>
              </a:rPr>
              <a:t> de ser </a:t>
            </a:r>
            <a:r>
              <a:rPr lang="en-GB" sz="1200" b="1" i="0" kern="1200" dirty="0" err="1">
                <a:effectLst/>
              </a:rPr>
              <a:t>resolvido</a:t>
            </a:r>
            <a:r>
              <a:rPr lang="en-GB" sz="1200" b="1" i="0" kern="1200" dirty="0">
                <a:effectLst/>
              </a:rPr>
              <a:t> antes de </a:t>
            </a:r>
            <a:r>
              <a:rPr lang="en-GB" sz="1200" b="1" i="0" kern="1200" dirty="0" err="1">
                <a:effectLst/>
              </a:rPr>
              <a:t>estas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regras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poderem</a:t>
            </a:r>
            <a:r>
              <a:rPr lang="en-GB" sz="1200" b="1" i="0" kern="1200" dirty="0">
                <a:effectLst/>
              </a:rPr>
              <a:t> ser </a:t>
            </a:r>
            <a:r>
              <a:rPr lang="en-GB" sz="1200" b="1" i="0" kern="1200" dirty="0" err="1">
                <a:effectLst/>
              </a:rPr>
              <a:t>utilizadas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em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previsões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operacionais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fiáveis</a:t>
            </a:r>
            <a:r>
              <a:rPr lang="en-GB" sz="1200" b="1" i="0" kern="1200" dirty="0">
                <a:effectLst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20:20</a:t>
            </a:r>
          </a:p>
          <a:p>
            <a:pPr>
              <a:buNone/>
            </a:pPr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Slide 25— </a:t>
            </a:r>
            <a:r>
              <a:rPr lang="en-GB" sz="1200" b="1" i="0" kern="1200" dirty="0" err="1">
                <a:effectLst/>
              </a:rPr>
              <a:t>Próximos</a:t>
            </a:r>
            <a:r>
              <a:rPr lang="en-GB" sz="1200" b="1" i="0" kern="1200" dirty="0">
                <a:effectLst/>
              </a:rPr>
              <a:t> </a:t>
            </a:r>
            <a:r>
              <a:rPr lang="en-GB" sz="1200" b="1" i="0" kern="1200" dirty="0" err="1">
                <a:effectLst/>
              </a:rPr>
              <a:t>passos</a:t>
            </a:r>
            <a:r>
              <a:rPr lang="en-GB" sz="1200" b="1" i="0" kern="1200" dirty="0">
                <a:effectLst/>
              </a:rPr>
              <a:t> (~45 s)</a:t>
            </a:r>
          </a:p>
          <a:p>
            <a:endParaRPr lang="pt-PT" b="1" dirty="0"/>
          </a:p>
          <a:p>
            <a:r>
              <a:rPr lang="en-GB" b="0" dirty="0" err="1"/>
              <a:t>Retomo</a:t>
            </a:r>
            <a:r>
              <a:rPr lang="en-GB" b="0" dirty="0"/>
              <a:t> agora a </a:t>
            </a:r>
            <a:r>
              <a:rPr lang="en-GB" b="0" dirty="0" err="1"/>
              <a:t>pergunta</a:t>
            </a:r>
            <a:r>
              <a:rPr lang="en-GB" b="0" dirty="0"/>
              <a:t> </a:t>
            </a:r>
            <a:r>
              <a:rPr lang="en-GB" b="0" dirty="0" err="1"/>
              <a:t>inicial</a:t>
            </a:r>
            <a:r>
              <a:rPr lang="en-GB" b="0" dirty="0"/>
              <a:t>: </a:t>
            </a:r>
          </a:p>
          <a:p>
            <a:endParaRPr lang="en-GB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/>
              <a:t>O </a:t>
            </a:r>
            <a:r>
              <a:rPr lang="en-GB" b="0" dirty="0" err="1"/>
              <a:t>próximo</a:t>
            </a:r>
            <a:r>
              <a:rPr lang="en-GB" b="0" dirty="0"/>
              <a:t> </a:t>
            </a:r>
            <a:r>
              <a:rPr lang="en-GB" b="0" dirty="0" err="1"/>
              <a:t>passo</a:t>
            </a:r>
            <a:r>
              <a:rPr lang="en-GB" b="0" dirty="0"/>
              <a:t> </a:t>
            </a:r>
            <a:r>
              <a:rPr lang="en-GB" b="0" dirty="0" err="1"/>
              <a:t>é</a:t>
            </a:r>
            <a:r>
              <a:rPr lang="en-GB" b="0" dirty="0"/>
              <a:t>, </a:t>
            </a:r>
            <a:r>
              <a:rPr lang="en-GB" b="0" dirty="0" err="1"/>
              <a:t>por</a:t>
            </a:r>
            <a:r>
              <a:rPr lang="en-GB" b="0" dirty="0"/>
              <a:t> </a:t>
            </a:r>
            <a:r>
              <a:rPr lang="en-GB" b="0" dirty="0" err="1"/>
              <a:t>isso</a:t>
            </a:r>
            <a:r>
              <a:rPr lang="en-GB" b="0" dirty="0"/>
              <a:t>,</a:t>
            </a:r>
            <a:r>
              <a:rPr lang="en-GB" b="1" dirty="0"/>
              <a:t> </a:t>
            </a:r>
            <a:r>
              <a:rPr lang="en-GB" b="1" dirty="0" err="1"/>
              <a:t>Conseguimos</a:t>
            </a:r>
            <a:r>
              <a:rPr lang="en-GB" b="1" dirty="0"/>
              <a:t> </a:t>
            </a:r>
            <a:r>
              <a:rPr lang="en-GB" b="1" dirty="0" err="1"/>
              <a:t>prever</a:t>
            </a:r>
            <a:r>
              <a:rPr lang="en-GB" b="1" dirty="0"/>
              <a:t> a </a:t>
            </a:r>
            <a:r>
              <a:rPr lang="en-GB" b="1" dirty="0" err="1"/>
              <a:t>produção</a:t>
            </a:r>
            <a:r>
              <a:rPr lang="en-GB" b="1" dirty="0"/>
              <a:t> de vinho com </a:t>
            </a:r>
            <a:r>
              <a:rPr lang="en-GB" b="1" dirty="0" err="1"/>
              <a:t>modelos</a:t>
            </a:r>
            <a:r>
              <a:rPr lang="en-GB" b="1" dirty="0"/>
              <a:t> </a:t>
            </a:r>
            <a:r>
              <a:rPr lang="en-GB" b="1" dirty="0" err="1"/>
              <a:t>baseados</a:t>
            </a:r>
            <a:r>
              <a:rPr lang="en-GB" b="1" dirty="0"/>
              <a:t> </a:t>
            </a:r>
            <a:r>
              <a:rPr lang="en-GB" b="1" dirty="0" err="1"/>
              <a:t>em</a:t>
            </a:r>
            <a:r>
              <a:rPr lang="en-GB" b="1" dirty="0"/>
              <a:t> </a:t>
            </a:r>
            <a:r>
              <a:rPr lang="en-GB" b="1" dirty="0" err="1"/>
              <a:t>regras</a:t>
            </a:r>
            <a:r>
              <a:rPr lang="en-GB" b="1" dirty="0"/>
              <a:t>? </a:t>
            </a:r>
            <a:r>
              <a:rPr lang="en-GB" b="1" dirty="0" err="1"/>
              <a:t>Ainda</a:t>
            </a:r>
            <a:r>
              <a:rPr lang="en-GB" b="1" dirty="0"/>
              <a:t> </a:t>
            </a:r>
            <a:r>
              <a:rPr lang="en-GB" b="1" dirty="0" err="1"/>
              <a:t>não</a:t>
            </a:r>
            <a:r>
              <a:rPr lang="en-GB" b="1" dirty="0"/>
              <a:t> de forma </a:t>
            </a:r>
            <a:r>
              <a:rPr lang="en-GB" b="1" dirty="0" err="1"/>
              <a:t>fiável</a:t>
            </a:r>
            <a:r>
              <a:rPr lang="en-GB" b="1" dirty="0"/>
              <a:t>, </a:t>
            </a:r>
            <a:r>
              <a:rPr lang="en-GB" b="1" dirty="0" err="1"/>
              <a:t>pelo</a:t>
            </a:r>
            <a:r>
              <a:rPr lang="en-GB" b="1" dirty="0"/>
              <a:t> </a:t>
            </a:r>
            <a:r>
              <a:rPr lang="en-GB" b="1" dirty="0" err="1"/>
              <a:t>menos</a:t>
            </a:r>
            <a:r>
              <a:rPr lang="en-GB" b="1" dirty="0"/>
              <a:t> </a:t>
            </a:r>
            <a:r>
              <a:rPr lang="en-GB" b="1" dirty="0" err="1"/>
              <a:t>usando</a:t>
            </a:r>
            <a:r>
              <a:rPr lang="en-GB" b="1" dirty="0"/>
              <a:t> </a:t>
            </a:r>
            <a:r>
              <a:rPr lang="en-GB" b="1" dirty="0" err="1"/>
              <a:t>apenas</a:t>
            </a:r>
            <a:r>
              <a:rPr lang="en-GB" b="1" dirty="0"/>
              <a:t> </a:t>
            </a:r>
            <a:r>
              <a:rPr lang="en-GB" b="1" dirty="0" err="1"/>
              <a:t>séries</a:t>
            </a:r>
            <a:r>
              <a:rPr lang="en-GB" b="1" dirty="0"/>
              <a:t> </a:t>
            </a:r>
            <a:r>
              <a:rPr lang="en-GB" b="1" dirty="0" err="1"/>
              <a:t>regionais</a:t>
            </a:r>
            <a:r>
              <a:rPr lang="en-GB" b="1" dirty="0"/>
              <a:t> </a:t>
            </a:r>
            <a:r>
              <a:rPr lang="en-GB" b="1" dirty="0" err="1"/>
              <a:t>anuais</a:t>
            </a:r>
            <a:r>
              <a:rPr lang="en-GB" b="1" dirty="0"/>
              <a:t>. </a:t>
            </a:r>
            <a:br>
              <a:rPr lang="en-GB" b="1" dirty="0"/>
            </a:br>
            <a:br>
              <a:rPr lang="en-GB" b="1" dirty="0"/>
            </a:br>
            <a:r>
              <a:rPr lang="en-GB" b="1" dirty="0"/>
              <a:t>Mas </a:t>
            </a:r>
            <a:r>
              <a:rPr lang="en-GB" b="1" dirty="0" err="1"/>
              <a:t>conseguimos</a:t>
            </a:r>
            <a:r>
              <a:rPr lang="en-GB" b="1" dirty="0"/>
              <a:t> </a:t>
            </a:r>
            <a:r>
              <a:rPr lang="en-GB" b="1" dirty="0" err="1"/>
              <a:t>explicar</a:t>
            </a:r>
            <a:r>
              <a:rPr lang="en-GB" b="1" dirty="0"/>
              <a:t> </a:t>
            </a:r>
            <a:r>
              <a:rPr lang="en-GB" b="1" dirty="0" err="1"/>
              <a:t>parte</a:t>
            </a:r>
            <a:r>
              <a:rPr lang="en-GB" b="1" dirty="0"/>
              <a:t> da </a:t>
            </a:r>
            <a:r>
              <a:rPr lang="en-GB" b="1" dirty="0" err="1"/>
              <a:t>relação</a:t>
            </a:r>
            <a:r>
              <a:rPr lang="en-GB" b="1" dirty="0"/>
              <a:t> entre </a:t>
            </a:r>
            <a:r>
              <a:rPr lang="en-GB" b="1" dirty="0" err="1"/>
              <a:t>clima</a:t>
            </a:r>
            <a:r>
              <a:rPr lang="en-GB" b="1" dirty="0"/>
              <a:t> e </a:t>
            </a:r>
            <a:r>
              <a:rPr lang="en-GB" b="1" dirty="0" err="1"/>
              <a:t>produção</a:t>
            </a:r>
            <a:r>
              <a:rPr lang="en-GB" b="1" dirty="0"/>
              <a:t> de forma </a:t>
            </a:r>
            <a:r>
              <a:rPr lang="en-GB" b="1" dirty="0" err="1"/>
              <a:t>auditável</a:t>
            </a:r>
            <a:r>
              <a:rPr lang="en-GB" b="1" dirty="0"/>
              <a:t> e </a:t>
            </a:r>
            <a:r>
              <a:rPr lang="en-GB" b="1" dirty="0" err="1"/>
              <a:t>agronomicamente</a:t>
            </a:r>
            <a:r>
              <a:rPr lang="en-GB" b="1" dirty="0"/>
              <a:t> </a:t>
            </a:r>
            <a:r>
              <a:rPr lang="en-GB" b="1" dirty="0" err="1"/>
              <a:t>relevante</a:t>
            </a:r>
            <a:r>
              <a:rPr lang="en-GB" b="1" dirty="0"/>
              <a:t>.</a:t>
            </a:r>
          </a:p>
          <a:p>
            <a:endParaRPr lang="en-GB" b="0" dirty="0"/>
          </a:p>
          <a:p>
            <a:r>
              <a:rPr lang="en-GB" b="1" dirty="0"/>
              <a:t>O </a:t>
            </a:r>
            <a:r>
              <a:rPr lang="en-GB" b="1" dirty="0" err="1"/>
              <a:t>próximo</a:t>
            </a:r>
            <a:r>
              <a:rPr lang="en-GB" b="1" dirty="0"/>
              <a:t> </a:t>
            </a:r>
            <a:r>
              <a:rPr lang="en-GB" b="1" dirty="0" err="1"/>
              <a:t>passo</a:t>
            </a:r>
            <a:r>
              <a:rPr lang="en-GB" b="1" dirty="0"/>
              <a:t> </a:t>
            </a:r>
            <a:r>
              <a:rPr lang="en-GB" b="1" dirty="0" err="1"/>
              <a:t>é</a:t>
            </a:r>
            <a:r>
              <a:rPr lang="en-GB" b="1" dirty="0"/>
              <a:t>, </a:t>
            </a:r>
            <a:r>
              <a:rPr lang="en-GB" b="1" dirty="0" err="1"/>
              <a:t>por</a:t>
            </a:r>
            <a:r>
              <a:rPr lang="en-GB" b="1" dirty="0"/>
              <a:t> </a:t>
            </a:r>
            <a:r>
              <a:rPr lang="en-GB" b="1" dirty="0" err="1"/>
              <a:t>isso</a:t>
            </a:r>
            <a:r>
              <a:rPr lang="en-GB" b="1" dirty="0"/>
              <a:t>, - </a:t>
            </a:r>
            <a:r>
              <a:rPr lang="en-GB" b="1" dirty="0" err="1"/>
              <a:t>Modelar</a:t>
            </a:r>
            <a:r>
              <a:rPr lang="en-GB" b="1" dirty="0"/>
              <a:t> </a:t>
            </a:r>
            <a:r>
              <a:rPr lang="en-GB" b="1" dirty="0" err="1"/>
              <a:t>explicitamente</a:t>
            </a:r>
            <a:r>
              <a:rPr lang="en-GB" b="1" dirty="0"/>
              <a:t> a </a:t>
            </a:r>
            <a:r>
              <a:rPr lang="en-GB" b="1" dirty="0" err="1"/>
              <a:t>estrutura</a:t>
            </a:r>
            <a:r>
              <a:rPr lang="en-GB" b="1" dirty="0"/>
              <a:t>. </a:t>
            </a:r>
          </a:p>
          <a:p>
            <a:endParaRPr lang="en-GB" b="1" dirty="0"/>
          </a:p>
          <a:p>
            <a:pPr marL="171450" indent="-171450">
              <a:buFontTx/>
              <a:buChar char="-"/>
            </a:pPr>
            <a:r>
              <a:rPr lang="en-GB" b="0" dirty="0"/>
              <a:t>Primeiro, </a:t>
            </a:r>
            <a:r>
              <a:rPr lang="en-GB" b="0" dirty="0" err="1"/>
              <a:t>incluir</a:t>
            </a:r>
            <a:r>
              <a:rPr lang="en-GB" b="0" dirty="0"/>
              <a:t> </a:t>
            </a:r>
            <a:r>
              <a:rPr lang="en-GB" b="0" dirty="0" err="1"/>
              <a:t>covariáveis</a:t>
            </a:r>
            <a:r>
              <a:rPr lang="en-GB" b="0" dirty="0"/>
              <a:t> </a:t>
            </a:r>
            <a:r>
              <a:rPr lang="en-GB" b="0" dirty="0" err="1"/>
              <a:t>estruturais</a:t>
            </a:r>
            <a:r>
              <a:rPr lang="en-GB" b="0" dirty="0"/>
              <a:t> </a:t>
            </a:r>
            <a:r>
              <a:rPr lang="en-GB" b="0" dirty="0" err="1"/>
              <a:t>como</a:t>
            </a:r>
            <a:r>
              <a:rPr lang="en-GB" b="0" dirty="0"/>
              <a:t> </a:t>
            </a:r>
            <a:r>
              <a:rPr lang="en-GB" b="0" dirty="0" err="1"/>
              <a:t>área</a:t>
            </a:r>
            <a:r>
              <a:rPr lang="en-GB" b="0" dirty="0"/>
              <a:t> </a:t>
            </a:r>
            <a:r>
              <a:rPr lang="en-GB" b="0" dirty="0" err="1"/>
              <a:t>plantada</a:t>
            </a:r>
            <a:r>
              <a:rPr lang="en-GB" b="0" dirty="0"/>
              <a:t>, quotas e </a:t>
            </a:r>
            <a:r>
              <a:rPr lang="en-GB" b="0" dirty="0" err="1"/>
              <a:t>produtores</a:t>
            </a:r>
            <a:r>
              <a:rPr lang="en-GB" b="0" dirty="0"/>
              <a:t>. </a:t>
            </a:r>
          </a:p>
          <a:p>
            <a:pPr marL="171450" indent="-171450">
              <a:buFontTx/>
              <a:buChar char="-"/>
            </a:pPr>
            <a:r>
              <a:rPr lang="en-GB" b="0" dirty="0"/>
              <a:t>Segundo, </a:t>
            </a:r>
            <a:r>
              <a:rPr lang="en-GB" b="0" dirty="0" err="1"/>
              <a:t>validar</a:t>
            </a:r>
            <a:r>
              <a:rPr lang="en-GB" b="0" dirty="0"/>
              <a:t> </a:t>
            </a:r>
            <a:r>
              <a:rPr lang="en-GB" b="0" dirty="0" err="1"/>
              <a:t>prospetivamente</a:t>
            </a:r>
            <a:r>
              <a:rPr lang="en-GB" b="0" dirty="0"/>
              <a:t> a </a:t>
            </a:r>
            <a:r>
              <a:rPr lang="en-GB" b="0" dirty="0" err="1"/>
              <a:t>hipótese</a:t>
            </a:r>
            <a:r>
              <a:rPr lang="en-GB" b="0" dirty="0"/>
              <a:t> da </a:t>
            </a:r>
            <a:r>
              <a:rPr lang="en-GB" b="0" dirty="0" err="1"/>
              <a:t>janela</a:t>
            </a:r>
            <a:r>
              <a:rPr lang="en-GB" b="0" dirty="0"/>
              <a:t> </a:t>
            </a:r>
            <a:r>
              <a:rPr lang="en-GB" b="0" dirty="0" err="1"/>
              <a:t>equilibrada</a:t>
            </a:r>
            <a:r>
              <a:rPr lang="en-GB" b="0" dirty="0"/>
              <a:t> entre eras. </a:t>
            </a:r>
          </a:p>
          <a:p>
            <a:pPr marL="171450" indent="-171450">
              <a:buFontTx/>
              <a:buChar char="-"/>
            </a:pPr>
            <a:r>
              <a:rPr lang="en-GB" b="0" dirty="0"/>
              <a:t>Terceiro, </a:t>
            </a:r>
            <a:r>
              <a:rPr lang="en-GB" b="0" dirty="0" err="1"/>
              <a:t>aumentar</a:t>
            </a:r>
            <a:r>
              <a:rPr lang="en-GB" b="0" dirty="0"/>
              <a:t> a </a:t>
            </a:r>
            <a:r>
              <a:rPr lang="en-GB" b="0" dirty="0" err="1"/>
              <a:t>resolução</a:t>
            </a:r>
            <a:r>
              <a:rPr lang="en-GB" b="0" dirty="0"/>
              <a:t> </a:t>
            </a:r>
            <a:r>
              <a:rPr lang="en-GB" b="0" dirty="0" err="1"/>
              <a:t>espacial</a:t>
            </a:r>
            <a:r>
              <a:rPr lang="en-GB" b="0" dirty="0"/>
              <a:t> para </a:t>
            </a:r>
            <a:r>
              <a:rPr lang="en-GB" b="0" dirty="0" err="1"/>
              <a:t>captar</a:t>
            </a:r>
            <a:r>
              <a:rPr lang="en-GB" b="0" dirty="0"/>
              <a:t> </a:t>
            </a:r>
            <a:r>
              <a:rPr lang="en-GB" b="0" dirty="0" err="1"/>
              <a:t>heterogeneidade</a:t>
            </a:r>
            <a:r>
              <a:rPr lang="en-GB" b="0" dirty="0"/>
              <a:t> </a:t>
            </a:r>
            <a:r>
              <a:rPr lang="en-GB" b="0" dirty="0" err="1"/>
              <a:t>dentro</a:t>
            </a:r>
            <a:r>
              <a:rPr lang="en-GB" b="0" dirty="0"/>
              <a:t> das </a:t>
            </a:r>
            <a:r>
              <a:rPr lang="en-GB" b="0" dirty="0" err="1"/>
              <a:t>regiões</a:t>
            </a:r>
            <a:r>
              <a:rPr lang="en-GB" b="0" dirty="0"/>
              <a:t>. </a:t>
            </a:r>
          </a:p>
          <a:p>
            <a:pPr marL="171450" indent="-171450">
              <a:buFontTx/>
              <a:buChar char="-"/>
            </a:pPr>
            <a:r>
              <a:rPr lang="en-GB" b="0" dirty="0"/>
              <a:t>E quarto, </a:t>
            </a:r>
            <a:r>
              <a:rPr lang="en-GB" b="0" dirty="0" err="1"/>
              <a:t>testar</a:t>
            </a:r>
            <a:r>
              <a:rPr lang="en-GB" b="0" dirty="0"/>
              <a:t> </a:t>
            </a:r>
            <a:r>
              <a:rPr lang="en-GB" b="0" dirty="0" err="1"/>
              <a:t>outras</a:t>
            </a:r>
            <a:r>
              <a:rPr lang="en-GB" b="0" dirty="0"/>
              <a:t> </a:t>
            </a:r>
            <a:r>
              <a:rPr lang="en-GB" b="0" dirty="0" err="1"/>
              <a:t>regiões</a:t>
            </a:r>
            <a:r>
              <a:rPr lang="en-GB" b="0" dirty="0"/>
              <a:t> </a:t>
            </a:r>
            <a:r>
              <a:rPr lang="en-GB" b="0" dirty="0" err="1"/>
              <a:t>ou</a:t>
            </a:r>
            <a:r>
              <a:rPr lang="en-GB" b="0" dirty="0"/>
              <a:t> </a:t>
            </a:r>
            <a:r>
              <a:rPr lang="en-GB" b="0" dirty="0" err="1"/>
              <a:t>séries</a:t>
            </a:r>
            <a:r>
              <a:rPr lang="en-GB" b="0" dirty="0"/>
              <a:t> com </a:t>
            </a:r>
            <a:r>
              <a:rPr lang="en-GB" b="0" dirty="0" err="1"/>
              <a:t>tendências</a:t>
            </a:r>
            <a:r>
              <a:rPr lang="en-GB" b="0" dirty="0"/>
              <a:t> </a:t>
            </a:r>
            <a:r>
              <a:rPr lang="en-GB" b="0" dirty="0" err="1"/>
              <a:t>estruturais</a:t>
            </a:r>
            <a:r>
              <a:rPr lang="en-GB" b="0" dirty="0"/>
              <a:t> </a:t>
            </a:r>
            <a:r>
              <a:rPr lang="en-GB" b="0" dirty="0" err="1"/>
              <a:t>menos</a:t>
            </a:r>
            <a:r>
              <a:rPr lang="en-GB" b="0" dirty="0"/>
              <a:t> fortes.</a:t>
            </a:r>
          </a:p>
          <a:p>
            <a:pPr marL="171450" indent="-171450">
              <a:buFontTx/>
              <a:buChar char="-"/>
            </a:pPr>
            <a:endParaRPr lang="en-GB" b="0" dirty="0"/>
          </a:p>
          <a:p>
            <a:r>
              <a:rPr lang="en-GB" b="1" dirty="0"/>
              <a:t>A </a:t>
            </a:r>
            <a:r>
              <a:rPr lang="en-GB" b="1" dirty="0" err="1"/>
              <a:t>mensagem</a:t>
            </a:r>
            <a:r>
              <a:rPr lang="en-GB" b="1" dirty="0"/>
              <a:t> final </a:t>
            </a:r>
            <a:r>
              <a:rPr lang="en-GB" b="1" dirty="0" err="1"/>
              <a:t>é</a:t>
            </a:r>
            <a:r>
              <a:rPr lang="en-GB" b="1" dirty="0"/>
              <a:t> </a:t>
            </a:r>
            <a:r>
              <a:rPr lang="en-GB" b="1" dirty="0" err="1"/>
              <a:t>esta</a:t>
            </a:r>
            <a:r>
              <a:rPr lang="en-GB" b="1" dirty="0"/>
              <a:t>: as </a:t>
            </a:r>
            <a:r>
              <a:rPr lang="en-GB" b="1" dirty="0" err="1"/>
              <a:t>regras</a:t>
            </a:r>
            <a:r>
              <a:rPr lang="en-GB" b="1" dirty="0"/>
              <a:t> </a:t>
            </a:r>
            <a:r>
              <a:rPr lang="en-GB" b="1" dirty="0" err="1"/>
              <a:t>conseguem</a:t>
            </a:r>
            <a:r>
              <a:rPr lang="en-GB" b="1" dirty="0"/>
              <a:t> </a:t>
            </a:r>
            <a:r>
              <a:rPr lang="en-GB" b="1" dirty="0" err="1"/>
              <a:t>explicar</a:t>
            </a:r>
            <a:r>
              <a:rPr lang="en-GB" b="1" dirty="0"/>
              <a:t> o passado…  mas </a:t>
            </a:r>
            <a:r>
              <a:rPr lang="en-GB" b="1" dirty="0" err="1"/>
              <a:t>é</a:t>
            </a:r>
            <a:r>
              <a:rPr lang="en-GB" b="1" dirty="0"/>
              <a:t> a </a:t>
            </a:r>
            <a:r>
              <a:rPr lang="en-GB" b="1" dirty="0" err="1"/>
              <a:t>estrutura</a:t>
            </a:r>
            <a:r>
              <a:rPr lang="en-GB" b="1" dirty="0"/>
              <a:t> da </a:t>
            </a:r>
            <a:r>
              <a:rPr lang="en-GB" b="1" dirty="0" err="1"/>
              <a:t>série</a:t>
            </a:r>
            <a:r>
              <a:rPr lang="en-GB" b="1" dirty="0"/>
              <a:t> </a:t>
            </a:r>
            <a:r>
              <a:rPr lang="en-GB" b="1" dirty="0" err="1"/>
              <a:t>que</a:t>
            </a:r>
            <a:r>
              <a:rPr lang="en-GB" b="1" dirty="0"/>
              <a:t> </a:t>
            </a:r>
            <a:r>
              <a:rPr lang="en-GB" b="1" dirty="0" err="1"/>
              <a:t>determina</a:t>
            </a:r>
            <a:r>
              <a:rPr lang="en-GB" b="1" dirty="0"/>
              <a:t> se </a:t>
            </a:r>
            <a:r>
              <a:rPr lang="en-GB" b="1" dirty="0" err="1"/>
              <a:t>essas</a:t>
            </a:r>
            <a:r>
              <a:rPr lang="en-GB" b="1" dirty="0"/>
              <a:t> </a:t>
            </a:r>
            <a:r>
              <a:rPr lang="en-GB" b="1" dirty="0" err="1"/>
              <a:t>regras</a:t>
            </a:r>
            <a:r>
              <a:rPr lang="en-GB" b="1" dirty="0"/>
              <a:t> </a:t>
            </a:r>
            <a:r>
              <a:rPr lang="en-GB" b="1" dirty="0" err="1"/>
              <a:t>conseguem</a:t>
            </a:r>
            <a:r>
              <a:rPr lang="en-GB" b="1" dirty="0"/>
              <a:t> </a:t>
            </a:r>
            <a:r>
              <a:rPr lang="en-GB" b="1" dirty="0" err="1"/>
              <a:t>prever</a:t>
            </a:r>
            <a:r>
              <a:rPr lang="en-GB" b="1" dirty="0"/>
              <a:t> o </a:t>
            </a:r>
            <a:r>
              <a:rPr lang="en-GB" b="1" dirty="0" err="1"/>
              <a:t>futuro</a:t>
            </a:r>
            <a:r>
              <a:rPr lang="en-GB" b="1" dirty="0"/>
              <a:t>.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dirty="0"/>
              <a:t>------------------------------------------------------------------------------------------------------</a:t>
            </a:r>
          </a:p>
          <a:p>
            <a:r>
              <a:rPr lang="en-GB" b="1" u="sng" dirty="0"/>
              <a:t>Nota </a:t>
            </a:r>
            <a:r>
              <a:rPr lang="en-GB" b="1" u="sng" dirty="0" err="1"/>
              <a:t>adicional</a:t>
            </a:r>
            <a:r>
              <a:rPr lang="en-GB" b="1" u="sng" dirty="0"/>
              <a:t>  (nao </a:t>
            </a:r>
            <a:r>
              <a:rPr lang="en-GB" b="1" u="sng" dirty="0" err="1"/>
              <a:t>conta</a:t>
            </a:r>
            <a:r>
              <a:rPr lang="en-GB" b="1" u="sng" dirty="0"/>
              <a:t> para a </a:t>
            </a:r>
            <a:r>
              <a:rPr lang="en-GB" b="1" u="sng" dirty="0" err="1"/>
              <a:t>apresentacao</a:t>
            </a:r>
            <a:r>
              <a:rPr lang="en-GB" b="1" u="sng" dirty="0"/>
              <a:t>)</a:t>
            </a:r>
          </a:p>
          <a:p>
            <a:r>
              <a:rPr lang="en-GB" b="0" dirty="0"/>
              <a:t>Eu </a:t>
            </a:r>
            <a:r>
              <a:rPr lang="en-GB" b="0" dirty="0" err="1"/>
              <a:t>deixaria</a:t>
            </a:r>
            <a:r>
              <a:rPr lang="en-GB" b="0" dirty="0"/>
              <a:t> o EMM para </a:t>
            </a:r>
            <a:r>
              <a:rPr lang="en-GB" b="0" dirty="0" err="1"/>
              <a:t>perguntas</a:t>
            </a:r>
            <a:r>
              <a:rPr lang="en-GB" b="0" dirty="0"/>
              <a:t> </a:t>
            </a:r>
            <a:r>
              <a:rPr lang="en-GB" b="0" dirty="0" err="1"/>
              <a:t>ou</a:t>
            </a:r>
            <a:r>
              <a:rPr lang="en-GB" b="0" dirty="0"/>
              <a:t> para </a:t>
            </a:r>
            <a:r>
              <a:rPr lang="en-GB" b="0" dirty="0" err="1"/>
              <a:t>uma</a:t>
            </a:r>
            <a:r>
              <a:rPr lang="en-GB" b="0" dirty="0"/>
              <a:t> </a:t>
            </a:r>
            <a:r>
              <a:rPr lang="en-GB" b="0" dirty="0" err="1"/>
              <a:t>frase</a:t>
            </a:r>
            <a:r>
              <a:rPr lang="en-GB" b="0" dirty="0"/>
              <a:t> </a:t>
            </a:r>
            <a:r>
              <a:rPr lang="en-GB" b="0" dirty="0" err="1"/>
              <a:t>opcional</a:t>
            </a:r>
            <a:r>
              <a:rPr lang="en-GB" b="0" dirty="0"/>
              <a:t>:</a:t>
            </a:r>
          </a:p>
          <a:p>
            <a:r>
              <a:rPr lang="en-GB" b="0" dirty="0"/>
              <a:t>Uma </a:t>
            </a:r>
            <a:r>
              <a:rPr lang="en-GB" b="0" dirty="0" err="1"/>
              <a:t>extensão</a:t>
            </a:r>
            <a:r>
              <a:rPr lang="en-GB" b="0" dirty="0"/>
              <a:t> </a:t>
            </a:r>
            <a:r>
              <a:rPr lang="en-GB" b="0" dirty="0" err="1"/>
              <a:t>possível</a:t>
            </a:r>
            <a:r>
              <a:rPr lang="en-GB" b="0" dirty="0"/>
              <a:t> seria </a:t>
            </a:r>
            <a:r>
              <a:rPr lang="en-GB" b="0" dirty="0" err="1"/>
              <a:t>ainda</a:t>
            </a:r>
            <a:r>
              <a:rPr lang="en-GB" b="0" dirty="0"/>
              <a:t> usar Exceptional Model Mining para </a:t>
            </a:r>
            <a:r>
              <a:rPr lang="en-GB" b="0" dirty="0" err="1"/>
              <a:t>procurar</a:t>
            </a:r>
            <a:r>
              <a:rPr lang="en-GB" b="0" dirty="0"/>
              <a:t> </a:t>
            </a:r>
            <a:r>
              <a:rPr lang="en-GB" b="0" dirty="0" err="1"/>
              <a:t>contextos</a:t>
            </a:r>
            <a:r>
              <a:rPr lang="en-GB" b="0" dirty="0"/>
              <a:t> </a:t>
            </a:r>
            <a:r>
              <a:rPr lang="en-GB" b="0" dirty="0" err="1"/>
              <a:t>onde</a:t>
            </a:r>
            <a:r>
              <a:rPr lang="en-GB" b="0" dirty="0"/>
              <a:t> a </a:t>
            </a:r>
            <a:r>
              <a:rPr lang="en-GB" b="0" dirty="0" err="1"/>
              <a:t>relação</a:t>
            </a:r>
            <a:r>
              <a:rPr lang="en-GB" b="0" dirty="0"/>
              <a:t> </a:t>
            </a:r>
            <a:r>
              <a:rPr lang="en-GB" b="0" dirty="0" err="1"/>
              <a:t>clima</a:t>
            </a:r>
            <a:r>
              <a:rPr lang="en-GB" b="0" dirty="0"/>
              <a:t>–</a:t>
            </a:r>
            <a:r>
              <a:rPr lang="en-GB" b="0" dirty="0" err="1"/>
              <a:t>produção</a:t>
            </a:r>
            <a:r>
              <a:rPr lang="en-GB" b="0" dirty="0"/>
              <a:t> </a:t>
            </a:r>
            <a:r>
              <a:rPr lang="en-GB" b="0" dirty="0" err="1"/>
              <a:t>é</a:t>
            </a:r>
            <a:r>
              <a:rPr lang="en-GB" b="0" dirty="0"/>
              <a:t> </a:t>
            </a:r>
            <a:r>
              <a:rPr lang="en-GB" b="0" dirty="0" err="1"/>
              <a:t>excecional</a:t>
            </a:r>
            <a:r>
              <a:rPr lang="en-GB" b="0" dirty="0"/>
              <a:t>, mas </a:t>
            </a:r>
            <a:r>
              <a:rPr lang="en-GB" b="0" dirty="0" err="1"/>
              <a:t>isso</a:t>
            </a:r>
            <a:r>
              <a:rPr lang="en-GB" b="0" dirty="0"/>
              <a:t> </a:t>
            </a:r>
            <a:r>
              <a:rPr lang="en-GB" b="0" dirty="0" err="1"/>
              <a:t>fica</a:t>
            </a:r>
            <a:r>
              <a:rPr lang="en-GB" b="0" dirty="0"/>
              <a:t> </a:t>
            </a:r>
            <a:r>
              <a:rPr lang="en-GB" b="0" dirty="0" err="1"/>
              <a:t>como</a:t>
            </a:r>
            <a:r>
              <a:rPr lang="en-GB" b="0" dirty="0"/>
              <a:t> </a:t>
            </a:r>
            <a:r>
              <a:rPr lang="en-GB" b="0" dirty="0" err="1"/>
              <a:t>trabalho</a:t>
            </a:r>
            <a:r>
              <a:rPr lang="en-GB" b="0" dirty="0"/>
              <a:t> </a:t>
            </a:r>
            <a:r>
              <a:rPr lang="en-GB" b="0" dirty="0" err="1"/>
              <a:t>futuro</a:t>
            </a:r>
            <a:r>
              <a:rPr lang="en-GB" b="0" dirty="0"/>
              <a:t> </a:t>
            </a:r>
            <a:r>
              <a:rPr lang="en-GB" b="0" dirty="0" err="1"/>
              <a:t>metodológico</a:t>
            </a:r>
            <a:r>
              <a:rPr lang="en-GB" b="0" dirty="0"/>
              <a:t>.</a:t>
            </a:r>
          </a:p>
          <a:p>
            <a:endParaRPr lang="en-GB" dirty="0"/>
          </a:p>
          <a:p>
            <a:endParaRPr lang="en-GB" b="1" dirty="0"/>
          </a:p>
          <a:p>
            <a:pPr marL="171450" indent="-171450">
              <a:buFontTx/>
              <a:buChar char="-"/>
            </a:pPr>
            <a:endParaRPr lang="en-GB" b="1" dirty="0"/>
          </a:p>
          <a:p>
            <a:pPr marL="171450" indent="-171450">
              <a:buFontTx/>
              <a:buChar char="-"/>
            </a:pP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PT" sz="1400" b="1" dirty="0">
                <a:solidFill>
                  <a:srgbClr val="C00000"/>
                </a:solidFill>
              </a:rPr>
              <a:t>⏱ ACUMULADO → 20:50 (TOTAL)</a:t>
            </a:r>
          </a:p>
          <a:p>
            <a:pPr>
              <a:buNone/>
            </a:pPr>
            <a:endParaRPr lang="pt-PT" sz="1400" b="1" dirty="0">
              <a:solidFill>
                <a:srgbClr val="C00000"/>
              </a:solidFill>
            </a:endParaRPr>
          </a:p>
          <a:p>
            <a:pPr>
              <a:buNone/>
            </a:pPr>
            <a:endParaRPr lang="en-GB" sz="1200" b="1" i="0" kern="1200" dirty="0">
              <a:effectLst/>
            </a:endParaRPr>
          </a:p>
          <a:p>
            <a:r>
              <a:rPr lang="en-GB" sz="1200" b="1" i="0" kern="1200" dirty="0">
                <a:effectLst/>
              </a:rPr>
              <a:t>Slide 26 — </a:t>
            </a:r>
            <a:r>
              <a:rPr lang="en-GB" sz="1200" b="1" i="0" kern="1200" dirty="0" err="1">
                <a:effectLst/>
              </a:rPr>
              <a:t>Obrigado</a:t>
            </a:r>
            <a:r>
              <a:rPr lang="en-GB" sz="1200" b="1" i="0" kern="1200" dirty="0">
                <a:effectLst/>
              </a:rPr>
              <a:t> / </a:t>
            </a:r>
            <a:r>
              <a:rPr lang="en-GB" sz="1200" b="1" i="0" kern="1200" dirty="0" err="1">
                <a:effectLst/>
              </a:rPr>
              <a:t>Questões</a:t>
            </a:r>
            <a:r>
              <a:rPr lang="en-GB" sz="1200" b="1" i="0" kern="1200" dirty="0">
                <a:effectLst/>
              </a:rPr>
              <a:t> (~30 s)</a:t>
            </a:r>
          </a:p>
          <a:p>
            <a:endParaRPr lang="en-GB" sz="1200" b="1" i="0" kern="1200" dirty="0">
              <a:effectLst/>
            </a:endParaRPr>
          </a:p>
          <a:p>
            <a:r>
              <a:rPr lang="en-GB" sz="1200" b="0" i="0" kern="1200" dirty="0" err="1">
                <a:effectLst/>
              </a:rPr>
              <a:t>Termino</a:t>
            </a:r>
            <a:r>
              <a:rPr lang="en-GB" sz="1200" b="0" i="0" kern="1200" dirty="0">
                <a:effectLst/>
              </a:rPr>
              <a:t> com a principal </a:t>
            </a:r>
            <a:r>
              <a:rPr lang="en-GB" sz="1200" b="0" i="0" kern="1200" dirty="0" err="1">
                <a:effectLst/>
              </a:rPr>
              <a:t>mensagem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que</a:t>
            </a:r>
            <a:r>
              <a:rPr lang="en-GB" sz="1200" b="0" i="0" kern="1200" dirty="0">
                <a:effectLst/>
              </a:rPr>
              <a:t> </a:t>
            </a:r>
            <a:r>
              <a:rPr lang="en-GB" sz="1200" b="0" i="0" kern="1200" dirty="0" err="1">
                <a:effectLst/>
              </a:rPr>
              <a:t>gostaria</a:t>
            </a:r>
            <a:r>
              <a:rPr lang="en-GB" sz="1200" b="0" i="0" kern="1200" dirty="0">
                <a:effectLst/>
              </a:rPr>
              <a:t> de </a:t>
            </a:r>
            <a:r>
              <a:rPr lang="en-GB" sz="1200" b="0" i="0" kern="1200" dirty="0" err="1">
                <a:effectLst/>
              </a:rPr>
              <a:t>deixar</a:t>
            </a:r>
            <a:r>
              <a:rPr lang="en-GB" sz="1200" b="0" i="0" kern="1200" dirty="0">
                <a:effectLst/>
              </a:rPr>
              <a:t>.</a:t>
            </a:r>
          </a:p>
          <a:p>
            <a:endParaRPr lang="en-GB" sz="1200" b="0" i="0" kern="1200" dirty="0">
              <a:effectLst/>
            </a:endParaRPr>
          </a:p>
          <a:p>
            <a:r>
              <a:rPr lang="en-GB" b="1" dirty="0" err="1"/>
              <a:t>Compreender</a:t>
            </a:r>
            <a:r>
              <a:rPr lang="en-GB" b="1" dirty="0"/>
              <a:t> </a:t>
            </a:r>
            <a:r>
              <a:rPr lang="en-GB" b="1" dirty="0" err="1"/>
              <a:t>porque</a:t>
            </a:r>
            <a:r>
              <a:rPr lang="en-GB" b="1" dirty="0"/>
              <a:t> </a:t>
            </a:r>
            <a:r>
              <a:rPr lang="en-GB" b="1" dirty="0" err="1"/>
              <a:t>uma</a:t>
            </a:r>
            <a:r>
              <a:rPr lang="en-GB" b="1" dirty="0"/>
              <a:t> </a:t>
            </a:r>
            <a:r>
              <a:rPr lang="en-GB" b="1" dirty="0" err="1"/>
              <a:t>previsão</a:t>
            </a:r>
            <a:r>
              <a:rPr lang="en-GB" b="1" dirty="0"/>
              <a:t> </a:t>
            </a:r>
            <a:r>
              <a:rPr lang="en-GB" b="1" dirty="0" err="1"/>
              <a:t>falha</a:t>
            </a:r>
            <a:r>
              <a:rPr lang="en-GB" b="1" dirty="0"/>
              <a:t> </a:t>
            </a:r>
            <a:r>
              <a:rPr lang="en-GB" b="1" dirty="0" err="1"/>
              <a:t>é</a:t>
            </a:r>
            <a:r>
              <a:rPr lang="en-GB" b="1" dirty="0"/>
              <a:t>, </a:t>
            </a:r>
            <a:r>
              <a:rPr lang="en-GB" b="1" dirty="0" err="1"/>
              <a:t>em</a:t>
            </a:r>
            <a:r>
              <a:rPr lang="en-GB" b="1" dirty="0"/>
              <a:t> </a:t>
            </a:r>
            <a:r>
              <a:rPr lang="en-GB" b="1" dirty="0" err="1"/>
              <a:t>si</a:t>
            </a:r>
            <a:r>
              <a:rPr lang="en-GB" b="1" dirty="0"/>
              <a:t> </a:t>
            </a:r>
            <a:r>
              <a:rPr lang="en-GB" b="1" dirty="0" err="1"/>
              <a:t>mesmo</a:t>
            </a:r>
            <a:r>
              <a:rPr lang="en-GB" b="1" dirty="0"/>
              <a:t>, </a:t>
            </a:r>
            <a:r>
              <a:rPr lang="en-GB" b="1" dirty="0" err="1"/>
              <a:t>uma</a:t>
            </a:r>
            <a:r>
              <a:rPr lang="en-GB" b="1" dirty="0"/>
              <a:t> </a:t>
            </a:r>
            <a:r>
              <a:rPr lang="en-GB" b="1" dirty="0" err="1"/>
              <a:t>contribuição</a:t>
            </a:r>
            <a:r>
              <a:rPr lang="en-GB" b="1" dirty="0"/>
              <a:t> </a:t>
            </a:r>
            <a:r>
              <a:rPr lang="en-GB" b="1" dirty="0" err="1"/>
              <a:t>científica</a:t>
            </a:r>
            <a:r>
              <a:rPr lang="en-GB" b="1" dirty="0"/>
              <a:t>, </a:t>
            </a:r>
            <a:r>
              <a:rPr lang="en-GB" b="1" dirty="0" err="1"/>
              <a:t>porque</a:t>
            </a:r>
            <a:r>
              <a:rPr lang="en-GB" b="1" dirty="0"/>
              <a:t> </a:t>
            </a:r>
            <a:r>
              <a:rPr lang="en-GB" b="1" dirty="0" err="1"/>
              <a:t>nos</a:t>
            </a:r>
            <a:r>
              <a:rPr lang="en-GB" b="1" dirty="0"/>
              <a:t> </a:t>
            </a:r>
            <a:r>
              <a:rPr lang="en-GB" b="1" dirty="0" err="1"/>
              <a:t>permite</a:t>
            </a:r>
            <a:r>
              <a:rPr lang="en-GB" b="1" dirty="0"/>
              <a:t> </a:t>
            </a:r>
            <a:r>
              <a:rPr lang="en-GB" b="1" dirty="0" err="1"/>
              <a:t>identificar</a:t>
            </a:r>
            <a:r>
              <a:rPr lang="en-GB" b="1" dirty="0"/>
              <a:t> com </a:t>
            </a:r>
            <a:r>
              <a:rPr lang="en-GB" b="1" dirty="0" err="1"/>
              <a:t>precisão</a:t>
            </a:r>
            <a:r>
              <a:rPr lang="en-GB" b="1" dirty="0"/>
              <a:t> </a:t>
            </a:r>
            <a:r>
              <a:rPr lang="en-GB" b="1" dirty="0" err="1"/>
              <a:t>que</a:t>
            </a:r>
            <a:r>
              <a:rPr lang="en-GB" b="1" dirty="0"/>
              <a:t> </a:t>
            </a:r>
            <a:r>
              <a:rPr lang="en-GB" b="1" dirty="0" err="1"/>
              <a:t>evidência</a:t>
            </a:r>
            <a:r>
              <a:rPr lang="en-GB" b="1" dirty="0"/>
              <a:t> </a:t>
            </a:r>
            <a:r>
              <a:rPr lang="en-GB" b="1" dirty="0" err="1"/>
              <a:t>ainda</a:t>
            </a:r>
            <a:r>
              <a:rPr lang="en-GB" b="1" dirty="0"/>
              <a:t> </a:t>
            </a:r>
            <a:r>
              <a:rPr lang="en-GB" b="1" dirty="0" err="1"/>
              <a:t>está</a:t>
            </a:r>
            <a:r>
              <a:rPr lang="en-GB" b="1" dirty="0"/>
              <a:t> </a:t>
            </a:r>
            <a:r>
              <a:rPr lang="en-GB" b="1" dirty="0" err="1"/>
              <a:t>em</a:t>
            </a:r>
            <a:r>
              <a:rPr lang="en-GB" b="1" dirty="0"/>
              <a:t> </a:t>
            </a:r>
            <a:r>
              <a:rPr lang="en-GB" b="1" dirty="0" err="1"/>
              <a:t>falta</a:t>
            </a:r>
            <a:r>
              <a:rPr lang="en-GB" b="1" dirty="0"/>
              <a:t> antes de </a:t>
            </a:r>
            <a:r>
              <a:rPr lang="en-GB" b="1" dirty="0" err="1"/>
              <a:t>estes</a:t>
            </a:r>
            <a:r>
              <a:rPr lang="en-GB" b="1" dirty="0"/>
              <a:t> </a:t>
            </a:r>
            <a:r>
              <a:rPr lang="en-GB" b="1" dirty="0" err="1"/>
              <a:t>métodos</a:t>
            </a:r>
            <a:r>
              <a:rPr lang="en-GB" b="1" dirty="0"/>
              <a:t> </a:t>
            </a:r>
            <a:r>
              <a:rPr lang="en-GB" b="1" dirty="0" err="1"/>
              <a:t>poderem</a:t>
            </a:r>
            <a:r>
              <a:rPr lang="en-GB" b="1" dirty="0"/>
              <a:t> ser </a:t>
            </a:r>
            <a:r>
              <a:rPr lang="en-GB" b="1" dirty="0" err="1"/>
              <a:t>utilizados</a:t>
            </a:r>
            <a:r>
              <a:rPr lang="en-GB" b="1" dirty="0"/>
              <a:t> de forma </a:t>
            </a:r>
            <a:r>
              <a:rPr lang="en-GB" b="1" dirty="0" err="1"/>
              <a:t>fiável</a:t>
            </a:r>
            <a:r>
              <a:rPr lang="en-GB" b="1" dirty="0"/>
              <a:t>.</a:t>
            </a:r>
          </a:p>
          <a:p>
            <a:endParaRPr lang="en-GB" dirty="0"/>
          </a:p>
          <a:p>
            <a:r>
              <a:rPr lang="en-GB" b="1" dirty="0"/>
              <a:t>A </a:t>
            </a:r>
            <a:r>
              <a:rPr lang="en-GB" b="1" dirty="0" err="1"/>
              <a:t>interpretabilidade</a:t>
            </a:r>
            <a:r>
              <a:rPr lang="en-GB" b="1" dirty="0"/>
              <a:t> continua a ser </a:t>
            </a:r>
            <a:r>
              <a:rPr lang="en-GB" b="1" dirty="0" err="1"/>
              <a:t>essencial</a:t>
            </a:r>
            <a:r>
              <a:rPr lang="en-GB" b="1" dirty="0"/>
              <a:t>, </a:t>
            </a:r>
            <a:r>
              <a:rPr lang="en-GB" b="1" dirty="0" err="1"/>
              <a:t>mesmo</a:t>
            </a:r>
            <a:r>
              <a:rPr lang="en-GB" b="1" dirty="0"/>
              <a:t> </a:t>
            </a:r>
            <a:r>
              <a:rPr lang="en-GB" b="1" dirty="0" err="1"/>
              <a:t>numa</a:t>
            </a:r>
            <a:r>
              <a:rPr lang="en-GB" b="1" dirty="0"/>
              <a:t> </a:t>
            </a:r>
            <a:r>
              <a:rPr lang="en-GB" b="1" dirty="0" err="1"/>
              <a:t>fase</a:t>
            </a:r>
            <a:r>
              <a:rPr lang="en-GB" b="1" dirty="0"/>
              <a:t> de forte </a:t>
            </a:r>
            <a:r>
              <a:rPr lang="en-GB" b="1" dirty="0" err="1"/>
              <a:t>desenvolvimento</a:t>
            </a:r>
            <a:r>
              <a:rPr lang="en-GB" b="1" dirty="0"/>
              <a:t> da </a:t>
            </a:r>
            <a:r>
              <a:rPr lang="en-GB" b="1" dirty="0" err="1"/>
              <a:t>inteligência</a:t>
            </a:r>
            <a:r>
              <a:rPr lang="en-GB" b="1" dirty="0"/>
              <a:t> artificial. Em </a:t>
            </a:r>
            <a:r>
              <a:rPr lang="en-GB" b="1" dirty="0" err="1"/>
              <a:t>problemas</a:t>
            </a:r>
            <a:r>
              <a:rPr lang="en-GB" b="1" dirty="0"/>
              <a:t> </a:t>
            </a:r>
            <a:r>
              <a:rPr lang="en-GB" b="1" dirty="0" err="1"/>
              <a:t>aplicados</a:t>
            </a:r>
            <a:r>
              <a:rPr lang="en-GB" b="1" dirty="0"/>
              <a:t> </a:t>
            </a:r>
            <a:r>
              <a:rPr lang="en-GB" b="1" dirty="0" err="1"/>
              <a:t>como</a:t>
            </a:r>
            <a:r>
              <a:rPr lang="en-GB" b="1" dirty="0"/>
              <a:t> </a:t>
            </a:r>
            <a:r>
              <a:rPr lang="en-GB" b="1" dirty="0" err="1"/>
              <a:t>este</a:t>
            </a:r>
            <a:r>
              <a:rPr lang="en-GB" b="1" dirty="0"/>
              <a:t>, o </a:t>
            </a:r>
            <a:r>
              <a:rPr lang="en-GB" b="1" dirty="0" err="1"/>
              <a:t>valor</a:t>
            </a:r>
            <a:r>
              <a:rPr lang="en-GB" b="1" dirty="0"/>
              <a:t> </a:t>
            </a:r>
            <a:r>
              <a:rPr lang="en-GB" b="1" dirty="0" err="1"/>
              <a:t>não</a:t>
            </a:r>
            <a:r>
              <a:rPr lang="en-GB" b="1" dirty="0"/>
              <a:t> </a:t>
            </a:r>
            <a:r>
              <a:rPr lang="en-GB" b="1" dirty="0" err="1"/>
              <a:t>está</a:t>
            </a:r>
            <a:r>
              <a:rPr lang="en-GB" b="1" dirty="0"/>
              <a:t> </a:t>
            </a:r>
            <a:r>
              <a:rPr lang="en-GB" b="1" dirty="0" err="1"/>
              <a:t>apenas</a:t>
            </a:r>
            <a:r>
              <a:rPr lang="en-GB" b="1" dirty="0"/>
              <a:t> no </a:t>
            </a:r>
            <a:r>
              <a:rPr lang="en-GB" b="1" dirty="0" err="1"/>
              <a:t>algoritmo</a:t>
            </a:r>
            <a:r>
              <a:rPr lang="en-GB" b="1" dirty="0"/>
              <a:t>, mas </a:t>
            </a:r>
            <a:r>
              <a:rPr lang="en-GB" b="1" dirty="0" err="1"/>
              <a:t>na</a:t>
            </a:r>
            <a:r>
              <a:rPr lang="en-GB" b="1" dirty="0"/>
              <a:t> </a:t>
            </a:r>
            <a:r>
              <a:rPr lang="en-GB" b="1" dirty="0" err="1"/>
              <a:t>ligação</a:t>
            </a:r>
            <a:r>
              <a:rPr lang="en-GB" b="1" dirty="0"/>
              <a:t> entre o </a:t>
            </a:r>
            <a:r>
              <a:rPr lang="en-GB" b="1" dirty="0" err="1"/>
              <a:t>algoritmo</a:t>
            </a:r>
            <a:r>
              <a:rPr lang="en-GB" b="1" dirty="0"/>
              <a:t> e o domain Knowledge. São </a:t>
            </a:r>
            <a:r>
              <a:rPr lang="en-GB" b="1" dirty="0" err="1"/>
              <a:t>os</a:t>
            </a:r>
            <a:r>
              <a:rPr lang="en-GB" b="1" dirty="0"/>
              <a:t> </a:t>
            </a:r>
            <a:r>
              <a:rPr lang="en-GB" b="1" dirty="0" err="1"/>
              <a:t>especialistas</a:t>
            </a:r>
            <a:r>
              <a:rPr lang="en-GB" b="1" dirty="0"/>
              <a:t> </a:t>
            </a:r>
            <a:r>
              <a:rPr lang="en-GB" b="1" dirty="0" err="1"/>
              <a:t>que</a:t>
            </a:r>
            <a:r>
              <a:rPr lang="en-GB" b="1" dirty="0"/>
              <a:t> </a:t>
            </a:r>
            <a:r>
              <a:rPr lang="en-GB" b="1" dirty="0" err="1"/>
              <a:t>ajudam</a:t>
            </a:r>
            <a:r>
              <a:rPr lang="en-GB" b="1" dirty="0"/>
              <a:t> a </a:t>
            </a:r>
            <a:r>
              <a:rPr lang="en-GB" b="1" dirty="0" err="1"/>
              <a:t>perceber</a:t>
            </a:r>
            <a:r>
              <a:rPr lang="en-GB" b="1" dirty="0"/>
              <a:t> se </a:t>
            </a:r>
            <a:r>
              <a:rPr lang="en-GB" b="1" dirty="0" err="1"/>
              <a:t>uma</a:t>
            </a:r>
            <a:r>
              <a:rPr lang="en-GB" b="1" dirty="0"/>
              <a:t> </a:t>
            </a:r>
            <a:r>
              <a:rPr lang="en-GB" b="1" dirty="0" err="1"/>
              <a:t>regra</a:t>
            </a:r>
            <a:r>
              <a:rPr lang="en-GB" b="1" dirty="0"/>
              <a:t> </a:t>
            </a:r>
            <a:r>
              <a:rPr lang="en-GB" b="1" dirty="0" err="1"/>
              <a:t>faz</a:t>
            </a:r>
            <a:r>
              <a:rPr lang="en-GB" b="1" dirty="0"/>
              <a:t> </a:t>
            </a:r>
            <a:r>
              <a:rPr lang="en-GB" b="1" dirty="0" err="1"/>
              <a:t>sentido</a:t>
            </a:r>
            <a:r>
              <a:rPr lang="en-GB" b="1" dirty="0"/>
              <a:t>, se um </a:t>
            </a:r>
            <a:r>
              <a:rPr lang="en-GB" b="1" dirty="0" err="1"/>
              <a:t>limiar</a:t>
            </a:r>
            <a:r>
              <a:rPr lang="en-GB" b="1" dirty="0"/>
              <a:t> </a:t>
            </a:r>
            <a:r>
              <a:rPr lang="en-GB" b="1" dirty="0" err="1"/>
              <a:t>é</a:t>
            </a:r>
            <a:r>
              <a:rPr lang="en-GB" b="1" dirty="0"/>
              <a:t> </a:t>
            </a:r>
            <a:r>
              <a:rPr lang="en-GB" b="1" dirty="0" err="1"/>
              <a:t>plausível</a:t>
            </a:r>
            <a:r>
              <a:rPr lang="en-GB" b="1" dirty="0"/>
              <a:t>, e se </a:t>
            </a:r>
            <a:r>
              <a:rPr lang="en-GB" b="1" dirty="0" err="1"/>
              <a:t>uma</a:t>
            </a:r>
            <a:r>
              <a:rPr lang="en-GB" b="1" dirty="0"/>
              <a:t> </a:t>
            </a:r>
            <a:r>
              <a:rPr lang="en-GB" b="1" dirty="0" err="1"/>
              <a:t>associação</a:t>
            </a:r>
            <a:r>
              <a:rPr lang="en-GB" b="1" dirty="0"/>
              <a:t> </a:t>
            </a:r>
            <a:r>
              <a:rPr lang="en-GB" b="1" dirty="0" err="1"/>
              <a:t>estatística</a:t>
            </a:r>
            <a:r>
              <a:rPr lang="en-GB" b="1" dirty="0"/>
              <a:t> </a:t>
            </a:r>
            <a:r>
              <a:rPr lang="en-GB" b="1" dirty="0" err="1"/>
              <a:t>corresponde</a:t>
            </a:r>
            <a:r>
              <a:rPr lang="en-GB" b="1" dirty="0"/>
              <a:t> a um </a:t>
            </a:r>
            <a:r>
              <a:rPr lang="en-GB" b="1" dirty="0" err="1"/>
              <a:t>mecanismo</a:t>
            </a:r>
            <a:r>
              <a:rPr lang="en-GB" b="1" dirty="0"/>
              <a:t> </a:t>
            </a:r>
            <a:r>
              <a:rPr lang="en-GB" b="1" dirty="0" err="1"/>
              <a:t>agronómico</a:t>
            </a:r>
            <a:r>
              <a:rPr lang="en-GB" b="1" dirty="0"/>
              <a:t> real.</a:t>
            </a:r>
          </a:p>
          <a:p>
            <a:endParaRPr lang="en-GB" dirty="0"/>
          </a:p>
          <a:p>
            <a:r>
              <a:rPr lang="en-GB" b="1" dirty="0"/>
              <a:t>Por </a:t>
            </a:r>
            <a:r>
              <a:rPr lang="en-GB" b="1" dirty="0" err="1"/>
              <a:t>isso</a:t>
            </a:r>
            <a:r>
              <a:rPr lang="en-GB" b="1" dirty="0"/>
              <a:t>, </a:t>
            </a:r>
            <a:r>
              <a:rPr lang="en-GB" b="1" dirty="0" err="1"/>
              <a:t>mais</a:t>
            </a:r>
            <a:r>
              <a:rPr lang="en-GB" b="1" dirty="0"/>
              <a:t> do </a:t>
            </a:r>
            <a:r>
              <a:rPr lang="en-GB" b="1" dirty="0" err="1"/>
              <a:t>que</a:t>
            </a:r>
            <a:r>
              <a:rPr lang="en-GB" b="1" dirty="0"/>
              <a:t> </a:t>
            </a:r>
            <a:r>
              <a:rPr lang="en-GB" b="1" dirty="0" err="1"/>
              <a:t>substituir</a:t>
            </a:r>
            <a:r>
              <a:rPr lang="en-GB" b="1" dirty="0"/>
              <a:t> a expertise do </a:t>
            </a:r>
            <a:r>
              <a:rPr lang="en-GB" b="1" dirty="0" err="1"/>
              <a:t>setor</a:t>
            </a:r>
            <a:r>
              <a:rPr lang="en-GB" b="1" dirty="0"/>
              <a:t>, </a:t>
            </a:r>
            <a:r>
              <a:rPr lang="en-GB" b="1" dirty="0" err="1"/>
              <a:t>estes</a:t>
            </a:r>
            <a:r>
              <a:rPr lang="en-GB" b="1" dirty="0"/>
              <a:t> </a:t>
            </a:r>
            <a:r>
              <a:rPr lang="en-GB" b="1" dirty="0" err="1"/>
              <a:t>métodos</a:t>
            </a:r>
            <a:r>
              <a:rPr lang="en-GB" b="1" dirty="0"/>
              <a:t> </a:t>
            </a:r>
            <a:r>
              <a:rPr lang="en-GB" b="1" dirty="0" err="1"/>
              <a:t>devem</a:t>
            </a:r>
            <a:r>
              <a:rPr lang="en-GB" b="1" dirty="0"/>
              <a:t> </a:t>
            </a:r>
            <a:r>
              <a:rPr lang="en-GB" b="1" dirty="0" err="1"/>
              <a:t>servir</a:t>
            </a:r>
            <a:r>
              <a:rPr lang="en-GB" b="1" dirty="0"/>
              <a:t> para a </a:t>
            </a:r>
            <a:r>
              <a:rPr lang="en-GB" b="1" dirty="0" err="1"/>
              <a:t>tornar</a:t>
            </a:r>
            <a:r>
              <a:rPr lang="en-GB" b="1" dirty="0"/>
              <a:t> </a:t>
            </a:r>
            <a:r>
              <a:rPr lang="en-GB" b="1" dirty="0" err="1"/>
              <a:t>mais</a:t>
            </a:r>
            <a:r>
              <a:rPr lang="en-GB" b="1" dirty="0"/>
              <a:t> </a:t>
            </a:r>
            <a:r>
              <a:rPr lang="en-GB" b="1" dirty="0" err="1"/>
              <a:t>explícita</a:t>
            </a:r>
            <a:r>
              <a:rPr lang="en-GB" b="1" dirty="0"/>
              <a:t>, </a:t>
            </a:r>
            <a:r>
              <a:rPr lang="en-GB" b="1" dirty="0" err="1"/>
              <a:t>auditável</a:t>
            </a:r>
            <a:r>
              <a:rPr lang="en-GB" b="1" dirty="0"/>
              <a:t> e </a:t>
            </a:r>
            <a:r>
              <a:rPr lang="en-GB" b="1" dirty="0" err="1"/>
              <a:t>útil</a:t>
            </a:r>
            <a:r>
              <a:rPr lang="en-GB" b="1" dirty="0"/>
              <a:t> para a </a:t>
            </a:r>
            <a:r>
              <a:rPr lang="en-GB" b="1" dirty="0" err="1"/>
              <a:t>decisão</a:t>
            </a:r>
            <a:r>
              <a:rPr lang="en-GB" b="1" dirty="0"/>
              <a:t>.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b="0" dirty="0" err="1"/>
              <a:t>Muito</a:t>
            </a:r>
            <a:r>
              <a:rPr lang="en-GB" b="0" dirty="0"/>
              <a:t> </a:t>
            </a:r>
            <a:r>
              <a:rPr lang="en-GB" b="0" dirty="0" err="1"/>
              <a:t>obrigado</a:t>
            </a:r>
            <a:r>
              <a:rPr lang="en-GB" b="0" dirty="0"/>
              <a:t> pela </a:t>
            </a:r>
            <a:r>
              <a:rPr lang="en-GB" b="0" dirty="0" err="1"/>
              <a:t>vossa</a:t>
            </a:r>
            <a:r>
              <a:rPr lang="en-GB" b="0" dirty="0"/>
              <a:t> </a:t>
            </a:r>
            <a:r>
              <a:rPr lang="en-GB" b="0" dirty="0" err="1"/>
              <a:t>atenção</a:t>
            </a:r>
            <a:r>
              <a:rPr lang="en-GB" b="0" dirty="0"/>
              <a:t>. Terei </a:t>
            </a:r>
            <a:r>
              <a:rPr lang="en-GB" b="0" dirty="0" err="1"/>
              <a:t>todo</a:t>
            </a:r>
            <a:r>
              <a:rPr lang="en-GB" b="0" dirty="0"/>
              <a:t> o </a:t>
            </a:r>
            <a:r>
              <a:rPr lang="en-GB" b="0" dirty="0" err="1"/>
              <a:t>gosto</a:t>
            </a:r>
            <a:r>
              <a:rPr lang="en-GB" b="0" dirty="0"/>
              <a:t> </a:t>
            </a:r>
            <a:r>
              <a:rPr lang="en-GB" b="0" dirty="0" err="1"/>
              <a:t>em</a:t>
            </a:r>
            <a:r>
              <a:rPr lang="en-GB" b="0" dirty="0"/>
              <a:t> responder </a:t>
            </a:r>
            <a:r>
              <a:rPr lang="en-GB" b="0" dirty="0" err="1"/>
              <a:t>às</a:t>
            </a:r>
            <a:r>
              <a:rPr lang="en-GB" b="0" dirty="0"/>
              <a:t> </a:t>
            </a:r>
            <a:r>
              <a:rPr lang="en-GB" b="0" dirty="0" err="1"/>
              <a:t>vossas</a:t>
            </a:r>
            <a:r>
              <a:rPr lang="en-GB" b="0" dirty="0"/>
              <a:t> </a:t>
            </a:r>
            <a:r>
              <a:rPr lang="en-GB" b="0" dirty="0" err="1"/>
              <a:t>questões</a:t>
            </a:r>
            <a:r>
              <a:rPr lang="en-GB" b="0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18097" t="34404" r="17656" b="35003"/>
          <a:stretch>
            <a:fillRect/>
          </a:stretch>
        </p:blipFill>
        <p:spPr>
          <a:xfrm>
            <a:off x="11342158" y="42144"/>
            <a:ext cx="804333" cy="31980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89590B-D6CB-1D0F-7FFF-78CED0890EFC}"/>
              </a:ext>
            </a:extLst>
          </p:cNvPr>
          <p:cNvSpPr>
            <a:spLocks noGrp="1"/>
          </p:cNvSpPr>
          <p:nvPr userDrawn="1"/>
        </p:nvSpPr>
        <p:spPr>
          <a:xfrm>
            <a:off x="2333625" y="6692630"/>
            <a:ext cx="7429500" cy="16537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pt-PT" sz="800" dirty="0">
                <a:solidFill>
                  <a:schemeClr val="bg1">
                    <a:lumMod val="65000"/>
                  </a:schemeClr>
                </a:solidFill>
              </a:rPr>
              <a:t>Hugo Nogueira</a:t>
            </a:r>
            <a:r>
              <a:rPr lang="en-GB" sz="800" dirty="0">
                <a:solidFill>
                  <a:schemeClr val="bg1">
                    <a:lumMod val="65000"/>
                  </a:schemeClr>
                </a:solidFill>
              </a:rPr>
              <a:t> · </a:t>
            </a:r>
            <a:r>
              <a:rPr sz="800" dirty="0">
                <a:solidFill>
                  <a:schemeClr val="bg1">
                    <a:lumMod val="65000"/>
                  </a:schemeClr>
                </a:solidFill>
              </a:rPr>
              <a:t>João Mendes Moreira · Mário Campos Cunha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8AAC14-D9D2-421D-87CA-74CBACF475D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2390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MASTER'S DISSERTATION · FEUP ·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7BC4C7-9A32-42AC-8B68-758399A684C9}"/>
              </a:ext>
            </a:extLst>
          </p:cNvPr>
          <p:cNvSpPr>
            <a:spLocks noGrp="1"/>
          </p:cNvSpPr>
          <p:nvPr/>
        </p:nvSpPr>
        <p:spPr>
          <a:xfrm>
            <a:off x="400050" y="989647"/>
            <a:ext cx="6625589" cy="2706053"/>
          </a:xfrm>
          <a:prstGeom prst="rect">
            <a:avLst/>
          </a:prstGeom>
        </p:spPr>
        <p:txBody>
          <a:bodyPr lIns="0" tIns="0" rIns="0" bIns="0" anchor="b">
            <a:normAutofit fontScale="92500" lnSpcReduction="20000"/>
          </a:bodyPr>
          <a:lstStyle/>
          <a:p>
            <a:pPr algn="l">
              <a:buNone/>
              <a:defRPr sz="5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WINE PRODUCTION FORECASTING WITH INTERPRETABLE RULES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FA9A0A-E8FA-4A33-B80D-4EE9AF4FDBCA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809625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What can climate explain — and what can it reliably predict?</a:t>
            </a:r>
          </a:p>
        </p:txBody>
      </p:sp>
      <p:cxnSp>
        <p:nvCxnSpPr>
          <p:cNvPr id="155" name="Straight Arrow Connector 134"/>
          <p:cNvCxnSpPr/>
          <p:nvPr/>
        </p:nvCxnSpPr>
        <p:spPr>
          <a:xfrm>
            <a:off x="400050" y="5048250"/>
            <a:ext cx="11391900" cy="953"/>
          </a:xfrm>
          <a:prstGeom prst="straightConnector1">
            <a:avLst/>
          </a:prstGeom>
          <a:ln w="38100">
            <a:solidFill>
              <a:srgbClr val="7B1E3A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20FEF38-FF70-441C-B96F-A52F19298A0B}"/>
              </a:ext>
            </a:extLst>
          </p:cNvPr>
          <p:cNvSpPr>
            <a:spLocks noGrp="1"/>
          </p:cNvSpPr>
          <p:nvPr/>
        </p:nvSpPr>
        <p:spPr>
          <a:xfrm>
            <a:off x="400050" y="5353050"/>
            <a:ext cx="49530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Hugo Filipe </a:t>
            </a:r>
            <a:r>
              <a:rPr lang="en-GB" noProof="0" dirty="0" err="1"/>
              <a:t>Queiróz</a:t>
            </a:r>
            <a:r>
              <a:rPr lang="en-GB" noProof="0" dirty="0"/>
              <a:t> Nogueira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389F8B-3B99-4B1C-8CBA-75729E826F04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7429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Supervisors: João Mendes Moreira · Mário Campos Cunha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0F1BA-3A3B-4D80-A22A-B53E9AFC39DD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01</a:t>
            </a:r>
          </a:p>
        </p:txBody>
      </p:sp>
      <p:pic>
        <p:nvPicPr>
          <p:cNvPr id="159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787" y="989647"/>
            <a:ext cx="3036604" cy="3496420"/>
          </a:xfrm>
          <a:prstGeom prst="roundRect">
            <a:avLst>
              <a:gd name="adj" fmla="val 4167"/>
            </a:avLst>
          </a:prstGeom>
          <a:ln w="76200" cap="sq">
            <a:solidFill>
              <a:srgbClr val="292929"/>
            </a:solidFill>
            <a:miter/>
          </a:ln>
          <a:effectLst>
            <a:reflection blurRad="12700" stA="28000" endPos="28000" dist="5000" dir="5400000" sy="-100000" algn="bl" rotWithShape="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28E2B39-5DED-5FC6-0590-CAA4BA62C1BC}"/>
              </a:ext>
            </a:extLst>
          </p:cNvPr>
          <p:cNvSpPr/>
          <p:nvPr/>
        </p:nvSpPr>
        <p:spPr>
          <a:xfrm>
            <a:off x="4114800" y="6572250"/>
            <a:ext cx="3966519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5512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8C79E55-FD5E-4085-AC93-5DE540B8DE9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CONTEXT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142EE0-DD7B-4E64-A124-689FECFA3EB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The business question is a decision question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48877D-50A3-43B8-AE9B-A0E241938788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81F049-5824-448C-BCEF-E7DB4C33261F}"/>
              </a:ext>
            </a:extLst>
          </p:cNvPr>
          <p:cNvSpPr>
            <a:spLocks noGrp="1"/>
          </p:cNvSpPr>
          <p:nvPr/>
        </p:nvSpPr>
        <p:spPr>
          <a:xfrm>
            <a:off x="638174" y="1859436"/>
            <a:ext cx="7713345" cy="1809750"/>
          </a:xfrm>
          <a:prstGeom prst="rect">
            <a:avLst/>
          </a:prstGeom>
        </p:spPr>
        <p:txBody>
          <a:bodyPr lIns="0" tIns="0" rIns="0" bIns="0" anchor="t">
            <a:normAutofit fontScale="86746"/>
          </a:bodyPr>
          <a:lstStyle/>
          <a:p>
            <a:pPr>
              <a:buNone/>
              <a:defRPr sz="31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CAN REGIONAL CLIMATE AND VINE DEVELOPMENT DATA IMPROVE THE ANNUAL PRODUCTION FORECAST — EARLY ENOUGH TO CHANGE A DECISION?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B1A66B-BE8A-4518-8CE2-97A96689A671}"/>
              </a:ext>
            </a:extLst>
          </p:cNvPr>
          <p:cNvSpPr>
            <a:spLocks noGrp="1"/>
          </p:cNvSpPr>
          <p:nvPr/>
        </p:nvSpPr>
        <p:spPr>
          <a:xfrm>
            <a:off x="8458200" y="1635083"/>
            <a:ext cx="3333750" cy="400050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09464-0CE7-4D73-859B-2F8EA427FCD3}"/>
              </a:ext>
            </a:extLst>
          </p:cNvPr>
          <p:cNvSpPr>
            <a:spLocks noGrp="1"/>
          </p:cNvSpPr>
          <p:nvPr/>
        </p:nvSpPr>
        <p:spPr>
          <a:xfrm>
            <a:off x="8791575" y="1920833"/>
            <a:ext cx="26670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Who uses the answer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4E2884-2BC2-4896-AF19-268020E91848}"/>
              </a:ext>
            </a:extLst>
          </p:cNvPr>
          <p:cNvSpPr>
            <a:spLocks noGrp="1"/>
          </p:cNvSpPr>
          <p:nvPr/>
        </p:nvSpPr>
        <p:spPr>
          <a:xfrm>
            <a:off x="8791575" y="2444708"/>
            <a:ext cx="2667000" cy="1190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Producers and cooperatives
Regulatory bodies
Supply-chain planners</a:t>
            </a:r>
          </a:p>
        </p:txBody>
      </p:sp>
      <p:cxnSp>
        <p:nvCxnSpPr>
          <p:cNvPr id="301" name="Straight Arrow Connector 268"/>
          <p:cNvCxnSpPr/>
          <p:nvPr/>
        </p:nvCxnSpPr>
        <p:spPr>
          <a:xfrm>
            <a:off x="8791575" y="3844883"/>
            <a:ext cx="26670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1ADD122-BB52-4AC0-8D49-D42EE4937B80}"/>
              </a:ext>
            </a:extLst>
          </p:cNvPr>
          <p:cNvSpPr>
            <a:spLocks noGrp="1"/>
          </p:cNvSpPr>
          <p:nvPr/>
        </p:nvSpPr>
        <p:spPr>
          <a:xfrm>
            <a:off x="8791575" y="4111583"/>
            <a:ext cx="26670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Decisions affected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27EE99-1FFC-4DBD-A128-364BDB61554C}"/>
              </a:ext>
            </a:extLst>
          </p:cNvPr>
          <p:cNvSpPr>
            <a:spLocks noGrp="1"/>
          </p:cNvSpPr>
          <p:nvPr/>
        </p:nvSpPr>
        <p:spPr>
          <a:xfrm>
            <a:off x="8791575" y="4635458"/>
            <a:ext cx="2667000" cy="1190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Harvest planning
Storage and capacity
Risk assessment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F371CF-A98C-4C17-B82D-D696D74F99BA}"/>
              </a:ext>
            </a:extLst>
          </p:cNvPr>
          <p:cNvSpPr>
            <a:spLocks noGrp="1"/>
          </p:cNvSpPr>
          <p:nvPr/>
        </p:nvSpPr>
        <p:spPr>
          <a:xfrm>
            <a:off x="438150" y="4152652"/>
            <a:ext cx="6858000" cy="514350"/>
          </a:xfrm>
          <a:prstGeom prst="rect">
            <a:avLst/>
          </a:prstGeom>
        </p:spPr>
        <p:txBody>
          <a:bodyPr lIns="0" tIns="0" rIns="0" bIns="0" anchor="t">
            <a:normAutofit fontScale="85625"/>
          </a:bodyPr>
          <a:lstStyle/>
          <a:p>
            <a:pPr algn="l">
              <a:buNone/>
              <a:defRPr sz="22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useful model must add accuracy and preserve trust.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AC93E7-E0D3-418D-A665-D7BD9F465F88}"/>
              </a:ext>
            </a:extLst>
          </p:cNvPr>
          <p:cNvSpPr>
            <a:spLocks noGrp="1"/>
          </p:cNvSpPr>
          <p:nvPr/>
        </p:nvSpPr>
        <p:spPr>
          <a:xfrm>
            <a:off x="438150" y="4538231"/>
            <a:ext cx="666750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Prediction alone is insufficient when the mechanism cannot be explained or challenged.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A4D57A-28E4-D61C-5D4E-709193211EFB}"/>
              </a:ext>
            </a:extLst>
          </p:cNvPr>
          <p:cNvSpPr txBox="1"/>
          <p:nvPr/>
        </p:nvSpPr>
        <p:spPr>
          <a:xfrm>
            <a:off x="3048990" y="3320734"/>
            <a:ext cx="60979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/>
              <a:t> · </a:t>
            </a:r>
            <a:endParaRPr lang="en-GB" noProof="0" dirty="0"/>
          </a:p>
        </p:txBody>
      </p:sp>
      <p:sp>
        <p:nvSpPr>
          <p:cNvPr id="20" name="gap-stripe">
            <a:extLst>
              <a:ext uri="{FF2B5EF4-FFF2-40B4-BE49-F238E27FC236}">
                <a16:creationId xmlns:a16="http://schemas.microsoft.com/office/drawing/2014/main" id="{F1887F76-E85F-7BCD-664A-5865463E708B}"/>
              </a:ext>
            </a:extLst>
          </p:cNvPr>
          <p:cNvSpPr>
            <a:spLocks noGrp="1"/>
          </p:cNvSpPr>
          <p:nvPr/>
        </p:nvSpPr>
        <p:spPr>
          <a:xfrm>
            <a:off x="400050" y="1825583"/>
            <a:ext cx="76200" cy="161925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855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4A4BD214-BDF3-4D1A-ACEE-97713EE1D52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RESEARCH PROBLEM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6FB7E76-8173-490E-8DC3-AA953BB870B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36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problem is not only forecasting, but auditable forecasting</a:t>
            </a:r>
          </a:p>
        </p:txBody>
      </p:sp>
      <p:sp>
        <p:nvSpPr>
          <p:cNvPr id="4" name="gap-panel">
            <a:extLst>
              <a:ext uri="{FF2B5EF4-FFF2-40B4-BE49-F238E27FC236}">
                <a16:creationId xmlns:a16="http://schemas.microsoft.com/office/drawing/2014/main" id="{D77A0810-E48F-4C7F-951D-98AB1B9564E7}"/>
              </a:ext>
            </a:extLst>
          </p:cNvPr>
          <p:cNvSpPr>
            <a:spLocks noGrp="1"/>
          </p:cNvSpPr>
          <p:nvPr/>
        </p:nvSpPr>
        <p:spPr>
          <a:xfrm>
            <a:off x="542554" y="2107606"/>
            <a:ext cx="5286375" cy="16192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gap-stripe">
            <a:extLst>
              <a:ext uri="{FF2B5EF4-FFF2-40B4-BE49-F238E27FC236}">
                <a16:creationId xmlns:a16="http://schemas.microsoft.com/office/drawing/2014/main" id="{790A3E25-2C06-46A5-811C-4128039E70E0}"/>
              </a:ext>
            </a:extLst>
          </p:cNvPr>
          <p:cNvSpPr>
            <a:spLocks noGrp="1"/>
          </p:cNvSpPr>
          <p:nvPr/>
        </p:nvSpPr>
        <p:spPr>
          <a:xfrm>
            <a:off x="542554" y="2107606"/>
            <a:ext cx="76200" cy="161925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gap-title">
            <a:extLst>
              <a:ext uri="{FF2B5EF4-FFF2-40B4-BE49-F238E27FC236}">
                <a16:creationId xmlns:a16="http://schemas.microsoft.com/office/drawing/2014/main" id="{CEC84097-32CE-4459-A681-5DA46251C78D}"/>
              </a:ext>
            </a:extLst>
          </p:cNvPr>
          <p:cNvSpPr>
            <a:spLocks noGrp="1"/>
          </p:cNvSpPr>
          <p:nvPr/>
        </p:nvSpPr>
        <p:spPr>
          <a:xfrm>
            <a:off x="809254" y="2326681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8" name="rule-panel">
            <a:extLst>
              <a:ext uri="{FF2B5EF4-FFF2-40B4-BE49-F238E27FC236}">
                <a16:creationId xmlns:a16="http://schemas.microsoft.com/office/drawing/2014/main" id="{3A28869A-E8C4-488B-B71B-0D3CDF960E51}"/>
              </a:ext>
            </a:extLst>
          </p:cNvPr>
          <p:cNvSpPr>
            <a:spLocks noGrp="1"/>
          </p:cNvSpPr>
          <p:nvPr/>
        </p:nvSpPr>
        <p:spPr>
          <a:xfrm>
            <a:off x="6257554" y="2107606"/>
            <a:ext cx="5667375" cy="161925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9" name="rule-stripe">
            <a:extLst>
              <a:ext uri="{FF2B5EF4-FFF2-40B4-BE49-F238E27FC236}">
                <a16:creationId xmlns:a16="http://schemas.microsoft.com/office/drawing/2014/main" id="{D0F61BE2-DEE5-4F30-9CEC-81DBA6836FDD}"/>
              </a:ext>
            </a:extLst>
          </p:cNvPr>
          <p:cNvSpPr>
            <a:spLocks noGrp="1"/>
          </p:cNvSpPr>
          <p:nvPr/>
        </p:nvSpPr>
        <p:spPr>
          <a:xfrm>
            <a:off x="6257554" y="2107606"/>
            <a:ext cx="76200" cy="1619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rule-title">
            <a:extLst>
              <a:ext uri="{FF2B5EF4-FFF2-40B4-BE49-F238E27FC236}">
                <a16:creationId xmlns:a16="http://schemas.microsoft.com/office/drawing/2014/main" id="{DB90714C-C28C-4644-BEF2-BAB5C9E5A66E}"/>
              </a:ext>
            </a:extLst>
          </p:cNvPr>
          <p:cNvSpPr>
            <a:spLocks noGrp="1"/>
          </p:cNvSpPr>
          <p:nvPr/>
        </p:nvSpPr>
        <p:spPr>
          <a:xfrm>
            <a:off x="6524254" y="2326681"/>
            <a:ext cx="366461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9A6A16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WHAT A RULE LOOKS LIKE</a:t>
            </a:r>
          </a:p>
        </p:txBody>
      </p:sp>
      <p:sp>
        <p:nvSpPr>
          <p:cNvPr id="12" name="properties-panel">
            <a:extLst>
              <a:ext uri="{FF2B5EF4-FFF2-40B4-BE49-F238E27FC236}">
                <a16:creationId xmlns:a16="http://schemas.microsoft.com/office/drawing/2014/main" id="{A962D9F2-EE8C-4A0F-B89A-EB27119CE4F5}"/>
              </a:ext>
            </a:extLst>
          </p:cNvPr>
          <p:cNvSpPr>
            <a:spLocks noGrp="1"/>
          </p:cNvSpPr>
          <p:nvPr/>
        </p:nvSpPr>
        <p:spPr>
          <a:xfrm>
            <a:off x="542554" y="4107856"/>
            <a:ext cx="5286375" cy="200025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3" name="properties-stripe">
            <a:extLst>
              <a:ext uri="{FF2B5EF4-FFF2-40B4-BE49-F238E27FC236}">
                <a16:creationId xmlns:a16="http://schemas.microsoft.com/office/drawing/2014/main" id="{77E43754-E203-491D-921A-6B9BF8ABDFD1}"/>
              </a:ext>
            </a:extLst>
          </p:cNvPr>
          <p:cNvSpPr>
            <a:spLocks noGrp="1"/>
          </p:cNvSpPr>
          <p:nvPr/>
        </p:nvSpPr>
        <p:spPr>
          <a:xfrm>
            <a:off x="542554" y="4107856"/>
            <a:ext cx="76200" cy="2000250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4" name="properties-title">
            <a:extLst>
              <a:ext uri="{FF2B5EF4-FFF2-40B4-BE49-F238E27FC236}">
                <a16:creationId xmlns:a16="http://schemas.microsoft.com/office/drawing/2014/main" id="{4FC8F8CC-39AE-4591-92E1-D2CB07FAE1CF}"/>
              </a:ext>
            </a:extLst>
          </p:cNvPr>
          <p:cNvSpPr>
            <a:spLocks noGrp="1"/>
          </p:cNvSpPr>
          <p:nvPr/>
        </p:nvSpPr>
        <p:spPr>
          <a:xfrm>
            <a:off x="799729" y="4214824"/>
            <a:ext cx="506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NO PRIOR WORK COMBINES ALL FIVE PROPERTIES</a:t>
            </a:r>
          </a:p>
        </p:txBody>
      </p:sp>
      <p:sp>
        <p:nvSpPr>
          <p:cNvPr id="15" name="prop-0-0">
            <a:extLst>
              <a:ext uri="{FF2B5EF4-FFF2-40B4-BE49-F238E27FC236}">
                <a16:creationId xmlns:a16="http://schemas.microsoft.com/office/drawing/2014/main" id="{8A5DBD53-D4C9-4EB0-AC3D-A071893A0DE6}"/>
              </a:ext>
            </a:extLst>
          </p:cNvPr>
          <p:cNvSpPr>
            <a:spLocks noGrp="1"/>
          </p:cNvSpPr>
          <p:nvPr/>
        </p:nvSpPr>
        <p:spPr>
          <a:xfrm>
            <a:off x="809254" y="4707931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Interpretable</a:t>
            </a:r>
          </a:p>
        </p:txBody>
      </p:sp>
      <p:sp>
        <p:nvSpPr>
          <p:cNvPr id="16" name="prop-0-1">
            <a:extLst>
              <a:ext uri="{FF2B5EF4-FFF2-40B4-BE49-F238E27FC236}">
                <a16:creationId xmlns:a16="http://schemas.microsoft.com/office/drawing/2014/main" id="{605E9160-13F2-40B1-B96F-21DEDFF435D9}"/>
              </a:ext>
            </a:extLst>
          </p:cNvPr>
          <p:cNvSpPr>
            <a:spLocks noGrp="1"/>
          </p:cNvSpPr>
          <p:nvPr/>
        </p:nvSpPr>
        <p:spPr>
          <a:xfrm>
            <a:off x="2714254" y="470793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Long-term</a:t>
            </a:r>
          </a:p>
        </p:txBody>
      </p:sp>
      <p:sp>
        <p:nvSpPr>
          <p:cNvPr id="17" name="prop-0-2">
            <a:extLst>
              <a:ext uri="{FF2B5EF4-FFF2-40B4-BE49-F238E27FC236}">
                <a16:creationId xmlns:a16="http://schemas.microsoft.com/office/drawing/2014/main" id="{A22FAC11-43E8-4CEC-8C8E-E9B63F35AE3E}"/>
              </a:ext>
            </a:extLst>
          </p:cNvPr>
          <p:cNvSpPr>
            <a:spLocks noGrp="1"/>
          </p:cNvSpPr>
          <p:nvPr/>
        </p:nvSpPr>
        <p:spPr>
          <a:xfrm>
            <a:off x="3857254" y="470793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Predictive</a:t>
            </a:r>
          </a:p>
        </p:txBody>
      </p:sp>
      <p:sp>
        <p:nvSpPr>
          <p:cNvPr id="18" name="prop-0-3">
            <a:extLst>
              <a:ext uri="{FF2B5EF4-FFF2-40B4-BE49-F238E27FC236}">
                <a16:creationId xmlns:a16="http://schemas.microsoft.com/office/drawing/2014/main" id="{7C4A4A25-D213-45F9-B4D7-1F9776BB1967}"/>
              </a:ext>
            </a:extLst>
          </p:cNvPr>
          <p:cNvSpPr>
            <a:spLocks noGrp="1"/>
          </p:cNvSpPr>
          <p:nvPr/>
        </p:nvSpPr>
        <p:spPr>
          <a:xfrm>
            <a:off x="4952629" y="470793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Wine region</a:t>
            </a:r>
          </a:p>
        </p:txBody>
      </p:sp>
      <p:sp>
        <p:nvSpPr>
          <p:cNvPr id="19" name="prop-1-0">
            <a:extLst>
              <a:ext uri="{FF2B5EF4-FFF2-40B4-BE49-F238E27FC236}">
                <a16:creationId xmlns:a16="http://schemas.microsoft.com/office/drawing/2014/main" id="{DBB12BD9-97DA-49B9-B235-E2C3B6789004}"/>
              </a:ext>
            </a:extLst>
          </p:cNvPr>
          <p:cNvSpPr>
            <a:spLocks noGrp="1"/>
          </p:cNvSpPr>
          <p:nvPr/>
        </p:nvSpPr>
        <p:spPr>
          <a:xfrm>
            <a:off x="809254" y="5022256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Modern ML</a:t>
            </a:r>
          </a:p>
        </p:txBody>
      </p:sp>
      <p:sp>
        <p:nvSpPr>
          <p:cNvPr id="20" name="prop-1-1">
            <a:extLst>
              <a:ext uri="{FF2B5EF4-FFF2-40B4-BE49-F238E27FC236}">
                <a16:creationId xmlns:a16="http://schemas.microsoft.com/office/drawing/2014/main" id="{FC2430EE-90C2-45B4-A8FE-5A20FFBC59DE}"/>
              </a:ext>
            </a:extLst>
          </p:cNvPr>
          <p:cNvSpPr>
            <a:spLocks noGrp="1"/>
          </p:cNvSpPr>
          <p:nvPr/>
        </p:nvSpPr>
        <p:spPr>
          <a:xfrm>
            <a:off x="2714254" y="502225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1" name="prop-1-2">
            <a:extLst>
              <a:ext uri="{FF2B5EF4-FFF2-40B4-BE49-F238E27FC236}">
                <a16:creationId xmlns:a16="http://schemas.microsoft.com/office/drawing/2014/main" id="{FB6C4CD0-9D23-4B7B-A202-CF54C3F011C0}"/>
              </a:ext>
            </a:extLst>
          </p:cNvPr>
          <p:cNvSpPr>
            <a:spLocks noGrp="1"/>
          </p:cNvSpPr>
          <p:nvPr/>
        </p:nvSpPr>
        <p:spPr>
          <a:xfrm>
            <a:off x="3857254" y="502225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22" name="prop-1-3">
            <a:extLst>
              <a:ext uri="{FF2B5EF4-FFF2-40B4-BE49-F238E27FC236}">
                <a16:creationId xmlns:a16="http://schemas.microsoft.com/office/drawing/2014/main" id="{FD02C65A-9A3A-4F65-89EE-DF1FC53EFE68}"/>
              </a:ext>
            </a:extLst>
          </p:cNvPr>
          <p:cNvSpPr>
            <a:spLocks noGrp="1"/>
          </p:cNvSpPr>
          <p:nvPr/>
        </p:nvSpPr>
        <p:spPr>
          <a:xfrm>
            <a:off x="4952629" y="502225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3" name="prop-2-0">
            <a:extLst>
              <a:ext uri="{FF2B5EF4-FFF2-40B4-BE49-F238E27FC236}">
                <a16:creationId xmlns:a16="http://schemas.microsoft.com/office/drawing/2014/main" id="{FBF2D9BE-5EDF-42AE-8093-D23D43750D6F}"/>
              </a:ext>
            </a:extLst>
          </p:cNvPr>
          <p:cNvSpPr>
            <a:spLocks noGrp="1"/>
          </p:cNvSpPr>
          <p:nvPr/>
        </p:nvSpPr>
        <p:spPr>
          <a:xfrm>
            <a:off x="809254" y="5336581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Subgroup discovery</a:t>
            </a:r>
          </a:p>
        </p:txBody>
      </p:sp>
      <p:sp>
        <p:nvSpPr>
          <p:cNvPr id="24" name="prop-2-1">
            <a:extLst>
              <a:ext uri="{FF2B5EF4-FFF2-40B4-BE49-F238E27FC236}">
                <a16:creationId xmlns:a16="http://schemas.microsoft.com/office/drawing/2014/main" id="{F7772FCB-8E3C-4D9F-8469-468747E63FBE}"/>
              </a:ext>
            </a:extLst>
          </p:cNvPr>
          <p:cNvSpPr>
            <a:spLocks noGrp="1"/>
          </p:cNvSpPr>
          <p:nvPr/>
        </p:nvSpPr>
        <p:spPr>
          <a:xfrm>
            <a:off x="2714254" y="533658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5" name="prop-2-2">
            <a:extLst>
              <a:ext uri="{FF2B5EF4-FFF2-40B4-BE49-F238E27FC236}">
                <a16:creationId xmlns:a16="http://schemas.microsoft.com/office/drawing/2014/main" id="{02E28D6E-D69E-42CD-AB93-B3BBDB9A28EE}"/>
              </a:ext>
            </a:extLst>
          </p:cNvPr>
          <p:cNvSpPr>
            <a:spLocks noGrp="1"/>
          </p:cNvSpPr>
          <p:nvPr/>
        </p:nvSpPr>
        <p:spPr>
          <a:xfrm>
            <a:off x="3857254" y="533658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6" name="prop-2-3">
            <a:extLst>
              <a:ext uri="{FF2B5EF4-FFF2-40B4-BE49-F238E27FC236}">
                <a16:creationId xmlns:a16="http://schemas.microsoft.com/office/drawing/2014/main" id="{95BCAA5C-8534-4E6A-9860-8FE327BBF1C4}"/>
              </a:ext>
            </a:extLst>
          </p:cNvPr>
          <p:cNvSpPr>
            <a:spLocks noGrp="1"/>
          </p:cNvSpPr>
          <p:nvPr/>
        </p:nvSpPr>
        <p:spPr>
          <a:xfrm>
            <a:off x="4952629" y="5336581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25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7" name="prop-3-0">
            <a:extLst>
              <a:ext uri="{FF2B5EF4-FFF2-40B4-BE49-F238E27FC236}">
                <a16:creationId xmlns:a16="http://schemas.microsoft.com/office/drawing/2014/main" id="{B446589B-F740-4A12-8D43-3882BA561987}"/>
              </a:ext>
            </a:extLst>
          </p:cNvPr>
          <p:cNvSpPr>
            <a:spLocks noGrp="1"/>
          </p:cNvSpPr>
          <p:nvPr/>
        </p:nvSpPr>
        <p:spPr>
          <a:xfrm>
            <a:off x="809254" y="5650906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This thesis</a:t>
            </a:r>
          </a:p>
        </p:txBody>
      </p:sp>
      <p:sp>
        <p:nvSpPr>
          <p:cNvPr id="28" name="prop-3-1">
            <a:extLst>
              <a:ext uri="{FF2B5EF4-FFF2-40B4-BE49-F238E27FC236}">
                <a16:creationId xmlns:a16="http://schemas.microsoft.com/office/drawing/2014/main" id="{F459A0AB-C00F-4FD4-B01B-B0B13102B0CA}"/>
              </a:ext>
            </a:extLst>
          </p:cNvPr>
          <p:cNvSpPr>
            <a:spLocks noGrp="1"/>
          </p:cNvSpPr>
          <p:nvPr/>
        </p:nvSpPr>
        <p:spPr>
          <a:xfrm>
            <a:off x="2714254" y="565090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9" name="prop-3-2">
            <a:extLst>
              <a:ext uri="{FF2B5EF4-FFF2-40B4-BE49-F238E27FC236}">
                <a16:creationId xmlns:a16="http://schemas.microsoft.com/office/drawing/2014/main" id="{E1CEA3EE-F592-4EED-BBB6-8B8D988B4932}"/>
              </a:ext>
            </a:extLst>
          </p:cNvPr>
          <p:cNvSpPr>
            <a:spLocks noGrp="1"/>
          </p:cNvSpPr>
          <p:nvPr/>
        </p:nvSpPr>
        <p:spPr>
          <a:xfrm>
            <a:off x="3857254" y="565090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0" name="prop-3-3">
            <a:extLst>
              <a:ext uri="{FF2B5EF4-FFF2-40B4-BE49-F238E27FC236}">
                <a16:creationId xmlns:a16="http://schemas.microsoft.com/office/drawing/2014/main" id="{2AC03407-D545-4B55-A11C-D71F1BA09A80}"/>
              </a:ext>
            </a:extLst>
          </p:cNvPr>
          <p:cNvSpPr>
            <a:spLocks noGrp="1"/>
          </p:cNvSpPr>
          <p:nvPr/>
        </p:nvSpPr>
        <p:spPr>
          <a:xfrm>
            <a:off x="4952629" y="5650906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1" name="why-panel">
            <a:extLst>
              <a:ext uri="{FF2B5EF4-FFF2-40B4-BE49-F238E27FC236}">
                <a16:creationId xmlns:a16="http://schemas.microsoft.com/office/drawing/2014/main" id="{6102CF9C-5841-4F16-B22B-C0C972AB318A}"/>
              </a:ext>
            </a:extLst>
          </p:cNvPr>
          <p:cNvSpPr>
            <a:spLocks noGrp="1"/>
          </p:cNvSpPr>
          <p:nvPr/>
        </p:nvSpPr>
        <p:spPr>
          <a:xfrm>
            <a:off x="6257554" y="4107856"/>
            <a:ext cx="5667375" cy="200025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32" name="why-stripe">
            <a:extLst>
              <a:ext uri="{FF2B5EF4-FFF2-40B4-BE49-F238E27FC236}">
                <a16:creationId xmlns:a16="http://schemas.microsoft.com/office/drawing/2014/main" id="{447D9D22-5352-4F51-ADFA-1E12F42E3B2F}"/>
              </a:ext>
            </a:extLst>
          </p:cNvPr>
          <p:cNvSpPr>
            <a:spLocks noGrp="1"/>
          </p:cNvSpPr>
          <p:nvPr/>
        </p:nvSpPr>
        <p:spPr>
          <a:xfrm>
            <a:off x="6257554" y="4107856"/>
            <a:ext cx="76200" cy="2000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33" name="why-title">
            <a:extLst>
              <a:ext uri="{FF2B5EF4-FFF2-40B4-BE49-F238E27FC236}">
                <a16:creationId xmlns:a16="http://schemas.microsoft.com/office/drawing/2014/main" id="{EF1593B0-19F6-465F-BA55-7C9E6BC893EB}"/>
              </a:ext>
            </a:extLst>
          </p:cNvPr>
          <p:cNvSpPr>
            <a:spLocks noGrp="1"/>
          </p:cNvSpPr>
          <p:nvPr/>
        </p:nvSpPr>
        <p:spPr>
          <a:xfrm>
            <a:off x="6524254" y="4214824"/>
            <a:ext cx="409775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268A8A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WHY INTERPRETABILITY MATTERS</a:t>
            </a:r>
          </a:p>
        </p:txBody>
      </p:sp>
      <p:sp>
        <p:nvSpPr>
          <p:cNvPr id="34" name="why-body">
            <a:extLst>
              <a:ext uri="{FF2B5EF4-FFF2-40B4-BE49-F238E27FC236}">
                <a16:creationId xmlns:a16="http://schemas.microsoft.com/office/drawing/2014/main" id="{A279BAF8-C4CF-4C0A-A723-62959C4F3CCD}"/>
              </a:ext>
            </a:extLst>
          </p:cNvPr>
          <p:cNvSpPr>
            <a:spLocks noGrp="1"/>
          </p:cNvSpPr>
          <p:nvPr/>
        </p:nvSpPr>
        <p:spPr>
          <a:xfrm>
            <a:off x="6524624" y="4744654"/>
            <a:ext cx="52673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Readable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by agronomists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without ML expertise</a:t>
            </a:r>
          </a:p>
          <a:p>
            <a:pPr algn="just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Each rule carries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and a p-value</a:t>
            </a:r>
          </a:p>
          <a:p>
            <a:pPr algn="just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 be challenged and domain-validated</a:t>
            </a:r>
          </a:p>
          <a:p>
            <a:pPr algn="just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Useful for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diagnosis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even when forecasting fails</a:t>
            </a:r>
          </a:p>
        </p:txBody>
      </p:sp>
      <p:sp>
        <p:nvSpPr>
          <p:cNvPr id="36" name="slide-number">
            <a:extLst>
              <a:ext uri="{FF2B5EF4-FFF2-40B4-BE49-F238E27FC236}">
                <a16:creationId xmlns:a16="http://schemas.microsoft.com/office/drawing/2014/main" id="{4D52E4B0-8C58-48A2-8164-DFE0BDB9B4F1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7" name="slide-number-03">
            <a:extLst>
              <a:ext uri="{FF2B5EF4-FFF2-40B4-BE49-F238E27FC236}">
                <a16:creationId xmlns:a16="http://schemas.microsoft.com/office/drawing/2014/main" id="{C18A7B2B-F2A8-47B0-B405-4CD7822C71EB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5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why-body">
            <a:extLst>
              <a:ext uri="{FF2B5EF4-FFF2-40B4-BE49-F238E27FC236}">
                <a16:creationId xmlns:a16="http://schemas.microsoft.com/office/drawing/2014/main" id="{820336AF-21B1-410A-AD8C-8F825485400E}"/>
              </a:ext>
            </a:extLst>
          </p:cNvPr>
          <p:cNvSpPr>
            <a:spLocks noGrp="1"/>
          </p:cNvSpPr>
          <p:nvPr/>
        </p:nvSpPr>
        <p:spPr>
          <a:xfrm>
            <a:off x="799729" y="2619897"/>
            <a:ext cx="484730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Modern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ML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wine yield, but decision makers need a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readable rule they can challenge 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domain</a:t>
            </a:r>
            <a:r>
              <a:rPr lang="en-GB" sz="15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5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41" name="why-body">
            <a:extLst>
              <a:ext uri="{FF2B5EF4-FFF2-40B4-BE49-F238E27FC236}">
                <a16:creationId xmlns:a16="http://schemas.microsoft.com/office/drawing/2014/main" id="{30A445DB-B739-A470-8D86-D715B8F477F4}"/>
              </a:ext>
            </a:extLst>
          </p:cNvPr>
          <p:cNvSpPr>
            <a:spLocks noGrp="1"/>
          </p:cNvSpPr>
          <p:nvPr/>
        </p:nvSpPr>
        <p:spPr>
          <a:xfrm>
            <a:off x="6544962" y="2645768"/>
            <a:ext cx="484730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IF</a:t>
            </a:r>
            <a:r>
              <a:rPr lang="en-GB"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harvest soil water is moderate</a:t>
            </a:r>
          </a:p>
          <a:p>
            <a:pPr>
              <a:buNone/>
              <a:defRPr sz="1425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</a:t>
            </a:r>
            <a:r>
              <a:rPr lang="en-GB"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post-maturity wet days are low</a:t>
            </a:r>
          </a:p>
          <a:p>
            <a:pPr>
              <a:buNone/>
              <a:defRPr sz="1425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5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THEN</a:t>
            </a:r>
            <a:r>
              <a:rPr lang="en-GB"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production is +192 </a:t>
            </a:r>
            <a:r>
              <a:rPr lang="en-GB" sz="15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mhl</a:t>
            </a:r>
            <a:r>
              <a:rPr lang="en-GB"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above trend</a:t>
            </a:r>
          </a:p>
          <a:p>
            <a:pPr>
              <a:buNone/>
              <a:defRPr sz="1425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i="1" dirty="0"/>
              <a:t>support 21% - p-value &lt; 0.001</a:t>
            </a:r>
            <a:endParaRPr lang="en-GB" sz="90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3276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D421323-B346-45E5-8EDF-5D04D7534FF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98D7D5-703B-45E1-B93A-BD9D4E27C65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97493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Why this is hard: the climate signal is real, but diluted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D8FF44-D18B-4F9F-B6F8-697392C63D4A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82CCB1-1288-4841-9BD6-59E2CB024E10}"/>
              </a:ext>
            </a:extLst>
          </p:cNvPr>
          <p:cNvSpPr>
            <a:spLocks noGrp="1"/>
          </p:cNvSpPr>
          <p:nvPr/>
        </p:nvSpPr>
        <p:spPr>
          <a:xfrm>
            <a:off x="590550" y="1362075"/>
            <a:ext cx="11020425" cy="666750"/>
          </a:xfrm>
          <a:prstGeom prst="rect">
            <a:avLst/>
          </a:prstGeom>
        </p:spPr>
        <p:txBody>
          <a:bodyPr lIns="0" tIns="0" rIns="0" bIns="0" anchor="t">
            <a:normAutofit fontScale="97222" lnSpcReduction="10000"/>
          </a:bodyPr>
          <a:lstStyle/>
          <a:p>
            <a:pPr algn="l">
              <a:buNone/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The target combines climate, physiology, human decisions and structural change in one annual regional number.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F006F-92E9-4F4A-9BDC-F9A914396A36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2495550" cy="2857500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C99F2-32E2-4BC9-A4C0-64529514F429}"/>
              </a:ext>
            </a:extLst>
          </p:cNvPr>
          <p:cNvSpPr>
            <a:spLocks noGrp="1"/>
          </p:cNvSpPr>
          <p:nvPr/>
        </p:nvSpPr>
        <p:spPr>
          <a:xfrm>
            <a:off x="590550" y="2714625"/>
            <a:ext cx="476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15011A-FF6E-4E62-8717-3717386B2F42}"/>
              </a:ext>
            </a:extLst>
          </p:cNvPr>
          <p:cNvSpPr>
            <a:spLocks noGrp="1"/>
          </p:cNvSpPr>
          <p:nvPr/>
        </p:nvSpPr>
        <p:spPr>
          <a:xfrm>
            <a:off x="590550" y="3219450"/>
            <a:ext cx="21145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BIOLOGY SPANS YEARS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411935-BF4D-469F-A11C-02DB0F9CC3BC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2114550" cy="952500"/>
          </a:xfrm>
          <a:prstGeom prst="rect">
            <a:avLst/>
          </a:prstGeom>
        </p:spPr>
        <p:txBody>
          <a:bodyPr lIns="0" tIns="0" rIns="0" bIns="0" anchor="t">
            <a:normAutofit fontScale="99206" lnSpcReduction="10000"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Yield potential is partly set in the previous season, before the harvest year begins.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7F519-54EC-4B05-B179-0DAD26BDBC2C}"/>
              </a:ext>
            </a:extLst>
          </p:cNvPr>
          <p:cNvSpPr>
            <a:spLocks noGrp="1"/>
          </p:cNvSpPr>
          <p:nvPr/>
        </p:nvSpPr>
        <p:spPr>
          <a:xfrm>
            <a:off x="3305175" y="2476500"/>
            <a:ext cx="2495550" cy="2857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8B20F4-FBBF-493B-B007-384398B030E6}"/>
              </a:ext>
            </a:extLst>
          </p:cNvPr>
          <p:cNvSpPr>
            <a:spLocks noGrp="1"/>
          </p:cNvSpPr>
          <p:nvPr/>
        </p:nvSpPr>
        <p:spPr>
          <a:xfrm>
            <a:off x="3495675" y="2714625"/>
            <a:ext cx="476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9855F-071A-4689-A4E1-3A717C7C81F1}"/>
              </a:ext>
            </a:extLst>
          </p:cNvPr>
          <p:cNvSpPr>
            <a:spLocks noGrp="1"/>
          </p:cNvSpPr>
          <p:nvPr/>
        </p:nvSpPr>
        <p:spPr>
          <a:xfrm>
            <a:off x="3495675" y="3219450"/>
            <a:ext cx="2114550" cy="666750"/>
          </a:xfrm>
          <a:prstGeom prst="rect">
            <a:avLst/>
          </a:prstGeom>
        </p:spPr>
        <p:txBody>
          <a:bodyPr lIns="0" tIns="0" rIns="0" bIns="0" anchor="t">
            <a:normAutofit fontScale="92500"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AGGREGATION HIDES VARIATION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A7E6-61D9-4486-A6BD-6D99FBC02C2B}"/>
              </a:ext>
            </a:extLst>
          </p:cNvPr>
          <p:cNvSpPr>
            <a:spLocks noGrp="1"/>
          </p:cNvSpPr>
          <p:nvPr/>
        </p:nvSpPr>
        <p:spPr>
          <a:xfrm>
            <a:off x="3495675" y="4095750"/>
            <a:ext cx="2114550" cy="952500"/>
          </a:xfrm>
          <a:prstGeom prst="rect">
            <a:avLst/>
          </a:prstGeom>
        </p:spPr>
        <p:txBody>
          <a:bodyPr lIns="0" tIns="0" rIns="0" bIns="0" anchor="t">
            <a:normAutofit fontScale="99206" lnSpcReduction="10000"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Thousands of vineyards differ in soil, altitude, practices and local weather.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5AC4D5-BA7D-478F-85F3-11EB53A4E31B}"/>
              </a:ext>
            </a:extLst>
          </p:cNvPr>
          <p:cNvSpPr>
            <a:spLocks noGrp="1"/>
          </p:cNvSpPr>
          <p:nvPr/>
        </p:nvSpPr>
        <p:spPr>
          <a:xfrm>
            <a:off x="6210300" y="2476500"/>
            <a:ext cx="2495550" cy="2857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1F6572-4A83-4B82-BA93-DB2283B30BAB}"/>
              </a:ext>
            </a:extLst>
          </p:cNvPr>
          <p:cNvSpPr>
            <a:spLocks noGrp="1"/>
          </p:cNvSpPr>
          <p:nvPr/>
        </p:nvSpPr>
        <p:spPr>
          <a:xfrm>
            <a:off x="6400800" y="2714625"/>
            <a:ext cx="476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7EE950-D403-4613-BD8F-DB6DFD6A1463}"/>
              </a:ext>
            </a:extLst>
          </p:cNvPr>
          <p:cNvSpPr>
            <a:spLocks noGrp="1"/>
          </p:cNvSpPr>
          <p:nvPr/>
        </p:nvSpPr>
        <p:spPr>
          <a:xfrm>
            <a:off x="6400800" y="3219450"/>
            <a:ext cx="2305050" cy="666750"/>
          </a:xfrm>
          <a:prstGeom prst="rect">
            <a:avLst/>
          </a:prstGeom>
        </p:spPr>
        <p:txBody>
          <a:bodyPr lIns="0" tIns="0" rIns="0" bIns="0" anchor="t">
            <a:normAutofit fontScale="89794" lnSpcReduction="20000"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STRUCTURE CHANGES OVER TIME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28A929-187D-4CB4-9D3C-210211828C6C}"/>
              </a:ext>
            </a:extLst>
          </p:cNvPr>
          <p:cNvSpPr>
            <a:spLocks noGrp="1"/>
          </p:cNvSpPr>
          <p:nvPr/>
        </p:nvSpPr>
        <p:spPr>
          <a:xfrm>
            <a:off x="6400800" y="4095750"/>
            <a:ext cx="2114550" cy="952500"/>
          </a:xfrm>
          <a:prstGeom prst="rect">
            <a:avLst/>
          </a:prstGeom>
        </p:spPr>
        <p:txBody>
          <a:bodyPr lIns="0" tIns="0" rIns="0" bIns="0" anchor="t">
            <a:normAutofit fontScale="99206" lnSpcReduction="10000"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Policy, planted area, producers and market conditions shift the production baseline.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793575-0FA8-4C0E-9F41-B59818F54372}"/>
              </a:ext>
            </a:extLst>
          </p:cNvPr>
          <p:cNvSpPr>
            <a:spLocks noGrp="1"/>
          </p:cNvSpPr>
          <p:nvPr/>
        </p:nvSpPr>
        <p:spPr>
          <a:xfrm>
            <a:off x="9115425" y="2476500"/>
            <a:ext cx="2495550" cy="28575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6DF157-CD5C-42F4-99F6-4CBDA3F84659}"/>
              </a:ext>
            </a:extLst>
          </p:cNvPr>
          <p:cNvSpPr>
            <a:spLocks noGrp="1"/>
          </p:cNvSpPr>
          <p:nvPr/>
        </p:nvSpPr>
        <p:spPr>
          <a:xfrm>
            <a:off x="9305925" y="2714625"/>
            <a:ext cx="476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F451FE-73AA-4499-BF15-71945A663523}"/>
              </a:ext>
            </a:extLst>
          </p:cNvPr>
          <p:cNvSpPr>
            <a:spLocks noGrp="1"/>
          </p:cNvSpPr>
          <p:nvPr/>
        </p:nvSpPr>
        <p:spPr>
          <a:xfrm>
            <a:off x="9305925" y="3219450"/>
            <a:ext cx="21145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THE SAMPLE IS SMALL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B91F0A-DA05-4907-953A-97ED089079B1}"/>
              </a:ext>
            </a:extLst>
          </p:cNvPr>
          <p:cNvSpPr>
            <a:spLocks noGrp="1"/>
          </p:cNvSpPr>
          <p:nvPr/>
        </p:nvSpPr>
        <p:spPr>
          <a:xfrm>
            <a:off x="9305925" y="4095750"/>
            <a:ext cx="2114550" cy="952500"/>
          </a:xfrm>
          <a:prstGeom prst="rect">
            <a:avLst/>
          </a:prstGeom>
        </p:spPr>
        <p:txBody>
          <a:bodyPr lIns="0" tIns="0" rIns="0" bIns="0" anchor="t">
            <a:normAutofit fontScale="99206" lnSpcReduction="10000"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Only 80–89 annual observations must support 59 engineered features.</a:t>
            </a:r>
          </a:p>
        </p:txBody>
      </p:sp>
      <p:sp>
        <p:nvSpPr>
          <p:cNvPr id="23" name="gap-stripe">
            <a:extLst>
              <a:ext uri="{FF2B5EF4-FFF2-40B4-BE49-F238E27FC236}">
                <a16:creationId xmlns:a16="http://schemas.microsoft.com/office/drawing/2014/main" id="{D158EE82-3ED1-B7BC-4249-06FE7256E9EC}"/>
              </a:ext>
            </a:extLst>
          </p:cNvPr>
          <p:cNvSpPr>
            <a:spLocks noGrp="1"/>
          </p:cNvSpPr>
          <p:nvPr/>
        </p:nvSpPr>
        <p:spPr>
          <a:xfrm>
            <a:off x="444169" y="1301712"/>
            <a:ext cx="76200" cy="755392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15B1DC-7C8E-EB75-2F6B-7D43C155D135}"/>
              </a:ext>
            </a:extLst>
          </p:cNvPr>
          <p:cNvSpPr>
            <a:spLocks noGrp="1"/>
          </p:cNvSpPr>
          <p:nvPr/>
        </p:nvSpPr>
        <p:spPr>
          <a:xfrm>
            <a:off x="390720" y="5905500"/>
            <a:ext cx="11344274" cy="400050"/>
          </a:xfrm>
          <a:prstGeom prst="rect">
            <a:avLst/>
          </a:prstGeom>
        </p:spPr>
        <p:txBody>
          <a:bodyPr lIns="0" tIns="0" rIns="0" bIns="0" anchor="t">
            <a:normAutofit fontScale="67222" lnSpcReduction="20000"/>
          </a:bodyPr>
          <a:lstStyle/>
          <a:p>
            <a:pPr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Weak predictive performance does </a:t>
            </a:r>
            <a:r>
              <a:rPr lang="en-GB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not imply absence of climate signal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; it may mean that the signal is diluted or confounded by structural change in the production series</a:t>
            </a:r>
            <a:endParaRPr lang="en-GB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252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D917EC-6F72-45E3-8486-6E30511C9C05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NATURAL EXPERIMENT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1C5456-1906-4539-88B9-DF0FEB4F79E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The same pipeline meets two different histories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05</a:t>
            </a:r>
          </a:p>
        </p:txBody>
      </p:sp>
      <p:pic>
        <p:nvPicPr>
          <p:cNvPr id="27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706860"/>
            <a:ext cx="5476875" cy="2282031"/>
          </a:xfrm>
          <a:prstGeom prst="rect">
            <a:avLst/>
          </a:prstGeom>
        </p:spPr>
      </p:pic>
      <p:pic>
        <p:nvPicPr>
          <p:cNvPr id="28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706860"/>
            <a:ext cx="5476875" cy="22820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76A673-3B6D-4E80-B7B2-325AA68A2A34}"/>
              </a:ext>
            </a:extLst>
          </p:cNvPr>
          <p:cNvSpPr>
            <a:spLocks noGrp="1"/>
          </p:cNvSpPr>
          <p:nvPr/>
        </p:nvSpPr>
        <p:spPr>
          <a:xfrm>
            <a:off x="207545" y="4459795"/>
            <a:ext cx="5476875" cy="100012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68D9F2-1E44-413F-B220-2FEE780C8432}"/>
              </a:ext>
            </a:extLst>
          </p:cNvPr>
          <p:cNvSpPr>
            <a:spLocks noGrp="1"/>
          </p:cNvSpPr>
          <p:nvPr/>
        </p:nvSpPr>
        <p:spPr>
          <a:xfrm>
            <a:off x="6267450" y="4459795"/>
            <a:ext cx="5476875" cy="10001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5A3E0-8854-4FC9-8E8C-B9BA83D637E2}"/>
              </a:ext>
            </a:extLst>
          </p:cNvPr>
          <p:cNvSpPr>
            <a:spLocks noGrp="1"/>
          </p:cNvSpPr>
          <p:nvPr/>
        </p:nvSpPr>
        <p:spPr>
          <a:xfrm>
            <a:off x="417095" y="4669345"/>
            <a:ext cx="2190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DOURO · 89 years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DFC4E3-AD38-42FF-8715-8ABB72C2F1B6}"/>
              </a:ext>
            </a:extLst>
          </p:cNvPr>
          <p:cNvSpPr>
            <a:spLocks noGrp="1"/>
          </p:cNvSpPr>
          <p:nvPr/>
        </p:nvSpPr>
        <p:spPr>
          <a:xfrm>
            <a:off x="417095" y="5002720"/>
            <a:ext cx="4762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Gradual +80% structural rise; CV 27% </a:t>
            </a:r>
            <a:r>
              <a:rPr lang="en-GB" sz="600" noProof="0" dirty="0"/>
              <a:t>(Coefficient of Variation)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FC68F-3DD9-41F0-A4E4-075BF8D4A29F}"/>
              </a:ext>
            </a:extLst>
          </p:cNvPr>
          <p:cNvSpPr>
            <a:spLocks noGrp="1"/>
          </p:cNvSpPr>
          <p:nvPr/>
        </p:nvSpPr>
        <p:spPr>
          <a:xfrm>
            <a:off x="6477000" y="4669345"/>
            <a:ext cx="2857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VINHO VERDE · 80 years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3B952-EDAB-4F79-8E6F-FF13A84EBD9F}"/>
              </a:ext>
            </a:extLst>
          </p:cNvPr>
          <p:cNvSpPr>
            <a:spLocks noGrp="1"/>
          </p:cNvSpPr>
          <p:nvPr/>
        </p:nvSpPr>
        <p:spPr>
          <a:xfrm>
            <a:off x="6477000" y="5002720"/>
            <a:ext cx="4762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Sharp structural decline; CV 47% </a:t>
            </a:r>
            <a:r>
              <a:rPr lang="en-GB" sz="800" noProof="0" dirty="0"/>
              <a:t>(Coefficient of Variation)</a:t>
            </a:r>
          </a:p>
          <a:p>
            <a:pPr algn="l">
              <a:buNone/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endParaRPr lang="en-GB" noProof="0" dirty="0"/>
          </a:p>
        </p:txBody>
      </p:sp>
      <p:sp>
        <p:nvSpPr>
          <p:cNvPr id="14" name="slide5-cover-old-left-figure">
            <a:extLst>
              <a:ext uri="{FF2B5EF4-FFF2-40B4-BE49-F238E27FC236}">
                <a16:creationId xmlns:a16="http://schemas.microsoft.com/office/drawing/2014/main" id="{1A1536CD-5913-4CC7-8101-6889F0320388}"/>
              </a:ext>
            </a:extLst>
          </p:cNvPr>
          <p:cNvSpPr>
            <a:spLocks noGrp="1"/>
          </p:cNvSpPr>
          <p:nvPr/>
        </p:nvSpPr>
        <p:spPr>
          <a:xfrm>
            <a:off x="400050" y="1706876"/>
            <a:ext cx="5476875" cy="228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5" name="slide5-cover-old-right-figure">
            <a:extLst>
              <a:ext uri="{FF2B5EF4-FFF2-40B4-BE49-F238E27FC236}">
                <a16:creationId xmlns:a16="http://schemas.microsoft.com/office/drawing/2014/main" id="{AACEB57E-54FD-4B5A-B9E8-993E434B6D05}"/>
              </a:ext>
            </a:extLst>
          </p:cNvPr>
          <p:cNvSpPr>
            <a:spLocks noGrp="1"/>
          </p:cNvSpPr>
          <p:nvPr/>
        </p:nvSpPr>
        <p:spPr>
          <a:xfrm>
            <a:off x="6305550" y="1706876"/>
            <a:ext cx="5476875" cy="228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8" name="slide5-cover-old-left-figure">
            <a:extLst>
              <a:ext uri="{FF2B5EF4-FFF2-40B4-BE49-F238E27FC236}">
                <a16:creationId xmlns:a16="http://schemas.microsoft.com/office/drawing/2014/main" id="{E4084D6D-EBC9-454A-8959-14B09CDC4A0A}"/>
              </a:ext>
            </a:extLst>
          </p:cNvPr>
          <p:cNvSpPr>
            <a:spLocks noGrp="1"/>
          </p:cNvSpPr>
          <p:nvPr/>
        </p:nvSpPr>
        <p:spPr>
          <a:xfrm>
            <a:off x="400050" y="1706876"/>
            <a:ext cx="5476875" cy="228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9" name="slide5-cover-old-right-figure">
            <a:extLst>
              <a:ext uri="{FF2B5EF4-FFF2-40B4-BE49-F238E27FC236}">
                <a16:creationId xmlns:a16="http://schemas.microsoft.com/office/drawing/2014/main" id="{BB6969DA-4692-4451-BCD4-BC63513D9D45}"/>
              </a:ext>
            </a:extLst>
          </p:cNvPr>
          <p:cNvSpPr>
            <a:spLocks noGrp="1"/>
          </p:cNvSpPr>
          <p:nvPr/>
        </p:nvSpPr>
        <p:spPr>
          <a:xfrm>
            <a:off x="6305550" y="1706876"/>
            <a:ext cx="5476875" cy="228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1328" y="1478260"/>
            <a:ext cx="6025477" cy="251061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28860" y="1478260"/>
            <a:ext cx="6025477" cy="25106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96766B-4BD2-7F05-15F1-6EEFF89CE64D}"/>
              </a:ext>
            </a:extLst>
          </p:cNvPr>
          <p:cNvSpPr>
            <a:spLocks noGrp="1"/>
          </p:cNvSpPr>
          <p:nvPr/>
        </p:nvSpPr>
        <p:spPr>
          <a:xfrm>
            <a:off x="356723" y="5857875"/>
            <a:ext cx="11425702" cy="502730"/>
          </a:xfrm>
          <a:prstGeom prst="rect">
            <a:avLst/>
          </a:prstGeom>
        </p:spPr>
        <p:txBody>
          <a:bodyPr lIns="0" tIns="0" rIns="0" bIns="0" anchor="t">
            <a:normAutofit fontScale="89722" lnSpcReduction="20000"/>
          </a:bodyPr>
          <a:lstStyle/>
          <a:p>
            <a:pPr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2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regional contrast turns two case studies into a natural experiment: divergence reflects structure, not arbitrary modelling</a:t>
            </a:r>
            <a:endParaRPr lang="en-GB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11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C556DB-F450-4F6C-BC5A-F9E5CD30B48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GRAPEVINE CYCLE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B5817A-BFE4-4C34-962D-0067E0F3441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89324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Current production begins in the previous growing season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F656C4-456B-497C-A275-1CD0CD46BAF6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D940BD-92D4-4FC2-AE9D-04FCC326BE96}"/>
              </a:ext>
            </a:extLst>
          </p:cNvPr>
          <p:cNvSpPr>
            <a:spLocks noGrp="1"/>
          </p:cNvSpPr>
          <p:nvPr/>
        </p:nvSpPr>
        <p:spPr>
          <a:xfrm>
            <a:off x="400050" y="1836824"/>
            <a:ext cx="2857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YEAR y0 · POTENTIAL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B268A6-AF03-42FB-BE68-182059FD8CF1}"/>
              </a:ext>
            </a:extLst>
          </p:cNvPr>
          <p:cNvSpPr>
            <a:spLocks noGrp="1"/>
          </p:cNvSpPr>
          <p:nvPr/>
        </p:nvSpPr>
        <p:spPr>
          <a:xfrm>
            <a:off x="6381750" y="1836824"/>
            <a:ext cx="3333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YEAR y1 · REALISATION</a:t>
            </a:r>
          </a:p>
        </p:txBody>
      </p:sp>
      <p:cxnSp>
        <p:nvCxnSpPr>
          <p:cNvPr id="238" name="Straight Arrow Connector 213"/>
          <p:cNvCxnSpPr/>
          <p:nvPr/>
        </p:nvCxnSpPr>
        <p:spPr>
          <a:xfrm>
            <a:off x="666750" y="3143250"/>
            <a:ext cx="10668000" cy="953"/>
          </a:xfrm>
          <a:prstGeom prst="straightConnector1">
            <a:avLst/>
          </a:prstGeom>
          <a:ln w="19050">
            <a:solidFill>
              <a:srgbClr val="151515"/>
            </a:solidFill>
            <a:prstDash val="solid"/>
          </a:ln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4D0AC70-4D09-47CB-9E28-5A4B814C1AAC}"/>
              </a:ext>
            </a:extLst>
          </p:cNvPr>
          <p:cNvSpPr>
            <a:spLocks noGrp="1"/>
          </p:cNvSpPr>
          <p:nvPr/>
        </p:nvSpPr>
        <p:spPr>
          <a:xfrm>
            <a:off x="1047750" y="3048000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0A997A-01AB-4267-9843-C877E38A3B65}"/>
              </a:ext>
            </a:extLst>
          </p:cNvPr>
          <p:cNvSpPr>
            <a:spLocks noGrp="1"/>
          </p:cNvSpPr>
          <p:nvPr/>
        </p:nvSpPr>
        <p:spPr>
          <a:xfrm>
            <a:off x="3714750" y="3048000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E4AF41-9845-417B-AC0C-9BAAE4E81987}"/>
              </a:ext>
            </a:extLst>
          </p:cNvPr>
          <p:cNvSpPr>
            <a:spLocks noGrp="1"/>
          </p:cNvSpPr>
          <p:nvPr/>
        </p:nvSpPr>
        <p:spPr>
          <a:xfrm>
            <a:off x="6715125" y="3048000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3CB1F9-16B8-49CF-ABBE-CF9BE4807DA8}"/>
              </a:ext>
            </a:extLst>
          </p:cNvPr>
          <p:cNvSpPr>
            <a:spLocks noGrp="1"/>
          </p:cNvSpPr>
          <p:nvPr/>
        </p:nvSpPr>
        <p:spPr>
          <a:xfrm>
            <a:off x="8858250" y="3048000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6DA865-E87D-4B4F-A879-37FE08ACEC1C}"/>
              </a:ext>
            </a:extLst>
          </p:cNvPr>
          <p:cNvSpPr>
            <a:spLocks noGrp="1"/>
          </p:cNvSpPr>
          <p:nvPr/>
        </p:nvSpPr>
        <p:spPr>
          <a:xfrm>
            <a:off x="11049000" y="3048000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708AAF-9A48-4B46-AC39-732BC6FBD6FD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524000" cy="619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Primordia
formation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218A72-6673-4418-9540-9F0295897B14}"/>
              </a:ext>
            </a:extLst>
          </p:cNvPr>
          <p:cNvSpPr>
            <a:spLocks noGrp="1"/>
          </p:cNvSpPr>
          <p:nvPr/>
        </p:nvSpPr>
        <p:spPr>
          <a:xfrm>
            <a:off x="3333750" y="3476625"/>
            <a:ext cx="1333500" cy="619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Reserve
building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FF02B0-F366-4A5D-9876-658705489C08}"/>
              </a:ext>
            </a:extLst>
          </p:cNvPr>
          <p:cNvSpPr>
            <a:spLocks noGrp="1"/>
          </p:cNvSpPr>
          <p:nvPr/>
        </p:nvSpPr>
        <p:spPr>
          <a:xfrm>
            <a:off x="6286500" y="2333625"/>
            <a:ext cx="11430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Bud break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256DB5-0030-44F3-B624-2F54A14D545E}"/>
              </a:ext>
            </a:extLst>
          </p:cNvPr>
          <p:cNvSpPr>
            <a:spLocks noGrp="1"/>
          </p:cNvSpPr>
          <p:nvPr/>
        </p:nvSpPr>
        <p:spPr>
          <a:xfrm>
            <a:off x="8286750" y="3476625"/>
            <a:ext cx="1428750" cy="619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Flowering &amp;
fruit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BC41E2-6ACD-4622-9CE4-8D3434719865}"/>
              </a:ext>
            </a:extLst>
          </p:cNvPr>
          <p:cNvSpPr>
            <a:spLocks noGrp="1"/>
          </p:cNvSpPr>
          <p:nvPr/>
        </p:nvSpPr>
        <p:spPr>
          <a:xfrm>
            <a:off x="10477500" y="2333625"/>
            <a:ext cx="1428750" cy="619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 err="1"/>
              <a:t>Veraison</a:t>
            </a:r>
            <a:r>
              <a:rPr lang="en-GB" noProof="0" dirty="0"/>
              <a:t> to
harvest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7693FB-C01D-43A7-8FD0-B7863B4CA36B}"/>
              </a:ext>
            </a:extLst>
          </p:cNvPr>
          <p:cNvSpPr>
            <a:spLocks noGrp="1"/>
          </p:cNvSpPr>
          <p:nvPr/>
        </p:nvSpPr>
        <p:spPr>
          <a:xfrm>
            <a:off x="740449" y="4109852"/>
            <a:ext cx="390525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/>
              <a:t>Temperature and light set the upper bound on bunch number.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54E540-9AB1-4ABE-8F76-BC24FFF00897}"/>
              </a:ext>
            </a:extLst>
          </p:cNvPr>
          <p:cNvSpPr>
            <a:spLocks noGrp="1"/>
          </p:cNvSpPr>
          <p:nvPr/>
        </p:nvSpPr>
        <p:spPr>
          <a:xfrm>
            <a:off x="740449" y="4867730"/>
            <a:ext cx="390525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/>
              <a:t>Prior water and thermal stress shape carbohydrate reserves.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76E74B-E32A-4244-8031-BA143E297E2E}"/>
              </a:ext>
            </a:extLst>
          </p:cNvPr>
          <p:cNvSpPr>
            <a:spLocks noGrp="1"/>
          </p:cNvSpPr>
          <p:nvPr/>
        </p:nvSpPr>
        <p:spPr>
          <a:xfrm>
            <a:off x="6405814" y="4168154"/>
            <a:ext cx="4953000" cy="952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/>
              <a:t>Current-year temperature, rain, canopy and soil water determine fruit set and berry development.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50513E-AC46-450E-BA43-FBBFD43FFB90}"/>
              </a:ext>
            </a:extLst>
          </p:cNvPr>
          <p:cNvSpPr>
            <a:spLocks noGrp="1"/>
          </p:cNvSpPr>
          <p:nvPr/>
        </p:nvSpPr>
        <p:spPr>
          <a:xfrm>
            <a:off x="4953000" y="1482811"/>
            <a:ext cx="904875" cy="4250724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B6926A-835E-4BB3-9E59-017C60377BD5}"/>
              </a:ext>
            </a:extLst>
          </p:cNvPr>
          <p:cNvSpPr>
            <a:spLocks noGrp="1"/>
          </p:cNvSpPr>
          <p:nvPr/>
        </p:nvSpPr>
        <p:spPr>
          <a:xfrm>
            <a:off x="5048250" y="2952750"/>
            <a:ext cx="714375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CARRY-
OVER</a:t>
            </a:r>
          </a:p>
        </p:txBody>
      </p:sp>
      <p:sp>
        <p:nvSpPr>
          <p:cNvPr id="22" name="gap-stripe">
            <a:extLst>
              <a:ext uri="{FF2B5EF4-FFF2-40B4-BE49-F238E27FC236}">
                <a16:creationId xmlns:a16="http://schemas.microsoft.com/office/drawing/2014/main" id="{FA12628C-0ECE-9D05-B99F-76C8873E3D54}"/>
              </a:ext>
            </a:extLst>
          </p:cNvPr>
          <p:cNvSpPr>
            <a:spLocks noGrp="1"/>
          </p:cNvSpPr>
          <p:nvPr/>
        </p:nvSpPr>
        <p:spPr>
          <a:xfrm>
            <a:off x="550950" y="4109852"/>
            <a:ext cx="76200" cy="56753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6" name="gap-stripe">
            <a:extLst>
              <a:ext uri="{FF2B5EF4-FFF2-40B4-BE49-F238E27FC236}">
                <a16:creationId xmlns:a16="http://schemas.microsoft.com/office/drawing/2014/main" id="{7CC50F84-A90B-D537-58FC-B505CFD2EA59}"/>
              </a:ext>
            </a:extLst>
          </p:cNvPr>
          <p:cNvSpPr>
            <a:spLocks noGrp="1"/>
          </p:cNvSpPr>
          <p:nvPr/>
        </p:nvSpPr>
        <p:spPr>
          <a:xfrm>
            <a:off x="547743" y="4867730"/>
            <a:ext cx="76200" cy="56753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7" name="gap-stripe">
            <a:extLst>
              <a:ext uri="{FF2B5EF4-FFF2-40B4-BE49-F238E27FC236}">
                <a16:creationId xmlns:a16="http://schemas.microsoft.com/office/drawing/2014/main" id="{4736ECBC-467A-6359-25CE-39EEB43E259F}"/>
              </a:ext>
            </a:extLst>
          </p:cNvPr>
          <p:cNvSpPr>
            <a:spLocks noGrp="1"/>
          </p:cNvSpPr>
          <p:nvPr/>
        </p:nvSpPr>
        <p:spPr>
          <a:xfrm>
            <a:off x="6210300" y="4168154"/>
            <a:ext cx="76200" cy="56753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0653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15EAE2-EEC0-4E1A-8935-E7CDD9FCCC0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FEATURE ENGINEERING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79752-B484-4AF2-A91D-719CFE162F26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Features follow the biology, not the calendar</a:t>
            </a:r>
          </a:p>
        </p:txBody>
      </p:sp>
      <p:pic>
        <p:nvPicPr>
          <p:cNvPr id="33" name="Picture 10"/>
          <p:cNvPicPr>
            <a:picLocks noChangeAspect="1"/>
          </p:cNvPicPr>
          <p:nvPr/>
        </p:nvPicPr>
        <p:blipFill>
          <a:blip r:embed="rId3"/>
          <a:srcRect b="24053"/>
          <a:stretch>
            <a:fillRect/>
          </a:stretch>
        </p:blipFill>
        <p:spPr>
          <a:xfrm>
            <a:off x="8984040" y="2953902"/>
            <a:ext cx="3087426" cy="1320554"/>
          </a:xfrm>
          <a:prstGeom prst="rect">
            <a:avLst/>
          </a:prstGeom>
        </p:spPr>
      </p:pic>
      <p:pic>
        <p:nvPicPr>
          <p:cNvPr id="34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0050" y="1307060"/>
            <a:ext cx="8295666" cy="46142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slide7-band-repair-records">
            <a:extLst>
              <a:ext uri="{FF2B5EF4-FFF2-40B4-BE49-F238E27FC236}">
                <a16:creationId xmlns:a16="http://schemas.microsoft.com/office/drawing/2014/main" id="{22BD4752-FAF0-4E9C-BBB5-10480FA48B99}"/>
              </a:ext>
            </a:extLst>
          </p:cNvPr>
          <p:cNvSpPr>
            <a:spLocks noGrp="1"/>
          </p:cNvSpPr>
          <p:nvPr/>
        </p:nvSpPr>
        <p:spPr>
          <a:xfrm>
            <a:off x="1238812" y="5961582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32,842 / 29,902 </a:t>
            </a:r>
            <a:b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daily records</a:t>
            </a:r>
          </a:p>
        </p:txBody>
      </p:sp>
      <p:sp>
        <p:nvSpPr>
          <p:cNvPr id="23" name="slide7-band-repair-predictors">
            <a:extLst>
              <a:ext uri="{FF2B5EF4-FFF2-40B4-BE49-F238E27FC236}">
                <a16:creationId xmlns:a16="http://schemas.microsoft.com/office/drawing/2014/main" id="{7085D20E-47F3-4E69-AFFE-5BEC46CFAD8E}"/>
              </a:ext>
            </a:extLst>
          </p:cNvPr>
          <p:cNvSpPr>
            <a:spLocks noGrp="1"/>
          </p:cNvSpPr>
          <p:nvPr/>
        </p:nvSpPr>
        <p:spPr>
          <a:xfrm>
            <a:off x="3429762" y="5961582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EE6A2E"/>
                </a:solidFill>
                <a:latin typeface="Arial"/>
                <a:ea typeface="Arial"/>
                <a:cs typeface="Arial"/>
              </a:defRPr>
            </a:pP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59 annual </a:t>
            </a:r>
            <a:b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predictors</a:t>
            </a:r>
          </a:p>
        </p:txBody>
      </p:sp>
      <p:sp>
        <p:nvSpPr>
          <p:cNvPr id="24" name="slide7-band-repair-anchors">
            <a:extLst>
              <a:ext uri="{FF2B5EF4-FFF2-40B4-BE49-F238E27FC236}">
                <a16:creationId xmlns:a16="http://schemas.microsoft.com/office/drawing/2014/main" id="{6C38BA8C-60BA-476F-8EA2-6A64643236C1}"/>
              </a:ext>
            </a:extLst>
          </p:cNvPr>
          <p:cNvSpPr>
            <a:spLocks noGrp="1"/>
          </p:cNvSpPr>
          <p:nvPr/>
        </p:nvSpPr>
        <p:spPr>
          <a:xfrm>
            <a:off x="5285202" y="5961582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phenological </a:t>
            </a:r>
            <a:b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anchors</a:t>
            </a:r>
          </a:p>
        </p:txBody>
      </p:sp>
      <p:sp>
        <p:nvSpPr>
          <p:cNvPr id="25" name="slide7-band-repair-years">
            <a:extLst>
              <a:ext uri="{FF2B5EF4-FFF2-40B4-BE49-F238E27FC236}">
                <a16:creationId xmlns:a16="http://schemas.microsoft.com/office/drawing/2014/main" id="{D1500B64-3D66-4232-B257-0347FABB7313}"/>
              </a:ext>
            </a:extLst>
          </p:cNvPr>
          <p:cNvSpPr>
            <a:spLocks noGrp="1"/>
          </p:cNvSpPr>
          <p:nvPr/>
        </p:nvSpPr>
        <p:spPr>
          <a:xfrm>
            <a:off x="7276585" y="5961582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current + 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1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previous year</a:t>
            </a:r>
          </a:p>
        </p:txBody>
      </p:sp>
      <p:sp>
        <p:nvSpPr>
          <p:cNvPr id="3" name="gap-stripe">
            <a:extLst>
              <a:ext uri="{FF2B5EF4-FFF2-40B4-BE49-F238E27FC236}">
                <a16:creationId xmlns:a16="http://schemas.microsoft.com/office/drawing/2014/main" id="{6F24B00F-D629-057C-7D4C-8F1FC553E0DB}"/>
              </a:ext>
            </a:extLst>
          </p:cNvPr>
          <p:cNvSpPr>
            <a:spLocks noGrp="1"/>
          </p:cNvSpPr>
          <p:nvPr/>
        </p:nvSpPr>
        <p:spPr>
          <a:xfrm rot="5400000">
            <a:off x="942199" y="5923232"/>
            <a:ext cx="76200" cy="51594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sz="1600" noProof="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07</a:t>
            </a:r>
          </a:p>
        </p:txBody>
      </p:sp>
      <p:sp>
        <p:nvSpPr>
          <p:cNvPr id="11" name="gap-stripe">
            <a:extLst>
              <a:ext uri="{FF2B5EF4-FFF2-40B4-BE49-F238E27FC236}">
                <a16:creationId xmlns:a16="http://schemas.microsoft.com/office/drawing/2014/main" id="{220832A4-1703-F3A1-BDB7-8FDC169A053C}"/>
              </a:ext>
            </a:extLst>
          </p:cNvPr>
          <p:cNvSpPr>
            <a:spLocks noGrp="1"/>
          </p:cNvSpPr>
          <p:nvPr/>
        </p:nvSpPr>
        <p:spPr>
          <a:xfrm rot="5400000">
            <a:off x="3114695" y="5923232"/>
            <a:ext cx="76200" cy="51594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sz="1600" noProof="0" dirty="0"/>
          </a:p>
        </p:txBody>
      </p:sp>
      <p:sp>
        <p:nvSpPr>
          <p:cNvPr id="12" name="gap-stripe">
            <a:extLst>
              <a:ext uri="{FF2B5EF4-FFF2-40B4-BE49-F238E27FC236}">
                <a16:creationId xmlns:a16="http://schemas.microsoft.com/office/drawing/2014/main" id="{5D79494C-A4FE-9C92-1F2B-C7C02127126B}"/>
              </a:ext>
            </a:extLst>
          </p:cNvPr>
          <p:cNvSpPr>
            <a:spLocks noGrp="1"/>
          </p:cNvSpPr>
          <p:nvPr/>
        </p:nvSpPr>
        <p:spPr>
          <a:xfrm rot="5400000">
            <a:off x="4985645" y="5923232"/>
            <a:ext cx="76200" cy="51594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sz="1600" noProof="0" dirty="0"/>
          </a:p>
        </p:txBody>
      </p:sp>
      <p:sp>
        <p:nvSpPr>
          <p:cNvPr id="13" name="gap-stripe">
            <a:extLst>
              <a:ext uri="{FF2B5EF4-FFF2-40B4-BE49-F238E27FC236}">
                <a16:creationId xmlns:a16="http://schemas.microsoft.com/office/drawing/2014/main" id="{E798F72E-AE11-39AB-D43F-B8968991162F}"/>
              </a:ext>
            </a:extLst>
          </p:cNvPr>
          <p:cNvSpPr>
            <a:spLocks noGrp="1"/>
          </p:cNvSpPr>
          <p:nvPr/>
        </p:nvSpPr>
        <p:spPr>
          <a:xfrm rot="5400000">
            <a:off x="6980513" y="5923232"/>
            <a:ext cx="76200" cy="51594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sz="1600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19FAD-D3BA-695A-6028-5F25EAC5FC66}"/>
              </a:ext>
            </a:extLst>
          </p:cNvPr>
          <p:cNvSpPr>
            <a:spLocks noGrp="1"/>
          </p:cNvSpPr>
          <p:nvPr/>
        </p:nvSpPr>
        <p:spPr>
          <a:xfrm>
            <a:off x="8968882" y="1809651"/>
            <a:ext cx="3102584" cy="110661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/>
            <a:r>
              <a:rPr lang="en-GB" b="1" dirty="0"/>
              <a:t>From daily data to biologically anchored predictors — </a:t>
            </a:r>
            <a:r>
              <a:rPr lang="en-GB" b="1" dirty="0">
                <a:solidFill>
                  <a:schemeClr val="accent2"/>
                </a:solidFill>
              </a:rPr>
              <a:t>so each rule has agronomic meaning.</a:t>
            </a:r>
            <a:endParaRPr lang="en-GB" dirty="0">
              <a:solidFill>
                <a:schemeClr val="accent2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F2C6B2-AA18-8490-1254-4AA4EBE51863}"/>
              </a:ext>
            </a:extLst>
          </p:cNvPr>
          <p:cNvCxnSpPr>
            <a:cxnSpLocks/>
            <a:stCxn id="34" idx="3"/>
            <a:endCxn id="33" idx="1"/>
          </p:cNvCxnSpPr>
          <p:nvPr/>
        </p:nvCxnSpPr>
        <p:spPr>
          <a:xfrm>
            <a:off x="8695716" y="3614179"/>
            <a:ext cx="2883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FEB48F9-1ECD-3EB3-B017-0E7035B405AB}"/>
              </a:ext>
            </a:extLst>
          </p:cNvPr>
          <p:cNvSpPr txBox="1"/>
          <p:nvPr/>
        </p:nvSpPr>
        <p:spPr>
          <a:xfrm>
            <a:off x="8984041" y="4412008"/>
            <a:ext cx="308742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900" b="1" dirty="0">
                <a:solidFill>
                  <a:schemeClr val="bg1">
                    <a:lumMod val="50000"/>
                  </a:schemeClr>
                </a:solidFill>
              </a:rPr>
              <a:t>Daily weather and vine-state data were transformed into annual predictors that preserve biological memory and follow the vine calendar.</a:t>
            </a:r>
          </a:p>
          <a:p>
            <a:pPr algn="just"/>
            <a:endParaRPr lang="en-GB" sz="900" b="1" dirty="0">
              <a:solidFill>
                <a:schemeClr val="bg1">
                  <a:lumMod val="50000"/>
                </a:schemeClr>
              </a:solidFill>
            </a:endParaRPr>
          </a:p>
          <a:p>
            <a:pPr algn="just"/>
            <a:r>
              <a:rPr lang="en-GB" sz="900" b="1" dirty="0">
                <a:solidFill>
                  <a:schemeClr val="bg1">
                    <a:lumMod val="50000"/>
                  </a:schemeClr>
                </a:solidFill>
              </a:rPr>
              <a:t>That makes each rule agronomically interpretable, not just statistically selected.</a:t>
            </a:r>
            <a:endParaRPr lang="en-GB" sz="900" dirty="0">
              <a:solidFill>
                <a:schemeClr val="bg1">
                  <a:lumMod val="50000"/>
                </a:schemeClr>
              </a:solidFill>
            </a:endParaRPr>
          </a:p>
          <a:p>
            <a:pPr algn="just"/>
            <a:endParaRPr lang="en-GB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050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3029C1A-AD73-4E86-AE48-41FDA9425EEA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POSITIONING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3F188D-AC5D-4429-9B17-71710734DEA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791950" cy="781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3600" noProof="0" dirty="0"/>
              <a:t>The research gap sits between explanation and prediction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9CB3F4-C705-4602-9FEB-0455FD8A0555}"/>
              </a:ext>
            </a:extLst>
          </p:cNvPr>
          <p:cNvSpPr>
            <a:spLocks noGrp="1"/>
          </p:cNvSpPr>
          <p:nvPr/>
        </p:nvSpPr>
        <p:spPr>
          <a:xfrm>
            <a:off x="11287125" y="6646448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6283D-6CA5-4574-B02B-1C5CBA4EF20D}"/>
              </a:ext>
            </a:extLst>
          </p:cNvPr>
          <p:cNvSpPr>
            <a:spLocks noGrp="1"/>
          </p:cNvSpPr>
          <p:nvPr/>
        </p:nvSpPr>
        <p:spPr>
          <a:xfrm>
            <a:off x="400050" y="2087887"/>
            <a:ext cx="4953000" cy="3124488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808345-5AB2-46FF-B149-FECA926C74C0}"/>
              </a:ext>
            </a:extLst>
          </p:cNvPr>
          <p:cNvSpPr>
            <a:spLocks noGrp="1"/>
          </p:cNvSpPr>
          <p:nvPr/>
        </p:nvSpPr>
        <p:spPr>
          <a:xfrm>
            <a:off x="6838950" y="2087887"/>
            <a:ext cx="4953000" cy="3124488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4A3BBD-B4A6-4ABC-B28F-BDDD14A30DF4}"/>
              </a:ext>
            </a:extLst>
          </p:cNvPr>
          <p:cNvSpPr>
            <a:spLocks noGrp="1"/>
          </p:cNvSpPr>
          <p:nvPr/>
        </p:nvSpPr>
        <p:spPr>
          <a:xfrm>
            <a:off x="714375" y="2300946"/>
            <a:ext cx="4000500" cy="400050"/>
          </a:xfrm>
          <a:prstGeom prst="rect">
            <a:avLst/>
          </a:prstGeom>
        </p:spPr>
        <p:txBody>
          <a:bodyPr lIns="0" tIns="0" rIns="0" bIns="0" anchor="t">
            <a:normAutofit fontScale="85000" lnSpcReduction="10000"/>
          </a:bodyPr>
          <a:lstStyle/>
          <a:p>
            <a:pPr algn="l">
              <a:buNone/>
              <a:defRPr sz="23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MODERN MACHINE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70ED02-65B2-472A-B023-24EE9C77D89E}"/>
              </a:ext>
            </a:extLst>
          </p:cNvPr>
          <p:cNvSpPr>
            <a:spLocks noGrp="1"/>
          </p:cNvSpPr>
          <p:nvPr/>
        </p:nvSpPr>
        <p:spPr>
          <a:xfrm>
            <a:off x="714375" y="3025153"/>
            <a:ext cx="4591050" cy="1428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Handles </a:t>
            </a:r>
            <a:r>
              <a:rPr lang="en-GB" b="1" noProof="0" dirty="0"/>
              <a:t>nonlinear interactions</a:t>
            </a:r>
            <a:r>
              <a:rPr lang="en-GB" noProof="0" dirty="0"/>
              <a:t>
Often </a:t>
            </a:r>
            <a:r>
              <a:rPr lang="en-GB" b="1" noProof="0" dirty="0"/>
              <a:t>strong predictive </a:t>
            </a:r>
            <a:r>
              <a:rPr lang="en-GB" noProof="0" dirty="0"/>
              <a:t>accuracy
Sometimes decision </a:t>
            </a:r>
            <a:r>
              <a:rPr lang="en-GB" b="1" noProof="0" dirty="0"/>
              <a:t>logic remains opaque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865458-5055-47B9-AFCB-E6CF5FD0B05D}"/>
              </a:ext>
            </a:extLst>
          </p:cNvPr>
          <p:cNvSpPr>
            <a:spLocks noGrp="1"/>
          </p:cNvSpPr>
          <p:nvPr/>
        </p:nvSpPr>
        <p:spPr>
          <a:xfrm>
            <a:off x="7143750" y="2300946"/>
            <a:ext cx="40005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RULE-BASED DISCOVERY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022B84-614B-411B-AE7C-C67CDCC1F378}"/>
              </a:ext>
            </a:extLst>
          </p:cNvPr>
          <p:cNvSpPr>
            <a:spLocks noGrp="1"/>
          </p:cNvSpPr>
          <p:nvPr/>
        </p:nvSpPr>
        <p:spPr>
          <a:xfrm>
            <a:off x="7143750" y="3025153"/>
            <a:ext cx="4000500" cy="1428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Produces explicit </a:t>
            </a:r>
            <a:r>
              <a:rPr lang="en-GB" b="1" noProof="0" dirty="0"/>
              <a:t>IF–THEN rules</a:t>
            </a:r>
            <a:r>
              <a:rPr lang="en-GB" noProof="0" dirty="0"/>
              <a:t>
</a:t>
            </a:r>
            <a:r>
              <a:rPr lang="en-GB" b="1" noProof="0" dirty="0"/>
              <a:t>Auditable</a:t>
            </a:r>
            <a:r>
              <a:rPr lang="en-GB" noProof="0" dirty="0"/>
              <a:t> support and significance
</a:t>
            </a:r>
            <a:r>
              <a:rPr lang="en-GB" b="1" noProof="0" dirty="0"/>
              <a:t>Predictive value is unproven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A4DBE-D04A-46CD-90AA-60129E506804}"/>
              </a:ext>
            </a:extLst>
          </p:cNvPr>
          <p:cNvSpPr>
            <a:spLocks noGrp="1"/>
          </p:cNvSpPr>
          <p:nvPr/>
        </p:nvSpPr>
        <p:spPr>
          <a:xfrm>
            <a:off x="5211096" y="2824821"/>
            <a:ext cx="1799303" cy="1714500"/>
          </a:xfrm>
          <a:prstGeom prst="rect">
            <a:avLst/>
          </a:prstGeom>
          <a:solidFill>
            <a:srgbClr val="151515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BFDE12-413B-4856-813D-6D3A174F110E}"/>
              </a:ext>
            </a:extLst>
          </p:cNvPr>
          <p:cNvSpPr>
            <a:spLocks noGrp="1"/>
          </p:cNvSpPr>
          <p:nvPr/>
        </p:nvSpPr>
        <p:spPr>
          <a:xfrm>
            <a:off x="5476875" y="3224871"/>
            <a:ext cx="1238250" cy="952500"/>
          </a:xfrm>
          <a:prstGeom prst="rect">
            <a:avLst/>
          </a:prstGeom>
        </p:spPr>
        <p:txBody>
          <a:bodyPr lIns="0" tIns="0" rIns="0" bIns="0" anchor="t">
            <a:normAutofit fontScale="95785" lnSpcReduction="10000"/>
          </a:bodyPr>
          <a:lstStyle/>
          <a:p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Can we
have
both?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9A3A8B-D727-4A32-8A96-0E912EE90316}"/>
              </a:ext>
            </a:extLst>
          </p:cNvPr>
          <p:cNvSpPr>
            <a:spLocks noGrp="1"/>
          </p:cNvSpPr>
          <p:nvPr/>
        </p:nvSpPr>
        <p:spPr>
          <a:xfrm>
            <a:off x="654659" y="5659376"/>
            <a:ext cx="11137291" cy="4572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just">
              <a:buNone/>
              <a:defRPr sz="18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0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 PRIOR WORK SYSTEMATICALLY EVALUATED DISTRIBUTIONAL SUBGROUP DISCOVERY IN WALK-FORWARD WINE PRODUCTION FORECASTING.</a:t>
            </a:r>
          </a:p>
        </p:txBody>
      </p:sp>
    </p:spTree>
    <p:extLst>
      <p:ext uri="{BB962C8B-B14F-4D97-AF65-F5344CB8AC3E}">
        <p14:creationId xmlns:p14="http://schemas.microsoft.com/office/powerpoint/2010/main" val="55470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DD33668-8A5B-4D16-83E1-9969BC7A86C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RESEARCH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05EA40-7291-41D5-8960-9A31A145B09B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95409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Two goals separate historical insight from future utility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FA34E-8C03-47C0-B5A4-5E08CC27979F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86F652-6877-4DF1-AA1B-D7307C5B6C25}"/>
              </a:ext>
            </a:extLst>
          </p:cNvPr>
          <p:cNvSpPr>
            <a:spLocks noGrp="1"/>
          </p:cNvSpPr>
          <p:nvPr/>
        </p:nvSpPr>
        <p:spPr>
          <a:xfrm>
            <a:off x="6305550" y="1571625"/>
            <a:ext cx="5476875" cy="3857625"/>
          </a:xfrm>
          <a:prstGeom prst="rect">
            <a:avLst/>
          </a:prstGeom>
          <a:solidFill>
            <a:srgbClr val="E8F3EB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39DEEF-CB24-4542-A28C-E29905560AE8}"/>
              </a:ext>
            </a:extLst>
          </p:cNvPr>
          <p:cNvSpPr>
            <a:spLocks noGrp="1"/>
          </p:cNvSpPr>
          <p:nvPr/>
        </p:nvSpPr>
        <p:spPr>
          <a:xfrm>
            <a:off x="714375" y="1905000"/>
            <a:ext cx="1619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GOAL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F5A80-4744-4506-8377-0467801053F3}"/>
              </a:ext>
            </a:extLst>
          </p:cNvPr>
          <p:cNvSpPr>
            <a:spLocks noGrp="1"/>
          </p:cNvSpPr>
          <p:nvPr/>
        </p:nvSpPr>
        <p:spPr>
          <a:xfrm>
            <a:off x="714375" y="2381250"/>
            <a:ext cx="428625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Discover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60BDCC-3B84-47AD-AD85-255096D10049}"/>
              </a:ext>
            </a:extLst>
          </p:cNvPr>
          <p:cNvSpPr>
            <a:spLocks noGrp="1"/>
          </p:cNvSpPr>
          <p:nvPr/>
        </p:nvSpPr>
        <p:spPr>
          <a:xfrm>
            <a:off x="714375" y="3095625"/>
            <a:ext cx="4572000" cy="857250"/>
          </a:xfrm>
          <a:prstGeom prst="rect">
            <a:avLst/>
          </a:prstGeom>
        </p:spPr>
        <p:txBody>
          <a:bodyPr lIns="0" tIns="0" rIns="0" bIns="0" anchor="t">
            <a:normAutofit fontScale="94965"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Which agroclimatic conditions distinguish above- and below-trend production years?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43AB3D-E977-4666-9964-D5F0CE912BDB}"/>
              </a:ext>
            </a:extLst>
          </p:cNvPr>
          <p:cNvSpPr>
            <a:spLocks noGrp="1"/>
          </p:cNvSpPr>
          <p:nvPr/>
        </p:nvSpPr>
        <p:spPr>
          <a:xfrm>
            <a:off x="714375" y="4131849"/>
            <a:ext cx="457200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RQ1 · dominant variables
RQ2 · genuine signal or era confound?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75AB7E-9E72-4FBE-8CEC-4F52FAAE70BE}"/>
              </a:ext>
            </a:extLst>
          </p:cNvPr>
          <p:cNvSpPr>
            <a:spLocks noGrp="1"/>
          </p:cNvSpPr>
          <p:nvPr/>
        </p:nvSpPr>
        <p:spPr>
          <a:xfrm>
            <a:off x="6619875" y="1905000"/>
            <a:ext cx="1619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GOAL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6B46AF-E04C-4B36-B9F0-A39228A0AA4E}"/>
              </a:ext>
            </a:extLst>
          </p:cNvPr>
          <p:cNvSpPr>
            <a:spLocks noGrp="1"/>
          </p:cNvSpPr>
          <p:nvPr/>
        </p:nvSpPr>
        <p:spPr>
          <a:xfrm>
            <a:off x="6619875" y="2381250"/>
            <a:ext cx="428625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Validate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3BCECB-A95D-440D-B4AB-2D752425BA70}"/>
              </a:ext>
            </a:extLst>
          </p:cNvPr>
          <p:cNvSpPr>
            <a:spLocks noGrp="1"/>
          </p:cNvSpPr>
          <p:nvPr/>
        </p:nvSpPr>
        <p:spPr>
          <a:xfrm>
            <a:off x="6619875" y="3095625"/>
            <a:ext cx="4572000" cy="857250"/>
          </a:xfrm>
          <a:prstGeom prst="rect">
            <a:avLst/>
          </a:prstGeom>
        </p:spPr>
        <p:txBody>
          <a:bodyPr lIns="0" tIns="0" rIns="0" bIns="0" anchor="t">
            <a:normAutofit fontScale="96354" lnSpcReduction="10000"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Can rule-based models beat the historical median in genuine future periods?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871CD9-66BE-4434-BEDC-C59FD5456578}"/>
              </a:ext>
            </a:extLst>
          </p:cNvPr>
          <p:cNvSpPr>
            <a:spLocks noGrp="1"/>
          </p:cNvSpPr>
          <p:nvPr/>
        </p:nvSpPr>
        <p:spPr>
          <a:xfrm>
            <a:off x="6619875" y="4131849"/>
            <a:ext cx="457200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RQ3 · out-of-sample improvement
RQ4 · conditions for success or failure</a:t>
            </a:r>
          </a:p>
        </p:txBody>
      </p:sp>
      <p:sp>
        <p:nvSpPr>
          <p:cNvPr id="18" name="slide9-goal1-dark">
            <a:extLst>
              <a:ext uri="{FF2B5EF4-FFF2-40B4-BE49-F238E27FC236}">
                <a16:creationId xmlns:a16="http://schemas.microsoft.com/office/drawing/2014/main" id="{466FE326-6898-4530-8C4D-6BEA30863B56}"/>
              </a:ext>
            </a:extLst>
          </p:cNvPr>
          <p:cNvSpPr>
            <a:spLocks noGrp="1"/>
          </p:cNvSpPr>
          <p:nvPr/>
        </p:nvSpPr>
        <p:spPr>
          <a:xfrm>
            <a:off x="495300" y="1353912"/>
            <a:ext cx="5381625" cy="4553402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9" name="slide9-goal2-peach">
            <a:extLst>
              <a:ext uri="{FF2B5EF4-FFF2-40B4-BE49-F238E27FC236}">
                <a16:creationId xmlns:a16="http://schemas.microsoft.com/office/drawing/2014/main" id="{5F25A306-4642-4044-BF10-CBE32ECB4100}"/>
              </a:ext>
            </a:extLst>
          </p:cNvPr>
          <p:cNvSpPr>
            <a:spLocks noGrp="1"/>
          </p:cNvSpPr>
          <p:nvPr/>
        </p:nvSpPr>
        <p:spPr>
          <a:xfrm>
            <a:off x="6305550" y="1353912"/>
            <a:ext cx="5476875" cy="4553402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20" name="slide9-goal1-label">
            <a:extLst>
              <a:ext uri="{FF2B5EF4-FFF2-40B4-BE49-F238E27FC236}">
                <a16:creationId xmlns:a16="http://schemas.microsoft.com/office/drawing/2014/main" id="{AC9B2925-DBB0-4399-8679-C6BC6C85E900}"/>
              </a:ext>
            </a:extLst>
          </p:cNvPr>
          <p:cNvSpPr>
            <a:spLocks noGrp="1"/>
          </p:cNvSpPr>
          <p:nvPr/>
        </p:nvSpPr>
        <p:spPr>
          <a:xfrm>
            <a:off x="876300" y="1459593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35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GOAL 1</a:t>
            </a:r>
          </a:p>
        </p:txBody>
      </p:sp>
      <p:sp>
        <p:nvSpPr>
          <p:cNvPr id="21" name="slide9-goal1-title">
            <a:extLst>
              <a:ext uri="{FF2B5EF4-FFF2-40B4-BE49-F238E27FC236}">
                <a16:creationId xmlns:a16="http://schemas.microsoft.com/office/drawing/2014/main" id="{C72B301A-61FE-4470-AF8E-8D5855C5228F}"/>
              </a:ext>
            </a:extLst>
          </p:cNvPr>
          <p:cNvSpPr>
            <a:spLocks noGrp="1"/>
          </p:cNvSpPr>
          <p:nvPr/>
        </p:nvSpPr>
        <p:spPr>
          <a:xfrm>
            <a:off x="876300" y="1908466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2775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22" name="slide9-goal1-question">
            <a:extLst>
              <a:ext uri="{FF2B5EF4-FFF2-40B4-BE49-F238E27FC236}">
                <a16:creationId xmlns:a16="http://schemas.microsoft.com/office/drawing/2014/main" id="{2398521C-3516-48DA-A5A2-32366F6BD720}"/>
              </a:ext>
            </a:extLst>
          </p:cNvPr>
          <p:cNvSpPr>
            <a:spLocks noGrp="1"/>
          </p:cNvSpPr>
          <p:nvPr/>
        </p:nvSpPr>
        <p:spPr>
          <a:xfrm>
            <a:off x="876299" y="2624442"/>
            <a:ext cx="49244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Which agroclimatic conditions distinguish</a:t>
            </a:r>
          </a:p>
          <a:p>
            <a:pPr algn="just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above- and below-trend production</a:t>
            </a:r>
          </a:p>
          <a:p>
            <a:pPr algn="just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years?</a:t>
            </a:r>
          </a:p>
        </p:txBody>
      </p:sp>
      <p:sp>
        <p:nvSpPr>
          <p:cNvPr id="23" name="slide9-goal1-rqs">
            <a:extLst>
              <a:ext uri="{FF2B5EF4-FFF2-40B4-BE49-F238E27FC236}">
                <a16:creationId xmlns:a16="http://schemas.microsoft.com/office/drawing/2014/main" id="{16A1C21D-7336-45F9-AF37-73D62BF9C1DB}"/>
              </a:ext>
            </a:extLst>
          </p:cNvPr>
          <p:cNvSpPr>
            <a:spLocks noGrp="1"/>
          </p:cNvSpPr>
          <p:nvPr/>
        </p:nvSpPr>
        <p:spPr>
          <a:xfrm>
            <a:off x="855096" y="3799775"/>
            <a:ext cx="491943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RQ1 · </a:t>
            </a:r>
            <a:r>
              <a:rPr lang="en-GB" sz="1200" i="1" noProof="0" dirty="0">
                <a:solidFill>
                  <a:srgbClr val="1A2A3A"/>
                </a:solidFill>
                <a:latin typeface="Calibri"/>
                <a:ea typeface="Calibri"/>
                <a:cs typeface="Calibri"/>
              </a:rPr>
              <a:t>Can CarenR's KS-test-based distributional rule induction extract statistically validated, non-trivial patterns from non-stationary agricultural time series?</a:t>
            </a:r>
          </a:p>
          <a:p>
            <a:pPr>
              <a:buNone/>
              <a:defRPr sz="1425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endParaRPr lang="en-GB" sz="1200" b="1" noProof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425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endParaRPr lang="en-GB" sz="1400" b="1" noProof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 sz="1425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RQ2 · </a:t>
            </a:r>
            <a:r>
              <a:rPr lang="en-GB" sz="1200" i="1" noProof="0" dirty="0">
                <a:solidFill>
                  <a:srgbClr val="1A2A3A"/>
                </a:solidFill>
                <a:latin typeface="Calibri"/>
                <a:ea typeface="Calibri"/>
                <a:cs typeface="Calibri"/>
              </a:rPr>
              <a:t>Are the discovered rules genuine within-era climate signal, or are they era-membership artefacts introduced by imperfect linear detrending?</a:t>
            </a:r>
          </a:p>
          <a:p>
            <a:pPr>
              <a:buNone/>
              <a:defRPr sz="1425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endParaRPr lang="en-GB" sz="1400" b="1" noProof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ide9-goal2-label">
            <a:extLst>
              <a:ext uri="{FF2B5EF4-FFF2-40B4-BE49-F238E27FC236}">
                <a16:creationId xmlns:a16="http://schemas.microsoft.com/office/drawing/2014/main" id="{8D01C6DC-437D-46AB-8068-6C12199C2D08}"/>
              </a:ext>
            </a:extLst>
          </p:cNvPr>
          <p:cNvSpPr>
            <a:spLocks noGrp="1"/>
          </p:cNvSpPr>
          <p:nvPr/>
        </p:nvSpPr>
        <p:spPr>
          <a:xfrm>
            <a:off x="6686550" y="1459593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EE6A2E"/>
                </a:solidFill>
                <a:latin typeface="Arial"/>
                <a:ea typeface="Arial"/>
                <a:cs typeface="Arial"/>
              </a:defRPr>
            </a:pPr>
            <a:r>
              <a:rPr lang="en-GB" sz="1350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GOAL 2</a:t>
            </a:r>
          </a:p>
        </p:txBody>
      </p:sp>
      <p:sp>
        <p:nvSpPr>
          <p:cNvPr id="25" name="slide9-goal2-title">
            <a:extLst>
              <a:ext uri="{FF2B5EF4-FFF2-40B4-BE49-F238E27FC236}">
                <a16:creationId xmlns:a16="http://schemas.microsoft.com/office/drawing/2014/main" id="{22008273-BAF7-44C6-9043-44D5B6EC0837}"/>
              </a:ext>
            </a:extLst>
          </p:cNvPr>
          <p:cNvSpPr>
            <a:spLocks noGrp="1"/>
          </p:cNvSpPr>
          <p:nvPr/>
        </p:nvSpPr>
        <p:spPr>
          <a:xfrm>
            <a:off x="6686550" y="1908466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2775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6" name="slide9-goal2-question">
            <a:extLst>
              <a:ext uri="{FF2B5EF4-FFF2-40B4-BE49-F238E27FC236}">
                <a16:creationId xmlns:a16="http://schemas.microsoft.com/office/drawing/2014/main" id="{A77FD0EF-0C0C-476D-8B54-164CDC6C09A7}"/>
              </a:ext>
            </a:extLst>
          </p:cNvPr>
          <p:cNvSpPr>
            <a:spLocks noGrp="1"/>
          </p:cNvSpPr>
          <p:nvPr/>
        </p:nvSpPr>
        <p:spPr>
          <a:xfrm>
            <a:off x="6686550" y="2624442"/>
            <a:ext cx="5036344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 rule-based models beat the</a:t>
            </a:r>
          </a:p>
          <a:p>
            <a:pPr algn="just"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historical median in genuine future</a:t>
            </a:r>
          </a:p>
          <a:p>
            <a:pPr algn="just"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periods?</a:t>
            </a:r>
          </a:p>
        </p:txBody>
      </p:sp>
      <p:sp>
        <p:nvSpPr>
          <p:cNvPr id="27" name="slide9-goal2-rqs">
            <a:extLst>
              <a:ext uri="{FF2B5EF4-FFF2-40B4-BE49-F238E27FC236}">
                <a16:creationId xmlns:a16="http://schemas.microsoft.com/office/drawing/2014/main" id="{25DAFA97-702E-4AD4-B403-32677357FE90}"/>
              </a:ext>
            </a:extLst>
          </p:cNvPr>
          <p:cNvSpPr>
            <a:spLocks noGrp="1"/>
          </p:cNvSpPr>
          <p:nvPr/>
        </p:nvSpPr>
        <p:spPr>
          <a:xfrm>
            <a:off x="6686550" y="3689407"/>
            <a:ext cx="5010150" cy="19649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GB" sz="1400" b="1" noProof="0" dirty="0">
                <a:solidFill>
                  <a:srgbClr val="60656C"/>
                </a:solidFill>
                <a:latin typeface="Arial"/>
                <a:ea typeface="Arial"/>
                <a:cs typeface="Arial"/>
              </a:rPr>
              <a:t>RQ3 · </a:t>
            </a:r>
            <a:r>
              <a:rPr lang="en-GB" sz="1200" i="1" noProof="0" dirty="0">
                <a:solidFill>
                  <a:srgbClr val="1A2A3A"/>
                </a:solidFill>
              </a:rPr>
              <a:t>Can rule-based models (CarenR, RIPPER, M5Rules) outperform a Naive Median baseline in walk-forward prediction of detrended production residuals?</a:t>
            </a:r>
          </a:p>
          <a:p>
            <a:endParaRPr lang="en-GB" sz="1400" i="1" noProof="0" dirty="0">
              <a:solidFill>
                <a:srgbClr val="1A2A3A"/>
              </a:solidFill>
            </a:endParaRPr>
          </a:p>
          <a:p>
            <a:endParaRPr lang="en-GB" sz="1400" i="1" noProof="0" dirty="0">
              <a:solidFill>
                <a:srgbClr val="1A2A3A"/>
              </a:solidFill>
            </a:endParaRPr>
          </a:p>
          <a:p>
            <a:pPr>
              <a:defRPr sz="1425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60656C"/>
                </a:solidFill>
                <a:latin typeface="Arial"/>
                <a:ea typeface="Arial"/>
                <a:cs typeface="Arial"/>
              </a:rPr>
              <a:t>RQ4 · </a:t>
            </a:r>
            <a:r>
              <a:rPr lang="en-GB" sz="1200" i="1" noProof="0" dirty="0">
                <a:solidFill>
                  <a:srgbClr val="1A2A3A"/>
                </a:solidFill>
                <a:latin typeface="Calibri"/>
                <a:ea typeface="Calibri"/>
                <a:cs typeface="Calibri"/>
              </a:rPr>
              <a:t>What structural conditions (era composition, detrend quality, signal strength) determine when rule-based prediction succeeds or fails?</a:t>
            </a:r>
          </a:p>
          <a:p>
            <a:pPr>
              <a:buNone/>
              <a:defRPr sz="1425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endParaRPr lang="en-GB" sz="1400" b="1" noProof="0" dirty="0">
              <a:solidFill>
                <a:srgbClr val="6065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221938CC-400F-EFA7-AE18-430146CD6238}"/>
              </a:ext>
            </a:extLst>
          </p:cNvPr>
          <p:cNvSpPr>
            <a:spLocks noGrp="1"/>
          </p:cNvSpPr>
          <p:nvPr/>
        </p:nvSpPr>
        <p:spPr>
          <a:xfrm rot="16200000">
            <a:off x="330821" y="3793794"/>
            <a:ext cx="876301" cy="536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1067" b="1" i="1" noProof="0" dirty="0">
                <a:solidFill>
                  <a:srgbClr val="0D7377"/>
                </a:solidFill>
                <a:latin typeface="Calibri"/>
                <a:ea typeface="Calibri"/>
                <a:cs typeface="Calibri"/>
              </a:rPr>
              <a:t>Discovery </a:t>
            </a: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FEF3729-98BD-C591-6512-33BA93ED9F42}"/>
              </a:ext>
            </a:extLst>
          </p:cNvPr>
          <p:cNvSpPr>
            <a:spLocks noGrp="1"/>
          </p:cNvSpPr>
          <p:nvPr/>
        </p:nvSpPr>
        <p:spPr>
          <a:xfrm rot="16200000">
            <a:off x="278933" y="4738739"/>
            <a:ext cx="980077" cy="536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1067" b="1" i="1" noProof="0" dirty="0">
                <a:solidFill>
                  <a:srgbClr val="2E4A7C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DA3416E1-8C0A-9C4D-3252-26290430A71D}"/>
              </a:ext>
            </a:extLst>
          </p:cNvPr>
          <p:cNvSpPr>
            <a:spLocks noGrp="1"/>
          </p:cNvSpPr>
          <p:nvPr/>
        </p:nvSpPr>
        <p:spPr>
          <a:xfrm rot="16200000">
            <a:off x="6111273" y="3698601"/>
            <a:ext cx="857250" cy="536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1067" b="1" i="1" noProof="0" dirty="0">
                <a:solidFill>
                  <a:srgbClr val="1B2B45"/>
                </a:solidFill>
                <a:latin typeface="Calibri"/>
                <a:ea typeface="Calibri"/>
                <a:cs typeface="Calibri"/>
              </a:rPr>
              <a:t>Prediction</a:t>
            </a: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C7CAB297-0421-ADC4-A91E-C54A2C208896}"/>
              </a:ext>
            </a:extLst>
          </p:cNvPr>
          <p:cNvSpPr>
            <a:spLocks noGrp="1"/>
          </p:cNvSpPr>
          <p:nvPr/>
        </p:nvSpPr>
        <p:spPr>
          <a:xfrm rot="16200000">
            <a:off x="6123546" y="4665110"/>
            <a:ext cx="857250" cy="536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1067" b="1" i="1" noProof="0" dirty="0">
                <a:solidFill>
                  <a:srgbClr val="B03A2E"/>
                </a:solidFill>
                <a:latin typeface="Calibri"/>
                <a:ea typeface="Calibri"/>
                <a:cs typeface="Calibri"/>
              </a:rPr>
              <a:t>Diagnosis</a:t>
            </a:r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24C978E9-AB08-DE07-3C03-391B43A6F663}"/>
              </a:ext>
            </a:extLst>
          </p:cNvPr>
          <p:cNvSpPr>
            <a:spLocks noGrp="1"/>
          </p:cNvSpPr>
          <p:nvPr/>
        </p:nvSpPr>
        <p:spPr>
          <a:xfrm>
            <a:off x="601980" y="5970864"/>
            <a:ext cx="11094720" cy="463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RQ1 </a:t>
            </a:r>
            <a:r>
              <a:rPr lang="en-GB" sz="1400" b="1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✓ Achieved   </a:t>
            </a: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·   RQ2 </a:t>
            </a:r>
            <a:r>
              <a:rPr lang="en-GB" sz="1400" b="1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✓ Validated by LOESS  </a:t>
            </a: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 ·   RQ3 </a:t>
            </a:r>
            <a:r>
              <a:rPr lang="en-GB" sz="1400" b="1" noProof="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✗ Not achieved in aggregate </a:t>
            </a:r>
            <a:r>
              <a:rPr lang="en-GB" sz="1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  ·   RQ4 </a:t>
            </a:r>
            <a:r>
              <a:rPr lang="en-GB" sz="1400" b="1" noProof="0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✓ Explained by Two-Decision Framework</a:t>
            </a:r>
          </a:p>
        </p:txBody>
      </p:sp>
    </p:spTree>
    <p:extLst>
      <p:ext uri="{BB962C8B-B14F-4D97-AF65-F5344CB8AC3E}">
        <p14:creationId xmlns:p14="http://schemas.microsoft.com/office/powerpoint/2010/main" val="2673894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entagon 17">
            <a:extLst>
              <a:ext uri="{FF2B5EF4-FFF2-40B4-BE49-F238E27FC236}">
                <a16:creationId xmlns:a16="http://schemas.microsoft.com/office/drawing/2014/main" id="{0F772BBF-27BF-C93E-BE15-73A16566D339}"/>
              </a:ext>
            </a:extLst>
          </p:cNvPr>
          <p:cNvSpPr>
            <a:spLocks noGrp="1"/>
          </p:cNvSpPr>
          <p:nvPr/>
        </p:nvSpPr>
        <p:spPr>
          <a:xfrm>
            <a:off x="4309822" y="1926940"/>
            <a:ext cx="3572356" cy="2810410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noProof="0" dirty="0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465A2075-D300-23C6-8FA4-F90D2E944B83}"/>
              </a:ext>
            </a:extLst>
          </p:cNvPr>
          <p:cNvSpPr>
            <a:spLocks noGrp="1"/>
          </p:cNvSpPr>
          <p:nvPr/>
        </p:nvSpPr>
        <p:spPr>
          <a:xfrm>
            <a:off x="442060" y="1926940"/>
            <a:ext cx="3572356" cy="2810410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DD2E6F-8C2E-4F2A-974B-DDDDC1B2CA2A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STUDY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6B4D77-7C92-4747-8CFF-E037A732255B}"/>
              </a:ext>
            </a:extLst>
          </p:cNvPr>
          <p:cNvSpPr>
            <a:spLocks noGrp="1"/>
          </p:cNvSpPr>
          <p:nvPr/>
        </p:nvSpPr>
        <p:spPr>
          <a:xfrm>
            <a:off x="400049" y="552450"/>
            <a:ext cx="11643561" cy="781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3600" noProof="0" dirty="0"/>
              <a:t>A controlled comparison isolates the role of data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48BE71-38CB-4488-8113-ECE3EA12E0E9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84AED-9033-4229-9348-6C1737B8F9C7}"/>
              </a:ext>
            </a:extLst>
          </p:cNvPr>
          <p:cNvSpPr>
            <a:spLocks noGrp="1"/>
          </p:cNvSpPr>
          <p:nvPr/>
        </p:nvSpPr>
        <p:spPr>
          <a:xfrm>
            <a:off x="604466" y="2356100"/>
            <a:ext cx="1714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SAME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1B518-CFC7-448A-ADB1-56AF71E33566}"/>
              </a:ext>
            </a:extLst>
          </p:cNvPr>
          <p:cNvSpPr>
            <a:spLocks noGrp="1"/>
          </p:cNvSpPr>
          <p:nvPr/>
        </p:nvSpPr>
        <p:spPr>
          <a:xfrm>
            <a:off x="604466" y="2927600"/>
            <a:ext cx="2952750" cy="1809750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Feature engineering
Detrending logic
Rule learners
Evaluation metric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97C70-67D5-4C64-AF01-FC6A51E41321}"/>
              </a:ext>
            </a:extLst>
          </p:cNvPr>
          <p:cNvSpPr>
            <a:spLocks noGrp="1"/>
          </p:cNvSpPr>
          <p:nvPr/>
        </p:nvSpPr>
        <p:spPr>
          <a:xfrm>
            <a:off x="4639156" y="2356100"/>
            <a:ext cx="1905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DIFFERENT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472A9-A525-4858-98B8-EB1452E86328}"/>
              </a:ext>
            </a:extLst>
          </p:cNvPr>
          <p:cNvSpPr>
            <a:spLocks noGrp="1"/>
          </p:cNvSpPr>
          <p:nvPr/>
        </p:nvSpPr>
        <p:spPr>
          <a:xfrm>
            <a:off x="4639156" y="2927600"/>
            <a:ext cx="2952750" cy="1809750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Climate regime
Structural trajectory
Noise level
Era composition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6DB48-E23A-443A-BE28-E108FFFDF07B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3333750" cy="37147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C0179-CD2E-4C56-8DEA-0201BABB399E}"/>
              </a:ext>
            </a:extLst>
          </p:cNvPr>
          <p:cNvSpPr>
            <a:spLocks noGrp="1"/>
          </p:cNvSpPr>
          <p:nvPr/>
        </p:nvSpPr>
        <p:spPr>
          <a:xfrm>
            <a:off x="8429625" y="1857375"/>
            <a:ext cx="2571750" cy="857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53210-76A2-4998-95EA-CA4DDB493AAF}"/>
              </a:ext>
            </a:extLst>
          </p:cNvPr>
          <p:cNvSpPr>
            <a:spLocks noGrp="1"/>
          </p:cNvSpPr>
          <p:nvPr/>
        </p:nvSpPr>
        <p:spPr>
          <a:xfrm>
            <a:off x="8429625" y="2647950"/>
            <a:ext cx="257175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regions</a:t>
            </a:r>
          </a:p>
        </p:txBody>
      </p:sp>
      <p:cxnSp>
        <p:nvCxnSpPr>
          <p:cNvPr id="188" name="Straight Arrow Connector 135"/>
          <p:cNvCxnSpPr/>
          <p:nvPr/>
        </p:nvCxnSpPr>
        <p:spPr>
          <a:xfrm>
            <a:off x="8429625" y="3257550"/>
            <a:ext cx="2524125" cy="953"/>
          </a:xfrm>
          <a:prstGeom prst="straightConnector1">
            <a:avLst/>
          </a:prstGeom>
          <a:ln w="38100">
            <a:solidFill>
              <a:schemeClr val="accent2"/>
            </a:solidFill>
            <a:prstDash val="soli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2A5AD17-3BB2-4150-BB73-3A1872B6D533}"/>
              </a:ext>
            </a:extLst>
          </p:cNvPr>
          <p:cNvSpPr>
            <a:spLocks noGrp="1"/>
          </p:cNvSpPr>
          <p:nvPr/>
        </p:nvSpPr>
        <p:spPr>
          <a:xfrm>
            <a:off x="8429625" y="3571875"/>
            <a:ext cx="257175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89 + 80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E6F9C4-9DBE-46A9-B730-BA02B1333379}"/>
              </a:ext>
            </a:extLst>
          </p:cNvPr>
          <p:cNvSpPr>
            <a:spLocks noGrp="1"/>
          </p:cNvSpPr>
          <p:nvPr/>
        </p:nvSpPr>
        <p:spPr>
          <a:xfrm>
            <a:off x="8429625" y="4238625"/>
            <a:ext cx="25717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annual observations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51DD13-E77D-4F48-A8BA-75749E2EAC78}"/>
              </a:ext>
            </a:extLst>
          </p:cNvPr>
          <p:cNvSpPr>
            <a:spLocks noGrp="1"/>
          </p:cNvSpPr>
          <p:nvPr/>
        </p:nvSpPr>
        <p:spPr>
          <a:xfrm>
            <a:off x="312234" y="5810250"/>
            <a:ext cx="11479716" cy="666750"/>
          </a:xfrm>
          <a:prstGeom prst="rect">
            <a:avLst/>
          </a:prstGeom>
        </p:spPr>
        <p:txBody>
          <a:bodyPr lIns="0" tIns="0" rIns="0" bIns="0" anchor="t">
            <a:normAutofit fontScale="98646"/>
          </a:bodyPr>
          <a:lstStyle/>
          <a:p>
            <a:pPr algn="l">
              <a:buNone/>
              <a:defRPr sz="2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THE CONTRAST TURNS TWO CASE STUDIES INTO A NATURAL EXPERIMENT</a:t>
            </a:r>
          </a:p>
        </p:txBody>
      </p:sp>
    </p:spTree>
    <p:extLst>
      <p:ext uri="{BB962C8B-B14F-4D97-AF65-F5344CB8AC3E}">
        <p14:creationId xmlns:p14="http://schemas.microsoft.com/office/powerpoint/2010/main" val="2022581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A08FD44-1015-46D6-8F63-7C4C38682C2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ALGORITHMS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07663B-C646-4431-9207-C6AEF67EACE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97916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CarenR is the primary lens among five model families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84679D-FD78-4A8C-B621-155288704D63}"/>
              </a:ext>
            </a:extLst>
          </p:cNvPr>
          <p:cNvSpPr>
            <a:spLocks noGrp="1"/>
          </p:cNvSpPr>
          <p:nvPr/>
        </p:nvSpPr>
        <p:spPr>
          <a:xfrm>
            <a:off x="400050" y="2023446"/>
            <a:ext cx="6858000" cy="4524375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98D154-78C0-4C70-A9D2-6DCC8E597B30}"/>
              </a:ext>
            </a:extLst>
          </p:cNvPr>
          <p:cNvSpPr>
            <a:spLocks noGrp="1"/>
          </p:cNvSpPr>
          <p:nvPr/>
        </p:nvSpPr>
        <p:spPr>
          <a:xfrm>
            <a:off x="590550" y="1689300"/>
            <a:ext cx="1809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PRIMARY METHOD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5071B9-8F1B-4FD7-B68E-0F36B2FDB7AC}"/>
              </a:ext>
            </a:extLst>
          </p:cNvPr>
          <p:cNvSpPr>
            <a:spLocks noGrp="1"/>
          </p:cNvSpPr>
          <p:nvPr/>
        </p:nvSpPr>
        <p:spPr>
          <a:xfrm>
            <a:off x="685800" y="2269591"/>
            <a:ext cx="238125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CarenR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D85E5-6D6B-4313-AD74-7AF7F037EF49}"/>
              </a:ext>
            </a:extLst>
          </p:cNvPr>
          <p:cNvSpPr>
            <a:spLocks noGrp="1"/>
          </p:cNvSpPr>
          <p:nvPr/>
        </p:nvSpPr>
        <p:spPr>
          <a:xfrm>
            <a:off x="3143250" y="2412466"/>
            <a:ext cx="3667125" cy="323850"/>
          </a:xfrm>
          <a:prstGeom prst="rect">
            <a:avLst/>
          </a:prstGeom>
        </p:spPr>
        <p:txBody>
          <a:bodyPr lIns="0" tIns="0" rIns="0" bIns="0" anchor="t">
            <a:normAutofit fontScale="91161"/>
          </a:bodyPr>
          <a:lstStyle/>
          <a:p>
            <a:pPr algn="l">
              <a:buNone/>
              <a:defRPr sz="1650" b="1">
                <a:solidFill>
                  <a:srgbClr val="2269AE"/>
                </a:solidFill>
                <a:latin typeface="Arial"/>
                <a:ea typeface="Arial"/>
                <a:cs typeface="Arial"/>
              </a:defRPr>
            </a:pPr>
            <a:r>
              <a:rPr lang="en-GB" sz="1650" b="1" noProof="0" dirty="0">
                <a:solidFill>
                  <a:srgbClr val="2269AE"/>
                </a:solidFill>
                <a:latin typeface="Arial"/>
                <a:ea typeface="Arial"/>
                <a:cs typeface="Arial"/>
              </a:rPr>
              <a:t>Distributional rules + prediction variants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4CF94-5D4E-48C8-A0D7-A2D78174BF55}"/>
              </a:ext>
            </a:extLst>
          </p:cNvPr>
          <p:cNvSpPr>
            <a:spLocks noGrp="1"/>
          </p:cNvSpPr>
          <p:nvPr/>
        </p:nvSpPr>
        <p:spPr>
          <a:xfrm>
            <a:off x="714375" y="3198527"/>
            <a:ext cx="285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3C315C-5E47-4AE3-95BC-7817F3F31D3B}"/>
              </a:ext>
            </a:extLst>
          </p:cNvPr>
          <p:cNvSpPr>
            <a:spLocks noGrp="1"/>
          </p:cNvSpPr>
          <p:nvPr/>
        </p:nvSpPr>
        <p:spPr>
          <a:xfrm>
            <a:off x="1066800" y="3198527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Discretise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007DEA-0229-4B80-B599-47E8F4D4411D}"/>
              </a:ext>
            </a:extLst>
          </p:cNvPr>
          <p:cNvSpPr>
            <a:spLocks noGrp="1"/>
          </p:cNvSpPr>
          <p:nvPr/>
        </p:nvSpPr>
        <p:spPr>
          <a:xfrm>
            <a:off x="2381250" y="3198527"/>
            <a:ext cx="4333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Climate features become equal-frequency bins.</a:t>
            </a:r>
          </a:p>
        </p:txBody>
      </p:sp>
      <p:cxnSp>
        <p:nvCxnSpPr>
          <p:cNvPr id="731" name="Straight Arrow Connector 654"/>
          <p:cNvCxnSpPr/>
          <p:nvPr/>
        </p:nvCxnSpPr>
        <p:spPr>
          <a:xfrm>
            <a:off x="838200" y="3550952"/>
            <a:ext cx="953" cy="323850"/>
          </a:xfrm>
          <a:prstGeom prst="straightConnector1">
            <a:avLst/>
          </a:prstGeom>
          <a:ln w="28575">
            <a:solidFill>
              <a:srgbClr val="2563A6"/>
            </a:solidFill>
            <a:prstDash val="soli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3A409D9-BA5F-4725-AD8C-83CB1A578202}"/>
              </a:ext>
            </a:extLst>
          </p:cNvPr>
          <p:cNvSpPr>
            <a:spLocks noGrp="1"/>
          </p:cNvSpPr>
          <p:nvPr/>
        </p:nvSpPr>
        <p:spPr>
          <a:xfrm>
            <a:off x="714375" y="3912902"/>
            <a:ext cx="285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72473F-CD40-4956-9705-24738BD5F900}"/>
              </a:ext>
            </a:extLst>
          </p:cNvPr>
          <p:cNvSpPr>
            <a:spLocks noGrp="1"/>
          </p:cNvSpPr>
          <p:nvPr/>
        </p:nvSpPr>
        <p:spPr>
          <a:xfrm>
            <a:off x="1066800" y="3912902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Search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510A53-7D6A-4C8A-84BB-D76D106A8126}"/>
              </a:ext>
            </a:extLst>
          </p:cNvPr>
          <p:cNvSpPr>
            <a:spLocks noGrp="1"/>
          </p:cNvSpPr>
          <p:nvPr/>
        </p:nvSpPr>
        <p:spPr>
          <a:xfrm>
            <a:off x="2381250" y="3912902"/>
            <a:ext cx="4333875" cy="304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500" noProof="0" dirty="0"/>
              <a:t>Level-wise search (</a:t>
            </a:r>
            <a:r>
              <a:rPr lang="en-GB" sz="1500" noProof="0" dirty="0" err="1"/>
              <a:t>Apriori</a:t>
            </a:r>
            <a:r>
              <a:rPr lang="en-GB" sz="1500" noProof="0" dirty="0"/>
              <a:t>-style) combines feature-bin conditions.</a:t>
            </a:r>
          </a:p>
        </p:txBody>
      </p:sp>
      <p:cxnSp>
        <p:nvCxnSpPr>
          <p:cNvPr id="735" name="Straight Arrow Connector 658"/>
          <p:cNvCxnSpPr/>
          <p:nvPr/>
        </p:nvCxnSpPr>
        <p:spPr>
          <a:xfrm>
            <a:off x="838200" y="4265327"/>
            <a:ext cx="953" cy="323850"/>
          </a:xfrm>
          <a:prstGeom prst="straightConnector1">
            <a:avLst/>
          </a:prstGeom>
          <a:ln w="28575">
            <a:solidFill>
              <a:srgbClr val="2563A6"/>
            </a:solidFill>
            <a:prstDash val="soli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F17C4DE-6BD6-43DC-A7FF-2363E0A24B6A}"/>
              </a:ext>
            </a:extLst>
          </p:cNvPr>
          <p:cNvSpPr>
            <a:spLocks noGrp="1"/>
          </p:cNvSpPr>
          <p:nvPr/>
        </p:nvSpPr>
        <p:spPr>
          <a:xfrm>
            <a:off x="714375" y="4627277"/>
            <a:ext cx="285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187112-7BE1-412B-BC25-ED899F4E4D5E}"/>
              </a:ext>
            </a:extLst>
          </p:cNvPr>
          <p:cNvSpPr>
            <a:spLocks noGrp="1"/>
          </p:cNvSpPr>
          <p:nvPr/>
        </p:nvSpPr>
        <p:spPr>
          <a:xfrm>
            <a:off x="1066800" y="4627277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Compare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E9CDE2-5E88-42B6-9AE2-3F956178F783}"/>
              </a:ext>
            </a:extLst>
          </p:cNvPr>
          <p:cNvSpPr>
            <a:spLocks noGrp="1"/>
          </p:cNvSpPr>
          <p:nvPr/>
        </p:nvSpPr>
        <p:spPr>
          <a:xfrm>
            <a:off x="2381250" y="4627277"/>
            <a:ext cx="4333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KS test: subgroup residuals vs global residuals.</a:t>
            </a:r>
          </a:p>
        </p:txBody>
      </p:sp>
      <p:cxnSp>
        <p:nvCxnSpPr>
          <p:cNvPr id="739" name="Straight Arrow Connector 662"/>
          <p:cNvCxnSpPr/>
          <p:nvPr/>
        </p:nvCxnSpPr>
        <p:spPr>
          <a:xfrm>
            <a:off x="838200" y="4979702"/>
            <a:ext cx="953" cy="323850"/>
          </a:xfrm>
          <a:prstGeom prst="straightConnector1">
            <a:avLst/>
          </a:prstGeom>
          <a:ln w="28575">
            <a:solidFill>
              <a:srgbClr val="2563A6"/>
            </a:solidFill>
            <a:prstDash val="soli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8D01D2C-03BF-4DCB-B1D6-7DFFE9BAB247}"/>
              </a:ext>
            </a:extLst>
          </p:cNvPr>
          <p:cNvSpPr>
            <a:spLocks noGrp="1"/>
          </p:cNvSpPr>
          <p:nvPr/>
        </p:nvSpPr>
        <p:spPr>
          <a:xfrm>
            <a:off x="714375" y="5341652"/>
            <a:ext cx="285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96DFCF-5EFE-4C4E-AA2D-83FDD117F395}"/>
              </a:ext>
            </a:extLst>
          </p:cNvPr>
          <p:cNvSpPr>
            <a:spLocks noGrp="1"/>
          </p:cNvSpPr>
          <p:nvPr/>
        </p:nvSpPr>
        <p:spPr>
          <a:xfrm>
            <a:off x="1066800" y="5341652"/>
            <a:ext cx="1285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Retain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FB3703-3680-476C-93C2-127A43164427}"/>
              </a:ext>
            </a:extLst>
          </p:cNvPr>
          <p:cNvSpPr>
            <a:spLocks noGrp="1"/>
          </p:cNvSpPr>
          <p:nvPr/>
        </p:nvSpPr>
        <p:spPr>
          <a:xfrm>
            <a:off x="2381250" y="5341652"/>
            <a:ext cx="4333875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Keep significant rules with sufficient support.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2445A9-DE58-4F17-865B-E18BD55DB754}"/>
              </a:ext>
            </a:extLst>
          </p:cNvPr>
          <p:cNvSpPr>
            <a:spLocks noGrp="1"/>
          </p:cNvSpPr>
          <p:nvPr/>
        </p:nvSpPr>
        <p:spPr>
          <a:xfrm>
            <a:off x="685800" y="5926688"/>
            <a:ext cx="6000750" cy="285750"/>
          </a:xfrm>
          <a:prstGeom prst="rect">
            <a:avLst/>
          </a:prstGeom>
          <a:solidFill>
            <a:srgbClr val="2563A6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919960-1641-490B-A9A3-55D306CE0C3C}"/>
              </a:ext>
            </a:extLst>
          </p:cNvPr>
          <p:cNvSpPr>
            <a:spLocks noGrp="1"/>
          </p:cNvSpPr>
          <p:nvPr/>
        </p:nvSpPr>
        <p:spPr>
          <a:xfrm>
            <a:off x="838200" y="5983838"/>
            <a:ext cx="57150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OUTPUT  ·  IF climate conditions  →  shifted production-residual distribution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D4E54D-A5F1-4770-BD3C-2107D2655207}"/>
              </a:ext>
            </a:extLst>
          </p:cNvPr>
          <p:cNvSpPr>
            <a:spLocks noGrp="1"/>
          </p:cNvSpPr>
          <p:nvPr/>
        </p:nvSpPr>
        <p:spPr>
          <a:xfrm>
            <a:off x="7715250" y="1752737"/>
            <a:ext cx="1714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COMPARATORS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6037D9-DFEC-4812-808A-4E7CB7034B32}"/>
              </a:ext>
            </a:extLst>
          </p:cNvPr>
          <p:cNvSpPr>
            <a:spLocks noGrp="1"/>
          </p:cNvSpPr>
          <p:nvPr/>
        </p:nvSpPr>
        <p:spPr>
          <a:xfrm>
            <a:off x="7715250" y="2006400"/>
            <a:ext cx="4076700" cy="7810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C4DF85-C753-4A16-86DA-2A92744FB260}"/>
              </a:ext>
            </a:extLst>
          </p:cNvPr>
          <p:cNvSpPr>
            <a:spLocks noGrp="1"/>
          </p:cNvSpPr>
          <p:nvPr/>
        </p:nvSpPr>
        <p:spPr>
          <a:xfrm>
            <a:off x="7953375" y="2273832"/>
            <a:ext cx="1095375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RIPPER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90E92F-EB87-4359-AF83-5114DDBDD0DE}"/>
              </a:ext>
            </a:extLst>
          </p:cNvPr>
          <p:cNvSpPr>
            <a:spLocks noGrp="1"/>
          </p:cNvSpPr>
          <p:nvPr/>
        </p:nvSpPr>
        <p:spPr>
          <a:xfrm>
            <a:off x="9239250" y="2216682"/>
            <a:ext cx="2266950" cy="495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Rule learner + prediction comparator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0CBD0F-FA7D-40BE-9D97-B4DBBCC28D47}"/>
              </a:ext>
            </a:extLst>
          </p:cNvPr>
          <p:cNvSpPr>
            <a:spLocks noGrp="1"/>
          </p:cNvSpPr>
          <p:nvPr/>
        </p:nvSpPr>
        <p:spPr>
          <a:xfrm>
            <a:off x="7715250" y="3002515"/>
            <a:ext cx="4076700" cy="7810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C13C4A-23B9-4127-A97B-424493CC4561}"/>
              </a:ext>
            </a:extLst>
          </p:cNvPr>
          <p:cNvSpPr>
            <a:spLocks noGrp="1"/>
          </p:cNvSpPr>
          <p:nvPr/>
        </p:nvSpPr>
        <p:spPr>
          <a:xfrm>
            <a:off x="7953375" y="3294012"/>
            <a:ext cx="11430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M5Rules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A9B414-F435-49BB-BB79-57A48BCDB405}"/>
              </a:ext>
            </a:extLst>
          </p:cNvPr>
          <p:cNvSpPr>
            <a:spLocks noGrp="1"/>
          </p:cNvSpPr>
          <p:nvPr/>
        </p:nvSpPr>
        <p:spPr>
          <a:xfrm>
            <a:off x="9239250" y="3294012"/>
            <a:ext cx="226695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Rule learner + prediction comparator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BE02B3-B024-4AD0-87DD-A91217473D7B}"/>
              </a:ext>
            </a:extLst>
          </p:cNvPr>
          <p:cNvSpPr>
            <a:spLocks noGrp="1"/>
          </p:cNvSpPr>
          <p:nvPr/>
        </p:nvSpPr>
        <p:spPr>
          <a:xfrm>
            <a:off x="7715250" y="3998630"/>
            <a:ext cx="4076700" cy="781050"/>
          </a:xfrm>
          <a:prstGeom prst="rect">
            <a:avLst/>
          </a:prstGeom>
          <a:solidFill>
            <a:srgbClr val="F5E9ED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ACD4E6-3800-4991-8ACB-A435F5CB1445}"/>
              </a:ext>
            </a:extLst>
          </p:cNvPr>
          <p:cNvSpPr>
            <a:spLocks noGrp="1"/>
          </p:cNvSpPr>
          <p:nvPr/>
        </p:nvSpPr>
        <p:spPr>
          <a:xfrm>
            <a:off x="7953375" y="4300401"/>
            <a:ext cx="1285875" cy="247650"/>
          </a:xfrm>
          <a:prstGeom prst="rect">
            <a:avLst/>
          </a:prstGeom>
        </p:spPr>
        <p:txBody>
          <a:bodyPr lIns="0" tIns="0" rIns="0" bIns="0" anchor="t">
            <a:normAutofit fontScale="98064"/>
          </a:bodyPr>
          <a:lstStyle/>
          <a:p>
            <a:pPr algn="l">
              <a:buNone/>
              <a:defRPr sz="15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Decision Tree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B99BAA-1081-4A8B-82B7-712236139009}"/>
              </a:ext>
            </a:extLst>
          </p:cNvPr>
          <p:cNvSpPr>
            <a:spLocks noGrp="1"/>
          </p:cNvSpPr>
          <p:nvPr/>
        </p:nvSpPr>
        <p:spPr>
          <a:xfrm>
            <a:off x="9429750" y="4243251"/>
            <a:ext cx="2076450" cy="495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Prediction-only non-rule ML comparator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973BE0-90E9-4085-A534-FD2E2B8A754E}"/>
              </a:ext>
            </a:extLst>
          </p:cNvPr>
          <p:cNvSpPr>
            <a:spLocks noGrp="1"/>
          </p:cNvSpPr>
          <p:nvPr/>
        </p:nvSpPr>
        <p:spPr>
          <a:xfrm>
            <a:off x="7715250" y="4994746"/>
            <a:ext cx="4076700" cy="781050"/>
          </a:xfrm>
          <a:prstGeom prst="rect">
            <a:avLst/>
          </a:prstGeom>
          <a:solidFill>
            <a:srgbClr val="F4E9ED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194DCF-3E0C-47F5-B24A-CAC77810E15A}"/>
              </a:ext>
            </a:extLst>
          </p:cNvPr>
          <p:cNvSpPr>
            <a:spLocks noGrp="1"/>
          </p:cNvSpPr>
          <p:nvPr/>
        </p:nvSpPr>
        <p:spPr>
          <a:xfrm>
            <a:off x="7953375" y="5274483"/>
            <a:ext cx="1381125" cy="247650"/>
          </a:xfrm>
          <a:prstGeom prst="rect">
            <a:avLst/>
          </a:prstGeom>
        </p:spPr>
        <p:txBody>
          <a:bodyPr lIns="0" tIns="0" rIns="0" bIns="0" anchor="t">
            <a:normAutofit fontScale="92036"/>
          </a:bodyPr>
          <a:lstStyle/>
          <a:p>
            <a:pPr algn="l">
              <a:buNone/>
              <a:defRPr sz="15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Naive baselines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B7F7E4-6EE0-44A5-B19D-C67F3FAEC8A8}"/>
              </a:ext>
            </a:extLst>
          </p:cNvPr>
          <p:cNvSpPr>
            <a:spLocks noGrp="1"/>
          </p:cNvSpPr>
          <p:nvPr/>
        </p:nvSpPr>
        <p:spPr>
          <a:xfrm>
            <a:off x="9477375" y="5274483"/>
            <a:ext cx="2028825" cy="495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38" b="0">
                <a:solidFill>
                  <a:srgbClr val="6B6E73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Prediction-only references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207C93-AE02-41AD-9243-5078C18690B0}"/>
              </a:ext>
            </a:extLst>
          </p:cNvPr>
          <p:cNvSpPr>
            <a:spLocks noGrp="1"/>
          </p:cNvSpPr>
          <p:nvPr/>
        </p:nvSpPr>
        <p:spPr>
          <a:xfrm>
            <a:off x="7715250" y="5952257"/>
            <a:ext cx="4048125" cy="5143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76283E"/>
                </a:solidFill>
                <a:latin typeface="Arial"/>
                <a:ea typeface="Arial"/>
                <a:cs typeface="Arial"/>
              </a:defRPr>
            </a:pPr>
            <a:r>
              <a:rPr lang="en-GB" sz="105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Roles: CarenR links rules + prediction; RIPPER/M5Rules cross-check rules; Decision Tree and naïve baselines test prediction only.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491E04-F868-3B96-685A-8644ED3DC42A}"/>
              </a:ext>
            </a:extLst>
          </p:cNvPr>
          <p:cNvSpPr txBox="1"/>
          <p:nvPr/>
        </p:nvSpPr>
        <p:spPr>
          <a:xfrm>
            <a:off x="400050" y="1024421"/>
            <a:ext cx="114871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defRPr/>
            </a:pPr>
            <a:r>
              <a:rPr lang="en-GB" sz="1100" b="1" i="0" kern="1200" dirty="0">
                <a:effectLst/>
              </a:rPr>
              <a:t>CAREN - Classification project Association Rule Engine </a:t>
            </a:r>
            <a:r>
              <a:rPr lang="en-GB" sz="1100" i="0" kern="1200" dirty="0">
                <a:effectLst/>
              </a:rPr>
              <a:t>– P</a:t>
            </a:r>
            <a:r>
              <a:rPr lang="en-GB" sz="1100" dirty="0"/>
              <a:t>aulo Azevedo -  Departamento de </a:t>
            </a:r>
            <a:r>
              <a:rPr lang="en-GB" sz="1100" dirty="0" err="1"/>
              <a:t>Informática</a:t>
            </a:r>
            <a:r>
              <a:rPr lang="en-GB" sz="1100" dirty="0"/>
              <a:t> da </a:t>
            </a:r>
            <a:r>
              <a:rPr lang="en-GB" sz="1100" dirty="0" err="1"/>
              <a:t>Universidade</a:t>
            </a:r>
            <a:r>
              <a:rPr lang="en-GB" sz="1100" dirty="0"/>
              <a:t> do Minho (</a:t>
            </a:r>
            <a:r>
              <a:rPr lang="en-GB" sz="1100" dirty="0" err="1"/>
              <a:t>UMinho</a:t>
            </a:r>
            <a:r>
              <a:rPr lang="en-GB" sz="1100" dirty="0"/>
              <a:t>) – 2003 + Alipio Jorge LIACC/</a:t>
            </a:r>
            <a:r>
              <a:rPr lang="en-GB" sz="1100" dirty="0" err="1"/>
              <a:t>Universidade</a:t>
            </a:r>
            <a:r>
              <a:rPr lang="en-GB" sz="1100" dirty="0"/>
              <a:t> do Porto 2006</a:t>
            </a:r>
            <a:endParaRPr lang="en-GB" sz="1100" i="0" kern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99771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25144A-1585-4407-BE50-12168B67CBDA}"/>
              </a:ext>
            </a:extLst>
          </p:cNvPr>
          <p:cNvSpPr>
            <a:spLocks noGrp="1"/>
          </p:cNvSpPr>
          <p:nvPr/>
        </p:nvSpPr>
        <p:spPr>
          <a:xfrm>
            <a:off x="660600" y="1252096"/>
            <a:ext cx="10870799" cy="685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chemeClr val="accent2"/>
                </a:solidFill>
              </a:rPr>
              <a:t>DO YEARS MATCHING THESE CLIMATE CONDITIONS HAVE A PRODUCTION-RESIDUAL DISTRIBUTION THAT DIFFERS FROM ALL YEARS?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974E71-CB8D-4FB8-9877-3808ABB7797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Goal 1 finds statistically exceptional subgroups</a:t>
            </a:r>
          </a:p>
        </p:txBody>
      </p:sp>
      <p:sp>
        <p:nvSpPr>
          <p:cNvPr id="60" name="slide11-stray-text-cover">
            <a:extLst>
              <a:ext uri="{FF2B5EF4-FFF2-40B4-BE49-F238E27FC236}">
                <a16:creationId xmlns:a16="http://schemas.microsoft.com/office/drawing/2014/main" id="{49FBF974-8943-4348-B3EA-528B119FDF90}"/>
              </a:ext>
            </a:extLst>
          </p:cNvPr>
          <p:cNvSpPr>
            <a:spLocks noGrp="1"/>
          </p:cNvSpPr>
          <p:nvPr/>
        </p:nvSpPr>
        <p:spPr>
          <a:xfrm>
            <a:off x="6843070" y="5094983"/>
            <a:ext cx="5191125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pic>
        <p:nvPicPr>
          <p:cNvPr id="124" name="Picture 8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9629" y="2536934"/>
            <a:ext cx="4857489" cy="28122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5" name="slide11-clean-audit-card">
            <a:extLst>
              <a:ext uri="{FF2B5EF4-FFF2-40B4-BE49-F238E27FC236}">
                <a16:creationId xmlns:a16="http://schemas.microsoft.com/office/drawing/2014/main" id="{C8B5CCD5-ACF4-41BA-AAB1-C35C67B28D34}"/>
              </a:ext>
            </a:extLst>
          </p:cNvPr>
          <p:cNvSpPr>
            <a:spLocks noGrp="1"/>
          </p:cNvSpPr>
          <p:nvPr/>
        </p:nvSpPr>
        <p:spPr>
          <a:xfrm>
            <a:off x="479630" y="5517712"/>
            <a:ext cx="10871580" cy="1019050"/>
          </a:xfrm>
          <a:prstGeom prst="roundRect">
            <a:avLst>
              <a:gd name="adj" fmla="val 3947"/>
            </a:avLst>
          </a:prstGeom>
          <a:solidFill>
            <a:schemeClr val="tx1">
              <a:lumMod val="50000"/>
              <a:lumOff val="50000"/>
              <a:alpha val="13374"/>
            </a:schemeClr>
          </a:solidFill>
          <a:ln w="1143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96A13C2-82FD-4BE3-B3A7-CAC763BA7FC3}"/>
              </a:ext>
            </a:extLst>
          </p:cNvPr>
          <p:cNvSpPr>
            <a:spLocks noGrp="1"/>
          </p:cNvSpPr>
          <p:nvPr/>
        </p:nvSpPr>
        <p:spPr>
          <a:xfrm>
            <a:off x="655662" y="5596365"/>
            <a:ext cx="2910004" cy="2928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C99A3E"/>
                </a:solidFill>
              </a:defRPr>
            </a:pPr>
            <a:r>
              <a:rPr lang="en-GB" sz="1600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RULE YOU CAN AUDIT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2C196E9-289E-42D7-B941-70F9D0E60781}"/>
              </a:ext>
            </a:extLst>
          </p:cNvPr>
          <p:cNvSpPr>
            <a:spLocks noGrp="1"/>
          </p:cNvSpPr>
          <p:nvPr/>
        </p:nvSpPr>
        <p:spPr>
          <a:xfrm>
            <a:off x="1199957" y="5889187"/>
            <a:ext cx="510917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>
                <a:solidFill>
                  <a:srgbClr val="171313"/>
                </a:solidFill>
              </a:defRPr>
            </a:pPr>
            <a:r>
              <a:rPr lang="en-GB" sz="2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IF</a:t>
            </a:r>
            <a:r>
              <a:rPr lang="en-GB" sz="1400" noProof="0" dirty="0">
                <a:solidFill>
                  <a:srgbClr val="171313"/>
                </a:solidFill>
              </a:rPr>
              <a:t> </a:t>
            </a:r>
            <a:r>
              <a:rPr lang="en-GB" sz="1400" noProof="0" dirty="0">
                <a:solidFill>
                  <a:srgbClr val="C00000"/>
                </a:solidFill>
              </a:rPr>
              <a:t>dry post-flowering </a:t>
            </a:r>
            <a:r>
              <a:rPr lang="en-GB" sz="2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GB" sz="1400" noProof="0" dirty="0">
                <a:solidFill>
                  <a:srgbClr val="171313"/>
                </a:solidFill>
              </a:rPr>
              <a:t> </a:t>
            </a:r>
            <a:r>
              <a:rPr lang="en-GB" sz="1400" noProof="0" dirty="0">
                <a:solidFill>
                  <a:srgbClr val="00B0F0"/>
                </a:solidFill>
              </a:rPr>
              <a:t>dry post-maturity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9C3ACF3-58DC-41AD-AEA7-835146124EF4}"/>
              </a:ext>
            </a:extLst>
          </p:cNvPr>
          <p:cNvSpPr>
            <a:spLocks noGrp="1"/>
          </p:cNvSpPr>
          <p:nvPr/>
        </p:nvSpPr>
        <p:spPr>
          <a:xfrm>
            <a:off x="6843070" y="5970252"/>
            <a:ext cx="31560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2F7D4D"/>
                </a:solidFill>
              </a:defRPr>
            </a:pPr>
            <a:r>
              <a:rPr lang="en-GB" sz="2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THEN</a:t>
            </a:r>
            <a:r>
              <a:rPr lang="en-GB" sz="1400" b="1" noProof="0" dirty="0">
                <a:solidFill>
                  <a:srgbClr val="2F7D4D"/>
                </a:solidFill>
              </a:rPr>
              <a:t> +121 mhl above trend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304F2A1-B38D-4F3B-BC02-B8AA7A947CA4}"/>
              </a:ext>
            </a:extLst>
          </p:cNvPr>
          <p:cNvSpPr>
            <a:spLocks noGrp="1"/>
          </p:cNvSpPr>
          <p:nvPr/>
        </p:nvSpPr>
        <p:spPr>
          <a:xfrm>
            <a:off x="4900757" y="6216922"/>
            <a:ext cx="2029326" cy="1463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63" i="1">
                <a:solidFill>
                  <a:srgbClr val="6F6761"/>
                </a:solidFill>
              </a:defRPr>
            </a:pPr>
            <a:r>
              <a:rPr lang="en-GB" sz="1200" i="1" noProof="0" dirty="0">
                <a:solidFill>
                  <a:srgbClr val="6F6761"/>
                </a:solidFill>
              </a:rPr>
              <a:t>support 28% · p = 0.004</a:t>
            </a:r>
          </a:p>
        </p:txBody>
      </p:sp>
      <p:pic>
        <p:nvPicPr>
          <p:cNvPr id="131" name="Picture 18"/>
          <p:cNvPicPr>
            <a:picLocks noChangeAspect="1"/>
          </p:cNvPicPr>
          <p:nvPr/>
        </p:nvPicPr>
        <p:blipFill>
          <a:blip r:embed="rId4"/>
          <a:srcRect t="9066"/>
          <a:stretch>
            <a:fillRect/>
          </a:stretch>
        </p:blipFill>
        <p:spPr>
          <a:xfrm>
            <a:off x="6369766" y="2747826"/>
            <a:ext cx="4981443" cy="2557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32" name="Elbow Connector 21"/>
          <p:cNvCxnSpPr>
            <a:cxnSpLocks/>
          </p:cNvCxnSpPr>
          <p:nvPr/>
        </p:nvCxnSpPr>
        <p:spPr>
          <a:xfrm rot="5400000" flipH="1" flipV="1">
            <a:off x="7571794" y="4764259"/>
            <a:ext cx="1544740" cy="867247"/>
          </a:xfrm>
          <a:prstGeom prst="bentConnector3">
            <a:avLst>
              <a:gd name="adj1" fmla="val 18054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24"/>
          <p:cNvCxnSpPr>
            <a:cxnSpLocks/>
            <a:endCxn id="131" idx="0"/>
          </p:cNvCxnSpPr>
          <p:nvPr/>
        </p:nvCxnSpPr>
        <p:spPr>
          <a:xfrm flipV="1">
            <a:off x="4796636" y="2747826"/>
            <a:ext cx="4063852" cy="3364155"/>
          </a:xfrm>
          <a:prstGeom prst="bentConnector4">
            <a:avLst>
              <a:gd name="adj1" fmla="val 24436"/>
              <a:gd name="adj2" fmla="val 104165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ap-stripe">
            <a:extLst>
              <a:ext uri="{FF2B5EF4-FFF2-40B4-BE49-F238E27FC236}">
                <a16:creationId xmlns:a16="http://schemas.microsoft.com/office/drawing/2014/main" id="{29C6DDA8-B007-16ED-6E86-58E0D90C2150}"/>
              </a:ext>
            </a:extLst>
          </p:cNvPr>
          <p:cNvSpPr>
            <a:spLocks noGrp="1"/>
          </p:cNvSpPr>
          <p:nvPr/>
        </p:nvSpPr>
        <p:spPr>
          <a:xfrm>
            <a:off x="479629" y="1186555"/>
            <a:ext cx="76200" cy="56753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47066" y="6216922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0C377-5AEE-C3AA-9CA8-5D1372D0EF1B}"/>
              </a:ext>
            </a:extLst>
          </p:cNvPr>
          <p:cNvSpPr txBox="1"/>
          <p:nvPr/>
        </p:nvSpPr>
        <p:spPr>
          <a:xfrm>
            <a:off x="5731713" y="2180929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noProof="0" dirty="0">
                <a:solidFill>
                  <a:srgbClr val="C00000"/>
                </a:solidFill>
                <a:latin typeface="Courier New" panose="02070309020205020404" pitchFamily="49" charset="0"/>
              </a:rPr>
              <a:t>days.rf.above.1mm_fl_y1_a20 = [0 | 3.33]</a:t>
            </a:r>
            <a:r>
              <a:rPr lang="en-GB" sz="900" noProof="0" dirty="0">
                <a:solidFill>
                  <a:srgbClr val="C00000"/>
                </a:solidFill>
              </a:rPr>
              <a:t> → </a:t>
            </a:r>
            <a:r>
              <a:rPr lang="en-GB" sz="900" b="1" noProof="0" dirty="0">
                <a:solidFill>
                  <a:srgbClr val="C00000"/>
                </a:solidFill>
              </a:rPr>
              <a:t>wet days post - flowering ≤ 3,33</a:t>
            </a:r>
            <a:r>
              <a:rPr lang="en-GB" sz="900" noProof="0" dirty="0">
                <a:solidFill>
                  <a:srgbClr val="C00000"/>
                </a:solidFill>
              </a:rPr>
              <a:t> (dry post - flowering) 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963829-3F11-5D78-6E4A-006F433F2C1A}"/>
              </a:ext>
            </a:extLst>
          </p:cNvPr>
          <p:cNvSpPr txBox="1"/>
          <p:nvPr/>
        </p:nvSpPr>
        <p:spPr>
          <a:xfrm>
            <a:off x="5731713" y="2335828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noProof="0" dirty="0">
                <a:solidFill>
                  <a:srgbClr val="00B0F0"/>
                </a:solidFill>
                <a:latin typeface="Courier New" panose="02070309020205020404" pitchFamily="49" charset="0"/>
              </a:rPr>
              <a:t>days.rf.above.1mm_sm_y1_a20 = [0 | 3.46]</a:t>
            </a:r>
            <a:r>
              <a:rPr lang="en-GB" sz="900" noProof="0" dirty="0">
                <a:solidFill>
                  <a:srgbClr val="00B0F0"/>
                </a:solidFill>
              </a:rPr>
              <a:t> → </a:t>
            </a:r>
            <a:r>
              <a:rPr lang="en-GB" sz="900" b="1" noProof="0" dirty="0">
                <a:solidFill>
                  <a:srgbClr val="00B0F0"/>
                </a:solidFill>
              </a:rPr>
              <a:t>wet days post - maturity ≤ 3,46</a:t>
            </a:r>
            <a:r>
              <a:rPr lang="en-GB" sz="900" noProof="0" dirty="0">
                <a:solidFill>
                  <a:srgbClr val="00B0F0"/>
                </a:solidFill>
              </a:rPr>
              <a:t> (dry post  maturity)     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D2983F-3FEE-1911-F758-9330D9AB2DC1}"/>
              </a:ext>
            </a:extLst>
          </p:cNvPr>
          <p:cNvSpPr>
            <a:spLocks noGrp="1"/>
          </p:cNvSpPr>
          <p:nvPr/>
        </p:nvSpPr>
        <p:spPr>
          <a:xfrm>
            <a:off x="6491788" y="1917791"/>
            <a:ext cx="4572000" cy="495300"/>
          </a:xfrm>
          <a:prstGeom prst="rect">
            <a:avLst/>
          </a:prstGeom>
        </p:spPr>
        <p:txBody>
          <a:bodyPr lIns="0" tIns="0" rIns="0" bIns="0" anchor="t">
            <a:normAutofit fontScale="96665"/>
          </a:bodyPr>
          <a:lstStyle/>
          <a:p>
            <a:pPr algn="ctr">
              <a:buNone/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500" noProof="0" dirty="0">
                <a:solidFill>
                  <a:schemeClr val="bg1">
                    <a:lumMod val="50000"/>
                  </a:schemeClr>
                </a:solidFill>
              </a:rPr>
              <a:t>CarenR asks a distributional question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1CAB9B-0006-6CF6-7E09-40844A88A9FD}"/>
              </a:ext>
            </a:extLst>
          </p:cNvPr>
          <p:cNvSpPr>
            <a:spLocks noGrp="1"/>
          </p:cNvSpPr>
          <p:nvPr/>
        </p:nvSpPr>
        <p:spPr>
          <a:xfrm>
            <a:off x="400050" y="267724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RESULTS · DISCOVERY</a:t>
            </a:r>
          </a:p>
        </p:txBody>
      </p:sp>
    </p:spTree>
    <p:extLst>
      <p:ext uri="{BB962C8B-B14F-4D97-AF65-F5344CB8AC3E}">
        <p14:creationId xmlns:p14="http://schemas.microsoft.com/office/powerpoint/2010/main" val="1792512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10FADE3-346D-4C9C-92D8-2385CD70AC2B}"/>
              </a:ext>
            </a:extLst>
          </p:cNvPr>
          <p:cNvSpPr>
            <a:spLocks noGrp="1"/>
          </p:cNvSpPr>
          <p:nvPr/>
        </p:nvSpPr>
        <p:spPr>
          <a:xfrm>
            <a:off x="400050" y="267724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RESULTS · DISCOVERY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98F82D-A154-49FE-B5CA-B9D780AC6B7A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92838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Goal 1 succeeded: compact rules reveal regional drivers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819D24-836E-4D97-AD95-3A807E6F4448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2CDC2-01ED-4F16-BB24-C091C7E02657}"/>
              </a:ext>
            </a:extLst>
          </p:cNvPr>
          <p:cNvSpPr>
            <a:spLocks noGrp="1"/>
          </p:cNvSpPr>
          <p:nvPr/>
        </p:nvSpPr>
        <p:spPr>
          <a:xfrm>
            <a:off x="400050" y="1510367"/>
            <a:ext cx="5429250" cy="3717768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BE1F26-F9F2-4921-8726-9AA52BF62123}"/>
              </a:ext>
            </a:extLst>
          </p:cNvPr>
          <p:cNvSpPr>
            <a:spLocks noGrp="1"/>
          </p:cNvSpPr>
          <p:nvPr/>
        </p:nvSpPr>
        <p:spPr>
          <a:xfrm>
            <a:off x="6353175" y="1510367"/>
            <a:ext cx="5429250" cy="37177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DFDC61-914B-4D17-80FE-52EFBE1DB3AD}"/>
              </a:ext>
            </a:extLst>
          </p:cNvPr>
          <p:cNvSpPr>
            <a:spLocks noGrp="1"/>
          </p:cNvSpPr>
          <p:nvPr/>
        </p:nvSpPr>
        <p:spPr>
          <a:xfrm>
            <a:off x="714375" y="1606116"/>
            <a:ext cx="1905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DOURO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B71-99B8-4335-8A75-9CBF6FE594D5}"/>
              </a:ext>
            </a:extLst>
          </p:cNvPr>
          <p:cNvSpPr>
            <a:spLocks noGrp="1"/>
          </p:cNvSpPr>
          <p:nvPr/>
        </p:nvSpPr>
        <p:spPr>
          <a:xfrm>
            <a:off x="714375" y="1927732"/>
            <a:ext cx="1619250" cy="762000"/>
          </a:xfrm>
          <a:prstGeom prst="rect">
            <a:avLst/>
          </a:prstGeom>
        </p:spPr>
        <p:txBody>
          <a:bodyPr lIns="0" tIns="0" rIns="0" bIns="0" anchor="t">
            <a:normAutofit fontScale="98039"/>
          </a:bodyPr>
          <a:lstStyle/>
          <a:p>
            <a:pPr algn="l">
              <a:buNone/>
              <a:defRPr sz="5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48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8BAB65-D261-4E68-AA2F-A6D399971949}"/>
              </a:ext>
            </a:extLst>
          </p:cNvPr>
          <p:cNvSpPr>
            <a:spLocks noGrp="1"/>
          </p:cNvSpPr>
          <p:nvPr/>
        </p:nvSpPr>
        <p:spPr>
          <a:xfrm>
            <a:off x="1524000" y="2199195"/>
            <a:ext cx="14287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rules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E680C5-C0BD-4340-A796-AABBE6318478}"/>
              </a:ext>
            </a:extLst>
          </p:cNvPr>
          <p:cNvSpPr>
            <a:spLocks noGrp="1"/>
          </p:cNvSpPr>
          <p:nvPr/>
        </p:nvSpPr>
        <p:spPr>
          <a:xfrm>
            <a:off x="714375" y="3083893"/>
            <a:ext cx="4286250" cy="609600"/>
          </a:xfrm>
          <a:prstGeom prst="rect">
            <a:avLst/>
          </a:prstGeom>
        </p:spPr>
        <p:txBody>
          <a:bodyPr lIns="0" tIns="0" rIns="0" bIns="0" anchor="t">
            <a:normAutofit fontScale="95238"/>
          </a:bodyPr>
          <a:lstStyle/>
          <a:p>
            <a:pPr algn="l"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HARVEST SOIL WATER APPEARS IN 54% OF RULES.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3417D7-82CC-474A-8B1F-016DC5043731}"/>
              </a:ext>
            </a:extLst>
          </p:cNvPr>
          <p:cNvSpPr>
            <a:spLocks noGrp="1"/>
          </p:cNvSpPr>
          <p:nvPr/>
        </p:nvSpPr>
        <p:spPr>
          <a:xfrm>
            <a:off x="702017" y="4263876"/>
            <a:ext cx="5030933" cy="1000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17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A moderate deficit (74–101 mm) marks </a:t>
            </a:r>
            <a:r>
              <a:rPr lang="en-GB" sz="1400" b="1" noProof="0" dirty="0">
                <a:solidFill>
                  <a:schemeClr val="accent6"/>
                </a:solidFill>
              </a:rPr>
              <a:t>above-trend</a:t>
            </a:r>
            <a:r>
              <a:rPr lang="en-GB" sz="1400" noProof="0" dirty="0">
                <a:solidFill>
                  <a:schemeClr val="accent6"/>
                </a:solidFill>
              </a:rPr>
              <a:t> </a:t>
            </a:r>
            <a:r>
              <a:rPr lang="en-GB" sz="1400" noProof="0" dirty="0"/>
              <a:t>years — the strongest such rule reaches </a:t>
            </a:r>
            <a:r>
              <a:rPr lang="en-GB" sz="1400" noProof="0" dirty="0">
                <a:solidFill>
                  <a:schemeClr val="accent6"/>
                </a:solidFill>
              </a:rPr>
              <a:t>+192 mhl</a:t>
            </a:r>
            <a:r>
              <a:rPr lang="en-GB" sz="1400" noProof="0" dirty="0"/>
              <a:t>, reinforced by dry post-flowering and bounded heat.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3E4264-7562-493B-B638-FAE60078DC83}"/>
              </a:ext>
            </a:extLst>
          </p:cNvPr>
          <p:cNvSpPr>
            <a:spLocks noGrp="1"/>
          </p:cNvSpPr>
          <p:nvPr/>
        </p:nvSpPr>
        <p:spPr>
          <a:xfrm>
            <a:off x="6667500" y="1606116"/>
            <a:ext cx="2095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VINHO VERDE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3BFAAB-4DCE-4B1B-98FE-61FCDC28A918}"/>
              </a:ext>
            </a:extLst>
          </p:cNvPr>
          <p:cNvSpPr>
            <a:spLocks noGrp="1"/>
          </p:cNvSpPr>
          <p:nvPr/>
        </p:nvSpPr>
        <p:spPr>
          <a:xfrm>
            <a:off x="6667500" y="1927732"/>
            <a:ext cx="1619250" cy="762000"/>
          </a:xfrm>
          <a:prstGeom prst="rect">
            <a:avLst/>
          </a:prstGeom>
        </p:spPr>
        <p:txBody>
          <a:bodyPr lIns="0" tIns="0" rIns="0" bIns="0" anchor="t">
            <a:normAutofit fontScale="98039"/>
          </a:bodyPr>
          <a:lstStyle/>
          <a:p>
            <a:pPr algn="l">
              <a:buNone/>
              <a:defRPr sz="5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3BFAA6-4079-4DC7-81E8-47F17D108B0D}"/>
              </a:ext>
            </a:extLst>
          </p:cNvPr>
          <p:cNvSpPr>
            <a:spLocks noGrp="1"/>
          </p:cNvSpPr>
          <p:nvPr/>
        </p:nvSpPr>
        <p:spPr>
          <a:xfrm>
            <a:off x="7477125" y="2194428"/>
            <a:ext cx="14287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rules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2E096-AEFD-4CC0-9752-BAB3607FBEA8}"/>
              </a:ext>
            </a:extLst>
          </p:cNvPr>
          <p:cNvSpPr>
            <a:spLocks noGrp="1"/>
          </p:cNvSpPr>
          <p:nvPr/>
        </p:nvSpPr>
        <p:spPr>
          <a:xfrm>
            <a:off x="6667500" y="3083893"/>
            <a:ext cx="4286250" cy="609600"/>
          </a:xfrm>
          <a:prstGeom prst="rect">
            <a:avLst/>
          </a:prstGeom>
        </p:spPr>
        <p:txBody>
          <a:bodyPr lIns="0" tIns="0" rIns="0" bIns="0" anchor="t">
            <a:normAutofit fontScale="95238"/>
          </a:bodyPr>
          <a:lstStyle/>
          <a:p>
            <a:pPr algn="l"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HEAT-STRESS DAYS APPEAR IN UP TO 50% OF RULES.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D1C761-F1E4-462B-838A-FF2CEA27802F}"/>
              </a:ext>
            </a:extLst>
          </p:cNvPr>
          <p:cNvSpPr>
            <a:spLocks noGrp="1"/>
          </p:cNvSpPr>
          <p:nvPr/>
        </p:nvSpPr>
        <p:spPr>
          <a:xfrm>
            <a:off x="6664668" y="4263877"/>
            <a:ext cx="5076825" cy="1000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17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200" noProof="0" dirty="0"/>
              <a:t>Harvest soil water also recurs (25%) — but the </a:t>
            </a:r>
            <a:r>
              <a:rPr lang="en-GB" sz="1200" b="1" noProof="0" dirty="0"/>
              <a:t>same range (61–97 mm) marks cool, wet, </a:t>
            </a:r>
            <a:r>
              <a:rPr lang="en-GB" sz="1200" b="1" noProof="0" dirty="0">
                <a:solidFill>
                  <a:srgbClr val="C00000"/>
                </a:solidFill>
              </a:rPr>
              <a:t>below-trend</a:t>
            </a:r>
            <a:r>
              <a:rPr lang="en-GB" sz="1200" noProof="0" dirty="0"/>
              <a:t> years, down to </a:t>
            </a:r>
            <a:r>
              <a:rPr lang="en-GB" sz="1200" noProof="0" dirty="0">
                <a:solidFill>
                  <a:srgbClr val="C00000"/>
                </a:solidFill>
              </a:rPr>
              <a:t>−338 mhl</a:t>
            </a:r>
            <a:r>
              <a:rPr lang="en-GB" sz="1200" noProof="0" dirty="0"/>
              <a:t>: the opposite of the Douro. </a:t>
            </a:r>
          </a:p>
          <a:p>
            <a:pPr>
              <a:defRPr sz="17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sz="1200" noProof="0" dirty="0"/>
              <a:t>LAI family: 4/20.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8B2983-02A9-68D1-FCB9-457D7C8CB555}"/>
              </a:ext>
            </a:extLst>
          </p:cNvPr>
          <p:cNvSpPr txBox="1"/>
          <p:nvPr/>
        </p:nvSpPr>
        <p:spPr>
          <a:xfrm>
            <a:off x="74341" y="5653790"/>
            <a:ext cx="1204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7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2000" noProof="0" dirty="0">
                <a:solidFill>
                  <a:schemeClr val="accent2"/>
                </a:solidFill>
              </a:rPr>
              <a:t>THE SAME VARIABLE CAN HAVE A DIFFERENT DIRECTION ACROSS REGIONS — INTERPRETATION MUST REMAIN CONTEXT-SPECIFIC.</a:t>
            </a:r>
          </a:p>
        </p:txBody>
      </p:sp>
    </p:spTree>
    <p:extLst>
      <p:ext uri="{BB962C8B-B14F-4D97-AF65-F5344CB8AC3E}">
        <p14:creationId xmlns:p14="http://schemas.microsoft.com/office/powerpoint/2010/main" val="2322339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AA3E5C72-18C4-4820-A946-3AFADD1B9D8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RESULTS · RULES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235780E-12D0-4C1A-A029-A99CA3019A2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3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strongest CarenR rules point to water and canopy structure</a:t>
            </a:r>
          </a:p>
        </p:txBody>
      </p:sp>
      <p:sp>
        <p:nvSpPr>
          <p:cNvPr id="4" name="douro-panel">
            <a:extLst>
              <a:ext uri="{FF2B5EF4-FFF2-40B4-BE49-F238E27FC236}">
                <a16:creationId xmlns:a16="http://schemas.microsoft.com/office/drawing/2014/main" id="{DB3A9BFA-81C6-4691-9368-F9F7C131BC49}"/>
              </a:ext>
            </a:extLst>
          </p:cNvPr>
          <p:cNvSpPr>
            <a:spLocks noGrp="1"/>
          </p:cNvSpPr>
          <p:nvPr/>
        </p:nvSpPr>
        <p:spPr>
          <a:xfrm>
            <a:off x="400050" y="1761919"/>
            <a:ext cx="5476875" cy="3325472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vv-panel">
            <a:extLst>
              <a:ext uri="{FF2B5EF4-FFF2-40B4-BE49-F238E27FC236}">
                <a16:creationId xmlns:a16="http://schemas.microsoft.com/office/drawing/2014/main" id="{5F21EEA4-8328-44C4-BCCB-EDEE6BE775BF}"/>
              </a:ext>
            </a:extLst>
          </p:cNvPr>
          <p:cNvSpPr>
            <a:spLocks noGrp="1"/>
          </p:cNvSpPr>
          <p:nvPr/>
        </p:nvSpPr>
        <p:spPr>
          <a:xfrm>
            <a:off x="6305550" y="1761919"/>
            <a:ext cx="5476875" cy="33254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douro-label">
            <a:extLst>
              <a:ext uri="{FF2B5EF4-FFF2-40B4-BE49-F238E27FC236}">
                <a16:creationId xmlns:a16="http://schemas.microsoft.com/office/drawing/2014/main" id="{25377249-CE38-488A-B5C9-0BA00F376236}"/>
              </a:ext>
            </a:extLst>
          </p:cNvPr>
          <p:cNvSpPr>
            <a:spLocks noGrp="1"/>
          </p:cNvSpPr>
          <p:nvPr/>
        </p:nvSpPr>
        <p:spPr>
          <a:xfrm>
            <a:off x="388018" y="182929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2B6F9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2B6F9A"/>
                </a:solidFill>
                <a:latin typeface="Arial"/>
                <a:ea typeface="Arial"/>
                <a:cs typeface="Arial"/>
              </a:rPr>
              <a:t>DOURO · top 5 CarenR rules</a:t>
            </a:r>
          </a:p>
        </p:txBody>
      </p:sp>
      <p:sp>
        <p:nvSpPr>
          <p:cNvPr id="7" name="douro-summary">
            <a:extLst>
              <a:ext uri="{FF2B5EF4-FFF2-40B4-BE49-F238E27FC236}">
                <a16:creationId xmlns:a16="http://schemas.microsoft.com/office/drawing/2014/main" id="{B0EE3D9C-DDB3-406D-9D3B-939E14A1EB8A}"/>
              </a:ext>
            </a:extLst>
          </p:cNvPr>
          <p:cNvSpPr>
            <a:spLocks noGrp="1"/>
          </p:cNvSpPr>
          <p:nvPr/>
        </p:nvSpPr>
        <p:spPr>
          <a:xfrm>
            <a:off x="714375" y="2237015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of 5 are above-trend: dry flowering and bounded heat define good years.</a:t>
            </a:r>
          </a:p>
        </p:txBody>
      </p:sp>
      <p:sp>
        <p:nvSpPr>
          <p:cNvPr id="8" name="rule-douro-1-rank">
            <a:extLst>
              <a:ext uri="{FF2B5EF4-FFF2-40B4-BE49-F238E27FC236}">
                <a16:creationId xmlns:a16="http://schemas.microsoft.com/office/drawing/2014/main" id="{112D12CD-BA90-42C9-88B7-1E895D2F2C81}"/>
              </a:ext>
            </a:extLst>
          </p:cNvPr>
          <p:cNvSpPr>
            <a:spLocks noGrp="1"/>
          </p:cNvSpPr>
          <p:nvPr/>
        </p:nvSpPr>
        <p:spPr>
          <a:xfrm>
            <a:off x="714375" y="28085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ule-douro-1-pattern">
            <a:extLst>
              <a:ext uri="{FF2B5EF4-FFF2-40B4-BE49-F238E27FC236}">
                <a16:creationId xmlns:a16="http://schemas.microsoft.com/office/drawing/2014/main" id="{55214A11-6F83-415F-8DA9-B3080B6E33DA}"/>
              </a:ext>
            </a:extLst>
          </p:cNvPr>
          <p:cNvSpPr>
            <a:spLocks noGrp="1"/>
          </p:cNvSpPr>
          <p:nvPr/>
        </p:nvSpPr>
        <p:spPr>
          <a:xfrm>
            <a:off x="1076325" y="27704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flowering + dry maturity</a:t>
            </a:r>
          </a:p>
        </p:txBody>
      </p:sp>
      <p:sp>
        <p:nvSpPr>
          <p:cNvPr id="10" name="rule-douro-1-delta">
            <a:extLst>
              <a:ext uri="{FF2B5EF4-FFF2-40B4-BE49-F238E27FC236}">
                <a16:creationId xmlns:a16="http://schemas.microsoft.com/office/drawing/2014/main" id="{DFDE73BD-FA63-4BAF-B9DC-3411C9E99A24}"/>
              </a:ext>
            </a:extLst>
          </p:cNvPr>
          <p:cNvSpPr>
            <a:spLocks noGrp="1"/>
          </p:cNvSpPr>
          <p:nvPr/>
        </p:nvSpPr>
        <p:spPr>
          <a:xfrm>
            <a:off x="4314825" y="27799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+121 mhl</a:t>
            </a:r>
          </a:p>
        </p:txBody>
      </p:sp>
      <p:sp>
        <p:nvSpPr>
          <p:cNvPr id="11" name="rule-douro-1-support">
            <a:extLst>
              <a:ext uri="{FF2B5EF4-FFF2-40B4-BE49-F238E27FC236}">
                <a16:creationId xmlns:a16="http://schemas.microsoft.com/office/drawing/2014/main" id="{196B7EFD-1B7D-43F6-A653-19032DEE096D}"/>
              </a:ext>
            </a:extLst>
          </p:cNvPr>
          <p:cNvSpPr>
            <a:spLocks noGrp="1"/>
          </p:cNvSpPr>
          <p:nvPr/>
        </p:nvSpPr>
        <p:spPr>
          <a:xfrm>
            <a:off x="1076325" y="29990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28.1% support · p=0.0043</a:t>
            </a:r>
          </a:p>
        </p:txBody>
      </p:sp>
      <p:sp>
        <p:nvSpPr>
          <p:cNvPr id="12" name="rule-douro-2-rank">
            <a:extLst>
              <a:ext uri="{FF2B5EF4-FFF2-40B4-BE49-F238E27FC236}">
                <a16:creationId xmlns:a16="http://schemas.microsoft.com/office/drawing/2014/main" id="{4A24E729-C905-4488-911C-CF23826CA50C}"/>
              </a:ext>
            </a:extLst>
          </p:cNvPr>
          <p:cNvSpPr>
            <a:spLocks noGrp="1"/>
          </p:cNvSpPr>
          <p:nvPr/>
        </p:nvSpPr>
        <p:spPr>
          <a:xfrm>
            <a:off x="714375" y="32276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ule-douro-2-pattern">
            <a:extLst>
              <a:ext uri="{FF2B5EF4-FFF2-40B4-BE49-F238E27FC236}">
                <a16:creationId xmlns:a16="http://schemas.microsoft.com/office/drawing/2014/main" id="{1AB09955-D902-451F-8068-D37DC71E7A90}"/>
              </a:ext>
            </a:extLst>
          </p:cNvPr>
          <p:cNvSpPr>
            <a:spLocks noGrp="1"/>
          </p:cNvSpPr>
          <p:nvPr/>
        </p:nvSpPr>
        <p:spPr>
          <a:xfrm>
            <a:off x="1076325" y="31895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 LAI + wet flowering</a:t>
            </a:r>
          </a:p>
        </p:txBody>
      </p:sp>
      <p:sp>
        <p:nvSpPr>
          <p:cNvPr id="14" name="rule-douro-2-delta">
            <a:extLst>
              <a:ext uri="{FF2B5EF4-FFF2-40B4-BE49-F238E27FC236}">
                <a16:creationId xmlns:a16="http://schemas.microsoft.com/office/drawing/2014/main" id="{6E7B2FF2-119F-4F33-BFA5-AE072BABE6E6}"/>
              </a:ext>
            </a:extLst>
          </p:cNvPr>
          <p:cNvSpPr>
            <a:spLocks noGrp="1"/>
          </p:cNvSpPr>
          <p:nvPr/>
        </p:nvSpPr>
        <p:spPr>
          <a:xfrm>
            <a:off x="4314825" y="31990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-131 mhl</a:t>
            </a:r>
          </a:p>
        </p:txBody>
      </p:sp>
      <p:sp>
        <p:nvSpPr>
          <p:cNvPr id="15" name="rule-douro-2-support">
            <a:extLst>
              <a:ext uri="{FF2B5EF4-FFF2-40B4-BE49-F238E27FC236}">
                <a16:creationId xmlns:a16="http://schemas.microsoft.com/office/drawing/2014/main" id="{0B1B3A52-047D-4C39-A204-8601FE2E4945}"/>
              </a:ext>
            </a:extLst>
          </p:cNvPr>
          <p:cNvSpPr>
            <a:spLocks noGrp="1"/>
          </p:cNvSpPr>
          <p:nvPr/>
        </p:nvSpPr>
        <p:spPr>
          <a:xfrm>
            <a:off x="1076325" y="34181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20.2% support · p=0.0084</a:t>
            </a:r>
          </a:p>
        </p:txBody>
      </p:sp>
      <p:sp>
        <p:nvSpPr>
          <p:cNvPr id="16" name="rule-douro-3-rank">
            <a:extLst>
              <a:ext uri="{FF2B5EF4-FFF2-40B4-BE49-F238E27FC236}">
                <a16:creationId xmlns:a16="http://schemas.microsoft.com/office/drawing/2014/main" id="{5019C0E2-BF17-4050-A65B-77E6958920F4}"/>
              </a:ext>
            </a:extLst>
          </p:cNvPr>
          <p:cNvSpPr>
            <a:spLocks noGrp="1"/>
          </p:cNvSpPr>
          <p:nvPr/>
        </p:nvSpPr>
        <p:spPr>
          <a:xfrm>
            <a:off x="714375" y="36467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ule-douro-3-pattern">
            <a:extLst>
              <a:ext uri="{FF2B5EF4-FFF2-40B4-BE49-F238E27FC236}">
                <a16:creationId xmlns:a16="http://schemas.microsoft.com/office/drawing/2014/main" id="{09468597-E04A-42DB-9B94-D08BFF973430}"/>
              </a:ext>
            </a:extLst>
          </p:cNvPr>
          <p:cNvSpPr>
            <a:spLocks noGrp="1"/>
          </p:cNvSpPr>
          <p:nvPr/>
        </p:nvSpPr>
        <p:spPr>
          <a:xfrm>
            <a:off x="1076325" y="36086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+ moderate heat after flowering</a:t>
            </a:r>
          </a:p>
        </p:txBody>
      </p:sp>
      <p:sp>
        <p:nvSpPr>
          <p:cNvPr id="18" name="rule-douro-3-delta">
            <a:extLst>
              <a:ext uri="{FF2B5EF4-FFF2-40B4-BE49-F238E27FC236}">
                <a16:creationId xmlns:a16="http://schemas.microsoft.com/office/drawing/2014/main" id="{4D2781A6-FD45-4BDD-96F8-F874F0309752}"/>
              </a:ext>
            </a:extLst>
          </p:cNvPr>
          <p:cNvSpPr>
            <a:spLocks noGrp="1"/>
          </p:cNvSpPr>
          <p:nvPr/>
        </p:nvSpPr>
        <p:spPr>
          <a:xfrm>
            <a:off x="4314825" y="36181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+113 mhl</a:t>
            </a:r>
          </a:p>
        </p:txBody>
      </p:sp>
      <p:sp>
        <p:nvSpPr>
          <p:cNvPr id="19" name="rule-douro-3-support">
            <a:extLst>
              <a:ext uri="{FF2B5EF4-FFF2-40B4-BE49-F238E27FC236}">
                <a16:creationId xmlns:a16="http://schemas.microsoft.com/office/drawing/2014/main" id="{52EB5F2F-8DDE-41DA-8315-A078CEE0AA96}"/>
              </a:ext>
            </a:extLst>
          </p:cNvPr>
          <p:cNvSpPr>
            <a:spLocks noGrp="1"/>
          </p:cNvSpPr>
          <p:nvPr/>
        </p:nvSpPr>
        <p:spPr>
          <a:xfrm>
            <a:off x="1076325" y="38372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25.8% support · p=0.0089</a:t>
            </a:r>
          </a:p>
        </p:txBody>
      </p:sp>
      <p:sp>
        <p:nvSpPr>
          <p:cNvPr id="20" name="rule-douro-4-rank">
            <a:extLst>
              <a:ext uri="{FF2B5EF4-FFF2-40B4-BE49-F238E27FC236}">
                <a16:creationId xmlns:a16="http://schemas.microsoft.com/office/drawing/2014/main" id="{DE76DB4C-BA55-4BB0-9737-CAA4D7BA2841}"/>
              </a:ext>
            </a:extLst>
          </p:cNvPr>
          <p:cNvSpPr>
            <a:spLocks noGrp="1"/>
          </p:cNvSpPr>
          <p:nvPr/>
        </p:nvSpPr>
        <p:spPr>
          <a:xfrm>
            <a:off x="714375" y="40658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rule-douro-4-pattern">
            <a:extLst>
              <a:ext uri="{FF2B5EF4-FFF2-40B4-BE49-F238E27FC236}">
                <a16:creationId xmlns:a16="http://schemas.microsoft.com/office/drawing/2014/main" id="{C449AB7D-C8C5-40C8-83FF-33A99F574C14}"/>
              </a:ext>
            </a:extLst>
          </p:cNvPr>
          <p:cNvSpPr>
            <a:spLocks noGrp="1"/>
          </p:cNvSpPr>
          <p:nvPr/>
        </p:nvSpPr>
        <p:spPr>
          <a:xfrm>
            <a:off x="1076325" y="40277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Harvest water + carry-over dryness</a:t>
            </a:r>
          </a:p>
        </p:txBody>
      </p:sp>
      <p:sp>
        <p:nvSpPr>
          <p:cNvPr id="22" name="rule-douro-4-delta">
            <a:extLst>
              <a:ext uri="{FF2B5EF4-FFF2-40B4-BE49-F238E27FC236}">
                <a16:creationId xmlns:a16="http://schemas.microsoft.com/office/drawing/2014/main" id="{F9C4DCB7-D20F-4830-8BB0-2A0415B56461}"/>
              </a:ext>
            </a:extLst>
          </p:cNvPr>
          <p:cNvSpPr>
            <a:spLocks noGrp="1"/>
          </p:cNvSpPr>
          <p:nvPr/>
        </p:nvSpPr>
        <p:spPr>
          <a:xfrm>
            <a:off x="4314825" y="40372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+192 mhl</a:t>
            </a:r>
          </a:p>
        </p:txBody>
      </p:sp>
      <p:sp>
        <p:nvSpPr>
          <p:cNvPr id="23" name="rule-douro-4-support">
            <a:extLst>
              <a:ext uri="{FF2B5EF4-FFF2-40B4-BE49-F238E27FC236}">
                <a16:creationId xmlns:a16="http://schemas.microsoft.com/office/drawing/2014/main" id="{C121A40C-07E9-462B-B526-F3EDEBD3F21B}"/>
              </a:ext>
            </a:extLst>
          </p:cNvPr>
          <p:cNvSpPr>
            <a:spLocks noGrp="1"/>
          </p:cNvSpPr>
          <p:nvPr/>
        </p:nvSpPr>
        <p:spPr>
          <a:xfrm>
            <a:off x="1076325" y="42563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21.3% support · p=0.0095</a:t>
            </a:r>
          </a:p>
        </p:txBody>
      </p:sp>
      <p:sp>
        <p:nvSpPr>
          <p:cNvPr id="24" name="rule-douro-5-rank">
            <a:extLst>
              <a:ext uri="{FF2B5EF4-FFF2-40B4-BE49-F238E27FC236}">
                <a16:creationId xmlns:a16="http://schemas.microsoft.com/office/drawing/2014/main" id="{49D74733-37B0-420C-8729-01C160AAC178}"/>
              </a:ext>
            </a:extLst>
          </p:cNvPr>
          <p:cNvSpPr>
            <a:spLocks noGrp="1"/>
          </p:cNvSpPr>
          <p:nvPr/>
        </p:nvSpPr>
        <p:spPr>
          <a:xfrm>
            <a:off x="714375" y="44849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rule-douro-5-pattern">
            <a:extLst>
              <a:ext uri="{FF2B5EF4-FFF2-40B4-BE49-F238E27FC236}">
                <a16:creationId xmlns:a16="http://schemas.microsoft.com/office/drawing/2014/main" id="{C8E3B63F-C73E-4788-929A-032DCC57F794}"/>
              </a:ext>
            </a:extLst>
          </p:cNvPr>
          <p:cNvSpPr>
            <a:spLocks noGrp="1"/>
          </p:cNvSpPr>
          <p:nvPr/>
        </p:nvSpPr>
        <p:spPr>
          <a:xfrm>
            <a:off x="1076325" y="44468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flowering + bounded heat</a:t>
            </a:r>
          </a:p>
        </p:txBody>
      </p:sp>
      <p:sp>
        <p:nvSpPr>
          <p:cNvPr id="26" name="rule-douro-5-delta">
            <a:extLst>
              <a:ext uri="{FF2B5EF4-FFF2-40B4-BE49-F238E27FC236}">
                <a16:creationId xmlns:a16="http://schemas.microsoft.com/office/drawing/2014/main" id="{42274413-F26D-4849-976D-26C270D2A655}"/>
              </a:ext>
            </a:extLst>
          </p:cNvPr>
          <p:cNvSpPr>
            <a:spLocks noGrp="1"/>
          </p:cNvSpPr>
          <p:nvPr/>
        </p:nvSpPr>
        <p:spPr>
          <a:xfrm>
            <a:off x="4314825" y="44563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+115 mhl</a:t>
            </a:r>
          </a:p>
        </p:txBody>
      </p:sp>
      <p:sp>
        <p:nvSpPr>
          <p:cNvPr id="27" name="rule-douro-5-support">
            <a:extLst>
              <a:ext uri="{FF2B5EF4-FFF2-40B4-BE49-F238E27FC236}">
                <a16:creationId xmlns:a16="http://schemas.microsoft.com/office/drawing/2014/main" id="{71C78432-7F79-4E12-BE6A-133365A5EE81}"/>
              </a:ext>
            </a:extLst>
          </p:cNvPr>
          <p:cNvSpPr>
            <a:spLocks noGrp="1"/>
          </p:cNvSpPr>
          <p:nvPr/>
        </p:nvSpPr>
        <p:spPr>
          <a:xfrm>
            <a:off x="1076325" y="46754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24.7% support · p=0.0110</a:t>
            </a:r>
          </a:p>
        </p:txBody>
      </p:sp>
      <p:sp>
        <p:nvSpPr>
          <p:cNvPr id="28" name="rvv-label">
            <a:extLst>
              <a:ext uri="{FF2B5EF4-FFF2-40B4-BE49-F238E27FC236}">
                <a16:creationId xmlns:a16="http://schemas.microsoft.com/office/drawing/2014/main" id="{2F1552A8-347D-481A-B089-9A9E082A767C}"/>
              </a:ext>
            </a:extLst>
          </p:cNvPr>
          <p:cNvSpPr>
            <a:spLocks noGrp="1"/>
          </p:cNvSpPr>
          <p:nvPr/>
        </p:nvSpPr>
        <p:spPr>
          <a:xfrm>
            <a:off x="6305550" y="182929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VINHO VERDE · top 5 CarenR rules</a:t>
            </a:r>
          </a:p>
        </p:txBody>
      </p:sp>
      <p:sp>
        <p:nvSpPr>
          <p:cNvPr id="29" name="rvv-summary">
            <a:extLst>
              <a:ext uri="{FF2B5EF4-FFF2-40B4-BE49-F238E27FC236}">
                <a16:creationId xmlns:a16="http://schemas.microsoft.com/office/drawing/2014/main" id="{82782C39-0358-4435-8058-3C41B3311F09}"/>
              </a:ext>
            </a:extLst>
          </p:cNvPr>
          <p:cNvSpPr>
            <a:spLocks noGrp="1"/>
          </p:cNvSpPr>
          <p:nvPr/>
        </p:nvSpPr>
        <p:spPr>
          <a:xfrm>
            <a:off x="6619875" y="2237015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of 5 are below-trend: cool, moist conditions dominate the Atlantic region.</a:t>
            </a:r>
          </a:p>
        </p:txBody>
      </p:sp>
      <p:sp>
        <p:nvSpPr>
          <p:cNvPr id="30" name="rule-rvv-1-rank">
            <a:extLst>
              <a:ext uri="{FF2B5EF4-FFF2-40B4-BE49-F238E27FC236}">
                <a16:creationId xmlns:a16="http://schemas.microsoft.com/office/drawing/2014/main" id="{3BCE3140-0718-44A2-9391-55465FD76E5A}"/>
              </a:ext>
            </a:extLst>
          </p:cNvPr>
          <p:cNvSpPr>
            <a:spLocks noGrp="1"/>
          </p:cNvSpPr>
          <p:nvPr/>
        </p:nvSpPr>
        <p:spPr>
          <a:xfrm>
            <a:off x="6619875" y="28085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rule-rvv-1-pattern">
            <a:extLst>
              <a:ext uri="{FF2B5EF4-FFF2-40B4-BE49-F238E27FC236}">
                <a16:creationId xmlns:a16="http://schemas.microsoft.com/office/drawing/2014/main" id="{AC8B2939-682F-4026-8C9A-F568819FE41A}"/>
              </a:ext>
            </a:extLst>
          </p:cNvPr>
          <p:cNvSpPr>
            <a:spLocks noGrp="1"/>
          </p:cNvSpPr>
          <p:nvPr/>
        </p:nvSpPr>
        <p:spPr>
          <a:xfrm>
            <a:off x="6981825" y="27704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Moist harvest + no heat stress</a:t>
            </a:r>
          </a:p>
        </p:txBody>
      </p:sp>
      <p:sp>
        <p:nvSpPr>
          <p:cNvPr id="32" name="rule-rvv-1-delta">
            <a:extLst>
              <a:ext uri="{FF2B5EF4-FFF2-40B4-BE49-F238E27FC236}">
                <a16:creationId xmlns:a16="http://schemas.microsoft.com/office/drawing/2014/main" id="{AECDF222-280F-462E-AE28-34B618414F5A}"/>
              </a:ext>
            </a:extLst>
          </p:cNvPr>
          <p:cNvSpPr>
            <a:spLocks noGrp="1"/>
          </p:cNvSpPr>
          <p:nvPr/>
        </p:nvSpPr>
        <p:spPr>
          <a:xfrm>
            <a:off x="10220325" y="27799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-338 mhl</a:t>
            </a:r>
          </a:p>
        </p:txBody>
      </p:sp>
      <p:sp>
        <p:nvSpPr>
          <p:cNvPr id="33" name="rule-rvv-1-support">
            <a:extLst>
              <a:ext uri="{FF2B5EF4-FFF2-40B4-BE49-F238E27FC236}">
                <a16:creationId xmlns:a16="http://schemas.microsoft.com/office/drawing/2014/main" id="{6AA05EBD-8F11-4265-AEC8-64E1622BDE37}"/>
              </a:ext>
            </a:extLst>
          </p:cNvPr>
          <p:cNvSpPr>
            <a:spLocks noGrp="1"/>
          </p:cNvSpPr>
          <p:nvPr/>
        </p:nvSpPr>
        <p:spPr>
          <a:xfrm>
            <a:off x="6981825" y="29990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21.2% support · p=0.0198</a:t>
            </a:r>
          </a:p>
        </p:txBody>
      </p:sp>
      <p:sp>
        <p:nvSpPr>
          <p:cNvPr id="34" name="rule-rvv-2-rank">
            <a:extLst>
              <a:ext uri="{FF2B5EF4-FFF2-40B4-BE49-F238E27FC236}">
                <a16:creationId xmlns:a16="http://schemas.microsoft.com/office/drawing/2014/main" id="{738E64DC-DFC6-4CB7-85B8-1C02D584C72F}"/>
              </a:ext>
            </a:extLst>
          </p:cNvPr>
          <p:cNvSpPr>
            <a:spLocks noGrp="1"/>
          </p:cNvSpPr>
          <p:nvPr/>
        </p:nvSpPr>
        <p:spPr>
          <a:xfrm>
            <a:off x="6619875" y="32276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5" name="rule-rvv-2-pattern">
            <a:extLst>
              <a:ext uri="{FF2B5EF4-FFF2-40B4-BE49-F238E27FC236}">
                <a16:creationId xmlns:a16="http://schemas.microsoft.com/office/drawing/2014/main" id="{8444DC70-ED85-455B-813A-27A64FF0D9FB}"/>
              </a:ext>
            </a:extLst>
          </p:cNvPr>
          <p:cNvSpPr>
            <a:spLocks noGrp="1"/>
          </p:cNvSpPr>
          <p:nvPr/>
        </p:nvSpPr>
        <p:spPr>
          <a:xfrm>
            <a:off x="6981825" y="31895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Cool flowering + prior soil saturation</a:t>
            </a:r>
          </a:p>
        </p:txBody>
      </p:sp>
      <p:sp>
        <p:nvSpPr>
          <p:cNvPr id="36" name="rule-rvv-2-delta">
            <a:extLst>
              <a:ext uri="{FF2B5EF4-FFF2-40B4-BE49-F238E27FC236}">
                <a16:creationId xmlns:a16="http://schemas.microsoft.com/office/drawing/2014/main" id="{76A3BD4A-EA20-42AE-8A16-A83432A04D26}"/>
              </a:ext>
            </a:extLst>
          </p:cNvPr>
          <p:cNvSpPr>
            <a:spLocks noGrp="1"/>
          </p:cNvSpPr>
          <p:nvPr/>
        </p:nvSpPr>
        <p:spPr>
          <a:xfrm>
            <a:off x="10220325" y="31990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-268 mhl</a:t>
            </a:r>
          </a:p>
        </p:txBody>
      </p:sp>
      <p:sp>
        <p:nvSpPr>
          <p:cNvPr id="37" name="rule-rvv-2-support">
            <a:extLst>
              <a:ext uri="{FF2B5EF4-FFF2-40B4-BE49-F238E27FC236}">
                <a16:creationId xmlns:a16="http://schemas.microsoft.com/office/drawing/2014/main" id="{1839A862-962D-43A2-AB77-AFC2EF3B472A}"/>
              </a:ext>
            </a:extLst>
          </p:cNvPr>
          <p:cNvSpPr>
            <a:spLocks noGrp="1"/>
          </p:cNvSpPr>
          <p:nvPr/>
        </p:nvSpPr>
        <p:spPr>
          <a:xfrm>
            <a:off x="6981825" y="34181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21.2% support · p=0.0216</a:t>
            </a:r>
          </a:p>
        </p:txBody>
      </p:sp>
      <p:sp>
        <p:nvSpPr>
          <p:cNvPr id="38" name="rule-rvv-3-rank">
            <a:extLst>
              <a:ext uri="{FF2B5EF4-FFF2-40B4-BE49-F238E27FC236}">
                <a16:creationId xmlns:a16="http://schemas.microsoft.com/office/drawing/2014/main" id="{BC23706C-D096-49B9-BF6E-2D667716A79D}"/>
              </a:ext>
            </a:extLst>
          </p:cNvPr>
          <p:cNvSpPr>
            <a:spLocks noGrp="1"/>
          </p:cNvSpPr>
          <p:nvPr/>
        </p:nvSpPr>
        <p:spPr>
          <a:xfrm>
            <a:off x="6619875" y="36467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9" name="rule-rvv-3-pattern">
            <a:extLst>
              <a:ext uri="{FF2B5EF4-FFF2-40B4-BE49-F238E27FC236}">
                <a16:creationId xmlns:a16="http://schemas.microsoft.com/office/drawing/2014/main" id="{03703D47-8B79-4A74-A005-5D985A06D48C}"/>
              </a:ext>
            </a:extLst>
          </p:cNvPr>
          <p:cNvSpPr>
            <a:spLocks noGrp="1"/>
          </p:cNvSpPr>
          <p:nvPr/>
        </p:nvSpPr>
        <p:spPr>
          <a:xfrm>
            <a:off x="6981825" y="36086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Moist post-flowering + low heat</a:t>
            </a:r>
          </a:p>
        </p:txBody>
      </p:sp>
      <p:sp>
        <p:nvSpPr>
          <p:cNvPr id="40" name="rule-rvv-3-delta">
            <a:extLst>
              <a:ext uri="{FF2B5EF4-FFF2-40B4-BE49-F238E27FC236}">
                <a16:creationId xmlns:a16="http://schemas.microsoft.com/office/drawing/2014/main" id="{9E81AC55-F369-464A-B839-6D05261A07F8}"/>
              </a:ext>
            </a:extLst>
          </p:cNvPr>
          <p:cNvSpPr>
            <a:spLocks noGrp="1"/>
          </p:cNvSpPr>
          <p:nvPr/>
        </p:nvSpPr>
        <p:spPr>
          <a:xfrm>
            <a:off x="10220325" y="36181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-365 mhl</a:t>
            </a:r>
          </a:p>
        </p:txBody>
      </p:sp>
      <p:sp>
        <p:nvSpPr>
          <p:cNvPr id="41" name="rule-rvv-3-support">
            <a:extLst>
              <a:ext uri="{FF2B5EF4-FFF2-40B4-BE49-F238E27FC236}">
                <a16:creationId xmlns:a16="http://schemas.microsoft.com/office/drawing/2014/main" id="{43ABB15C-4475-4CB9-AC06-320D871F3853}"/>
              </a:ext>
            </a:extLst>
          </p:cNvPr>
          <p:cNvSpPr>
            <a:spLocks noGrp="1"/>
          </p:cNvSpPr>
          <p:nvPr/>
        </p:nvSpPr>
        <p:spPr>
          <a:xfrm>
            <a:off x="6981825" y="38372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27.5% support · p=0.0294</a:t>
            </a:r>
          </a:p>
        </p:txBody>
      </p:sp>
      <p:sp>
        <p:nvSpPr>
          <p:cNvPr id="42" name="rule-rvv-4-rank">
            <a:extLst>
              <a:ext uri="{FF2B5EF4-FFF2-40B4-BE49-F238E27FC236}">
                <a16:creationId xmlns:a16="http://schemas.microsoft.com/office/drawing/2014/main" id="{7375654A-DC75-4FD7-8413-22DDF5606C78}"/>
              </a:ext>
            </a:extLst>
          </p:cNvPr>
          <p:cNvSpPr>
            <a:spLocks noGrp="1"/>
          </p:cNvSpPr>
          <p:nvPr/>
        </p:nvSpPr>
        <p:spPr>
          <a:xfrm>
            <a:off x="6619875" y="40658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rule-rvv-4-pattern">
            <a:extLst>
              <a:ext uri="{FF2B5EF4-FFF2-40B4-BE49-F238E27FC236}">
                <a16:creationId xmlns:a16="http://schemas.microsoft.com/office/drawing/2014/main" id="{F0703326-34FD-4E0C-945A-3E0C98EC6E20}"/>
              </a:ext>
            </a:extLst>
          </p:cNvPr>
          <p:cNvSpPr>
            <a:spLocks noGrp="1"/>
          </p:cNvSpPr>
          <p:nvPr/>
        </p:nvSpPr>
        <p:spPr>
          <a:xfrm>
            <a:off x="6981825" y="40277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Warm prior budburst + mild flowering</a:t>
            </a:r>
          </a:p>
        </p:txBody>
      </p:sp>
      <p:sp>
        <p:nvSpPr>
          <p:cNvPr id="44" name="rule-rvv-4-delta">
            <a:extLst>
              <a:ext uri="{FF2B5EF4-FFF2-40B4-BE49-F238E27FC236}">
                <a16:creationId xmlns:a16="http://schemas.microsoft.com/office/drawing/2014/main" id="{7FBDE785-9B3A-4AF6-8BB7-62F653682300}"/>
              </a:ext>
            </a:extLst>
          </p:cNvPr>
          <p:cNvSpPr>
            <a:spLocks noGrp="1"/>
          </p:cNvSpPr>
          <p:nvPr/>
        </p:nvSpPr>
        <p:spPr>
          <a:xfrm>
            <a:off x="10220325" y="40372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+311 mhl</a:t>
            </a:r>
          </a:p>
        </p:txBody>
      </p:sp>
      <p:sp>
        <p:nvSpPr>
          <p:cNvPr id="45" name="rule-rvv-4-support">
            <a:extLst>
              <a:ext uri="{FF2B5EF4-FFF2-40B4-BE49-F238E27FC236}">
                <a16:creationId xmlns:a16="http://schemas.microsoft.com/office/drawing/2014/main" id="{B8374B38-8FDB-4D74-86FF-CCA1FA2DAEFF}"/>
              </a:ext>
            </a:extLst>
          </p:cNvPr>
          <p:cNvSpPr>
            <a:spLocks noGrp="1"/>
          </p:cNvSpPr>
          <p:nvPr/>
        </p:nvSpPr>
        <p:spPr>
          <a:xfrm>
            <a:off x="6981825" y="42563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25.0% support · p=0.0298</a:t>
            </a:r>
          </a:p>
        </p:txBody>
      </p:sp>
      <p:sp>
        <p:nvSpPr>
          <p:cNvPr id="46" name="rule-rvv-5-rank">
            <a:extLst>
              <a:ext uri="{FF2B5EF4-FFF2-40B4-BE49-F238E27FC236}">
                <a16:creationId xmlns:a16="http://schemas.microsoft.com/office/drawing/2014/main" id="{254E947A-560F-4CF9-A71D-7350BAE8F025}"/>
              </a:ext>
            </a:extLst>
          </p:cNvPr>
          <p:cNvSpPr>
            <a:spLocks noGrp="1"/>
          </p:cNvSpPr>
          <p:nvPr/>
        </p:nvSpPr>
        <p:spPr>
          <a:xfrm>
            <a:off x="6619875" y="44849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7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7" name="rule-rvv-5-pattern">
            <a:extLst>
              <a:ext uri="{FF2B5EF4-FFF2-40B4-BE49-F238E27FC236}">
                <a16:creationId xmlns:a16="http://schemas.microsoft.com/office/drawing/2014/main" id="{E448A1AD-71F7-4D75-8D6D-6ADBACFDC21F}"/>
              </a:ext>
            </a:extLst>
          </p:cNvPr>
          <p:cNvSpPr>
            <a:spLocks noGrp="1"/>
          </p:cNvSpPr>
          <p:nvPr/>
        </p:nvSpPr>
        <p:spPr>
          <a:xfrm>
            <a:off x="6981825" y="444681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163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Cool post-flowering + wet carry-over</a:t>
            </a:r>
          </a:p>
        </p:txBody>
      </p:sp>
      <p:sp>
        <p:nvSpPr>
          <p:cNvPr id="48" name="rule-rvv-5-delta">
            <a:extLst>
              <a:ext uri="{FF2B5EF4-FFF2-40B4-BE49-F238E27FC236}">
                <a16:creationId xmlns:a16="http://schemas.microsoft.com/office/drawing/2014/main" id="{E15D61DB-9A5A-4AA1-ADD4-7483AE220458}"/>
              </a:ext>
            </a:extLst>
          </p:cNvPr>
          <p:cNvSpPr>
            <a:spLocks noGrp="1"/>
          </p:cNvSpPr>
          <p:nvPr/>
        </p:nvSpPr>
        <p:spPr>
          <a:xfrm>
            <a:off x="10220325" y="445634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-292 mhl</a:t>
            </a:r>
          </a:p>
        </p:txBody>
      </p:sp>
      <p:sp>
        <p:nvSpPr>
          <p:cNvPr id="49" name="rule-rvv-5-support">
            <a:extLst>
              <a:ext uri="{FF2B5EF4-FFF2-40B4-BE49-F238E27FC236}">
                <a16:creationId xmlns:a16="http://schemas.microsoft.com/office/drawing/2014/main" id="{4C8426F4-53AD-4FFF-9552-78ABA5ADDFEC}"/>
              </a:ext>
            </a:extLst>
          </p:cNvPr>
          <p:cNvSpPr>
            <a:spLocks noGrp="1"/>
          </p:cNvSpPr>
          <p:nvPr/>
        </p:nvSpPr>
        <p:spPr>
          <a:xfrm>
            <a:off x="6981825" y="4675415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88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23.8% support · p=0.0299</a:t>
            </a:r>
          </a:p>
        </p:txBody>
      </p:sp>
      <p:sp>
        <p:nvSpPr>
          <p:cNvPr id="50" name="finding-band">
            <a:extLst>
              <a:ext uri="{FF2B5EF4-FFF2-40B4-BE49-F238E27FC236}">
                <a16:creationId xmlns:a16="http://schemas.microsoft.com/office/drawing/2014/main" id="{1C3A083A-E546-4493-B335-10679EDF5198}"/>
              </a:ext>
            </a:extLst>
          </p:cNvPr>
          <p:cNvSpPr>
            <a:spLocks noGrp="1"/>
          </p:cNvSpPr>
          <p:nvPr/>
        </p:nvSpPr>
        <p:spPr>
          <a:xfrm>
            <a:off x="400050" y="5286527"/>
            <a:ext cx="11382375" cy="838200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1" name="finding-label">
            <a:extLst>
              <a:ext uri="{FF2B5EF4-FFF2-40B4-BE49-F238E27FC236}">
                <a16:creationId xmlns:a16="http://schemas.microsoft.com/office/drawing/2014/main" id="{D9F203B8-1FF5-4513-B24D-F012E26663F0}"/>
              </a:ext>
            </a:extLst>
          </p:cNvPr>
          <p:cNvSpPr>
            <a:spLocks noGrp="1"/>
          </p:cNvSpPr>
          <p:nvPr/>
        </p:nvSpPr>
        <p:spPr>
          <a:xfrm>
            <a:off x="550417" y="5548946"/>
            <a:ext cx="2610706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Cross-algorithm finding</a:t>
            </a:r>
          </a:p>
        </p:txBody>
      </p:sp>
      <p:sp>
        <p:nvSpPr>
          <p:cNvPr id="52" name="finding-main">
            <a:extLst>
              <a:ext uri="{FF2B5EF4-FFF2-40B4-BE49-F238E27FC236}">
                <a16:creationId xmlns:a16="http://schemas.microsoft.com/office/drawing/2014/main" id="{35900B4E-D9F9-4FB9-A88C-0B4F32F146D5}"/>
              </a:ext>
            </a:extLst>
          </p:cNvPr>
          <p:cNvSpPr>
            <a:spLocks noGrp="1"/>
          </p:cNvSpPr>
          <p:nvPr/>
        </p:nvSpPr>
        <p:spPr>
          <a:xfrm>
            <a:off x="2952750" y="5386667"/>
            <a:ext cx="814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5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Across methods: </a:t>
            </a:r>
            <a:r>
              <a:rPr lang="en-GB" sz="1650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harvest soil water and LAI/canopy survive.</a:t>
            </a:r>
          </a:p>
        </p:txBody>
      </p:sp>
      <p:sp>
        <p:nvSpPr>
          <p:cNvPr id="53" name="finding-sub">
            <a:extLst>
              <a:ext uri="{FF2B5EF4-FFF2-40B4-BE49-F238E27FC236}">
                <a16:creationId xmlns:a16="http://schemas.microsoft.com/office/drawing/2014/main" id="{AD1D53EE-DDC3-4E95-8F09-D56532736205}"/>
              </a:ext>
            </a:extLst>
          </p:cNvPr>
          <p:cNvSpPr>
            <a:spLocks noGrp="1"/>
          </p:cNvSpPr>
          <p:nvPr/>
        </p:nvSpPr>
        <p:spPr>
          <a:xfrm>
            <a:off x="2579670" y="5789088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1013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CarenR, RIPPER and M5Rules all select them, so the signal is not tied to one optimization criterion.</a:t>
            </a:r>
          </a:p>
        </p:txBody>
      </p:sp>
      <p:sp>
        <p:nvSpPr>
          <p:cNvPr id="55" name="slide-number">
            <a:extLst>
              <a:ext uri="{FF2B5EF4-FFF2-40B4-BE49-F238E27FC236}">
                <a16:creationId xmlns:a16="http://schemas.microsoft.com/office/drawing/2014/main" id="{3EAB9F83-A019-4CC3-B7E0-33987C3A751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5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717042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AA3E5C72-18C4-4820-A946-3AFADD1B9D8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RESULTS · RULES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235780E-12D0-4C1A-A029-A99CA3019A2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262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strongest CarenR rules point to water and canopy structure</a:t>
            </a:r>
          </a:p>
        </p:txBody>
      </p:sp>
      <p:sp>
        <p:nvSpPr>
          <p:cNvPr id="4" name="douro-panel">
            <a:extLst>
              <a:ext uri="{FF2B5EF4-FFF2-40B4-BE49-F238E27FC236}">
                <a16:creationId xmlns:a16="http://schemas.microsoft.com/office/drawing/2014/main" id="{DB3A9BFA-81C6-4691-9368-F9F7C131BC49}"/>
              </a:ext>
            </a:extLst>
          </p:cNvPr>
          <p:cNvSpPr>
            <a:spLocks noGrp="1"/>
          </p:cNvSpPr>
          <p:nvPr/>
        </p:nvSpPr>
        <p:spPr>
          <a:xfrm>
            <a:off x="447675" y="2996971"/>
            <a:ext cx="5476875" cy="3476625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vv-panel">
            <a:extLst>
              <a:ext uri="{FF2B5EF4-FFF2-40B4-BE49-F238E27FC236}">
                <a16:creationId xmlns:a16="http://schemas.microsoft.com/office/drawing/2014/main" id="{5F21EEA4-8328-44C4-BCCB-EDEE6BE775BF}"/>
              </a:ext>
            </a:extLst>
          </p:cNvPr>
          <p:cNvSpPr>
            <a:spLocks noGrp="1"/>
          </p:cNvSpPr>
          <p:nvPr/>
        </p:nvSpPr>
        <p:spPr>
          <a:xfrm>
            <a:off x="6353175" y="2996971"/>
            <a:ext cx="5476875" cy="3476625"/>
          </a:xfrm>
          <a:prstGeom prst="rect">
            <a:avLst/>
          </a:prstGeom>
          <a:solidFill>
            <a:srgbClr val="F7EAF0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" name="douro-label">
            <a:extLst>
              <a:ext uri="{FF2B5EF4-FFF2-40B4-BE49-F238E27FC236}">
                <a16:creationId xmlns:a16="http://schemas.microsoft.com/office/drawing/2014/main" id="{25377249-CE38-488A-B5C9-0BA00F376236}"/>
              </a:ext>
            </a:extLst>
          </p:cNvPr>
          <p:cNvSpPr>
            <a:spLocks noGrp="1"/>
          </p:cNvSpPr>
          <p:nvPr/>
        </p:nvSpPr>
        <p:spPr>
          <a:xfrm>
            <a:off x="762000" y="3273196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2B6F9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2B6F9A"/>
                </a:solidFill>
                <a:latin typeface="Arial"/>
                <a:ea typeface="Arial"/>
                <a:cs typeface="Arial"/>
              </a:rPr>
              <a:t>DOURO · top 5 CarenR rules</a:t>
            </a:r>
          </a:p>
        </p:txBody>
      </p:sp>
      <p:sp>
        <p:nvSpPr>
          <p:cNvPr id="7" name="douro-summary">
            <a:extLst>
              <a:ext uri="{FF2B5EF4-FFF2-40B4-BE49-F238E27FC236}">
                <a16:creationId xmlns:a16="http://schemas.microsoft.com/office/drawing/2014/main" id="{B0EE3D9C-DDB3-406D-9D3B-939E14A1EB8A}"/>
              </a:ext>
            </a:extLst>
          </p:cNvPr>
          <p:cNvSpPr>
            <a:spLocks noGrp="1"/>
          </p:cNvSpPr>
          <p:nvPr/>
        </p:nvSpPr>
        <p:spPr>
          <a:xfrm>
            <a:off x="762000" y="3029554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of 5 are above-trend: dry flowering and bounded heat define good years.</a:t>
            </a:r>
          </a:p>
        </p:txBody>
      </p:sp>
      <p:sp>
        <p:nvSpPr>
          <p:cNvPr id="8" name="rule-douro-1-rank">
            <a:extLst>
              <a:ext uri="{FF2B5EF4-FFF2-40B4-BE49-F238E27FC236}">
                <a16:creationId xmlns:a16="http://schemas.microsoft.com/office/drawing/2014/main" id="{112D12CD-BA90-42C9-88B7-1E895D2F2C81}"/>
              </a:ext>
            </a:extLst>
          </p:cNvPr>
          <p:cNvSpPr>
            <a:spLocks noGrp="1"/>
          </p:cNvSpPr>
          <p:nvPr/>
        </p:nvSpPr>
        <p:spPr>
          <a:xfrm>
            <a:off x="762000" y="3482303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ule-douro-1-pattern">
            <a:extLst>
              <a:ext uri="{FF2B5EF4-FFF2-40B4-BE49-F238E27FC236}">
                <a16:creationId xmlns:a16="http://schemas.microsoft.com/office/drawing/2014/main" id="{55214A11-6F83-415F-8DA9-B3080B6E33DA}"/>
              </a:ext>
            </a:extLst>
          </p:cNvPr>
          <p:cNvSpPr>
            <a:spLocks noGrp="1"/>
          </p:cNvSpPr>
          <p:nvPr/>
        </p:nvSpPr>
        <p:spPr>
          <a:xfrm>
            <a:off x="1123950" y="3444203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flowering + dry maturity</a:t>
            </a:r>
          </a:p>
        </p:txBody>
      </p:sp>
      <p:sp>
        <p:nvSpPr>
          <p:cNvPr id="10" name="rule-douro-1-delta">
            <a:extLst>
              <a:ext uri="{FF2B5EF4-FFF2-40B4-BE49-F238E27FC236}">
                <a16:creationId xmlns:a16="http://schemas.microsoft.com/office/drawing/2014/main" id="{DFDE73BD-FA63-4BAF-B9DC-3411C9E99A24}"/>
              </a:ext>
            </a:extLst>
          </p:cNvPr>
          <p:cNvSpPr>
            <a:spLocks noGrp="1"/>
          </p:cNvSpPr>
          <p:nvPr/>
        </p:nvSpPr>
        <p:spPr>
          <a:xfrm>
            <a:off x="4362450" y="3453728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+121 mhl</a:t>
            </a:r>
          </a:p>
        </p:txBody>
      </p:sp>
      <p:sp>
        <p:nvSpPr>
          <p:cNvPr id="11" name="rule-douro-1-support">
            <a:extLst>
              <a:ext uri="{FF2B5EF4-FFF2-40B4-BE49-F238E27FC236}">
                <a16:creationId xmlns:a16="http://schemas.microsoft.com/office/drawing/2014/main" id="{196B7EFD-1B7D-43F6-A653-19032DEE096D}"/>
              </a:ext>
            </a:extLst>
          </p:cNvPr>
          <p:cNvSpPr>
            <a:spLocks noGrp="1"/>
          </p:cNvSpPr>
          <p:nvPr/>
        </p:nvSpPr>
        <p:spPr>
          <a:xfrm>
            <a:off x="1123950" y="3672803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28.1% support · p=0.0043</a:t>
            </a:r>
          </a:p>
        </p:txBody>
      </p:sp>
      <p:sp>
        <p:nvSpPr>
          <p:cNvPr id="12" name="rule-douro-2-rank">
            <a:extLst>
              <a:ext uri="{FF2B5EF4-FFF2-40B4-BE49-F238E27FC236}">
                <a16:creationId xmlns:a16="http://schemas.microsoft.com/office/drawing/2014/main" id="{4A24E729-C905-4488-911C-CF23826CA50C}"/>
              </a:ext>
            </a:extLst>
          </p:cNvPr>
          <p:cNvSpPr>
            <a:spLocks noGrp="1"/>
          </p:cNvSpPr>
          <p:nvPr/>
        </p:nvSpPr>
        <p:spPr>
          <a:xfrm>
            <a:off x="762000" y="3901403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ule-douro-2-pattern">
            <a:extLst>
              <a:ext uri="{FF2B5EF4-FFF2-40B4-BE49-F238E27FC236}">
                <a16:creationId xmlns:a16="http://schemas.microsoft.com/office/drawing/2014/main" id="{1AB09955-D902-451F-8068-D37DC71E7A90}"/>
              </a:ext>
            </a:extLst>
          </p:cNvPr>
          <p:cNvSpPr>
            <a:spLocks noGrp="1"/>
          </p:cNvSpPr>
          <p:nvPr/>
        </p:nvSpPr>
        <p:spPr>
          <a:xfrm>
            <a:off x="1123950" y="3863303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 LAI + wet flowering</a:t>
            </a:r>
          </a:p>
        </p:txBody>
      </p:sp>
      <p:sp>
        <p:nvSpPr>
          <p:cNvPr id="14" name="rule-douro-2-delta">
            <a:extLst>
              <a:ext uri="{FF2B5EF4-FFF2-40B4-BE49-F238E27FC236}">
                <a16:creationId xmlns:a16="http://schemas.microsoft.com/office/drawing/2014/main" id="{6E7B2FF2-119F-4F33-BFA5-AE072BABE6E6}"/>
              </a:ext>
            </a:extLst>
          </p:cNvPr>
          <p:cNvSpPr>
            <a:spLocks noGrp="1"/>
          </p:cNvSpPr>
          <p:nvPr/>
        </p:nvSpPr>
        <p:spPr>
          <a:xfrm>
            <a:off x="4362450" y="3872828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-131 mhl</a:t>
            </a:r>
          </a:p>
        </p:txBody>
      </p:sp>
      <p:sp>
        <p:nvSpPr>
          <p:cNvPr id="15" name="rule-douro-2-support">
            <a:extLst>
              <a:ext uri="{FF2B5EF4-FFF2-40B4-BE49-F238E27FC236}">
                <a16:creationId xmlns:a16="http://schemas.microsoft.com/office/drawing/2014/main" id="{0B1B3A52-047D-4C39-A204-8601FE2E4945}"/>
              </a:ext>
            </a:extLst>
          </p:cNvPr>
          <p:cNvSpPr>
            <a:spLocks noGrp="1"/>
          </p:cNvSpPr>
          <p:nvPr/>
        </p:nvSpPr>
        <p:spPr>
          <a:xfrm>
            <a:off x="1123950" y="4091903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20.2% support · p=0.0084</a:t>
            </a:r>
          </a:p>
        </p:txBody>
      </p:sp>
      <p:sp>
        <p:nvSpPr>
          <p:cNvPr id="16" name="rule-douro-3-rank">
            <a:extLst>
              <a:ext uri="{FF2B5EF4-FFF2-40B4-BE49-F238E27FC236}">
                <a16:creationId xmlns:a16="http://schemas.microsoft.com/office/drawing/2014/main" id="{5019C0E2-BF17-4050-A65B-77E6958920F4}"/>
              </a:ext>
            </a:extLst>
          </p:cNvPr>
          <p:cNvSpPr>
            <a:spLocks noGrp="1"/>
          </p:cNvSpPr>
          <p:nvPr/>
        </p:nvSpPr>
        <p:spPr>
          <a:xfrm>
            <a:off x="762000" y="4320503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ule-douro-3-pattern">
            <a:extLst>
              <a:ext uri="{FF2B5EF4-FFF2-40B4-BE49-F238E27FC236}">
                <a16:creationId xmlns:a16="http://schemas.microsoft.com/office/drawing/2014/main" id="{09468597-E04A-42DB-9B94-D08BFF973430}"/>
              </a:ext>
            </a:extLst>
          </p:cNvPr>
          <p:cNvSpPr>
            <a:spLocks noGrp="1"/>
          </p:cNvSpPr>
          <p:nvPr/>
        </p:nvSpPr>
        <p:spPr>
          <a:xfrm>
            <a:off x="1123950" y="4282403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+ moderate heat after flowering</a:t>
            </a:r>
          </a:p>
        </p:txBody>
      </p:sp>
      <p:sp>
        <p:nvSpPr>
          <p:cNvPr id="18" name="rule-douro-3-delta">
            <a:extLst>
              <a:ext uri="{FF2B5EF4-FFF2-40B4-BE49-F238E27FC236}">
                <a16:creationId xmlns:a16="http://schemas.microsoft.com/office/drawing/2014/main" id="{4D2781A6-FD45-4BDD-96F8-F874F0309752}"/>
              </a:ext>
            </a:extLst>
          </p:cNvPr>
          <p:cNvSpPr>
            <a:spLocks noGrp="1"/>
          </p:cNvSpPr>
          <p:nvPr/>
        </p:nvSpPr>
        <p:spPr>
          <a:xfrm>
            <a:off x="4362450" y="4291928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+113 mhl</a:t>
            </a:r>
          </a:p>
        </p:txBody>
      </p:sp>
      <p:sp>
        <p:nvSpPr>
          <p:cNvPr id="19" name="rule-douro-3-support">
            <a:extLst>
              <a:ext uri="{FF2B5EF4-FFF2-40B4-BE49-F238E27FC236}">
                <a16:creationId xmlns:a16="http://schemas.microsoft.com/office/drawing/2014/main" id="{52EB5F2F-8DDE-41DA-8315-A078CEE0AA96}"/>
              </a:ext>
            </a:extLst>
          </p:cNvPr>
          <p:cNvSpPr>
            <a:spLocks noGrp="1"/>
          </p:cNvSpPr>
          <p:nvPr/>
        </p:nvSpPr>
        <p:spPr>
          <a:xfrm>
            <a:off x="1123950" y="4511003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25.8% support · p=0.0089</a:t>
            </a:r>
          </a:p>
        </p:txBody>
      </p:sp>
      <p:sp>
        <p:nvSpPr>
          <p:cNvPr id="20" name="rule-douro-4-rank">
            <a:extLst>
              <a:ext uri="{FF2B5EF4-FFF2-40B4-BE49-F238E27FC236}">
                <a16:creationId xmlns:a16="http://schemas.microsoft.com/office/drawing/2014/main" id="{DE76DB4C-BA55-4BB0-9737-CAA4D7BA2841}"/>
              </a:ext>
            </a:extLst>
          </p:cNvPr>
          <p:cNvSpPr>
            <a:spLocks noGrp="1"/>
          </p:cNvSpPr>
          <p:nvPr/>
        </p:nvSpPr>
        <p:spPr>
          <a:xfrm>
            <a:off x="762000" y="4739603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rule-douro-4-pattern">
            <a:extLst>
              <a:ext uri="{FF2B5EF4-FFF2-40B4-BE49-F238E27FC236}">
                <a16:creationId xmlns:a16="http://schemas.microsoft.com/office/drawing/2014/main" id="{C449AB7D-C8C5-40C8-83FF-33A99F574C14}"/>
              </a:ext>
            </a:extLst>
          </p:cNvPr>
          <p:cNvSpPr>
            <a:spLocks noGrp="1"/>
          </p:cNvSpPr>
          <p:nvPr/>
        </p:nvSpPr>
        <p:spPr>
          <a:xfrm>
            <a:off x="1123950" y="4701503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Harvest water + carry-over dryness</a:t>
            </a:r>
          </a:p>
        </p:txBody>
      </p:sp>
      <p:sp>
        <p:nvSpPr>
          <p:cNvPr id="22" name="rule-douro-4-delta">
            <a:extLst>
              <a:ext uri="{FF2B5EF4-FFF2-40B4-BE49-F238E27FC236}">
                <a16:creationId xmlns:a16="http://schemas.microsoft.com/office/drawing/2014/main" id="{F9C4DCB7-D20F-4830-8BB0-2A0415B56461}"/>
              </a:ext>
            </a:extLst>
          </p:cNvPr>
          <p:cNvSpPr>
            <a:spLocks noGrp="1"/>
          </p:cNvSpPr>
          <p:nvPr/>
        </p:nvSpPr>
        <p:spPr>
          <a:xfrm>
            <a:off x="4362450" y="4711028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+192 mhl</a:t>
            </a:r>
          </a:p>
        </p:txBody>
      </p:sp>
      <p:sp>
        <p:nvSpPr>
          <p:cNvPr id="23" name="rule-douro-4-support">
            <a:extLst>
              <a:ext uri="{FF2B5EF4-FFF2-40B4-BE49-F238E27FC236}">
                <a16:creationId xmlns:a16="http://schemas.microsoft.com/office/drawing/2014/main" id="{C121A40C-07E9-462B-B526-F3EDEBD3F21B}"/>
              </a:ext>
            </a:extLst>
          </p:cNvPr>
          <p:cNvSpPr>
            <a:spLocks noGrp="1"/>
          </p:cNvSpPr>
          <p:nvPr/>
        </p:nvSpPr>
        <p:spPr>
          <a:xfrm>
            <a:off x="1123950" y="4930103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21.3% support · p=0.0095</a:t>
            </a:r>
          </a:p>
        </p:txBody>
      </p:sp>
      <p:sp>
        <p:nvSpPr>
          <p:cNvPr id="24" name="rule-douro-5-rank">
            <a:extLst>
              <a:ext uri="{FF2B5EF4-FFF2-40B4-BE49-F238E27FC236}">
                <a16:creationId xmlns:a16="http://schemas.microsoft.com/office/drawing/2014/main" id="{49D74733-37B0-420C-8729-01C160AAC178}"/>
              </a:ext>
            </a:extLst>
          </p:cNvPr>
          <p:cNvSpPr>
            <a:spLocks noGrp="1"/>
          </p:cNvSpPr>
          <p:nvPr/>
        </p:nvSpPr>
        <p:spPr>
          <a:xfrm>
            <a:off x="762000" y="5158703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rule-douro-5-pattern">
            <a:extLst>
              <a:ext uri="{FF2B5EF4-FFF2-40B4-BE49-F238E27FC236}">
                <a16:creationId xmlns:a16="http://schemas.microsoft.com/office/drawing/2014/main" id="{C8E3B63F-C73E-4788-929A-032DCC57F794}"/>
              </a:ext>
            </a:extLst>
          </p:cNvPr>
          <p:cNvSpPr>
            <a:spLocks noGrp="1"/>
          </p:cNvSpPr>
          <p:nvPr/>
        </p:nvSpPr>
        <p:spPr>
          <a:xfrm>
            <a:off x="1123950" y="5120603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flowering + bounded heat</a:t>
            </a:r>
          </a:p>
        </p:txBody>
      </p:sp>
      <p:sp>
        <p:nvSpPr>
          <p:cNvPr id="26" name="rule-douro-5-delta">
            <a:extLst>
              <a:ext uri="{FF2B5EF4-FFF2-40B4-BE49-F238E27FC236}">
                <a16:creationId xmlns:a16="http://schemas.microsoft.com/office/drawing/2014/main" id="{42274413-F26D-4849-976D-26C270D2A655}"/>
              </a:ext>
            </a:extLst>
          </p:cNvPr>
          <p:cNvSpPr>
            <a:spLocks noGrp="1"/>
          </p:cNvSpPr>
          <p:nvPr/>
        </p:nvSpPr>
        <p:spPr>
          <a:xfrm>
            <a:off x="4362450" y="5130128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+115 mhl</a:t>
            </a:r>
          </a:p>
        </p:txBody>
      </p:sp>
      <p:sp>
        <p:nvSpPr>
          <p:cNvPr id="27" name="rule-douro-5-support">
            <a:extLst>
              <a:ext uri="{FF2B5EF4-FFF2-40B4-BE49-F238E27FC236}">
                <a16:creationId xmlns:a16="http://schemas.microsoft.com/office/drawing/2014/main" id="{71C78432-7F79-4E12-BE6A-133365A5EE81}"/>
              </a:ext>
            </a:extLst>
          </p:cNvPr>
          <p:cNvSpPr>
            <a:spLocks noGrp="1"/>
          </p:cNvSpPr>
          <p:nvPr/>
        </p:nvSpPr>
        <p:spPr>
          <a:xfrm>
            <a:off x="1123950" y="5349203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24.7% support · p=0.0110</a:t>
            </a:r>
          </a:p>
        </p:txBody>
      </p:sp>
      <p:sp>
        <p:nvSpPr>
          <p:cNvPr id="28" name="rvv-label">
            <a:extLst>
              <a:ext uri="{FF2B5EF4-FFF2-40B4-BE49-F238E27FC236}">
                <a16:creationId xmlns:a16="http://schemas.microsoft.com/office/drawing/2014/main" id="{2F1552A8-347D-481A-B089-9A9E082A767C}"/>
              </a:ext>
            </a:extLst>
          </p:cNvPr>
          <p:cNvSpPr>
            <a:spLocks noGrp="1"/>
          </p:cNvSpPr>
          <p:nvPr/>
        </p:nvSpPr>
        <p:spPr>
          <a:xfrm>
            <a:off x="6667500" y="3273196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VINHO VERDE · top 5 CarenR rules</a:t>
            </a:r>
          </a:p>
        </p:txBody>
      </p:sp>
      <p:sp>
        <p:nvSpPr>
          <p:cNvPr id="29" name="rvv-summary">
            <a:extLst>
              <a:ext uri="{FF2B5EF4-FFF2-40B4-BE49-F238E27FC236}">
                <a16:creationId xmlns:a16="http://schemas.microsoft.com/office/drawing/2014/main" id="{82782C39-0358-4435-8058-3C41B3311F09}"/>
              </a:ext>
            </a:extLst>
          </p:cNvPr>
          <p:cNvSpPr>
            <a:spLocks noGrp="1"/>
          </p:cNvSpPr>
          <p:nvPr/>
        </p:nvSpPr>
        <p:spPr>
          <a:xfrm>
            <a:off x="6667500" y="3029554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of 5 are below-trend: cool, moist conditions dominate the Atlantic region.</a:t>
            </a:r>
          </a:p>
        </p:txBody>
      </p:sp>
      <p:sp>
        <p:nvSpPr>
          <p:cNvPr id="30" name="rule-rvv-1-rank">
            <a:extLst>
              <a:ext uri="{FF2B5EF4-FFF2-40B4-BE49-F238E27FC236}">
                <a16:creationId xmlns:a16="http://schemas.microsoft.com/office/drawing/2014/main" id="{3BCE3140-0718-44A2-9391-55465FD76E5A}"/>
              </a:ext>
            </a:extLst>
          </p:cNvPr>
          <p:cNvSpPr>
            <a:spLocks noGrp="1"/>
          </p:cNvSpPr>
          <p:nvPr/>
        </p:nvSpPr>
        <p:spPr>
          <a:xfrm>
            <a:off x="6667500" y="3482303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rule-rvv-1-pattern">
            <a:extLst>
              <a:ext uri="{FF2B5EF4-FFF2-40B4-BE49-F238E27FC236}">
                <a16:creationId xmlns:a16="http://schemas.microsoft.com/office/drawing/2014/main" id="{AC8B2939-682F-4026-8C9A-F568819FE41A}"/>
              </a:ext>
            </a:extLst>
          </p:cNvPr>
          <p:cNvSpPr>
            <a:spLocks noGrp="1"/>
          </p:cNvSpPr>
          <p:nvPr/>
        </p:nvSpPr>
        <p:spPr>
          <a:xfrm>
            <a:off x="7029450" y="3444203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Moist harvest + no heat stress</a:t>
            </a:r>
          </a:p>
        </p:txBody>
      </p:sp>
      <p:sp>
        <p:nvSpPr>
          <p:cNvPr id="32" name="rule-rvv-1-delta">
            <a:extLst>
              <a:ext uri="{FF2B5EF4-FFF2-40B4-BE49-F238E27FC236}">
                <a16:creationId xmlns:a16="http://schemas.microsoft.com/office/drawing/2014/main" id="{AECDF222-280F-462E-AE28-34B618414F5A}"/>
              </a:ext>
            </a:extLst>
          </p:cNvPr>
          <p:cNvSpPr>
            <a:spLocks noGrp="1"/>
          </p:cNvSpPr>
          <p:nvPr/>
        </p:nvSpPr>
        <p:spPr>
          <a:xfrm>
            <a:off x="10267950" y="3453728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-338 mhl</a:t>
            </a:r>
          </a:p>
        </p:txBody>
      </p:sp>
      <p:sp>
        <p:nvSpPr>
          <p:cNvPr id="33" name="rule-rvv-1-support">
            <a:extLst>
              <a:ext uri="{FF2B5EF4-FFF2-40B4-BE49-F238E27FC236}">
                <a16:creationId xmlns:a16="http://schemas.microsoft.com/office/drawing/2014/main" id="{6AA05EBD-8F11-4265-AEC8-64E1622BDE37}"/>
              </a:ext>
            </a:extLst>
          </p:cNvPr>
          <p:cNvSpPr>
            <a:spLocks noGrp="1"/>
          </p:cNvSpPr>
          <p:nvPr/>
        </p:nvSpPr>
        <p:spPr>
          <a:xfrm>
            <a:off x="7029450" y="3672803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21.2% support · p=0.0198</a:t>
            </a:r>
          </a:p>
        </p:txBody>
      </p:sp>
      <p:sp>
        <p:nvSpPr>
          <p:cNvPr id="34" name="rule-rvv-2-rank">
            <a:extLst>
              <a:ext uri="{FF2B5EF4-FFF2-40B4-BE49-F238E27FC236}">
                <a16:creationId xmlns:a16="http://schemas.microsoft.com/office/drawing/2014/main" id="{738E64DC-DFC6-4CB7-85B8-1C02D584C72F}"/>
              </a:ext>
            </a:extLst>
          </p:cNvPr>
          <p:cNvSpPr>
            <a:spLocks noGrp="1"/>
          </p:cNvSpPr>
          <p:nvPr/>
        </p:nvSpPr>
        <p:spPr>
          <a:xfrm>
            <a:off x="6667500" y="3901403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5" name="rule-rvv-2-pattern">
            <a:extLst>
              <a:ext uri="{FF2B5EF4-FFF2-40B4-BE49-F238E27FC236}">
                <a16:creationId xmlns:a16="http://schemas.microsoft.com/office/drawing/2014/main" id="{8444DC70-ED85-455B-813A-27A64FF0D9FB}"/>
              </a:ext>
            </a:extLst>
          </p:cNvPr>
          <p:cNvSpPr>
            <a:spLocks noGrp="1"/>
          </p:cNvSpPr>
          <p:nvPr/>
        </p:nvSpPr>
        <p:spPr>
          <a:xfrm>
            <a:off x="7029450" y="3863303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Cool flowering + prior soil saturation</a:t>
            </a:r>
          </a:p>
        </p:txBody>
      </p:sp>
      <p:sp>
        <p:nvSpPr>
          <p:cNvPr id="36" name="rule-rvv-2-delta">
            <a:extLst>
              <a:ext uri="{FF2B5EF4-FFF2-40B4-BE49-F238E27FC236}">
                <a16:creationId xmlns:a16="http://schemas.microsoft.com/office/drawing/2014/main" id="{76A3BD4A-EA20-42AE-8A16-A83432A04D26}"/>
              </a:ext>
            </a:extLst>
          </p:cNvPr>
          <p:cNvSpPr>
            <a:spLocks noGrp="1"/>
          </p:cNvSpPr>
          <p:nvPr/>
        </p:nvSpPr>
        <p:spPr>
          <a:xfrm>
            <a:off x="10267950" y="3872828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-268 mhl</a:t>
            </a:r>
          </a:p>
        </p:txBody>
      </p:sp>
      <p:sp>
        <p:nvSpPr>
          <p:cNvPr id="37" name="rule-rvv-2-support">
            <a:extLst>
              <a:ext uri="{FF2B5EF4-FFF2-40B4-BE49-F238E27FC236}">
                <a16:creationId xmlns:a16="http://schemas.microsoft.com/office/drawing/2014/main" id="{1839A862-962D-43A2-AB77-AFC2EF3B472A}"/>
              </a:ext>
            </a:extLst>
          </p:cNvPr>
          <p:cNvSpPr>
            <a:spLocks noGrp="1"/>
          </p:cNvSpPr>
          <p:nvPr/>
        </p:nvSpPr>
        <p:spPr>
          <a:xfrm>
            <a:off x="7029450" y="4091903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21.2% support · p=0.0216</a:t>
            </a:r>
          </a:p>
        </p:txBody>
      </p:sp>
      <p:sp>
        <p:nvSpPr>
          <p:cNvPr id="38" name="rule-rvv-3-rank">
            <a:extLst>
              <a:ext uri="{FF2B5EF4-FFF2-40B4-BE49-F238E27FC236}">
                <a16:creationId xmlns:a16="http://schemas.microsoft.com/office/drawing/2014/main" id="{BC23706C-D096-49B9-BF6E-2D667716A79D}"/>
              </a:ext>
            </a:extLst>
          </p:cNvPr>
          <p:cNvSpPr>
            <a:spLocks noGrp="1"/>
          </p:cNvSpPr>
          <p:nvPr/>
        </p:nvSpPr>
        <p:spPr>
          <a:xfrm>
            <a:off x="6667500" y="4320503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9" name="rule-rvv-3-pattern">
            <a:extLst>
              <a:ext uri="{FF2B5EF4-FFF2-40B4-BE49-F238E27FC236}">
                <a16:creationId xmlns:a16="http://schemas.microsoft.com/office/drawing/2014/main" id="{03703D47-8B79-4A74-A005-5D985A06D48C}"/>
              </a:ext>
            </a:extLst>
          </p:cNvPr>
          <p:cNvSpPr>
            <a:spLocks noGrp="1"/>
          </p:cNvSpPr>
          <p:nvPr/>
        </p:nvSpPr>
        <p:spPr>
          <a:xfrm>
            <a:off x="7029450" y="4282403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Moist post-flowering + low heat</a:t>
            </a:r>
          </a:p>
        </p:txBody>
      </p:sp>
      <p:sp>
        <p:nvSpPr>
          <p:cNvPr id="40" name="rule-rvv-3-delta">
            <a:extLst>
              <a:ext uri="{FF2B5EF4-FFF2-40B4-BE49-F238E27FC236}">
                <a16:creationId xmlns:a16="http://schemas.microsoft.com/office/drawing/2014/main" id="{9E81AC55-F369-464A-B839-6D05261A07F8}"/>
              </a:ext>
            </a:extLst>
          </p:cNvPr>
          <p:cNvSpPr>
            <a:spLocks noGrp="1"/>
          </p:cNvSpPr>
          <p:nvPr/>
        </p:nvSpPr>
        <p:spPr>
          <a:xfrm>
            <a:off x="10267950" y="4291928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-365 mhl</a:t>
            </a:r>
          </a:p>
        </p:txBody>
      </p:sp>
      <p:sp>
        <p:nvSpPr>
          <p:cNvPr id="41" name="rule-rvv-3-support">
            <a:extLst>
              <a:ext uri="{FF2B5EF4-FFF2-40B4-BE49-F238E27FC236}">
                <a16:creationId xmlns:a16="http://schemas.microsoft.com/office/drawing/2014/main" id="{43ABB15C-4475-4CB9-AC06-320D871F3853}"/>
              </a:ext>
            </a:extLst>
          </p:cNvPr>
          <p:cNvSpPr>
            <a:spLocks noGrp="1"/>
          </p:cNvSpPr>
          <p:nvPr/>
        </p:nvSpPr>
        <p:spPr>
          <a:xfrm>
            <a:off x="7029450" y="4511003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27.5% support · p=0.0294</a:t>
            </a:r>
          </a:p>
        </p:txBody>
      </p:sp>
      <p:sp>
        <p:nvSpPr>
          <p:cNvPr id="42" name="rule-rvv-4-rank">
            <a:extLst>
              <a:ext uri="{FF2B5EF4-FFF2-40B4-BE49-F238E27FC236}">
                <a16:creationId xmlns:a16="http://schemas.microsoft.com/office/drawing/2014/main" id="{7375654A-DC75-4FD7-8413-22DDF5606C78}"/>
              </a:ext>
            </a:extLst>
          </p:cNvPr>
          <p:cNvSpPr>
            <a:spLocks noGrp="1"/>
          </p:cNvSpPr>
          <p:nvPr/>
        </p:nvSpPr>
        <p:spPr>
          <a:xfrm>
            <a:off x="6667500" y="4739603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rule-rvv-4-pattern">
            <a:extLst>
              <a:ext uri="{FF2B5EF4-FFF2-40B4-BE49-F238E27FC236}">
                <a16:creationId xmlns:a16="http://schemas.microsoft.com/office/drawing/2014/main" id="{F0703326-34FD-4E0C-945A-3E0C98EC6E20}"/>
              </a:ext>
            </a:extLst>
          </p:cNvPr>
          <p:cNvSpPr>
            <a:spLocks noGrp="1"/>
          </p:cNvSpPr>
          <p:nvPr/>
        </p:nvSpPr>
        <p:spPr>
          <a:xfrm>
            <a:off x="7029450" y="4701503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Warm prior budburst + mild flowering</a:t>
            </a:r>
          </a:p>
        </p:txBody>
      </p:sp>
      <p:sp>
        <p:nvSpPr>
          <p:cNvPr id="44" name="rule-rvv-4-delta">
            <a:extLst>
              <a:ext uri="{FF2B5EF4-FFF2-40B4-BE49-F238E27FC236}">
                <a16:creationId xmlns:a16="http://schemas.microsoft.com/office/drawing/2014/main" id="{7FBDE785-9B3A-4AF6-8BB7-62F653682300}"/>
              </a:ext>
            </a:extLst>
          </p:cNvPr>
          <p:cNvSpPr>
            <a:spLocks noGrp="1"/>
          </p:cNvSpPr>
          <p:nvPr/>
        </p:nvSpPr>
        <p:spPr>
          <a:xfrm>
            <a:off x="10267950" y="4711028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46C43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46C43"/>
                </a:solidFill>
                <a:latin typeface="Arial"/>
                <a:ea typeface="Arial"/>
                <a:cs typeface="Arial"/>
              </a:rPr>
              <a:t>+311 mhl</a:t>
            </a:r>
          </a:p>
        </p:txBody>
      </p:sp>
      <p:sp>
        <p:nvSpPr>
          <p:cNvPr id="45" name="rule-rvv-4-support">
            <a:extLst>
              <a:ext uri="{FF2B5EF4-FFF2-40B4-BE49-F238E27FC236}">
                <a16:creationId xmlns:a16="http://schemas.microsoft.com/office/drawing/2014/main" id="{B8374B38-8FDB-4D74-86FF-CCA1FA2DAEFF}"/>
              </a:ext>
            </a:extLst>
          </p:cNvPr>
          <p:cNvSpPr>
            <a:spLocks noGrp="1"/>
          </p:cNvSpPr>
          <p:nvPr/>
        </p:nvSpPr>
        <p:spPr>
          <a:xfrm>
            <a:off x="7029450" y="4930103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25.0% support · p=0.0298</a:t>
            </a:r>
          </a:p>
        </p:txBody>
      </p:sp>
      <p:sp>
        <p:nvSpPr>
          <p:cNvPr id="46" name="rule-rvv-5-rank">
            <a:extLst>
              <a:ext uri="{FF2B5EF4-FFF2-40B4-BE49-F238E27FC236}">
                <a16:creationId xmlns:a16="http://schemas.microsoft.com/office/drawing/2014/main" id="{254E947A-560F-4CF9-A71D-7350BAE8F025}"/>
              </a:ext>
            </a:extLst>
          </p:cNvPr>
          <p:cNvSpPr>
            <a:spLocks noGrp="1"/>
          </p:cNvSpPr>
          <p:nvPr/>
        </p:nvSpPr>
        <p:spPr>
          <a:xfrm>
            <a:off x="6667500" y="5158703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5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7" name="rule-rvv-5-pattern">
            <a:extLst>
              <a:ext uri="{FF2B5EF4-FFF2-40B4-BE49-F238E27FC236}">
                <a16:creationId xmlns:a16="http://schemas.microsoft.com/office/drawing/2014/main" id="{E448A1AD-71F7-4D75-8D6D-6ADBACFDC21F}"/>
              </a:ext>
            </a:extLst>
          </p:cNvPr>
          <p:cNvSpPr>
            <a:spLocks noGrp="1"/>
          </p:cNvSpPr>
          <p:nvPr/>
        </p:nvSpPr>
        <p:spPr>
          <a:xfrm>
            <a:off x="7029450" y="5120603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Cool post-flowering + wet carry-over</a:t>
            </a:r>
          </a:p>
        </p:txBody>
      </p:sp>
      <p:sp>
        <p:nvSpPr>
          <p:cNvPr id="48" name="rule-rvv-5-delta">
            <a:extLst>
              <a:ext uri="{FF2B5EF4-FFF2-40B4-BE49-F238E27FC236}">
                <a16:creationId xmlns:a16="http://schemas.microsoft.com/office/drawing/2014/main" id="{E15D61DB-9A5A-4AA1-ADD4-7483AE220458}"/>
              </a:ext>
            </a:extLst>
          </p:cNvPr>
          <p:cNvSpPr>
            <a:spLocks noGrp="1"/>
          </p:cNvSpPr>
          <p:nvPr/>
        </p:nvSpPr>
        <p:spPr>
          <a:xfrm>
            <a:off x="10267950" y="5130128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-292 mhl</a:t>
            </a:r>
          </a:p>
        </p:txBody>
      </p:sp>
      <p:sp>
        <p:nvSpPr>
          <p:cNvPr id="49" name="rule-rvv-5-support">
            <a:extLst>
              <a:ext uri="{FF2B5EF4-FFF2-40B4-BE49-F238E27FC236}">
                <a16:creationId xmlns:a16="http://schemas.microsoft.com/office/drawing/2014/main" id="{4C8426F4-53AD-4FFF-9552-78ABA5ADDFEC}"/>
              </a:ext>
            </a:extLst>
          </p:cNvPr>
          <p:cNvSpPr>
            <a:spLocks noGrp="1"/>
          </p:cNvSpPr>
          <p:nvPr/>
        </p:nvSpPr>
        <p:spPr>
          <a:xfrm>
            <a:off x="7029450" y="5349203"/>
            <a:ext cx="430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8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23.8% support · p=0.0299</a:t>
            </a:r>
          </a:p>
        </p:txBody>
      </p:sp>
      <p:sp>
        <p:nvSpPr>
          <p:cNvPr id="50" name="finding-band">
            <a:extLst>
              <a:ext uri="{FF2B5EF4-FFF2-40B4-BE49-F238E27FC236}">
                <a16:creationId xmlns:a16="http://schemas.microsoft.com/office/drawing/2014/main" id="{1C3A083A-E546-4493-B335-10679EDF5198}"/>
              </a:ext>
            </a:extLst>
          </p:cNvPr>
          <p:cNvSpPr>
            <a:spLocks noGrp="1"/>
          </p:cNvSpPr>
          <p:nvPr/>
        </p:nvSpPr>
        <p:spPr>
          <a:xfrm>
            <a:off x="485775" y="5494415"/>
            <a:ext cx="11382375" cy="838200"/>
          </a:xfrm>
          <a:prstGeom prst="rect">
            <a:avLst/>
          </a:prstGeom>
          <a:solidFill>
            <a:srgbClr val="EAF5EE"/>
          </a:solidFill>
          <a:ln w="0">
            <a:noFill/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51" name="finding-label">
            <a:extLst>
              <a:ext uri="{FF2B5EF4-FFF2-40B4-BE49-F238E27FC236}">
                <a16:creationId xmlns:a16="http://schemas.microsoft.com/office/drawing/2014/main" id="{D9F203B8-1FF5-4513-B24D-F012E26663F0}"/>
              </a:ext>
            </a:extLst>
          </p:cNvPr>
          <p:cNvSpPr>
            <a:spLocks noGrp="1"/>
          </p:cNvSpPr>
          <p:nvPr/>
        </p:nvSpPr>
        <p:spPr>
          <a:xfrm>
            <a:off x="800100" y="5930228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4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Cross-algorithm finding</a:t>
            </a:r>
          </a:p>
        </p:txBody>
      </p:sp>
      <p:sp>
        <p:nvSpPr>
          <p:cNvPr id="52" name="finding-main">
            <a:extLst>
              <a:ext uri="{FF2B5EF4-FFF2-40B4-BE49-F238E27FC236}">
                <a16:creationId xmlns:a16="http://schemas.microsoft.com/office/drawing/2014/main" id="{35900B4E-D9F9-4FB9-A88C-0B4F32F146D5}"/>
              </a:ext>
            </a:extLst>
          </p:cNvPr>
          <p:cNvSpPr>
            <a:spLocks noGrp="1"/>
          </p:cNvSpPr>
          <p:nvPr/>
        </p:nvSpPr>
        <p:spPr>
          <a:xfrm>
            <a:off x="3086100" y="5901653"/>
            <a:ext cx="814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Across methods: harvest soil water and LAI/canopy survive.</a:t>
            </a:r>
          </a:p>
        </p:txBody>
      </p:sp>
      <p:sp>
        <p:nvSpPr>
          <p:cNvPr id="54" name="source">
            <a:extLst>
              <a:ext uri="{FF2B5EF4-FFF2-40B4-BE49-F238E27FC236}">
                <a16:creationId xmlns:a16="http://schemas.microsoft.com/office/drawing/2014/main" id="{1603C280-F355-46FB-A1B0-69AD0ABC7977}"/>
              </a:ext>
            </a:extLst>
          </p:cNvPr>
          <p:cNvSpPr>
            <a:spLocks noGrp="1"/>
          </p:cNvSpPr>
          <p:nvPr/>
        </p:nvSpPr>
        <p:spPr>
          <a:xfrm>
            <a:off x="417492" y="1499994"/>
            <a:ext cx="971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75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675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Source: Thesis, Tables 4.1-4.2 and 4.9</a:t>
            </a:r>
          </a:p>
        </p:txBody>
      </p:sp>
      <p:sp>
        <p:nvSpPr>
          <p:cNvPr id="57" name="exact-rules-cover">
            <a:extLst>
              <a:ext uri="{FF2B5EF4-FFF2-40B4-BE49-F238E27FC236}">
                <a16:creationId xmlns:a16="http://schemas.microsoft.com/office/drawing/2014/main" id="{A480573E-B841-4873-9728-D5491786324E}"/>
              </a:ext>
            </a:extLst>
          </p:cNvPr>
          <p:cNvSpPr>
            <a:spLocks noGrp="1"/>
          </p:cNvSpPr>
          <p:nvPr/>
        </p:nvSpPr>
        <p:spPr>
          <a:xfrm>
            <a:off x="0" y="495299"/>
            <a:ext cx="12192000" cy="6029429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8" name="exact-section-label">
            <a:extLst>
              <a:ext uri="{FF2B5EF4-FFF2-40B4-BE49-F238E27FC236}">
                <a16:creationId xmlns:a16="http://schemas.microsoft.com/office/drawing/2014/main" id="{BE0BF05B-C3B6-466C-8528-69B5ADCA2E0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RESULTS · RULES</a:t>
            </a:r>
          </a:p>
        </p:txBody>
      </p:sp>
      <p:sp>
        <p:nvSpPr>
          <p:cNvPr id="59" name="exact-title">
            <a:extLst>
              <a:ext uri="{FF2B5EF4-FFF2-40B4-BE49-F238E27FC236}">
                <a16:creationId xmlns:a16="http://schemas.microsoft.com/office/drawing/2014/main" id="{3BAFDCF3-4C41-451A-BC46-FFC1121DB35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9953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24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CarenR rule output: intervals behind the top rules</a:t>
            </a:r>
          </a:p>
        </p:txBody>
      </p:sp>
      <p:sp>
        <p:nvSpPr>
          <p:cNvPr id="60" name="exact-subtitle">
            <a:extLst>
              <a:ext uri="{FF2B5EF4-FFF2-40B4-BE49-F238E27FC236}">
                <a16:creationId xmlns:a16="http://schemas.microsoft.com/office/drawing/2014/main" id="{178CD848-CA37-4AC5-B49D-517C5D6EFF33}"/>
              </a:ext>
            </a:extLst>
          </p:cNvPr>
          <p:cNvSpPr>
            <a:spLocks noGrp="1"/>
          </p:cNvSpPr>
          <p:nvPr/>
        </p:nvSpPr>
        <p:spPr>
          <a:xfrm>
            <a:off x="417492" y="194463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105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Each row is an IF condition set; Delta is the median production residual shift from trend.</a:t>
            </a:r>
          </a:p>
        </p:txBody>
      </p:sp>
      <p:sp>
        <p:nvSpPr>
          <p:cNvPr id="62" name="DOURO (RDD) · top 5 exact rules-title">
            <a:extLst>
              <a:ext uri="{FF2B5EF4-FFF2-40B4-BE49-F238E27FC236}">
                <a16:creationId xmlns:a16="http://schemas.microsoft.com/office/drawing/2014/main" id="{CC3BEF31-F023-4685-A7F5-96F9C5B51CB0}"/>
              </a:ext>
            </a:extLst>
          </p:cNvPr>
          <p:cNvSpPr>
            <a:spLocks noGrp="1"/>
          </p:cNvSpPr>
          <p:nvPr/>
        </p:nvSpPr>
        <p:spPr>
          <a:xfrm>
            <a:off x="464218" y="2323170"/>
            <a:ext cx="5019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 b="1">
                <a:solidFill>
                  <a:srgbClr val="1E6F9F"/>
                </a:solidFill>
                <a:latin typeface="Arial"/>
                <a:ea typeface="Arial"/>
                <a:cs typeface="Arial"/>
              </a:defRPr>
            </a:pPr>
            <a:r>
              <a:rPr lang="en-GB" sz="1088" b="1" noProof="0" dirty="0">
                <a:solidFill>
                  <a:srgbClr val="1E6F9F"/>
                </a:solidFill>
                <a:latin typeface="Arial"/>
                <a:ea typeface="Arial"/>
                <a:cs typeface="Arial"/>
              </a:rPr>
              <a:t>DOURO (RDD) · top 5 exact rules</a:t>
            </a:r>
          </a:p>
        </p:txBody>
      </p:sp>
      <p:sp>
        <p:nvSpPr>
          <p:cNvPr id="63" name="DOURO (RDD) · top 5 exact rules-subtitle">
            <a:extLst>
              <a:ext uri="{FF2B5EF4-FFF2-40B4-BE49-F238E27FC236}">
                <a16:creationId xmlns:a16="http://schemas.microsoft.com/office/drawing/2014/main" id="{E4194728-3401-4413-8808-4DD6EAF12DD2}"/>
              </a:ext>
            </a:extLst>
          </p:cNvPr>
          <p:cNvSpPr>
            <a:spLocks noGrp="1"/>
          </p:cNvSpPr>
          <p:nvPr/>
        </p:nvSpPr>
        <p:spPr>
          <a:xfrm>
            <a:off x="619125" y="2713558"/>
            <a:ext cx="50196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9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9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Mostly above-trend: dry post-flowering / maturity windows and bounded heat.</a:t>
            </a:r>
          </a:p>
        </p:txBody>
      </p:sp>
      <p:sp>
        <p:nvSpPr>
          <p:cNvPr id="64" name="DOURO (RDD) · top 5 exact rules-header">
            <a:extLst>
              <a:ext uri="{FF2B5EF4-FFF2-40B4-BE49-F238E27FC236}">
                <a16:creationId xmlns:a16="http://schemas.microsoft.com/office/drawing/2014/main" id="{B6F6ECC0-2208-4D1E-A93D-CA2EE861AC74}"/>
              </a:ext>
            </a:extLst>
          </p:cNvPr>
          <p:cNvSpPr>
            <a:spLocks noGrp="1"/>
          </p:cNvSpPr>
          <p:nvPr/>
        </p:nvSpPr>
        <p:spPr>
          <a:xfrm>
            <a:off x="619125" y="3048104"/>
            <a:ext cx="5133975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65" name="DOURO (RDD) · top 5 exact rules-h1">
            <a:extLst>
              <a:ext uri="{FF2B5EF4-FFF2-40B4-BE49-F238E27FC236}">
                <a16:creationId xmlns:a16="http://schemas.microsoft.com/office/drawing/2014/main" id="{51B7EED1-975E-4FB4-9DC5-9CEA58FFA31E}"/>
              </a:ext>
            </a:extLst>
          </p:cNvPr>
          <p:cNvSpPr>
            <a:spLocks noGrp="1"/>
          </p:cNvSpPr>
          <p:nvPr/>
        </p:nvSpPr>
        <p:spPr>
          <a:xfrm>
            <a:off x="676275" y="3095729"/>
            <a:ext cx="247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66" name="DOURO (RDD) · top 5 exact rules-h2">
            <a:extLst>
              <a:ext uri="{FF2B5EF4-FFF2-40B4-BE49-F238E27FC236}">
                <a16:creationId xmlns:a16="http://schemas.microsoft.com/office/drawing/2014/main" id="{7A72DB73-F4F2-48FE-A952-BD1BE402DC03}"/>
              </a:ext>
            </a:extLst>
          </p:cNvPr>
          <p:cNvSpPr>
            <a:spLocks noGrp="1"/>
          </p:cNvSpPr>
          <p:nvPr/>
        </p:nvSpPr>
        <p:spPr>
          <a:xfrm>
            <a:off x="1000125" y="3088109"/>
            <a:ext cx="3524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Exact conditions from CarenR output</a:t>
            </a:r>
          </a:p>
        </p:txBody>
      </p:sp>
      <p:sp>
        <p:nvSpPr>
          <p:cNvPr id="67" name="DOURO (RDD) · top 5 exact rules-h3">
            <a:extLst>
              <a:ext uri="{FF2B5EF4-FFF2-40B4-BE49-F238E27FC236}">
                <a16:creationId xmlns:a16="http://schemas.microsoft.com/office/drawing/2014/main" id="{C2B61C94-65FF-4D8B-925E-3FC1EDBB223E}"/>
              </a:ext>
            </a:extLst>
          </p:cNvPr>
          <p:cNvSpPr>
            <a:spLocks noGrp="1"/>
          </p:cNvSpPr>
          <p:nvPr/>
        </p:nvSpPr>
        <p:spPr>
          <a:xfrm>
            <a:off x="4360545" y="3072869"/>
            <a:ext cx="895350" cy="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support / p</a:t>
            </a:r>
          </a:p>
        </p:txBody>
      </p:sp>
      <p:sp>
        <p:nvSpPr>
          <p:cNvPr id="68" name="DOURO (RDD) · top 5 exact rules-h4">
            <a:extLst>
              <a:ext uri="{FF2B5EF4-FFF2-40B4-BE49-F238E27FC236}">
                <a16:creationId xmlns:a16="http://schemas.microsoft.com/office/drawing/2014/main" id="{42BE151A-E0FF-46F6-B487-43D947B9BCCB}"/>
              </a:ext>
            </a:extLst>
          </p:cNvPr>
          <p:cNvSpPr>
            <a:spLocks noGrp="1"/>
          </p:cNvSpPr>
          <p:nvPr/>
        </p:nvSpPr>
        <p:spPr>
          <a:xfrm>
            <a:off x="5257800" y="3080489"/>
            <a:ext cx="495300" cy="1440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Delta</a:t>
            </a:r>
          </a:p>
        </p:txBody>
      </p:sp>
      <p:sp>
        <p:nvSpPr>
          <p:cNvPr id="69" name="DOURO (RDD) · top 5 exact rules-row-1">
            <a:extLst>
              <a:ext uri="{FF2B5EF4-FFF2-40B4-BE49-F238E27FC236}">
                <a16:creationId xmlns:a16="http://schemas.microsoft.com/office/drawing/2014/main" id="{4E2E76A7-D4EB-4FFB-BD56-AF9BF9BCC8A4}"/>
              </a:ext>
            </a:extLst>
          </p:cNvPr>
          <p:cNvSpPr>
            <a:spLocks noGrp="1"/>
          </p:cNvSpPr>
          <p:nvPr/>
        </p:nvSpPr>
        <p:spPr>
          <a:xfrm>
            <a:off x="619125" y="3453728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70" name="DOURO (RDD) · top 5 exact rules-rank-1">
            <a:extLst>
              <a:ext uri="{FF2B5EF4-FFF2-40B4-BE49-F238E27FC236}">
                <a16:creationId xmlns:a16="http://schemas.microsoft.com/office/drawing/2014/main" id="{1CFC4AF2-4349-4453-8504-0B83A595E410}"/>
              </a:ext>
            </a:extLst>
          </p:cNvPr>
          <p:cNvSpPr>
            <a:spLocks noGrp="1"/>
          </p:cNvSpPr>
          <p:nvPr/>
        </p:nvSpPr>
        <p:spPr>
          <a:xfrm>
            <a:off x="676275" y="3529928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1" name="DOURO (RDD) · top 5 exact rules-rule-1">
            <a:extLst>
              <a:ext uri="{FF2B5EF4-FFF2-40B4-BE49-F238E27FC236}">
                <a16:creationId xmlns:a16="http://schemas.microsoft.com/office/drawing/2014/main" id="{0E923B29-4C53-40D9-8E56-732DF19350F0}"/>
              </a:ext>
            </a:extLst>
          </p:cNvPr>
          <p:cNvSpPr>
            <a:spLocks noGrp="1"/>
          </p:cNvSpPr>
          <p:nvPr/>
        </p:nvSpPr>
        <p:spPr>
          <a:xfrm>
            <a:off x="1000125" y="3520403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Wet days post-Flowering [0-3.3 d]</a:t>
            </a:r>
          </a:p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 days post-Maturity [0-3.5 d]</a:t>
            </a:r>
          </a:p>
        </p:txBody>
      </p:sp>
      <p:sp>
        <p:nvSpPr>
          <p:cNvPr id="72" name="DOURO (RDD) · top 5 exact rules-stats-1">
            <a:extLst>
              <a:ext uri="{FF2B5EF4-FFF2-40B4-BE49-F238E27FC236}">
                <a16:creationId xmlns:a16="http://schemas.microsoft.com/office/drawing/2014/main" id="{EE8940D4-E953-4845-9B07-36A11A95249C}"/>
              </a:ext>
            </a:extLst>
          </p:cNvPr>
          <p:cNvSpPr>
            <a:spLocks noGrp="1"/>
          </p:cNvSpPr>
          <p:nvPr/>
        </p:nvSpPr>
        <p:spPr>
          <a:xfrm>
            <a:off x="4519612" y="3475402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28.1%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~25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p=0.0043</a:t>
            </a:r>
          </a:p>
        </p:txBody>
      </p:sp>
      <p:sp>
        <p:nvSpPr>
          <p:cNvPr id="73" name="DOURO (RDD) · top 5 exact rules-delta-1">
            <a:extLst>
              <a:ext uri="{FF2B5EF4-FFF2-40B4-BE49-F238E27FC236}">
                <a16:creationId xmlns:a16="http://schemas.microsoft.com/office/drawing/2014/main" id="{10912703-5FC6-4071-B1FA-A564DDCFE0E6}"/>
              </a:ext>
            </a:extLst>
          </p:cNvPr>
          <p:cNvSpPr>
            <a:spLocks noGrp="1"/>
          </p:cNvSpPr>
          <p:nvPr/>
        </p:nvSpPr>
        <p:spPr>
          <a:xfrm>
            <a:off x="5219700" y="3596603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006B45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006B45"/>
                </a:solidFill>
                <a:latin typeface="Arial"/>
                <a:ea typeface="Arial"/>
                <a:cs typeface="Arial"/>
              </a:rPr>
              <a:t>+121</a:t>
            </a:r>
          </a:p>
        </p:txBody>
      </p:sp>
      <p:sp>
        <p:nvSpPr>
          <p:cNvPr id="74" name="DOURO (RDD) · top 5 exact rules-row-2">
            <a:extLst>
              <a:ext uri="{FF2B5EF4-FFF2-40B4-BE49-F238E27FC236}">
                <a16:creationId xmlns:a16="http://schemas.microsoft.com/office/drawing/2014/main" id="{BD39772D-3005-462B-8951-2EE50CA47571}"/>
              </a:ext>
            </a:extLst>
          </p:cNvPr>
          <p:cNvSpPr>
            <a:spLocks noGrp="1"/>
          </p:cNvSpPr>
          <p:nvPr/>
        </p:nvSpPr>
        <p:spPr>
          <a:xfrm>
            <a:off x="619125" y="4015703"/>
            <a:ext cx="5133975" cy="542925"/>
          </a:xfrm>
          <a:prstGeom prst="rect">
            <a:avLst/>
          </a:prstGeom>
          <a:solidFill>
            <a:srgbClr val="FAFAFA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75" name="DOURO (RDD) · top 5 exact rules-rank-2">
            <a:extLst>
              <a:ext uri="{FF2B5EF4-FFF2-40B4-BE49-F238E27FC236}">
                <a16:creationId xmlns:a16="http://schemas.microsoft.com/office/drawing/2014/main" id="{53170275-C534-44ED-A92D-7E1B14F00601}"/>
              </a:ext>
            </a:extLst>
          </p:cNvPr>
          <p:cNvSpPr>
            <a:spLocks noGrp="1"/>
          </p:cNvSpPr>
          <p:nvPr/>
        </p:nvSpPr>
        <p:spPr>
          <a:xfrm>
            <a:off x="676275" y="4091903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DOURO (RDD) · top 5 exact rules-rule-2">
            <a:extLst>
              <a:ext uri="{FF2B5EF4-FFF2-40B4-BE49-F238E27FC236}">
                <a16:creationId xmlns:a16="http://schemas.microsoft.com/office/drawing/2014/main" id="{043A64A2-F0E4-423C-81D1-8BF762BA1806}"/>
              </a:ext>
            </a:extLst>
          </p:cNvPr>
          <p:cNvSpPr>
            <a:spLocks noGrp="1"/>
          </p:cNvSpPr>
          <p:nvPr/>
        </p:nvSpPr>
        <p:spPr>
          <a:xfrm>
            <a:off x="1000125" y="4082378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LAI at Flowering [0.74-0.88 m2/m2]</a:t>
            </a:r>
          </a:p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Soil water post-Flowering [390-404 mm]</a:t>
            </a:r>
          </a:p>
        </p:txBody>
      </p:sp>
      <p:sp>
        <p:nvSpPr>
          <p:cNvPr id="77" name="DOURO (RDD) · top 5 exact rules-stats-2">
            <a:extLst>
              <a:ext uri="{FF2B5EF4-FFF2-40B4-BE49-F238E27FC236}">
                <a16:creationId xmlns:a16="http://schemas.microsoft.com/office/drawing/2014/main" id="{2F79A2C9-C627-4CAB-A66C-BF944A16D82D}"/>
              </a:ext>
            </a:extLst>
          </p:cNvPr>
          <p:cNvSpPr>
            <a:spLocks noGrp="1"/>
          </p:cNvSpPr>
          <p:nvPr/>
        </p:nvSpPr>
        <p:spPr>
          <a:xfrm>
            <a:off x="4519612" y="4065665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20.2%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~18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p=0.0084</a:t>
            </a:r>
          </a:p>
        </p:txBody>
      </p:sp>
      <p:sp>
        <p:nvSpPr>
          <p:cNvPr id="78" name="DOURO (RDD) · top 5 exact rules-delta-2">
            <a:extLst>
              <a:ext uri="{FF2B5EF4-FFF2-40B4-BE49-F238E27FC236}">
                <a16:creationId xmlns:a16="http://schemas.microsoft.com/office/drawing/2014/main" id="{1184537D-7225-47C3-831C-7B9ADD431764}"/>
              </a:ext>
            </a:extLst>
          </p:cNvPr>
          <p:cNvSpPr>
            <a:spLocks noGrp="1"/>
          </p:cNvSpPr>
          <p:nvPr/>
        </p:nvSpPr>
        <p:spPr>
          <a:xfrm>
            <a:off x="5219700" y="4158578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8B1E3F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8B1E3F"/>
                </a:solidFill>
                <a:latin typeface="Arial"/>
                <a:ea typeface="Arial"/>
                <a:cs typeface="Arial"/>
              </a:rPr>
              <a:t>-131</a:t>
            </a:r>
          </a:p>
        </p:txBody>
      </p:sp>
      <p:sp>
        <p:nvSpPr>
          <p:cNvPr id="79" name="DOURO (RDD) · top 5 exact rules-row-3">
            <a:extLst>
              <a:ext uri="{FF2B5EF4-FFF2-40B4-BE49-F238E27FC236}">
                <a16:creationId xmlns:a16="http://schemas.microsoft.com/office/drawing/2014/main" id="{8D457A99-4D0B-456A-BB60-5BE581348E91}"/>
              </a:ext>
            </a:extLst>
          </p:cNvPr>
          <p:cNvSpPr>
            <a:spLocks noGrp="1"/>
          </p:cNvSpPr>
          <p:nvPr/>
        </p:nvSpPr>
        <p:spPr>
          <a:xfrm>
            <a:off x="619125" y="4577678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80" name="DOURO (RDD) · top 5 exact rules-rank-3">
            <a:extLst>
              <a:ext uri="{FF2B5EF4-FFF2-40B4-BE49-F238E27FC236}">
                <a16:creationId xmlns:a16="http://schemas.microsoft.com/office/drawing/2014/main" id="{43FE6023-56D1-4C4A-9E9F-20D395EFAC9A}"/>
              </a:ext>
            </a:extLst>
          </p:cNvPr>
          <p:cNvSpPr>
            <a:spLocks noGrp="1"/>
          </p:cNvSpPr>
          <p:nvPr/>
        </p:nvSpPr>
        <p:spPr>
          <a:xfrm>
            <a:off x="676275" y="4653878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1" name="DOURO (RDD) · top 5 exact rules-rule-3">
            <a:extLst>
              <a:ext uri="{FF2B5EF4-FFF2-40B4-BE49-F238E27FC236}">
                <a16:creationId xmlns:a16="http://schemas.microsoft.com/office/drawing/2014/main" id="{DDEA01A3-D640-450A-A8A7-08DBCCAFDC8F}"/>
              </a:ext>
            </a:extLst>
          </p:cNvPr>
          <p:cNvSpPr>
            <a:spLocks noGrp="1"/>
          </p:cNvSpPr>
          <p:nvPr/>
        </p:nvSpPr>
        <p:spPr>
          <a:xfrm>
            <a:off x="1000125" y="4599065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Wet days post-Flowering [0-3.3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 days post-Maturity [0-3.5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post-Flowering [0-0.6 d]</a:t>
            </a:r>
          </a:p>
        </p:txBody>
      </p:sp>
      <p:sp>
        <p:nvSpPr>
          <p:cNvPr id="82" name="DOURO (RDD) · top 5 exact rules-stats-3">
            <a:extLst>
              <a:ext uri="{FF2B5EF4-FFF2-40B4-BE49-F238E27FC236}">
                <a16:creationId xmlns:a16="http://schemas.microsoft.com/office/drawing/2014/main" id="{5C0CE2EA-8D1E-40C4-A4AC-1767436D33C5}"/>
              </a:ext>
            </a:extLst>
          </p:cNvPr>
          <p:cNvSpPr>
            <a:spLocks noGrp="1"/>
          </p:cNvSpPr>
          <p:nvPr/>
        </p:nvSpPr>
        <p:spPr>
          <a:xfrm>
            <a:off x="4429125" y="4591877"/>
            <a:ext cx="828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25.8%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~23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p=0.0089</a:t>
            </a:r>
          </a:p>
        </p:txBody>
      </p:sp>
      <p:sp>
        <p:nvSpPr>
          <p:cNvPr id="83" name="DOURO (RDD) · top 5 exact rules-delta-3">
            <a:extLst>
              <a:ext uri="{FF2B5EF4-FFF2-40B4-BE49-F238E27FC236}">
                <a16:creationId xmlns:a16="http://schemas.microsoft.com/office/drawing/2014/main" id="{D7059098-9CD0-4937-9AA0-90D4B7C992A6}"/>
              </a:ext>
            </a:extLst>
          </p:cNvPr>
          <p:cNvSpPr>
            <a:spLocks noGrp="1"/>
          </p:cNvSpPr>
          <p:nvPr/>
        </p:nvSpPr>
        <p:spPr>
          <a:xfrm>
            <a:off x="5219700" y="4720553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006B45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006B45"/>
                </a:solidFill>
                <a:latin typeface="Arial"/>
                <a:ea typeface="Arial"/>
                <a:cs typeface="Arial"/>
              </a:rPr>
              <a:t>+113</a:t>
            </a:r>
          </a:p>
        </p:txBody>
      </p:sp>
      <p:sp>
        <p:nvSpPr>
          <p:cNvPr id="84" name="DOURO (RDD) · top 5 exact rules-row-4">
            <a:extLst>
              <a:ext uri="{FF2B5EF4-FFF2-40B4-BE49-F238E27FC236}">
                <a16:creationId xmlns:a16="http://schemas.microsoft.com/office/drawing/2014/main" id="{4038F29B-8BEB-4A64-8919-29DCF1AC505F}"/>
              </a:ext>
            </a:extLst>
          </p:cNvPr>
          <p:cNvSpPr>
            <a:spLocks noGrp="1"/>
          </p:cNvSpPr>
          <p:nvPr/>
        </p:nvSpPr>
        <p:spPr>
          <a:xfrm>
            <a:off x="619125" y="5139653"/>
            <a:ext cx="5133975" cy="542925"/>
          </a:xfrm>
          <a:prstGeom prst="rect">
            <a:avLst/>
          </a:prstGeom>
          <a:solidFill>
            <a:srgbClr val="FAFAFA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85" name="DOURO (RDD) · top 5 exact rules-rank-4">
            <a:extLst>
              <a:ext uri="{FF2B5EF4-FFF2-40B4-BE49-F238E27FC236}">
                <a16:creationId xmlns:a16="http://schemas.microsoft.com/office/drawing/2014/main" id="{AE05A6E4-CEAD-4993-AF63-90EB2DDE4CAF}"/>
              </a:ext>
            </a:extLst>
          </p:cNvPr>
          <p:cNvSpPr>
            <a:spLocks noGrp="1"/>
          </p:cNvSpPr>
          <p:nvPr/>
        </p:nvSpPr>
        <p:spPr>
          <a:xfrm>
            <a:off x="676275" y="5215853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6" name="DOURO (RDD) · top 5 exact rules-rule-4">
            <a:extLst>
              <a:ext uri="{FF2B5EF4-FFF2-40B4-BE49-F238E27FC236}">
                <a16:creationId xmlns:a16="http://schemas.microsoft.com/office/drawing/2014/main" id="{3551F421-82DA-4337-A14C-B9FDFFB2064F}"/>
              </a:ext>
            </a:extLst>
          </p:cNvPr>
          <p:cNvSpPr>
            <a:spLocks noGrp="1"/>
          </p:cNvSpPr>
          <p:nvPr/>
        </p:nvSpPr>
        <p:spPr>
          <a:xfrm>
            <a:off x="1000125" y="5168228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Soil water pre-Harvest [74-101 mm]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 days post-Harvest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prev.yr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[0-2.3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 days post-Maturity [0-3.5 d]</a:t>
            </a:r>
          </a:p>
        </p:txBody>
      </p:sp>
      <p:sp>
        <p:nvSpPr>
          <p:cNvPr id="87" name="DOURO (RDD) · top 5 exact rules-stats-4">
            <a:extLst>
              <a:ext uri="{FF2B5EF4-FFF2-40B4-BE49-F238E27FC236}">
                <a16:creationId xmlns:a16="http://schemas.microsoft.com/office/drawing/2014/main" id="{BF7170E4-1E2E-4BC6-88D7-FD1B3ACE6800}"/>
              </a:ext>
            </a:extLst>
          </p:cNvPr>
          <p:cNvSpPr>
            <a:spLocks noGrp="1"/>
          </p:cNvSpPr>
          <p:nvPr/>
        </p:nvSpPr>
        <p:spPr>
          <a:xfrm>
            <a:off x="4519612" y="5191374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21.3%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~19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p=0.0095</a:t>
            </a:r>
          </a:p>
        </p:txBody>
      </p:sp>
      <p:sp>
        <p:nvSpPr>
          <p:cNvPr id="88" name="DOURO (RDD) · top 5 exact rules-delta-4">
            <a:extLst>
              <a:ext uri="{FF2B5EF4-FFF2-40B4-BE49-F238E27FC236}">
                <a16:creationId xmlns:a16="http://schemas.microsoft.com/office/drawing/2014/main" id="{A769B487-565A-4CA7-A36F-B35031BC1005}"/>
              </a:ext>
            </a:extLst>
          </p:cNvPr>
          <p:cNvSpPr>
            <a:spLocks noGrp="1"/>
          </p:cNvSpPr>
          <p:nvPr/>
        </p:nvSpPr>
        <p:spPr>
          <a:xfrm>
            <a:off x="5219700" y="5282528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006B45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006B45"/>
                </a:solidFill>
                <a:latin typeface="Arial"/>
                <a:ea typeface="Arial"/>
                <a:cs typeface="Arial"/>
              </a:rPr>
              <a:t>+192</a:t>
            </a:r>
          </a:p>
        </p:txBody>
      </p:sp>
      <p:sp>
        <p:nvSpPr>
          <p:cNvPr id="89" name="DOURO (RDD) · top 5 exact rules-row-5">
            <a:extLst>
              <a:ext uri="{FF2B5EF4-FFF2-40B4-BE49-F238E27FC236}">
                <a16:creationId xmlns:a16="http://schemas.microsoft.com/office/drawing/2014/main" id="{B60DCC57-2871-4489-9260-23A6714D105E}"/>
              </a:ext>
            </a:extLst>
          </p:cNvPr>
          <p:cNvSpPr>
            <a:spLocks noGrp="1"/>
          </p:cNvSpPr>
          <p:nvPr/>
        </p:nvSpPr>
        <p:spPr>
          <a:xfrm>
            <a:off x="619125" y="5701628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90" name="DOURO (RDD) · top 5 exact rules-rank-5">
            <a:extLst>
              <a:ext uri="{FF2B5EF4-FFF2-40B4-BE49-F238E27FC236}">
                <a16:creationId xmlns:a16="http://schemas.microsoft.com/office/drawing/2014/main" id="{6CFB75AF-055F-4945-9B14-2B789E41883C}"/>
              </a:ext>
            </a:extLst>
          </p:cNvPr>
          <p:cNvSpPr>
            <a:spLocks noGrp="1"/>
          </p:cNvSpPr>
          <p:nvPr/>
        </p:nvSpPr>
        <p:spPr>
          <a:xfrm>
            <a:off x="676275" y="5777828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1" name="DOURO (RDD) · top 5 exact rules-rule-5">
            <a:extLst>
              <a:ext uri="{FF2B5EF4-FFF2-40B4-BE49-F238E27FC236}">
                <a16:creationId xmlns:a16="http://schemas.microsoft.com/office/drawing/2014/main" id="{8A3DC211-FD85-416B-B943-6F80A95EB3C3}"/>
              </a:ext>
            </a:extLst>
          </p:cNvPr>
          <p:cNvSpPr>
            <a:spLocks noGrp="1"/>
          </p:cNvSpPr>
          <p:nvPr/>
        </p:nvSpPr>
        <p:spPr>
          <a:xfrm>
            <a:off x="1000125" y="5768303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Wet days post-Flowering [0-3.3 d]</a:t>
            </a:r>
          </a:p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pre-Maturity [0-3.7 d]</a:t>
            </a:r>
          </a:p>
        </p:txBody>
      </p:sp>
      <p:sp>
        <p:nvSpPr>
          <p:cNvPr id="92" name="DOURO (RDD) · top 5 exact rules-stats-5">
            <a:extLst>
              <a:ext uri="{FF2B5EF4-FFF2-40B4-BE49-F238E27FC236}">
                <a16:creationId xmlns:a16="http://schemas.microsoft.com/office/drawing/2014/main" id="{25DEE235-4A2F-428D-9ED7-6A29E6AEF646}"/>
              </a:ext>
            </a:extLst>
          </p:cNvPr>
          <p:cNvSpPr>
            <a:spLocks noGrp="1"/>
          </p:cNvSpPr>
          <p:nvPr/>
        </p:nvSpPr>
        <p:spPr>
          <a:xfrm>
            <a:off x="4429125" y="5727866"/>
            <a:ext cx="809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24.7%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~22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p=0.0110</a:t>
            </a:r>
          </a:p>
        </p:txBody>
      </p:sp>
      <p:sp>
        <p:nvSpPr>
          <p:cNvPr id="93" name="DOURO (RDD) · top 5 exact rules-delta-5">
            <a:extLst>
              <a:ext uri="{FF2B5EF4-FFF2-40B4-BE49-F238E27FC236}">
                <a16:creationId xmlns:a16="http://schemas.microsoft.com/office/drawing/2014/main" id="{2941ED15-9628-4E2E-9D47-E881274DF602}"/>
              </a:ext>
            </a:extLst>
          </p:cNvPr>
          <p:cNvSpPr>
            <a:spLocks noGrp="1"/>
          </p:cNvSpPr>
          <p:nvPr/>
        </p:nvSpPr>
        <p:spPr>
          <a:xfrm>
            <a:off x="5219700" y="5844503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006B45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006B45"/>
                </a:solidFill>
                <a:latin typeface="Arial"/>
                <a:ea typeface="Arial"/>
                <a:cs typeface="Arial"/>
              </a:rPr>
              <a:t>+115</a:t>
            </a:r>
          </a:p>
        </p:txBody>
      </p:sp>
      <p:sp>
        <p:nvSpPr>
          <p:cNvPr id="95" name="VINHO VERDE (RVV) · top 5 exact rules-title">
            <a:extLst>
              <a:ext uri="{FF2B5EF4-FFF2-40B4-BE49-F238E27FC236}">
                <a16:creationId xmlns:a16="http://schemas.microsoft.com/office/drawing/2014/main" id="{E4FF130D-2F13-40CC-8ABD-8D9C5062902F}"/>
              </a:ext>
            </a:extLst>
          </p:cNvPr>
          <p:cNvSpPr>
            <a:spLocks noGrp="1"/>
          </p:cNvSpPr>
          <p:nvPr/>
        </p:nvSpPr>
        <p:spPr>
          <a:xfrm>
            <a:off x="6369718" y="2323170"/>
            <a:ext cx="5019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88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VINHO VERDE (RVV) · top 5 exact rules</a:t>
            </a:r>
          </a:p>
        </p:txBody>
      </p:sp>
      <p:sp>
        <p:nvSpPr>
          <p:cNvPr id="96" name="VINHO VERDE (RVV) · top 5 exact rules-subtitle">
            <a:extLst>
              <a:ext uri="{FF2B5EF4-FFF2-40B4-BE49-F238E27FC236}">
                <a16:creationId xmlns:a16="http://schemas.microsoft.com/office/drawing/2014/main" id="{DB15BD91-EC28-4996-86DC-2E9BB6B7CBFD}"/>
              </a:ext>
            </a:extLst>
          </p:cNvPr>
          <p:cNvSpPr>
            <a:spLocks noGrp="1"/>
          </p:cNvSpPr>
          <p:nvPr/>
        </p:nvSpPr>
        <p:spPr>
          <a:xfrm>
            <a:off x="6524625" y="2713558"/>
            <a:ext cx="50196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9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9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Mostly below-trend: cool, moist conditions dominate the Atlantic region.</a:t>
            </a:r>
          </a:p>
        </p:txBody>
      </p:sp>
      <p:sp>
        <p:nvSpPr>
          <p:cNvPr id="97" name="VINHO VERDE (RVV) · top 5 exact rules-header">
            <a:extLst>
              <a:ext uri="{FF2B5EF4-FFF2-40B4-BE49-F238E27FC236}">
                <a16:creationId xmlns:a16="http://schemas.microsoft.com/office/drawing/2014/main" id="{F6527898-9793-4117-A67F-64E97FD453CA}"/>
              </a:ext>
            </a:extLst>
          </p:cNvPr>
          <p:cNvSpPr>
            <a:spLocks noGrp="1"/>
          </p:cNvSpPr>
          <p:nvPr/>
        </p:nvSpPr>
        <p:spPr>
          <a:xfrm>
            <a:off x="6524625" y="3048104"/>
            <a:ext cx="5133975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98" name="VINHO VERDE (RVV) · top 5 exact rules-h1">
            <a:extLst>
              <a:ext uri="{FF2B5EF4-FFF2-40B4-BE49-F238E27FC236}">
                <a16:creationId xmlns:a16="http://schemas.microsoft.com/office/drawing/2014/main" id="{32E01AC8-7921-467D-B0F8-AB21A99C1F50}"/>
              </a:ext>
            </a:extLst>
          </p:cNvPr>
          <p:cNvSpPr>
            <a:spLocks noGrp="1"/>
          </p:cNvSpPr>
          <p:nvPr/>
        </p:nvSpPr>
        <p:spPr>
          <a:xfrm>
            <a:off x="6581775" y="3095729"/>
            <a:ext cx="247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99" name="VINHO VERDE (RVV) · top 5 exact rules-h2">
            <a:extLst>
              <a:ext uri="{FF2B5EF4-FFF2-40B4-BE49-F238E27FC236}">
                <a16:creationId xmlns:a16="http://schemas.microsoft.com/office/drawing/2014/main" id="{38ACC8F6-530C-4811-B6E3-D6BC9F4C966A}"/>
              </a:ext>
            </a:extLst>
          </p:cNvPr>
          <p:cNvSpPr>
            <a:spLocks noGrp="1"/>
          </p:cNvSpPr>
          <p:nvPr/>
        </p:nvSpPr>
        <p:spPr>
          <a:xfrm>
            <a:off x="6905625" y="3080489"/>
            <a:ext cx="3524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Exact conditions from CarenR output</a:t>
            </a:r>
          </a:p>
        </p:txBody>
      </p:sp>
      <p:sp>
        <p:nvSpPr>
          <p:cNvPr id="100" name="VINHO VERDE (RVV) · top 5 exact rules-h3">
            <a:extLst>
              <a:ext uri="{FF2B5EF4-FFF2-40B4-BE49-F238E27FC236}">
                <a16:creationId xmlns:a16="http://schemas.microsoft.com/office/drawing/2014/main" id="{55B8D43B-E474-4BCA-A049-74EA1BED8912}"/>
              </a:ext>
            </a:extLst>
          </p:cNvPr>
          <p:cNvSpPr>
            <a:spLocks noGrp="1"/>
          </p:cNvSpPr>
          <p:nvPr/>
        </p:nvSpPr>
        <p:spPr>
          <a:xfrm>
            <a:off x="10267950" y="3080489"/>
            <a:ext cx="847725" cy="1029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support / p</a:t>
            </a:r>
          </a:p>
        </p:txBody>
      </p:sp>
      <p:sp>
        <p:nvSpPr>
          <p:cNvPr id="101" name="VINHO VERDE (RVV) · top 5 exact rules-h4">
            <a:extLst>
              <a:ext uri="{FF2B5EF4-FFF2-40B4-BE49-F238E27FC236}">
                <a16:creationId xmlns:a16="http://schemas.microsoft.com/office/drawing/2014/main" id="{34B9BCE8-05ED-442D-B9B8-A2164DA4E2DF}"/>
              </a:ext>
            </a:extLst>
          </p:cNvPr>
          <p:cNvSpPr>
            <a:spLocks noGrp="1"/>
          </p:cNvSpPr>
          <p:nvPr/>
        </p:nvSpPr>
        <p:spPr>
          <a:xfrm>
            <a:off x="11163300" y="3080489"/>
            <a:ext cx="523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13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Delta</a:t>
            </a:r>
          </a:p>
        </p:txBody>
      </p:sp>
      <p:sp>
        <p:nvSpPr>
          <p:cNvPr id="102" name="VINHO VERDE (RVV) · top 5 exact rules-row-1">
            <a:extLst>
              <a:ext uri="{FF2B5EF4-FFF2-40B4-BE49-F238E27FC236}">
                <a16:creationId xmlns:a16="http://schemas.microsoft.com/office/drawing/2014/main" id="{D7BD76E6-6821-43A6-8AE1-E20D277E1525}"/>
              </a:ext>
            </a:extLst>
          </p:cNvPr>
          <p:cNvSpPr>
            <a:spLocks noGrp="1"/>
          </p:cNvSpPr>
          <p:nvPr/>
        </p:nvSpPr>
        <p:spPr>
          <a:xfrm>
            <a:off x="6524625" y="3453728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103" name="VINHO VERDE (RVV) · top 5 exact rules-rank-1">
            <a:extLst>
              <a:ext uri="{FF2B5EF4-FFF2-40B4-BE49-F238E27FC236}">
                <a16:creationId xmlns:a16="http://schemas.microsoft.com/office/drawing/2014/main" id="{3FEF6280-78A9-4E7E-A57F-A8E8EA6F0A3F}"/>
              </a:ext>
            </a:extLst>
          </p:cNvPr>
          <p:cNvSpPr>
            <a:spLocks noGrp="1"/>
          </p:cNvSpPr>
          <p:nvPr/>
        </p:nvSpPr>
        <p:spPr>
          <a:xfrm>
            <a:off x="6581775" y="3529928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4" name="VINHO VERDE (RVV) · top 5 exact rules-rule-1">
            <a:extLst>
              <a:ext uri="{FF2B5EF4-FFF2-40B4-BE49-F238E27FC236}">
                <a16:creationId xmlns:a16="http://schemas.microsoft.com/office/drawing/2014/main" id="{B9A8FD12-2CAE-4D4A-849A-41358D68AB93}"/>
              </a:ext>
            </a:extLst>
          </p:cNvPr>
          <p:cNvSpPr>
            <a:spLocks noGrp="1"/>
          </p:cNvSpPr>
          <p:nvPr/>
        </p:nvSpPr>
        <p:spPr>
          <a:xfrm>
            <a:off x="6905625" y="3398483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Soil water pre-Harvest [61-97 mm]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pre-Maturity [0-1.9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post-Maturity [0-2.4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post-Flowering [0-1.1 d]</a:t>
            </a:r>
          </a:p>
        </p:txBody>
      </p:sp>
      <p:sp>
        <p:nvSpPr>
          <p:cNvPr id="105" name="VINHO VERDE (RVV) · top 5 exact rules-stats-1">
            <a:extLst>
              <a:ext uri="{FF2B5EF4-FFF2-40B4-BE49-F238E27FC236}">
                <a16:creationId xmlns:a16="http://schemas.microsoft.com/office/drawing/2014/main" id="{7F3E0124-A510-48D2-95CF-82530F0D6AE3}"/>
              </a:ext>
            </a:extLst>
          </p:cNvPr>
          <p:cNvSpPr>
            <a:spLocks noGrp="1"/>
          </p:cNvSpPr>
          <p:nvPr/>
        </p:nvSpPr>
        <p:spPr>
          <a:xfrm>
            <a:off x="10380345" y="3489923"/>
            <a:ext cx="7162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21.2%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~17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p=0.0198</a:t>
            </a:r>
          </a:p>
        </p:txBody>
      </p:sp>
      <p:sp>
        <p:nvSpPr>
          <p:cNvPr id="106" name="VINHO VERDE (RVV) · top 5 exact rules-delta-1">
            <a:extLst>
              <a:ext uri="{FF2B5EF4-FFF2-40B4-BE49-F238E27FC236}">
                <a16:creationId xmlns:a16="http://schemas.microsoft.com/office/drawing/2014/main" id="{AF9FE562-0DCD-44DE-A1DF-EAA7C0609DE9}"/>
              </a:ext>
            </a:extLst>
          </p:cNvPr>
          <p:cNvSpPr>
            <a:spLocks noGrp="1"/>
          </p:cNvSpPr>
          <p:nvPr/>
        </p:nvSpPr>
        <p:spPr>
          <a:xfrm>
            <a:off x="11125200" y="3596603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8B1E3F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8B1E3F"/>
                </a:solidFill>
                <a:latin typeface="Arial"/>
                <a:ea typeface="Arial"/>
                <a:cs typeface="Arial"/>
              </a:rPr>
              <a:t>-338</a:t>
            </a:r>
          </a:p>
        </p:txBody>
      </p:sp>
      <p:sp>
        <p:nvSpPr>
          <p:cNvPr id="107" name="VINHO VERDE (RVV) · top 5 exact rules-row-2">
            <a:extLst>
              <a:ext uri="{FF2B5EF4-FFF2-40B4-BE49-F238E27FC236}">
                <a16:creationId xmlns:a16="http://schemas.microsoft.com/office/drawing/2014/main" id="{373D1EC2-BBAB-46B0-854D-EA275A5D83A5}"/>
              </a:ext>
            </a:extLst>
          </p:cNvPr>
          <p:cNvSpPr>
            <a:spLocks noGrp="1"/>
          </p:cNvSpPr>
          <p:nvPr/>
        </p:nvSpPr>
        <p:spPr>
          <a:xfrm>
            <a:off x="6524625" y="4015703"/>
            <a:ext cx="5133975" cy="542925"/>
          </a:xfrm>
          <a:prstGeom prst="rect">
            <a:avLst/>
          </a:prstGeom>
          <a:solidFill>
            <a:srgbClr val="FAFAFA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108" name="VINHO VERDE (RVV) · top 5 exact rules-rank-2">
            <a:extLst>
              <a:ext uri="{FF2B5EF4-FFF2-40B4-BE49-F238E27FC236}">
                <a16:creationId xmlns:a16="http://schemas.microsoft.com/office/drawing/2014/main" id="{A4E68810-86DA-43E2-9F8A-A0A4961C36A6}"/>
              </a:ext>
            </a:extLst>
          </p:cNvPr>
          <p:cNvSpPr>
            <a:spLocks noGrp="1"/>
          </p:cNvSpPr>
          <p:nvPr/>
        </p:nvSpPr>
        <p:spPr>
          <a:xfrm>
            <a:off x="6581775" y="4091903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9" name="VINHO VERDE (RVV) · top 5 exact rules-rule-2">
            <a:extLst>
              <a:ext uri="{FF2B5EF4-FFF2-40B4-BE49-F238E27FC236}">
                <a16:creationId xmlns:a16="http://schemas.microsoft.com/office/drawing/2014/main" id="{6FF208B0-12A0-4F78-B688-A2C32692E926}"/>
              </a:ext>
            </a:extLst>
          </p:cNvPr>
          <p:cNvSpPr>
            <a:spLocks noGrp="1"/>
          </p:cNvSpPr>
          <p:nvPr/>
        </p:nvSpPr>
        <p:spPr>
          <a:xfrm>
            <a:off x="6905625" y="4036658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 at Flowering [13.8-17.1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deg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Temp post-Flowering [12.6-17.5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deg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Wet-soil days post-Flowering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prev.yr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[17.5-20 d]</a:t>
            </a:r>
          </a:p>
        </p:txBody>
      </p:sp>
      <p:sp>
        <p:nvSpPr>
          <p:cNvPr id="110" name="VINHO VERDE (RVV) · top 5 exact rules-stats-2">
            <a:extLst>
              <a:ext uri="{FF2B5EF4-FFF2-40B4-BE49-F238E27FC236}">
                <a16:creationId xmlns:a16="http://schemas.microsoft.com/office/drawing/2014/main" id="{A00D6CA8-3B4D-4693-92FC-25EE8654DD1C}"/>
              </a:ext>
            </a:extLst>
          </p:cNvPr>
          <p:cNvSpPr>
            <a:spLocks noGrp="1"/>
          </p:cNvSpPr>
          <p:nvPr/>
        </p:nvSpPr>
        <p:spPr>
          <a:xfrm>
            <a:off x="10380345" y="4051898"/>
            <a:ext cx="7162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21.2%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~17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p=0.0216</a:t>
            </a:r>
          </a:p>
        </p:txBody>
      </p:sp>
      <p:sp>
        <p:nvSpPr>
          <p:cNvPr id="111" name="VINHO VERDE (RVV) · top 5 exact rules-delta-2">
            <a:extLst>
              <a:ext uri="{FF2B5EF4-FFF2-40B4-BE49-F238E27FC236}">
                <a16:creationId xmlns:a16="http://schemas.microsoft.com/office/drawing/2014/main" id="{941CB26F-CCE5-40EE-A42B-C13290AFA9E7}"/>
              </a:ext>
            </a:extLst>
          </p:cNvPr>
          <p:cNvSpPr>
            <a:spLocks noGrp="1"/>
          </p:cNvSpPr>
          <p:nvPr/>
        </p:nvSpPr>
        <p:spPr>
          <a:xfrm>
            <a:off x="11125200" y="4158578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8B1E3F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8B1E3F"/>
                </a:solidFill>
                <a:latin typeface="Arial"/>
                <a:ea typeface="Arial"/>
                <a:cs typeface="Arial"/>
              </a:rPr>
              <a:t>-268</a:t>
            </a:r>
          </a:p>
        </p:txBody>
      </p:sp>
      <p:sp>
        <p:nvSpPr>
          <p:cNvPr id="112" name="VINHO VERDE (RVV) · top 5 exact rules-row-3">
            <a:extLst>
              <a:ext uri="{FF2B5EF4-FFF2-40B4-BE49-F238E27FC236}">
                <a16:creationId xmlns:a16="http://schemas.microsoft.com/office/drawing/2014/main" id="{C0D271DF-9622-40DD-AEFD-79DD728EFAE6}"/>
              </a:ext>
            </a:extLst>
          </p:cNvPr>
          <p:cNvSpPr>
            <a:spLocks noGrp="1"/>
          </p:cNvSpPr>
          <p:nvPr/>
        </p:nvSpPr>
        <p:spPr>
          <a:xfrm>
            <a:off x="6524625" y="4577678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113" name="VINHO VERDE (RVV) · top 5 exact rules-rank-3">
            <a:extLst>
              <a:ext uri="{FF2B5EF4-FFF2-40B4-BE49-F238E27FC236}">
                <a16:creationId xmlns:a16="http://schemas.microsoft.com/office/drawing/2014/main" id="{2AF7C3BD-C819-4FE0-BA17-582FBCE8C350}"/>
              </a:ext>
            </a:extLst>
          </p:cNvPr>
          <p:cNvSpPr>
            <a:spLocks noGrp="1"/>
          </p:cNvSpPr>
          <p:nvPr/>
        </p:nvSpPr>
        <p:spPr>
          <a:xfrm>
            <a:off x="6581775" y="4653878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4" name="VINHO VERDE (RVV) · top 5 exact rules-rule-3">
            <a:extLst>
              <a:ext uri="{FF2B5EF4-FFF2-40B4-BE49-F238E27FC236}">
                <a16:creationId xmlns:a16="http://schemas.microsoft.com/office/drawing/2014/main" id="{428B43F6-F93F-4B8C-88E1-D615DF4D7676}"/>
              </a:ext>
            </a:extLst>
          </p:cNvPr>
          <p:cNvSpPr>
            <a:spLocks noGrp="1"/>
          </p:cNvSpPr>
          <p:nvPr/>
        </p:nvSpPr>
        <p:spPr>
          <a:xfrm>
            <a:off x="6905625" y="4598633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Soil water post-Flowering [143-234 mm]</a:t>
            </a:r>
          </a:p>
          <a:p>
            <a:pPr>
              <a:buNone/>
              <a:defRPr sz="69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post-Maturity [0-2.4 d]</a:t>
            </a:r>
          </a:p>
        </p:txBody>
      </p:sp>
      <p:sp>
        <p:nvSpPr>
          <p:cNvPr id="115" name="VINHO VERDE (RVV) · top 5 exact rules-stats-3">
            <a:extLst>
              <a:ext uri="{FF2B5EF4-FFF2-40B4-BE49-F238E27FC236}">
                <a16:creationId xmlns:a16="http://schemas.microsoft.com/office/drawing/2014/main" id="{1F4B5520-16D5-4437-ABB5-D4BCB81A75C1}"/>
              </a:ext>
            </a:extLst>
          </p:cNvPr>
          <p:cNvSpPr>
            <a:spLocks noGrp="1"/>
          </p:cNvSpPr>
          <p:nvPr/>
        </p:nvSpPr>
        <p:spPr>
          <a:xfrm>
            <a:off x="10380345" y="4613873"/>
            <a:ext cx="7162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27.5%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~22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p=0.0294</a:t>
            </a:r>
          </a:p>
        </p:txBody>
      </p:sp>
      <p:sp>
        <p:nvSpPr>
          <p:cNvPr id="116" name="VINHO VERDE (RVV) · top 5 exact rules-delta-3">
            <a:extLst>
              <a:ext uri="{FF2B5EF4-FFF2-40B4-BE49-F238E27FC236}">
                <a16:creationId xmlns:a16="http://schemas.microsoft.com/office/drawing/2014/main" id="{10845E78-9200-4353-9A9A-EA2F0AA445A4}"/>
              </a:ext>
            </a:extLst>
          </p:cNvPr>
          <p:cNvSpPr>
            <a:spLocks noGrp="1"/>
          </p:cNvSpPr>
          <p:nvPr/>
        </p:nvSpPr>
        <p:spPr>
          <a:xfrm>
            <a:off x="11125200" y="4720553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8B1E3F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8B1E3F"/>
                </a:solidFill>
                <a:latin typeface="Arial"/>
                <a:ea typeface="Arial"/>
                <a:cs typeface="Arial"/>
              </a:rPr>
              <a:t>-365</a:t>
            </a:r>
          </a:p>
        </p:txBody>
      </p:sp>
      <p:sp>
        <p:nvSpPr>
          <p:cNvPr id="117" name="VINHO VERDE (RVV) · top 5 exact rules-row-4">
            <a:extLst>
              <a:ext uri="{FF2B5EF4-FFF2-40B4-BE49-F238E27FC236}">
                <a16:creationId xmlns:a16="http://schemas.microsoft.com/office/drawing/2014/main" id="{075D8346-807F-4E72-837A-F3385F79D05F}"/>
              </a:ext>
            </a:extLst>
          </p:cNvPr>
          <p:cNvSpPr>
            <a:spLocks noGrp="1"/>
          </p:cNvSpPr>
          <p:nvPr/>
        </p:nvSpPr>
        <p:spPr>
          <a:xfrm>
            <a:off x="6524625" y="5139653"/>
            <a:ext cx="5133975" cy="542925"/>
          </a:xfrm>
          <a:prstGeom prst="rect">
            <a:avLst/>
          </a:prstGeom>
          <a:solidFill>
            <a:srgbClr val="FAFAFA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118" name="VINHO VERDE (RVV) · top 5 exact rules-rank-4">
            <a:extLst>
              <a:ext uri="{FF2B5EF4-FFF2-40B4-BE49-F238E27FC236}">
                <a16:creationId xmlns:a16="http://schemas.microsoft.com/office/drawing/2014/main" id="{EFC3FE7D-F18B-45E5-8B09-5F83FD43BAB2}"/>
              </a:ext>
            </a:extLst>
          </p:cNvPr>
          <p:cNvSpPr>
            <a:spLocks noGrp="1"/>
          </p:cNvSpPr>
          <p:nvPr/>
        </p:nvSpPr>
        <p:spPr>
          <a:xfrm>
            <a:off x="6581775" y="5215853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9" name="VINHO VERDE (RVV) · top 5 exact rules-rule-4">
            <a:extLst>
              <a:ext uri="{FF2B5EF4-FFF2-40B4-BE49-F238E27FC236}">
                <a16:creationId xmlns:a16="http://schemas.microsoft.com/office/drawing/2014/main" id="{D47BE7F3-B4B5-411B-9414-C2751495F078}"/>
              </a:ext>
            </a:extLst>
          </p:cNvPr>
          <p:cNvSpPr>
            <a:spLocks noGrp="1"/>
          </p:cNvSpPr>
          <p:nvPr/>
        </p:nvSpPr>
        <p:spPr>
          <a:xfrm>
            <a:off x="6905625" y="5160608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 post-Budburst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prev.yr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[11.2-13.5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deg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Cold days at Flowering [0-3.4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post-Flowering [0-1.1 d]</a:t>
            </a:r>
          </a:p>
        </p:txBody>
      </p:sp>
      <p:sp>
        <p:nvSpPr>
          <p:cNvPr id="120" name="VINHO VERDE (RVV) · top 5 exact rules-stats-4">
            <a:extLst>
              <a:ext uri="{FF2B5EF4-FFF2-40B4-BE49-F238E27FC236}">
                <a16:creationId xmlns:a16="http://schemas.microsoft.com/office/drawing/2014/main" id="{2508B91C-B98B-4574-B6A5-4C8959FBAE7A}"/>
              </a:ext>
            </a:extLst>
          </p:cNvPr>
          <p:cNvSpPr>
            <a:spLocks noGrp="1"/>
          </p:cNvSpPr>
          <p:nvPr/>
        </p:nvSpPr>
        <p:spPr>
          <a:xfrm>
            <a:off x="10380345" y="5175848"/>
            <a:ext cx="7162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25.0%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~20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p=0.0298</a:t>
            </a:r>
          </a:p>
        </p:txBody>
      </p:sp>
      <p:sp>
        <p:nvSpPr>
          <p:cNvPr id="121" name="VINHO VERDE (RVV) · top 5 exact rules-delta-4">
            <a:extLst>
              <a:ext uri="{FF2B5EF4-FFF2-40B4-BE49-F238E27FC236}">
                <a16:creationId xmlns:a16="http://schemas.microsoft.com/office/drawing/2014/main" id="{A63417C1-8376-4A5A-96C8-8CCF9FD81DF7}"/>
              </a:ext>
            </a:extLst>
          </p:cNvPr>
          <p:cNvSpPr>
            <a:spLocks noGrp="1"/>
          </p:cNvSpPr>
          <p:nvPr/>
        </p:nvSpPr>
        <p:spPr>
          <a:xfrm>
            <a:off x="11125200" y="5282528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006B45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006B45"/>
                </a:solidFill>
                <a:latin typeface="Arial"/>
                <a:ea typeface="Arial"/>
                <a:cs typeface="Arial"/>
              </a:rPr>
              <a:t>+311</a:t>
            </a:r>
          </a:p>
        </p:txBody>
      </p:sp>
      <p:sp>
        <p:nvSpPr>
          <p:cNvPr id="122" name="VINHO VERDE (RVV) · top 5 exact rules-row-5">
            <a:extLst>
              <a:ext uri="{FF2B5EF4-FFF2-40B4-BE49-F238E27FC236}">
                <a16:creationId xmlns:a16="http://schemas.microsoft.com/office/drawing/2014/main" id="{BA18AF68-02F7-4E70-AC08-9AB15AA1948A}"/>
              </a:ext>
            </a:extLst>
          </p:cNvPr>
          <p:cNvSpPr>
            <a:spLocks noGrp="1"/>
          </p:cNvSpPr>
          <p:nvPr/>
        </p:nvSpPr>
        <p:spPr>
          <a:xfrm>
            <a:off x="6524625" y="5701628"/>
            <a:ext cx="51339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1CB"/>
            </a:solidFill>
            <a:prstDash val="solid"/>
          </a:ln>
        </p:spPr>
        <p:txBody>
          <a:bodyPr/>
          <a:lstStyle/>
          <a:p>
            <a:endParaRPr lang="en-GB" sz="2400" noProof="0" dirty="0"/>
          </a:p>
        </p:txBody>
      </p:sp>
      <p:sp>
        <p:nvSpPr>
          <p:cNvPr id="123" name="VINHO VERDE (RVV) · top 5 exact rules-rank-5">
            <a:extLst>
              <a:ext uri="{FF2B5EF4-FFF2-40B4-BE49-F238E27FC236}">
                <a16:creationId xmlns:a16="http://schemas.microsoft.com/office/drawing/2014/main" id="{8B7A3652-A3A9-4FBE-934D-F3A4FDCC9B94}"/>
              </a:ext>
            </a:extLst>
          </p:cNvPr>
          <p:cNvSpPr>
            <a:spLocks noGrp="1"/>
          </p:cNvSpPr>
          <p:nvPr/>
        </p:nvSpPr>
        <p:spPr>
          <a:xfrm>
            <a:off x="6581775" y="5777828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9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4" name="VINHO VERDE (RVV) · top 5 exact rules-rule-5">
            <a:extLst>
              <a:ext uri="{FF2B5EF4-FFF2-40B4-BE49-F238E27FC236}">
                <a16:creationId xmlns:a16="http://schemas.microsoft.com/office/drawing/2014/main" id="{00434A10-8EDF-4885-977A-A726DE335AD7}"/>
              </a:ext>
            </a:extLst>
          </p:cNvPr>
          <p:cNvSpPr>
            <a:spLocks noGrp="1"/>
          </p:cNvSpPr>
          <p:nvPr/>
        </p:nvSpPr>
        <p:spPr>
          <a:xfrm>
            <a:off x="6905625" y="5722583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 post-Flowering [12.6-17.5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deg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Heat days post-Maturity [0-2.4 d]</a:t>
            </a:r>
          </a:p>
          <a:p>
            <a:pPr>
              <a:buNone/>
              <a:defRPr sz="65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Wet-soil days post-Flowering </a:t>
            </a:r>
            <a:r>
              <a:rPr lang="en-GB" sz="900" noProof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prev.yr</a:t>
            </a:r>
            <a:r>
              <a:rPr lang="en-GB" sz="9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[17.5-20 d]</a:t>
            </a:r>
          </a:p>
        </p:txBody>
      </p:sp>
      <p:sp>
        <p:nvSpPr>
          <p:cNvPr id="125" name="VINHO VERDE (RVV) · top 5 exact rules-stats-5">
            <a:extLst>
              <a:ext uri="{FF2B5EF4-FFF2-40B4-BE49-F238E27FC236}">
                <a16:creationId xmlns:a16="http://schemas.microsoft.com/office/drawing/2014/main" id="{52C52760-C72D-481A-8220-72974FD1C32D}"/>
              </a:ext>
            </a:extLst>
          </p:cNvPr>
          <p:cNvSpPr>
            <a:spLocks noGrp="1"/>
          </p:cNvSpPr>
          <p:nvPr/>
        </p:nvSpPr>
        <p:spPr>
          <a:xfrm>
            <a:off x="10380345" y="5737823"/>
            <a:ext cx="7162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23.8%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~19 yr</a:t>
            </a:r>
          </a:p>
          <a:p>
            <a:pPr algn="ctr">
              <a:buNone/>
              <a:defRPr sz="69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lang="en-GB" sz="900" noProof="0" dirty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p=0.0299</a:t>
            </a:r>
          </a:p>
        </p:txBody>
      </p:sp>
      <p:sp>
        <p:nvSpPr>
          <p:cNvPr id="126" name="VINHO VERDE (RVV) · top 5 exact rules-delta-5">
            <a:extLst>
              <a:ext uri="{FF2B5EF4-FFF2-40B4-BE49-F238E27FC236}">
                <a16:creationId xmlns:a16="http://schemas.microsoft.com/office/drawing/2014/main" id="{2909253D-BEB3-4131-B532-E8036CCA2001}"/>
              </a:ext>
            </a:extLst>
          </p:cNvPr>
          <p:cNvSpPr>
            <a:spLocks noGrp="1"/>
          </p:cNvSpPr>
          <p:nvPr/>
        </p:nvSpPr>
        <p:spPr>
          <a:xfrm>
            <a:off x="11125200" y="5844503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10" b="1">
                <a:solidFill>
                  <a:srgbClr val="8B1E3F"/>
                </a:solidFill>
                <a:latin typeface="Arial"/>
                <a:ea typeface="Arial"/>
                <a:cs typeface="Arial"/>
              </a:defRPr>
            </a:pPr>
            <a:r>
              <a:rPr lang="en-GB" sz="1000" b="1" noProof="0" dirty="0">
                <a:solidFill>
                  <a:srgbClr val="8B1E3F"/>
                </a:solidFill>
                <a:latin typeface="Arial"/>
                <a:ea typeface="Arial"/>
                <a:cs typeface="Arial"/>
              </a:rPr>
              <a:t>-292</a:t>
            </a:r>
          </a:p>
        </p:txBody>
      </p:sp>
      <p:sp>
        <p:nvSpPr>
          <p:cNvPr id="127" name="exact-reading-band">
            <a:extLst>
              <a:ext uri="{FF2B5EF4-FFF2-40B4-BE49-F238E27FC236}">
                <a16:creationId xmlns:a16="http://schemas.microsoft.com/office/drawing/2014/main" id="{9488725A-99EC-4950-93BC-E208804B1375}"/>
              </a:ext>
            </a:extLst>
          </p:cNvPr>
          <p:cNvSpPr>
            <a:spLocks noGrp="1"/>
          </p:cNvSpPr>
          <p:nvPr/>
        </p:nvSpPr>
        <p:spPr>
          <a:xfrm>
            <a:off x="417492" y="1306283"/>
            <a:ext cx="11382375" cy="514350"/>
          </a:xfrm>
          <a:prstGeom prst="rect">
            <a:avLst/>
          </a:prstGeom>
          <a:solidFill>
            <a:srgbClr val="E8ECE8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28" name="exact-reading-label">
            <a:extLst>
              <a:ext uri="{FF2B5EF4-FFF2-40B4-BE49-F238E27FC236}">
                <a16:creationId xmlns:a16="http://schemas.microsoft.com/office/drawing/2014/main" id="{B7419DBB-3FC5-412A-904D-228AC62E1C34}"/>
              </a:ext>
            </a:extLst>
          </p:cNvPr>
          <p:cNvSpPr>
            <a:spLocks noGrp="1"/>
          </p:cNvSpPr>
          <p:nvPr/>
        </p:nvSpPr>
        <p:spPr>
          <a:xfrm>
            <a:off x="684192" y="1458683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088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How to read it</a:t>
            </a:r>
          </a:p>
        </p:txBody>
      </p:sp>
      <p:sp>
        <p:nvSpPr>
          <p:cNvPr id="129" name="exact-reading-main">
            <a:extLst>
              <a:ext uri="{FF2B5EF4-FFF2-40B4-BE49-F238E27FC236}">
                <a16:creationId xmlns:a16="http://schemas.microsoft.com/office/drawing/2014/main" id="{98556951-FCAE-4FC6-8D13-B394939FE914}"/>
              </a:ext>
            </a:extLst>
          </p:cNvPr>
          <p:cNvSpPr>
            <a:spLocks noGrp="1"/>
          </p:cNvSpPr>
          <p:nvPr/>
        </p:nvSpPr>
        <p:spPr>
          <a:xfrm>
            <a:off x="2065317" y="1439633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6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065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 is the share of historical years matching the rule; p is the KS-test evidence that the subgroup distribution differs from the full distribution.</a:t>
            </a:r>
          </a:p>
        </p:txBody>
      </p:sp>
      <p:sp>
        <p:nvSpPr>
          <p:cNvPr id="55" name="slide-number">
            <a:extLst>
              <a:ext uri="{FF2B5EF4-FFF2-40B4-BE49-F238E27FC236}">
                <a16:creationId xmlns:a16="http://schemas.microsoft.com/office/drawing/2014/main" id="{3EAB9F83-A019-4CC3-B7E0-33987C3A751C}"/>
              </a:ext>
            </a:extLst>
          </p:cNvPr>
          <p:cNvSpPr>
            <a:spLocks noGrp="1"/>
          </p:cNvSpPr>
          <p:nvPr/>
        </p:nvSpPr>
        <p:spPr>
          <a:xfrm>
            <a:off x="11287125" y="64173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lang="en-GB" sz="750" noProof="0" dirty="0">
                <a:solidFill>
                  <a:srgbClr val="5E66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30" name="exact-reading-label">
            <a:extLst>
              <a:ext uri="{FF2B5EF4-FFF2-40B4-BE49-F238E27FC236}">
                <a16:creationId xmlns:a16="http://schemas.microsoft.com/office/drawing/2014/main" id="{10866EB8-C08B-78E8-CD5E-817DEEA17DA9}"/>
              </a:ext>
            </a:extLst>
          </p:cNvPr>
          <p:cNvSpPr>
            <a:spLocks noGrp="1"/>
          </p:cNvSpPr>
          <p:nvPr/>
        </p:nvSpPr>
        <p:spPr>
          <a:xfrm rot="1602548">
            <a:off x="6886173" y="-96419"/>
            <a:ext cx="3199410" cy="5458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OUTPUT EXAMPLE</a:t>
            </a:r>
          </a:p>
        </p:txBody>
      </p:sp>
      <p:sp>
        <p:nvSpPr>
          <p:cNvPr id="131" name="exact-reading-label">
            <a:extLst>
              <a:ext uri="{FF2B5EF4-FFF2-40B4-BE49-F238E27FC236}">
                <a16:creationId xmlns:a16="http://schemas.microsoft.com/office/drawing/2014/main" id="{FFE4F70F-A496-340D-A0C5-C50FB8354806}"/>
              </a:ext>
            </a:extLst>
          </p:cNvPr>
          <p:cNvSpPr>
            <a:spLocks noGrp="1"/>
          </p:cNvSpPr>
          <p:nvPr/>
        </p:nvSpPr>
        <p:spPr>
          <a:xfrm rot="1602548">
            <a:off x="8690885" y="827730"/>
            <a:ext cx="3199410" cy="5458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OUTPUT EXAMPLE</a:t>
            </a:r>
          </a:p>
        </p:txBody>
      </p:sp>
      <p:sp>
        <p:nvSpPr>
          <p:cNvPr id="132" name="exact-reading-label">
            <a:extLst>
              <a:ext uri="{FF2B5EF4-FFF2-40B4-BE49-F238E27FC236}">
                <a16:creationId xmlns:a16="http://schemas.microsoft.com/office/drawing/2014/main" id="{3D332D97-64F9-9EA8-EC66-E67EBC641396}"/>
              </a:ext>
            </a:extLst>
          </p:cNvPr>
          <p:cNvSpPr>
            <a:spLocks noGrp="1"/>
          </p:cNvSpPr>
          <p:nvPr/>
        </p:nvSpPr>
        <p:spPr>
          <a:xfrm rot="1602548">
            <a:off x="10562713" y="1749236"/>
            <a:ext cx="3199410" cy="5458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rgbClr val="7B1E3A"/>
                </a:solidFill>
                <a:latin typeface="Arial"/>
                <a:ea typeface="Arial"/>
                <a:cs typeface="Arial"/>
              </a:rPr>
              <a:t>OUTPUT EXAMPLE</a:t>
            </a:r>
          </a:p>
        </p:txBody>
      </p:sp>
    </p:spTree>
    <p:extLst>
      <p:ext uri="{BB962C8B-B14F-4D97-AF65-F5344CB8AC3E}">
        <p14:creationId xmlns:p14="http://schemas.microsoft.com/office/powerpoint/2010/main" val="3493903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B4A5072B-BA12-434A-B2E7-F18E8ED57BD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CROSS-ALGORITHM VALIDATION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1F264F9-E6AB-45DA-AB03-06AFAE1D6A2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850336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32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Three optimization criteria recover the same feature families</a:t>
            </a:r>
          </a:p>
        </p:txBody>
      </p:sp>
      <p:sp>
        <p:nvSpPr>
          <p:cNvPr id="4" name="head">
            <a:extLst>
              <a:ext uri="{FF2B5EF4-FFF2-40B4-BE49-F238E27FC236}">
                <a16:creationId xmlns:a16="http://schemas.microsoft.com/office/drawing/2014/main" id="{28004806-4E78-4306-98C7-16C76F2412D4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061629" cy="4762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" name="head-0">
            <a:extLst>
              <a:ext uri="{FF2B5EF4-FFF2-40B4-BE49-F238E27FC236}">
                <a16:creationId xmlns:a16="http://schemas.microsoft.com/office/drawing/2014/main" id="{240AE2D6-0698-4772-B9CD-DE99E2226137}"/>
              </a:ext>
            </a:extLst>
          </p:cNvPr>
          <p:cNvSpPr>
            <a:spLocks noGrp="1"/>
          </p:cNvSpPr>
          <p:nvPr/>
        </p:nvSpPr>
        <p:spPr>
          <a:xfrm>
            <a:off x="495300" y="15811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275" b="1" noProof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6" name="head-1">
            <a:extLst>
              <a:ext uri="{FF2B5EF4-FFF2-40B4-BE49-F238E27FC236}">
                <a16:creationId xmlns:a16="http://schemas.microsoft.com/office/drawing/2014/main" id="{ECD317BD-7E1A-45FC-92F8-56AFA066E63C}"/>
              </a:ext>
            </a:extLst>
          </p:cNvPr>
          <p:cNvSpPr>
            <a:spLocks noGrp="1"/>
          </p:cNvSpPr>
          <p:nvPr/>
        </p:nvSpPr>
        <p:spPr>
          <a:xfrm>
            <a:off x="2762250" y="15811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275" b="1" noProof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CarenR</a:t>
            </a:r>
          </a:p>
        </p:txBody>
      </p:sp>
      <p:sp>
        <p:nvSpPr>
          <p:cNvPr id="7" name="head-2">
            <a:extLst>
              <a:ext uri="{FF2B5EF4-FFF2-40B4-BE49-F238E27FC236}">
                <a16:creationId xmlns:a16="http://schemas.microsoft.com/office/drawing/2014/main" id="{90CD6E49-F296-4D45-A364-D242FA0FE3A1}"/>
              </a:ext>
            </a:extLst>
          </p:cNvPr>
          <p:cNvSpPr>
            <a:spLocks noGrp="1"/>
          </p:cNvSpPr>
          <p:nvPr/>
        </p:nvSpPr>
        <p:spPr>
          <a:xfrm>
            <a:off x="5048250" y="15811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275" b="1" noProof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RIPPER</a:t>
            </a:r>
          </a:p>
        </p:txBody>
      </p:sp>
      <p:sp>
        <p:nvSpPr>
          <p:cNvPr id="8" name="head-3">
            <a:extLst>
              <a:ext uri="{FF2B5EF4-FFF2-40B4-BE49-F238E27FC236}">
                <a16:creationId xmlns:a16="http://schemas.microsoft.com/office/drawing/2014/main" id="{0EC2B971-7971-4EE0-A0EA-A56FCF57593C}"/>
              </a:ext>
            </a:extLst>
          </p:cNvPr>
          <p:cNvSpPr>
            <a:spLocks noGrp="1"/>
          </p:cNvSpPr>
          <p:nvPr/>
        </p:nvSpPr>
        <p:spPr>
          <a:xfrm>
            <a:off x="7334250" y="15811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275" b="1" noProof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M5Rules</a:t>
            </a:r>
          </a:p>
        </p:txBody>
      </p:sp>
      <p:sp>
        <p:nvSpPr>
          <p:cNvPr id="9" name="head-4">
            <a:extLst>
              <a:ext uri="{FF2B5EF4-FFF2-40B4-BE49-F238E27FC236}">
                <a16:creationId xmlns:a16="http://schemas.microsoft.com/office/drawing/2014/main" id="{B77E9BD3-1DD0-428B-A11B-E0AB12968431}"/>
              </a:ext>
            </a:extLst>
          </p:cNvPr>
          <p:cNvSpPr>
            <a:spLocks noGrp="1"/>
          </p:cNvSpPr>
          <p:nvPr/>
        </p:nvSpPr>
        <p:spPr>
          <a:xfrm>
            <a:off x="9525000" y="15811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275" b="1" noProof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0" name="row-0">
            <a:extLst>
              <a:ext uri="{FF2B5EF4-FFF2-40B4-BE49-F238E27FC236}">
                <a16:creationId xmlns:a16="http://schemas.microsoft.com/office/drawing/2014/main" id="{3BF20E06-64D0-44E4-A5F0-36ECB195CBFF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11061629" cy="7810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row-stripe-0">
            <a:extLst>
              <a:ext uri="{FF2B5EF4-FFF2-40B4-BE49-F238E27FC236}">
                <a16:creationId xmlns:a16="http://schemas.microsoft.com/office/drawing/2014/main" id="{97066061-65EF-4749-90EC-18E090FD6823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76200" cy="7810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2" name="row-0-0">
            <a:extLst>
              <a:ext uri="{FF2B5EF4-FFF2-40B4-BE49-F238E27FC236}">
                <a16:creationId xmlns:a16="http://schemas.microsoft.com/office/drawing/2014/main" id="{AFD69B4A-BDEA-4746-954D-8A951C5FA76A}"/>
              </a:ext>
            </a:extLst>
          </p:cNvPr>
          <p:cNvSpPr>
            <a:spLocks noGrp="1"/>
          </p:cNvSpPr>
          <p:nvPr/>
        </p:nvSpPr>
        <p:spPr>
          <a:xfrm>
            <a:off x="514350" y="21907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Harvest soil water</a:t>
            </a:r>
          </a:p>
        </p:txBody>
      </p:sp>
      <p:sp>
        <p:nvSpPr>
          <p:cNvPr id="13" name="row-0-1">
            <a:extLst>
              <a:ext uri="{FF2B5EF4-FFF2-40B4-BE49-F238E27FC236}">
                <a16:creationId xmlns:a16="http://schemas.microsoft.com/office/drawing/2014/main" id="{5983EA86-C875-438D-A7E0-A3B40416D5B2}"/>
              </a:ext>
            </a:extLst>
          </p:cNvPr>
          <p:cNvSpPr>
            <a:spLocks noGrp="1"/>
          </p:cNvSpPr>
          <p:nvPr/>
        </p:nvSpPr>
        <p:spPr>
          <a:xfrm>
            <a:off x="2781300" y="21907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54% of RDD rules</a:t>
            </a:r>
          </a:p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25% of RVV rules</a:t>
            </a:r>
          </a:p>
        </p:txBody>
      </p:sp>
      <p:sp>
        <p:nvSpPr>
          <p:cNvPr id="14" name="row-0-2">
            <a:extLst>
              <a:ext uri="{FF2B5EF4-FFF2-40B4-BE49-F238E27FC236}">
                <a16:creationId xmlns:a16="http://schemas.microsoft.com/office/drawing/2014/main" id="{ED728A9F-94B2-478C-A0AC-4D37875D9033}"/>
              </a:ext>
            </a:extLst>
          </p:cNvPr>
          <p:cNvSpPr>
            <a:spLocks noGrp="1"/>
          </p:cNvSpPr>
          <p:nvPr/>
        </p:nvSpPr>
        <p:spPr>
          <a:xfrm>
            <a:off x="5067300" y="21907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RVV Rule 3</a:t>
            </a:r>
          </a:p>
        </p:txBody>
      </p:sp>
      <p:sp>
        <p:nvSpPr>
          <p:cNvPr id="15" name="row-0-3">
            <a:extLst>
              <a:ext uri="{FF2B5EF4-FFF2-40B4-BE49-F238E27FC236}">
                <a16:creationId xmlns:a16="http://schemas.microsoft.com/office/drawing/2014/main" id="{3876A42C-1A63-441E-8CBE-9469A3C3BE45}"/>
              </a:ext>
            </a:extLst>
          </p:cNvPr>
          <p:cNvSpPr>
            <a:spLocks noGrp="1"/>
          </p:cNvSpPr>
          <p:nvPr/>
        </p:nvSpPr>
        <p:spPr>
          <a:xfrm>
            <a:off x="7353300" y="2190750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-2.3/mm RDD</a:t>
            </a:r>
          </a:p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-8.1/mm RVV</a:t>
            </a:r>
          </a:p>
        </p:txBody>
      </p:sp>
      <p:sp>
        <p:nvSpPr>
          <p:cNvPr id="16" name="row-0-4">
            <a:extLst>
              <a:ext uri="{FF2B5EF4-FFF2-40B4-BE49-F238E27FC236}">
                <a16:creationId xmlns:a16="http://schemas.microsoft.com/office/drawing/2014/main" id="{CA77C176-376C-47DA-8128-292B2EE3CBA8}"/>
              </a:ext>
            </a:extLst>
          </p:cNvPr>
          <p:cNvSpPr>
            <a:spLocks noGrp="1"/>
          </p:cNvSpPr>
          <p:nvPr/>
        </p:nvSpPr>
        <p:spPr>
          <a:xfrm>
            <a:off x="9544050" y="21907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HIGH</a:t>
            </a:r>
          </a:p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universal</a:t>
            </a:r>
          </a:p>
        </p:txBody>
      </p:sp>
      <p:sp>
        <p:nvSpPr>
          <p:cNvPr id="17" name="row-1">
            <a:extLst>
              <a:ext uri="{FF2B5EF4-FFF2-40B4-BE49-F238E27FC236}">
                <a16:creationId xmlns:a16="http://schemas.microsoft.com/office/drawing/2014/main" id="{9237A73F-35C1-4401-936C-C56A3468E4F7}"/>
              </a:ext>
            </a:extLst>
          </p:cNvPr>
          <p:cNvSpPr>
            <a:spLocks noGrp="1"/>
          </p:cNvSpPr>
          <p:nvPr/>
        </p:nvSpPr>
        <p:spPr>
          <a:xfrm>
            <a:off x="400050" y="2876550"/>
            <a:ext cx="11061629" cy="781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8" name="row-stripe-1">
            <a:extLst>
              <a:ext uri="{FF2B5EF4-FFF2-40B4-BE49-F238E27FC236}">
                <a16:creationId xmlns:a16="http://schemas.microsoft.com/office/drawing/2014/main" id="{D46B007F-3CF0-45B9-981E-E1E07D31E43D}"/>
              </a:ext>
            </a:extLst>
          </p:cNvPr>
          <p:cNvSpPr>
            <a:spLocks noGrp="1"/>
          </p:cNvSpPr>
          <p:nvPr/>
        </p:nvSpPr>
        <p:spPr>
          <a:xfrm>
            <a:off x="400050" y="2876550"/>
            <a:ext cx="76200" cy="7810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9" name="row-1-0">
            <a:extLst>
              <a:ext uri="{FF2B5EF4-FFF2-40B4-BE49-F238E27FC236}">
                <a16:creationId xmlns:a16="http://schemas.microsoft.com/office/drawing/2014/main" id="{FE0181AA-C614-4683-874C-6F120FA0F0B6}"/>
              </a:ext>
            </a:extLst>
          </p:cNvPr>
          <p:cNvSpPr>
            <a:spLocks noGrp="1"/>
          </p:cNvSpPr>
          <p:nvPr/>
        </p:nvSpPr>
        <p:spPr>
          <a:xfrm>
            <a:off x="514350" y="30670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LAI / canopy family</a:t>
            </a:r>
          </a:p>
        </p:txBody>
      </p:sp>
      <p:sp>
        <p:nvSpPr>
          <p:cNvPr id="20" name="row-1-1">
            <a:extLst>
              <a:ext uri="{FF2B5EF4-FFF2-40B4-BE49-F238E27FC236}">
                <a16:creationId xmlns:a16="http://schemas.microsoft.com/office/drawing/2014/main" id="{4F54F749-F3E4-4106-9727-F344D6FACE27}"/>
              </a:ext>
            </a:extLst>
          </p:cNvPr>
          <p:cNvSpPr>
            <a:spLocks noGrp="1"/>
          </p:cNvSpPr>
          <p:nvPr/>
        </p:nvSpPr>
        <p:spPr>
          <a:xfrm>
            <a:off x="2781300" y="30670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of 20 RVV rules</a:t>
            </a:r>
          </a:p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minor RDD signal</a:t>
            </a:r>
          </a:p>
        </p:txBody>
      </p:sp>
      <p:sp>
        <p:nvSpPr>
          <p:cNvPr id="21" name="row-1-2">
            <a:extLst>
              <a:ext uri="{FF2B5EF4-FFF2-40B4-BE49-F238E27FC236}">
                <a16:creationId xmlns:a16="http://schemas.microsoft.com/office/drawing/2014/main" id="{0A881306-6D0F-4BFF-87DC-85958CE1BD9B}"/>
              </a:ext>
            </a:extLst>
          </p:cNvPr>
          <p:cNvSpPr>
            <a:spLocks noGrp="1"/>
          </p:cNvSpPr>
          <p:nvPr/>
        </p:nvSpPr>
        <p:spPr>
          <a:xfrm>
            <a:off x="5067300" y="30670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RVV Rules 1-2</a:t>
            </a:r>
          </a:p>
        </p:txBody>
      </p:sp>
      <p:sp>
        <p:nvSpPr>
          <p:cNvPr id="22" name="row-1-3">
            <a:extLst>
              <a:ext uri="{FF2B5EF4-FFF2-40B4-BE49-F238E27FC236}">
                <a16:creationId xmlns:a16="http://schemas.microsoft.com/office/drawing/2014/main" id="{CD471D5F-AD30-4BF7-85AF-F48754C71FC4}"/>
              </a:ext>
            </a:extLst>
          </p:cNvPr>
          <p:cNvSpPr>
            <a:spLocks noGrp="1"/>
          </p:cNvSpPr>
          <p:nvPr/>
        </p:nvSpPr>
        <p:spPr>
          <a:xfrm>
            <a:off x="7353300" y="3067050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-2064/unit RVV</a:t>
            </a:r>
          </a:p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variable selected</a:t>
            </a:r>
          </a:p>
        </p:txBody>
      </p:sp>
      <p:sp>
        <p:nvSpPr>
          <p:cNvPr id="23" name="row-1-4">
            <a:extLst>
              <a:ext uri="{FF2B5EF4-FFF2-40B4-BE49-F238E27FC236}">
                <a16:creationId xmlns:a16="http://schemas.microsoft.com/office/drawing/2014/main" id="{700F1BB6-3257-4BBB-9F08-B392C62F9890}"/>
              </a:ext>
            </a:extLst>
          </p:cNvPr>
          <p:cNvSpPr>
            <a:spLocks noGrp="1"/>
          </p:cNvSpPr>
          <p:nvPr/>
        </p:nvSpPr>
        <p:spPr>
          <a:xfrm>
            <a:off x="9544050" y="30670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HIGH</a:t>
            </a:r>
          </a:p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universal</a:t>
            </a:r>
          </a:p>
        </p:txBody>
      </p:sp>
      <p:sp>
        <p:nvSpPr>
          <p:cNvPr id="24" name="row-2">
            <a:extLst>
              <a:ext uri="{FF2B5EF4-FFF2-40B4-BE49-F238E27FC236}">
                <a16:creationId xmlns:a16="http://schemas.microsoft.com/office/drawing/2014/main" id="{0AE1EFCF-7CCF-46E6-BFA1-4DCA2C293028}"/>
              </a:ext>
            </a:extLst>
          </p:cNvPr>
          <p:cNvSpPr>
            <a:spLocks noGrp="1"/>
          </p:cNvSpPr>
          <p:nvPr/>
        </p:nvSpPr>
        <p:spPr>
          <a:xfrm>
            <a:off x="400050" y="3752850"/>
            <a:ext cx="11061629" cy="781050"/>
          </a:xfrm>
          <a:prstGeom prst="rect">
            <a:avLst/>
          </a:prstGeom>
          <a:solidFill>
            <a:schemeClr val="bg1">
              <a:lumMod val="85000"/>
              <a:alpha val="29732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5" name="row-stripe-2">
            <a:extLst>
              <a:ext uri="{FF2B5EF4-FFF2-40B4-BE49-F238E27FC236}">
                <a16:creationId xmlns:a16="http://schemas.microsoft.com/office/drawing/2014/main" id="{FF693BBF-D29D-4FDE-95AB-F2021E0069E5}"/>
              </a:ext>
            </a:extLst>
          </p:cNvPr>
          <p:cNvSpPr>
            <a:spLocks noGrp="1"/>
          </p:cNvSpPr>
          <p:nvPr/>
        </p:nvSpPr>
        <p:spPr>
          <a:xfrm>
            <a:off x="400050" y="3752850"/>
            <a:ext cx="76200" cy="781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6" name="row-2-0">
            <a:extLst>
              <a:ext uri="{FF2B5EF4-FFF2-40B4-BE49-F238E27FC236}">
                <a16:creationId xmlns:a16="http://schemas.microsoft.com/office/drawing/2014/main" id="{7D4C0145-8EAD-4464-AC0B-2D6F0FB58694}"/>
              </a:ext>
            </a:extLst>
          </p:cNvPr>
          <p:cNvSpPr>
            <a:spLocks noGrp="1"/>
          </p:cNvSpPr>
          <p:nvPr/>
        </p:nvSpPr>
        <p:spPr>
          <a:xfrm>
            <a:off x="514350" y="39433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Previous-year</a:t>
            </a:r>
          </a:p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summer temperature</a:t>
            </a:r>
          </a:p>
        </p:txBody>
      </p:sp>
      <p:sp>
        <p:nvSpPr>
          <p:cNvPr id="27" name="row-2-1">
            <a:extLst>
              <a:ext uri="{FF2B5EF4-FFF2-40B4-BE49-F238E27FC236}">
                <a16:creationId xmlns:a16="http://schemas.microsoft.com/office/drawing/2014/main" id="{7665B875-F9D1-4FB5-8DB5-0A8D5D0D008F}"/>
              </a:ext>
            </a:extLst>
          </p:cNvPr>
          <p:cNvSpPr>
            <a:spLocks noGrp="1"/>
          </p:cNvSpPr>
          <p:nvPr/>
        </p:nvSpPr>
        <p:spPr>
          <a:xfrm>
            <a:off x="2781300" y="39433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RVV carry-over</a:t>
            </a:r>
          </a:p>
        </p:txBody>
      </p:sp>
      <p:sp>
        <p:nvSpPr>
          <p:cNvPr id="28" name="row-2-2">
            <a:extLst>
              <a:ext uri="{FF2B5EF4-FFF2-40B4-BE49-F238E27FC236}">
                <a16:creationId xmlns:a16="http://schemas.microsoft.com/office/drawing/2014/main" id="{268EF026-D849-4583-BA3D-2B457FF0E364}"/>
              </a:ext>
            </a:extLst>
          </p:cNvPr>
          <p:cNvSpPr>
            <a:spLocks noGrp="1"/>
          </p:cNvSpPr>
          <p:nvPr/>
        </p:nvSpPr>
        <p:spPr>
          <a:xfrm>
            <a:off x="5067300" y="39433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RVV Rule 3</a:t>
            </a:r>
          </a:p>
        </p:txBody>
      </p:sp>
      <p:sp>
        <p:nvSpPr>
          <p:cNvPr id="29" name="row-2-3">
            <a:extLst>
              <a:ext uri="{FF2B5EF4-FFF2-40B4-BE49-F238E27FC236}">
                <a16:creationId xmlns:a16="http://schemas.microsoft.com/office/drawing/2014/main" id="{778F269B-027C-47CF-AB1F-6542C63BEE1D}"/>
              </a:ext>
            </a:extLst>
          </p:cNvPr>
          <p:cNvSpPr>
            <a:spLocks noGrp="1"/>
          </p:cNvSpPr>
          <p:nvPr/>
        </p:nvSpPr>
        <p:spPr>
          <a:xfrm>
            <a:off x="7353300" y="3943350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+17.2/C RVV</a:t>
            </a:r>
          </a:p>
        </p:txBody>
      </p:sp>
      <p:sp>
        <p:nvSpPr>
          <p:cNvPr id="30" name="row-2-4">
            <a:extLst>
              <a:ext uri="{FF2B5EF4-FFF2-40B4-BE49-F238E27FC236}">
                <a16:creationId xmlns:a16="http://schemas.microsoft.com/office/drawing/2014/main" id="{786350BB-9810-468D-ACF9-D7BAE586E6DB}"/>
              </a:ext>
            </a:extLst>
          </p:cNvPr>
          <p:cNvSpPr>
            <a:spLocks noGrp="1"/>
          </p:cNvSpPr>
          <p:nvPr/>
        </p:nvSpPr>
        <p:spPr>
          <a:xfrm>
            <a:off x="9544050" y="39433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HIGH</a:t>
            </a:r>
          </a:p>
          <a:p>
            <a:pPr algn="ctr">
              <a:buNone/>
              <a:defRPr sz="1200" b="1">
                <a:solidFill>
                  <a:srgbClr val="2F7D50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2F7D50"/>
                </a:solidFill>
                <a:latin typeface="Arial"/>
                <a:ea typeface="Arial"/>
                <a:cs typeface="Arial"/>
              </a:rPr>
              <a:t>RVV focus</a:t>
            </a:r>
          </a:p>
        </p:txBody>
      </p:sp>
      <p:sp>
        <p:nvSpPr>
          <p:cNvPr id="31" name="row-3">
            <a:extLst>
              <a:ext uri="{FF2B5EF4-FFF2-40B4-BE49-F238E27FC236}">
                <a16:creationId xmlns:a16="http://schemas.microsoft.com/office/drawing/2014/main" id="{4B8BFF02-34BB-4A01-B8D4-B498C4C78FF0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11382375" cy="781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2" name="row-stripe-3">
            <a:extLst>
              <a:ext uri="{FF2B5EF4-FFF2-40B4-BE49-F238E27FC236}">
                <a16:creationId xmlns:a16="http://schemas.microsoft.com/office/drawing/2014/main" id="{E84A46B4-8578-47C4-9B49-EC9BB6B3396D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76200" cy="781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3" name="row-3-0">
            <a:extLst>
              <a:ext uri="{FF2B5EF4-FFF2-40B4-BE49-F238E27FC236}">
                <a16:creationId xmlns:a16="http://schemas.microsoft.com/office/drawing/2014/main" id="{AE7ABD1F-D258-4210-8C3A-FA1645505525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Wet days</a:t>
            </a:r>
          </a:p>
          <a:p>
            <a:pPr algn="l">
              <a:buNone/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after flowering</a:t>
            </a:r>
          </a:p>
        </p:txBody>
      </p:sp>
      <p:sp>
        <p:nvSpPr>
          <p:cNvPr id="34" name="row-3-1">
            <a:extLst>
              <a:ext uri="{FF2B5EF4-FFF2-40B4-BE49-F238E27FC236}">
                <a16:creationId xmlns:a16="http://schemas.microsoft.com/office/drawing/2014/main" id="{3DE46D45-4A28-48D5-8C76-8AC9DE51FB62}"/>
              </a:ext>
            </a:extLst>
          </p:cNvPr>
          <p:cNvSpPr>
            <a:spLocks noGrp="1"/>
          </p:cNvSpPr>
          <p:nvPr/>
        </p:nvSpPr>
        <p:spPr>
          <a:xfrm>
            <a:off x="2781300" y="4855275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21% of RDD rules</a:t>
            </a:r>
          </a:p>
        </p:txBody>
      </p:sp>
      <p:sp>
        <p:nvSpPr>
          <p:cNvPr id="35" name="row-3-2">
            <a:extLst>
              <a:ext uri="{FF2B5EF4-FFF2-40B4-BE49-F238E27FC236}">
                <a16:creationId xmlns:a16="http://schemas.microsoft.com/office/drawing/2014/main" id="{E5399C0F-F883-4011-8C65-931B275145E7}"/>
              </a:ext>
            </a:extLst>
          </p:cNvPr>
          <p:cNvSpPr>
            <a:spLocks noGrp="1"/>
          </p:cNvSpPr>
          <p:nvPr/>
        </p:nvSpPr>
        <p:spPr>
          <a:xfrm>
            <a:off x="5067300" y="48196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not selected</a:t>
            </a:r>
          </a:p>
        </p:txBody>
      </p:sp>
      <p:sp>
        <p:nvSpPr>
          <p:cNvPr id="36" name="row-3-3">
            <a:extLst>
              <a:ext uri="{FF2B5EF4-FFF2-40B4-BE49-F238E27FC236}">
                <a16:creationId xmlns:a16="http://schemas.microsoft.com/office/drawing/2014/main" id="{E9F969D3-742F-4BC0-B12F-3F7075610ECC}"/>
              </a:ext>
            </a:extLst>
          </p:cNvPr>
          <p:cNvSpPr>
            <a:spLocks noGrp="1"/>
          </p:cNvSpPr>
          <p:nvPr/>
        </p:nvSpPr>
        <p:spPr>
          <a:xfrm>
            <a:off x="7353300" y="4819650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38" b="1" noProof="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not selected</a:t>
            </a:r>
          </a:p>
        </p:txBody>
      </p:sp>
      <p:sp>
        <p:nvSpPr>
          <p:cNvPr id="37" name="row-3-4">
            <a:extLst>
              <a:ext uri="{FF2B5EF4-FFF2-40B4-BE49-F238E27FC236}">
                <a16:creationId xmlns:a16="http://schemas.microsoft.com/office/drawing/2014/main" id="{8D20C81B-C994-4B52-9CBE-C2CE856C6901}"/>
              </a:ext>
            </a:extLst>
          </p:cNvPr>
          <p:cNvSpPr>
            <a:spLocks noGrp="1"/>
          </p:cNvSpPr>
          <p:nvPr/>
        </p:nvSpPr>
        <p:spPr>
          <a:xfrm>
            <a:off x="9544050" y="48196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MODERATE</a:t>
            </a:r>
          </a:p>
          <a:p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200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CarenR-specific</a:t>
            </a:r>
          </a:p>
        </p:txBody>
      </p:sp>
      <p:sp>
        <p:nvSpPr>
          <p:cNvPr id="40" name="takeaway-text">
            <a:extLst>
              <a:ext uri="{FF2B5EF4-FFF2-40B4-BE49-F238E27FC236}">
                <a16:creationId xmlns:a16="http://schemas.microsoft.com/office/drawing/2014/main" id="{6FD1F178-A44F-45E9-8AB7-038F799C304B}"/>
              </a:ext>
            </a:extLst>
          </p:cNvPr>
          <p:cNvSpPr>
            <a:spLocks noGrp="1"/>
          </p:cNvSpPr>
          <p:nvPr/>
        </p:nvSpPr>
        <p:spPr>
          <a:xfrm>
            <a:off x="320040" y="5792331"/>
            <a:ext cx="1118044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2000" b="1" noProof="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AGREEMENT ACROSS 3 INDEPENDENT METHODS IS THE STRONGEST EVIDENCE THAT THE RULE FEATURES REFLECT REAL DATA STRUCTURE, NOT ALGORITHMIC NOISE.</a:t>
            </a:r>
          </a:p>
        </p:txBody>
      </p:sp>
      <p:sp>
        <p:nvSpPr>
          <p:cNvPr id="42" name="slide-number">
            <a:extLst>
              <a:ext uri="{FF2B5EF4-FFF2-40B4-BE49-F238E27FC236}">
                <a16:creationId xmlns:a16="http://schemas.microsoft.com/office/drawing/2014/main" id="{EBDE243A-B4DD-443E-ACD1-156DBD25910E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3E24E9-762C-F6A6-E13B-D740169DA6C8}"/>
              </a:ext>
            </a:extLst>
          </p:cNvPr>
          <p:cNvSpPr>
            <a:spLocks noGrp="1"/>
          </p:cNvSpPr>
          <p:nvPr/>
        </p:nvSpPr>
        <p:spPr>
          <a:xfrm>
            <a:off x="9760448" y="1943100"/>
            <a:ext cx="1526677" cy="2590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noProof="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A4A316-5C89-9931-7A24-0A9643A9BB1E}"/>
              </a:ext>
            </a:extLst>
          </p:cNvPr>
          <p:cNvSpPr>
            <a:spLocks noGrp="1"/>
          </p:cNvSpPr>
          <p:nvPr/>
        </p:nvSpPr>
        <p:spPr>
          <a:xfrm>
            <a:off x="9760447" y="4724400"/>
            <a:ext cx="1526677" cy="6857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en-GB" noProof="0" dirty="0"/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16</a:t>
            </a:r>
          </a:p>
        </p:txBody>
      </p:sp>
      <p:sp>
        <p:nvSpPr>
          <p:cNvPr id="39" name="row-2">
            <a:extLst>
              <a:ext uri="{FF2B5EF4-FFF2-40B4-BE49-F238E27FC236}">
                <a16:creationId xmlns:a16="http://schemas.microsoft.com/office/drawing/2014/main" id="{6833B2C3-89BE-A4FA-04B6-9DCDD227E7E3}"/>
              </a:ext>
            </a:extLst>
          </p:cNvPr>
          <p:cNvSpPr>
            <a:spLocks noGrp="1"/>
          </p:cNvSpPr>
          <p:nvPr/>
        </p:nvSpPr>
        <p:spPr>
          <a:xfrm>
            <a:off x="400050" y="2886694"/>
            <a:ext cx="11061629" cy="781050"/>
          </a:xfrm>
          <a:prstGeom prst="rect">
            <a:avLst/>
          </a:prstGeom>
          <a:solidFill>
            <a:schemeClr val="bg1">
              <a:lumMod val="85000"/>
              <a:alpha val="29732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41" name="row-2">
            <a:extLst>
              <a:ext uri="{FF2B5EF4-FFF2-40B4-BE49-F238E27FC236}">
                <a16:creationId xmlns:a16="http://schemas.microsoft.com/office/drawing/2014/main" id="{72E154EF-4DC2-F8BF-DC62-62785967FCA6}"/>
              </a:ext>
            </a:extLst>
          </p:cNvPr>
          <p:cNvSpPr>
            <a:spLocks noGrp="1"/>
          </p:cNvSpPr>
          <p:nvPr/>
        </p:nvSpPr>
        <p:spPr>
          <a:xfrm>
            <a:off x="400050" y="2039092"/>
            <a:ext cx="11061629" cy="781050"/>
          </a:xfrm>
          <a:prstGeom prst="rect">
            <a:avLst/>
          </a:prstGeom>
          <a:solidFill>
            <a:schemeClr val="bg1">
              <a:lumMod val="85000"/>
              <a:alpha val="29732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43" name="row-2">
            <a:extLst>
              <a:ext uri="{FF2B5EF4-FFF2-40B4-BE49-F238E27FC236}">
                <a16:creationId xmlns:a16="http://schemas.microsoft.com/office/drawing/2014/main" id="{9E86CE2B-B34D-D86A-7C5C-23766DD166D3}"/>
              </a:ext>
            </a:extLst>
          </p:cNvPr>
          <p:cNvSpPr>
            <a:spLocks noGrp="1"/>
          </p:cNvSpPr>
          <p:nvPr/>
        </p:nvSpPr>
        <p:spPr>
          <a:xfrm>
            <a:off x="400050" y="4639294"/>
            <a:ext cx="11061629" cy="781050"/>
          </a:xfrm>
          <a:prstGeom prst="rect">
            <a:avLst/>
          </a:prstGeom>
          <a:solidFill>
            <a:schemeClr val="bg1">
              <a:lumMod val="85000"/>
              <a:alpha val="29732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29849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AB6C1F-0607-4031-ABC5-0095DEF2528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RESULTS ·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8489AE-2FE7-4C5E-AF86-6DC162B3ECD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Goal 1 - Two checks confirm the discovered signal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071813-178A-4668-B798-3B3BA67F7842}"/>
              </a:ext>
            </a:extLst>
          </p:cNvPr>
          <p:cNvSpPr>
            <a:spLocks noGrp="1"/>
          </p:cNvSpPr>
          <p:nvPr/>
        </p:nvSpPr>
        <p:spPr>
          <a:xfrm>
            <a:off x="400050" y="1571997"/>
            <a:ext cx="5334000" cy="35462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FFC28D-DB85-4E66-835D-59782951DDDC}"/>
              </a:ext>
            </a:extLst>
          </p:cNvPr>
          <p:cNvSpPr>
            <a:spLocks noGrp="1"/>
          </p:cNvSpPr>
          <p:nvPr/>
        </p:nvSpPr>
        <p:spPr>
          <a:xfrm>
            <a:off x="6457950" y="1571997"/>
            <a:ext cx="5334000" cy="354627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28929C-D451-4275-8778-3921EC295B7D}"/>
              </a:ext>
            </a:extLst>
          </p:cNvPr>
          <p:cNvSpPr>
            <a:spLocks noGrp="1"/>
          </p:cNvSpPr>
          <p:nvPr/>
        </p:nvSpPr>
        <p:spPr>
          <a:xfrm>
            <a:off x="714375" y="1715372"/>
            <a:ext cx="523875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4248E8-66EB-4F98-A8F6-BE829DC1CE16}"/>
              </a:ext>
            </a:extLst>
          </p:cNvPr>
          <p:cNvSpPr>
            <a:spLocks noGrp="1"/>
          </p:cNvSpPr>
          <p:nvPr/>
        </p:nvSpPr>
        <p:spPr>
          <a:xfrm>
            <a:off x="714375" y="2199425"/>
            <a:ext cx="428625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AGGRESSIVE DETRENDING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EC56D5-02AF-4B5C-87FA-2B71BF7DDC75}"/>
              </a:ext>
            </a:extLst>
          </p:cNvPr>
          <p:cNvSpPr>
            <a:spLocks noGrp="1"/>
          </p:cNvSpPr>
          <p:nvPr/>
        </p:nvSpPr>
        <p:spPr>
          <a:xfrm>
            <a:off x="714375" y="2845993"/>
            <a:ext cx="4286250" cy="1095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RDD signals persist after </a:t>
            </a:r>
            <a:r>
              <a:rPr lang="en-GB" b="1" noProof="0" dirty="0">
                <a:solidFill>
                  <a:schemeClr val="bg1"/>
                </a:solidFill>
              </a:rPr>
              <a:t>LOESS</a:t>
            </a:r>
            <a:r>
              <a:rPr lang="en-GB" noProof="0" dirty="0">
                <a:solidFill>
                  <a:schemeClr val="bg1"/>
                </a:solidFill>
              </a:rPr>
              <a:t>; in RVV, wet-days persist while LAI and soil water are era-linked.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8B137C-1607-4469-8C8F-2479D534E651}"/>
              </a:ext>
            </a:extLst>
          </p:cNvPr>
          <p:cNvSpPr>
            <a:spLocks noGrp="1"/>
          </p:cNvSpPr>
          <p:nvPr/>
        </p:nvSpPr>
        <p:spPr>
          <a:xfrm>
            <a:off x="562490" y="4319413"/>
            <a:ext cx="4438135" cy="333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lang="en-GB" sz="1700" noProof="0" dirty="0">
                <a:solidFill>
                  <a:schemeClr val="accent2"/>
                </a:solidFill>
              </a:rPr>
              <a:t>→ The signal is real, but not equally stable across regions.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BB8BF4-90C8-457C-BBB5-F8839C747709}"/>
              </a:ext>
            </a:extLst>
          </p:cNvPr>
          <p:cNvSpPr>
            <a:spLocks noGrp="1"/>
          </p:cNvSpPr>
          <p:nvPr/>
        </p:nvSpPr>
        <p:spPr>
          <a:xfrm>
            <a:off x="6762750" y="1715372"/>
            <a:ext cx="523875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51A354-F60E-492D-B694-BDAEFB3BE9B0}"/>
              </a:ext>
            </a:extLst>
          </p:cNvPr>
          <p:cNvSpPr>
            <a:spLocks noGrp="1"/>
          </p:cNvSpPr>
          <p:nvPr/>
        </p:nvSpPr>
        <p:spPr>
          <a:xfrm>
            <a:off x="6762750" y="2199425"/>
            <a:ext cx="428625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INDEPENDENT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2D1666-E110-43AC-85EF-E5775FEFDFDC}"/>
              </a:ext>
            </a:extLst>
          </p:cNvPr>
          <p:cNvSpPr>
            <a:spLocks noGrp="1"/>
          </p:cNvSpPr>
          <p:nvPr/>
        </p:nvSpPr>
        <p:spPr>
          <a:xfrm>
            <a:off x="6762750" y="2845993"/>
            <a:ext cx="4286250" cy="1095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000" b="1" noProof="0" dirty="0"/>
              <a:t>RIPPER</a:t>
            </a:r>
            <a:r>
              <a:rPr lang="en-GB" sz="2000" noProof="0" dirty="0"/>
              <a:t> and </a:t>
            </a:r>
            <a:r>
              <a:rPr lang="en-GB" sz="2000" b="1" noProof="0" dirty="0"/>
              <a:t>M5Rules</a:t>
            </a:r>
            <a:r>
              <a:rPr lang="en-GB" sz="2000" noProof="0" dirty="0"/>
              <a:t> converge on harvest soil water, LAI and previous-year temperature.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8FDB59-49EE-4396-8FC6-4BC0D1F938AD}"/>
              </a:ext>
            </a:extLst>
          </p:cNvPr>
          <p:cNvSpPr>
            <a:spLocks noGrp="1"/>
          </p:cNvSpPr>
          <p:nvPr/>
        </p:nvSpPr>
        <p:spPr>
          <a:xfrm>
            <a:off x="6620390" y="4319413"/>
            <a:ext cx="4286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→ The signal is not CarenR-specific.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2C7B32-88CA-4491-9A68-8A0173A4B4FE}"/>
              </a:ext>
            </a:extLst>
          </p:cNvPr>
          <p:cNvSpPr>
            <a:spLocks noGrp="1"/>
          </p:cNvSpPr>
          <p:nvPr/>
        </p:nvSpPr>
        <p:spPr>
          <a:xfrm>
            <a:off x="409575" y="5632731"/>
            <a:ext cx="11382375" cy="4572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2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DISCOVERY IS CREDIBLE — BUT CREDIBILITY IS NOT YET PREDICTIVE UTILITY.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995168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C1475E-AA07-48A5-A121-AE8067E087C4}"/>
              </a:ext>
            </a:extLst>
          </p:cNvPr>
          <p:cNvSpPr>
            <a:spLocks noGrp="1"/>
          </p:cNvSpPr>
          <p:nvPr/>
        </p:nvSpPr>
        <p:spPr>
          <a:xfrm>
            <a:off x="449726" y="24765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METHOD · PREDICTION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96D8D4-2C78-44D0-B41C-8BF91500E80E}"/>
              </a:ext>
            </a:extLst>
          </p:cNvPr>
          <p:cNvSpPr>
            <a:spLocks noGrp="1"/>
          </p:cNvSpPr>
          <p:nvPr/>
        </p:nvSpPr>
        <p:spPr>
          <a:xfrm>
            <a:off x="449726" y="533400"/>
            <a:ext cx="969645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3600" noProof="0" dirty="0"/>
              <a:t>Goal 2 recreates prediction-time information</a:t>
            </a:r>
          </a:p>
        </p:txBody>
      </p:sp>
      <p:pic>
        <p:nvPicPr>
          <p:cNvPr id="124" name="Picture 9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88880" y="1127968"/>
            <a:ext cx="3406987" cy="4501468"/>
          </a:xfrm>
          <a:prstGeom prst="rect">
            <a:avLst/>
          </a:prstGeom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BDA2EE-48CB-4940-88FA-F58EC07A5994}"/>
              </a:ext>
            </a:extLst>
          </p:cNvPr>
          <p:cNvSpPr>
            <a:spLocks noGrp="1"/>
          </p:cNvSpPr>
          <p:nvPr/>
        </p:nvSpPr>
        <p:spPr>
          <a:xfrm>
            <a:off x="627716" y="1538106"/>
            <a:ext cx="409575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100" noProof="0" dirty="0"/>
              <a:t>Expanding-window validation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48772-30AE-4830-9AA8-8EC2A201924D}"/>
              </a:ext>
            </a:extLst>
          </p:cNvPr>
          <p:cNvSpPr>
            <a:spLocks noGrp="1"/>
          </p:cNvSpPr>
          <p:nvPr/>
        </p:nvSpPr>
        <p:spPr>
          <a:xfrm>
            <a:off x="627716" y="2109606"/>
            <a:ext cx="409575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18 scenarios · Douro
16 scenarios · Vinho Verde</a:t>
            </a:r>
          </a:p>
        </p:txBody>
      </p:sp>
      <p:cxnSp>
        <p:nvCxnSpPr>
          <p:cNvPr id="127" name="Straight Arrow Connector 98"/>
          <p:cNvCxnSpPr/>
          <p:nvPr/>
        </p:nvCxnSpPr>
        <p:spPr>
          <a:xfrm>
            <a:off x="627716" y="3014606"/>
            <a:ext cx="4048125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FD7EC9F-0650-4FE7-8304-C12DB8F06B85}"/>
              </a:ext>
            </a:extLst>
          </p:cNvPr>
          <p:cNvSpPr>
            <a:spLocks noGrp="1"/>
          </p:cNvSpPr>
          <p:nvPr/>
        </p:nvSpPr>
        <p:spPr>
          <a:xfrm>
            <a:off x="627716" y="3205934"/>
            <a:ext cx="6397924" cy="5238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100" noProof="0" dirty="0"/>
              <a:t>All preprocessing stays inside each training fold: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3301BF-604C-4A08-80C1-AF289490CAB4}"/>
              </a:ext>
            </a:extLst>
          </p:cNvPr>
          <p:cNvSpPr>
            <a:spLocks noGrp="1"/>
          </p:cNvSpPr>
          <p:nvPr/>
        </p:nvSpPr>
        <p:spPr>
          <a:xfrm>
            <a:off x="729342" y="3890781"/>
            <a:ext cx="3619500" cy="1381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• detrending
• discretization
• feature selection
• rule induction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CCFAD-A5E1-4FA7-815A-522733367088}"/>
              </a:ext>
            </a:extLst>
          </p:cNvPr>
          <p:cNvSpPr>
            <a:spLocks noGrp="1"/>
          </p:cNvSpPr>
          <p:nvPr/>
        </p:nvSpPr>
        <p:spPr>
          <a:xfrm>
            <a:off x="1247775" y="5819811"/>
            <a:ext cx="9696450" cy="77818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2800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17 MODELS ·</a:t>
            </a:r>
            <a:r>
              <a:rPr lang="en-GB" sz="2800" noProof="0" dirty="0">
                <a:solidFill>
                  <a:schemeClr val="accent2"/>
                </a:solidFill>
              </a:rPr>
              <a:t> </a:t>
            </a:r>
            <a:r>
              <a:rPr lang="en-GB" sz="2800" noProof="0" dirty="0">
                <a:solidFill>
                  <a:schemeClr val="bg1">
                    <a:lumMod val="50000"/>
                  </a:schemeClr>
                </a:solidFill>
              </a:rPr>
              <a:t>WEIGHTED MAE </a:t>
            </a:r>
            <a:r>
              <a:rPr lang="en-GB" sz="2800" noProof="0" dirty="0">
                <a:solidFill>
                  <a:schemeClr val="accent2"/>
                </a:solidFill>
              </a:rPr>
              <a:t>· LOWER IS BETTER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A9966-D9BE-0465-779F-20DAF900DE6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033433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8F0ED-2650-19C7-B283-028E163B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51328415-D7C4-A485-D986-F820E821A4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18" b="-1"/>
          <a:stretch>
            <a:fillRect/>
          </a:stretch>
        </p:blipFill>
        <p:spPr>
          <a:xfrm>
            <a:off x="4388675" y="296682"/>
            <a:ext cx="7772400" cy="6204068"/>
          </a:xfrm>
          <a:prstGeom prst="rect">
            <a:avLst/>
          </a:prstGeom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3645BF4-98C2-59C9-6344-D53B2681044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IMPLEMENTATION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10E26B-3A88-7757-726A-F01CEF230430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3699906" cy="781050"/>
          </a:xfrm>
          <a:prstGeom prst="rect">
            <a:avLst/>
          </a:prstGeom>
        </p:spPr>
        <p:txBody>
          <a:bodyPr lIns="0" tIns="0" rIns="0" bIns="0" anchor="t">
            <a:normAutofit fontScale="97916" lnSpcReduction="10000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800" noProof="0" dirty="0"/>
              <a:t>Our CarenR predictive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0B46C-5258-D432-12E3-DCC561FCDD58}"/>
              </a:ext>
            </a:extLst>
          </p:cNvPr>
          <p:cNvSpPr>
            <a:spLocks noGrp="1"/>
          </p:cNvSpPr>
          <p:nvPr/>
        </p:nvSpPr>
        <p:spPr>
          <a:xfrm>
            <a:off x="11370252" y="6561318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CE9FAD-2119-2885-81E4-6ACB8CCDC020}"/>
              </a:ext>
            </a:extLst>
          </p:cNvPr>
          <p:cNvSpPr txBox="1"/>
          <p:nvPr/>
        </p:nvSpPr>
        <p:spPr>
          <a:xfrm>
            <a:off x="186245" y="1786888"/>
            <a:ext cx="420243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CARENR FIRST DISCOVERS AUDITABLE DISTRIBUTIONAL RULES </a:t>
            </a:r>
            <a:r>
              <a:rPr lang="en-GB" sz="3200" dirty="0"/>
              <a:t>– </a:t>
            </a:r>
            <a:r>
              <a:rPr lang="en-GB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PREDICTION FIRE THOSE RULES ON THE TEST SET </a:t>
            </a:r>
            <a:r>
              <a:rPr lang="en-GB" sz="3200" dirty="0"/>
              <a:t>– </a:t>
            </a:r>
            <a:r>
              <a:rPr lang="en-GB" sz="3200" b="1" dirty="0">
                <a:solidFill>
                  <a:schemeClr val="accent2"/>
                </a:solidFill>
              </a:rPr>
              <a:t>PREDICTION AS A SUPPORT WEIGHTED MEDIAN</a:t>
            </a:r>
            <a:endParaRPr lang="en-US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369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833480A-D5B5-CB95-3714-532F7F8A8D00}"/>
              </a:ext>
            </a:extLst>
          </p:cNvPr>
          <p:cNvSpPr/>
          <p:nvPr/>
        </p:nvSpPr>
        <p:spPr>
          <a:xfrm>
            <a:off x="222999" y="1400938"/>
            <a:ext cx="5777180" cy="40104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1BCB88-0B26-3978-9EAD-10B14FE60DBB}"/>
              </a:ext>
            </a:extLst>
          </p:cNvPr>
          <p:cNvSpPr/>
          <p:nvPr/>
        </p:nvSpPr>
        <p:spPr>
          <a:xfrm>
            <a:off x="6205805" y="1400938"/>
            <a:ext cx="5777180" cy="40104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05CB5-20AB-4D1B-A9AB-5BB2D470786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RESULTS · PREDICTION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F4DE52-70EC-45FD-A166-87B23FDA847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No rule-based model beats the median overall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9958E5-E12D-48F2-B7ED-BAE8D85E8083}"/>
              </a:ext>
            </a:extLst>
          </p:cNvPr>
          <p:cNvSpPr>
            <a:spLocks noGrp="1"/>
          </p:cNvSpPr>
          <p:nvPr/>
        </p:nvSpPr>
        <p:spPr>
          <a:xfrm>
            <a:off x="407180" y="5598970"/>
            <a:ext cx="5476875" cy="7429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431FB-F071-4400-96BA-62F55F67F8A7}"/>
              </a:ext>
            </a:extLst>
          </p:cNvPr>
          <p:cNvSpPr>
            <a:spLocks noGrp="1"/>
          </p:cNvSpPr>
          <p:nvPr/>
        </p:nvSpPr>
        <p:spPr>
          <a:xfrm>
            <a:off x="6372055" y="5598970"/>
            <a:ext cx="5476875" cy="742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696288-430E-497B-8ECE-DB0DFD9AB1CC}"/>
              </a:ext>
            </a:extLst>
          </p:cNvPr>
          <p:cNvSpPr>
            <a:spLocks noGrp="1"/>
          </p:cNvSpPr>
          <p:nvPr/>
        </p:nvSpPr>
        <p:spPr>
          <a:xfrm>
            <a:off x="3645680" y="5837095"/>
            <a:ext cx="2000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3% worse · p = 0.468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031810-27B7-4323-A669-8C58F1A4516C}"/>
              </a:ext>
            </a:extLst>
          </p:cNvPr>
          <p:cNvSpPr>
            <a:spLocks noGrp="1"/>
          </p:cNvSpPr>
          <p:nvPr/>
        </p:nvSpPr>
        <p:spPr>
          <a:xfrm>
            <a:off x="6514930" y="5836667"/>
            <a:ext cx="29527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chemeClr val="accent2"/>
                </a:solidFill>
              </a:rPr>
              <a:t>RVV · 172 vs 140 mhl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5384AE-312E-4498-B684-F42A5ABE91E0}"/>
              </a:ext>
            </a:extLst>
          </p:cNvPr>
          <p:cNvSpPr>
            <a:spLocks noGrp="1"/>
          </p:cNvSpPr>
          <p:nvPr/>
        </p:nvSpPr>
        <p:spPr>
          <a:xfrm>
            <a:off x="9467680" y="5837095"/>
            <a:ext cx="2000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22% worse · p = 0.004*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19C283-6EE6-4747-8320-C61995F36CB0}"/>
              </a:ext>
            </a:extLst>
          </p:cNvPr>
          <p:cNvSpPr>
            <a:spLocks noGrp="1"/>
          </p:cNvSpPr>
          <p:nvPr/>
        </p:nvSpPr>
        <p:spPr>
          <a:xfrm>
            <a:off x="6638755" y="6380020"/>
            <a:ext cx="4953000" cy="209550"/>
          </a:xfrm>
          <a:prstGeom prst="rect">
            <a:avLst/>
          </a:prstGeom>
        </p:spPr>
        <p:txBody>
          <a:bodyPr lIns="0" tIns="0" rIns="0" bIns="0" anchor="t">
            <a:normAutofit fontScale="92500"/>
          </a:bodyPr>
          <a:lstStyle/>
          <a:p>
            <a:pPr algn="l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*Among the 9 scenarios where RVV rules fired, they significantly harmed prediction.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17478-F489-3DD4-6320-4BA7B1D7B7C3}"/>
              </a:ext>
            </a:extLst>
          </p:cNvPr>
          <p:cNvSpPr>
            <a:spLocks noGrp="1"/>
          </p:cNvSpPr>
          <p:nvPr/>
        </p:nvSpPr>
        <p:spPr>
          <a:xfrm>
            <a:off x="678696" y="5801168"/>
            <a:ext cx="27288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25" b="1">
                <a:solidFill>
                  <a:srgbClr val="2B6F9A"/>
                </a:solidFill>
                <a:latin typeface="Arial"/>
                <a:ea typeface="Arial"/>
                <a:cs typeface="Arial"/>
              </a:defRPr>
            </a:pPr>
            <a:r>
              <a:rPr lang="en-GB" sz="1600" b="1" noProof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RDD · 189 vs 184 mhl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88"/>
          <a:stretch>
            <a:fillRect/>
          </a:stretch>
        </p:blipFill>
        <p:spPr>
          <a:xfrm>
            <a:off x="354101" y="1582412"/>
            <a:ext cx="5563153" cy="3640672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A7E719-279D-84E1-2BFC-A8C0720EB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332"/>
          <a:stretch>
            <a:fillRect/>
          </a:stretch>
        </p:blipFill>
        <p:spPr>
          <a:xfrm>
            <a:off x="6501080" y="1618838"/>
            <a:ext cx="5130051" cy="3286125"/>
          </a:xfrm>
          <a:prstGeom prst="rect">
            <a:avLst/>
          </a:prstGeom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83AE34-5A6A-1C76-27A4-D9702D4DAA23}"/>
              </a:ext>
            </a:extLst>
          </p:cNvPr>
          <p:cNvSpPr/>
          <p:nvPr/>
        </p:nvSpPr>
        <p:spPr>
          <a:xfrm>
            <a:off x="439657" y="4238832"/>
            <a:ext cx="5325028" cy="1847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11C75-6E16-F3A3-EF21-512F59F7F9D4}"/>
              </a:ext>
            </a:extLst>
          </p:cNvPr>
          <p:cNvSpPr/>
          <p:nvPr/>
        </p:nvSpPr>
        <p:spPr>
          <a:xfrm>
            <a:off x="6526931" y="3737452"/>
            <a:ext cx="4760193" cy="1814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noProof="0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C7C2DB-7F4A-4E0F-8F5B-DA4C87A875B4}"/>
              </a:ext>
            </a:extLst>
          </p:cNvPr>
          <p:cNvSpPr txBox="1"/>
          <p:nvPr/>
        </p:nvSpPr>
        <p:spPr>
          <a:xfrm>
            <a:off x="4899716" y="4203207"/>
            <a:ext cx="8037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Best CAREN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34C770-8974-2844-7FC7-9F79153C7B2A}"/>
              </a:ext>
            </a:extLst>
          </p:cNvPr>
          <p:cNvSpPr txBox="1"/>
          <p:nvPr/>
        </p:nvSpPr>
        <p:spPr>
          <a:xfrm>
            <a:off x="10483356" y="3705044"/>
            <a:ext cx="8037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Best CAREN </a:t>
            </a:r>
          </a:p>
        </p:txBody>
      </p:sp>
    </p:spTree>
    <p:extLst>
      <p:ext uri="{BB962C8B-B14F-4D97-AF65-F5344CB8AC3E}">
        <p14:creationId xmlns:p14="http://schemas.microsoft.com/office/powerpoint/2010/main" val="1316683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5D4994E-4F6A-43E2-B4C4-68D09B2342A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RESULTS INTERPRETATION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F1F2B7-A092-442F-AB6A-79B1EAE6FACB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A real association can still be too weak to forecast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FE415D-3A05-4B69-A477-7A1CD697F8CF}"/>
              </a:ext>
            </a:extLst>
          </p:cNvPr>
          <p:cNvSpPr>
            <a:spLocks noGrp="1"/>
          </p:cNvSpPr>
          <p:nvPr/>
        </p:nvSpPr>
        <p:spPr>
          <a:xfrm>
            <a:off x="400050" y="2247900"/>
            <a:ext cx="4953000" cy="37147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858FC4-7697-4E92-B650-F9EC88121D0B}"/>
              </a:ext>
            </a:extLst>
          </p:cNvPr>
          <p:cNvSpPr>
            <a:spLocks noGrp="1"/>
          </p:cNvSpPr>
          <p:nvPr/>
        </p:nvSpPr>
        <p:spPr>
          <a:xfrm>
            <a:off x="6838950" y="2247900"/>
            <a:ext cx="4953000" cy="371475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15BA55-1E47-4124-B806-860D0D423CD9}"/>
              </a:ext>
            </a:extLst>
          </p:cNvPr>
          <p:cNvSpPr>
            <a:spLocks noGrp="1"/>
          </p:cNvSpPr>
          <p:nvPr/>
        </p:nvSpPr>
        <p:spPr>
          <a:xfrm>
            <a:off x="714375" y="2581275"/>
            <a:ext cx="1905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DISCOVERY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D2F47C-E20D-4F8F-BA12-01689F39A8F7}"/>
              </a:ext>
            </a:extLst>
          </p:cNvPr>
          <p:cNvSpPr>
            <a:spLocks noGrp="1"/>
          </p:cNvSpPr>
          <p:nvPr/>
        </p:nvSpPr>
        <p:spPr>
          <a:xfrm>
            <a:off x="714375" y="3464013"/>
            <a:ext cx="4000500" cy="857250"/>
          </a:xfrm>
          <a:prstGeom prst="rect">
            <a:avLst/>
          </a:prstGeom>
        </p:spPr>
        <p:txBody>
          <a:bodyPr lIns="0" tIns="0" rIns="0" bIns="0" anchor="t">
            <a:normAutofit fontScale="92500"/>
          </a:bodyPr>
          <a:lstStyle/>
          <a:p>
            <a:pPr algn="l">
              <a:buNone/>
              <a:defRPr sz="2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IS THE SUBGROUP DISTRIBUTION DIFFERENT?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2D3C7A-A6A7-4A98-9B7F-893F144238A9}"/>
              </a:ext>
            </a:extLst>
          </p:cNvPr>
          <p:cNvSpPr>
            <a:spLocks noGrp="1"/>
          </p:cNvSpPr>
          <p:nvPr/>
        </p:nvSpPr>
        <p:spPr>
          <a:xfrm>
            <a:off x="714375" y="4819650"/>
            <a:ext cx="4000500" cy="1000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>
                <a:solidFill>
                  <a:schemeClr val="bg1"/>
                </a:solidFill>
              </a:rPr>
              <a:t>With |r| ≈ 0.47, the association is detectable across 80–89 historical years.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D7BDE0-AB5B-4F14-9E4C-12A2FBA1347D}"/>
              </a:ext>
            </a:extLst>
          </p:cNvPr>
          <p:cNvSpPr>
            <a:spLocks noGrp="1"/>
          </p:cNvSpPr>
          <p:nvPr/>
        </p:nvSpPr>
        <p:spPr>
          <a:xfrm>
            <a:off x="7143750" y="2581275"/>
            <a:ext cx="1905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F8BA4-9CCA-4088-BEAF-3B64DBAA0F0B}"/>
              </a:ext>
            </a:extLst>
          </p:cNvPr>
          <p:cNvSpPr>
            <a:spLocks noGrp="1"/>
          </p:cNvSpPr>
          <p:nvPr/>
        </p:nvSpPr>
        <p:spPr>
          <a:xfrm>
            <a:off x="7143750" y="3464013"/>
            <a:ext cx="4000500" cy="857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DOES THE RULE REDUCE FUTURE ERROR?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5D3CB3-D4E2-4C4D-A94A-AB2B92029083}"/>
              </a:ext>
            </a:extLst>
          </p:cNvPr>
          <p:cNvSpPr>
            <a:spLocks noGrp="1"/>
          </p:cNvSpPr>
          <p:nvPr/>
        </p:nvSpPr>
        <p:spPr>
          <a:xfrm>
            <a:off x="7143750" y="4819650"/>
            <a:ext cx="4000500" cy="1000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Climate explains ≈22% of residual variance; ≈78% remains unobserved or noisy.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220AB4-C167-418C-B472-E1849859BD37}"/>
              </a:ext>
            </a:extLst>
          </p:cNvPr>
          <p:cNvSpPr>
            <a:spLocks noGrp="1"/>
          </p:cNvSpPr>
          <p:nvPr/>
        </p:nvSpPr>
        <p:spPr>
          <a:xfrm>
            <a:off x="5667375" y="3464013"/>
            <a:ext cx="857250" cy="857250"/>
          </a:xfrm>
          <a:prstGeom prst="rect">
            <a:avLst/>
          </a:prstGeom>
        </p:spPr>
        <p:txBody>
          <a:bodyPr lIns="0" tIns="0" rIns="0" bIns="0" anchor="t">
            <a:normAutofit lnSpcReduction="10000"/>
          </a:bodyPr>
          <a:lstStyle/>
          <a:p>
            <a:pPr algn="ctr">
              <a:buNone/>
              <a:defRPr sz="46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60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≠</a:t>
            </a:r>
            <a:endParaRPr lang="en-GB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8905DB-DEB9-43D4-9DD5-279DF88602FB}"/>
              </a:ext>
            </a:extLst>
          </p:cNvPr>
          <p:cNvSpPr>
            <a:spLocks noGrp="1"/>
          </p:cNvSpPr>
          <p:nvPr/>
        </p:nvSpPr>
        <p:spPr>
          <a:xfrm>
            <a:off x="552449" y="1333500"/>
            <a:ext cx="11382375" cy="419100"/>
          </a:xfrm>
          <a:prstGeom prst="rect">
            <a:avLst/>
          </a:prstGeom>
          <a:noFill/>
        </p:spPr>
        <p:txBody>
          <a:bodyPr lIns="0" tIns="0" rIns="0" bIns="0" anchor="t">
            <a:normAutofit fontScale="92500"/>
          </a:bodyPr>
          <a:lstStyle/>
          <a:p>
            <a:pPr>
              <a:buNone/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400" noProof="0" dirty="0">
                <a:solidFill>
                  <a:schemeClr val="accent2"/>
                </a:solidFill>
              </a:rPr>
              <a:t>PATTERN DISCOVERY AND FORECASTING ANSWER DIFFERENT QUESTIONS.</a:t>
            </a:r>
          </a:p>
        </p:txBody>
      </p:sp>
      <p:sp>
        <p:nvSpPr>
          <p:cNvPr id="3" name="gap-stripe">
            <a:extLst>
              <a:ext uri="{FF2B5EF4-FFF2-40B4-BE49-F238E27FC236}">
                <a16:creationId xmlns:a16="http://schemas.microsoft.com/office/drawing/2014/main" id="{B9C4EDCF-AAF0-4636-CAD6-82F5A670F39C}"/>
              </a:ext>
            </a:extLst>
          </p:cNvPr>
          <p:cNvSpPr>
            <a:spLocks noGrp="1"/>
          </p:cNvSpPr>
          <p:nvPr/>
        </p:nvSpPr>
        <p:spPr>
          <a:xfrm>
            <a:off x="400050" y="1261198"/>
            <a:ext cx="76200" cy="515943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210615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DA36BE4-BBFE-4D78-9BF5-98D11E0943F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TWO-DECISION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CDC068-9A32-407A-81A1-44024A380F1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Better detrending can remove the signal rules need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E4EAA8-3F1D-4885-971E-2323BF8B9304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4762500" cy="3429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83656E-A5A6-4F0F-9CF1-EF641DADE2F2}"/>
              </a:ext>
            </a:extLst>
          </p:cNvPr>
          <p:cNvSpPr>
            <a:spLocks noGrp="1"/>
          </p:cNvSpPr>
          <p:nvPr/>
        </p:nvSpPr>
        <p:spPr>
          <a:xfrm>
            <a:off x="7029450" y="1666875"/>
            <a:ext cx="4762500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CC2023-DDFD-43CD-8AFC-9E49B38753E1}"/>
              </a:ext>
            </a:extLst>
          </p:cNvPr>
          <p:cNvSpPr>
            <a:spLocks noGrp="1"/>
          </p:cNvSpPr>
          <p:nvPr/>
        </p:nvSpPr>
        <p:spPr>
          <a:xfrm>
            <a:off x="714375" y="2000250"/>
            <a:ext cx="1809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DECISION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6E2102-19C6-4BE8-B9CE-7A16B4C5C29A}"/>
              </a:ext>
            </a:extLst>
          </p:cNvPr>
          <p:cNvSpPr>
            <a:spLocks noGrp="1"/>
          </p:cNvSpPr>
          <p:nvPr/>
        </p:nvSpPr>
        <p:spPr>
          <a:xfrm>
            <a:off x="714375" y="2476500"/>
            <a:ext cx="3714750" cy="685800"/>
          </a:xfrm>
          <a:prstGeom prst="rect">
            <a:avLst/>
          </a:prstGeom>
        </p:spPr>
        <p:txBody>
          <a:bodyPr lIns="0" tIns="0" rIns="0" bIns="0" anchor="t">
            <a:normAutofit fontScale="98830" lnSpcReduction="10000"/>
          </a:bodyPr>
          <a:lstStyle/>
          <a:p>
            <a:pPr algn="l">
              <a:buNone/>
              <a:defRPr sz="2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MODEL THE STRUCTURAL TREND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BA25DB-8DBA-4BD2-BCE3-0F4454BEEDF7}"/>
              </a:ext>
            </a:extLst>
          </p:cNvPr>
          <p:cNvSpPr>
            <a:spLocks noGrp="1"/>
          </p:cNvSpPr>
          <p:nvPr/>
        </p:nvSpPr>
        <p:spPr>
          <a:xfrm>
            <a:off x="714375" y="3429000"/>
            <a:ext cx="3714750" cy="1000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A better trend leaves smaller test residuals and lowers the naive error floor.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1CD3D5-D969-4F52-9349-0C38FA89F7F4}"/>
              </a:ext>
            </a:extLst>
          </p:cNvPr>
          <p:cNvSpPr>
            <a:spLocks noGrp="1"/>
          </p:cNvSpPr>
          <p:nvPr/>
        </p:nvSpPr>
        <p:spPr>
          <a:xfrm>
            <a:off x="7334250" y="2476500"/>
            <a:ext cx="3714750" cy="685800"/>
          </a:xfrm>
          <a:prstGeom prst="rect">
            <a:avLst/>
          </a:prstGeom>
        </p:spPr>
        <p:txBody>
          <a:bodyPr lIns="0" tIns="0" rIns="0" bIns="0" anchor="t">
            <a:normAutofit lnSpcReduction="10000"/>
          </a:bodyPr>
          <a:lstStyle/>
          <a:p>
            <a:pPr algn="l">
              <a:buNone/>
              <a:defRPr sz="24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EXTRACT CLIMATE SIGNAL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2A5F92-F952-4540-A40F-1F6E892D0539}"/>
              </a:ext>
            </a:extLst>
          </p:cNvPr>
          <p:cNvSpPr>
            <a:spLocks noGrp="1"/>
          </p:cNvSpPr>
          <p:nvPr/>
        </p:nvSpPr>
        <p:spPr>
          <a:xfrm>
            <a:off x="7334250" y="3429000"/>
            <a:ext cx="3714750" cy="1000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Stable rules need residual structure that is large enough to detect and exploit.</a:t>
            </a:r>
          </a:p>
        </p:txBody>
      </p:sp>
      <p:cxnSp>
        <p:nvCxnSpPr>
          <p:cNvPr id="440" name="Straight Arrow Connector 399"/>
          <p:cNvCxnSpPr/>
          <p:nvPr/>
        </p:nvCxnSpPr>
        <p:spPr>
          <a:xfrm>
            <a:off x="5162550" y="3381375"/>
            <a:ext cx="1866900" cy="953"/>
          </a:xfrm>
          <a:prstGeom prst="straightConnector1">
            <a:avLst/>
          </a:prstGeom>
          <a:ln w="57150">
            <a:solidFill>
              <a:srgbClr val="7B1E3A"/>
            </a:solidFill>
            <a:prstDash val="soli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0EBAFC5-D944-4E0E-9F2B-45BB9E5596FD}"/>
              </a:ext>
            </a:extLst>
          </p:cNvPr>
          <p:cNvSpPr>
            <a:spLocks noGrp="1"/>
          </p:cNvSpPr>
          <p:nvPr/>
        </p:nvSpPr>
        <p:spPr>
          <a:xfrm>
            <a:off x="5429250" y="2857500"/>
            <a:ext cx="13335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TENSION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F4F414-7897-4DD7-82FE-436AD013DBD6}"/>
              </a:ext>
            </a:extLst>
          </p:cNvPr>
          <p:cNvSpPr>
            <a:spLocks noGrp="1"/>
          </p:cNvSpPr>
          <p:nvPr/>
        </p:nvSpPr>
        <p:spPr>
          <a:xfrm>
            <a:off x="400050" y="5476875"/>
            <a:ext cx="11391900" cy="4191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0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2000" noProof="0" dirty="0">
                <a:solidFill>
                  <a:schemeClr val="accent2"/>
                </a:solidFill>
              </a:rPr>
              <a:t>RVV LOESS: BASELINE IMPROVES 140 → 90 MHL, BUT RULE INDUCTION FALLS TO ZERO.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602A9B-5310-4527-BA9F-8C1CC7606304}"/>
              </a:ext>
            </a:extLst>
          </p:cNvPr>
          <p:cNvSpPr>
            <a:spLocks noGrp="1"/>
          </p:cNvSpPr>
          <p:nvPr/>
        </p:nvSpPr>
        <p:spPr>
          <a:xfrm>
            <a:off x="1619250" y="6000750"/>
            <a:ext cx="8953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Time alone cannot cleanly separate industry structure from climate.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B5895F-AF0E-7EE7-E8D3-2EA5CF823749}"/>
              </a:ext>
            </a:extLst>
          </p:cNvPr>
          <p:cNvSpPr>
            <a:spLocks noGrp="1"/>
          </p:cNvSpPr>
          <p:nvPr/>
        </p:nvSpPr>
        <p:spPr>
          <a:xfrm>
            <a:off x="7257301" y="1938338"/>
            <a:ext cx="1809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DECISION 2</a:t>
            </a:r>
          </a:p>
        </p:txBody>
      </p:sp>
      <p:pic>
        <p:nvPicPr>
          <p:cNvPr id="441" name="Picture 440" descr="two_decision_sees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3529584"/>
            <a:ext cx="1883664" cy="15450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93872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4B1748-9637-1278-F744-DF9CBEF779C9}"/>
              </a:ext>
            </a:extLst>
          </p:cNvPr>
          <p:cNvSpPr>
            <a:spLocks noGrp="1"/>
          </p:cNvSpPr>
          <p:nvPr/>
        </p:nvSpPr>
        <p:spPr>
          <a:xfrm>
            <a:off x="400049" y="5211905"/>
            <a:ext cx="11391899" cy="733425"/>
          </a:xfrm>
          <a:prstGeom prst="rect">
            <a:avLst/>
          </a:prstGeom>
          <a:noFill/>
          <a:ln w="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8B3CCD-BBF6-4A7D-97D7-9DEC88DDD7D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51F646-B2AD-4DBF-B76F-CCB6056254D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 fontScale="89680"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Five scientific contributions clarify why rules work and fail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FE3B55-C9E2-452F-A5D2-90C418208741}"/>
              </a:ext>
            </a:extLst>
          </p:cNvPr>
          <p:cNvSpPr>
            <a:spLocks noGrp="1"/>
          </p:cNvSpPr>
          <p:nvPr/>
        </p:nvSpPr>
        <p:spPr>
          <a:xfrm>
            <a:off x="400050" y="1379396"/>
            <a:ext cx="11391900" cy="1000125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8C77BD-B1FA-42A9-BFF2-4F2F3D486305}"/>
              </a:ext>
            </a:extLst>
          </p:cNvPr>
          <p:cNvSpPr>
            <a:spLocks noGrp="1"/>
          </p:cNvSpPr>
          <p:nvPr/>
        </p:nvSpPr>
        <p:spPr>
          <a:xfrm>
            <a:off x="666750" y="1636571"/>
            <a:ext cx="19050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B01BD-348F-4839-88F5-DB2AB966025A}"/>
              </a:ext>
            </a:extLst>
          </p:cNvPr>
          <p:cNvSpPr>
            <a:spLocks noGrp="1"/>
          </p:cNvSpPr>
          <p:nvPr/>
        </p:nvSpPr>
        <p:spPr>
          <a:xfrm>
            <a:off x="1037690" y="1599969"/>
            <a:ext cx="10644027" cy="619125"/>
          </a:xfrm>
          <a:prstGeom prst="rect">
            <a:avLst/>
          </a:prstGeom>
        </p:spPr>
        <p:txBody>
          <a:bodyPr lIns="0" tIns="0" rIns="0" bIns="0" anchor="t">
            <a:normAutofit fontScale="89226" lnSpcReduction="10000"/>
          </a:bodyPr>
          <a:lstStyle/>
          <a:p>
            <a:pPr algn="l"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2400" noProof="0" dirty="0">
                <a:solidFill>
                  <a:schemeClr val="bg1"/>
                </a:solidFill>
              </a:rPr>
              <a:t>Two-decision framework separates trend quality from residual climate-signal extraction.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EEE4EF-77AE-4A6E-A862-5F43887DF8E7}"/>
              </a:ext>
            </a:extLst>
          </p:cNvPr>
          <p:cNvSpPr>
            <a:spLocks noGrp="1"/>
          </p:cNvSpPr>
          <p:nvPr/>
        </p:nvSpPr>
        <p:spPr>
          <a:xfrm>
            <a:off x="400050" y="2497280"/>
            <a:ext cx="3562350" cy="25717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0441E-D4D3-472D-85DA-921CDF437656}"/>
              </a:ext>
            </a:extLst>
          </p:cNvPr>
          <p:cNvSpPr>
            <a:spLocks noGrp="1"/>
          </p:cNvSpPr>
          <p:nvPr/>
        </p:nvSpPr>
        <p:spPr>
          <a:xfrm>
            <a:off x="4314825" y="2497280"/>
            <a:ext cx="3562350" cy="25717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44E28D-30B2-430E-8230-0199511556CE}"/>
              </a:ext>
            </a:extLst>
          </p:cNvPr>
          <p:cNvSpPr>
            <a:spLocks noGrp="1"/>
          </p:cNvSpPr>
          <p:nvPr/>
        </p:nvSpPr>
        <p:spPr>
          <a:xfrm>
            <a:off x="8229600" y="2497280"/>
            <a:ext cx="3562350" cy="2571750"/>
          </a:xfrm>
          <a:prstGeom prst="rect">
            <a:avLst/>
          </a:prstGeom>
          <a:solidFill>
            <a:srgbClr val="F0F1F2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255A-0E63-469B-9A1A-6760CFA843FA}"/>
              </a:ext>
            </a:extLst>
          </p:cNvPr>
          <p:cNvSpPr>
            <a:spLocks noGrp="1"/>
          </p:cNvSpPr>
          <p:nvPr/>
        </p:nvSpPr>
        <p:spPr>
          <a:xfrm>
            <a:off x="666750" y="2783030"/>
            <a:ext cx="2857500" cy="361950"/>
          </a:xfrm>
          <a:prstGeom prst="rect">
            <a:avLst/>
          </a:prstGeom>
        </p:spPr>
        <p:txBody>
          <a:bodyPr lIns="0" tIns="0" rIns="0" bIns="0" anchor="t">
            <a:normAutofit fontScale="88998"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 · Walk-forward evaluation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2D578C-ED9E-435A-B32F-A6DC24DEDE39}"/>
              </a:ext>
            </a:extLst>
          </p:cNvPr>
          <p:cNvSpPr>
            <a:spLocks noGrp="1"/>
          </p:cNvSpPr>
          <p:nvPr/>
        </p:nvSpPr>
        <p:spPr>
          <a:xfrm>
            <a:off x="666750" y="3402155"/>
            <a:ext cx="2857500" cy="1047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17 models, 18/16 scenarios, and all preprocessing inside each fold.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812136-7E24-47A4-B38A-8044E4F5D8E2}"/>
              </a:ext>
            </a:extLst>
          </p:cNvPr>
          <p:cNvSpPr>
            <a:spLocks noGrp="1"/>
          </p:cNvSpPr>
          <p:nvPr/>
        </p:nvSpPr>
        <p:spPr>
          <a:xfrm>
            <a:off x="4581525" y="2783030"/>
            <a:ext cx="28575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3 · Sensitivity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A20911-81BE-4313-A765-8CCC45847E8F}"/>
              </a:ext>
            </a:extLst>
          </p:cNvPr>
          <p:cNvSpPr>
            <a:spLocks noGrp="1"/>
          </p:cNvSpPr>
          <p:nvPr/>
        </p:nvSpPr>
        <p:spPr>
          <a:xfrm>
            <a:off x="4581525" y="3402155"/>
            <a:ext cx="2857500" cy="1047750"/>
          </a:xfrm>
          <a:prstGeom prst="rect">
            <a:avLst/>
          </a:prstGeom>
        </p:spPr>
        <p:txBody>
          <a:bodyPr lIns="0" tIns="0" rIns="0" bIns="0" anchor="t">
            <a:normAutofit fontScale="99638"/>
          </a:bodyPr>
          <a:lstStyle/>
          <a:p>
            <a:pPr algn="l">
              <a:buNone/>
              <a:defRPr sz="17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Eleven CarenR variants show the best feature-selection strategy is problem-specific.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8F694-D44F-4A1F-B704-D6083CB098E0}"/>
              </a:ext>
            </a:extLst>
          </p:cNvPr>
          <p:cNvSpPr>
            <a:spLocks noGrp="1"/>
          </p:cNvSpPr>
          <p:nvPr/>
        </p:nvSpPr>
        <p:spPr>
          <a:xfrm>
            <a:off x="8496300" y="2783030"/>
            <a:ext cx="2857500" cy="361950"/>
          </a:xfrm>
          <a:prstGeom prst="rect">
            <a:avLst/>
          </a:prstGeom>
        </p:spPr>
        <p:txBody>
          <a:bodyPr lIns="0" tIns="0" rIns="0" bIns="0" anchor="t">
            <a:normAutofit fontScale="77594" lnSpcReduction="10000"/>
          </a:bodyPr>
          <a:lstStyle/>
          <a:p>
            <a:pPr algn="l"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4 · Era-composition analysis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D29018-33B7-40A9-BA1D-8FB3AC29B795}"/>
              </a:ext>
            </a:extLst>
          </p:cNvPr>
          <p:cNvSpPr>
            <a:spLocks noGrp="1"/>
          </p:cNvSpPr>
          <p:nvPr/>
        </p:nvSpPr>
        <p:spPr>
          <a:xfrm>
            <a:off x="8496300" y="3402155"/>
            <a:ext cx="2857500" cy="1047750"/>
          </a:xfrm>
          <a:prstGeom prst="rect">
            <a:avLst/>
          </a:prstGeom>
        </p:spPr>
        <p:txBody>
          <a:bodyPr lIns="0" tIns="0" rIns="0" bIns="0" anchor="t">
            <a:normAutofit fontScale="99638"/>
          </a:bodyPr>
          <a:lstStyle/>
          <a:p>
            <a:pPr algn="l">
              <a:buNone/>
              <a:defRPr sz="17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Identifies when rule-based prediction may become viable, as hypothesis for future work.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E3710C-F9B3-474F-A94E-0020A6EE1282}"/>
              </a:ext>
            </a:extLst>
          </p:cNvPr>
          <p:cNvSpPr>
            <a:spLocks noGrp="1"/>
          </p:cNvSpPr>
          <p:nvPr/>
        </p:nvSpPr>
        <p:spPr>
          <a:xfrm>
            <a:off x="685800" y="5450030"/>
            <a:ext cx="10810875" cy="495300"/>
          </a:xfrm>
          <a:prstGeom prst="rect">
            <a:avLst/>
          </a:prstGeom>
        </p:spPr>
        <p:txBody>
          <a:bodyPr lIns="0" tIns="0" rIns="0" bIns="0" anchor="t">
            <a:normAutofit fontScale="95338" lnSpcReduction="10000"/>
          </a:bodyPr>
          <a:lstStyle/>
          <a:p>
            <a:pPr algn="ctr">
              <a:buNone/>
              <a:defRPr sz="18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accent2"/>
                </a:solidFill>
              </a:rPr>
              <a:t>5 · CROSS-ALGORITHM VALIDATION: </a:t>
            </a:r>
            <a:r>
              <a:rPr lang="en-GB" u="sng" noProof="0" dirty="0">
                <a:solidFill>
                  <a:schemeClr val="accent2"/>
                </a:solidFill>
              </a:rPr>
              <a:t>RIPPER</a:t>
            </a:r>
            <a:r>
              <a:rPr lang="en-GB" noProof="0" dirty="0">
                <a:solidFill>
                  <a:schemeClr val="accent2"/>
                </a:solidFill>
              </a:rPr>
              <a:t> AND </a:t>
            </a:r>
            <a:r>
              <a:rPr lang="en-GB" u="sng" noProof="0" dirty="0">
                <a:solidFill>
                  <a:schemeClr val="accent2"/>
                </a:solidFill>
              </a:rPr>
              <a:t>M5RULES</a:t>
            </a:r>
            <a:r>
              <a:rPr lang="en-GB" noProof="0" dirty="0">
                <a:solidFill>
                  <a:schemeClr val="accent2"/>
                </a:solidFill>
              </a:rPr>
              <a:t> INDEPENDENTLY CONFIRM </a:t>
            </a:r>
          </a:p>
          <a:p>
            <a:pPr algn="ctr">
              <a:buNone/>
              <a:defRPr sz="187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u="sng" noProof="0" dirty="0">
                <a:solidFill>
                  <a:schemeClr val="accent2"/>
                </a:solidFill>
              </a:rPr>
              <a:t>CAREN</a:t>
            </a:r>
            <a:r>
              <a:rPr lang="en-GB" noProof="0" dirty="0">
                <a:solidFill>
                  <a:schemeClr val="accent2"/>
                </a:solidFill>
              </a:rPr>
              <a:t> FEATURE FAMILIES.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227109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D6CF26EF-1116-4AE5-8478-A5DF4FB99F2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sz="1125" b="1" noProof="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LIMITATIONS &amp; FUTURE WORK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C9BDDB7-AD16-44DE-BDA5-B8ECF5D2363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2625" b="1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next evidence should separate climate from structure</a:t>
            </a:r>
          </a:p>
        </p:txBody>
      </p:sp>
      <p:sp>
        <p:nvSpPr>
          <p:cNvPr id="4" name="lim-panel">
            <a:extLst>
              <a:ext uri="{FF2B5EF4-FFF2-40B4-BE49-F238E27FC236}">
                <a16:creationId xmlns:a16="http://schemas.microsoft.com/office/drawing/2014/main" id="{B7FED3BD-051B-4B32-A0C5-6806280F4F20}"/>
              </a:ext>
            </a:extLst>
          </p:cNvPr>
          <p:cNvSpPr>
            <a:spLocks noGrp="1"/>
          </p:cNvSpPr>
          <p:nvPr/>
        </p:nvSpPr>
        <p:spPr>
          <a:xfrm>
            <a:off x="409575" y="1390649"/>
            <a:ext cx="5334000" cy="3930687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5" name="lim-stripe">
            <a:extLst>
              <a:ext uri="{FF2B5EF4-FFF2-40B4-BE49-F238E27FC236}">
                <a16:creationId xmlns:a16="http://schemas.microsoft.com/office/drawing/2014/main" id="{0C9A5068-F942-4EF4-933A-98FE5B54F8BB}"/>
              </a:ext>
            </a:extLst>
          </p:cNvPr>
          <p:cNvSpPr>
            <a:spLocks noGrp="1"/>
          </p:cNvSpPr>
          <p:nvPr/>
        </p:nvSpPr>
        <p:spPr>
          <a:xfrm>
            <a:off x="409575" y="1391225"/>
            <a:ext cx="76200" cy="3930111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" name="lim-title">
            <a:extLst>
              <a:ext uri="{FF2B5EF4-FFF2-40B4-BE49-F238E27FC236}">
                <a16:creationId xmlns:a16="http://schemas.microsoft.com/office/drawing/2014/main" id="{60845F58-7EC2-4F2D-BACB-C199AEEC3BFA}"/>
              </a:ext>
            </a:extLst>
          </p:cNvPr>
          <p:cNvSpPr>
            <a:spLocks noGrp="1"/>
          </p:cNvSpPr>
          <p:nvPr/>
        </p:nvSpPr>
        <p:spPr>
          <a:xfrm>
            <a:off x="695325" y="1581151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C04B4B"/>
                </a:solidFill>
                <a:latin typeface="Arial"/>
                <a:ea typeface="Arial"/>
                <a:cs typeface="Arial"/>
              </a:defRPr>
            </a:pPr>
            <a:r>
              <a:rPr lang="en-GB" sz="1800" b="1" noProof="0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7" name="lim-body">
            <a:extLst>
              <a:ext uri="{FF2B5EF4-FFF2-40B4-BE49-F238E27FC236}">
                <a16:creationId xmlns:a16="http://schemas.microsoft.com/office/drawing/2014/main" id="{BBCC1286-35DC-4B95-B827-6D8189A654B6}"/>
              </a:ext>
            </a:extLst>
          </p:cNvPr>
          <p:cNvSpPr>
            <a:spLocks noGrp="1"/>
          </p:cNvSpPr>
          <p:nvPr/>
        </p:nvSpPr>
        <p:spPr>
          <a:xfrm>
            <a:off x="790574" y="2143126"/>
            <a:ext cx="48101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Time is the only detrending covariate, so structural change and climate remain partly mixed.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noProof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The walk-forward test is limited by the small amount of historical data available: only 18 scenarios for RDD and 16 for RVV. Therefore, the 5/5 RDD era-balanced result should be treated as exploratory rather than confirmatory.</a:t>
            </a:r>
          </a:p>
          <a:p>
            <a:pPr algn="just"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n-GB" sz="2400" noProof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Regional annual aggregates hide sub-regional weather and vineyard heterogeneity.</a:t>
            </a:r>
          </a:p>
        </p:txBody>
      </p:sp>
      <p:sp>
        <p:nvSpPr>
          <p:cNvPr id="8" name="fw-panel">
            <a:extLst>
              <a:ext uri="{FF2B5EF4-FFF2-40B4-BE49-F238E27FC236}">
                <a16:creationId xmlns:a16="http://schemas.microsoft.com/office/drawing/2014/main" id="{1A07840C-9A0A-41B8-900B-22185D3D938D}"/>
              </a:ext>
            </a:extLst>
          </p:cNvPr>
          <p:cNvSpPr>
            <a:spLocks noGrp="1"/>
          </p:cNvSpPr>
          <p:nvPr/>
        </p:nvSpPr>
        <p:spPr>
          <a:xfrm>
            <a:off x="6124575" y="1390649"/>
            <a:ext cx="5667375" cy="393068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9" name="fw-stripe">
            <a:extLst>
              <a:ext uri="{FF2B5EF4-FFF2-40B4-BE49-F238E27FC236}">
                <a16:creationId xmlns:a16="http://schemas.microsoft.com/office/drawing/2014/main" id="{26A857E4-49CB-4B9D-982E-F244C7B4E448}"/>
              </a:ext>
            </a:extLst>
          </p:cNvPr>
          <p:cNvSpPr>
            <a:spLocks noGrp="1"/>
          </p:cNvSpPr>
          <p:nvPr/>
        </p:nvSpPr>
        <p:spPr>
          <a:xfrm>
            <a:off x="6124575" y="1391225"/>
            <a:ext cx="76200" cy="3930111"/>
          </a:xfrm>
          <a:prstGeom prst="rect">
            <a:avLst/>
          </a:prstGeom>
          <a:solidFill>
            <a:srgbClr val="268A8A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fw-title">
            <a:extLst>
              <a:ext uri="{FF2B5EF4-FFF2-40B4-BE49-F238E27FC236}">
                <a16:creationId xmlns:a16="http://schemas.microsoft.com/office/drawing/2014/main" id="{11377E13-D7EF-47BC-BE62-C2415F25F0A9}"/>
              </a:ext>
            </a:extLst>
          </p:cNvPr>
          <p:cNvSpPr>
            <a:spLocks noGrp="1"/>
          </p:cNvSpPr>
          <p:nvPr/>
        </p:nvSpPr>
        <p:spPr>
          <a:xfrm>
            <a:off x="6410325" y="1581151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268A8A"/>
                </a:solidFill>
                <a:latin typeface="Arial"/>
                <a:ea typeface="Arial"/>
                <a:cs typeface="Arial"/>
              </a:defRPr>
            </a:pPr>
            <a:r>
              <a:rPr lang="en-GB" sz="1800" b="1" noProof="0" dirty="0">
                <a:solidFill>
                  <a:srgbClr val="268A8A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11" name="fw-body">
            <a:extLst>
              <a:ext uri="{FF2B5EF4-FFF2-40B4-BE49-F238E27FC236}">
                <a16:creationId xmlns:a16="http://schemas.microsoft.com/office/drawing/2014/main" id="{D4D2FEB9-2CD8-448D-B525-ECD8FD4814D6}"/>
              </a:ext>
            </a:extLst>
          </p:cNvPr>
          <p:cNvSpPr>
            <a:spLocks noGrp="1"/>
          </p:cNvSpPr>
          <p:nvPr/>
        </p:nvSpPr>
        <p:spPr>
          <a:xfrm>
            <a:off x="6505575" y="2143126"/>
            <a:ext cx="5070646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structural covariates: planted area, quotas and certified producers.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noProof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Pre-register and prospectively validate the era-balanced hypothesis.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noProof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GB" sz="1600" noProof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other regional time series with weaker trends and use higher-resolution climate data.</a:t>
            </a:r>
          </a:p>
        </p:txBody>
      </p:sp>
      <p:sp>
        <p:nvSpPr>
          <p:cNvPr id="14" name="close-text">
            <a:extLst>
              <a:ext uri="{FF2B5EF4-FFF2-40B4-BE49-F238E27FC236}">
                <a16:creationId xmlns:a16="http://schemas.microsoft.com/office/drawing/2014/main" id="{ADF9A72D-259B-4CAF-91E4-424FF94B6D44}"/>
              </a:ext>
            </a:extLst>
          </p:cNvPr>
          <p:cNvSpPr>
            <a:spLocks noGrp="1"/>
          </p:cNvSpPr>
          <p:nvPr/>
        </p:nvSpPr>
        <p:spPr>
          <a:xfrm>
            <a:off x="504825" y="5734050"/>
            <a:ext cx="11391899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b="1" dirty="0">
                <a:solidFill>
                  <a:schemeClr val="accent2"/>
                </a:solidFill>
              </a:rPr>
              <a:t>NOT AN OPERATIONAL FORECAST YET; </a:t>
            </a:r>
          </a:p>
          <a:p>
            <a:pPr>
              <a:buNone/>
              <a:defRPr sz="16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b="1" dirty="0">
                <a:solidFill>
                  <a:schemeClr val="accent2"/>
                </a:solidFill>
              </a:rPr>
              <a:t>A DIAGNOSIS OF WHEN INTERPRETABLE RULES WORK, FAIL, AND WHAT EVIDENCE COMES NEXT.</a:t>
            </a:r>
            <a:endParaRPr lang="en-GB" b="1" noProof="0" dirty="0">
              <a:solidFill>
                <a:schemeClr val="accent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ide-number">
            <a:extLst>
              <a:ext uri="{FF2B5EF4-FFF2-40B4-BE49-F238E27FC236}">
                <a16:creationId xmlns:a16="http://schemas.microsoft.com/office/drawing/2014/main" id="{C0D54E7A-C4F2-4342-B771-5B9125A2FBC7}"/>
              </a:ext>
            </a:extLst>
          </p:cNvPr>
          <p:cNvSpPr>
            <a:spLocks noGrp="1"/>
          </p:cNvSpPr>
          <p:nvPr/>
        </p:nvSpPr>
        <p:spPr>
          <a:xfrm>
            <a:off x="11287125" y="6463942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24414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C25070-4A33-46B8-8CA4-07D27372A63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00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>
                <a:solidFill>
                  <a:schemeClr val="bg2">
                    <a:lumMod val="50000"/>
                  </a:schemeClr>
                </a:solidFill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FDD097-DF00-49C9-AE63-44967556803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The next step is to model structure explicitly</a:t>
            </a:r>
          </a:p>
        </p:txBody>
      </p:sp>
      <p:cxnSp>
        <p:nvCxnSpPr>
          <p:cNvPr id="165" name="Straight Arrow Connector 152"/>
          <p:cNvCxnSpPr/>
          <p:nvPr/>
        </p:nvCxnSpPr>
        <p:spPr>
          <a:xfrm>
            <a:off x="742950" y="3048000"/>
            <a:ext cx="10382250" cy="953"/>
          </a:xfrm>
          <a:prstGeom prst="straightConnector1">
            <a:avLst/>
          </a:prstGeom>
          <a:ln w="19050">
            <a:solidFill>
              <a:srgbClr val="151515"/>
            </a:solidFill>
            <a:prstDash val="solid"/>
          </a:ln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9E4A950-FCA3-4EAB-8930-E09FBC36715B}"/>
              </a:ext>
            </a:extLst>
          </p:cNvPr>
          <p:cNvSpPr>
            <a:spLocks noGrp="1"/>
          </p:cNvSpPr>
          <p:nvPr/>
        </p:nvSpPr>
        <p:spPr>
          <a:xfrm>
            <a:off x="1095375" y="2962275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BF4214-A543-4AC5-9AB3-9660B08413B8}"/>
              </a:ext>
            </a:extLst>
          </p:cNvPr>
          <p:cNvSpPr>
            <a:spLocks noGrp="1"/>
          </p:cNvSpPr>
          <p:nvPr/>
        </p:nvSpPr>
        <p:spPr>
          <a:xfrm>
            <a:off x="3714750" y="2962275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0E58BB-1179-4813-AF25-E9782CC0D1A4}"/>
              </a:ext>
            </a:extLst>
          </p:cNvPr>
          <p:cNvSpPr>
            <a:spLocks noGrp="1"/>
          </p:cNvSpPr>
          <p:nvPr/>
        </p:nvSpPr>
        <p:spPr>
          <a:xfrm>
            <a:off x="6334125" y="2962275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8D901D-E538-4E28-8163-1B111CC621AF}"/>
              </a:ext>
            </a:extLst>
          </p:cNvPr>
          <p:cNvSpPr>
            <a:spLocks noGrp="1"/>
          </p:cNvSpPr>
          <p:nvPr/>
        </p:nvSpPr>
        <p:spPr>
          <a:xfrm>
            <a:off x="8953500" y="2962275"/>
            <a:ext cx="190500" cy="190500"/>
          </a:xfrm>
          <a:prstGeom prst="ellipse">
            <a:avLst/>
          </a:prstGeom>
          <a:solidFill>
            <a:srgbClr val="7B1E3A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D5A3E2-F417-4EDC-9C3B-8B9F3035D0DB}"/>
              </a:ext>
            </a:extLst>
          </p:cNvPr>
          <p:cNvSpPr>
            <a:spLocks noGrp="1"/>
          </p:cNvSpPr>
          <p:nvPr/>
        </p:nvSpPr>
        <p:spPr>
          <a:xfrm>
            <a:off x="809625" y="2476500"/>
            <a:ext cx="7620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AC4739-A312-40E8-B2AA-6836D12D2582}"/>
              </a:ext>
            </a:extLst>
          </p:cNvPr>
          <p:cNvSpPr>
            <a:spLocks noGrp="1"/>
          </p:cNvSpPr>
          <p:nvPr/>
        </p:nvSpPr>
        <p:spPr>
          <a:xfrm>
            <a:off x="571500" y="3381375"/>
            <a:ext cx="12382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STRUCTURAL
COVARIATES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C5BF36-6660-4270-A3A2-054B7435617D}"/>
              </a:ext>
            </a:extLst>
          </p:cNvPr>
          <p:cNvSpPr>
            <a:spLocks noGrp="1"/>
          </p:cNvSpPr>
          <p:nvPr/>
        </p:nvSpPr>
        <p:spPr>
          <a:xfrm>
            <a:off x="381000" y="4238625"/>
            <a:ext cx="16192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Planted area, quotas, producers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9830D1-243B-4E6B-B9AC-2491F04CE5C3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7620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713450-9B9B-4600-9A28-3DD765DF34E7}"/>
              </a:ext>
            </a:extLst>
          </p:cNvPr>
          <p:cNvSpPr>
            <a:spLocks noGrp="1"/>
          </p:cNvSpPr>
          <p:nvPr/>
        </p:nvSpPr>
        <p:spPr>
          <a:xfrm>
            <a:off x="2952750" y="3381375"/>
            <a:ext cx="17145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PROSPECTIVE
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CA9DF4-30C0-46B4-844A-3554C34BEA56}"/>
              </a:ext>
            </a:extLst>
          </p:cNvPr>
          <p:cNvSpPr>
            <a:spLocks noGrp="1"/>
          </p:cNvSpPr>
          <p:nvPr/>
        </p:nvSpPr>
        <p:spPr>
          <a:xfrm>
            <a:off x="2952750" y="4238625"/>
            <a:ext cx="17145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Pre-register the era-balanced hypothesis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BFB2A5-FFC1-4957-80A3-A648945EED22}"/>
              </a:ext>
            </a:extLst>
          </p:cNvPr>
          <p:cNvSpPr>
            <a:spLocks noGrp="1"/>
          </p:cNvSpPr>
          <p:nvPr/>
        </p:nvSpPr>
        <p:spPr>
          <a:xfrm>
            <a:off x="6048375" y="2476500"/>
            <a:ext cx="7620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1315B3-2FFD-4146-90ED-C8348E21F748}"/>
              </a:ext>
            </a:extLst>
          </p:cNvPr>
          <p:cNvSpPr>
            <a:spLocks noGrp="1"/>
          </p:cNvSpPr>
          <p:nvPr/>
        </p:nvSpPr>
        <p:spPr>
          <a:xfrm>
            <a:off x="5762625" y="3381375"/>
            <a:ext cx="1428750" cy="666750"/>
          </a:xfrm>
          <a:prstGeom prst="rect">
            <a:avLst/>
          </a:prstGeom>
        </p:spPr>
        <p:txBody>
          <a:bodyPr lIns="0" tIns="0" rIns="0" bIns="0" anchor="t">
            <a:normAutofit fontScale="94531"/>
          </a:bodyPr>
          <a:lstStyle/>
          <a:p>
            <a:pPr algn="ctr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HIGHER SPATIAL
RESOLUTION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1AEA6E-4B04-41E8-87F5-4F3A4924FD67}"/>
              </a:ext>
            </a:extLst>
          </p:cNvPr>
          <p:cNvSpPr>
            <a:spLocks noGrp="1"/>
          </p:cNvSpPr>
          <p:nvPr/>
        </p:nvSpPr>
        <p:spPr>
          <a:xfrm>
            <a:off x="5572125" y="4238625"/>
            <a:ext cx="18097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Capture within-region heterogeneity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518546-E672-49C8-8EE7-213071C7869B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7620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7B1E3A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3AF262-EC64-4BF7-8EC4-6D7BBA893F1F}"/>
              </a:ext>
            </a:extLst>
          </p:cNvPr>
          <p:cNvSpPr>
            <a:spLocks noGrp="1"/>
          </p:cNvSpPr>
          <p:nvPr/>
        </p:nvSpPr>
        <p:spPr>
          <a:xfrm>
            <a:off x="8103870" y="3381375"/>
            <a:ext cx="1952625" cy="666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OTHER REGIONS</a:t>
            </a:r>
          </a:p>
          <a:p>
            <a:pPr algn="ctr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sz="1400" noProof="0" dirty="0"/>
              <a:t>&amp; LOWER TREND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9563B3-B8C4-478A-8442-79B04086F465}"/>
              </a:ext>
            </a:extLst>
          </p:cNvPr>
          <p:cNvSpPr>
            <a:spLocks noGrp="1"/>
          </p:cNvSpPr>
          <p:nvPr/>
        </p:nvSpPr>
        <p:spPr>
          <a:xfrm>
            <a:off x="8191500" y="4238625"/>
            <a:ext cx="1905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Test time series with weaker structural trends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EB2D02-5245-4EC2-AA43-4607816483A3}"/>
              </a:ext>
            </a:extLst>
          </p:cNvPr>
          <p:cNvSpPr>
            <a:spLocks noGrp="1"/>
          </p:cNvSpPr>
          <p:nvPr/>
        </p:nvSpPr>
        <p:spPr>
          <a:xfrm>
            <a:off x="10412730" y="2143125"/>
            <a:ext cx="1571625" cy="3000375"/>
          </a:xfrm>
          <a:prstGeom prst="rect">
            <a:avLst/>
          </a:prstGeom>
          <a:solidFill>
            <a:srgbClr val="151515"/>
          </a:solidFill>
          <a:ln w="0">
            <a:noFill/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D3A802-E57F-412A-8554-AE874D75981B}"/>
              </a:ext>
            </a:extLst>
          </p:cNvPr>
          <p:cNvSpPr>
            <a:spLocks noGrp="1"/>
          </p:cNvSpPr>
          <p:nvPr/>
        </p:nvSpPr>
        <p:spPr>
          <a:xfrm>
            <a:off x="10586085" y="2457450"/>
            <a:ext cx="1143000" cy="2286000"/>
          </a:xfrm>
          <a:prstGeom prst="rect">
            <a:avLst/>
          </a:prstGeom>
        </p:spPr>
        <p:txBody>
          <a:bodyPr lIns="0" tIns="0" rIns="0" bIns="0" anchor="t">
            <a:normAutofit fontScale="84423" lnSpcReduction="10000"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Rules can
explain the
past.
Structure
determines
whether they
predict the
future.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0092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3EAD72F-8DA8-8AB9-7020-E5F29D4A7E6C}"/>
              </a:ext>
            </a:extLst>
          </p:cNvPr>
          <p:cNvSpPr>
            <a:spLocks noGrp="1"/>
          </p:cNvSpPr>
          <p:nvPr/>
        </p:nvSpPr>
        <p:spPr>
          <a:xfrm>
            <a:off x="471969" y="3119437"/>
            <a:ext cx="5715000" cy="619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9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Thank you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5A768F-43B8-F657-4A5F-58110FAA8564}"/>
              </a:ext>
            </a:extLst>
          </p:cNvPr>
          <p:cNvSpPr>
            <a:spLocks noGrp="1"/>
          </p:cNvSpPr>
          <p:nvPr/>
        </p:nvSpPr>
        <p:spPr>
          <a:xfrm>
            <a:off x="538875" y="3671887"/>
            <a:ext cx="2857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8E6DE-1640-4178-A5F0-71950DF53A7C}"/>
              </a:ext>
            </a:extLst>
          </p:cNvPr>
          <p:cNvSpPr>
            <a:spLocks noGrp="1"/>
          </p:cNvSpPr>
          <p:nvPr/>
        </p:nvSpPr>
        <p:spPr>
          <a:xfrm>
            <a:off x="11287125" y="6381750"/>
            <a:ext cx="4572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0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B3544F-2987-411F-A7F7-D2DEB65F2FF2}"/>
              </a:ext>
            </a:extLst>
          </p:cNvPr>
          <p:cNvSpPr>
            <a:spLocks noGrp="1"/>
          </p:cNvSpPr>
          <p:nvPr/>
        </p:nvSpPr>
        <p:spPr>
          <a:xfrm>
            <a:off x="400050" y="5353050"/>
            <a:ext cx="49530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Hugo Filipe </a:t>
            </a:r>
            <a:r>
              <a:rPr lang="en-GB" noProof="0" dirty="0" err="1"/>
              <a:t>Queiróz</a:t>
            </a:r>
            <a:r>
              <a:rPr lang="en-GB" noProof="0" dirty="0"/>
              <a:t> Nogueira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313789-C66C-9570-B037-BCA89AD98692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7429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60656C"/>
                </a:solidFill>
                <a:latin typeface="Arial"/>
                <a:ea typeface="Arial"/>
                <a:cs typeface="Arial"/>
              </a:defRPr>
            </a:pPr>
            <a:r>
              <a:rPr lang="en-GB" noProof="0" dirty="0"/>
              <a:t>Supervisors: João Mendes Moreira · Mário Campos Cunha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FEB9D8-CB15-A703-B257-31BD30BD1E22}"/>
              </a:ext>
            </a:extLst>
          </p:cNvPr>
          <p:cNvSpPr/>
          <p:nvPr/>
        </p:nvSpPr>
        <p:spPr>
          <a:xfrm>
            <a:off x="4114800" y="6572250"/>
            <a:ext cx="3966519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124383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084A4F-A926-D348-ACDC-61ABDB48306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605d7fb-cb33-45ff-a5a9-310e723022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2626</TotalTime>
  <Words>10267</Words>
  <Application>Microsoft Macintosh PowerPoint</Application>
  <DocSecurity>0</DocSecurity>
  <PresentationFormat>Widescreen</PresentationFormat>
  <Paragraphs>1341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Hugo Filipe Nogueira</cp:lastModifiedBy>
  <cp:revision>49</cp:revision>
  <cp:lastPrinted>2026-07-16T20:00:59Z</cp:lastPrinted>
  <dcterms:created xsi:type="dcterms:W3CDTF">2026-07-14T00:04:33Z</dcterms:created>
  <dcterms:modified xsi:type="dcterms:W3CDTF">2026-07-16T20:22:43Z</dcterms:modified>
</cp:coreProperties>
</file>